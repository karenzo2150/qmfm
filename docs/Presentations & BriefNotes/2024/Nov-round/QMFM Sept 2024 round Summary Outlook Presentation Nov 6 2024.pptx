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2"/>
  </p:notesMasterIdLst>
  <p:handoutMasterIdLst>
    <p:handoutMasterId r:id="rId23"/>
  </p:handoutMasterIdLst>
  <p:sldIdLst>
    <p:sldId id="566" r:id="rId2"/>
    <p:sldId id="547" r:id="rId3"/>
    <p:sldId id="565" r:id="rId4"/>
    <p:sldId id="582" r:id="rId5"/>
    <p:sldId id="580" r:id="rId6"/>
    <p:sldId id="579" r:id="rId7"/>
    <p:sldId id="567" r:id="rId8"/>
    <p:sldId id="511" r:id="rId9"/>
    <p:sldId id="583" r:id="rId10"/>
    <p:sldId id="560" r:id="rId11"/>
    <p:sldId id="578" r:id="rId12"/>
    <p:sldId id="562" r:id="rId13"/>
    <p:sldId id="563" r:id="rId14"/>
    <p:sldId id="576" r:id="rId15"/>
    <p:sldId id="573" r:id="rId16"/>
    <p:sldId id="581" r:id="rId17"/>
    <p:sldId id="545" r:id="rId18"/>
    <p:sldId id="569" r:id="rId19"/>
    <p:sldId id="535" r:id="rId20"/>
    <p:sldId id="531" r:id="rId21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65"/>
            <p14:sldId id="582"/>
            <p14:sldId id="580"/>
            <p14:sldId id="579"/>
            <p14:sldId id="567"/>
            <p14:sldId id="511"/>
            <p14:sldId id="583"/>
            <p14:sldId id="560"/>
            <p14:sldId id="578"/>
            <p14:sldId id="562"/>
            <p14:sldId id="563"/>
            <p14:sldId id="576"/>
            <p14:sldId id="573"/>
            <p14:sldId id="581"/>
            <p14:sldId id="545"/>
            <p14:sldId id="569"/>
            <p14:sldId id="535"/>
            <p14:sldId id="5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5788" autoAdjust="0"/>
  </p:normalViewPr>
  <p:slideViewPr>
    <p:cSldViewPr>
      <p:cViewPr varScale="1">
        <p:scale>
          <a:sx n="109" d="100"/>
          <a:sy n="109" d="100"/>
        </p:scale>
        <p:origin x="55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12/11/2024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A342-B83A-3391-8C8E-5C4540D5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A5DC1-D03A-FB02-E0F7-E6767CA01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B421E-17F7-EDE7-EE84-10172CAAB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85DD-7A61-0ABF-F817-C7B1CB599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749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p.y., trading partner inflation 2% p.y.,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A519-7EFD-EEC6-631F-83AF3D4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84A19-EE79-200D-37D6-029BC60C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5874-FC01-A421-202B-CB03321E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DFA4-3E87-2E7E-8AC0-A4ACEB5D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7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12/11/2024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11/12/2024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7" Type="http://schemas.openxmlformats.org/officeDocument/2006/relationships/image" Target="../media/image28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tmp"/><Relationship Id="rId5" Type="http://schemas.openxmlformats.org/officeDocument/2006/relationships/image" Target="../media/image26.tmp"/><Relationship Id="rId4" Type="http://schemas.openxmlformats.org/officeDocument/2006/relationships/image" Target="../media/image25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Sept/Nov 2024 Round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b="1" dirty="0"/>
              <a:t>Outline/contents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85800" y="1249329"/>
            <a:ext cx="11328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Forecast evaluation (forecast round evaluation)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Rationale of outlook &amp; underlying model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Macroeconomic forecast assumptions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Gill Sans MT"/>
                <a:cs typeface="+mj-cs"/>
              </a:rPr>
              <a:t>QMFM interrelation with the macro toolbox (nowcasting, MF)</a:t>
            </a:r>
            <a:endParaRPr lang="en-GB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514350" indent="-514350">
              <a:buAutoNum type="romanUcPeriod"/>
            </a:pP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AutoNum type="romanUcPeriod"/>
            </a:pPr>
            <a:r>
              <a:rPr lang="en-GB" sz="2800" b="1" dirty="0">
                <a:latin typeface="+mn-lt"/>
              </a:rPr>
              <a:t>Forecast evaluation (forecast round comparison)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1143000" y="1098630"/>
            <a:ext cx="86106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</a:rPr>
              <a:t>Main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4">
                    <a:lumMod val="50000"/>
                  </a:schemeClr>
                </a:solidFill>
              </a:rPr>
              <a:t>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A0F5-D0A6-542C-AF7D-0AC2B6E046F8}"/>
              </a:ext>
            </a:extLst>
          </p:cNvPr>
          <p:cNvSpPr txBox="1"/>
          <p:nvPr/>
        </p:nvSpPr>
        <p:spPr>
          <a:xfrm>
            <a:off x="7315200" y="1722606"/>
            <a:ext cx="4495800" cy="483209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Sept 2024 vs. Nov 2023</a:t>
            </a:r>
          </a:p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More responsive policy and real interest rates on inflation (recalibrated response)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higher ER depreciation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CPI turning to target and more decelerated post 2026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lower deficit/ more consolidated fiscal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Lower GDP growth due to tight monetary policy and fiscal policy</a:t>
            </a:r>
            <a:endParaRPr lang="en-RW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8A6213-99D3-FD7B-F85E-6CAC6B7E9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600200"/>
            <a:ext cx="6858000" cy="481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Workings of underlying QMFM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New-Keynesian, ‘semi-structural’,  ‘gap’ model</a:t>
            </a:r>
            <a:endParaRPr lang="en-GB" sz="2000" i="1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Provides forecast quarterly forecast for key macro variables </a:t>
            </a:r>
            <a:r>
              <a:rPr lang="en-GB" sz="1800" dirty="0"/>
              <a:t>(i.e., output gap, inflation, final demand components,..)</a:t>
            </a:r>
            <a:r>
              <a:rPr lang="en-GB" sz="1800" i="1" dirty="0"/>
              <a:t> </a:t>
            </a:r>
            <a:r>
              <a:rPr lang="en-GB" sz="2000" dirty="0"/>
              <a:t>as influenced by fiscal, monetary, and exchange rate policies (policy stances), incl. in response to shocks and new developments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Economic development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 Analysis of observed data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Estimation of unobserved variables (gaps and trend)—How model fits past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i="1" dirty="0"/>
              <a:t>Analysis of Initial conditions (trend and gaps, levels)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Assumptions—i.e., policy stances, policy paths (deficit, interest rates, and ER), NTF, and external/foreign position. 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i="1" dirty="0"/>
              <a:t>After shocks and policy responses have worked out, variables return to their trends/potential levels (subject to persistence) determined by their steady-state levels </a:t>
            </a:r>
            <a:r>
              <a:rPr lang="en-GB" sz="1400" dirty="0"/>
              <a:t>  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Forecast simulation as </a:t>
            </a:r>
            <a:r>
              <a:rPr lang="en-GB" sz="1800" dirty="0"/>
              <a:t>a function of initial condition, policy stance, NTF,  and LT policy assumptions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/>
              <a:t>Analysis of the forecast of gaps and trends in short-run</a:t>
            </a:r>
          </a:p>
        </p:txBody>
      </p:sp>
    </p:spTree>
    <p:extLst>
      <p:ext uri="{BB962C8B-B14F-4D97-AF65-F5344CB8AC3E}">
        <p14:creationId xmlns:p14="http://schemas.microsoft.com/office/powerpoint/2010/main" val="178384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25CC-6031-54D0-C004-A0B3CF42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FAD5-9C91-0B2D-676A-C30EA26C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II. Rationale of outlook &amp; underlying QMFM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34CE4-CC66-EE86-0EE0-A34A21767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9D10F-37F8-23BB-3FED-F50F05099D1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providing forecast 16 quarters ahead for key macro variables </a:t>
            </a:r>
            <a:r>
              <a:rPr lang="en-GB" sz="1800" dirty="0"/>
              <a:t>(i.e., output, inflation, final demands,..)</a:t>
            </a:r>
            <a:r>
              <a:rPr lang="en-GB" sz="1800" i="1" dirty="0"/>
              <a:t> </a:t>
            </a:r>
            <a:r>
              <a:rPr lang="en-GB" sz="2000" dirty="0"/>
              <a:t>as influenced by fiscal, monetary, and exchange rate policies, incl. in response to shocks and new developments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focusing on fiscal and financing/debt variables</a:t>
            </a:r>
            <a:r>
              <a:rPr lang="en-GB" sz="2000" dirty="0"/>
              <a:t>, and interaction with monetary and exchange rate policies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 Providing input for the </a:t>
            </a:r>
            <a:r>
              <a:rPr lang="en-US" sz="2000" i="1" dirty="0"/>
              <a:t>validated macro-fiscal projections </a:t>
            </a:r>
            <a:r>
              <a:rPr lang="en-US" sz="2000" dirty="0"/>
              <a:t>underpinning (medium-term) budgets and IMF-supported programs, comp</a:t>
            </a:r>
            <a:r>
              <a:rPr lang="en-GB" sz="2000" dirty="0"/>
              <a:t>lementing the </a:t>
            </a:r>
            <a:r>
              <a:rPr lang="en-GB" sz="2000" dirty="0" err="1"/>
              <a:t>intMF</a:t>
            </a:r>
            <a:r>
              <a:rPr lang="en-GB" sz="2000" dirty="0"/>
              <a:t> (Real sector-GDP supply </a:t>
            </a:r>
            <a:r>
              <a:rPr lang="en-GB" sz="2000" dirty="0" err="1"/>
              <a:t>proj</a:t>
            </a:r>
            <a:r>
              <a:rPr lang="en-GB" sz="2000" dirty="0"/>
              <a:t>.) and other macro-projection tools.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i="1" dirty="0"/>
              <a:t>facilitating policy coordination </a:t>
            </a:r>
            <a:r>
              <a:rPr lang="en-US" sz="2000" dirty="0"/>
              <a:t>between MINECOFIN and NBR; IMF mission preparation; and policy debate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simulating alternative policy scenarios, and </a:t>
            </a:r>
            <a:r>
              <a:rPr lang="en-GB" sz="2000" dirty="0" err="1"/>
              <a:t>analyzing</a:t>
            </a:r>
            <a:r>
              <a:rPr lang="en-GB" sz="2000" dirty="0"/>
              <a:t> policy implications for making policy recommendations</a:t>
            </a:r>
            <a:endParaRPr lang="en-US" sz="2000" dirty="0"/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New-Keynesian, ‘semi-structural’, ‘gap’ model: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emphasis on fiscal variables &amp; deficit components (revenue, govt spending &amp; structural, discretionary, cyclical components)</a:t>
            </a:r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impact of fiscal and monetary policies inflation, and other macro aggregates on GDP (demand/output gap)</a:t>
            </a:r>
            <a:endParaRPr lang="en-GB" sz="1600" dirty="0"/>
          </a:p>
          <a:p>
            <a:pPr lvl="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tracing key macro variables(levels) in deviation from trends, potential levels, or targets: 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after shocks and policy responses have worked out, variables return to their trends (subject to persistence) which converge to their steady-state levels  </a:t>
            </a:r>
          </a:p>
          <a:p>
            <a:pPr marL="274638" lvl="1" indent="0">
              <a:spcAft>
                <a:spcPts val="600"/>
              </a:spcAft>
              <a:buNone/>
            </a:pPr>
            <a:r>
              <a:rPr lang="en-GB" sz="14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87650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152400"/>
            <a:ext cx="10261600" cy="549275"/>
          </a:xfrm>
        </p:spPr>
        <p:txBody>
          <a:bodyPr/>
          <a:lstStyle/>
          <a:p>
            <a:r>
              <a:rPr lang="en-US" b="1" dirty="0"/>
              <a:t>III. Key concepts in the gap model (glossary)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95300" y="1189038"/>
            <a:ext cx="11201400" cy="54102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Output gap &amp; final demand gaps (+/-): </a:t>
            </a:r>
            <a:r>
              <a:rPr lang="en-GB" sz="2000" dirty="0"/>
              <a:t>above/below potential or trend levels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Real interest &amp; real exchange rate gaps</a:t>
            </a:r>
            <a:r>
              <a:rPr lang="en-GB" sz="2000" dirty="0"/>
              <a:t>: RIR and RER above/below neutral or equilibrium levels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Decomposition of macro aggregates by main drivers</a:t>
            </a:r>
            <a:r>
              <a:rPr lang="en-GB" sz="2000" dirty="0"/>
              <a:t>: colored bars in charts show contribution of each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Fiscal deficit </a:t>
            </a:r>
            <a:r>
              <a:rPr lang="en-GB" sz="2000" dirty="0">
                <a:solidFill>
                  <a:srgbClr val="002060"/>
                </a:solidFill>
              </a:rPr>
              <a:t>relevant for demand impact</a:t>
            </a:r>
            <a:r>
              <a:rPr lang="en-GB" sz="2000" dirty="0"/>
              <a:t>: deficit before grants = total expenditure -/- non/tax revenue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Debt anchor &amp; sustainable deficit</a:t>
            </a:r>
            <a:r>
              <a:rPr lang="en-GB" sz="2000" dirty="0"/>
              <a:t>: debt/GDP target (with LT growth, inflation rates, etc.) drives sustainable debt-creating deficit 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Fiscal stance expansionary/contractionary: </a:t>
            </a:r>
            <a:r>
              <a:rPr lang="en-GB" sz="2000" dirty="0"/>
              <a:t>deficit and govt demand G&amp;S in % of GDP above/below trend </a:t>
            </a:r>
            <a:r>
              <a:rPr lang="en-GB" sz="1600" dirty="0"/>
              <a:t>(“discretionary” deficit and “discretionary” govt demand for G&amp;S in % of GDP above/below zero)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Fiscal impulse </a:t>
            </a:r>
            <a:r>
              <a:rPr lang="en-GB" sz="1800" dirty="0">
                <a:solidFill>
                  <a:schemeClr val="accent4">
                    <a:lumMod val="50000"/>
                  </a:schemeClr>
                </a:solidFill>
              </a:rPr>
              <a:t>(on private demand): </a:t>
            </a:r>
            <a:r>
              <a:rPr lang="en-GB" sz="2000" dirty="0"/>
              <a:t>mainly</a:t>
            </a:r>
            <a:r>
              <a:rPr lang="en-GB" sz="18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GB" sz="2000" dirty="0"/>
              <a:t>discretionary fiscal deficit affecting consumption &amp; investment   </a:t>
            </a:r>
            <a:r>
              <a:rPr lang="en-GB" sz="1600" dirty="0"/>
              <a:t>(via income, ‘optimism’)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More/less restrictive monetary policies</a:t>
            </a:r>
            <a:r>
              <a:rPr lang="en-GB" sz="2000" dirty="0"/>
              <a:t>: (real) interest rates above/below neutral or trend levels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More/less restrictive exchange rate policies</a:t>
            </a:r>
            <a:r>
              <a:rPr lang="en-GB" sz="2000" dirty="0"/>
              <a:t>: real exchange rate below/above equilibrium or trend level</a:t>
            </a:r>
          </a:p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accent4">
                    <a:lumMod val="50000"/>
                  </a:schemeClr>
                </a:solidFill>
              </a:rPr>
              <a:t>Role of expectations</a:t>
            </a:r>
            <a:r>
              <a:rPr lang="en-GB" sz="2000" dirty="0">
                <a:solidFill>
                  <a:srgbClr val="002060"/>
                </a:solidFill>
              </a:rPr>
              <a:t>:</a:t>
            </a:r>
            <a:r>
              <a:rPr lang="en-GB" sz="2000" dirty="0"/>
              <a:t> agents today take into account expected macro variables and policies in periods ahead (e.g., expected inflation, exchange rate, final demand gaps,…)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10725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62000"/>
          </a:xfrm>
        </p:spPr>
        <p:txBody>
          <a:bodyPr/>
          <a:lstStyle/>
          <a:p>
            <a:r>
              <a:rPr lang="en-US" sz="2400" b="1" dirty="0"/>
              <a:t>1V. Recent macroeconomic developments</a:t>
            </a:r>
            <a:r>
              <a:rPr lang="en-US" sz="2400" dirty="0"/>
              <a:t> </a:t>
            </a:r>
            <a:r>
              <a:rPr lang="en-US" sz="1800" dirty="0"/>
              <a:t>(2015-2023)</a:t>
            </a:r>
            <a:br>
              <a:rPr lang="en-US" sz="16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Summary key indicators—Output gap &amp; GPD</a:t>
            </a:r>
            <a:endParaRPr lang="en-RW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60440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 (YoY %)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trend growth (2000-19) averaged 7.5%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in COVID year 2020, GDP dropped 3.4% and was 12% below potential (had trend growth continued) </a:t>
            </a:r>
            <a:r>
              <a:rPr lang="en-GB" sz="1200" dirty="0"/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mitigated COVID output drop and helped subsequent recovery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instability, esp. Ukraine-war </a:t>
            </a:r>
            <a:r>
              <a:rPr lang="en-RW" sz="1200" dirty="0"/>
              <a:t>slowed down the recovery from 2022Q1 onward</a:t>
            </a:r>
            <a:endParaRPr lang="en-US" sz="1200" dirty="0"/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despite a strong bounce back in 2021, GDP estimated 6% below potential in late 2023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negative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ADA39E-C331-F154-9A56-E5999F7E8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1181099"/>
            <a:ext cx="3771767" cy="24894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F3E6BC-7755-E996-053D-65F37A882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725" y="1181100"/>
            <a:ext cx="4191002" cy="24361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153D92-6120-B9A2-9935-F9E180543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842" y="1145270"/>
            <a:ext cx="3412958" cy="213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policies—deficit components, Inflation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C53520-2FAF-90E8-BE8B-0F1A77739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51065"/>
            <a:ext cx="4876800" cy="27970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6BBD95-BE42-4C2A-645F-6CCE272F3517}"/>
              </a:ext>
            </a:extLst>
          </p:cNvPr>
          <p:cNvSpPr txBox="1"/>
          <p:nvPr/>
        </p:nvSpPr>
        <p:spPr>
          <a:xfrm>
            <a:off x="2209800" y="4143649"/>
            <a:ext cx="8534400" cy="207749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600" b="1" u="sng" dirty="0">
                <a:latin typeface="+mn-lt"/>
              </a:rPr>
              <a:t>Headline CPI—drivers  (left chart)</a:t>
            </a:r>
            <a:endParaRPr lang="en-US" sz="1100" b="1" u="sng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2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lower, driven by a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2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world energy and commodity prices </a:t>
            </a:r>
            <a:endParaRPr lang="en-RW" sz="1200" i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2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2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the model)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deceleration observed in core and food inflation and fall in energy from 2023Q1</a:t>
            </a:r>
            <a:endParaRPr lang="en-US" sz="120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F6A3B9-4D08-CFB1-CEF7-97265C58C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4" y="1193365"/>
            <a:ext cx="4638675" cy="279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5504-7432-7B4D-F75D-07F08F29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923-3A7C-F33A-B4AA-FA797928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policies—deficit components, Inflation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A58-B9E8-455A-EF1A-18C0010DC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499CA-53C4-D1B1-1D91-D63F0A5968F2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E7373-7318-B8D0-DF0C-CBF182365D26}"/>
              </a:ext>
            </a:extLst>
          </p:cNvPr>
          <p:cNvSpPr txBox="1">
            <a:spLocks/>
          </p:cNvSpPr>
          <p:nvPr/>
        </p:nvSpPr>
        <p:spPr>
          <a:xfrm>
            <a:off x="5829968" y="1388143"/>
            <a:ext cx="6019800" cy="447925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1200" b="1" u="sng" dirty="0"/>
              <a:t>Fiscal deficit (before grants, % GDP, GFS-1986) and Govt demand (%GDP)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some fiscal consolidation pre-Covid</a:t>
            </a:r>
            <a:r>
              <a:rPr lang="en-US" sz="1200" dirty="0"/>
              <a:t>—slightly lowered deficits averaging 10% of GDP in 2015/16—2018/19, mainly through lower spending on G&amp;S (“discretionary”)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 stance under Covid</a:t>
            </a:r>
            <a:r>
              <a:rPr lang="en-US" sz="1200" dirty="0"/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Start of fiscal consolidation post-Covid</a:t>
            </a:r>
            <a:r>
              <a:rPr lang="en-US" sz="1200" dirty="0"/>
              <a:t>—deficit declined to 12% of GDP in FY2022/23, with spending on G&amp;S falling by 3% points of GDP (despite flood-related spending)</a:t>
            </a:r>
          </a:p>
          <a:p>
            <a:pPr lvl="1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Fiscal stance entailed a </a:t>
            </a:r>
            <a:r>
              <a:rPr lang="en-US" sz="1400" b="1" dirty="0">
                <a:solidFill>
                  <a:schemeClr val="tx1"/>
                </a:solidFill>
              </a:rPr>
              <a:t>sharp drop in real govt demand for G&amp;S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further exacerbated by surging inflation from early 2022 before falling in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8690A-BF24-AB91-8945-CE300FC1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4800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6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/>
              <a:t>V. Forecast Assumptions 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current cyclical position, policy stance &amp; external environment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405063" y="1219200"/>
            <a:ext cx="11557000" cy="4809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Sep. IMF WEO-GAS/GEE; US RIR projection CBO; NBR’s monetary and ER policy rules.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NTF—Nowcasting (i.e., 7.9% and 5.1% for Q3&amp;Q4 2024)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Gill Sans MT"/>
              </a:rPr>
              <a:t>CPI:  2024Q4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(Sept as an average of </a:t>
            </a:r>
            <a:r>
              <a:rPr lang="en-US" sz="1400" dirty="0" err="1">
                <a:solidFill>
                  <a:prstClr val="black"/>
                </a:solidFill>
                <a:latin typeface="Gill Sans MT"/>
              </a:rPr>
              <a:t>obs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July &amp; Aug)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Gill Sans MT"/>
              </a:rPr>
              <a:t>IR and ER paths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( i.e., 7.5% IB rate for Q3, ER: Q3 and Q4--IMF BNR prog 2024 depreciation path) 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ER (s) 2024Q3 (Obs. July &amp; Aug and Sept as </a:t>
            </a:r>
            <a:r>
              <a:rPr lang="en-US" sz="1400" dirty="0" err="1">
                <a:solidFill>
                  <a:prstClr val="black"/>
                </a:solidFill>
                <a:latin typeface="Gill Sans MT"/>
              </a:rPr>
              <a:t>eop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28th Sept) tuned as aver of 3Mo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ER (</a:t>
            </a:r>
            <a:r>
              <a:rPr lang="en-US" sz="1400" dirty="0" err="1">
                <a:solidFill>
                  <a:prstClr val="black"/>
                </a:solidFill>
                <a:latin typeface="Gill Sans MT"/>
              </a:rPr>
              <a:t>dls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): 100* log(1 + 0.09)) for 2024Q4 assuming % ann. depreciation of 9% for 2024 (end-June)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Gill Sans MT"/>
              </a:rPr>
              <a:t>Baseline fiscal policies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are as in PCI 2023/24-2025/26 IMF March </a:t>
            </a:r>
            <a:r>
              <a:rPr lang="en-US" sz="1400" dirty="0" err="1">
                <a:solidFill>
                  <a:prstClr val="black"/>
                </a:solidFill>
                <a:latin typeface="Gill Sans MT"/>
              </a:rPr>
              <a:t>Proj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, followed by a return to the previous path of gradually moving toward a sustainable deficit of 5% of GDP (7.5% excl. grants) rather than 3% as in the post-PCI IMF projection. Fiscal path as preferable to excess consolidation. 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200" dirty="0">
                <a:solidFill>
                  <a:prstClr val="black"/>
                </a:solidFill>
                <a:latin typeface="Gill Sans MT"/>
              </a:rPr>
              <a:t>Govt revenue (</a:t>
            </a:r>
            <a:r>
              <a:rPr lang="en-US" sz="1200" dirty="0" err="1">
                <a:solidFill>
                  <a:prstClr val="black"/>
                </a:solidFill>
                <a:latin typeface="Gill Sans MT"/>
              </a:rPr>
              <a:t>grev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) and deficit (</a:t>
            </a:r>
            <a:r>
              <a:rPr lang="en-US" sz="1200" dirty="0" err="1">
                <a:solidFill>
                  <a:prstClr val="black"/>
                </a:solidFill>
                <a:latin typeface="Gill Sans MT"/>
              </a:rPr>
              <a:t>def_y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) exogenously take the path agreed upon in the IMF PCI program and return to a sustainable level post-program (gradually moving toward a sustainable deficit of 5% of GDP (7.5% excl. grants).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b="1" dirty="0">
                <a:solidFill>
                  <a:prstClr val="black"/>
                </a:solidFill>
                <a:latin typeface="Gill Sans MT"/>
              </a:rPr>
              <a:t>Data: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given persistent and new anomalies in NISR NA final-demand data (2023Q3-2024Q2) 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Suppression of NA data and replaced by model estimates to get plausible initial conditions (i.e., GDP trend) for the forecast simulation.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observed data ranged 2006Q1-2024Q2, and forecast simulation ranged 2024Q1-2027Q4, implying that data for 2024Q1&amp;2 was used for forecast as it was observed.  </a:t>
            </a: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000" b="1" dirty="0">
                <a:solidFill>
                  <a:srgbClr val="0070C0"/>
                </a:solidFill>
              </a:rPr>
              <a:t>External environment assumptions</a:t>
            </a:r>
            <a:endParaRPr lang="en-AE" sz="20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76800" y="3589599"/>
            <a:ext cx="3589020" cy="735603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World real interest rates are expected to rise from negative around -1% in the past </a:t>
            </a:r>
            <a:r>
              <a:rPr lang="en-US" sz="1050" dirty="0"/>
              <a:t>decade</a:t>
            </a:r>
            <a:r>
              <a:rPr lang="en-US" sz="1100" dirty="0"/>
              <a:t> to +1% by 2027,</a:t>
            </a:r>
          </a:p>
          <a:p>
            <a:pPr marL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/>
              <a:t>increase likely transmitting one-for-one to Rwanda’s sovereign borrowing rates</a:t>
            </a:r>
            <a:endParaRPr lang="en-GB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304799" y="3886200"/>
            <a:ext cx="4440343" cy="92076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Rwanda still enjoys recovery in trading partner demand relative to Covid-years, at 3% </a:t>
            </a:r>
            <a:r>
              <a:rPr lang="en-GB" sz="1200" dirty="0" err="1">
                <a:latin typeface="+mn-lt"/>
              </a:rPr>
              <a:t>p.y</a:t>
            </a:r>
            <a:r>
              <a:rPr lang="en-GB" sz="1200" dirty="0">
                <a:latin typeface="+mn-lt"/>
              </a:rPr>
              <a:t>., well above the trend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World economy slowing down as interest rates are raised in response to inflation before catching up since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288757" y="4969340"/>
            <a:ext cx="4456385" cy="92333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indent="-285750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trading partners’ CPI inflation (in US$)—subdued at 1.5% p.y. in the past 5-7 years</a:t>
            </a:r>
          </a:p>
          <a:p>
            <a:pPr indent="-285750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200" dirty="0">
                <a:latin typeface="+mn-lt"/>
              </a:rPr>
              <a:t>projected to return and remain below trend level of 2% in the coming years</a:t>
            </a:r>
            <a:r>
              <a:rPr lang="en-US" sz="1800" dirty="0">
                <a:latin typeface="+mn-lt"/>
              </a:rPr>
              <a:t> </a:t>
            </a:r>
            <a:endParaRPr lang="en-AE" sz="18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609600" y="1114344"/>
            <a:ext cx="785622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050" b="1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05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Covid-Ukraine crisis, but with downside risks</a:t>
            </a:r>
            <a:r>
              <a:rPr lang="en-GB" sz="10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RW" sz="105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A224FE-241E-264E-A4CF-841632F22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666" y="1260427"/>
            <a:ext cx="3395134" cy="23143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B089B56-F0C5-D38A-D7A7-4F1B41008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113" y="3723761"/>
            <a:ext cx="3259666" cy="19912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7A8B525-3C52-67AB-7AE7-2EF07A88E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067" y="1295400"/>
            <a:ext cx="3656753" cy="2286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D389837-B1C8-1A5C-42F3-AC8D609A9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066" y="4346582"/>
            <a:ext cx="3656754" cy="21688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481CF3F-5BBB-4F2C-C62A-A15E180F88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123" y="1376211"/>
            <a:ext cx="4351020" cy="23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39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Domestic environment assumptions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096000" y="1320730"/>
            <a:ext cx="5892800" cy="3954929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b="1" dirty="0">
                <a:solidFill>
                  <a:srgbClr val="2F5496"/>
                </a:solidFill>
                <a:latin typeface="Gill Sans MT"/>
                <a:cs typeface="Times New Roman" panose="02020603050405020304" pitchFamily="18" charset="0"/>
              </a:rPr>
              <a:t>Sept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Gill Sans MT"/>
                <a:ea typeface="ＭＳ Ｐゴシック" charset="-128"/>
                <a:cs typeface="Times New Roman" panose="02020603050405020304" pitchFamily="18" charset="0"/>
              </a:rPr>
              <a:t>. 2024 forecast round: “tuning” near-term policies, nowcasts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fiscal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consolidation: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deficits before grants ‘set’ at PCI targets of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8.9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% for 2024/25 and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7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.5% for 2025/26</a:t>
            </a:r>
          </a:p>
          <a:p>
            <a:pPr marL="80010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beyond PCI, deficits (before grants) driven by fiscal anchor determined by  target debt/GDP ratios, that is a sustainable level of 8% of GDP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policy interest rate (IB):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maintained at 6.5% for 2024Q4; </a:t>
            </a:r>
            <a:r>
              <a:rPr lang="en-GB" sz="1600" dirty="0">
                <a:latin typeface="Gill Sans MT"/>
              </a:rPr>
              <a:t>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hereafter: follows policy interest rate (IB) rule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exchange 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tune current-year PCI-program targeted annual depreciation</a:t>
            </a:r>
          </a:p>
          <a:p>
            <a:pPr marL="800100" marR="0" lvl="1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e.g. path in 2024 set to 9% y-on-y in </a:t>
            </a:r>
            <a:r>
              <a:rPr lang="en-GB" sz="1200" dirty="0">
                <a:latin typeface="Gill Sans MT"/>
              </a:rPr>
              <a:t>Oct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2024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l Sans MT"/>
              <a:ea typeface="ＭＳ Ｐゴシック" charset="-128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GDP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 next two quarters:  tuned with “now/forecasting”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agriculture: expected return to normal and fading of domestic food price shocks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80211" y="5410200"/>
            <a:ext cx="5715000" cy="61555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38ECBC-87CD-5167-EC66-0AF4D11D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" y="1320730"/>
            <a:ext cx="5943600" cy="384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6044"/>
            <a:ext cx="10261600" cy="890756"/>
          </a:xfrm>
        </p:spPr>
        <p:txBody>
          <a:bodyPr/>
          <a:lstStyle/>
          <a:p>
            <a:r>
              <a:rPr lang="en-GB" b="1" dirty="0"/>
              <a:t>IV. Macroeconomic forecast/outlook</a:t>
            </a:r>
            <a:br>
              <a:rPr lang="en-GB" b="1" dirty="0"/>
            </a:br>
            <a:r>
              <a:rPr lang="en-GB" b="1" dirty="0"/>
              <a:t>Real economy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4419600" y="3834063"/>
            <a:ext cx="7797800" cy="270586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real GDP 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</a:t>
            </a:r>
            <a:r>
              <a:rPr lang="en-US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slow down markedly in 2025-26, well below potential growth, followed by a catch-up (a bit above potential) in 2027-28, before returning to the regular growth path of 7½%. 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GDP growth in 2024 is forecast at 8% despite a slowdown to 5% in the last Q, given robustness earlier in 2024. Growth so far in 2024 was helped by still low RIR and still modest fiscal restraint.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slowdown in 2025-26 is driven by: 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contractionary effect of strong fiscal consolidation, both directly as govt demand for G&amp;S falls, and indirectly through the negative fiscal impulse on private demand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impact on demand of increased RIR as the real lending rates return to normal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slightly offsetting positive, but lagged effect on net exports of recent and further RER depreciation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catch up in 2027-28 is driven by:  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fiscal consolidation, the negative fiscal impulse stops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increase and the start of a slight decrease in RIR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(some undervaluation)         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E879E0-3E8F-B4B8-13A2-FF841F4AB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3000"/>
            <a:ext cx="4572000" cy="1363580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4C1807B-0FA2-90F3-9224-6AACA8210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2590800"/>
            <a:ext cx="4064114" cy="2809224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B78D262-5BD4-3E31-E03C-4E230A533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514" y="1130467"/>
            <a:ext cx="3124200" cy="266047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34E8555-9A69-3EEB-E16A-24B3204D9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723" y="1109924"/>
            <a:ext cx="3200400" cy="2660472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92851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Real economy—Prices &amp; market rates 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9D025-CC2E-BA46-942B-5C53E9D9632B}"/>
              </a:ext>
            </a:extLst>
          </p:cNvPr>
          <p:cNvSpPr txBox="1"/>
          <p:nvPr/>
        </p:nvSpPr>
        <p:spPr>
          <a:xfrm>
            <a:off x="203200" y="1219200"/>
            <a:ext cx="6096000" cy="342144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CPI 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 be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subdued, below 5% through 2027, followed by a gradual return to target 5%</a:t>
            </a:r>
            <a:endParaRPr lang="en-RW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y-o-y and period average CPI in 2024 should be below 5%, helped by a recent drop in food prices, a reversal in 2023-24 of earlier positive price shocks, and expectation of lower inflation thanks to demand-restraining policies.</a:t>
            </a:r>
          </a:p>
          <a:p>
            <a:pPr marL="0" marR="0">
              <a:spcAft>
                <a:spcPts val="800"/>
              </a:spcAft>
            </a:pPr>
            <a:r>
              <a:rPr lang="en-US" sz="11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CPI well below 5% in 2025-27 is driven by:</a:t>
            </a:r>
            <a:endParaRPr lang="en-RW" sz="11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 of increasing RIR and large negative fiscal impulse on demand, hence output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continued drop in food prices as agriculture returns to normal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still low trading partner prices, and a small drop in world energy and food prices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somewhat offset by the CPI-increasing effect of NER depreciation on import prices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1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return to the target CPI from 2028 onward is driven by:      </a:t>
            </a:r>
            <a:endParaRPr lang="en-RW" sz="11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govt demand pick up (as consolidation stops post-PCI)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other demand components return to normal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interest rate policies push inflation back to target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C7D7C-71B8-56DD-AC93-CB49FD4B4098}"/>
              </a:ext>
            </a:extLst>
          </p:cNvPr>
          <p:cNvSpPr txBox="1"/>
          <p:nvPr/>
        </p:nvSpPr>
        <p:spPr>
          <a:xfrm>
            <a:off x="6400800" y="1231232"/>
            <a:ext cx="5715000" cy="31350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Final demand: 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private demands are forecast to slow down in 2025-26, returning to normal thereafter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consumption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above-trend growth in 2023/early 2024, restrictive policies lower real consumption growth to </a:t>
            </a:r>
            <a:r>
              <a:rPr lang="en-US" sz="11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4% in 2025-26, before it returns to trend growth in line with GDP (7.5%)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investment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sluggish growth in 2022-23, growth is forecast to be strong in 2024 (above 10%), slowing down to </a:t>
            </a:r>
            <a:r>
              <a:rPr lang="en-US" sz="11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6% in 2025-26 as real lending rates increase; then moves to trend growth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exports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 trend growth in 2023-24, export growth slows down but gradually as the positive effect of recent RER depreciation keeps export growth above trend the whole period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govt demand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almost no growth in 2025-26 due to fiscal consolidation, strong pickup thereafter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imports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follow other demand components (including govt demand) 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55E85-3DAC-F41A-4761-EE88D22C9C8E}"/>
              </a:ext>
            </a:extLst>
          </p:cNvPr>
          <p:cNvSpPr txBox="1"/>
          <p:nvPr/>
        </p:nvSpPr>
        <p:spPr>
          <a:xfrm>
            <a:off x="203200" y="4726155"/>
            <a:ext cx="6096000" cy="18557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ER: 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returns gradually to a path of only correcting for inflation differentials (2%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recent real overvaluation (mostly from 2022-23 inflation episode) has already been more than corrected with NBR's 2023-24 steep depreciation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QMFM projects return to ER policy rule (mostly moving with inflation differentials), no need for further RER depreciation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PCI, instead, "poses" lingering overvaluation of 15% (which evidence?) requiring more depreciation, as built into PCI projection  2024-28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70FD5B-87D0-4E25-B9E9-C9B2AA71A3DB}"/>
              </a:ext>
            </a:extLst>
          </p:cNvPr>
          <p:cNvSpPr txBox="1"/>
          <p:nvPr/>
        </p:nvSpPr>
        <p:spPr>
          <a:xfrm>
            <a:off x="6408821" y="4480961"/>
            <a:ext cx="5799221" cy="19902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RIR  lending rate: 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expected to go up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normal (around 12%, for 8% margin above IB rate), but remain above pre-Covid level as world RIR projected to reach 1.5% (from negative in recent years)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RIR lending rates have been low (below trend) during most of 2022-24 though they have been rising in recent quarters (as inflation fell)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they are now returning to normal, their demand-stimulating effect is ending and reversing</a:t>
            </a:r>
            <a:endParaRPr lang="en-US" sz="11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neutral policy (IB) rate—after a temporary drop with low inflation--is expected to go up to 8.5-9% (and 4-4.5% in real terms) as world RIR increases and CPI inflation returns to target</a:t>
            </a:r>
            <a:endParaRPr lang="en-RW" sz="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sz="2400" b="1" dirty="0">
                <a:solidFill>
                  <a:schemeClr val="accent4">
                    <a:lumMod val="50000"/>
                  </a:schemeClr>
                </a:solidFill>
              </a:rPr>
              <a:t>Fiscal: govt demand for G&amp;S and fiscal impulse</a:t>
            </a:r>
            <a:endParaRPr lang="en-AE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2895600" y="1504845"/>
            <a:ext cx="4743966" cy="192415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Fiscal path assumed</a:t>
            </a: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PCI targets FY2024/25-2025/26 for deficit, revenue, and spending are set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govt demand and fiscal impulse entail a growth slowdown in 2025-26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late 2026, the negative fiscal impulse ends, deficit moves back up toward a sustainable path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beyond-PCI sustainable fiscal ratios toward, rev/GDP 24%, govt </a:t>
            </a:r>
            <a:r>
              <a:rPr lang="en-GB" sz="105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</a:t>
            </a: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G&amp;S 26%, other exp 5.5% grants 2.5% and </a:t>
            </a:r>
            <a:r>
              <a:rPr lang="en-GB" sz="105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debt-creating deficit</a:t>
            </a: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05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of GDP</a:t>
            </a: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(consistent with 45% NPV public debt)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esp. as revenue is slow to rise</a:t>
            </a:r>
            <a:r>
              <a:rPr lang="en-GB" sz="105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debt-creating deficits</a:t>
            </a:r>
            <a:r>
              <a:rPr lang="en-GB" sz="105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for a few years above sustainable, at 7%.</a:t>
            </a:r>
            <a:endParaRPr lang="en-RW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2400" y="1057313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+mn-lt"/>
              </a:rPr>
              <a:t>Fi</a:t>
            </a:r>
            <a:r>
              <a:rPr lang="en-GB" sz="1800" b="1" dirty="0">
                <a:solidFill>
                  <a:srgbClr val="0070C0"/>
                </a:solidFill>
                <a:latin typeface="+mn-lt"/>
              </a:rPr>
              <a:t>scal policies affecting output in short-run via several channels captured in the model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492943"/>
            <a:ext cx="2510726" cy="144475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--from 2024,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negative govt demand for  2023-25, fading thereafter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F52AC-AF12-DEB8-67E0-236834BE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683" y="1504844"/>
            <a:ext cx="4191000" cy="4911832"/>
          </a:xfrm>
          <a:prstGeom prst="rect">
            <a:avLst/>
          </a:prstGeom>
          <a:ln>
            <a:solidFill>
              <a:srgbClr val="FFC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2CAF46-8113-0697-4A59-3EF22BE5E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68" y="3505200"/>
            <a:ext cx="3759200" cy="2911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12248F-F564-BABA-E0E9-4A0F960A5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985" y="3533274"/>
            <a:ext cx="3627581" cy="294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4C96-2DDB-9AEE-BF92-AAB06412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B59F-3F2B-B167-21D0-64EC383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prstClr val="black"/>
                </a:solidFill>
                <a:latin typeface="Gill Sans MT"/>
                <a:cs typeface="+mj-cs"/>
              </a:rPr>
              <a:t>QMFM inter-twin with macro toolbox (nowcasting, MF…)</a:t>
            </a:r>
            <a:endParaRPr lang="en-GB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72F3-B15E-50D8-AC09-B858F590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AB29CD-B87E-5056-6100-81504BB9822A}"/>
              </a:ext>
            </a:extLst>
          </p:cNvPr>
          <p:cNvSpPr txBox="1">
            <a:spLocks/>
          </p:cNvSpPr>
          <p:nvPr/>
        </p:nvSpPr>
        <p:spPr>
          <a:xfrm>
            <a:off x="838200" y="1504845"/>
            <a:ext cx="10972800" cy="451495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1600" dirty="0"/>
              <a:t>Calibration of elasticities and exogenous assumptions ( i.e., exogenous growth rates of final demand components)</a:t>
            </a:r>
          </a:p>
          <a:p>
            <a:pPr algn="just"/>
            <a:r>
              <a:rPr lang="en-GB" sz="1600"/>
              <a:t>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40427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 to be addressed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fiscal: accurate govt demand for G&amp;S, more timely and reliable Q data, timely Q treasury plan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– debt: timely &amp; complete Q data (showing IMF separately) and projections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NBR – more timely Q BoP data, as input for models and intMF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 NBR-FPAS results,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analysis of potential output,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international interest rates (GPM)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from various tools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input for intMF well before each Review and each quarter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23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42526</TotalTime>
  <Words>3264</Words>
  <Application>Microsoft Office PowerPoint</Application>
  <PresentationFormat>Widescreen</PresentationFormat>
  <Paragraphs>239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ＭＳ Ｐゴシック</vt:lpstr>
      <vt:lpstr>Aptos</vt:lpstr>
      <vt:lpstr>Arial</vt:lpstr>
      <vt:lpstr>Bookman Old Style</vt:lpstr>
      <vt:lpstr>Calibri</vt:lpstr>
      <vt:lpstr>Courier New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Outline/contents</vt:lpstr>
      <vt:lpstr>Forecast evaluation (forecast round comparison)</vt:lpstr>
      <vt:lpstr>I. Workings of underlying QMFM model</vt:lpstr>
      <vt:lpstr>II. Rationale of outlook &amp; underlying QMFM model</vt:lpstr>
      <vt:lpstr>III. Key concepts in the gap model (glossary)</vt:lpstr>
      <vt:lpstr>1V. Recent macroeconomic developments (2015-2023) Summary key indicators—Output gap &amp; GPD</vt:lpstr>
      <vt:lpstr>Fiscal policies—deficit components, Inflation</vt:lpstr>
      <vt:lpstr>Fiscal policies—deficit components, Inflation</vt:lpstr>
      <vt:lpstr>V. Forecast Assumptions  current cyclical position, policy stance &amp; external environment</vt:lpstr>
      <vt:lpstr>External environment assumptions</vt:lpstr>
      <vt:lpstr>Domestic environment assumptions</vt:lpstr>
      <vt:lpstr>IV. Macroeconomic forecast/outlook Real economy</vt:lpstr>
      <vt:lpstr>Real economy—Prices &amp; market rates </vt:lpstr>
      <vt:lpstr>Fiscal: govt demand for G&amp;S and fiscal impulse</vt:lpstr>
      <vt:lpstr>QMFM inter-twin with macro toolbox (nowcasting, MF…)</vt:lpstr>
      <vt:lpstr>PowerPoint Presentation</vt:lpstr>
      <vt:lpstr>VI. Data issues and requests &amp; suggestions</vt:lpstr>
      <vt:lpstr>VII. Alternative scenario: higher foreign food/oil prices (2023-24)</vt:lpstr>
      <vt:lpstr>VIII. QMFM: main relationships and transmission mechanisms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1636</cp:revision>
  <cp:lastPrinted>2023-06-23T12:26:08Z</cp:lastPrinted>
  <dcterms:created xsi:type="dcterms:W3CDTF">2011-04-18T20:01:25Z</dcterms:created>
  <dcterms:modified xsi:type="dcterms:W3CDTF">2024-12-11T08:30:10Z</dcterms:modified>
</cp:coreProperties>
</file>