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25A_AC340E95.xml" ContentType="application/vnd.ms-powerpoint.comments+xml"/>
  <Override PartName="/ppt/comments/modernComment_25B_6AF2A1D7.xml" ContentType="application/vnd.ms-powerpoint.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bookmarkIdSeed="3">
  <p:sldMasterIdLst>
    <p:sldMasterId id="2147483716" r:id="rId1"/>
    <p:sldMasterId id="2147483910" r:id="rId2"/>
    <p:sldMasterId id="2147483922" r:id="rId3"/>
  </p:sldMasterIdLst>
  <p:notesMasterIdLst>
    <p:notesMasterId r:id="rId35"/>
  </p:notesMasterIdLst>
  <p:handoutMasterIdLst>
    <p:handoutMasterId r:id="rId36"/>
  </p:handoutMasterIdLst>
  <p:sldIdLst>
    <p:sldId id="566" r:id="rId4"/>
    <p:sldId id="601" r:id="rId5"/>
    <p:sldId id="593" r:id="rId6"/>
    <p:sldId id="594" r:id="rId7"/>
    <p:sldId id="595" r:id="rId8"/>
    <p:sldId id="602" r:id="rId9"/>
    <p:sldId id="607" r:id="rId10"/>
    <p:sldId id="603" r:id="rId11"/>
    <p:sldId id="608" r:id="rId12"/>
    <p:sldId id="609" r:id="rId13"/>
    <p:sldId id="260" r:id="rId14"/>
    <p:sldId id="600" r:id="rId15"/>
    <p:sldId id="273" r:id="rId16"/>
    <p:sldId id="605" r:id="rId17"/>
    <p:sldId id="591" r:id="rId18"/>
    <p:sldId id="563" r:id="rId19"/>
    <p:sldId id="573" r:id="rId20"/>
    <p:sldId id="606" r:id="rId21"/>
    <p:sldId id="576" r:id="rId22"/>
    <p:sldId id="598" r:id="rId23"/>
    <p:sldId id="592" r:id="rId24"/>
    <p:sldId id="589" r:id="rId25"/>
    <p:sldId id="586" r:id="rId26"/>
    <p:sldId id="565" r:id="rId27"/>
    <p:sldId id="585" r:id="rId28"/>
    <p:sldId id="597" r:id="rId29"/>
    <p:sldId id="599" r:id="rId30"/>
    <p:sldId id="545" r:id="rId31"/>
    <p:sldId id="569" r:id="rId32"/>
    <p:sldId id="535" r:id="rId33"/>
    <p:sldId id="531" r:id="rId34"/>
  </p:sldIdLst>
  <p:sldSz cx="12192000" cy="6858000"/>
  <p:notesSz cx="7102475" cy="9388475"/>
  <p:defaultTextStyle>
    <a:defPPr>
      <a:defRPr lang="en-US"/>
    </a:defPPr>
    <a:lvl1pPr algn="l" rtl="0" fontAlgn="base">
      <a:spcBef>
        <a:spcPct val="0"/>
      </a:spcBef>
      <a:spcAft>
        <a:spcPct val="0"/>
      </a:spcAft>
      <a:defRPr sz="2400" kern="1200">
        <a:solidFill>
          <a:schemeClr val="tx1"/>
        </a:solidFill>
        <a:latin typeface="Arial" charset="0"/>
        <a:ea typeface="ＭＳ Ｐゴシック" charset="-128"/>
        <a:cs typeface="+mn-cs"/>
      </a:defRPr>
    </a:lvl1pPr>
    <a:lvl2pPr marL="457200" algn="l" rtl="0" fontAlgn="base">
      <a:spcBef>
        <a:spcPct val="0"/>
      </a:spcBef>
      <a:spcAft>
        <a:spcPct val="0"/>
      </a:spcAft>
      <a:defRPr sz="2400" kern="1200">
        <a:solidFill>
          <a:schemeClr val="tx1"/>
        </a:solidFill>
        <a:latin typeface="Arial" charset="0"/>
        <a:ea typeface="ＭＳ Ｐゴシック" charset="-128"/>
        <a:cs typeface="+mn-cs"/>
      </a:defRPr>
    </a:lvl2pPr>
    <a:lvl3pPr marL="914400" algn="l" rtl="0" fontAlgn="base">
      <a:spcBef>
        <a:spcPct val="0"/>
      </a:spcBef>
      <a:spcAft>
        <a:spcPct val="0"/>
      </a:spcAft>
      <a:defRPr sz="2400" kern="1200">
        <a:solidFill>
          <a:schemeClr val="tx1"/>
        </a:solidFill>
        <a:latin typeface="Arial" charset="0"/>
        <a:ea typeface="ＭＳ Ｐゴシック" charset="-128"/>
        <a:cs typeface="+mn-cs"/>
      </a:defRPr>
    </a:lvl3pPr>
    <a:lvl4pPr marL="1371600" algn="l" rtl="0" fontAlgn="base">
      <a:spcBef>
        <a:spcPct val="0"/>
      </a:spcBef>
      <a:spcAft>
        <a:spcPct val="0"/>
      </a:spcAft>
      <a:defRPr sz="2400" kern="1200">
        <a:solidFill>
          <a:schemeClr val="tx1"/>
        </a:solidFill>
        <a:latin typeface="Arial" charset="0"/>
        <a:ea typeface="ＭＳ Ｐゴシック" charset="-128"/>
        <a:cs typeface="+mn-cs"/>
      </a:defRPr>
    </a:lvl4pPr>
    <a:lvl5pPr marL="1828800" algn="l" rtl="0" fontAlgn="base">
      <a:spcBef>
        <a:spcPct val="0"/>
      </a:spcBef>
      <a:spcAft>
        <a:spcPct val="0"/>
      </a:spcAft>
      <a:defRPr sz="2400" kern="1200">
        <a:solidFill>
          <a:schemeClr val="tx1"/>
        </a:solidFill>
        <a:latin typeface="Arial" charset="0"/>
        <a:ea typeface="ＭＳ Ｐゴシック" charset="-128"/>
        <a:cs typeface="+mn-cs"/>
      </a:defRPr>
    </a:lvl5pPr>
    <a:lvl6pPr marL="2286000" algn="l" defTabSz="914400" rtl="0" eaLnBrk="1" latinLnBrk="0" hangingPunct="1">
      <a:defRPr sz="2400" kern="1200">
        <a:solidFill>
          <a:schemeClr val="tx1"/>
        </a:solidFill>
        <a:latin typeface="Arial" charset="0"/>
        <a:ea typeface="ＭＳ Ｐゴシック" charset="-128"/>
        <a:cs typeface="+mn-cs"/>
      </a:defRPr>
    </a:lvl6pPr>
    <a:lvl7pPr marL="2743200" algn="l" defTabSz="914400" rtl="0" eaLnBrk="1" latinLnBrk="0" hangingPunct="1">
      <a:defRPr sz="2400" kern="1200">
        <a:solidFill>
          <a:schemeClr val="tx1"/>
        </a:solidFill>
        <a:latin typeface="Arial" charset="0"/>
        <a:ea typeface="ＭＳ Ｐゴシック" charset="-128"/>
        <a:cs typeface="+mn-cs"/>
      </a:defRPr>
    </a:lvl7pPr>
    <a:lvl8pPr marL="3200400" algn="l" defTabSz="914400" rtl="0" eaLnBrk="1" latinLnBrk="0" hangingPunct="1">
      <a:defRPr sz="2400" kern="1200">
        <a:solidFill>
          <a:schemeClr val="tx1"/>
        </a:solidFill>
        <a:latin typeface="Arial" charset="0"/>
        <a:ea typeface="ＭＳ Ｐゴシック" charset="-128"/>
        <a:cs typeface="+mn-cs"/>
      </a:defRPr>
    </a:lvl8pPr>
    <a:lvl9pPr marL="3657600" algn="l" defTabSz="914400" rtl="0" eaLnBrk="1" latinLnBrk="0" hangingPunct="1">
      <a:defRPr sz="2400" kern="1200">
        <a:solidFill>
          <a:schemeClr val="tx1"/>
        </a:solidFill>
        <a:latin typeface="Arial" charset="0"/>
        <a:ea typeface="ＭＳ Ｐゴシック" charset="-128"/>
        <a:cs typeface="+mn-cs"/>
      </a:defRPr>
    </a:lvl9pPr>
  </p:defaultTextStyle>
  <p:extLst>
    <p:ext uri="{521415D9-36F7-43E2-AB2F-B90AF26B5E84}">
      <p14:sectionLst xmlns:p14="http://schemas.microsoft.com/office/powerpoint/2010/main">
        <p14:section name="Default Section" id="{4EFA106F-A1D2-4A8C-B134-8F2A12C21D33}">
          <p14:sldIdLst>
            <p14:sldId id="566"/>
            <p14:sldId id="601"/>
            <p14:sldId id="593"/>
            <p14:sldId id="594"/>
            <p14:sldId id="595"/>
            <p14:sldId id="602"/>
            <p14:sldId id="607"/>
            <p14:sldId id="603"/>
            <p14:sldId id="608"/>
            <p14:sldId id="609"/>
            <p14:sldId id="260"/>
            <p14:sldId id="600"/>
            <p14:sldId id="273"/>
            <p14:sldId id="605"/>
            <p14:sldId id="591"/>
            <p14:sldId id="563"/>
            <p14:sldId id="573"/>
            <p14:sldId id="606"/>
            <p14:sldId id="576"/>
            <p14:sldId id="598"/>
            <p14:sldId id="592"/>
            <p14:sldId id="589"/>
            <p14:sldId id="586"/>
            <p14:sldId id="565"/>
            <p14:sldId id="585"/>
            <p14:sldId id="597"/>
            <p14:sldId id="599"/>
            <p14:sldId id="545"/>
            <p14:sldId id="569"/>
            <p14:sldId id="535"/>
            <p14:sldId id="53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957" userDrawn="1">
          <p15:clr>
            <a:srgbClr val="A4A3A4"/>
          </p15:clr>
        </p15:guide>
        <p15:guide id="2" pos="2238"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56D2716-681C-0ED8-9BD4-37117C3B4FB8}" name="arend Kouwenaar" initials="aK" userId="adbbcea973320f35" providerId="Windows Live"/>
  <p188:author id="{FE78AC8B-25A4-2FA1-255B-A2BA7B6FF7E8}" name="Manirumva, Evariste" initials="ME" userId="S::emanirumva@icipe.org::fbb618da-2b8a-4a66-b30b-f0e53196d74f" providerId="AD"/>
  <p188:author id="{D5143AD7-E749-5E1E-371D-A585C0C727CD}" name="User" initials="U" userId="User"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Evariste MANIRUMVA" initials="EM" lastIdx="4" clrIdx="0">
    <p:extLst>
      <p:ext uri="{19B8F6BF-5375-455C-9EA6-DF929625EA0E}">
        <p15:presenceInfo xmlns:p15="http://schemas.microsoft.com/office/powerpoint/2012/main" userId="S-1-5-21-367653040-3284563744-1480659140-5515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09351"/>
    <a:srgbClr val="008BCC"/>
    <a:srgbClr val="F4BC0A"/>
    <a:srgbClr val="FF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6" autoAdjust="0"/>
    <p:restoredTop sz="95788" autoAdjust="0"/>
  </p:normalViewPr>
  <p:slideViewPr>
    <p:cSldViewPr>
      <p:cViewPr varScale="1">
        <p:scale>
          <a:sx n="120" d="100"/>
          <a:sy n="120" d="100"/>
        </p:scale>
        <p:origin x="120" y="234"/>
      </p:cViewPr>
      <p:guideLst>
        <p:guide orient="horz" pos="2160"/>
        <p:guide pos="3840"/>
      </p:guideLst>
    </p:cSldViewPr>
  </p:slideViewPr>
  <p:outlineViewPr>
    <p:cViewPr>
      <p:scale>
        <a:sx n="33" d="100"/>
        <a:sy n="33" d="100"/>
      </p:scale>
      <p:origin x="0" y="5580"/>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76" d="100"/>
          <a:sy n="76" d="100"/>
        </p:scale>
        <p:origin x="-2196" y="-102"/>
      </p:cViewPr>
      <p:guideLst>
        <p:guide orient="horz" pos="2957"/>
        <p:guide pos="223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viewProps" Target="viewProps.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slide" Target="slides/slide31.xml"/><Relationship Id="rId42" Type="http://schemas.microsoft.com/office/2018/10/relationships/authors" Target="author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handoutMaster" Target="handoutMasters/handoutMaster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notesMaster" Target="notesMasters/notesMaster1.xml"/></Relationships>
</file>

<file path=ppt/comments/modernComment_25A_AC340E95.xml><?xml version="1.0" encoding="utf-8"?>
<p188:cmLst xmlns:a="http://schemas.openxmlformats.org/drawingml/2006/main" xmlns:r="http://schemas.openxmlformats.org/officeDocument/2006/relationships" xmlns:p188="http://schemas.microsoft.com/office/powerpoint/2018/8/main">
  <p188:cm id="{150A9D92-06F1-4845-AB87-453B6FAA3CD6}" authorId="{D56D2716-681C-0ED8-9BD4-37117C3B4FB8}" created="2025-03-03T02:17:38.133">
    <ac:deMkLst xmlns:ac="http://schemas.microsoft.com/office/drawing/2013/main/command">
      <pc:docMk xmlns:pc="http://schemas.microsoft.com/office/powerpoint/2013/main/command"/>
      <pc:sldMk xmlns:pc="http://schemas.microsoft.com/office/powerpoint/2013/main/command" cId="2889092757" sldId="602"/>
      <ac:spMk id="15" creationId="{71DDEE4A-9C67-3AC4-5A2E-AC24191F73B5}"/>
    </ac:deMkLst>
    <p188:txBody>
      <a:bodyPr/>
      <a:lstStyle/>
      <a:p>
        <a:r>
          <a:rPr lang="en-US"/>
          <a:t>we revised this in Sept 2024</a:t>
        </a:r>
      </a:p>
    </p188:txBody>
  </p188:cm>
</p188:cmLst>
</file>

<file path=ppt/comments/modernComment_25B_6AF2A1D7.xml><?xml version="1.0" encoding="utf-8"?>
<p188:cmLst xmlns:a="http://schemas.openxmlformats.org/drawingml/2006/main" xmlns:r="http://schemas.openxmlformats.org/officeDocument/2006/relationships" xmlns:p188="http://schemas.microsoft.com/office/powerpoint/2018/8/main">
  <p188:cm id="{1256F808-68F0-4CE6-835C-955214F7B385}" authorId="{D56D2716-681C-0ED8-9BD4-37117C3B4FB8}" created="2025-03-03T02:28:58.640">
    <ac:txMkLst xmlns:ac="http://schemas.microsoft.com/office/drawing/2013/main/command">
      <pc:docMk xmlns:pc="http://schemas.microsoft.com/office/powerpoint/2013/main/command"/>
      <pc:sldMk xmlns:pc="http://schemas.microsoft.com/office/powerpoint/2013/main/command" cId="1794286039" sldId="603"/>
      <ac:spMk id="18" creationId="{A9B51905-B381-2286-37CA-179558F51EC5}"/>
      <ac:txMk cp="266" len="46">
        <ac:context len="746" hash="1903763674"/>
      </ac:txMk>
    </ac:txMkLst>
    <p188:txBody>
      <a:bodyPr/>
      <a:lstStyle/>
      <a:p>
        <a:r>
          <a:rPr lang="en-US"/>
          <a:t>The recovery of C, I is hard to see from y-on-y growth charts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7" y="5"/>
            <a:ext cx="3078382" cy="469587"/>
          </a:xfrm>
          <a:prstGeom prst="rect">
            <a:avLst/>
          </a:prstGeom>
        </p:spPr>
        <p:txBody>
          <a:bodyPr vert="horz" wrap="square" lIns="91433" tIns="45717" rIns="91433" bIns="45717" numCol="1" anchor="t" anchorCtr="0" compatLnSpc="1">
            <a:prstTxWarp prst="textNoShape">
              <a:avLst/>
            </a:prstTxWarp>
          </a:bodyPr>
          <a:lstStyle>
            <a:lvl1pPr>
              <a:defRPr sz="1200"/>
            </a:lvl1pPr>
          </a:lstStyle>
          <a:p>
            <a:endParaRPr lang="en-US" dirty="0"/>
          </a:p>
        </p:txBody>
      </p:sp>
      <p:sp>
        <p:nvSpPr>
          <p:cNvPr id="3" name="Date Placeholder 2"/>
          <p:cNvSpPr>
            <a:spLocks noGrp="1"/>
          </p:cNvSpPr>
          <p:nvPr>
            <p:ph type="dt" sz="quarter" idx="1"/>
          </p:nvPr>
        </p:nvSpPr>
        <p:spPr>
          <a:xfrm>
            <a:off x="4022491" y="5"/>
            <a:ext cx="3078382" cy="469587"/>
          </a:xfrm>
          <a:prstGeom prst="rect">
            <a:avLst/>
          </a:prstGeom>
        </p:spPr>
        <p:txBody>
          <a:bodyPr vert="horz" wrap="square" lIns="91433" tIns="45717" rIns="91433" bIns="45717" numCol="1" anchor="t" anchorCtr="0" compatLnSpc="1">
            <a:prstTxWarp prst="textNoShape">
              <a:avLst/>
            </a:prstTxWarp>
          </a:bodyPr>
          <a:lstStyle>
            <a:lvl1pPr algn="r">
              <a:defRPr sz="1200"/>
            </a:lvl1pPr>
          </a:lstStyle>
          <a:p>
            <a:fld id="{EC952391-E811-40BD-BF31-152F5CC3E0D7}" type="datetime1">
              <a:rPr lang="en-US"/>
              <a:pPr/>
              <a:t>11/14/2025</a:t>
            </a:fld>
            <a:endParaRPr lang="en-US" dirty="0"/>
          </a:p>
        </p:txBody>
      </p:sp>
      <p:sp>
        <p:nvSpPr>
          <p:cNvPr id="4" name="Footer Placeholder 3"/>
          <p:cNvSpPr>
            <a:spLocks noGrp="1"/>
          </p:cNvSpPr>
          <p:nvPr>
            <p:ph type="ftr" sz="quarter" idx="2"/>
          </p:nvPr>
        </p:nvSpPr>
        <p:spPr>
          <a:xfrm>
            <a:off x="7" y="8917280"/>
            <a:ext cx="3078382" cy="469587"/>
          </a:xfrm>
          <a:prstGeom prst="rect">
            <a:avLst/>
          </a:prstGeom>
        </p:spPr>
        <p:txBody>
          <a:bodyPr vert="horz" wrap="square" lIns="91433" tIns="45717" rIns="91433" bIns="45717" numCol="1" anchor="b" anchorCtr="0" compatLnSpc="1">
            <a:prstTxWarp prst="textNoShape">
              <a:avLst/>
            </a:prstTxWarp>
          </a:bodyPr>
          <a:lstStyle>
            <a:lvl1pPr>
              <a:defRPr sz="1200"/>
            </a:lvl1pPr>
          </a:lstStyle>
          <a:p>
            <a:endParaRPr lang="en-US" dirty="0"/>
          </a:p>
        </p:txBody>
      </p:sp>
      <p:sp>
        <p:nvSpPr>
          <p:cNvPr id="5" name="Slide Number Placeholder 4"/>
          <p:cNvSpPr>
            <a:spLocks noGrp="1"/>
          </p:cNvSpPr>
          <p:nvPr>
            <p:ph type="sldNum" sz="quarter" idx="3"/>
          </p:nvPr>
        </p:nvSpPr>
        <p:spPr>
          <a:xfrm>
            <a:off x="4022491" y="8917280"/>
            <a:ext cx="3078382" cy="469587"/>
          </a:xfrm>
          <a:prstGeom prst="rect">
            <a:avLst/>
          </a:prstGeom>
        </p:spPr>
        <p:txBody>
          <a:bodyPr vert="horz" wrap="square" lIns="91433" tIns="45717" rIns="91433" bIns="45717" numCol="1" anchor="b" anchorCtr="0" compatLnSpc="1">
            <a:prstTxWarp prst="textNoShape">
              <a:avLst/>
            </a:prstTxWarp>
          </a:bodyPr>
          <a:lstStyle>
            <a:lvl1pPr algn="r">
              <a:defRPr sz="1200"/>
            </a:lvl1pPr>
          </a:lstStyle>
          <a:p>
            <a:fld id="{5C8EE828-0B52-48BD-AC30-C13AE1823DC9}" type="slidenum">
              <a:rPr lang="en-US"/>
              <a:pPr/>
              <a:t>‹#›</a:t>
            </a:fld>
            <a:endParaRPr lang="en-US" dirty="0"/>
          </a:p>
        </p:txBody>
      </p:sp>
    </p:spTree>
    <p:extLst>
      <p:ext uri="{BB962C8B-B14F-4D97-AF65-F5344CB8AC3E}">
        <p14:creationId xmlns:p14="http://schemas.microsoft.com/office/powerpoint/2010/main" val="39525950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7" y="5"/>
            <a:ext cx="3078382" cy="469587"/>
          </a:xfrm>
          <a:prstGeom prst="rect">
            <a:avLst/>
          </a:prstGeom>
        </p:spPr>
        <p:txBody>
          <a:bodyPr vert="horz" wrap="square" lIns="92823" tIns="46413" rIns="92823" bIns="46413" numCol="1" anchor="t" anchorCtr="0" compatLnSpc="1">
            <a:prstTxWarp prst="textNoShape">
              <a:avLst/>
            </a:prstTxWarp>
          </a:bodyPr>
          <a:lstStyle>
            <a:lvl1pPr>
              <a:defRPr sz="1200">
                <a:latin typeface="Calibri" charset="0"/>
              </a:defRPr>
            </a:lvl1pPr>
          </a:lstStyle>
          <a:p>
            <a:endParaRPr lang="en-US" dirty="0"/>
          </a:p>
        </p:txBody>
      </p:sp>
      <p:sp>
        <p:nvSpPr>
          <p:cNvPr id="3" name="Date Placeholder 2"/>
          <p:cNvSpPr>
            <a:spLocks noGrp="1"/>
          </p:cNvSpPr>
          <p:nvPr>
            <p:ph type="dt" idx="1"/>
          </p:nvPr>
        </p:nvSpPr>
        <p:spPr>
          <a:xfrm>
            <a:off x="4022491" y="5"/>
            <a:ext cx="3078382" cy="469587"/>
          </a:xfrm>
          <a:prstGeom prst="rect">
            <a:avLst/>
          </a:prstGeom>
        </p:spPr>
        <p:txBody>
          <a:bodyPr vert="horz" wrap="square" lIns="92823" tIns="46413" rIns="92823" bIns="46413" numCol="1" anchor="t" anchorCtr="0" compatLnSpc="1">
            <a:prstTxWarp prst="textNoShape">
              <a:avLst/>
            </a:prstTxWarp>
          </a:bodyPr>
          <a:lstStyle>
            <a:lvl1pPr algn="r">
              <a:defRPr sz="1200">
                <a:latin typeface="Calibri" charset="0"/>
              </a:defRPr>
            </a:lvl1pPr>
          </a:lstStyle>
          <a:p>
            <a:fld id="{91EC5310-AD28-478C-9D1F-55544C92CB9A}" type="datetime1">
              <a:rPr lang="en-US"/>
              <a:pPr/>
              <a:t>11/14/2025</a:t>
            </a:fld>
            <a:endParaRPr lang="en-US" dirty="0"/>
          </a:p>
        </p:txBody>
      </p:sp>
      <p:sp>
        <p:nvSpPr>
          <p:cNvPr id="4" name="Slide Image Placeholder 3"/>
          <p:cNvSpPr>
            <a:spLocks noGrp="1" noRot="1" noChangeAspect="1"/>
          </p:cNvSpPr>
          <p:nvPr>
            <p:ph type="sldImg" idx="2"/>
          </p:nvPr>
        </p:nvSpPr>
        <p:spPr>
          <a:xfrm>
            <a:off x="420688" y="704850"/>
            <a:ext cx="6261100" cy="3521075"/>
          </a:xfrm>
          <a:prstGeom prst="rect">
            <a:avLst/>
          </a:prstGeom>
          <a:noFill/>
          <a:ln w="12700">
            <a:solidFill>
              <a:prstClr val="black"/>
            </a:solidFill>
          </a:ln>
        </p:spPr>
        <p:txBody>
          <a:bodyPr vert="horz" wrap="square" lIns="92823" tIns="46413" rIns="92823" bIns="46413" numCol="1" anchor="ctr" anchorCtr="0" compatLnSpc="1">
            <a:prstTxWarp prst="textNoShape">
              <a:avLst/>
            </a:prstTxWarp>
          </a:bodyPr>
          <a:lstStyle/>
          <a:p>
            <a:pPr lvl="0"/>
            <a:endParaRPr lang="en-US" dirty="0"/>
          </a:p>
        </p:txBody>
      </p:sp>
      <p:sp>
        <p:nvSpPr>
          <p:cNvPr id="5" name="Notes Placeholder 4"/>
          <p:cNvSpPr>
            <a:spLocks noGrp="1"/>
          </p:cNvSpPr>
          <p:nvPr>
            <p:ph type="body" sz="quarter" idx="3"/>
          </p:nvPr>
        </p:nvSpPr>
        <p:spPr>
          <a:xfrm>
            <a:off x="710893" y="4460256"/>
            <a:ext cx="5680694" cy="4224651"/>
          </a:xfrm>
          <a:prstGeom prst="rect">
            <a:avLst/>
          </a:prstGeom>
        </p:spPr>
        <p:txBody>
          <a:bodyPr vert="horz" wrap="square" lIns="92823" tIns="46413" rIns="92823" bIns="46413" numCol="1" anchor="t" anchorCtr="0" compatLnSpc="1">
            <a:prstTxWarp prst="textNoShape">
              <a:avLst/>
            </a:prstTxWarp>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7" y="8917280"/>
            <a:ext cx="3078382" cy="469587"/>
          </a:xfrm>
          <a:prstGeom prst="rect">
            <a:avLst/>
          </a:prstGeom>
        </p:spPr>
        <p:txBody>
          <a:bodyPr vert="horz" wrap="square" lIns="92823" tIns="46413" rIns="92823" bIns="46413" numCol="1" anchor="b" anchorCtr="0" compatLnSpc="1">
            <a:prstTxWarp prst="textNoShape">
              <a:avLst/>
            </a:prstTxWarp>
          </a:bodyPr>
          <a:lstStyle>
            <a:lvl1pPr>
              <a:defRPr sz="1200">
                <a:latin typeface="Calibri" charset="0"/>
              </a:defRPr>
            </a:lvl1pPr>
          </a:lstStyle>
          <a:p>
            <a:endParaRPr lang="en-US" dirty="0"/>
          </a:p>
        </p:txBody>
      </p:sp>
      <p:sp>
        <p:nvSpPr>
          <p:cNvPr id="7" name="Slide Number Placeholder 6"/>
          <p:cNvSpPr>
            <a:spLocks noGrp="1"/>
          </p:cNvSpPr>
          <p:nvPr>
            <p:ph type="sldNum" sz="quarter" idx="5"/>
          </p:nvPr>
        </p:nvSpPr>
        <p:spPr>
          <a:xfrm>
            <a:off x="4022491" y="8917280"/>
            <a:ext cx="3078382" cy="469587"/>
          </a:xfrm>
          <a:prstGeom prst="rect">
            <a:avLst/>
          </a:prstGeom>
        </p:spPr>
        <p:txBody>
          <a:bodyPr vert="horz" wrap="square" lIns="92823" tIns="46413" rIns="92823" bIns="46413" numCol="1" anchor="b" anchorCtr="0" compatLnSpc="1">
            <a:prstTxWarp prst="textNoShape">
              <a:avLst/>
            </a:prstTxWarp>
          </a:bodyPr>
          <a:lstStyle>
            <a:lvl1pPr algn="r">
              <a:defRPr sz="1200">
                <a:latin typeface="Calibri" charset="0"/>
              </a:defRPr>
            </a:lvl1pPr>
          </a:lstStyle>
          <a:p>
            <a:fld id="{21D82EB7-C704-4A63-B645-1186AD9BB91E}" type="slidenum">
              <a:rPr lang="en-US"/>
              <a:pPr/>
              <a:t>‹#›</a:t>
            </a:fld>
            <a:endParaRPr lang="en-US" dirty="0"/>
          </a:p>
        </p:txBody>
      </p:sp>
    </p:spTree>
    <p:extLst>
      <p:ext uri="{BB962C8B-B14F-4D97-AF65-F5344CB8AC3E}">
        <p14:creationId xmlns:p14="http://schemas.microsoft.com/office/powerpoint/2010/main" val="278250154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charset="-128"/>
        <a:cs typeface="+mn-cs"/>
      </a:defRPr>
    </a:lvl1pPr>
    <a:lvl2pPr marL="457200" algn="l" rtl="0" eaLnBrk="0" fontAlgn="base" hangingPunct="0">
      <a:spcBef>
        <a:spcPct val="30000"/>
      </a:spcBef>
      <a:spcAft>
        <a:spcPct val="0"/>
      </a:spcAft>
      <a:defRPr sz="1200" kern="1200">
        <a:solidFill>
          <a:schemeClr val="tx1"/>
        </a:solidFill>
        <a:latin typeface="+mn-lt"/>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7"/>
          <p:cNvSpPr>
            <a:spLocks noGrp="1" noChangeArrowheads="1"/>
          </p:cNvSpPr>
          <p:nvPr>
            <p:ph type="sldNum" sz="quarter" idx="5"/>
          </p:nvPr>
        </p:nvSpPr>
        <p:spPr/>
        <p:txBody>
          <a:bodyPr/>
          <a:lstStyle/>
          <a:p>
            <a:pPr>
              <a:defRPr/>
            </a:pPr>
            <a:fld id="{C047C504-C68F-4932-B214-1C432888EE05}" type="slidenum">
              <a:rPr lang="en-GB" smtClean="0"/>
              <a:pPr>
                <a:defRPr/>
              </a:pPr>
              <a:t>0</a:t>
            </a:fld>
            <a:endParaRPr lang="en-GB" dirty="0"/>
          </a:p>
        </p:txBody>
      </p:sp>
      <p:sp>
        <p:nvSpPr>
          <p:cNvPr id="19459" name="Rectangle 2"/>
          <p:cNvSpPr>
            <a:spLocks noGrp="1" noRot="1" noChangeAspect="1" noChangeArrowheads="1" noTextEdit="1"/>
          </p:cNvSpPr>
          <p:nvPr>
            <p:ph type="sldImg"/>
          </p:nvPr>
        </p:nvSpPr>
        <p:spPr bwMode="auto">
          <a:xfrm>
            <a:off x="420688" y="704850"/>
            <a:ext cx="6261100" cy="3521075"/>
          </a:xfrm>
          <a:noFill/>
          <a:ln>
            <a:solidFill>
              <a:srgbClr val="000000"/>
            </a:solidFill>
            <a:miter lim="800000"/>
            <a:headEnd/>
            <a:tailEnd/>
          </a:ln>
        </p:spPr>
      </p:sp>
      <p:sp>
        <p:nvSpPr>
          <p:cNvPr id="19460" name="Rectangle 3"/>
          <p:cNvSpPr>
            <a:spLocks noGrp="1" noChangeArrowheads="1"/>
          </p:cNvSpPr>
          <p:nvPr>
            <p:ph type="body" idx="1"/>
          </p:nvPr>
        </p:nvSpPr>
        <p:spPr bwMode="auto">
          <a:noFill/>
        </p:spPr>
        <p:txBody>
          <a:bodyPr wrap="square" numCol="1" anchor="t" anchorCtr="0" compatLnSpc="1">
            <a:prstTxWarp prst="textNoShape">
              <a:avLst/>
            </a:prstTxWarp>
          </a:bodyPr>
          <a:lstStyle/>
          <a:p>
            <a:pPr eaLnBrk="1" hangingPunct="1"/>
            <a:endParaRPr lang="fr-FR" dirty="0"/>
          </a:p>
        </p:txBody>
      </p:sp>
    </p:spTree>
    <p:extLst>
      <p:ext uri="{BB962C8B-B14F-4D97-AF65-F5344CB8AC3E}">
        <p14:creationId xmlns:p14="http://schemas.microsoft.com/office/powerpoint/2010/main" val="25267620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RW" dirty="0"/>
          </a:p>
        </p:txBody>
      </p:sp>
      <p:sp>
        <p:nvSpPr>
          <p:cNvPr id="4" name="Slide Number Placeholder 3"/>
          <p:cNvSpPr>
            <a:spLocks noGrp="1"/>
          </p:cNvSpPr>
          <p:nvPr>
            <p:ph type="sldNum" sz="quarter" idx="5"/>
          </p:nvPr>
        </p:nvSpPr>
        <p:spPr/>
        <p:txBody>
          <a:bodyPr/>
          <a:lstStyle/>
          <a:p>
            <a:fld id="{21D82EB7-C704-4A63-B645-1186AD9BB91E}" type="slidenum">
              <a:rPr lang="en-US" smtClean="0"/>
              <a:pPr/>
              <a:t>1</a:t>
            </a:fld>
            <a:endParaRPr lang="en-US" dirty="0"/>
          </a:p>
        </p:txBody>
      </p:sp>
    </p:spTree>
    <p:extLst>
      <p:ext uri="{BB962C8B-B14F-4D97-AF65-F5344CB8AC3E}">
        <p14:creationId xmlns:p14="http://schemas.microsoft.com/office/powerpoint/2010/main" val="26482789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783BB-1414-C279-F950-9886656178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92C1AD-D963-60D9-FC97-938A36710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663AC0-3AE0-42E1-7D17-04592A3B66B2}"/>
              </a:ext>
            </a:extLst>
          </p:cNvPr>
          <p:cNvSpPr>
            <a:spLocks noGrp="1"/>
          </p:cNvSpPr>
          <p:nvPr>
            <p:ph type="body" idx="1"/>
          </p:nvPr>
        </p:nvSpPr>
        <p:spPr/>
        <p:txBody>
          <a:bodyPr/>
          <a:lstStyle/>
          <a:p>
            <a:endParaRPr lang="en-RW" dirty="0"/>
          </a:p>
        </p:txBody>
      </p:sp>
      <p:sp>
        <p:nvSpPr>
          <p:cNvPr id="4" name="Slide Number Placeholder 3">
            <a:extLst>
              <a:ext uri="{FF2B5EF4-FFF2-40B4-BE49-F238E27FC236}">
                <a16:creationId xmlns:a16="http://schemas.microsoft.com/office/drawing/2014/main" id="{A576F94D-A96F-1875-E58B-64A03AEC0E66}"/>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21D82EB7-C704-4A63-B645-1186AD9BB91E}" type="slidenum">
              <a:rPr kumimoji="0" 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7135945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RW" dirty="0"/>
          </a:p>
        </p:txBody>
      </p:sp>
      <p:sp>
        <p:nvSpPr>
          <p:cNvPr id="4" name="Slide Number Placeholder 3"/>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21D82EB7-C704-4A63-B645-1186AD9BB91E}" type="slidenum">
              <a:rPr kumimoji="0" 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3</a:t>
            </a:fld>
            <a:endParaRPr kumimoji="0" lang="en-US" sz="1200" b="0" i="0" u="none" strike="noStrike" kern="1200" cap="none" spc="0" normalizeH="0" baseline="0" noProof="0" dirty="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5010772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C5FFA-F2B7-3365-95C3-12B6763266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429277-5966-A8A8-5D70-5638B53F15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544AE-56FD-6F3F-CD78-201681CE5C76}"/>
              </a:ext>
            </a:extLst>
          </p:cNvPr>
          <p:cNvSpPr>
            <a:spLocks noGrp="1"/>
          </p:cNvSpPr>
          <p:nvPr>
            <p:ph type="body" idx="1"/>
          </p:nvPr>
        </p:nvSpPr>
        <p:spPr/>
        <p:txBody>
          <a:bodyPr/>
          <a:lstStyle/>
          <a:p>
            <a:endParaRPr lang="en-RW" dirty="0"/>
          </a:p>
        </p:txBody>
      </p:sp>
      <p:sp>
        <p:nvSpPr>
          <p:cNvPr id="4" name="Slide Number Placeholder 3">
            <a:extLst>
              <a:ext uri="{FF2B5EF4-FFF2-40B4-BE49-F238E27FC236}">
                <a16:creationId xmlns:a16="http://schemas.microsoft.com/office/drawing/2014/main" id="{A07EF9E3-4C15-B044-4A94-0F8887FFDCFB}"/>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21D82EB7-C704-4A63-B645-1186AD9BB91E}" type="slidenum">
              <a:rPr kumimoji="0" 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dirty="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2235095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E6F34-62E9-BFDF-5319-04580F714F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283404-F4F8-F304-93BC-30882AE536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E4553C-4909-3BE1-B278-5310641DA3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C19405-B1FF-32C9-D218-6FB5EA68CC47}"/>
              </a:ext>
            </a:extLst>
          </p:cNvPr>
          <p:cNvSpPr>
            <a:spLocks noGrp="1"/>
          </p:cNvSpPr>
          <p:nvPr>
            <p:ph type="sldNum" sz="quarter" idx="5"/>
          </p:nvPr>
        </p:nvSpPr>
        <p:spPr/>
        <p:txBody>
          <a:bodyPr/>
          <a:lstStyle/>
          <a:p>
            <a:fld id="{21D82EB7-C704-4A63-B645-1186AD9BB91E}" type="slidenum">
              <a:rPr lang="en-US" smtClean="0"/>
              <a:pPr/>
              <a:t>14</a:t>
            </a:fld>
            <a:endParaRPr lang="en-US" dirty="0"/>
          </a:p>
        </p:txBody>
      </p:sp>
    </p:spTree>
    <p:extLst>
      <p:ext uri="{BB962C8B-B14F-4D97-AF65-F5344CB8AC3E}">
        <p14:creationId xmlns:p14="http://schemas.microsoft.com/office/powerpoint/2010/main" val="9450592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D82EB7-C704-4A63-B645-1186AD9BB91E}" type="slidenum">
              <a:rPr lang="en-US" smtClean="0"/>
              <a:pPr/>
              <a:t>15</a:t>
            </a:fld>
            <a:endParaRPr lang="en-US" dirty="0"/>
          </a:p>
        </p:txBody>
      </p:sp>
    </p:spTree>
    <p:extLst>
      <p:ext uri="{BB962C8B-B14F-4D97-AF65-F5344CB8AC3E}">
        <p14:creationId xmlns:p14="http://schemas.microsoft.com/office/powerpoint/2010/main" val="3347808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Output gap and Fiscal Impulse in last Chart</a:t>
            </a:r>
          </a:p>
        </p:txBody>
      </p:sp>
      <p:sp>
        <p:nvSpPr>
          <p:cNvPr id="4" name="Slide Number Placeholder 3"/>
          <p:cNvSpPr>
            <a:spLocks noGrp="1"/>
          </p:cNvSpPr>
          <p:nvPr>
            <p:ph type="sldNum" sz="quarter" idx="5"/>
          </p:nvPr>
        </p:nvSpPr>
        <p:spPr/>
        <p:txBody>
          <a:bodyPr/>
          <a:lstStyle/>
          <a:p>
            <a:fld id="{21D82EB7-C704-4A63-B645-1186AD9BB91E}" type="slidenum">
              <a:rPr lang="en-US" smtClean="0"/>
              <a:pPr/>
              <a:t>16</a:t>
            </a:fld>
            <a:endParaRPr lang="en-US" dirty="0"/>
          </a:p>
        </p:txBody>
      </p:sp>
    </p:spTree>
    <p:extLst>
      <p:ext uri="{BB962C8B-B14F-4D97-AF65-F5344CB8AC3E}">
        <p14:creationId xmlns:p14="http://schemas.microsoft.com/office/powerpoint/2010/main" val="9615048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51364-D29C-3AB0-C20B-4BB9FC00EF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26619A-5BBD-C6BA-58A6-B2FB0BCED3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2FE0A-A955-8E4D-B175-F2791F82667B}"/>
              </a:ext>
            </a:extLst>
          </p:cNvPr>
          <p:cNvSpPr>
            <a:spLocks noGrp="1"/>
          </p:cNvSpPr>
          <p:nvPr>
            <p:ph type="body" idx="1"/>
          </p:nvPr>
        </p:nvSpPr>
        <p:spPr/>
        <p:txBody>
          <a:bodyPr/>
          <a:lstStyle/>
          <a:p>
            <a:r>
              <a:rPr lang="en-US" dirty="0"/>
              <a:t>See Output gap and Fiscal Impulse in last Chart</a:t>
            </a:r>
          </a:p>
        </p:txBody>
      </p:sp>
      <p:sp>
        <p:nvSpPr>
          <p:cNvPr id="4" name="Slide Number Placeholder 3">
            <a:extLst>
              <a:ext uri="{FF2B5EF4-FFF2-40B4-BE49-F238E27FC236}">
                <a16:creationId xmlns:a16="http://schemas.microsoft.com/office/drawing/2014/main" id="{14EDDD77-C525-0876-C9A0-3F8EDB6ABBA4}"/>
              </a:ext>
            </a:extLst>
          </p:cNvPr>
          <p:cNvSpPr>
            <a:spLocks noGrp="1"/>
          </p:cNvSpPr>
          <p:nvPr>
            <p:ph type="sldNum" sz="quarter" idx="5"/>
          </p:nvPr>
        </p:nvSpPr>
        <p:spPr/>
        <p:txBody>
          <a:bodyPr/>
          <a:lstStyle/>
          <a:p>
            <a:fld id="{21D82EB7-C704-4A63-B645-1186AD9BB91E}" type="slidenum">
              <a:rPr lang="en-US" smtClean="0"/>
              <a:pPr/>
              <a:t>17</a:t>
            </a:fld>
            <a:endParaRPr lang="en-US" dirty="0"/>
          </a:p>
        </p:txBody>
      </p:sp>
    </p:spTree>
    <p:extLst>
      <p:ext uri="{BB962C8B-B14F-4D97-AF65-F5344CB8AC3E}">
        <p14:creationId xmlns:p14="http://schemas.microsoft.com/office/powerpoint/2010/main" val="4201086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D82EB7-C704-4A63-B645-1186AD9BB91E}" type="slidenum">
              <a:rPr lang="en-US" smtClean="0"/>
              <a:pPr/>
              <a:t>18</a:t>
            </a:fld>
            <a:endParaRPr lang="en-US" dirty="0"/>
          </a:p>
        </p:txBody>
      </p:sp>
    </p:spTree>
    <p:extLst>
      <p:ext uri="{BB962C8B-B14F-4D97-AF65-F5344CB8AC3E}">
        <p14:creationId xmlns:p14="http://schemas.microsoft.com/office/powerpoint/2010/main" val="20535134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1D348-D783-9781-2D90-3C28E68E18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814999-5FCD-E785-316D-375917301E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C740BB-CFFB-590F-8AC5-3F3757387F4B}"/>
              </a:ext>
            </a:extLst>
          </p:cNvPr>
          <p:cNvSpPr>
            <a:spLocks noGrp="1"/>
          </p:cNvSpPr>
          <p:nvPr>
            <p:ph type="body" idx="1"/>
          </p:nvPr>
        </p:nvSpPr>
        <p:spPr/>
        <p:txBody>
          <a:bodyPr/>
          <a:lstStyle/>
          <a:p>
            <a:r>
              <a:rPr lang="en-US" dirty="0"/>
              <a:t>See Output gap and Fiscal Impulse in last Chart</a:t>
            </a:r>
          </a:p>
        </p:txBody>
      </p:sp>
      <p:sp>
        <p:nvSpPr>
          <p:cNvPr id="4" name="Slide Number Placeholder 3">
            <a:extLst>
              <a:ext uri="{FF2B5EF4-FFF2-40B4-BE49-F238E27FC236}">
                <a16:creationId xmlns:a16="http://schemas.microsoft.com/office/drawing/2014/main" id="{0EBCD557-4BB0-94B5-1A10-FDDB8459690F}"/>
              </a:ext>
            </a:extLst>
          </p:cNvPr>
          <p:cNvSpPr>
            <a:spLocks noGrp="1"/>
          </p:cNvSpPr>
          <p:nvPr>
            <p:ph type="sldNum" sz="quarter" idx="5"/>
          </p:nvPr>
        </p:nvSpPr>
        <p:spPr/>
        <p:txBody>
          <a:bodyPr/>
          <a:lstStyle/>
          <a:p>
            <a:fld id="{21D82EB7-C704-4A63-B645-1186AD9BB91E}" type="slidenum">
              <a:rPr lang="en-US" smtClean="0"/>
              <a:pPr/>
              <a:t>19</a:t>
            </a:fld>
            <a:endParaRPr lang="en-US" dirty="0"/>
          </a:p>
        </p:txBody>
      </p:sp>
    </p:spTree>
    <p:extLst>
      <p:ext uri="{BB962C8B-B14F-4D97-AF65-F5344CB8AC3E}">
        <p14:creationId xmlns:p14="http://schemas.microsoft.com/office/powerpoint/2010/main" val="35690835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6CB14-89C7-9CB8-C814-D47ADE2D97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9DC31A-3F96-A69F-83B8-8EEA869131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640A86-4F13-05C0-D66A-E26104579C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D61931-DE70-E8A5-794D-003FAC9A29B5}"/>
              </a:ext>
            </a:extLst>
          </p:cNvPr>
          <p:cNvSpPr>
            <a:spLocks noGrp="1"/>
          </p:cNvSpPr>
          <p:nvPr>
            <p:ph type="sldNum" sz="quarter" idx="5"/>
          </p:nvPr>
        </p:nvSpPr>
        <p:spPr/>
        <p:txBody>
          <a:bodyPr/>
          <a:lstStyle/>
          <a:p>
            <a:fld id="{21D82EB7-C704-4A63-B645-1186AD9BB91E}" type="slidenum">
              <a:rPr lang="en-US" smtClean="0"/>
              <a:pPr/>
              <a:t>20</a:t>
            </a:fld>
            <a:endParaRPr lang="en-US" dirty="0"/>
          </a:p>
        </p:txBody>
      </p:sp>
    </p:spTree>
    <p:extLst>
      <p:ext uri="{BB962C8B-B14F-4D97-AF65-F5344CB8AC3E}">
        <p14:creationId xmlns:p14="http://schemas.microsoft.com/office/powerpoint/2010/main" val="29950842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7E109-D787-D4AD-0E8E-BE98CA1D20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8DB73-BD56-4FFD-447F-9E08B33D56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EA956D-3852-3CD3-403D-6C8EC57B62AD}"/>
              </a:ext>
            </a:extLst>
          </p:cNvPr>
          <p:cNvSpPr>
            <a:spLocks noGrp="1"/>
          </p:cNvSpPr>
          <p:nvPr>
            <p:ph type="body" idx="1"/>
          </p:nvPr>
        </p:nvSpPr>
        <p:spPr/>
        <p:txBody>
          <a:bodyPr/>
          <a:lstStyle/>
          <a:p>
            <a:endParaRPr lang="en-RW" dirty="0"/>
          </a:p>
        </p:txBody>
      </p:sp>
      <p:sp>
        <p:nvSpPr>
          <p:cNvPr id="4" name="Slide Number Placeholder 3">
            <a:extLst>
              <a:ext uri="{FF2B5EF4-FFF2-40B4-BE49-F238E27FC236}">
                <a16:creationId xmlns:a16="http://schemas.microsoft.com/office/drawing/2014/main" id="{F2BBAA10-F97B-3D25-F64A-5B360FC834F6}"/>
              </a:ext>
            </a:extLst>
          </p:cNvPr>
          <p:cNvSpPr>
            <a:spLocks noGrp="1"/>
          </p:cNvSpPr>
          <p:nvPr>
            <p:ph type="sldNum" sz="quarter" idx="5"/>
          </p:nvPr>
        </p:nvSpPr>
        <p:spPr/>
        <p:txBody>
          <a:bodyPr/>
          <a:lstStyle/>
          <a:p>
            <a:fld id="{21D82EB7-C704-4A63-B645-1186AD9BB91E}" type="slidenum">
              <a:rPr lang="en-US" smtClean="0"/>
              <a:pPr/>
              <a:t>22</a:t>
            </a:fld>
            <a:endParaRPr lang="en-US" dirty="0"/>
          </a:p>
        </p:txBody>
      </p:sp>
    </p:spTree>
    <p:extLst>
      <p:ext uri="{BB962C8B-B14F-4D97-AF65-F5344CB8AC3E}">
        <p14:creationId xmlns:p14="http://schemas.microsoft.com/office/powerpoint/2010/main" val="25554647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RW" dirty="0"/>
          </a:p>
        </p:txBody>
      </p:sp>
      <p:sp>
        <p:nvSpPr>
          <p:cNvPr id="4" name="Slide Number Placeholder 3"/>
          <p:cNvSpPr>
            <a:spLocks noGrp="1"/>
          </p:cNvSpPr>
          <p:nvPr>
            <p:ph type="sldNum" sz="quarter" idx="5"/>
          </p:nvPr>
        </p:nvSpPr>
        <p:spPr/>
        <p:txBody>
          <a:bodyPr/>
          <a:lstStyle/>
          <a:p>
            <a:fld id="{21D82EB7-C704-4A63-B645-1186AD9BB91E}" type="slidenum">
              <a:rPr lang="en-US" smtClean="0"/>
              <a:pPr/>
              <a:t>23</a:t>
            </a:fld>
            <a:endParaRPr lang="en-US" dirty="0"/>
          </a:p>
        </p:txBody>
      </p:sp>
    </p:spTree>
    <p:extLst>
      <p:ext uri="{BB962C8B-B14F-4D97-AF65-F5344CB8AC3E}">
        <p14:creationId xmlns:p14="http://schemas.microsoft.com/office/powerpoint/2010/main" val="17949775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24E48-EDF1-C7BC-7CC0-16E83AD9E4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496129-5D31-1D46-33A4-1B9DE42436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21146-F106-A1A2-588A-C198D885258D}"/>
              </a:ext>
            </a:extLst>
          </p:cNvPr>
          <p:cNvSpPr>
            <a:spLocks noGrp="1"/>
          </p:cNvSpPr>
          <p:nvPr>
            <p:ph type="body" idx="1"/>
          </p:nvPr>
        </p:nvSpPr>
        <p:spPr/>
        <p:txBody>
          <a:bodyPr/>
          <a:lstStyle/>
          <a:p>
            <a:endParaRPr lang="en-RW" dirty="0"/>
          </a:p>
        </p:txBody>
      </p:sp>
      <p:sp>
        <p:nvSpPr>
          <p:cNvPr id="4" name="Slide Number Placeholder 3">
            <a:extLst>
              <a:ext uri="{FF2B5EF4-FFF2-40B4-BE49-F238E27FC236}">
                <a16:creationId xmlns:a16="http://schemas.microsoft.com/office/drawing/2014/main" id="{E6EB3C65-343F-BB1E-892A-25FDCA06CBF5}"/>
              </a:ext>
            </a:extLst>
          </p:cNvPr>
          <p:cNvSpPr>
            <a:spLocks noGrp="1"/>
          </p:cNvSpPr>
          <p:nvPr>
            <p:ph type="sldNum" sz="quarter" idx="5"/>
          </p:nvPr>
        </p:nvSpPr>
        <p:spPr/>
        <p:txBody>
          <a:bodyPr/>
          <a:lstStyle/>
          <a:p>
            <a:fld id="{21D82EB7-C704-4A63-B645-1186AD9BB91E}" type="slidenum">
              <a:rPr lang="en-US" smtClean="0"/>
              <a:pPr/>
              <a:t>24</a:t>
            </a:fld>
            <a:endParaRPr lang="en-US" dirty="0"/>
          </a:p>
        </p:txBody>
      </p:sp>
    </p:spTree>
    <p:extLst>
      <p:ext uri="{BB962C8B-B14F-4D97-AF65-F5344CB8AC3E}">
        <p14:creationId xmlns:p14="http://schemas.microsoft.com/office/powerpoint/2010/main" val="29028544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EC59E-05B9-D6A3-3F43-14BAB42626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303A8-1973-2B75-1023-EECCA94E7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A3AACC-F410-C6B2-EE22-CE1F75E408C1}"/>
              </a:ext>
            </a:extLst>
          </p:cNvPr>
          <p:cNvSpPr>
            <a:spLocks noGrp="1"/>
          </p:cNvSpPr>
          <p:nvPr>
            <p:ph type="body" idx="1"/>
          </p:nvPr>
        </p:nvSpPr>
        <p:spPr/>
        <p:txBody>
          <a:bodyPr/>
          <a:lstStyle/>
          <a:p>
            <a:r>
              <a:rPr lang="en-US" dirty="0"/>
              <a:t>See Output gap and Fiscal Impulse in last Chart</a:t>
            </a:r>
          </a:p>
        </p:txBody>
      </p:sp>
      <p:sp>
        <p:nvSpPr>
          <p:cNvPr id="4" name="Slide Number Placeholder 3">
            <a:extLst>
              <a:ext uri="{FF2B5EF4-FFF2-40B4-BE49-F238E27FC236}">
                <a16:creationId xmlns:a16="http://schemas.microsoft.com/office/drawing/2014/main" id="{78C70157-6736-0F79-FD5C-E0616443B1AE}"/>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21D82EB7-C704-4A63-B645-1186AD9BB91E}" type="slidenum">
              <a:rPr kumimoji="0" 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25</a:t>
            </a:fld>
            <a:endParaRPr kumimoji="0" lang="en-US" sz="1200" b="0" i="0" u="none" strike="noStrike" kern="1200" cap="none" spc="0" normalizeH="0" baseline="0" noProof="0" dirty="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7157586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DC360-F110-44E2-0F62-1B6609B260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0A62F6-F11B-DC9C-46D8-9BD345FCE4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962046-753C-3DA0-FCAD-F1B2232736B5}"/>
              </a:ext>
            </a:extLst>
          </p:cNvPr>
          <p:cNvSpPr>
            <a:spLocks noGrp="1"/>
          </p:cNvSpPr>
          <p:nvPr>
            <p:ph type="body" idx="1"/>
          </p:nvPr>
        </p:nvSpPr>
        <p:spPr/>
        <p:txBody>
          <a:bodyPr/>
          <a:lstStyle/>
          <a:p>
            <a:r>
              <a:rPr lang="en-US" dirty="0"/>
              <a:t>See Output gap and Fiscal Impulse in last Chart</a:t>
            </a:r>
          </a:p>
        </p:txBody>
      </p:sp>
      <p:sp>
        <p:nvSpPr>
          <p:cNvPr id="4" name="Slide Number Placeholder 3">
            <a:extLst>
              <a:ext uri="{FF2B5EF4-FFF2-40B4-BE49-F238E27FC236}">
                <a16:creationId xmlns:a16="http://schemas.microsoft.com/office/drawing/2014/main" id="{9FCAE7E3-A275-A5A2-4373-3BF1E1FC3C11}"/>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21D82EB7-C704-4A63-B645-1186AD9BB91E}" type="slidenum">
              <a:rPr kumimoji="0" 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sz="1200" b="0" i="0" u="none" strike="noStrike" kern="1200" cap="none" spc="0" normalizeH="0" baseline="0" noProof="0" dirty="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3187495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7"/>
          <p:cNvSpPr>
            <a:spLocks noGrp="1" noChangeArrowheads="1"/>
          </p:cNvSpPr>
          <p:nvPr>
            <p:ph type="sldNum" sz="quarter" idx="5"/>
          </p:nvPr>
        </p:nvSpPr>
        <p:spPr/>
        <p:txBody>
          <a:bodyPr/>
          <a:lstStyle/>
          <a:p>
            <a:pPr>
              <a:defRPr/>
            </a:pPr>
            <a:fld id="{C047C504-C68F-4932-B214-1C432888EE05}" type="slidenum">
              <a:rPr lang="en-GB" smtClean="0"/>
              <a:pPr>
                <a:defRPr/>
              </a:pPr>
              <a:t>27</a:t>
            </a:fld>
            <a:endParaRPr lang="en-GB" dirty="0"/>
          </a:p>
        </p:txBody>
      </p:sp>
      <p:sp>
        <p:nvSpPr>
          <p:cNvPr id="19459" name="Rectangle 2"/>
          <p:cNvSpPr>
            <a:spLocks noGrp="1" noRot="1" noChangeAspect="1" noChangeArrowheads="1" noTextEdit="1"/>
          </p:cNvSpPr>
          <p:nvPr>
            <p:ph type="sldImg"/>
          </p:nvPr>
        </p:nvSpPr>
        <p:spPr bwMode="auto">
          <a:noFill/>
          <a:ln>
            <a:solidFill>
              <a:srgbClr val="000000"/>
            </a:solidFill>
            <a:miter lim="800000"/>
            <a:headEnd/>
            <a:tailEnd/>
          </a:ln>
        </p:spPr>
      </p:sp>
      <p:sp>
        <p:nvSpPr>
          <p:cNvPr id="19460" name="Rectangle 3"/>
          <p:cNvSpPr>
            <a:spLocks noGrp="1" noChangeArrowheads="1"/>
          </p:cNvSpPr>
          <p:nvPr>
            <p:ph type="body" idx="1"/>
          </p:nvPr>
        </p:nvSpPr>
        <p:spPr bwMode="auto">
          <a:noFill/>
        </p:spPr>
        <p:txBody>
          <a:bodyPr wrap="square" numCol="1" anchor="t" anchorCtr="0" compatLnSpc="1">
            <a:prstTxWarp prst="textNoShape">
              <a:avLst/>
            </a:prstTxWarp>
          </a:bodyPr>
          <a:lstStyle/>
          <a:p>
            <a:pPr eaLnBrk="1" hangingPunct="1"/>
            <a:endParaRPr lang="fr-FR" dirty="0"/>
          </a:p>
        </p:txBody>
      </p:sp>
    </p:spTree>
    <p:extLst>
      <p:ext uri="{BB962C8B-B14F-4D97-AF65-F5344CB8AC3E}">
        <p14:creationId xmlns:p14="http://schemas.microsoft.com/office/powerpoint/2010/main" val="35576406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50" dirty="0">
                <a:effectLst/>
                <a:latin typeface="Calibri" panose="020F0502020204030204" pitchFamily="34" charset="0"/>
                <a:ea typeface="Calibri" panose="020F0502020204030204" pitchFamily="34" charset="0"/>
                <a:cs typeface="Times New Roman" panose="02020603050405020304" pitchFamily="18" charset="0"/>
              </a:rPr>
              <a:t> </a:t>
            </a:r>
            <a:r>
              <a:rPr lang="en-US" sz="1200" dirty="0">
                <a:effectLst/>
                <a:latin typeface="Calibri" panose="020F0502020204030204" pitchFamily="34" charset="0"/>
                <a:ea typeface="Calibri" panose="020F0502020204030204" pitchFamily="34" charset="0"/>
                <a:cs typeface="Times New Roman" panose="02020603050405020304" pitchFamily="18" charset="0"/>
              </a:rPr>
              <a:t>MINECOFIN can have a different assessment of  path and impact of monetary and ER policies than NBR, just as NBR can have a different assessment of path and impact of fiscal policies.</a:t>
            </a:r>
            <a:endParaRPr lang="en-RW" dirty="0"/>
          </a:p>
        </p:txBody>
      </p:sp>
      <p:sp>
        <p:nvSpPr>
          <p:cNvPr id="4" name="Slide Number Placeholder 3"/>
          <p:cNvSpPr>
            <a:spLocks noGrp="1"/>
          </p:cNvSpPr>
          <p:nvPr>
            <p:ph type="sldNum" sz="quarter" idx="5"/>
          </p:nvPr>
        </p:nvSpPr>
        <p:spPr/>
        <p:txBody>
          <a:bodyPr/>
          <a:lstStyle/>
          <a:p>
            <a:fld id="{21D82EB7-C704-4A63-B645-1186AD9BB91E}" type="slidenum">
              <a:rPr lang="en-US" smtClean="0"/>
              <a:pPr/>
              <a:t>28</a:t>
            </a:fld>
            <a:endParaRPr lang="en-US" dirty="0"/>
          </a:p>
        </p:txBody>
      </p:sp>
    </p:spTree>
    <p:extLst>
      <p:ext uri="{BB962C8B-B14F-4D97-AF65-F5344CB8AC3E}">
        <p14:creationId xmlns:p14="http://schemas.microsoft.com/office/powerpoint/2010/main" val="173153448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D82EB7-C704-4A63-B645-1186AD9BB91E}" type="slidenum">
              <a:rPr lang="en-US" smtClean="0"/>
              <a:pPr/>
              <a:t>29</a:t>
            </a:fld>
            <a:endParaRPr lang="en-US" dirty="0"/>
          </a:p>
        </p:txBody>
      </p:sp>
    </p:spTree>
    <p:extLst>
      <p:ext uri="{BB962C8B-B14F-4D97-AF65-F5344CB8AC3E}">
        <p14:creationId xmlns:p14="http://schemas.microsoft.com/office/powerpoint/2010/main" val="26296630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D82EB7-C704-4A63-B645-1186AD9BB91E}" type="slidenum">
              <a:rPr lang="en-US" smtClean="0"/>
              <a:pPr/>
              <a:t>30</a:t>
            </a:fld>
            <a:endParaRPr lang="en-US" dirty="0"/>
          </a:p>
        </p:txBody>
      </p:sp>
    </p:spTree>
    <p:extLst>
      <p:ext uri="{BB962C8B-B14F-4D97-AF65-F5344CB8AC3E}">
        <p14:creationId xmlns:p14="http://schemas.microsoft.com/office/powerpoint/2010/main" val="315570697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3"/>
          <p:cNvSpPr/>
          <p:nvPr userDrawn="1"/>
        </p:nvSpPr>
        <p:spPr>
          <a:xfrm>
            <a:off x="0" y="6172200"/>
            <a:ext cx="121920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lang="en-US" sz="1800" dirty="0">
              <a:solidFill>
                <a:srgbClr val="FFFFFF"/>
              </a:solidFill>
              <a:ea typeface="ＭＳ Ｐゴシック" charset="-128"/>
            </a:endParaRPr>
          </a:p>
        </p:txBody>
      </p:sp>
      <p:sp>
        <p:nvSpPr>
          <p:cNvPr id="5" name="Rectangle 4"/>
          <p:cNvSpPr/>
          <p:nvPr userDrawn="1"/>
        </p:nvSpPr>
        <p:spPr>
          <a:xfrm>
            <a:off x="3454400" y="1371600"/>
            <a:ext cx="8331200" cy="236220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lang="en-US" sz="1800" dirty="0">
              <a:solidFill>
                <a:srgbClr val="FFFFFF"/>
              </a:solidFill>
              <a:ea typeface="ＭＳ Ｐゴシック" charset="-128"/>
            </a:endParaRPr>
          </a:p>
        </p:txBody>
      </p:sp>
      <p:sp>
        <p:nvSpPr>
          <p:cNvPr id="6" name="Rectangle 5"/>
          <p:cNvSpPr/>
          <p:nvPr userDrawn="1"/>
        </p:nvSpPr>
        <p:spPr>
          <a:xfrm>
            <a:off x="3454400" y="1371600"/>
            <a:ext cx="304800" cy="23622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lang="en-US" sz="1800" dirty="0">
              <a:solidFill>
                <a:srgbClr val="FFFFFF"/>
              </a:solidFill>
              <a:ea typeface="ＭＳ Ｐゴシック" charset="-128"/>
            </a:endParaRPr>
          </a:p>
        </p:txBody>
      </p:sp>
      <p:sp>
        <p:nvSpPr>
          <p:cNvPr id="7" name="Subtitle 2"/>
          <p:cNvSpPr txBox="1">
            <a:spLocks/>
          </p:cNvSpPr>
          <p:nvPr userDrawn="1"/>
        </p:nvSpPr>
        <p:spPr>
          <a:xfrm>
            <a:off x="3860800" y="1371600"/>
            <a:ext cx="7924800" cy="2362200"/>
          </a:xfrm>
          <a:prstGeom prst="rect">
            <a:avLst/>
          </a:prstGeom>
        </p:spPr>
        <p:txBody>
          <a:bodyPr anchor="ctr">
            <a:normAutofit/>
          </a:bodyPr>
          <a:lstStyle/>
          <a:p>
            <a:pPr marL="342900" indent="-342900">
              <a:spcBef>
                <a:spcPts val="600"/>
              </a:spcBef>
              <a:spcAft>
                <a:spcPts val="600"/>
              </a:spcAft>
              <a:buFont typeface="Arial" charset="0"/>
              <a:buNone/>
            </a:pPr>
            <a:r>
              <a:rPr lang="en-US" sz="2600" b="1" dirty="0">
                <a:latin typeface="Gill Sans MT" charset="0"/>
                <a:cs typeface="Times New Roman" charset="0"/>
              </a:rPr>
              <a:t>Rwanda CAADP Post Compact</a:t>
            </a:r>
          </a:p>
          <a:p>
            <a:pPr marL="342900" indent="-342900">
              <a:spcBef>
                <a:spcPts val="600"/>
              </a:spcBef>
              <a:spcAft>
                <a:spcPts val="600"/>
              </a:spcAft>
              <a:buFont typeface="Arial" charset="0"/>
              <a:buNone/>
            </a:pPr>
            <a:r>
              <a:rPr lang="en-US" sz="2600" b="1" dirty="0">
                <a:latin typeface="Gill Sans MT" charset="0"/>
                <a:cs typeface="Times New Roman" charset="0"/>
              </a:rPr>
              <a:t>High-Level Stakeholder Meeting</a:t>
            </a:r>
          </a:p>
        </p:txBody>
      </p:sp>
      <p:pic>
        <p:nvPicPr>
          <p:cNvPr id="10" name="Picture 1" descr="armoirie"/>
          <p:cNvPicPr>
            <a:picLocks noChangeAspect="1" noChangeArrowheads="1"/>
          </p:cNvPicPr>
          <p:nvPr userDrawn="1"/>
        </p:nvPicPr>
        <p:blipFill>
          <a:blip r:embed="rId2" cstate="print"/>
          <a:srcRect/>
          <a:stretch>
            <a:fillRect/>
          </a:stretch>
        </p:blipFill>
        <p:spPr bwMode="auto">
          <a:xfrm rot="10800000" flipH="1" flipV="1">
            <a:off x="304800" y="1350964"/>
            <a:ext cx="2286000" cy="2382837"/>
          </a:xfrm>
          <a:prstGeom prst="rect">
            <a:avLst/>
          </a:prstGeom>
          <a:noFill/>
          <a:ln w="9525">
            <a:noFill/>
            <a:miter lim="800000"/>
            <a:headEnd/>
            <a:tailEnd/>
          </a:ln>
        </p:spPr>
      </p:pic>
      <p:sp>
        <p:nvSpPr>
          <p:cNvPr id="11" name="Subtitle 8"/>
          <p:cNvSpPr txBox="1">
            <a:spLocks/>
          </p:cNvSpPr>
          <p:nvPr userDrawn="1"/>
        </p:nvSpPr>
        <p:spPr>
          <a:xfrm>
            <a:off x="3860800" y="6248400"/>
            <a:ext cx="7823200" cy="609600"/>
          </a:xfrm>
          <a:prstGeom prst="rect">
            <a:avLst/>
          </a:prstGeom>
        </p:spPr>
        <p:txBody>
          <a:bodyPr>
            <a:normAutofit/>
          </a:bodyPr>
          <a:lstStyle/>
          <a:p>
            <a:pPr algn="r">
              <a:spcBef>
                <a:spcPts val="600"/>
              </a:spcBef>
              <a:buClr>
                <a:schemeClr val="accent1"/>
              </a:buClr>
              <a:buSzPct val="76000"/>
              <a:buFont typeface="Symbol" charset="2"/>
              <a:buNone/>
            </a:pPr>
            <a:endParaRPr lang="en-US" sz="1000" dirty="0">
              <a:solidFill>
                <a:schemeClr val="bg2"/>
              </a:solidFill>
              <a:latin typeface="Bookman Old Style" charset="0"/>
            </a:endParaRPr>
          </a:p>
        </p:txBody>
      </p:sp>
      <p:sp>
        <p:nvSpPr>
          <p:cNvPr id="12" name="Rectangle 11"/>
          <p:cNvSpPr/>
          <p:nvPr userDrawn="1"/>
        </p:nvSpPr>
        <p:spPr>
          <a:xfrm>
            <a:off x="3454400" y="4191000"/>
            <a:ext cx="304800" cy="990600"/>
          </a:xfrm>
          <a:prstGeom prst="rect">
            <a:avLst/>
          </a:prstGeom>
          <a:solidFill>
            <a:schemeClr val="accent3"/>
          </a:solidFill>
          <a:ln w="6350" cap="rnd" cmpd="sng" algn="ctr">
            <a:solidFill>
              <a:schemeClr val="accent3"/>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lang="en-US" sz="1800" dirty="0">
              <a:solidFill>
                <a:srgbClr val="FFFFFF"/>
              </a:solidFill>
              <a:ea typeface="ＭＳ Ｐゴシック" charset="-128"/>
            </a:endParaRPr>
          </a:p>
        </p:txBody>
      </p:sp>
      <p:sp>
        <p:nvSpPr>
          <p:cNvPr id="13" name="Rectangle 12"/>
          <p:cNvSpPr/>
          <p:nvPr userDrawn="1"/>
        </p:nvSpPr>
        <p:spPr>
          <a:xfrm>
            <a:off x="3450167" y="4191000"/>
            <a:ext cx="8343900" cy="990600"/>
          </a:xfrm>
          <a:prstGeom prst="rect">
            <a:avLst/>
          </a:prstGeom>
          <a:noFill/>
          <a:ln w="6350" cap="rnd" cmpd="sng" algn="ctr">
            <a:solidFill>
              <a:schemeClr val="accent3"/>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lang="en-US" sz="1800" dirty="0">
              <a:solidFill>
                <a:srgbClr val="FFFFFF"/>
              </a:solidFill>
              <a:ea typeface="ＭＳ Ｐゴシック" charset="-128"/>
            </a:endParaRPr>
          </a:p>
        </p:txBody>
      </p:sp>
      <p:sp>
        <p:nvSpPr>
          <p:cNvPr id="8" name="Title 7"/>
          <p:cNvSpPr>
            <a:spLocks noGrp="1"/>
          </p:cNvSpPr>
          <p:nvPr>
            <p:ph type="ctrTitle"/>
          </p:nvPr>
        </p:nvSpPr>
        <p:spPr>
          <a:xfrm>
            <a:off x="3860800" y="4267200"/>
            <a:ext cx="7823199" cy="457200"/>
          </a:xfrm>
          <a:prstGeom prst="rect">
            <a:avLst/>
          </a:prstGeom>
        </p:spPr>
        <p:txBody>
          <a:bodyPr anchor="t" anchorCtr="0">
            <a:normAutofit/>
          </a:bodyPr>
          <a:lstStyle>
            <a:lvl1pPr algn="r">
              <a:defRPr sz="2400" baseline="0">
                <a:solidFill>
                  <a:schemeClr val="tx1"/>
                </a:solidFill>
                <a:latin typeface="+mn-lt"/>
              </a:defRPr>
            </a:lvl1pPr>
          </a:lstStyle>
          <a:p>
            <a:r>
              <a:rPr lang="en-US"/>
              <a:t>Click to edit Master title style</a:t>
            </a:r>
            <a:endParaRPr lang="en-US" dirty="0"/>
          </a:p>
        </p:txBody>
      </p:sp>
      <p:sp>
        <p:nvSpPr>
          <p:cNvPr id="9" name="Subtitle 8"/>
          <p:cNvSpPr>
            <a:spLocks noGrp="1"/>
          </p:cNvSpPr>
          <p:nvPr>
            <p:ph type="subTitle" idx="1"/>
          </p:nvPr>
        </p:nvSpPr>
        <p:spPr>
          <a:xfrm>
            <a:off x="3860800" y="4724400"/>
            <a:ext cx="7823199" cy="457200"/>
          </a:xfrm>
        </p:spPr>
        <p:txBody>
          <a:bodyPr/>
          <a:lstStyle>
            <a:lvl1pPr marL="0" indent="0" algn="r">
              <a:buNone/>
              <a:defRPr sz="2000" baseline="0">
                <a:solidFill>
                  <a:schemeClr val="tx2"/>
                </a:solidFill>
                <a:latin typeface="+mn-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en-US"/>
              <a:t>Click to edit Master subtitle style</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3" name="Straight Connector 2"/>
          <p:cNvSpPr>
            <a:spLocks noChangeShapeType="1"/>
          </p:cNvSpPr>
          <p:nvPr userDrawn="1"/>
        </p:nvSpPr>
        <p:spPr bwMode="auto">
          <a:xfrm>
            <a:off x="1625601" y="1066800"/>
            <a:ext cx="10240433" cy="0"/>
          </a:xfrm>
          <a:prstGeom prst="line">
            <a:avLst/>
          </a:prstGeom>
          <a:ln w="57150">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a:lstStyle/>
          <a:p>
            <a:pPr fontAlgn="auto">
              <a:spcBef>
                <a:spcPts val="0"/>
              </a:spcBef>
              <a:spcAft>
                <a:spcPts val="0"/>
              </a:spcAft>
              <a:defRPr/>
            </a:pPr>
            <a:endParaRPr lang="en-US" sz="1800" dirty="0">
              <a:ln>
                <a:solidFill>
                  <a:schemeClr val="tx1"/>
                </a:solidFill>
              </a:ln>
            </a:endParaRPr>
          </a:p>
        </p:txBody>
      </p:sp>
      <p:sp>
        <p:nvSpPr>
          <p:cNvPr id="2" name="Title 1"/>
          <p:cNvSpPr>
            <a:spLocks noGrp="1"/>
          </p:cNvSpPr>
          <p:nvPr>
            <p:ph type="title"/>
          </p:nvPr>
        </p:nvSpPr>
        <p:spPr>
          <a:xfrm>
            <a:off x="1625600" y="228600"/>
            <a:ext cx="10261600" cy="838200"/>
          </a:xfrm>
          <a:prstGeom prst="rect">
            <a:avLst/>
          </a:prstGeom>
        </p:spPr>
        <p:txBody>
          <a:bodyPr anchor="b" anchorCtr="0"/>
          <a:lstStyle>
            <a:lvl1pPr>
              <a:defRPr sz="2800">
                <a:solidFill>
                  <a:schemeClr val="tx1"/>
                </a:solidFill>
                <a:latin typeface="+mn-lt"/>
              </a:defRPr>
            </a:lvl1pPr>
          </a:lstStyle>
          <a:p>
            <a:r>
              <a:rPr lang="en-US" dirty="0"/>
              <a:t>Click to edit Master title style</a:t>
            </a:r>
          </a:p>
        </p:txBody>
      </p:sp>
      <p:sp>
        <p:nvSpPr>
          <p:cNvPr id="4" name="Slide Number Placeholder 5"/>
          <p:cNvSpPr>
            <a:spLocks noGrp="1"/>
          </p:cNvSpPr>
          <p:nvPr>
            <p:ph type="sldNum" sz="quarter" idx="10"/>
          </p:nvPr>
        </p:nvSpPr>
        <p:spPr>
          <a:xfrm>
            <a:off x="9347200" y="6416676"/>
            <a:ext cx="2641600" cy="365125"/>
          </a:xfrm>
          <a:prstGeom prst="rect">
            <a:avLst/>
          </a:prstGeom>
        </p:spPr>
        <p:txBody>
          <a:bodyPr vert="horz" wrap="square" lIns="91440" tIns="45720" rIns="91440" bIns="45720" numCol="1" anchor="b" anchorCtr="0" compatLnSpc="1">
            <a:prstTxWarp prst="textNoShape">
              <a:avLst/>
            </a:prstTxWarp>
          </a:bodyPr>
          <a:lstStyle>
            <a:lvl1pPr algn="r">
              <a:defRPr sz="1000">
                <a:solidFill>
                  <a:schemeClr val="tx2"/>
                </a:solidFill>
                <a:latin typeface="Gill Sans MT" charset="0"/>
              </a:defRPr>
            </a:lvl1pPr>
          </a:lstStyle>
          <a:p>
            <a:fld id="{D97AE203-F84D-4A7F-B161-8561326BE072}" type="slidenum">
              <a:rPr lang="en-US"/>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2"/>
          <p:cNvSpPr>
            <a:spLocks noGrp="1" noChangeArrowheads="1"/>
          </p:cNvSpPr>
          <p:nvPr>
            <p:ph type="ftr" sz="quarter" idx="10"/>
          </p:nvPr>
        </p:nvSpPr>
        <p:spPr>
          <a:xfrm>
            <a:off x="4165600" y="6248400"/>
            <a:ext cx="3860800" cy="457200"/>
          </a:xfrm>
          <a:prstGeom prst="rect">
            <a:avLst/>
          </a:prstGeom>
        </p:spPr>
        <p:txBody>
          <a:bodyPr vert="horz" wrap="square" lIns="91440" tIns="45720" rIns="91440" bIns="45720" numCol="1" anchor="t" anchorCtr="0" compatLnSpc="1">
            <a:prstTxWarp prst="textNoShape">
              <a:avLst/>
            </a:prstTxWarp>
          </a:bodyPr>
          <a:lstStyle>
            <a:lvl1pPr>
              <a:defRPr sz="1800"/>
            </a:lvl1pPr>
          </a:lstStyle>
          <a:p>
            <a:endParaRPr lang="en-GB" dirty="0"/>
          </a:p>
        </p:txBody>
      </p:sp>
      <p:sp>
        <p:nvSpPr>
          <p:cNvPr id="3" name="Rectangle 3"/>
          <p:cNvSpPr>
            <a:spLocks noGrp="1" noChangeArrowheads="1"/>
          </p:cNvSpPr>
          <p:nvPr>
            <p:ph type="sldNum" sz="quarter" idx="11"/>
          </p:nvPr>
        </p:nvSpPr>
        <p:spPr>
          <a:xfrm>
            <a:off x="8737600" y="6248400"/>
            <a:ext cx="2844800" cy="457200"/>
          </a:xfrm>
          <a:prstGeom prst="rect">
            <a:avLst/>
          </a:prstGeom>
        </p:spPr>
        <p:txBody>
          <a:bodyPr vert="horz" wrap="square" lIns="91440" tIns="45720" rIns="91440" bIns="45720" numCol="1" anchor="t" anchorCtr="0" compatLnSpc="1">
            <a:prstTxWarp prst="textNoShape">
              <a:avLst/>
            </a:prstTxWarp>
          </a:bodyPr>
          <a:lstStyle>
            <a:lvl1pPr>
              <a:defRPr sz="1800"/>
            </a:lvl1pPr>
          </a:lstStyle>
          <a:p>
            <a:fld id="{970CC022-FA3D-4B6F-94CC-171F6923194E}" type="slidenum">
              <a:rPr lang="en-GB"/>
              <a:pPr/>
              <a:t>‹#›</a:t>
            </a:fld>
            <a:endParaRPr lang="en-GB" dirty="0"/>
          </a:p>
        </p:txBody>
      </p:sp>
      <p:sp>
        <p:nvSpPr>
          <p:cNvPr id="4" name="Rectangle 16"/>
          <p:cNvSpPr>
            <a:spLocks noGrp="1" noChangeArrowheads="1"/>
          </p:cNvSpPr>
          <p:nvPr>
            <p:ph type="dt" sz="half" idx="12"/>
          </p:nvPr>
        </p:nvSpPr>
        <p:spPr>
          <a:xfrm>
            <a:off x="609600" y="6245225"/>
            <a:ext cx="2844800" cy="476250"/>
          </a:xfrm>
          <a:prstGeom prst="rect">
            <a:avLst/>
          </a:prstGeom>
        </p:spPr>
        <p:txBody>
          <a:bodyPr vert="horz" wrap="square" lIns="91440" tIns="45720" rIns="91440" bIns="45720" numCol="1" anchor="t" anchorCtr="0" compatLnSpc="1">
            <a:prstTxWarp prst="textNoShape">
              <a:avLst/>
            </a:prstTxWarp>
          </a:bodyPr>
          <a:lstStyle>
            <a:lvl1pPr>
              <a:defRPr sz="1800"/>
            </a:lvl1pPr>
          </a:lstStyle>
          <a:p>
            <a:fld id="{0C3105CC-1B2D-4903-971E-6A5C773A19C5}" type="datetime1">
              <a:rPr lang="en-US"/>
              <a:pPr/>
              <a:t>11/14/2025</a:t>
            </a:fld>
            <a:endParaRPr lang="en-GB"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607D18-9295-5C12-B7F8-D8E3764091E6}"/>
              </a:ext>
            </a:extLst>
          </p:cNvPr>
          <p:cNvSpPr>
            <a:spLocks noGrp="1"/>
          </p:cNvSpPr>
          <p:nvPr>
            <p:ph type="title"/>
          </p:nvPr>
        </p:nvSpPr>
        <p:spPr/>
        <p:txBody>
          <a:bodyPr/>
          <a:lstStyle/>
          <a:p>
            <a:r>
              <a:rPr lang="en-US"/>
              <a:t>Click to edit Master title style</a:t>
            </a:r>
            <a:endParaRPr lang="x-none"/>
          </a:p>
        </p:txBody>
      </p:sp>
      <p:sp>
        <p:nvSpPr>
          <p:cNvPr id="3" name="Content Placeholder 2">
            <a:extLst>
              <a:ext uri="{FF2B5EF4-FFF2-40B4-BE49-F238E27FC236}">
                <a16:creationId xmlns:a16="http://schemas.microsoft.com/office/drawing/2014/main" id="{88A83A11-90E3-6BC7-796C-FBF7B434881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id="{650E7D45-0C98-9643-133E-7CF04135AD1C}"/>
              </a:ext>
            </a:extLst>
          </p:cNvPr>
          <p:cNvSpPr>
            <a:spLocks noGrp="1"/>
          </p:cNvSpPr>
          <p:nvPr>
            <p:ph type="dt" sz="half" idx="10"/>
          </p:nvPr>
        </p:nvSpPr>
        <p:spPr/>
        <p:txBody>
          <a:bodyPr/>
          <a:lstStyle/>
          <a:p>
            <a:fld id="{32B79336-2E43-44A0-ADE1-7669CAFC9F7E}" type="datetimeFigureOut">
              <a:rPr lang="x-none" smtClean="0"/>
              <a:t>14/11/2025</a:t>
            </a:fld>
            <a:endParaRPr lang="x-none"/>
          </a:p>
        </p:txBody>
      </p:sp>
      <p:sp>
        <p:nvSpPr>
          <p:cNvPr id="5" name="Footer Placeholder 4">
            <a:extLst>
              <a:ext uri="{FF2B5EF4-FFF2-40B4-BE49-F238E27FC236}">
                <a16:creationId xmlns:a16="http://schemas.microsoft.com/office/drawing/2014/main" id="{AE0FCEDC-4AD8-AC4F-ED12-34EC3D3DB4B4}"/>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13255A3-94B7-8CEE-EB38-2E387C050E75}"/>
              </a:ext>
            </a:extLst>
          </p:cNvPr>
          <p:cNvSpPr>
            <a:spLocks noGrp="1"/>
          </p:cNvSpPr>
          <p:nvPr>
            <p:ph type="sldNum" sz="quarter" idx="12"/>
          </p:nvPr>
        </p:nvSpPr>
        <p:spPr/>
        <p:txBody>
          <a:bodyPr/>
          <a:lstStyle/>
          <a:p>
            <a:fld id="{018878F0-BBE9-411C-9D0D-17F9871AB48D}" type="slidenum">
              <a:rPr lang="x-none" smtClean="0"/>
              <a:t>‹#›</a:t>
            </a:fld>
            <a:endParaRPr lang="x-none"/>
          </a:p>
        </p:txBody>
      </p:sp>
    </p:spTree>
    <p:extLst>
      <p:ext uri="{BB962C8B-B14F-4D97-AF65-F5344CB8AC3E}">
        <p14:creationId xmlns:p14="http://schemas.microsoft.com/office/powerpoint/2010/main" val="16513884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298E8-D6C5-21AA-6BC8-21DF08C0AD54}"/>
              </a:ext>
            </a:extLst>
          </p:cNvPr>
          <p:cNvSpPr>
            <a:spLocks noGrp="1"/>
          </p:cNvSpPr>
          <p:nvPr>
            <p:ph type="ctrTitle"/>
          </p:nvPr>
        </p:nvSpPr>
        <p:spPr>
          <a:xfrm>
            <a:off x="1524000" y="1122363"/>
            <a:ext cx="9144000" cy="2387600"/>
          </a:xfrm>
        </p:spPr>
        <p:txBody>
          <a:bodyPr anchor="b"/>
          <a:lstStyle>
            <a:lvl1pPr algn="ctr">
              <a:defRPr sz="6000" b="1">
                <a:latin typeface="Bahnschrift" panose="020B0502040204020203" pitchFamily="34" charset="0"/>
              </a:defRPr>
            </a:lvl1pPr>
          </a:lstStyle>
          <a:p>
            <a:r>
              <a:rPr lang="en-US"/>
              <a:t>Click to edit Master title style</a:t>
            </a:r>
          </a:p>
        </p:txBody>
      </p:sp>
      <p:sp>
        <p:nvSpPr>
          <p:cNvPr id="3" name="Subtitle 2">
            <a:extLst>
              <a:ext uri="{FF2B5EF4-FFF2-40B4-BE49-F238E27FC236}">
                <a16:creationId xmlns:a16="http://schemas.microsoft.com/office/drawing/2014/main" id="{3E85780B-3089-D83A-54E2-D7AF8145D3CD}"/>
              </a:ext>
            </a:extLst>
          </p:cNvPr>
          <p:cNvSpPr>
            <a:spLocks noGrp="1"/>
          </p:cNvSpPr>
          <p:nvPr>
            <p:ph type="subTitle" idx="1"/>
          </p:nvPr>
        </p:nvSpPr>
        <p:spPr>
          <a:xfrm>
            <a:off x="1524000" y="3602038"/>
            <a:ext cx="9144000" cy="1655762"/>
          </a:xfrm>
        </p:spPr>
        <p:txBody>
          <a:bodyPr/>
          <a:lstStyle>
            <a:lvl1pPr marL="0" indent="0" algn="ctr">
              <a:buNone/>
              <a:defRPr sz="2400" b="1">
                <a:latin typeface="Bahnschrift"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8C5AB25-69E8-BE36-9F9F-8E82A54BFA4F}"/>
              </a:ext>
            </a:extLst>
          </p:cNvPr>
          <p:cNvSpPr>
            <a:spLocks noGrp="1"/>
          </p:cNvSpPr>
          <p:nvPr>
            <p:ph type="dt" sz="half" idx="10"/>
          </p:nvPr>
        </p:nvSpPr>
        <p:spPr/>
        <p:txBody>
          <a:bodyPr/>
          <a:lstStyle>
            <a:lvl1pPr>
              <a:defRPr>
                <a:latin typeface="Bahnschrift Light SemiCondensed" panose="020B0502040204020203" pitchFamily="34" charset="0"/>
              </a:defRPr>
            </a:lvl1pPr>
          </a:lstStyle>
          <a:p>
            <a:fld id="{25418435-C720-449D-B816-40E688690315}" type="datetimeFigureOut">
              <a:rPr lang="en-US" smtClean="0"/>
              <a:pPr/>
              <a:t>11/14/2025</a:t>
            </a:fld>
            <a:endParaRPr lang="en-US" dirty="0"/>
          </a:p>
        </p:txBody>
      </p:sp>
      <p:sp>
        <p:nvSpPr>
          <p:cNvPr id="5" name="Footer Placeholder 4">
            <a:extLst>
              <a:ext uri="{FF2B5EF4-FFF2-40B4-BE49-F238E27FC236}">
                <a16:creationId xmlns:a16="http://schemas.microsoft.com/office/drawing/2014/main" id="{32C6AB43-0058-B846-7D8B-BD965EE8F8C2}"/>
              </a:ext>
            </a:extLst>
          </p:cNvPr>
          <p:cNvSpPr>
            <a:spLocks noGrp="1"/>
          </p:cNvSpPr>
          <p:nvPr>
            <p:ph type="ftr" sz="quarter" idx="11"/>
          </p:nvPr>
        </p:nvSpPr>
        <p:spPr/>
        <p:txBody>
          <a:bodyPr/>
          <a:lstStyle>
            <a:lvl1pPr>
              <a:defRPr>
                <a:latin typeface="Bahnschrift Light SemiCondensed" panose="020B0502040204020203" pitchFamily="34" charset="0"/>
              </a:defRPr>
            </a:lvl1pPr>
          </a:lstStyle>
          <a:p>
            <a:endParaRPr lang="en-US"/>
          </a:p>
        </p:txBody>
      </p:sp>
      <p:sp>
        <p:nvSpPr>
          <p:cNvPr id="6" name="Slide Number Placeholder 5">
            <a:extLst>
              <a:ext uri="{FF2B5EF4-FFF2-40B4-BE49-F238E27FC236}">
                <a16:creationId xmlns:a16="http://schemas.microsoft.com/office/drawing/2014/main" id="{1BC63B95-7EC7-BF39-7295-153EB3F8A6A0}"/>
              </a:ext>
            </a:extLst>
          </p:cNvPr>
          <p:cNvSpPr>
            <a:spLocks noGrp="1"/>
          </p:cNvSpPr>
          <p:nvPr>
            <p:ph type="sldNum" sz="quarter" idx="12"/>
          </p:nvPr>
        </p:nvSpPr>
        <p:spPr/>
        <p:txBody>
          <a:bodyPr/>
          <a:lstStyle>
            <a:lvl1pPr>
              <a:defRPr>
                <a:latin typeface="Bahnschrift Light SemiCondensed" panose="020B0502040204020203" pitchFamily="34" charset="0"/>
              </a:defRPr>
            </a:lvl1pPr>
          </a:lstStyle>
          <a:p>
            <a:fld id="{D41F6BB1-3072-477A-8416-723305CEF715}" type="slidenum">
              <a:rPr lang="en-US" smtClean="0"/>
              <a:pPr/>
              <a:t>‹#›</a:t>
            </a:fld>
            <a:endParaRPr lang="en-US"/>
          </a:p>
        </p:txBody>
      </p:sp>
    </p:spTree>
    <p:extLst>
      <p:ext uri="{BB962C8B-B14F-4D97-AF65-F5344CB8AC3E}">
        <p14:creationId xmlns:p14="http://schemas.microsoft.com/office/powerpoint/2010/main" val="256072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7609A-5DC2-9CB5-20EE-ABD5D60EC8A1}"/>
              </a:ext>
            </a:extLst>
          </p:cNvPr>
          <p:cNvSpPr>
            <a:spLocks noGrp="1"/>
          </p:cNvSpPr>
          <p:nvPr>
            <p:ph type="title"/>
          </p:nvPr>
        </p:nvSpPr>
        <p:spPr>
          <a:xfrm>
            <a:off x="838200" y="1095375"/>
            <a:ext cx="10515600" cy="476250"/>
          </a:xfrm>
        </p:spPr>
        <p:txBody>
          <a:bodyPr vert="horz" lIns="91440" tIns="45720" rIns="91440" bIns="45720" rtlCol="0" anchor="b">
            <a:normAutofit/>
          </a:bodyPr>
          <a:lstStyle>
            <a:lvl1pPr>
              <a:defRPr lang="en-US" sz="2800" b="1">
                <a:latin typeface="Bahnschrift" panose="020B0502040204020203" pitchFamily="34" charset="0"/>
              </a:defRPr>
            </a:lvl1pPr>
          </a:lstStyle>
          <a:p>
            <a:pPr lvl="0" algn="ctr"/>
            <a:r>
              <a:rPr lang="en-US" dirty="0"/>
              <a:t>Click to edit Master title style</a:t>
            </a:r>
          </a:p>
        </p:txBody>
      </p:sp>
      <p:sp>
        <p:nvSpPr>
          <p:cNvPr id="3" name="Content Placeholder 2">
            <a:extLst>
              <a:ext uri="{FF2B5EF4-FFF2-40B4-BE49-F238E27FC236}">
                <a16:creationId xmlns:a16="http://schemas.microsoft.com/office/drawing/2014/main" id="{F896BFCD-640D-4D35-1B02-56A84116DC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D1611B-7B3B-ACE5-6E5A-8CD703555989}"/>
              </a:ext>
            </a:extLst>
          </p:cNvPr>
          <p:cNvSpPr>
            <a:spLocks noGrp="1"/>
          </p:cNvSpPr>
          <p:nvPr>
            <p:ph type="dt" sz="half" idx="10"/>
          </p:nvPr>
        </p:nvSpPr>
        <p:spPr/>
        <p:txBody>
          <a:bodyPr vert="horz" lIns="91440" tIns="45720" rIns="91440" bIns="45720" rtlCol="0" anchor="ctr"/>
          <a:lstStyle>
            <a:lvl1pPr>
              <a:defRPr lang="en-US" smtClean="0">
                <a:latin typeface="Bahnschrift Light SemiCondensed" panose="020B0502040204020203" pitchFamily="34" charset="0"/>
              </a:defRPr>
            </a:lvl1pPr>
          </a:lstStyle>
          <a:p>
            <a:fld id="{25418435-C720-449D-B816-40E688690315}" type="datetimeFigureOut">
              <a:rPr lang="en-US" smtClean="0"/>
              <a:pPr/>
              <a:t>11/14/2025</a:t>
            </a:fld>
            <a:endParaRPr lang="en-US"/>
          </a:p>
        </p:txBody>
      </p:sp>
      <p:sp>
        <p:nvSpPr>
          <p:cNvPr id="5" name="Footer Placeholder 4">
            <a:extLst>
              <a:ext uri="{FF2B5EF4-FFF2-40B4-BE49-F238E27FC236}">
                <a16:creationId xmlns:a16="http://schemas.microsoft.com/office/drawing/2014/main" id="{F926548F-B783-DAD5-5269-FA453BE4472C}"/>
              </a:ext>
            </a:extLst>
          </p:cNvPr>
          <p:cNvSpPr>
            <a:spLocks noGrp="1"/>
          </p:cNvSpPr>
          <p:nvPr>
            <p:ph type="ftr" sz="quarter" idx="11"/>
          </p:nvPr>
        </p:nvSpPr>
        <p:spPr/>
        <p:txBody>
          <a:bodyPr vert="horz" lIns="91440" tIns="45720" rIns="91440" bIns="45720" rtlCol="0" anchor="ctr"/>
          <a:lstStyle>
            <a:lvl1pPr>
              <a:defRPr lang="en-US">
                <a:latin typeface="Bahnschrift Light SemiCondensed" panose="020B0502040204020203" pitchFamily="34" charset="0"/>
              </a:defRPr>
            </a:lvl1pPr>
          </a:lstStyle>
          <a:p>
            <a:pPr algn="l"/>
            <a:endParaRPr lang="en-US"/>
          </a:p>
        </p:txBody>
      </p:sp>
      <p:sp>
        <p:nvSpPr>
          <p:cNvPr id="6" name="Slide Number Placeholder 5">
            <a:extLst>
              <a:ext uri="{FF2B5EF4-FFF2-40B4-BE49-F238E27FC236}">
                <a16:creationId xmlns:a16="http://schemas.microsoft.com/office/drawing/2014/main" id="{933390A1-7BD7-E7F2-EED6-F2A9B632472A}"/>
              </a:ext>
            </a:extLst>
          </p:cNvPr>
          <p:cNvSpPr>
            <a:spLocks noGrp="1"/>
          </p:cNvSpPr>
          <p:nvPr>
            <p:ph type="sldNum" sz="quarter" idx="12"/>
          </p:nvPr>
        </p:nvSpPr>
        <p:spPr/>
        <p:txBody>
          <a:bodyPr vert="horz" lIns="91440" tIns="45720" rIns="91440" bIns="45720" rtlCol="0" anchor="ctr"/>
          <a:lstStyle>
            <a:lvl1pPr>
              <a:defRPr lang="en-US" smtClean="0">
                <a:latin typeface="Bahnschrift Light SemiCondensed" panose="020B0502040204020203" pitchFamily="34" charset="0"/>
              </a:defRPr>
            </a:lvl1pPr>
          </a:lstStyle>
          <a:p>
            <a:pPr algn="l"/>
            <a:fld id="{D41F6BB1-3072-477A-8416-723305CEF715}" type="slidenum">
              <a:rPr lang="en-US" smtClean="0"/>
              <a:pPr algn="l"/>
              <a:t>‹#›</a:t>
            </a:fld>
            <a:endParaRPr lang="en-US"/>
          </a:p>
        </p:txBody>
      </p:sp>
    </p:spTree>
    <p:extLst>
      <p:ext uri="{BB962C8B-B14F-4D97-AF65-F5344CB8AC3E}">
        <p14:creationId xmlns:p14="http://schemas.microsoft.com/office/powerpoint/2010/main" val="775006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E6BF8A-5B37-336F-B6B2-B255D23A041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4F538C5-2BF2-AE48-0938-56AA906E648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4438EF-68A1-4184-B926-F258578F87DD}"/>
              </a:ext>
            </a:extLst>
          </p:cNvPr>
          <p:cNvSpPr>
            <a:spLocks noGrp="1"/>
          </p:cNvSpPr>
          <p:nvPr>
            <p:ph type="dt" sz="half" idx="10"/>
          </p:nvPr>
        </p:nvSpPr>
        <p:spPr/>
        <p:txBody>
          <a:bodyPr/>
          <a:lstStyle/>
          <a:p>
            <a:fld id="{25418435-C720-449D-B816-40E688690315}" type="datetimeFigureOut">
              <a:rPr lang="en-US" smtClean="0"/>
              <a:t>11/14/2025</a:t>
            </a:fld>
            <a:endParaRPr lang="en-US"/>
          </a:p>
        </p:txBody>
      </p:sp>
      <p:sp>
        <p:nvSpPr>
          <p:cNvPr id="5" name="Footer Placeholder 4">
            <a:extLst>
              <a:ext uri="{FF2B5EF4-FFF2-40B4-BE49-F238E27FC236}">
                <a16:creationId xmlns:a16="http://schemas.microsoft.com/office/drawing/2014/main" id="{DB781467-5B20-5F9E-690B-B5351E684D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F832C8-BAC3-494D-16F0-328212F4E372}"/>
              </a:ext>
            </a:extLst>
          </p:cNvPr>
          <p:cNvSpPr>
            <a:spLocks noGrp="1"/>
          </p:cNvSpPr>
          <p:nvPr>
            <p:ph type="sldNum" sz="quarter" idx="12"/>
          </p:nvPr>
        </p:nvSpPr>
        <p:spPr/>
        <p:txBody>
          <a:bodyPr/>
          <a:lstStyle/>
          <a:p>
            <a:fld id="{D41F6BB1-3072-477A-8416-723305CEF715}" type="slidenum">
              <a:rPr lang="en-US" smtClean="0"/>
              <a:t>‹#›</a:t>
            </a:fld>
            <a:endParaRPr lang="en-US"/>
          </a:p>
        </p:txBody>
      </p:sp>
    </p:spTree>
    <p:extLst>
      <p:ext uri="{BB962C8B-B14F-4D97-AF65-F5344CB8AC3E}">
        <p14:creationId xmlns:p14="http://schemas.microsoft.com/office/powerpoint/2010/main" val="34556922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21A09-B7F0-1551-9732-0DFEFB2A84F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12C291-3262-A69D-0162-C169D140BA9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B58485C-FD72-1F85-A330-8D6B8A6782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5283A49-8C7E-3F0C-D5D7-5330E5B820F5}"/>
              </a:ext>
            </a:extLst>
          </p:cNvPr>
          <p:cNvSpPr>
            <a:spLocks noGrp="1"/>
          </p:cNvSpPr>
          <p:nvPr>
            <p:ph type="dt" sz="half" idx="10"/>
          </p:nvPr>
        </p:nvSpPr>
        <p:spPr/>
        <p:txBody>
          <a:bodyPr/>
          <a:lstStyle/>
          <a:p>
            <a:fld id="{25418435-C720-449D-B816-40E688690315}" type="datetimeFigureOut">
              <a:rPr lang="en-US" smtClean="0"/>
              <a:t>11/14/2025</a:t>
            </a:fld>
            <a:endParaRPr lang="en-US"/>
          </a:p>
        </p:txBody>
      </p:sp>
      <p:sp>
        <p:nvSpPr>
          <p:cNvPr id="6" name="Footer Placeholder 5">
            <a:extLst>
              <a:ext uri="{FF2B5EF4-FFF2-40B4-BE49-F238E27FC236}">
                <a16:creationId xmlns:a16="http://schemas.microsoft.com/office/drawing/2014/main" id="{A3341E6A-AA54-BF30-D3B0-F183CCC3E2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F3531B-F130-758A-E17A-215477147D00}"/>
              </a:ext>
            </a:extLst>
          </p:cNvPr>
          <p:cNvSpPr>
            <a:spLocks noGrp="1"/>
          </p:cNvSpPr>
          <p:nvPr>
            <p:ph type="sldNum" sz="quarter" idx="12"/>
          </p:nvPr>
        </p:nvSpPr>
        <p:spPr/>
        <p:txBody>
          <a:bodyPr/>
          <a:lstStyle/>
          <a:p>
            <a:fld id="{D41F6BB1-3072-477A-8416-723305CEF715}" type="slidenum">
              <a:rPr lang="en-US" smtClean="0"/>
              <a:t>‹#›</a:t>
            </a:fld>
            <a:endParaRPr lang="en-US"/>
          </a:p>
        </p:txBody>
      </p:sp>
    </p:spTree>
    <p:extLst>
      <p:ext uri="{BB962C8B-B14F-4D97-AF65-F5344CB8AC3E}">
        <p14:creationId xmlns:p14="http://schemas.microsoft.com/office/powerpoint/2010/main" val="3177319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EB23D-AF5A-D2C0-6EA5-ED0269F5FB47}"/>
              </a:ext>
            </a:extLst>
          </p:cNvPr>
          <p:cNvSpPr>
            <a:spLocks noGrp="1"/>
          </p:cNvSpPr>
          <p:nvPr>
            <p:ph type="title"/>
          </p:nvPr>
        </p:nvSpPr>
        <p:spPr>
          <a:xfrm>
            <a:off x="839788" y="1057275"/>
            <a:ext cx="10515600" cy="63341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880E48-4C2D-2B2B-964F-88262B8CE8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71081B-AED5-9BDD-42C4-183B4313DC5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E1A8D6-6096-F19A-F31F-B24A328AC4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29B0B60-C100-5272-3B52-242A1B3EB91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BE16AFD-2884-82F2-85EF-60CC69B8E122}"/>
              </a:ext>
            </a:extLst>
          </p:cNvPr>
          <p:cNvSpPr>
            <a:spLocks noGrp="1"/>
          </p:cNvSpPr>
          <p:nvPr>
            <p:ph type="dt" sz="half" idx="10"/>
          </p:nvPr>
        </p:nvSpPr>
        <p:spPr/>
        <p:txBody>
          <a:bodyPr/>
          <a:lstStyle/>
          <a:p>
            <a:fld id="{25418435-C720-449D-B816-40E688690315}" type="datetimeFigureOut">
              <a:rPr lang="en-US" smtClean="0"/>
              <a:t>11/14/2025</a:t>
            </a:fld>
            <a:endParaRPr lang="en-US"/>
          </a:p>
        </p:txBody>
      </p:sp>
      <p:sp>
        <p:nvSpPr>
          <p:cNvPr id="8" name="Footer Placeholder 7">
            <a:extLst>
              <a:ext uri="{FF2B5EF4-FFF2-40B4-BE49-F238E27FC236}">
                <a16:creationId xmlns:a16="http://schemas.microsoft.com/office/drawing/2014/main" id="{C234FFB9-BD63-4954-B342-92FD028A59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32F79E-888C-E739-A807-CE92E9197996}"/>
              </a:ext>
            </a:extLst>
          </p:cNvPr>
          <p:cNvSpPr>
            <a:spLocks noGrp="1"/>
          </p:cNvSpPr>
          <p:nvPr>
            <p:ph type="sldNum" sz="quarter" idx="12"/>
          </p:nvPr>
        </p:nvSpPr>
        <p:spPr/>
        <p:txBody>
          <a:bodyPr/>
          <a:lstStyle/>
          <a:p>
            <a:fld id="{D41F6BB1-3072-477A-8416-723305CEF715}" type="slidenum">
              <a:rPr lang="en-US" smtClean="0"/>
              <a:t>‹#›</a:t>
            </a:fld>
            <a:endParaRPr lang="en-US"/>
          </a:p>
        </p:txBody>
      </p:sp>
    </p:spTree>
    <p:extLst>
      <p:ext uri="{BB962C8B-B14F-4D97-AF65-F5344CB8AC3E}">
        <p14:creationId xmlns:p14="http://schemas.microsoft.com/office/powerpoint/2010/main" val="28298116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968639-7441-C5CC-B004-72F862B4478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F9DB76E-A99C-A9A2-2A56-1D3A33518B8B}"/>
              </a:ext>
            </a:extLst>
          </p:cNvPr>
          <p:cNvSpPr>
            <a:spLocks noGrp="1"/>
          </p:cNvSpPr>
          <p:nvPr>
            <p:ph type="dt" sz="half" idx="10"/>
          </p:nvPr>
        </p:nvSpPr>
        <p:spPr/>
        <p:txBody>
          <a:bodyPr/>
          <a:lstStyle/>
          <a:p>
            <a:fld id="{25418435-C720-449D-B816-40E688690315}" type="datetimeFigureOut">
              <a:rPr lang="en-US" smtClean="0"/>
              <a:t>11/14/2025</a:t>
            </a:fld>
            <a:endParaRPr lang="en-US"/>
          </a:p>
        </p:txBody>
      </p:sp>
      <p:sp>
        <p:nvSpPr>
          <p:cNvPr id="4" name="Footer Placeholder 3">
            <a:extLst>
              <a:ext uri="{FF2B5EF4-FFF2-40B4-BE49-F238E27FC236}">
                <a16:creationId xmlns:a16="http://schemas.microsoft.com/office/drawing/2014/main" id="{F286794B-D66C-A3A8-3D89-528001E4DA5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40B1946-7B3C-5D6F-B6B3-05EE80FA990F}"/>
              </a:ext>
            </a:extLst>
          </p:cNvPr>
          <p:cNvSpPr>
            <a:spLocks noGrp="1"/>
          </p:cNvSpPr>
          <p:nvPr>
            <p:ph type="sldNum" sz="quarter" idx="12"/>
          </p:nvPr>
        </p:nvSpPr>
        <p:spPr/>
        <p:txBody>
          <a:bodyPr/>
          <a:lstStyle/>
          <a:p>
            <a:fld id="{D41F6BB1-3072-477A-8416-723305CEF715}" type="slidenum">
              <a:rPr lang="en-US" smtClean="0"/>
              <a:t>‹#›</a:t>
            </a:fld>
            <a:endParaRPr lang="en-US"/>
          </a:p>
        </p:txBody>
      </p:sp>
    </p:spTree>
    <p:extLst>
      <p:ext uri="{BB962C8B-B14F-4D97-AF65-F5344CB8AC3E}">
        <p14:creationId xmlns:p14="http://schemas.microsoft.com/office/powerpoint/2010/main" val="18671341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858EE5-A6D5-1B17-A565-CBFA0FC3321B}"/>
              </a:ext>
            </a:extLst>
          </p:cNvPr>
          <p:cNvSpPr>
            <a:spLocks noGrp="1"/>
          </p:cNvSpPr>
          <p:nvPr>
            <p:ph type="dt" sz="half" idx="10"/>
          </p:nvPr>
        </p:nvSpPr>
        <p:spPr/>
        <p:txBody>
          <a:bodyPr/>
          <a:lstStyle/>
          <a:p>
            <a:fld id="{25418435-C720-449D-B816-40E688690315}" type="datetimeFigureOut">
              <a:rPr lang="en-US" smtClean="0"/>
              <a:t>11/14/2025</a:t>
            </a:fld>
            <a:endParaRPr lang="en-US"/>
          </a:p>
        </p:txBody>
      </p:sp>
      <p:sp>
        <p:nvSpPr>
          <p:cNvPr id="3" name="Footer Placeholder 2">
            <a:extLst>
              <a:ext uri="{FF2B5EF4-FFF2-40B4-BE49-F238E27FC236}">
                <a16:creationId xmlns:a16="http://schemas.microsoft.com/office/drawing/2014/main" id="{FF9E5286-4134-96A7-49A6-630AF0CC9D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B81CF4D-9210-9221-642A-76149DAF0ECC}"/>
              </a:ext>
            </a:extLst>
          </p:cNvPr>
          <p:cNvSpPr>
            <a:spLocks noGrp="1"/>
          </p:cNvSpPr>
          <p:nvPr>
            <p:ph type="sldNum" sz="quarter" idx="12"/>
          </p:nvPr>
        </p:nvSpPr>
        <p:spPr/>
        <p:txBody>
          <a:bodyPr/>
          <a:lstStyle/>
          <a:p>
            <a:fld id="{D41F6BB1-3072-477A-8416-723305CEF715}" type="slidenum">
              <a:rPr lang="en-US" smtClean="0"/>
              <a:t>‹#›</a:t>
            </a:fld>
            <a:endParaRPr lang="en-US"/>
          </a:p>
        </p:txBody>
      </p:sp>
    </p:spTree>
    <p:extLst>
      <p:ext uri="{BB962C8B-B14F-4D97-AF65-F5344CB8AC3E}">
        <p14:creationId xmlns:p14="http://schemas.microsoft.com/office/powerpoint/2010/main" val="15546959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1A6AA-CD9E-662B-9853-A78C07070F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F7866B5-138B-4FC4-80BF-CF269BE1DD5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9FFFF8B-6BE8-4754-6044-CCFD98D796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C6657F-A1BA-23CB-479C-060203EEA054}"/>
              </a:ext>
            </a:extLst>
          </p:cNvPr>
          <p:cNvSpPr>
            <a:spLocks noGrp="1"/>
          </p:cNvSpPr>
          <p:nvPr>
            <p:ph type="dt" sz="half" idx="10"/>
          </p:nvPr>
        </p:nvSpPr>
        <p:spPr/>
        <p:txBody>
          <a:bodyPr/>
          <a:lstStyle/>
          <a:p>
            <a:fld id="{25418435-C720-449D-B816-40E688690315}" type="datetimeFigureOut">
              <a:rPr lang="en-US" smtClean="0"/>
              <a:t>11/14/2025</a:t>
            </a:fld>
            <a:endParaRPr lang="en-US"/>
          </a:p>
        </p:txBody>
      </p:sp>
      <p:sp>
        <p:nvSpPr>
          <p:cNvPr id="6" name="Footer Placeholder 5">
            <a:extLst>
              <a:ext uri="{FF2B5EF4-FFF2-40B4-BE49-F238E27FC236}">
                <a16:creationId xmlns:a16="http://schemas.microsoft.com/office/drawing/2014/main" id="{D9059696-456E-34AA-C8A0-DEB94CCC1D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04C4FD-86B3-9465-413E-F37F528F4648}"/>
              </a:ext>
            </a:extLst>
          </p:cNvPr>
          <p:cNvSpPr>
            <a:spLocks noGrp="1"/>
          </p:cNvSpPr>
          <p:nvPr>
            <p:ph type="sldNum" sz="quarter" idx="12"/>
          </p:nvPr>
        </p:nvSpPr>
        <p:spPr/>
        <p:txBody>
          <a:bodyPr/>
          <a:lstStyle/>
          <a:p>
            <a:fld id="{D41F6BB1-3072-477A-8416-723305CEF715}" type="slidenum">
              <a:rPr lang="en-US" smtClean="0"/>
              <a:t>‹#›</a:t>
            </a:fld>
            <a:endParaRPr lang="en-US"/>
          </a:p>
        </p:txBody>
      </p:sp>
    </p:spTree>
    <p:extLst>
      <p:ext uri="{BB962C8B-B14F-4D97-AF65-F5344CB8AC3E}">
        <p14:creationId xmlns:p14="http://schemas.microsoft.com/office/powerpoint/2010/main" val="261316651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76B08-FF37-9363-2A10-C9CF5D43F502}"/>
              </a:ext>
            </a:extLst>
          </p:cNvPr>
          <p:cNvSpPr>
            <a:spLocks noGrp="1"/>
          </p:cNvSpPr>
          <p:nvPr>
            <p:ph type="title"/>
          </p:nvPr>
        </p:nvSpPr>
        <p:spPr>
          <a:xfrm>
            <a:off x="839788" y="1104900"/>
            <a:ext cx="3932237" cy="952500"/>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B8619786-B2A6-AFFE-64E5-9EB2E5304F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F88F3A-AB52-C920-020A-F635704A6B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F131871-5148-4F43-11B6-3AD6D342048E}"/>
              </a:ext>
            </a:extLst>
          </p:cNvPr>
          <p:cNvSpPr>
            <a:spLocks noGrp="1"/>
          </p:cNvSpPr>
          <p:nvPr>
            <p:ph type="dt" sz="half" idx="10"/>
          </p:nvPr>
        </p:nvSpPr>
        <p:spPr/>
        <p:txBody>
          <a:bodyPr/>
          <a:lstStyle/>
          <a:p>
            <a:fld id="{25418435-C720-449D-B816-40E688690315}" type="datetimeFigureOut">
              <a:rPr lang="en-US" smtClean="0"/>
              <a:t>11/14/2025</a:t>
            </a:fld>
            <a:endParaRPr lang="en-US"/>
          </a:p>
        </p:txBody>
      </p:sp>
      <p:sp>
        <p:nvSpPr>
          <p:cNvPr id="6" name="Footer Placeholder 5">
            <a:extLst>
              <a:ext uri="{FF2B5EF4-FFF2-40B4-BE49-F238E27FC236}">
                <a16:creationId xmlns:a16="http://schemas.microsoft.com/office/drawing/2014/main" id="{D7040A6C-BDA2-7098-2430-EDC3EC90A66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45EE63-100B-37C2-85F8-2BF65D08F122}"/>
              </a:ext>
            </a:extLst>
          </p:cNvPr>
          <p:cNvSpPr>
            <a:spLocks noGrp="1"/>
          </p:cNvSpPr>
          <p:nvPr>
            <p:ph type="sldNum" sz="quarter" idx="12"/>
          </p:nvPr>
        </p:nvSpPr>
        <p:spPr/>
        <p:txBody>
          <a:bodyPr/>
          <a:lstStyle/>
          <a:p>
            <a:fld id="{D41F6BB1-3072-477A-8416-723305CEF715}" type="slidenum">
              <a:rPr lang="en-US" smtClean="0"/>
              <a:t>‹#›</a:t>
            </a:fld>
            <a:endParaRPr lang="en-US"/>
          </a:p>
        </p:txBody>
      </p:sp>
    </p:spTree>
    <p:extLst>
      <p:ext uri="{BB962C8B-B14F-4D97-AF65-F5344CB8AC3E}">
        <p14:creationId xmlns:p14="http://schemas.microsoft.com/office/powerpoint/2010/main" val="16724656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5FCC2-5904-491E-581A-36BFCBA980A1}"/>
              </a:ext>
            </a:extLst>
          </p:cNvPr>
          <p:cNvSpPr>
            <a:spLocks noGrp="1"/>
          </p:cNvSpPr>
          <p:nvPr>
            <p:ph type="title"/>
          </p:nvPr>
        </p:nvSpPr>
        <p:spPr>
          <a:xfrm>
            <a:off x="838200" y="1089600"/>
            <a:ext cx="10515600" cy="646331"/>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881C980-0C3C-A426-947B-B2E8E1478D1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FC87D3-0BF2-4993-432B-703A2C0E4636}"/>
              </a:ext>
            </a:extLst>
          </p:cNvPr>
          <p:cNvSpPr>
            <a:spLocks noGrp="1"/>
          </p:cNvSpPr>
          <p:nvPr>
            <p:ph type="dt" sz="half" idx="10"/>
          </p:nvPr>
        </p:nvSpPr>
        <p:spPr/>
        <p:txBody>
          <a:bodyPr/>
          <a:lstStyle/>
          <a:p>
            <a:fld id="{25418435-C720-449D-B816-40E688690315}" type="datetimeFigureOut">
              <a:rPr lang="en-US" smtClean="0"/>
              <a:t>11/14/2025</a:t>
            </a:fld>
            <a:endParaRPr lang="en-US"/>
          </a:p>
        </p:txBody>
      </p:sp>
      <p:sp>
        <p:nvSpPr>
          <p:cNvPr id="5" name="Footer Placeholder 4">
            <a:extLst>
              <a:ext uri="{FF2B5EF4-FFF2-40B4-BE49-F238E27FC236}">
                <a16:creationId xmlns:a16="http://schemas.microsoft.com/office/drawing/2014/main" id="{E8B6A88F-A729-F1E9-BA06-6AD8DCBBB2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F75B78-BAD5-7D9B-358B-F0AEB5DB4392}"/>
              </a:ext>
            </a:extLst>
          </p:cNvPr>
          <p:cNvSpPr>
            <a:spLocks noGrp="1"/>
          </p:cNvSpPr>
          <p:nvPr>
            <p:ph type="sldNum" sz="quarter" idx="12"/>
          </p:nvPr>
        </p:nvSpPr>
        <p:spPr/>
        <p:txBody>
          <a:bodyPr/>
          <a:lstStyle/>
          <a:p>
            <a:fld id="{D41F6BB1-3072-477A-8416-723305CEF715}" type="slidenum">
              <a:rPr lang="en-US" smtClean="0"/>
              <a:t>‹#›</a:t>
            </a:fld>
            <a:endParaRPr lang="en-US"/>
          </a:p>
        </p:txBody>
      </p:sp>
    </p:spTree>
    <p:extLst>
      <p:ext uri="{BB962C8B-B14F-4D97-AF65-F5344CB8AC3E}">
        <p14:creationId xmlns:p14="http://schemas.microsoft.com/office/powerpoint/2010/main" val="8008085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5D1F69C-82E3-CB06-9B7F-88251854270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EAB3F83-AAE6-EEDF-B93F-6457BDBE63E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C7A31A-66D8-8628-1499-FA3DFD08423E}"/>
              </a:ext>
            </a:extLst>
          </p:cNvPr>
          <p:cNvSpPr>
            <a:spLocks noGrp="1"/>
          </p:cNvSpPr>
          <p:nvPr>
            <p:ph type="dt" sz="half" idx="10"/>
          </p:nvPr>
        </p:nvSpPr>
        <p:spPr/>
        <p:txBody>
          <a:bodyPr/>
          <a:lstStyle/>
          <a:p>
            <a:fld id="{25418435-C720-449D-B816-40E688690315}" type="datetimeFigureOut">
              <a:rPr lang="en-US" smtClean="0"/>
              <a:t>11/14/2025</a:t>
            </a:fld>
            <a:endParaRPr lang="en-US"/>
          </a:p>
        </p:txBody>
      </p:sp>
      <p:sp>
        <p:nvSpPr>
          <p:cNvPr id="5" name="Footer Placeholder 4">
            <a:extLst>
              <a:ext uri="{FF2B5EF4-FFF2-40B4-BE49-F238E27FC236}">
                <a16:creationId xmlns:a16="http://schemas.microsoft.com/office/drawing/2014/main" id="{845069D6-F949-7E42-3D3C-2F7AAD7ACB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5C3BCEC-62AB-2A95-67F1-87161F1C4986}"/>
              </a:ext>
            </a:extLst>
          </p:cNvPr>
          <p:cNvSpPr>
            <a:spLocks noGrp="1"/>
          </p:cNvSpPr>
          <p:nvPr>
            <p:ph type="sldNum" sz="quarter" idx="12"/>
          </p:nvPr>
        </p:nvSpPr>
        <p:spPr/>
        <p:txBody>
          <a:bodyPr/>
          <a:lstStyle/>
          <a:p>
            <a:fld id="{D41F6BB1-3072-477A-8416-723305CEF715}" type="slidenum">
              <a:rPr lang="en-US" smtClean="0"/>
              <a:t>‹#›</a:t>
            </a:fld>
            <a:endParaRPr lang="en-US"/>
          </a:p>
        </p:txBody>
      </p:sp>
    </p:spTree>
    <p:extLst>
      <p:ext uri="{BB962C8B-B14F-4D97-AF65-F5344CB8AC3E}">
        <p14:creationId xmlns:p14="http://schemas.microsoft.com/office/powerpoint/2010/main" val="11219185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3"/>
          <p:cNvSpPr/>
          <p:nvPr userDrawn="1"/>
        </p:nvSpPr>
        <p:spPr>
          <a:xfrm>
            <a:off x="0" y="6172200"/>
            <a:ext cx="121920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lang="en-US" sz="1800" dirty="0">
              <a:solidFill>
                <a:srgbClr val="FFFFFF"/>
              </a:solidFill>
              <a:ea typeface="ＭＳ Ｐゴシック" charset="-128"/>
            </a:endParaRPr>
          </a:p>
        </p:txBody>
      </p:sp>
      <p:sp>
        <p:nvSpPr>
          <p:cNvPr id="5" name="Rectangle 4"/>
          <p:cNvSpPr/>
          <p:nvPr userDrawn="1"/>
        </p:nvSpPr>
        <p:spPr>
          <a:xfrm>
            <a:off x="3454400" y="1371600"/>
            <a:ext cx="8331200" cy="236220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lang="en-US" sz="1800" dirty="0">
              <a:solidFill>
                <a:srgbClr val="FFFFFF"/>
              </a:solidFill>
              <a:ea typeface="ＭＳ Ｐゴシック" charset="-128"/>
            </a:endParaRPr>
          </a:p>
        </p:txBody>
      </p:sp>
      <p:sp>
        <p:nvSpPr>
          <p:cNvPr id="6" name="Rectangle 5"/>
          <p:cNvSpPr/>
          <p:nvPr userDrawn="1"/>
        </p:nvSpPr>
        <p:spPr>
          <a:xfrm>
            <a:off x="3454400" y="1371600"/>
            <a:ext cx="304800" cy="23622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lang="en-US" sz="1800" dirty="0">
              <a:solidFill>
                <a:srgbClr val="FFFFFF"/>
              </a:solidFill>
              <a:ea typeface="ＭＳ Ｐゴシック" charset="-128"/>
            </a:endParaRPr>
          </a:p>
        </p:txBody>
      </p:sp>
      <p:sp>
        <p:nvSpPr>
          <p:cNvPr id="7" name="Subtitle 2"/>
          <p:cNvSpPr txBox="1">
            <a:spLocks/>
          </p:cNvSpPr>
          <p:nvPr userDrawn="1"/>
        </p:nvSpPr>
        <p:spPr>
          <a:xfrm>
            <a:off x="3860800" y="1371600"/>
            <a:ext cx="7924800" cy="2362200"/>
          </a:xfrm>
          <a:prstGeom prst="rect">
            <a:avLst/>
          </a:prstGeom>
        </p:spPr>
        <p:txBody>
          <a:bodyPr anchor="ctr">
            <a:normAutofit/>
          </a:bodyPr>
          <a:lstStyle/>
          <a:p>
            <a:pPr marL="342900" indent="-342900">
              <a:spcBef>
                <a:spcPts val="600"/>
              </a:spcBef>
              <a:spcAft>
                <a:spcPts val="600"/>
              </a:spcAft>
              <a:buFont typeface="Arial" charset="0"/>
              <a:buNone/>
            </a:pPr>
            <a:r>
              <a:rPr lang="en-US" sz="2600" b="1" dirty="0">
                <a:latin typeface="Gill Sans MT" charset="0"/>
                <a:cs typeface="Times New Roman" charset="0"/>
              </a:rPr>
              <a:t>Rwanda CAADP Post Compact</a:t>
            </a:r>
          </a:p>
          <a:p>
            <a:pPr marL="342900" indent="-342900">
              <a:spcBef>
                <a:spcPts val="600"/>
              </a:spcBef>
              <a:spcAft>
                <a:spcPts val="600"/>
              </a:spcAft>
              <a:buFont typeface="Arial" charset="0"/>
              <a:buNone/>
            </a:pPr>
            <a:r>
              <a:rPr lang="en-US" sz="2600" b="1" dirty="0">
                <a:latin typeface="Gill Sans MT" charset="0"/>
                <a:cs typeface="Times New Roman" charset="0"/>
              </a:rPr>
              <a:t>High-Level Stakeholder Meeting</a:t>
            </a:r>
          </a:p>
        </p:txBody>
      </p:sp>
      <p:pic>
        <p:nvPicPr>
          <p:cNvPr id="10" name="Picture 1" descr="armoirie"/>
          <p:cNvPicPr>
            <a:picLocks noChangeAspect="1" noChangeArrowheads="1"/>
          </p:cNvPicPr>
          <p:nvPr userDrawn="1"/>
        </p:nvPicPr>
        <p:blipFill>
          <a:blip r:embed="rId2" cstate="print"/>
          <a:srcRect/>
          <a:stretch>
            <a:fillRect/>
          </a:stretch>
        </p:blipFill>
        <p:spPr bwMode="auto">
          <a:xfrm rot="10800000" flipH="1" flipV="1">
            <a:off x="304800" y="1350964"/>
            <a:ext cx="2946400" cy="2382837"/>
          </a:xfrm>
          <a:prstGeom prst="rect">
            <a:avLst/>
          </a:prstGeom>
          <a:noFill/>
          <a:ln w="9525">
            <a:noFill/>
            <a:miter lim="800000"/>
            <a:headEnd/>
            <a:tailEnd/>
          </a:ln>
        </p:spPr>
      </p:pic>
      <p:sp>
        <p:nvSpPr>
          <p:cNvPr id="11" name="Subtitle 8"/>
          <p:cNvSpPr txBox="1">
            <a:spLocks/>
          </p:cNvSpPr>
          <p:nvPr userDrawn="1"/>
        </p:nvSpPr>
        <p:spPr>
          <a:xfrm>
            <a:off x="3860800" y="6248400"/>
            <a:ext cx="7823200" cy="609600"/>
          </a:xfrm>
          <a:prstGeom prst="rect">
            <a:avLst/>
          </a:prstGeom>
        </p:spPr>
        <p:txBody>
          <a:bodyPr>
            <a:normAutofit/>
          </a:bodyPr>
          <a:lstStyle/>
          <a:p>
            <a:pPr algn="r">
              <a:spcBef>
                <a:spcPts val="600"/>
              </a:spcBef>
              <a:buClr>
                <a:schemeClr val="accent1"/>
              </a:buClr>
              <a:buSzPct val="76000"/>
              <a:buFont typeface="Symbol" charset="2"/>
              <a:buNone/>
            </a:pPr>
            <a:endParaRPr lang="en-US" sz="1000" dirty="0">
              <a:solidFill>
                <a:schemeClr val="bg2"/>
              </a:solidFill>
              <a:latin typeface="Bookman Old Style" charset="0"/>
            </a:endParaRPr>
          </a:p>
        </p:txBody>
      </p:sp>
      <p:sp>
        <p:nvSpPr>
          <p:cNvPr id="12" name="Rectangle 11"/>
          <p:cNvSpPr/>
          <p:nvPr userDrawn="1"/>
        </p:nvSpPr>
        <p:spPr>
          <a:xfrm>
            <a:off x="3454400" y="4191000"/>
            <a:ext cx="304800" cy="990600"/>
          </a:xfrm>
          <a:prstGeom prst="rect">
            <a:avLst/>
          </a:prstGeom>
          <a:solidFill>
            <a:schemeClr val="accent3"/>
          </a:solidFill>
          <a:ln w="6350" cap="rnd" cmpd="sng" algn="ctr">
            <a:solidFill>
              <a:schemeClr val="accent3"/>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lang="en-US" sz="1800" dirty="0">
              <a:solidFill>
                <a:srgbClr val="FFFFFF"/>
              </a:solidFill>
              <a:ea typeface="ＭＳ Ｐゴシック" charset="-128"/>
            </a:endParaRPr>
          </a:p>
        </p:txBody>
      </p:sp>
      <p:sp>
        <p:nvSpPr>
          <p:cNvPr id="13" name="Rectangle 12"/>
          <p:cNvSpPr/>
          <p:nvPr userDrawn="1"/>
        </p:nvSpPr>
        <p:spPr>
          <a:xfrm>
            <a:off x="3450167" y="4191000"/>
            <a:ext cx="8343900" cy="990600"/>
          </a:xfrm>
          <a:prstGeom prst="rect">
            <a:avLst/>
          </a:prstGeom>
          <a:noFill/>
          <a:ln w="6350" cap="rnd" cmpd="sng" algn="ctr">
            <a:solidFill>
              <a:schemeClr val="accent3"/>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lang="en-US" sz="1800" dirty="0">
              <a:solidFill>
                <a:srgbClr val="FFFFFF"/>
              </a:solidFill>
              <a:ea typeface="ＭＳ Ｐゴシック" charset="-128"/>
            </a:endParaRPr>
          </a:p>
        </p:txBody>
      </p:sp>
      <p:sp>
        <p:nvSpPr>
          <p:cNvPr id="8" name="Title 7"/>
          <p:cNvSpPr>
            <a:spLocks noGrp="1"/>
          </p:cNvSpPr>
          <p:nvPr>
            <p:ph type="ctrTitle"/>
          </p:nvPr>
        </p:nvSpPr>
        <p:spPr>
          <a:xfrm>
            <a:off x="3860800" y="4267200"/>
            <a:ext cx="7823199" cy="457200"/>
          </a:xfrm>
          <a:prstGeom prst="rect">
            <a:avLst/>
          </a:prstGeom>
        </p:spPr>
        <p:txBody>
          <a:bodyPr anchor="t" anchorCtr="0">
            <a:normAutofit/>
          </a:bodyPr>
          <a:lstStyle>
            <a:lvl1pPr algn="r">
              <a:defRPr sz="2400" baseline="0">
                <a:solidFill>
                  <a:schemeClr val="tx1"/>
                </a:solidFill>
                <a:latin typeface="+mn-lt"/>
              </a:defRPr>
            </a:lvl1pPr>
          </a:lstStyle>
          <a:p>
            <a:r>
              <a:rPr lang="en-US"/>
              <a:t>Click to edit Master title style</a:t>
            </a:r>
            <a:endParaRPr lang="en-US" dirty="0"/>
          </a:p>
        </p:txBody>
      </p:sp>
      <p:sp>
        <p:nvSpPr>
          <p:cNvPr id="9" name="Subtitle 8"/>
          <p:cNvSpPr>
            <a:spLocks noGrp="1"/>
          </p:cNvSpPr>
          <p:nvPr>
            <p:ph type="subTitle" idx="1"/>
          </p:nvPr>
        </p:nvSpPr>
        <p:spPr>
          <a:xfrm>
            <a:off x="3860800" y="4724400"/>
            <a:ext cx="7823199" cy="457200"/>
          </a:xfrm>
        </p:spPr>
        <p:txBody>
          <a:bodyPr/>
          <a:lstStyle>
            <a:lvl1pPr marL="0" indent="0" algn="r">
              <a:buNone/>
              <a:defRPr sz="2000" baseline="0">
                <a:solidFill>
                  <a:schemeClr val="tx2"/>
                </a:solidFill>
                <a:latin typeface="+mn-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en-US"/>
              <a:t>Click to edit Master subtitle style</a:t>
            </a:r>
            <a:endParaRPr lang="en-US" dirty="0"/>
          </a:p>
        </p:txBody>
      </p:sp>
    </p:spTree>
    <p:extLst>
      <p:ext uri="{BB962C8B-B14F-4D97-AF65-F5344CB8AC3E}">
        <p14:creationId xmlns:p14="http://schemas.microsoft.com/office/powerpoint/2010/main" val="23375765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3" name="Straight Connector 2"/>
          <p:cNvSpPr>
            <a:spLocks noChangeShapeType="1"/>
          </p:cNvSpPr>
          <p:nvPr userDrawn="1"/>
        </p:nvSpPr>
        <p:spPr bwMode="auto">
          <a:xfrm>
            <a:off x="1625601" y="1066800"/>
            <a:ext cx="10240433" cy="0"/>
          </a:xfrm>
          <a:prstGeom prst="line">
            <a:avLst/>
          </a:prstGeom>
          <a:ln w="57150">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a:lstStyle/>
          <a:p>
            <a:pPr fontAlgn="auto">
              <a:spcBef>
                <a:spcPts val="0"/>
              </a:spcBef>
              <a:spcAft>
                <a:spcPts val="0"/>
              </a:spcAft>
              <a:defRPr/>
            </a:pPr>
            <a:endParaRPr lang="en-US" sz="1800" dirty="0">
              <a:ln>
                <a:solidFill>
                  <a:schemeClr val="tx1"/>
                </a:solidFill>
              </a:ln>
            </a:endParaRPr>
          </a:p>
        </p:txBody>
      </p:sp>
      <p:sp>
        <p:nvSpPr>
          <p:cNvPr id="2" name="Title 1"/>
          <p:cNvSpPr>
            <a:spLocks noGrp="1"/>
          </p:cNvSpPr>
          <p:nvPr>
            <p:ph type="title"/>
          </p:nvPr>
        </p:nvSpPr>
        <p:spPr>
          <a:xfrm>
            <a:off x="1625600" y="228600"/>
            <a:ext cx="10261600" cy="838200"/>
          </a:xfrm>
          <a:prstGeom prst="rect">
            <a:avLst/>
          </a:prstGeom>
        </p:spPr>
        <p:txBody>
          <a:bodyPr anchor="b" anchorCtr="0"/>
          <a:lstStyle>
            <a:lvl1pPr>
              <a:defRPr sz="2800">
                <a:solidFill>
                  <a:schemeClr val="tx1"/>
                </a:solidFill>
                <a:latin typeface="+mn-lt"/>
              </a:defRPr>
            </a:lvl1pPr>
          </a:lstStyle>
          <a:p>
            <a:r>
              <a:rPr lang="en-US" dirty="0"/>
              <a:t>Click to edit Master title style</a:t>
            </a:r>
          </a:p>
        </p:txBody>
      </p:sp>
      <p:sp>
        <p:nvSpPr>
          <p:cNvPr id="4" name="Slide Number Placeholder 5"/>
          <p:cNvSpPr>
            <a:spLocks noGrp="1"/>
          </p:cNvSpPr>
          <p:nvPr>
            <p:ph type="sldNum" sz="quarter" idx="10"/>
          </p:nvPr>
        </p:nvSpPr>
        <p:spPr>
          <a:xfrm>
            <a:off x="9347200" y="6416676"/>
            <a:ext cx="2641600" cy="365125"/>
          </a:xfrm>
          <a:prstGeom prst="rect">
            <a:avLst/>
          </a:prstGeom>
        </p:spPr>
        <p:txBody>
          <a:bodyPr vert="horz" wrap="square" lIns="91440" tIns="45720" rIns="91440" bIns="45720" numCol="1" anchor="b" anchorCtr="0" compatLnSpc="1">
            <a:prstTxWarp prst="textNoShape">
              <a:avLst/>
            </a:prstTxWarp>
          </a:bodyPr>
          <a:lstStyle>
            <a:lvl1pPr algn="r">
              <a:defRPr sz="1000">
                <a:solidFill>
                  <a:schemeClr val="tx2"/>
                </a:solidFill>
                <a:latin typeface="Gill Sans MT" charset="0"/>
              </a:defRPr>
            </a:lvl1pPr>
          </a:lstStyle>
          <a:p>
            <a:fld id="{D97AE203-F84D-4A7F-B161-8561326BE072}" type="slidenum">
              <a:rPr lang="en-US"/>
              <a:pPr/>
              <a:t>‹#›</a:t>
            </a:fld>
            <a:endParaRPr lang="en-US" dirty="0"/>
          </a:p>
        </p:txBody>
      </p:sp>
    </p:spTree>
    <p:extLst>
      <p:ext uri="{BB962C8B-B14F-4D97-AF65-F5344CB8AC3E}">
        <p14:creationId xmlns:p14="http://schemas.microsoft.com/office/powerpoint/2010/main" val="414132811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2"/>
          <p:cNvSpPr>
            <a:spLocks noGrp="1" noChangeArrowheads="1"/>
          </p:cNvSpPr>
          <p:nvPr>
            <p:ph type="ftr" sz="quarter" idx="10"/>
          </p:nvPr>
        </p:nvSpPr>
        <p:spPr>
          <a:xfrm>
            <a:off x="4165600" y="6248400"/>
            <a:ext cx="3860800" cy="457200"/>
          </a:xfrm>
          <a:prstGeom prst="rect">
            <a:avLst/>
          </a:prstGeom>
        </p:spPr>
        <p:txBody>
          <a:bodyPr vert="horz" wrap="square" lIns="91440" tIns="45720" rIns="91440" bIns="45720" numCol="1" anchor="t" anchorCtr="0" compatLnSpc="1">
            <a:prstTxWarp prst="textNoShape">
              <a:avLst/>
            </a:prstTxWarp>
          </a:bodyPr>
          <a:lstStyle>
            <a:lvl1pPr>
              <a:defRPr sz="1800"/>
            </a:lvl1pPr>
          </a:lstStyle>
          <a:p>
            <a:endParaRPr lang="en-GB" dirty="0"/>
          </a:p>
        </p:txBody>
      </p:sp>
      <p:sp>
        <p:nvSpPr>
          <p:cNvPr id="3" name="Rectangle 3"/>
          <p:cNvSpPr>
            <a:spLocks noGrp="1" noChangeArrowheads="1"/>
          </p:cNvSpPr>
          <p:nvPr>
            <p:ph type="sldNum" sz="quarter" idx="11"/>
          </p:nvPr>
        </p:nvSpPr>
        <p:spPr>
          <a:xfrm>
            <a:off x="8737600" y="6248400"/>
            <a:ext cx="2844800" cy="457200"/>
          </a:xfrm>
          <a:prstGeom prst="rect">
            <a:avLst/>
          </a:prstGeom>
        </p:spPr>
        <p:txBody>
          <a:bodyPr vert="horz" wrap="square" lIns="91440" tIns="45720" rIns="91440" bIns="45720" numCol="1" anchor="t" anchorCtr="0" compatLnSpc="1">
            <a:prstTxWarp prst="textNoShape">
              <a:avLst/>
            </a:prstTxWarp>
          </a:bodyPr>
          <a:lstStyle>
            <a:lvl1pPr>
              <a:defRPr sz="1800"/>
            </a:lvl1pPr>
          </a:lstStyle>
          <a:p>
            <a:fld id="{970CC022-FA3D-4B6F-94CC-171F6923194E}" type="slidenum">
              <a:rPr lang="en-GB"/>
              <a:pPr/>
              <a:t>‹#›</a:t>
            </a:fld>
            <a:endParaRPr lang="en-GB" dirty="0"/>
          </a:p>
        </p:txBody>
      </p:sp>
      <p:sp>
        <p:nvSpPr>
          <p:cNvPr id="4" name="Rectangle 16"/>
          <p:cNvSpPr>
            <a:spLocks noGrp="1" noChangeArrowheads="1"/>
          </p:cNvSpPr>
          <p:nvPr>
            <p:ph type="dt" sz="half" idx="12"/>
          </p:nvPr>
        </p:nvSpPr>
        <p:spPr>
          <a:xfrm>
            <a:off x="609600" y="6245225"/>
            <a:ext cx="2844800" cy="476250"/>
          </a:xfrm>
          <a:prstGeom prst="rect">
            <a:avLst/>
          </a:prstGeom>
        </p:spPr>
        <p:txBody>
          <a:bodyPr vert="horz" wrap="square" lIns="91440" tIns="45720" rIns="91440" bIns="45720" numCol="1" anchor="t" anchorCtr="0" compatLnSpc="1">
            <a:prstTxWarp prst="textNoShape">
              <a:avLst/>
            </a:prstTxWarp>
          </a:bodyPr>
          <a:lstStyle>
            <a:lvl1pPr>
              <a:defRPr sz="1800"/>
            </a:lvl1pPr>
          </a:lstStyle>
          <a:p>
            <a:fld id="{0C3105CC-1B2D-4903-971E-6A5C773A19C5}" type="datetime1">
              <a:rPr lang="en-US"/>
              <a:pPr/>
              <a:t>11/14/2025</a:t>
            </a:fld>
            <a:endParaRPr lang="en-GB" dirty="0"/>
          </a:p>
        </p:txBody>
      </p:sp>
    </p:spTree>
    <p:extLst>
      <p:ext uri="{BB962C8B-B14F-4D97-AF65-F5344CB8AC3E}">
        <p14:creationId xmlns:p14="http://schemas.microsoft.com/office/powerpoint/2010/main" val="8648319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607D18-9295-5C12-B7F8-D8E3764091E6}"/>
              </a:ext>
            </a:extLst>
          </p:cNvPr>
          <p:cNvSpPr>
            <a:spLocks noGrp="1"/>
          </p:cNvSpPr>
          <p:nvPr>
            <p:ph type="title"/>
          </p:nvPr>
        </p:nvSpPr>
        <p:spPr/>
        <p:txBody>
          <a:bodyPr/>
          <a:lstStyle/>
          <a:p>
            <a:r>
              <a:rPr lang="en-US"/>
              <a:t>Click to edit Master title style</a:t>
            </a:r>
            <a:endParaRPr lang="x-none"/>
          </a:p>
        </p:txBody>
      </p:sp>
      <p:sp>
        <p:nvSpPr>
          <p:cNvPr id="3" name="Content Placeholder 2">
            <a:extLst>
              <a:ext uri="{FF2B5EF4-FFF2-40B4-BE49-F238E27FC236}">
                <a16:creationId xmlns:a16="http://schemas.microsoft.com/office/drawing/2014/main" id="{88A83A11-90E3-6BC7-796C-FBF7B434881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id="{650E7D45-0C98-9643-133E-7CF04135AD1C}"/>
              </a:ext>
            </a:extLst>
          </p:cNvPr>
          <p:cNvSpPr>
            <a:spLocks noGrp="1"/>
          </p:cNvSpPr>
          <p:nvPr>
            <p:ph type="dt" sz="half" idx="10"/>
          </p:nvPr>
        </p:nvSpPr>
        <p:spPr/>
        <p:txBody>
          <a:bodyPr/>
          <a:lstStyle/>
          <a:p>
            <a:fld id="{32B79336-2E43-44A0-ADE1-7669CAFC9F7E}" type="datetimeFigureOut">
              <a:rPr lang="x-none" smtClean="0"/>
              <a:t>14/11/2025</a:t>
            </a:fld>
            <a:endParaRPr lang="x-none"/>
          </a:p>
        </p:txBody>
      </p:sp>
      <p:sp>
        <p:nvSpPr>
          <p:cNvPr id="5" name="Footer Placeholder 4">
            <a:extLst>
              <a:ext uri="{FF2B5EF4-FFF2-40B4-BE49-F238E27FC236}">
                <a16:creationId xmlns:a16="http://schemas.microsoft.com/office/drawing/2014/main" id="{AE0FCEDC-4AD8-AC4F-ED12-34EC3D3DB4B4}"/>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13255A3-94B7-8CEE-EB38-2E387C050E75}"/>
              </a:ext>
            </a:extLst>
          </p:cNvPr>
          <p:cNvSpPr>
            <a:spLocks noGrp="1"/>
          </p:cNvSpPr>
          <p:nvPr>
            <p:ph type="sldNum" sz="quarter" idx="12"/>
          </p:nvPr>
        </p:nvSpPr>
        <p:spPr/>
        <p:txBody>
          <a:bodyPr/>
          <a:lstStyle/>
          <a:p>
            <a:fld id="{018878F0-BBE9-411C-9D0D-17F9871AB48D}" type="slidenum">
              <a:rPr lang="x-none" smtClean="0"/>
              <a:t>‹#›</a:t>
            </a:fld>
            <a:endParaRPr lang="x-none"/>
          </a:p>
        </p:txBody>
      </p:sp>
    </p:spTree>
    <p:extLst>
      <p:ext uri="{BB962C8B-B14F-4D97-AF65-F5344CB8AC3E}">
        <p14:creationId xmlns:p14="http://schemas.microsoft.com/office/powerpoint/2010/main" val="25205971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image" Target="../media/image4.png"/><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slideLayout" Target="../slideLayouts/slideLayout17.xml"/><Relationship Id="rId1" Type="http://schemas.openxmlformats.org/officeDocument/2006/relationships/slideLayout" Target="../slideLayouts/slideLayout16.xml"/><Relationship Id="rId6" Type="http://schemas.openxmlformats.org/officeDocument/2006/relationships/image" Target="../media/image2.png"/><Relationship Id="rId5" Type="http://schemas.openxmlformats.org/officeDocument/2006/relationships/theme" Target="../theme/theme3.xml"/><Relationship Id="rId4"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6" name="Text Placeholder 12"/>
          <p:cNvSpPr>
            <a:spLocks noGrp="1"/>
          </p:cNvSpPr>
          <p:nvPr>
            <p:ph type="body" idx="1"/>
          </p:nvPr>
        </p:nvSpPr>
        <p:spPr bwMode="auto">
          <a:xfrm>
            <a:off x="203200" y="1219200"/>
            <a:ext cx="11379200" cy="491013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p:txBody>
      </p:sp>
      <p:sp>
        <p:nvSpPr>
          <p:cNvPr id="28" name="Straight Connector 27"/>
          <p:cNvSpPr>
            <a:spLocks noChangeShapeType="1"/>
          </p:cNvSpPr>
          <p:nvPr/>
        </p:nvSpPr>
        <p:spPr bwMode="auto">
          <a:xfrm>
            <a:off x="203201" y="6629400"/>
            <a:ext cx="11741151" cy="0"/>
          </a:xfrm>
          <a:prstGeom prst="line">
            <a:avLst/>
          </a:prstGeom>
          <a:ln>
            <a:solidFill>
              <a:schemeClr val="tx2"/>
            </a:solidFill>
            <a:headEnd type="none" w="med" len="med"/>
            <a:tailEnd type="none" w="med" len="med"/>
          </a:ln>
        </p:spPr>
        <p:style>
          <a:lnRef idx="1">
            <a:schemeClr val="dk1"/>
          </a:lnRef>
          <a:fillRef idx="0">
            <a:schemeClr val="dk1"/>
          </a:fillRef>
          <a:effectRef idx="0">
            <a:schemeClr val="dk1"/>
          </a:effectRef>
          <a:fontRef idx="minor">
            <a:schemeClr val="tx1"/>
          </a:fontRef>
        </p:style>
        <p:txBody>
          <a:bodyPr/>
          <a:lstStyle/>
          <a:p>
            <a:pPr fontAlgn="auto">
              <a:spcBef>
                <a:spcPts val="0"/>
              </a:spcBef>
              <a:spcAft>
                <a:spcPts val="0"/>
              </a:spcAft>
              <a:defRPr/>
            </a:pPr>
            <a:endParaRPr lang="en-US" sz="1800" dirty="0"/>
          </a:p>
        </p:txBody>
      </p:sp>
      <p:pic>
        <p:nvPicPr>
          <p:cNvPr id="1028" name="Picture 1" descr="armoirie"/>
          <p:cNvPicPr>
            <a:picLocks noChangeAspect="1" noChangeArrowheads="1"/>
          </p:cNvPicPr>
          <p:nvPr/>
        </p:nvPicPr>
        <p:blipFill>
          <a:blip r:embed="rId6" cstate="print"/>
          <a:srcRect/>
          <a:stretch>
            <a:fillRect/>
          </a:stretch>
        </p:blipFill>
        <p:spPr bwMode="auto">
          <a:xfrm rot="10800000" flipH="1" flipV="1">
            <a:off x="203200" y="152400"/>
            <a:ext cx="863600" cy="820738"/>
          </a:xfrm>
          <a:prstGeom prst="rect">
            <a:avLst/>
          </a:prstGeom>
          <a:noFill/>
          <a:ln w="9525">
            <a:solidFill>
              <a:schemeClr val="bg1"/>
            </a:solidFill>
            <a:miter lim="800000"/>
            <a:headEnd/>
            <a:tailEnd/>
          </a:ln>
        </p:spPr>
      </p:pic>
    </p:spTree>
  </p:cSld>
  <p:clrMap bg1="lt1" tx1="dk1" bg2="lt2" tx2="dk2" accent1="accent1" accent2="accent2" accent3="accent3" accent4="accent4" accent5="accent5" accent6="accent6" hlink="hlink" folHlink="folHlink"/>
  <p:sldLayoutIdLst>
    <p:sldLayoutId id="2147483906" r:id="rId1"/>
    <p:sldLayoutId id="2147483907" r:id="rId2"/>
    <p:sldLayoutId id="2147483908" r:id="rId3"/>
    <p:sldLayoutId id="2147483909" r:id="rId4"/>
  </p:sldLayoutIdLst>
  <p:hf hdr="0" ftr="0" dt="0"/>
  <p:txStyles>
    <p:titleStyle>
      <a:lvl1pPr algn="l" rtl="0" eaLnBrk="0" fontAlgn="base" hangingPunct="0">
        <a:spcBef>
          <a:spcPct val="0"/>
        </a:spcBef>
        <a:spcAft>
          <a:spcPct val="0"/>
        </a:spcAft>
        <a:defRPr sz="3200" kern="1200">
          <a:solidFill>
            <a:schemeClr val="tx2"/>
          </a:solidFill>
          <a:latin typeface="+mj-lt"/>
          <a:ea typeface="ＭＳ Ｐゴシック" charset="-128"/>
          <a:cs typeface="+mj-cs"/>
        </a:defRPr>
      </a:lvl1pPr>
      <a:lvl2pPr algn="l" rtl="0" eaLnBrk="0" fontAlgn="base" hangingPunct="0">
        <a:spcBef>
          <a:spcPct val="0"/>
        </a:spcBef>
        <a:spcAft>
          <a:spcPct val="0"/>
        </a:spcAft>
        <a:defRPr sz="3200">
          <a:solidFill>
            <a:schemeClr val="tx2"/>
          </a:solidFill>
          <a:latin typeface="Bookman Old Style" pitchFamily="18" charset="0"/>
          <a:ea typeface="ＭＳ Ｐゴシック" charset="-128"/>
        </a:defRPr>
      </a:lvl2pPr>
      <a:lvl3pPr algn="l" rtl="0" eaLnBrk="0" fontAlgn="base" hangingPunct="0">
        <a:spcBef>
          <a:spcPct val="0"/>
        </a:spcBef>
        <a:spcAft>
          <a:spcPct val="0"/>
        </a:spcAft>
        <a:defRPr sz="3200">
          <a:solidFill>
            <a:schemeClr val="tx2"/>
          </a:solidFill>
          <a:latin typeface="Bookman Old Style" pitchFamily="18" charset="0"/>
          <a:ea typeface="ＭＳ Ｐゴシック" charset="-128"/>
        </a:defRPr>
      </a:lvl3pPr>
      <a:lvl4pPr algn="l" rtl="0" eaLnBrk="0" fontAlgn="base" hangingPunct="0">
        <a:spcBef>
          <a:spcPct val="0"/>
        </a:spcBef>
        <a:spcAft>
          <a:spcPct val="0"/>
        </a:spcAft>
        <a:defRPr sz="3200">
          <a:solidFill>
            <a:schemeClr val="tx2"/>
          </a:solidFill>
          <a:latin typeface="Bookman Old Style" pitchFamily="18" charset="0"/>
          <a:ea typeface="ＭＳ Ｐゴシック" charset="-128"/>
        </a:defRPr>
      </a:lvl4pPr>
      <a:lvl5pPr algn="l" rtl="0" eaLnBrk="0" fontAlgn="base" hangingPunct="0">
        <a:spcBef>
          <a:spcPct val="0"/>
        </a:spcBef>
        <a:spcAft>
          <a:spcPct val="0"/>
        </a:spcAft>
        <a:defRPr sz="3200">
          <a:solidFill>
            <a:schemeClr val="tx2"/>
          </a:solidFill>
          <a:latin typeface="Bookman Old Style" pitchFamily="18" charset="0"/>
          <a:ea typeface="ＭＳ Ｐゴシック" charset="-128"/>
        </a:defRPr>
      </a:lvl5pPr>
      <a:lvl6pPr marL="457200" algn="l" rtl="0" fontAlgn="base">
        <a:spcBef>
          <a:spcPct val="0"/>
        </a:spcBef>
        <a:spcAft>
          <a:spcPct val="0"/>
        </a:spcAft>
        <a:defRPr sz="3200">
          <a:solidFill>
            <a:schemeClr val="tx2"/>
          </a:solidFill>
          <a:latin typeface="Bookman Old Style" pitchFamily="18" charset="0"/>
        </a:defRPr>
      </a:lvl6pPr>
      <a:lvl7pPr marL="914400" algn="l" rtl="0" fontAlgn="base">
        <a:spcBef>
          <a:spcPct val="0"/>
        </a:spcBef>
        <a:spcAft>
          <a:spcPct val="0"/>
        </a:spcAft>
        <a:defRPr sz="3200">
          <a:solidFill>
            <a:schemeClr val="tx2"/>
          </a:solidFill>
          <a:latin typeface="Bookman Old Style" pitchFamily="18" charset="0"/>
        </a:defRPr>
      </a:lvl7pPr>
      <a:lvl8pPr marL="1371600" algn="l" rtl="0" fontAlgn="base">
        <a:spcBef>
          <a:spcPct val="0"/>
        </a:spcBef>
        <a:spcAft>
          <a:spcPct val="0"/>
        </a:spcAft>
        <a:defRPr sz="3200">
          <a:solidFill>
            <a:schemeClr val="tx2"/>
          </a:solidFill>
          <a:latin typeface="Bookman Old Style" pitchFamily="18" charset="0"/>
        </a:defRPr>
      </a:lvl8pPr>
      <a:lvl9pPr marL="1828800" algn="l" rtl="0" fontAlgn="base">
        <a:spcBef>
          <a:spcPct val="0"/>
        </a:spcBef>
        <a:spcAft>
          <a:spcPct val="0"/>
        </a:spcAft>
        <a:defRPr sz="3200">
          <a:solidFill>
            <a:schemeClr val="tx2"/>
          </a:solidFill>
          <a:latin typeface="Bookman Old Style" pitchFamily="18" charset="0"/>
        </a:defRPr>
      </a:lvl9pPr>
    </p:titleStyle>
    <p:body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4BF5A59-B018-E644-7607-2B768C0054FF}"/>
              </a:ext>
            </a:extLst>
          </p:cNvPr>
          <p:cNvSpPr>
            <a:spLocks noGrp="1"/>
          </p:cNvSpPr>
          <p:nvPr>
            <p:ph type="title"/>
          </p:nvPr>
        </p:nvSpPr>
        <p:spPr>
          <a:xfrm>
            <a:off x="838200" y="946659"/>
            <a:ext cx="10515600" cy="523220"/>
          </a:xfrm>
          <a:prstGeom prst="rect">
            <a:avLst/>
          </a:prstGeom>
        </p:spPr>
        <p:txBody>
          <a:bodyPr vert="horz" lIns="91440" tIns="45720" rIns="91440" bIns="45720" rtlCol="0" anchor="b">
            <a:normAutofit/>
          </a:bodyPr>
          <a:lstStyle/>
          <a:p>
            <a:pPr lvl="0" algn="ctr"/>
            <a:r>
              <a:rPr lang="en-US" dirty="0"/>
              <a:t>Click to edit Master title style</a:t>
            </a:r>
          </a:p>
        </p:txBody>
      </p:sp>
      <p:sp>
        <p:nvSpPr>
          <p:cNvPr id="3" name="Text Placeholder 2">
            <a:extLst>
              <a:ext uri="{FF2B5EF4-FFF2-40B4-BE49-F238E27FC236}">
                <a16:creationId xmlns:a16="http://schemas.microsoft.com/office/drawing/2014/main" id="{4DDB2F0B-9D89-A110-3EF3-4D5470AC3AC6}"/>
              </a:ext>
            </a:extLst>
          </p:cNvPr>
          <p:cNvSpPr>
            <a:spLocks noGrp="1"/>
          </p:cNvSpPr>
          <p:nvPr>
            <p:ph type="body" idx="1"/>
          </p:nvPr>
        </p:nvSpPr>
        <p:spPr>
          <a:xfrm>
            <a:off x="838200" y="1548397"/>
            <a:ext cx="10515600" cy="462856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20E6DB9-30EE-BD7A-21FA-9CEA5DE8423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Bahnschrift Light SemiCondensed" panose="020B0502040204020203" pitchFamily="34" charset="0"/>
              </a:defRPr>
            </a:lvl1pPr>
          </a:lstStyle>
          <a:p>
            <a:fld id="{25418435-C720-449D-B816-40E688690315}" type="datetimeFigureOut">
              <a:rPr lang="en-US" smtClean="0"/>
              <a:pPr/>
              <a:t>11/14/2025</a:t>
            </a:fld>
            <a:endParaRPr lang="en-US"/>
          </a:p>
        </p:txBody>
      </p:sp>
      <p:sp>
        <p:nvSpPr>
          <p:cNvPr id="5" name="Footer Placeholder 4">
            <a:extLst>
              <a:ext uri="{FF2B5EF4-FFF2-40B4-BE49-F238E27FC236}">
                <a16:creationId xmlns:a16="http://schemas.microsoft.com/office/drawing/2014/main" id="{52BBC8C5-01D9-BD5B-4B6F-E0D27B6DF3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Bahnschrift Light SemiCondensed" panose="020B0502040204020203" pitchFamily="34" charset="0"/>
              </a:defRPr>
            </a:lvl1pPr>
          </a:lstStyle>
          <a:p>
            <a:endParaRPr lang="en-US" dirty="0"/>
          </a:p>
        </p:txBody>
      </p:sp>
      <p:sp>
        <p:nvSpPr>
          <p:cNvPr id="6" name="Slide Number Placeholder 5">
            <a:extLst>
              <a:ext uri="{FF2B5EF4-FFF2-40B4-BE49-F238E27FC236}">
                <a16:creationId xmlns:a16="http://schemas.microsoft.com/office/drawing/2014/main" id="{37262C13-4287-8CA5-6198-EE3FEDF663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Bahnschrift Light SemiCondensed" panose="020B0502040204020203" pitchFamily="34" charset="0"/>
              </a:defRPr>
            </a:lvl1pPr>
          </a:lstStyle>
          <a:p>
            <a:fld id="{D41F6BB1-3072-477A-8416-723305CEF715}" type="slidenum">
              <a:rPr lang="en-US" smtClean="0"/>
              <a:pPr/>
              <a:t>‹#›</a:t>
            </a:fld>
            <a:endParaRPr lang="en-US"/>
          </a:p>
        </p:txBody>
      </p:sp>
      <p:sp>
        <p:nvSpPr>
          <p:cNvPr id="7" name="TextBox 6">
            <a:extLst>
              <a:ext uri="{FF2B5EF4-FFF2-40B4-BE49-F238E27FC236}">
                <a16:creationId xmlns:a16="http://schemas.microsoft.com/office/drawing/2014/main" id="{0DEE7FC1-0F67-52EB-4B9B-BA1536A1B871}"/>
              </a:ext>
            </a:extLst>
          </p:cNvPr>
          <p:cNvSpPr txBox="1"/>
          <p:nvPr userDrawn="1"/>
        </p:nvSpPr>
        <p:spPr>
          <a:xfrm>
            <a:off x="9184956" y="266195"/>
            <a:ext cx="2743198" cy="276999"/>
          </a:xfrm>
          <a:prstGeom prst="rect">
            <a:avLst/>
          </a:prstGeom>
          <a:noFill/>
        </p:spPr>
        <p:txBody>
          <a:bodyPr wrap="square" rtlCol="0">
            <a:spAutoFit/>
          </a:bodyPr>
          <a:lstStyle/>
          <a:p>
            <a:pPr algn="r"/>
            <a:r>
              <a:rPr lang="en-US" sz="1200" b="1" dirty="0">
                <a:solidFill>
                  <a:schemeClr val="tx1">
                    <a:alpha val="26000"/>
                  </a:schemeClr>
                </a:solidFill>
                <a:latin typeface="Bahnschrift Light Condensed" panose="020B0502040204020203" pitchFamily="34" charset="0"/>
              </a:rPr>
              <a:t>Quarterly </a:t>
            </a:r>
            <a:r>
              <a:rPr lang="en-US" sz="1200" b="1" dirty="0" err="1">
                <a:solidFill>
                  <a:schemeClr val="tx1">
                    <a:alpha val="26000"/>
                  </a:schemeClr>
                </a:solidFill>
                <a:latin typeface="Bahnschrift Light Condensed" panose="020B0502040204020203" pitchFamily="34" charset="0"/>
              </a:rPr>
              <a:t>MacroFiscal</a:t>
            </a:r>
            <a:r>
              <a:rPr lang="en-US" sz="1200" b="1" dirty="0">
                <a:solidFill>
                  <a:schemeClr val="tx1">
                    <a:alpha val="26000"/>
                  </a:schemeClr>
                </a:solidFill>
                <a:latin typeface="Bahnschrift Light Condensed" panose="020B0502040204020203" pitchFamily="34" charset="0"/>
              </a:rPr>
              <a:t> Model (QMFM)</a:t>
            </a:r>
          </a:p>
        </p:txBody>
      </p:sp>
      <p:pic>
        <p:nvPicPr>
          <p:cNvPr id="9" name="Picture 8">
            <a:extLst>
              <a:ext uri="{FF2B5EF4-FFF2-40B4-BE49-F238E27FC236}">
                <a16:creationId xmlns:a16="http://schemas.microsoft.com/office/drawing/2014/main" id="{96685403-7BBD-6A57-0C45-F6343FBA9BF2}"/>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291061" y="98440"/>
            <a:ext cx="685800" cy="752889"/>
          </a:xfrm>
          <a:prstGeom prst="rect">
            <a:avLst/>
          </a:prstGeom>
        </p:spPr>
      </p:pic>
      <p:sp>
        <p:nvSpPr>
          <p:cNvPr id="8" name="TextBox 7">
            <a:extLst>
              <a:ext uri="{FF2B5EF4-FFF2-40B4-BE49-F238E27FC236}">
                <a16:creationId xmlns:a16="http://schemas.microsoft.com/office/drawing/2014/main" id="{9C3D7134-32AC-814F-E326-42F953FCCD1D}"/>
              </a:ext>
            </a:extLst>
          </p:cNvPr>
          <p:cNvSpPr txBox="1"/>
          <p:nvPr userDrawn="1"/>
        </p:nvSpPr>
        <p:spPr>
          <a:xfrm>
            <a:off x="976861" y="182497"/>
            <a:ext cx="2057400" cy="584775"/>
          </a:xfrm>
          <a:prstGeom prst="rect">
            <a:avLst/>
          </a:prstGeom>
          <a:noFill/>
        </p:spPr>
        <p:txBody>
          <a:bodyPr wrap="square" rtlCol="0">
            <a:spAutoFit/>
          </a:bodyPr>
          <a:lstStyle/>
          <a:p>
            <a:pPr algn="l"/>
            <a:r>
              <a:rPr lang="en-US" sz="1600" b="1" dirty="0">
                <a:solidFill>
                  <a:schemeClr val="tx1"/>
                </a:solidFill>
                <a:latin typeface="Bahnschrift Light Condensed" panose="020B0502040204020203" pitchFamily="34" charset="0"/>
              </a:rPr>
              <a:t>Ministry of Finance and Economic Planning</a:t>
            </a:r>
          </a:p>
        </p:txBody>
      </p:sp>
      <p:grpSp>
        <p:nvGrpSpPr>
          <p:cNvPr id="41" name="Group 40">
            <a:extLst>
              <a:ext uri="{FF2B5EF4-FFF2-40B4-BE49-F238E27FC236}">
                <a16:creationId xmlns:a16="http://schemas.microsoft.com/office/drawing/2014/main" id="{533E20EA-1628-2B2A-A3E8-BCC8040BE9AF}"/>
              </a:ext>
            </a:extLst>
          </p:cNvPr>
          <p:cNvGrpSpPr/>
          <p:nvPr userDrawn="1"/>
        </p:nvGrpSpPr>
        <p:grpSpPr>
          <a:xfrm>
            <a:off x="11914707" y="2140515"/>
            <a:ext cx="179811" cy="3721558"/>
            <a:chOff x="11773967" y="1367522"/>
            <a:chExt cx="179811" cy="3721558"/>
          </a:xfrm>
        </p:grpSpPr>
        <p:cxnSp>
          <p:nvCxnSpPr>
            <p:cNvPr id="16" name="Straight Connector 15">
              <a:extLst>
                <a:ext uri="{FF2B5EF4-FFF2-40B4-BE49-F238E27FC236}">
                  <a16:creationId xmlns:a16="http://schemas.microsoft.com/office/drawing/2014/main" id="{F0271194-5E18-B988-8451-55421FB11224}"/>
                </a:ext>
              </a:extLst>
            </p:cNvPr>
            <p:cNvCxnSpPr>
              <a:cxnSpLocks/>
            </p:cNvCxnSpPr>
            <p:nvPr userDrawn="1"/>
          </p:nvCxnSpPr>
          <p:spPr>
            <a:xfrm>
              <a:off x="11812555" y="4613219"/>
              <a:ext cx="0" cy="475861"/>
            </a:xfrm>
            <a:prstGeom prst="line">
              <a:avLst/>
            </a:prstGeom>
            <a:ln w="73025" cap="rnd">
              <a:solidFill>
                <a:srgbClr val="109351"/>
              </a:solidFill>
              <a:beve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5CEEFD0-3B63-D760-590E-FCFA9EF35262}"/>
                </a:ext>
              </a:extLst>
            </p:cNvPr>
            <p:cNvCxnSpPr>
              <a:cxnSpLocks/>
            </p:cNvCxnSpPr>
            <p:nvPr userDrawn="1"/>
          </p:nvCxnSpPr>
          <p:spPr>
            <a:xfrm>
              <a:off x="11905862" y="4189445"/>
              <a:ext cx="0" cy="475861"/>
            </a:xfrm>
            <a:prstGeom prst="line">
              <a:avLst/>
            </a:prstGeom>
            <a:ln w="73025" cap="rnd">
              <a:solidFill>
                <a:srgbClr val="109351"/>
              </a:solidFill>
              <a:beve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EE86D6-C30B-8306-1F11-98F29A7A4442}"/>
                </a:ext>
              </a:extLst>
            </p:cNvPr>
            <p:cNvCxnSpPr>
              <a:cxnSpLocks/>
            </p:cNvCxnSpPr>
            <p:nvPr userDrawn="1"/>
          </p:nvCxnSpPr>
          <p:spPr>
            <a:xfrm>
              <a:off x="11812556" y="3786690"/>
              <a:ext cx="0" cy="475861"/>
            </a:xfrm>
            <a:prstGeom prst="line">
              <a:avLst/>
            </a:prstGeom>
            <a:ln w="73025" cap="rnd">
              <a:solidFill>
                <a:srgbClr val="109351"/>
              </a:solidFill>
              <a:beve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54870C66-FBF3-3EFE-AA9D-6D111EA8A07F}"/>
                </a:ext>
              </a:extLst>
            </p:cNvPr>
            <p:cNvCxnSpPr>
              <a:cxnSpLocks/>
            </p:cNvCxnSpPr>
            <p:nvPr userDrawn="1"/>
          </p:nvCxnSpPr>
          <p:spPr>
            <a:xfrm>
              <a:off x="11915192" y="3384473"/>
              <a:ext cx="0" cy="475861"/>
            </a:xfrm>
            <a:prstGeom prst="line">
              <a:avLst/>
            </a:prstGeom>
            <a:ln w="73025" cap="rnd">
              <a:solidFill>
                <a:srgbClr val="FAD644"/>
              </a:solidFill>
              <a:beve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8CE828D8-2892-806A-A619-C3B9C0D89F02}"/>
                </a:ext>
              </a:extLst>
            </p:cNvPr>
            <p:cNvCxnSpPr>
              <a:cxnSpLocks/>
            </p:cNvCxnSpPr>
            <p:nvPr userDrawn="1"/>
          </p:nvCxnSpPr>
          <p:spPr>
            <a:xfrm>
              <a:off x="11812555" y="3020579"/>
              <a:ext cx="0" cy="475861"/>
            </a:xfrm>
            <a:prstGeom prst="line">
              <a:avLst/>
            </a:prstGeom>
            <a:ln w="73025" cap="rnd">
              <a:solidFill>
                <a:srgbClr val="FAD644"/>
              </a:solidFill>
              <a:beve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9C24050-BCDF-F60D-273C-2253F9268913}"/>
                </a:ext>
              </a:extLst>
            </p:cNvPr>
            <p:cNvCxnSpPr>
              <a:cxnSpLocks/>
            </p:cNvCxnSpPr>
            <p:nvPr userDrawn="1"/>
          </p:nvCxnSpPr>
          <p:spPr>
            <a:xfrm>
              <a:off x="11905862" y="2577375"/>
              <a:ext cx="0" cy="475861"/>
            </a:xfrm>
            <a:prstGeom prst="line">
              <a:avLst/>
            </a:prstGeom>
            <a:ln w="73025" cap="rnd">
              <a:solidFill>
                <a:srgbClr val="FAD644"/>
              </a:solidFill>
              <a:beve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64B3EA7-8B35-59B3-A7D4-5F95CA32EC55}"/>
                </a:ext>
              </a:extLst>
            </p:cNvPr>
            <p:cNvCxnSpPr>
              <a:cxnSpLocks/>
            </p:cNvCxnSpPr>
            <p:nvPr userDrawn="1"/>
          </p:nvCxnSpPr>
          <p:spPr>
            <a:xfrm>
              <a:off x="11812555" y="2194051"/>
              <a:ext cx="0" cy="475861"/>
            </a:xfrm>
            <a:prstGeom prst="line">
              <a:avLst/>
            </a:prstGeom>
            <a:ln w="73025" cap="rnd">
              <a:solidFill>
                <a:srgbClr val="008BCC"/>
              </a:solidFill>
              <a:beve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C9B42D6-2704-1195-5E76-9FEAD5D2232B}"/>
                </a:ext>
              </a:extLst>
            </p:cNvPr>
            <p:cNvCxnSpPr>
              <a:cxnSpLocks/>
            </p:cNvCxnSpPr>
            <p:nvPr userDrawn="1"/>
          </p:nvCxnSpPr>
          <p:spPr>
            <a:xfrm>
              <a:off x="11905862" y="1770277"/>
              <a:ext cx="0" cy="475861"/>
            </a:xfrm>
            <a:prstGeom prst="line">
              <a:avLst/>
            </a:prstGeom>
            <a:ln w="73025" cap="rnd">
              <a:solidFill>
                <a:srgbClr val="008BCC"/>
              </a:solidFill>
              <a:beve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6DF1DE02-10B9-EC4A-03C2-28CCAF5D7486}"/>
                </a:ext>
              </a:extLst>
            </p:cNvPr>
            <p:cNvCxnSpPr>
              <a:cxnSpLocks/>
            </p:cNvCxnSpPr>
            <p:nvPr userDrawn="1"/>
          </p:nvCxnSpPr>
          <p:spPr>
            <a:xfrm>
              <a:off x="11812556" y="1367522"/>
              <a:ext cx="0" cy="475861"/>
            </a:xfrm>
            <a:prstGeom prst="line">
              <a:avLst/>
            </a:prstGeom>
            <a:ln w="73025" cap="rnd">
              <a:solidFill>
                <a:srgbClr val="008BCC"/>
              </a:solidFill>
              <a:bevel/>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7F5A9003-71C1-28DB-3369-068EC9328229}"/>
                </a:ext>
              </a:extLst>
            </p:cNvPr>
            <p:cNvSpPr/>
            <p:nvPr userDrawn="1"/>
          </p:nvSpPr>
          <p:spPr>
            <a:xfrm>
              <a:off x="11773968" y="1978831"/>
              <a:ext cx="77173" cy="77173"/>
            </a:xfrm>
            <a:prstGeom prst="ellipse">
              <a:avLst/>
            </a:prstGeom>
            <a:solidFill>
              <a:srgbClr val="008B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A33D68EB-81BE-458F-BD7A-D624523A2772}"/>
                </a:ext>
              </a:extLst>
            </p:cNvPr>
            <p:cNvSpPr/>
            <p:nvPr userDrawn="1"/>
          </p:nvSpPr>
          <p:spPr>
            <a:xfrm>
              <a:off x="11876605" y="2373170"/>
              <a:ext cx="77173" cy="77173"/>
            </a:xfrm>
            <a:prstGeom prst="ellipse">
              <a:avLst/>
            </a:prstGeom>
            <a:solidFill>
              <a:srgbClr val="008B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ACA9F18B-AF0C-5FB3-9F9B-C8A8829488AC}"/>
                </a:ext>
              </a:extLst>
            </p:cNvPr>
            <p:cNvSpPr/>
            <p:nvPr userDrawn="1"/>
          </p:nvSpPr>
          <p:spPr>
            <a:xfrm>
              <a:off x="11773967" y="2811651"/>
              <a:ext cx="77173" cy="77173"/>
            </a:xfrm>
            <a:prstGeom prst="ellipse">
              <a:avLst/>
            </a:prstGeom>
            <a:solidFill>
              <a:srgbClr val="FAD6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7D11D928-D70D-DF9F-B57F-067D5DA97BDF}"/>
                </a:ext>
              </a:extLst>
            </p:cNvPr>
            <p:cNvSpPr/>
            <p:nvPr userDrawn="1"/>
          </p:nvSpPr>
          <p:spPr>
            <a:xfrm>
              <a:off x="11867275" y="3184646"/>
              <a:ext cx="77173" cy="77173"/>
            </a:xfrm>
            <a:prstGeom prst="ellipse">
              <a:avLst/>
            </a:prstGeom>
            <a:solidFill>
              <a:srgbClr val="FAD6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0875CCBD-0B8E-F194-AD05-7B99DFCCDA11}"/>
                </a:ext>
              </a:extLst>
            </p:cNvPr>
            <p:cNvSpPr/>
            <p:nvPr userDrawn="1"/>
          </p:nvSpPr>
          <p:spPr>
            <a:xfrm>
              <a:off x="11773967" y="3611809"/>
              <a:ext cx="77173" cy="77173"/>
            </a:xfrm>
            <a:prstGeom prst="ellipse">
              <a:avLst/>
            </a:prstGeom>
            <a:solidFill>
              <a:srgbClr val="FAD6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667C7FE4-EF8A-A30B-8556-3BF9B116FEF7}"/>
                </a:ext>
              </a:extLst>
            </p:cNvPr>
            <p:cNvSpPr/>
            <p:nvPr userDrawn="1"/>
          </p:nvSpPr>
          <p:spPr>
            <a:xfrm>
              <a:off x="11876604" y="3980862"/>
              <a:ext cx="77173" cy="77173"/>
            </a:xfrm>
            <a:prstGeom prst="ellipse">
              <a:avLst/>
            </a:prstGeom>
            <a:solidFill>
              <a:srgbClr val="1093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A272ED5B-ABBD-0FC1-E9C7-B05B0736DE9D}"/>
                </a:ext>
              </a:extLst>
            </p:cNvPr>
            <p:cNvSpPr/>
            <p:nvPr userDrawn="1"/>
          </p:nvSpPr>
          <p:spPr>
            <a:xfrm>
              <a:off x="11773967" y="4399298"/>
              <a:ext cx="77173" cy="77173"/>
            </a:xfrm>
            <a:prstGeom prst="ellipse">
              <a:avLst/>
            </a:prstGeom>
            <a:solidFill>
              <a:srgbClr val="1093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98F157A8-F470-DA23-16CF-4BE1AB262AD7}"/>
                </a:ext>
              </a:extLst>
            </p:cNvPr>
            <p:cNvSpPr/>
            <p:nvPr userDrawn="1"/>
          </p:nvSpPr>
          <p:spPr>
            <a:xfrm>
              <a:off x="11867274" y="4782238"/>
              <a:ext cx="77173" cy="77173"/>
            </a:xfrm>
            <a:prstGeom prst="ellipse">
              <a:avLst/>
            </a:prstGeom>
            <a:solidFill>
              <a:srgbClr val="1093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BCE27AEA-9A4A-AABC-29C2-4990604BCA3F}"/>
                </a:ext>
              </a:extLst>
            </p:cNvPr>
            <p:cNvSpPr/>
            <p:nvPr userDrawn="1"/>
          </p:nvSpPr>
          <p:spPr>
            <a:xfrm>
              <a:off x="11876603" y="1566865"/>
              <a:ext cx="77173" cy="77173"/>
            </a:xfrm>
            <a:prstGeom prst="ellipse">
              <a:avLst/>
            </a:prstGeom>
            <a:solidFill>
              <a:srgbClr val="008B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2" name="Group 41">
            <a:extLst>
              <a:ext uri="{FF2B5EF4-FFF2-40B4-BE49-F238E27FC236}">
                <a16:creationId xmlns:a16="http://schemas.microsoft.com/office/drawing/2014/main" id="{60BFDD5D-E9D3-A18F-6C1A-8E36E735BE9F}"/>
              </a:ext>
            </a:extLst>
          </p:cNvPr>
          <p:cNvGrpSpPr/>
          <p:nvPr userDrawn="1"/>
        </p:nvGrpSpPr>
        <p:grpSpPr>
          <a:xfrm>
            <a:off x="106812" y="2140515"/>
            <a:ext cx="179811" cy="3721558"/>
            <a:chOff x="11773967" y="1367522"/>
            <a:chExt cx="179811" cy="3721558"/>
          </a:xfrm>
        </p:grpSpPr>
        <p:cxnSp>
          <p:nvCxnSpPr>
            <p:cNvPr id="43" name="Straight Connector 42">
              <a:extLst>
                <a:ext uri="{FF2B5EF4-FFF2-40B4-BE49-F238E27FC236}">
                  <a16:creationId xmlns:a16="http://schemas.microsoft.com/office/drawing/2014/main" id="{2E90D111-1D56-F61F-7AF8-02E148449B43}"/>
                </a:ext>
              </a:extLst>
            </p:cNvPr>
            <p:cNvCxnSpPr>
              <a:cxnSpLocks/>
            </p:cNvCxnSpPr>
            <p:nvPr userDrawn="1"/>
          </p:nvCxnSpPr>
          <p:spPr>
            <a:xfrm>
              <a:off x="11812555" y="4613219"/>
              <a:ext cx="0" cy="475861"/>
            </a:xfrm>
            <a:prstGeom prst="line">
              <a:avLst/>
            </a:prstGeom>
            <a:ln w="73025" cap="rnd">
              <a:solidFill>
                <a:srgbClr val="109351"/>
              </a:solidFill>
              <a:beve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339BF5A0-A616-F9C1-4375-EBDCA6F2450A}"/>
                </a:ext>
              </a:extLst>
            </p:cNvPr>
            <p:cNvCxnSpPr>
              <a:cxnSpLocks/>
            </p:cNvCxnSpPr>
            <p:nvPr userDrawn="1"/>
          </p:nvCxnSpPr>
          <p:spPr>
            <a:xfrm>
              <a:off x="11905862" y="4189445"/>
              <a:ext cx="0" cy="475861"/>
            </a:xfrm>
            <a:prstGeom prst="line">
              <a:avLst/>
            </a:prstGeom>
            <a:ln w="73025" cap="rnd">
              <a:solidFill>
                <a:srgbClr val="109351"/>
              </a:solidFill>
              <a:beve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09B0F3FE-3FE9-DBB9-A1AA-5A5EDA61A82F}"/>
                </a:ext>
              </a:extLst>
            </p:cNvPr>
            <p:cNvCxnSpPr>
              <a:cxnSpLocks/>
            </p:cNvCxnSpPr>
            <p:nvPr userDrawn="1"/>
          </p:nvCxnSpPr>
          <p:spPr>
            <a:xfrm>
              <a:off x="11812556" y="3786690"/>
              <a:ext cx="0" cy="475861"/>
            </a:xfrm>
            <a:prstGeom prst="line">
              <a:avLst/>
            </a:prstGeom>
            <a:ln w="73025" cap="rnd">
              <a:solidFill>
                <a:srgbClr val="109351"/>
              </a:solidFill>
              <a:beve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B5E4C7E-E0C5-3A90-1B7E-250F0F9B79C1}"/>
                </a:ext>
              </a:extLst>
            </p:cNvPr>
            <p:cNvCxnSpPr>
              <a:cxnSpLocks/>
            </p:cNvCxnSpPr>
            <p:nvPr userDrawn="1"/>
          </p:nvCxnSpPr>
          <p:spPr>
            <a:xfrm>
              <a:off x="11915192" y="3384473"/>
              <a:ext cx="0" cy="475861"/>
            </a:xfrm>
            <a:prstGeom prst="line">
              <a:avLst/>
            </a:prstGeom>
            <a:ln w="73025" cap="rnd">
              <a:solidFill>
                <a:srgbClr val="FAD644"/>
              </a:solidFill>
              <a:beve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759E9BC-C992-4034-E847-F368F47127BA}"/>
                </a:ext>
              </a:extLst>
            </p:cNvPr>
            <p:cNvCxnSpPr>
              <a:cxnSpLocks/>
            </p:cNvCxnSpPr>
            <p:nvPr userDrawn="1"/>
          </p:nvCxnSpPr>
          <p:spPr>
            <a:xfrm>
              <a:off x="11812555" y="3020579"/>
              <a:ext cx="0" cy="475861"/>
            </a:xfrm>
            <a:prstGeom prst="line">
              <a:avLst/>
            </a:prstGeom>
            <a:ln w="73025" cap="rnd">
              <a:solidFill>
                <a:srgbClr val="FAD644"/>
              </a:solidFill>
              <a:beve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14E36CE0-2FDB-9EE1-7529-DDA254E48C2C}"/>
                </a:ext>
              </a:extLst>
            </p:cNvPr>
            <p:cNvCxnSpPr>
              <a:cxnSpLocks/>
            </p:cNvCxnSpPr>
            <p:nvPr userDrawn="1"/>
          </p:nvCxnSpPr>
          <p:spPr>
            <a:xfrm>
              <a:off x="11905862" y="2577375"/>
              <a:ext cx="0" cy="475861"/>
            </a:xfrm>
            <a:prstGeom prst="line">
              <a:avLst/>
            </a:prstGeom>
            <a:ln w="73025" cap="rnd">
              <a:solidFill>
                <a:srgbClr val="FAD644"/>
              </a:solidFill>
              <a:beve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A13F9AD5-0323-288C-B4BC-00DEEB0143DE}"/>
                </a:ext>
              </a:extLst>
            </p:cNvPr>
            <p:cNvCxnSpPr>
              <a:cxnSpLocks/>
            </p:cNvCxnSpPr>
            <p:nvPr userDrawn="1"/>
          </p:nvCxnSpPr>
          <p:spPr>
            <a:xfrm>
              <a:off x="11812555" y="2194051"/>
              <a:ext cx="0" cy="475861"/>
            </a:xfrm>
            <a:prstGeom prst="line">
              <a:avLst/>
            </a:prstGeom>
            <a:ln w="73025" cap="rnd">
              <a:solidFill>
                <a:srgbClr val="008BCC"/>
              </a:solidFill>
              <a:beve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C302256-9149-54B8-F58D-102A6CA5374F}"/>
                </a:ext>
              </a:extLst>
            </p:cNvPr>
            <p:cNvCxnSpPr>
              <a:cxnSpLocks/>
            </p:cNvCxnSpPr>
            <p:nvPr userDrawn="1"/>
          </p:nvCxnSpPr>
          <p:spPr>
            <a:xfrm>
              <a:off x="11905862" y="1770277"/>
              <a:ext cx="0" cy="475861"/>
            </a:xfrm>
            <a:prstGeom prst="line">
              <a:avLst/>
            </a:prstGeom>
            <a:ln w="73025" cap="rnd">
              <a:solidFill>
                <a:srgbClr val="008BCC"/>
              </a:solidFill>
              <a:beve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740005EF-F712-1A4E-8CF7-4B101B9385EA}"/>
                </a:ext>
              </a:extLst>
            </p:cNvPr>
            <p:cNvCxnSpPr>
              <a:cxnSpLocks/>
            </p:cNvCxnSpPr>
            <p:nvPr userDrawn="1"/>
          </p:nvCxnSpPr>
          <p:spPr>
            <a:xfrm>
              <a:off x="11812556" y="1367522"/>
              <a:ext cx="0" cy="475861"/>
            </a:xfrm>
            <a:prstGeom prst="line">
              <a:avLst/>
            </a:prstGeom>
            <a:ln w="73025" cap="rnd">
              <a:solidFill>
                <a:srgbClr val="008BCC"/>
              </a:solidFill>
              <a:bevel/>
            </a:ln>
          </p:spPr>
          <p:style>
            <a:lnRef idx="1">
              <a:schemeClr val="accent1"/>
            </a:lnRef>
            <a:fillRef idx="0">
              <a:schemeClr val="accent1"/>
            </a:fillRef>
            <a:effectRef idx="0">
              <a:schemeClr val="accent1"/>
            </a:effectRef>
            <a:fontRef idx="minor">
              <a:schemeClr val="tx1"/>
            </a:fontRef>
          </p:style>
        </p:cxnSp>
        <p:sp>
          <p:nvSpPr>
            <p:cNvPr id="52" name="Oval 51">
              <a:extLst>
                <a:ext uri="{FF2B5EF4-FFF2-40B4-BE49-F238E27FC236}">
                  <a16:creationId xmlns:a16="http://schemas.microsoft.com/office/drawing/2014/main" id="{E651667B-31CC-F91D-2150-789398A79EA0}"/>
                </a:ext>
              </a:extLst>
            </p:cNvPr>
            <p:cNvSpPr/>
            <p:nvPr userDrawn="1"/>
          </p:nvSpPr>
          <p:spPr>
            <a:xfrm>
              <a:off x="11773968" y="1978831"/>
              <a:ext cx="77173" cy="77173"/>
            </a:xfrm>
            <a:prstGeom prst="ellipse">
              <a:avLst/>
            </a:prstGeom>
            <a:solidFill>
              <a:srgbClr val="008B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7DB018D8-2EF5-9A97-ECA6-3EAC02944669}"/>
                </a:ext>
              </a:extLst>
            </p:cNvPr>
            <p:cNvSpPr/>
            <p:nvPr userDrawn="1"/>
          </p:nvSpPr>
          <p:spPr>
            <a:xfrm>
              <a:off x="11876605" y="2373170"/>
              <a:ext cx="77173" cy="77173"/>
            </a:xfrm>
            <a:prstGeom prst="ellipse">
              <a:avLst/>
            </a:prstGeom>
            <a:solidFill>
              <a:srgbClr val="008B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3E3E30C8-9AB4-DCDE-B2B4-CC8A62D3ED7B}"/>
                </a:ext>
              </a:extLst>
            </p:cNvPr>
            <p:cNvSpPr/>
            <p:nvPr userDrawn="1"/>
          </p:nvSpPr>
          <p:spPr>
            <a:xfrm>
              <a:off x="11773967" y="2811651"/>
              <a:ext cx="77173" cy="77173"/>
            </a:xfrm>
            <a:prstGeom prst="ellipse">
              <a:avLst/>
            </a:prstGeom>
            <a:solidFill>
              <a:srgbClr val="FAD6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2965E4C7-016D-3E91-47F9-34C38241BE40}"/>
                </a:ext>
              </a:extLst>
            </p:cNvPr>
            <p:cNvSpPr/>
            <p:nvPr userDrawn="1"/>
          </p:nvSpPr>
          <p:spPr>
            <a:xfrm>
              <a:off x="11867275" y="3184646"/>
              <a:ext cx="77173" cy="77173"/>
            </a:xfrm>
            <a:prstGeom prst="ellipse">
              <a:avLst/>
            </a:prstGeom>
            <a:solidFill>
              <a:srgbClr val="FAD6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1A216DA0-7AB9-DC0F-EB9B-94A71B678E08}"/>
                </a:ext>
              </a:extLst>
            </p:cNvPr>
            <p:cNvSpPr/>
            <p:nvPr userDrawn="1"/>
          </p:nvSpPr>
          <p:spPr>
            <a:xfrm>
              <a:off x="11773967" y="3611809"/>
              <a:ext cx="77173" cy="77173"/>
            </a:xfrm>
            <a:prstGeom prst="ellipse">
              <a:avLst/>
            </a:prstGeom>
            <a:solidFill>
              <a:srgbClr val="FAD6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BEBC524A-0598-5970-3E3A-1A12BB314944}"/>
                </a:ext>
              </a:extLst>
            </p:cNvPr>
            <p:cNvSpPr/>
            <p:nvPr userDrawn="1"/>
          </p:nvSpPr>
          <p:spPr>
            <a:xfrm>
              <a:off x="11876604" y="3980862"/>
              <a:ext cx="77173" cy="77173"/>
            </a:xfrm>
            <a:prstGeom prst="ellipse">
              <a:avLst/>
            </a:prstGeom>
            <a:solidFill>
              <a:srgbClr val="1093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EED92E5C-0133-6F6E-3AC4-E3BF08B7133E}"/>
                </a:ext>
              </a:extLst>
            </p:cNvPr>
            <p:cNvSpPr/>
            <p:nvPr userDrawn="1"/>
          </p:nvSpPr>
          <p:spPr>
            <a:xfrm>
              <a:off x="11773967" y="4399298"/>
              <a:ext cx="77173" cy="77173"/>
            </a:xfrm>
            <a:prstGeom prst="ellipse">
              <a:avLst/>
            </a:prstGeom>
            <a:solidFill>
              <a:srgbClr val="1093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9B4C966B-D75E-287C-60AF-D1830CC3F6E1}"/>
                </a:ext>
              </a:extLst>
            </p:cNvPr>
            <p:cNvSpPr/>
            <p:nvPr userDrawn="1"/>
          </p:nvSpPr>
          <p:spPr>
            <a:xfrm>
              <a:off x="11867274" y="4782238"/>
              <a:ext cx="77173" cy="77173"/>
            </a:xfrm>
            <a:prstGeom prst="ellipse">
              <a:avLst/>
            </a:prstGeom>
            <a:solidFill>
              <a:srgbClr val="1093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5AEFA3F1-7B18-877A-99AD-CED79E0ECE78}"/>
                </a:ext>
              </a:extLst>
            </p:cNvPr>
            <p:cNvSpPr/>
            <p:nvPr userDrawn="1"/>
          </p:nvSpPr>
          <p:spPr>
            <a:xfrm>
              <a:off x="11876603" y="1566865"/>
              <a:ext cx="77173" cy="77173"/>
            </a:xfrm>
            <a:prstGeom prst="ellipse">
              <a:avLst/>
            </a:prstGeom>
            <a:solidFill>
              <a:srgbClr val="008BC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 name="Oval 60">
            <a:extLst>
              <a:ext uri="{FF2B5EF4-FFF2-40B4-BE49-F238E27FC236}">
                <a16:creationId xmlns:a16="http://schemas.microsoft.com/office/drawing/2014/main" id="{E3985124-E079-0DEA-BC3A-5AE9D3FBCF84}"/>
              </a:ext>
            </a:extLst>
          </p:cNvPr>
          <p:cNvSpPr/>
          <p:nvPr userDrawn="1"/>
        </p:nvSpPr>
        <p:spPr>
          <a:xfrm>
            <a:off x="1606550" y="6617616"/>
            <a:ext cx="139700" cy="139700"/>
          </a:xfrm>
          <a:prstGeom prst="ellipse">
            <a:avLst/>
          </a:prstGeom>
          <a:solidFill>
            <a:srgbClr val="10935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2" name="Oval 61">
            <a:extLst>
              <a:ext uri="{FF2B5EF4-FFF2-40B4-BE49-F238E27FC236}">
                <a16:creationId xmlns:a16="http://schemas.microsoft.com/office/drawing/2014/main" id="{8BCDF17F-7678-886B-BDC1-7D46E0FDC526}"/>
              </a:ext>
            </a:extLst>
          </p:cNvPr>
          <p:cNvSpPr/>
          <p:nvPr userDrawn="1"/>
        </p:nvSpPr>
        <p:spPr>
          <a:xfrm>
            <a:off x="977900" y="6617616"/>
            <a:ext cx="139700" cy="139700"/>
          </a:xfrm>
          <a:prstGeom prst="ellipse">
            <a:avLst/>
          </a:prstGeom>
          <a:solidFill>
            <a:srgbClr val="FAD20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3" name="Oval 62">
            <a:extLst>
              <a:ext uri="{FF2B5EF4-FFF2-40B4-BE49-F238E27FC236}">
                <a16:creationId xmlns:a16="http://schemas.microsoft.com/office/drawing/2014/main" id="{A3D20AC5-1E8E-5321-E43D-46B445C65B67}"/>
              </a:ext>
            </a:extLst>
          </p:cNvPr>
          <p:cNvSpPr/>
          <p:nvPr userDrawn="1"/>
        </p:nvSpPr>
        <p:spPr>
          <a:xfrm>
            <a:off x="349250" y="6617616"/>
            <a:ext cx="139700" cy="139700"/>
          </a:xfrm>
          <a:prstGeom prst="ellipse">
            <a:avLst/>
          </a:prstGeom>
          <a:solidFill>
            <a:srgbClr val="008BCC">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4" name="Oval 63">
            <a:extLst>
              <a:ext uri="{FF2B5EF4-FFF2-40B4-BE49-F238E27FC236}">
                <a16:creationId xmlns:a16="http://schemas.microsoft.com/office/drawing/2014/main" id="{FA80B877-F110-D95C-7DD0-FEBBD1B4BA64}"/>
              </a:ext>
            </a:extLst>
          </p:cNvPr>
          <p:cNvSpPr/>
          <p:nvPr userDrawn="1"/>
        </p:nvSpPr>
        <p:spPr>
          <a:xfrm>
            <a:off x="558800" y="6617616"/>
            <a:ext cx="139700" cy="139700"/>
          </a:xfrm>
          <a:prstGeom prst="ellipse">
            <a:avLst/>
          </a:prstGeom>
          <a:solidFill>
            <a:srgbClr val="008BCC">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5" name="Oval 64">
            <a:extLst>
              <a:ext uri="{FF2B5EF4-FFF2-40B4-BE49-F238E27FC236}">
                <a16:creationId xmlns:a16="http://schemas.microsoft.com/office/drawing/2014/main" id="{03F7BB24-25F0-4188-72B0-2D5ED9CFB76E}"/>
              </a:ext>
            </a:extLst>
          </p:cNvPr>
          <p:cNvSpPr/>
          <p:nvPr userDrawn="1"/>
        </p:nvSpPr>
        <p:spPr>
          <a:xfrm>
            <a:off x="768350" y="6617616"/>
            <a:ext cx="139700" cy="139700"/>
          </a:xfrm>
          <a:prstGeom prst="ellipse">
            <a:avLst/>
          </a:prstGeom>
          <a:solidFill>
            <a:srgbClr val="008BCC">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6" name="Oval 65">
            <a:extLst>
              <a:ext uri="{FF2B5EF4-FFF2-40B4-BE49-F238E27FC236}">
                <a16:creationId xmlns:a16="http://schemas.microsoft.com/office/drawing/2014/main" id="{97DEBEE4-3529-6BF7-C1EE-1F06689DC266}"/>
              </a:ext>
            </a:extLst>
          </p:cNvPr>
          <p:cNvSpPr/>
          <p:nvPr userDrawn="1"/>
        </p:nvSpPr>
        <p:spPr>
          <a:xfrm>
            <a:off x="1187450" y="6617616"/>
            <a:ext cx="139700" cy="139700"/>
          </a:xfrm>
          <a:prstGeom prst="ellipse">
            <a:avLst/>
          </a:prstGeom>
          <a:solidFill>
            <a:srgbClr val="FAD20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7" name="Oval 66">
            <a:extLst>
              <a:ext uri="{FF2B5EF4-FFF2-40B4-BE49-F238E27FC236}">
                <a16:creationId xmlns:a16="http://schemas.microsoft.com/office/drawing/2014/main" id="{8631BAD7-ACD6-558C-7884-5F8B8158569B}"/>
              </a:ext>
            </a:extLst>
          </p:cNvPr>
          <p:cNvSpPr/>
          <p:nvPr userDrawn="1"/>
        </p:nvSpPr>
        <p:spPr>
          <a:xfrm>
            <a:off x="1397000" y="6617616"/>
            <a:ext cx="139700" cy="139700"/>
          </a:xfrm>
          <a:prstGeom prst="ellipse">
            <a:avLst/>
          </a:prstGeom>
          <a:solidFill>
            <a:srgbClr val="FAD20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8" name="Oval 67">
            <a:extLst>
              <a:ext uri="{FF2B5EF4-FFF2-40B4-BE49-F238E27FC236}">
                <a16:creationId xmlns:a16="http://schemas.microsoft.com/office/drawing/2014/main" id="{644534C1-CAD6-EE98-DA4C-80ABB36189FA}"/>
              </a:ext>
            </a:extLst>
          </p:cNvPr>
          <p:cNvSpPr/>
          <p:nvPr userDrawn="1"/>
        </p:nvSpPr>
        <p:spPr>
          <a:xfrm>
            <a:off x="1816100" y="6617616"/>
            <a:ext cx="139700" cy="139700"/>
          </a:xfrm>
          <a:prstGeom prst="ellipse">
            <a:avLst/>
          </a:prstGeom>
          <a:solidFill>
            <a:srgbClr val="10935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9" name="Oval 68">
            <a:extLst>
              <a:ext uri="{FF2B5EF4-FFF2-40B4-BE49-F238E27FC236}">
                <a16:creationId xmlns:a16="http://schemas.microsoft.com/office/drawing/2014/main" id="{6D273F5C-D33F-EF59-0554-6E5D0016BFBC}"/>
              </a:ext>
            </a:extLst>
          </p:cNvPr>
          <p:cNvSpPr/>
          <p:nvPr userDrawn="1"/>
        </p:nvSpPr>
        <p:spPr>
          <a:xfrm>
            <a:off x="2005561" y="6617616"/>
            <a:ext cx="139700" cy="139700"/>
          </a:xfrm>
          <a:prstGeom prst="ellipse">
            <a:avLst/>
          </a:prstGeom>
          <a:solidFill>
            <a:srgbClr val="10935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70" name="Oval 69">
            <a:extLst>
              <a:ext uri="{FF2B5EF4-FFF2-40B4-BE49-F238E27FC236}">
                <a16:creationId xmlns:a16="http://schemas.microsoft.com/office/drawing/2014/main" id="{47062037-C070-A95A-9CED-80046DEC4BEB}"/>
              </a:ext>
            </a:extLst>
          </p:cNvPr>
          <p:cNvSpPr/>
          <p:nvPr userDrawn="1"/>
        </p:nvSpPr>
        <p:spPr>
          <a:xfrm>
            <a:off x="11283950" y="109891"/>
            <a:ext cx="139700" cy="139700"/>
          </a:xfrm>
          <a:prstGeom prst="ellipse">
            <a:avLst/>
          </a:prstGeom>
          <a:solidFill>
            <a:srgbClr val="008BCC">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71" name="Oval 70">
            <a:extLst>
              <a:ext uri="{FF2B5EF4-FFF2-40B4-BE49-F238E27FC236}">
                <a16:creationId xmlns:a16="http://schemas.microsoft.com/office/drawing/2014/main" id="{FA6AEF5D-0DD5-0B6D-960F-425B1836E1F8}"/>
              </a:ext>
            </a:extLst>
          </p:cNvPr>
          <p:cNvSpPr/>
          <p:nvPr userDrawn="1"/>
        </p:nvSpPr>
        <p:spPr>
          <a:xfrm>
            <a:off x="11493500" y="109891"/>
            <a:ext cx="139700" cy="139700"/>
          </a:xfrm>
          <a:prstGeom prst="ellipse">
            <a:avLst/>
          </a:prstGeom>
          <a:solidFill>
            <a:srgbClr val="008BCC">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72" name="Oval 71">
            <a:extLst>
              <a:ext uri="{FF2B5EF4-FFF2-40B4-BE49-F238E27FC236}">
                <a16:creationId xmlns:a16="http://schemas.microsoft.com/office/drawing/2014/main" id="{BD6BA97C-413A-8ACF-FA70-F3C46173BD30}"/>
              </a:ext>
            </a:extLst>
          </p:cNvPr>
          <p:cNvSpPr/>
          <p:nvPr userDrawn="1"/>
        </p:nvSpPr>
        <p:spPr>
          <a:xfrm>
            <a:off x="11703050" y="109891"/>
            <a:ext cx="139700" cy="139700"/>
          </a:xfrm>
          <a:prstGeom prst="ellipse">
            <a:avLst/>
          </a:prstGeom>
          <a:solidFill>
            <a:srgbClr val="008BCC">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73" name="Oval 72">
            <a:extLst>
              <a:ext uri="{FF2B5EF4-FFF2-40B4-BE49-F238E27FC236}">
                <a16:creationId xmlns:a16="http://schemas.microsoft.com/office/drawing/2014/main" id="{E6513DCA-0540-607D-489B-ADAE97DD8FC5}"/>
              </a:ext>
            </a:extLst>
          </p:cNvPr>
          <p:cNvSpPr/>
          <p:nvPr userDrawn="1"/>
        </p:nvSpPr>
        <p:spPr>
          <a:xfrm>
            <a:off x="10655300" y="109891"/>
            <a:ext cx="139700" cy="139700"/>
          </a:xfrm>
          <a:prstGeom prst="ellipse">
            <a:avLst/>
          </a:prstGeom>
          <a:solidFill>
            <a:srgbClr val="FAD20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74" name="Oval 73">
            <a:extLst>
              <a:ext uri="{FF2B5EF4-FFF2-40B4-BE49-F238E27FC236}">
                <a16:creationId xmlns:a16="http://schemas.microsoft.com/office/drawing/2014/main" id="{EE5863C7-E4EF-A939-43D8-8A5F26090798}"/>
              </a:ext>
            </a:extLst>
          </p:cNvPr>
          <p:cNvSpPr/>
          <p:nvPr userDrawn="1"/>
        </p:nvSpPr>
        <p:spPr>
          <a:xfrm>
            <a:off x="10864850" y="109891"/>
            <a:ext cx="139700" cy="139700"/>
          </a:xfrm>
          <a:prstGeom prst="ellipse">
            <a:avLst/>
          </a:prstGeom>
          <a:solidFill>
            <a:srgbClr val="FAD20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75" name="Oval 74">
            <a:extLst>
              <a:ext uri="{FF2B5EF4-FFF2-40B4-BE49-F238E27FC236}">
                <a16:creationId xmlns:a16="http://schemas.microsoft.com/office/drawing/2014/main" id="{C52C00B1-AA56-6255-E25D-597D9F99820B}"/>
              </a:ext>
            </a:extLst>
          </p:cNvPr>
          <p:cNvSpPr/>
          <p:nvPr userDrawn="1"/>
        </p:nvSpPr>
        <p:spPr>
          <a:xfrm>
            <a:off x="11074400" y="109891"/>
            <a:ext cx="139700" cy="139700"/>
          </a:xfrm>
          <a:prstGeom prst="ellipse">
            <a:avLst/>
          </a:prstGeom>
          <a:solidFill>
            <a:srgbClr val="FAD20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76" name="Oval 75">
            <a:extLst>
              <a:ext uri="{FF2B5EF4-FFF2-40B4-BE49-F238E27FC236}">
                <a16:creationId xmlns:a16="http://schemas.microsoft.com/office/drawing/2014/main" id="{4CB4C63B-CD2A-B497-E58A-2767E6C01D10}"/>
              </a:ext>
            </a:extLst>
          </p:cNvPr>
          <p:cNvSpPr/>
          <p:nvPr userDrawn="1"/>
        </p:nvSpPr>
        <p:spPr>
          <a:xfrm>
            <a:off x="10046739" y="109891"/>
            <a:ext cx="139700" cy="139700"/>
          </a:xfrm>
          <a:prstGeom prst="ellipse">
            <a:avLst/>
          </a:prstGeom>
          <a:solidFill>
            <a:srgbClr val="10935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77" name="Oval 76">
            <a:extLst>
              <a:ext uri="{FF2B5EF4-FFF2-40B4-BE49-F238E27FC236}">
                <a16:creationId xmlns:a16="http://schemas.microsoft.com/office/drawing/2014/main" id="{09A7A4A1-FD2B-1297-4853-FC278D1569B2}"/>
              </a:ext>
            </a:extLst>
          </p:cNvPr>
          <p:cNvSpPr/>
          <p:nvPr userDrawn="1"/>
        </p:nvSpPr>
        <p:spPr>
          <a:xfrm>
            <a:off x="10256289" y="109891"/>
            <a:ext cx="139700" cy="139700"/>
          </a:xfrm>
          <a:prstGeom prst="ellipse">
            <a:avLst/>
          </a:prstGeom>
          <a:solidFill>
            <a:srgbClr val="10935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78" name="Oval 77">
            <a:extLst>
              <a:ext uri="{FF2B5EF4-FFF2-40B4-BE49-F238E27FC236}">
                <a16:creationId xmlns:a16="http://schemas.microsoft.com/office/drawing/2014/main" id="{28E970DA-C16D-69FE-3E8F-9761A3D62978}"/>
              </a:ext>
            </a:extLst>
          </p:cNvPr>
          <p:cNvSpPr/>
          <p:nvPr userDrawn="1"/>
        </p:nvSpPr>
        <p:spPr>
          <a:xfrm>
            <a:off x="10445750" y="109891"/>
            <a:ext cx="139700" cy="139700"/>
          </a:xfrm>
          <a:prstGeom prst="ellipse">
            <a:avLst/>
          </a:prstGeom>
          <a:solidFill>
            <a:srgbClr val="109351">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Tree>
    <p:extLst>
      <p:ext uri="{BB962C8B-B14F-4D97-AF65-F5344CB8AC3E}">
        <p14:creationId xmlns:p14="http://schemas.microsoft.com/office/powerpoint/2010/main" val="3312094651"/>
      </p:ext>
    </p:extLst>
  </p:cSld>
  <p:clrMap bg1="lt1" tx1="dk1" bg2="lt2" tx2="dk2" accent1="accent1" accent2="accent2" accent3="accent3" accent4="accent4" accent5="accent5" accent6="accent6" hlink="hlink" folHlink="folHlink"/>
  <p:sldLayoutIdLst>
    <p:sldLayoutId id="2147483911" r:id="rId1"/>
    <p:sldLayoutId id="2147483912" r:id="rId2"/>
    <p:sldLayoutId id="2147483913" r:id="rId3"/>
    <p:sldLayoutId id="2147483914" r:id="rId4"/>
    <p:sldLayoutId id="2147483915" r:id="rId5"/>
    <p:sldLayoutId id="2147483916" r:id="rId6"/>
    <p:sldLayoutId id="2147483917" r:id="rId7"/>
    <p:sldLayoutId id="2147483918" r:id="rId8"/>
    <p:sldLayoutId id="2147483919" r:id="rId9"/>
    <p:sldLayoutId id="2147483920" r:id="rId10"/>
    <p:sldLayoutId id="2147483921" r:id="rId11"/>
  </p:sldLayoutIdLst>
  <p:txStyles>
    <p:titleStyle>
      <a:lvl1pPr algn="l" defTabSz="914400" rtl="0" eaLnBrk="1" latinLnBrk="0" hangingPunct="1">
        <a:lnSpc>
          <a:spcPct val="90000"/>
        </a:lnSpc>
        <a:spcBef>
          <a:spcPct val="0"/>
        </a:spcBef>
        <a:buNone/>
        <a:defRPr lang="en-US" sz="3200" b="1" kern="1200" smtClean="0">
          <a:solidFill>
            <a:schemeClr val="tx1"/>
          </a:solidFill>
          <a:latin typeface="Bahnschrift" panose="020B0502040204020203"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Bahnschrift Light SemiCondensed"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Light SemiCondensed"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Light SemiCondensed"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Bahnschrift Light SemiCondensed"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Bahnschrift Light SemiCondensed"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6" name="Text Placeholder 12"/>
          <p:cNvSpPr>
            <a:spLocks noGrp="1"/>
          </p:cNvSpPr>
          <p:nvPr>
            <p:ph type="body" idx="1"/>
          </p:nvPr>
        </p:nvSpPr>
        <p:spPr bwMode="auto">
          <a:xfrm>
            <a:off x="203200" y="1219200"/>
            <a:ext cx="11379200" cy="491013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p:txBody>
      </p:sp>
      <p:sp>
        <p:nvSpPr>
          <p:cNvPr id="28" name="Straight Connector 27"/>
          <p:cNvSpPr>
            <a:spLocks noChangeShapeType="1"/>
          </p:cNvSpPr>
          <p:nvPr/>
        </p:nvSpPr>
        <p:spPr bwMode="auto">
          <a:xfrm>
            <a:off x="203201" y="6629400"/>
            <a:ext cx="11741151" cy="0"/>
          </a:xfrm>
          <a:prstGeom prst="line">
            <a:avLst/>
          </a:prstGeom>
          <a:ln>
            <a:solidFill>
              <a:schemeClr val="tx2"/>
            </a:solidFill>
            <a:headEnd type="none" w="med" len="med"/>
            <a:tailEnd type="none" w="med" len="med"/>
          </a:ln>
        </p:spPr>
        <p:style>
          <a:lnRef idx="1">
            <a:schemeClr val="dk1"/>
          </a:lnRef>
          <a:fillRef idx="0">
            <a:schemeClr val="dk1"/>
          </a:fillRef>
          <a:effectRef idx="0">
            <a:schemeClr val="dk1"/>
          </a:effectRef>
          <a:fontRef idx="minor">
            <a:schemeClr val="tx1"/>
          </a:fontRef>
        </p:style>
        <p:txBody>
          <a:bodyPr/>
          <a:lstStyle/>
          <a:p>
            <a:pPr fontAlgn="auto">
              <a:spcBef>
                <a:spcPts val="0"/>
              </a:spcBef>
              <a:spcAft>
                <a:spcPts val="0"/>
              </a:spcAft>
              <a:defRPr/>
            </a:pPr>
            <a:endParaRPr lang="en-US" sz="1800" dirty="0"/>
          </a:p>
        </p:txBody>
      </p:sp>
      <p:pic>
        <p:nvPicPr>
          <p:cNvPr id="1028" name="Picture 1" descr="armoirie"/>
          <p:cNvPicPr>
            <a:picLocks noChangeAspect="1" noChangeArrowheads="1"/>
          </p:cNvPicPr>
          <p:nvPr/>
        </p:nvPicPr>
        <p:blipFill>
          <a:blip r:embed="rId6" cstate="print"/>
          <a:srcRect/>
          <a:stretch>
            <a:fillRect/>
          </a:stretch>
        </p:blipFill>
        <p:spPr bwMode="auto">
          <a:xfrm rot="10800000" flipH="1" flipV="1">
            <a:off x="203200" y="152400"/>
            <a:ext cx="1016000" cy="820738"/>
          </a:xfrm>
          <a:prstGeom prst="rect">
            <a:avLst/>
          </a:prstGeom>
          <a:noFill/>
          <a:ln w="9525">
            <a:solidFill>
              <a:schemeClr val="bg1"/>
            </a:solidFill>
            <a:miter lim="800000"/>
            <a:headEnd/>
            <a:tailEnd/>
          </a:ln>
        </p:spPr>
      </p:pic>
    </p:spTree>
    <p:extLst>
      <p:ext uri="{BB962C8B-B14F-4D97-AF65-F5344CB8AC3E}">
        <p14:creationId xmlns:p14="http://schemas.microsoft.com/office/powerpoint/2010/main" val="2157954755"/>
      </p:ext>
    </p:extLst>
  </p:cSld>
  <p:clrMap bg1="lt1" tx1="dk1" bg2="lt2" tx2="dk2" accent1="accent1" accent2="accent2" accent3="accent3" accent4="accent4" accent5="accent5" accent6="accent6" hlink="hlink" folHlink="folHlink"/>
  <p:sldLayoutIdLst>
    <p:sldLayoutId id="2147483923" r:id="rId1"/>
    <p:sldLayoutId id="2147483924" r:id="rId2"/>
    <p:sldLayoutId id="2147483925" r:id="rId3"/>
    <p:sldLayoutId id="2147483926" r:id="rId4"/>
  </p:sldLayoutIdLst>
  <p:hf hdr="0" ftr="0" dt="0"/>
  <p:txStyles>
    <p:titleStyle>
      <a:lvl1pPr algn="l" rtl="0" eaLnBrk="0" fontAlgn="base" hangingPunct="0">
        <a:spcBef>
          <a:spcPct val="0"/>
        </a:spcBef>
        <a:spcAft>
          <a:spcPct val="0"/>
        </a:spcAft>
        <a:defRPr sz="3200" kern="1200">
          <a:solidFill>
            <a:schemeClr val="tx2"/>
          </a:solidFill>
          <a:latin typeface="+mj-lt"/>
          <a:ea typeface="ＭＳ Ｐゴシック" charset="-128"/>
          <a:cs typeface="+mj-cs"/>
        </a:defRPr>
      </a:lvl1pPr>
      <a:lvl2pPr algn="l" rtl="0" eaLnBrk="0" fontAlgn="base" hangingPunct="0">
        <a:spcBef>
          <a:spcPct val="0"/>
        </a:spcBef>
        <a:spcAft>
          <a:spcPct val="0"/>
        </a:spcAft>
        <a:defRPr sz="3200">
          <a:solidFill>
            <a:schemeClr val="tx2"/>
          </a:solidFill>
          <a:latin typeface="Bookman Old Style" pitchFamily="18" charset="0"/>
          <a:ea typeface="ＭＳ Ｐゴシック" charset="-128"/>
        </a:defRPr>
      </a:lvl2pPr>
      <a:lvl3pPr algn="l" rtl="0" eaLnBrk="0" fontAlgn="base" hangingPunct="0">
        <a:spcBef>
          <a:spcPct val="0"/>
        </a:spcBef>
        <a:spcAft>
          <a:spcPct val="0"/>
        </a:spcAft>
        <a:defRPr sz="3200">
          <a:solidFill>
            <a:schemeClr val="tx2"/>
          </a:solidFill>
          <a:latin typeface="Bookman Old Style" pitchFamily="18" charset="0"/>
          <a:ea typeface="ＭＳ Ｐゴシック" charset="-128"/>
        </a:defRPr>
      </a:lvl3pPr>
      <a:lvl4pPr algn="l" rtl="0" eaLnBrk="0" fontAlgn="base" hangingPunct="0">
        <a:spcBef>
          <a:spcPct val="0"/>
        </a:spcBef>
        <a:spcAft>
          <a:spcPct val="0"/>
        </a:spcAft>
        <a:defRPr sz="3200">
          <a:solidFill>
            <a:schemeClr val="tx2"/>
          </a:solidFill>
          <a:latin typeface="Bookman Old Style" pitchFamily="18" charset="0"/>
          <a:ea typeface="ＭＳ Ｐゴシック" charset="-128"/>
        </a:defRPr>
      </a:lvl4pPr>
      <a:lvl5pPr algn="l" rtl="0" eaLnBrk="0" fontAlgn="base" hangingPunct="0">
        <a:spcBef>
          <a:spcPct val="0"/>
        </a:spcBef>
        <a:spcAft>
          <a:spcPct val="0"/>
        </a:spcAft>
        <a:defRPr sz="3200">
          <a:solidFill>
            <a:schemeClr val="tx2"/>
          </a:solidFill>
          <a:latin typeface="Bookman Old Style" pitchFamily="18" charset="0"/>
          <a:ea typeface="ＭＳ Ｐゴシック" charset="-128"/>
        </a:defRPr>
      </a:lvl5pPr>
      <a:lvl6pPr marL="457200" algn="l" rtl="0" fontAlgn="base">
        <a:spcBef>
          <a:spcPct val="0"/>
        </a:spcBef>
        <a:spcAft>
          <a:spcPct val="0"/>
        </a:spcAft>
        <a:defRPr sz="3200">
          <a:solidFill>
            <a:schemeClr val="tx2"/>
          </a:solidFill>
          <a:latin typeface="Bookman Old Style" pitchFamily="18" charset="0"/>
        </a:defRPr>
      </a:lvl6pPr>
      <a:lvl7pPr marL="914400" algn="l" rtl="0" fontAlgn="base">
        <a:spcBef>
          <a:spcPct val="0"/>
        </a:spcBef>
        <a:spcAft>
          <a:spcPct val="0"/>
        </a:spcAft>
        <a:defRPr sz="3200">
          <a:solidFill>
            <a:schemeClr val="tx2"/>
          </a:solidFill>
          <a:latin typeface="Bookman Old Style" pitchFamily="18" charset="0"/>
        </a:defRPr>
      </a:lvl7pPr>
      <a:lvl8pPr marL="1371600" algn="l" rtl="0" fontAlgn="base">
        <a:spcBef>
          <a:spcPct val="0"/>
        </a:spcBef>
        <a:spcAft>
          <a:spcPct val="0"/>
        </a:spcAft>
        <a:defRPr sz="3200">
          <a:solidFill>
            <a:schemeClr val="tx2"/>
          </a:solidFill>
          <a:latin typeface="Bookman Old Style" pitchFamily="18" charset="0"/>
        </a:defRPr>
      </a:lvl8pPr>
      <a:lvl9pPr marL="1828800" algn="l" rtl="0" fontAlgn="base">
        <a:spcBef>
          <a:spcPct val="0"/>
        </a:spcBef>
        <a:spcAft>
          <a:spcPct val="0"/>
        </a:spcAft>
        <a:defRPr sz="3200">
          <a:solidFill>
            <a:schemeClr val="tx2"/>
          </a:solidFill>
          <a:latin typeface="Bookman Old Style" pitchFamily="18" charset="0"/>
        </a:defRPr>
      </a:lvl9pPr>
    </p:titleStyle>
    <p:body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microsoft.com/office/2018/10/relationships/comments" Target="../comments/modernComment_25A_AC340E9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microsoft.com/office/2018/10/relationships/comments" Target="../comments/modernComment_25B_6AF2A1D7.xml"/><Relationship Id="rId1" Type="http://schemas.openxmlformats.org/officeDocument/2006/relationships/slideLayout" Target="../slideLayouts/slideLayout11.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1.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6.xml"/><Relationship Id="rId1" Type="http://schemas.openxmlformats.org/officeDocument/2006/relationships/slideLayout" Target="../slideLayouts/slideLayout11.xml"/><Relationship Id="rId5" Type="http://schemas.openxmlformats.org/officeDocument/2006/relationships/image" Target="../media/image16.emf"/><Relationship Id="rId4" Type="http://schemas.openxmlformats.org/officeDocument/2006/relationships/image" Target="../media/image15.emf"/></Relationships>
</file>

<file path=ppt/slides/_rels/slide1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9.xml"/><Relationship Id="rId1" Type="http://schemas.openxmlformats.org/officeDocument/2006/relationships/slideLayout" Target="../slideLayouts/slideLayout11.xml"/><Relationship Id="rId4" Type="http://schemas.openxmlformats.org/officeDocument/2006/relationships/image" Target="../media/image20.emf"/></Relationships>
</file>

<file path=ppt/slides/_rels/slide19.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24.emf"/><Relationship Id="rId5" Type="http://schemas.openxmlformats.org/officeDocument/2006/relationships/image" Target="../media/image23.emf"/><Relationship Id="rId4" Type="http://schemas.openxmlformats.org/officeDocument/2006/relationships/image" Target="../media/image22.emf"/></Relationships>
</file>

<file path=ppt/slides/_rels/slide20.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image" Target="../media/image26.emf"/></Relationships>
</file>

<file path=ppt/slides/_rels/slide21.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12.xml"/><Relationship Id="rId1" Type="http://schemas.openxmlformats.org/officeDocument/2006/relationships/slideLayout" Target="../slideLayouts/slideLayout11.xml"/><Relationship Id="rId6" Type="http://schemas.openxmlformats.org/officeDocument/2006/relationships/image" Target="../media/image30.emf"/><Relationship Id="rId5" Type="http://schemas.openxmlformats.org/officeDocument/2006/relationships/image" Target="../media/image29.emf"/><Relationship Id="rId4" Type="http://schemas.openxmlformats.org/officeDocument/2006/relationships/image" Target="../media/image28.emf"/></Relationships>
</file>

<file path=ppt/slides/_rels/slide22.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11.xml"/><Relationship Id="rId5" Type="http://schemas.openxmlformats.org/officeDocument/2006/relationships/image" Target="../media/image34.emf"/><Relationship Id="rId4" Type="http://schemas.openxmlformats.org/officeDocument/2006/relationships/image" Target="../media/image33.emf"/></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image" Target="../media/image37.tmp"/><Relationship Id="rId7" Type="http://schemas.openxmlformats.org/officeDocument/2006/relationships/image" Target="../media/image41.tmp"/><Relationship Id="rId2" Type="http://schemas.openxmlformats.org/officeDocument/2006/relationships/notesSlide" Target="../notesSlides/notesSlide20.xml"/><Relationship Id="rId1" Type="http://schemas.openxmlformats.org/officeDocument/2006/relationships/slideLayout" Target="../slideLayouts/slideLayout11.xml"/><Relationship Id="rId6" Type="http://schemas.openxmlformats.org/officeDocument/2006/relationships/image" Target="../media/image40.tmp"/><Relationship Id="rId5" Type="http://schemas.openxmlformats.org/officeDocument/2006/relationships/image" Target="../media/image39.tmp"/><Relationship Id="rId4" Type="http://schemas.openxmlformats.org/officeDocument/2006/relationships/image" Target="../media/image38.tmp"/></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65"/>
          <p:cNvSpPr>
            <a:spLocks noChangeArrowheads="1"/>
          </p:cNvSpPr>
          <p:nvPr/>
        </p:nvSpPr>
        <p:spPr bwMode="auto">
          <a:xfrm>
            <a:off x="1524001" y="4868025"/>
            <a:ext cx="184731" cy="600164"/>
          </a:xfrm>
          <a:prstGeom prst="rect">
            <a:avLst/>
          </a:prstGeom>
          <a:noFill/>
          <a:ln w="9525">
            <a:noFill/>
            <a:miter lim="800000"/>
            <a:headEnd/>
            <a:tailEnd/>
          </a:ln>
        </p:spPr>
        <p:txBody>
          <a:bodyPr wrap="none" anchor="ctr">
            <a:spAutoFit/>
          </a:bodyPr>
          <a:lstStyle/>
          <a:p>
            <a:br>
              <a:rPr lang="en-GB" sz="900" dirty="0"/>
            </a:br>
            <a:endParaRPr lang="en-GB" dirty="0"/>
          </a:p>
        </p:txBody>
      </p:sp>
      <p:sp>
        <p:nvSpPr>
          <p:cNvPr id="6" name="TextBox 5"/>
          <p:cNvSpPr txBox="1"/>
          <p:nvPr/>
        </p:nvSpPr>
        <p:spPr>
          <a:xfrm>
            <a:off x="1866900" y="3475772"/>
            <a:ext cx="8458200" cy="1482842"/>
          </a:xfrm>
          <a:prstGeom prst="rect">
            <a:avLst/>
          </a:prstGeom>
          <a:noFill/>
          <a:ln w="28575">
            <a:noFill/>
          </a:ln>
        </p:spPr>
        <p:txBody>
          <a:bodyPr>
            <a:spAutoFit/>
          </a:bodyPr>
          <a:lstStyle/>
          <a:p>
            <a:pPr algn="ctr">
              <a:lnSpc>
                <a:spcPct val="150000"/>
              </a:lnSpc>
              <a:defRPr/>
            </a:pPr>
            <a:r>
              <a:rPr lang="en-GB" sz="3200" b="1" dirty="0">
                <a:solidFill>
                  <a:srgbClr val="109351"/>
                </a:solidFill>
                <a:latin typeface="Bahnschrift" panose="020B0502040204020203" pitchFamily="34" charset="0"/>
              </a:rPr>
              <a:t>Quarterly Macro-Fiscal Outlook (QMFO)</a:t>
            </a:r>
          </a:p>
          <a:p>
            <a:pPr algn="ctr">
              <a:lnSpc>
                <a:spcPct val="150000"/>
              </a:lnSpc>
              <a:defRPr/>
            </a:pPr>
            <a:r>
              <a:rPr lang="en-GB" sz="3200" b="1" dirty="0">
                <a:solidFill>
                  <a:srgbClr val="109351"/>
                </a:solidFill>
                <a:latin typeface="Bahnschrift" panose="020B0502040204020203" pitchFamily="34" charset="0"/>
              </a:rPr>
              <a:t>Summary Outlook 2024-27</a:t>
            </a:r>
          </a:p>
        </p:txBody>
      </p:sp>
      <p:cxnSp>
        <p:nvCxnSpPr>
          <p:cNvPr id="7" name="Straight Connector 6"/>
          <p:cNvCxnSpPr/>
          <p:nvPr/>
        </p:nvCxnSpPr>
        <p:spPr>
          <a:xfrm rot="10800000">
            <a:off x="2362200" y="3048000"/>
            <a:ext cx="7543800" cy="1588"/>
          </a:xfrm>
          <a:prstGeom prst="line">
            <a:avLst/>
          </a:prstGeom>
          <a:ln w="38100">
            <a:solidFill>
              <a:srgbClr val="F4BC0A"/>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3048000" y="5715000"/>
            <a:ext cx="5867400" cy="523220"/>
          </a:xfrm>
          <a:prstGeom prst="rect">
            <a:avLst/>
          </a:prstGeom>
          <a:noFill/>
        </p:spPr>
        <p:txBody>
          <a:bodyPr wrap="square" rtlCol="0">
            <a:spAutoFit/>
          </a:bodyPr>
          <a:lstStyle/>
          <a:p>
            <a:pPr algn="ctr"/>
            <a:r>
              <a:rPr lang="en-US" sz="2800" b="1" dirty="0">
                <a:latin typeface="Bahnschrift Light" panose="020B0502040204020203" pitchFamily="34" charset="0"/>
              </a:rPr>
              <a:t>October 2025 Round</a:t>
            </a:r>
          </a:p>
        </p:txBody>
      </p:sp>
      <p:sp>
        <p:nvSpPr>
          <p:cNvPr id="3" name="TextBox 2">
            <a:extLst>
              <a:ext uri="{FF2B5EF4-FFF2-40B4-BE49-F238E27FC236}">
                <a16:creationId xmlns:a16="http://schemas.microsoft.com/office/drawing/2014/main" id="{E1578755-694B-F809-9288-A5B861F3FF33}"/>
              </a:ext>
            </a:extLst>
          </p:cNvPr>
          <p:cNvSpPr txBox="1"/>
          <p:nvPr/>
        </p:nvSpPr>
        <p:spPr>
          <a:xfrm>
            <a:off x="1524001" y="990600"/>
            <a:ext cx="8458200" cy="1077218"/>
          </a:xfrm>
          <a:prstGeom prst="rect">
            <a:avLst/>
          </a:prstGeom>
          <a:noFill/>
          <a:ln w="28575">
            <a:noFill/>
          </a:ln>
        </p:spPr>
        <p:txBody>
          <a:bodyPr>
            <a:spAutoFit/>
          </a:bodyPr>
          <a:lstStyle/>
          <a:p>
            <a:pPr algn="ctr">
              <a:defRPr/>
            </a:pPr>
            <a:r>
              <a:rPr lang="en-GB" sz="3200" b="1" dirty="0">
                <a:solidFill>
                  <a:srgbClr val="008BCC"/>
                </a:solidFill>
                <a:latin typeface="Bahnschrift" panose="020B0502040204020203" pitchFamily="34" charset="0"/>
              </a:rPr>
              <a:t>MINECOFIN Quarterly Macro-Fiscal Model (QMFM)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F2C85A4-DDE9-C3B5-5A35-6FA477425280}"/>
              </a:ext>
            </a:extLst>
          </p:cNvPr>
          <p:cNvSpPr>
            <a:spLocks noGrp="1"/>
          </p:cNvSpPr>
          <p:nvPr>
            <p:ph type="sldNum" sz="quarter" idx="12"/>
          </p:nvPr>
        </p:nvSpPr>
        <p:spPr/>
        <p:txBody>
          <a:bodyPr/>
          <a:lstStyle/>
          <a:p>
            <a:fld id="{D97AE203-F84D-4A7F-B161-8561326BE072}" type="slidenum">
              <a:rPr lang="en-US" smtClean="0"/>
              <a:pPr/>
              <a:t>1</a:t>
            </a:fld>
            <a:endParaRPr lang="en-US" dirty="0"/>
          </a:p>
        </p:txBody>
      </p:sp>
      <p:sp>
        <p:nvSpPr>
          <p:cNvPr id="2" name="Title 1">
            <a:extLst>
              <a:ext uri="{FF2B5EF4-FFF2-40B4-BE49-F238E27FC236}">
                <a16:creationId xmlns:a16="http://schemas.microsoft.com/office/drawing/2014/main" id="{EED2D1E2-CA9D-BA89-EEEC-51D78AD3808C}"/>
              </a:ext>
            </a:extLst>
          </p:cNvPr>
          <p:cNvSpPr>
            <a:spLocks noGrp="1"/>
          </p:cNvSpPr>
          <p:nvPr>
            <p:ph type="title" idx="4294967295"/>
          </p:nvPr>
        </p:nvSpPr>
        <p:spPr>
          <a:xfrm>
            <a:off x="2438400" y="647513"/>
            <a:ext cx="7010400" cy="549275"/>
          </a:xfrm>
        </p:spPr>
        <p:txBody>
          <a:bodyPr/>
          <a:lstStyle/>
          <a:p>
            <a:pPr algn="ctr"/>
            <a:r>
              <a:rPr lang="en-GB" sz="3200" b="1" dirty="0">
                <a:solidFill>
                  <a:srgbClr val="008BCC"/>
                </a:solidFill>
                <a:latin typeface="Bahnschrift" panose="020B0502040204020203" pitchFamily="34" charset="0"/>
              </a:rPr>
              <a:t>Outline/contents</a:t>
            </a:r>
            <a:endParaRPr lang="en-AE" sz="3200" b="1" dirty="0">
              <a:solidFill>
                <a:srgbClr val="008BCC"/>
              </a:solidFill>
              <a:latin typeface="Bahnschrift" panose="020B0502040204020203" pitchFamily="34" charset="0"/>
            </a:endParaRPr>
          </a:p>
        </p:txBody>
      </p:sp>
      <p:sp>
        <p:nvSpPr>
          <p:cNvPr id="5" name="Content Placeholder 2">
            <a:extLst>
              <a:ext uri="{FF2B5EF4-FFF2-40B4-BE49-F238E27FC236}">
                <a16:creationId xmlns:a16="http://schemas.microsoft.com/office/drawing/2014/main" id="{9B6C95DA-AC08-36FA-592F-0A9D270D4B58}"/>
              </a:ext>
            </a:extLst>
          </p:cNvPr>
          <p:cNvSpPr txBox="1">
            <a:spLocks/>
          </p:cNvSpPr>
          <p:nvPr/>
        </p:nvSpPr>
        <p:spPr>
          <a:xfrm>
            <a:off x="457200" y="1143000"/>
            <a:ext cx="10896600" cy="5334000"/>
          </a:xfrm>
          <a:prstGeom prst="rect">
            <a:avLst/>
          </a:prstGeom>
        </p:spPr>
        <p:txBody>
          <a:bodyPr>
            <a:noAutofit/>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gn="just">
              <a:spcAft>
                <a:spcPts val="600"/>
              </a:spcAft>
              <a:buNone/>
            </a:pPr>
            <a:endParaRPr lang="en-GB" sz="1600" dirty="0"/>
          </a:p>
        </p:txBody>
      </p:sp>
      <p:sp>
        <p:nvSpPr>
          <p:cNvPr id="6" name="TextBox 5">
            <a:extLst>
              <a:ext uri="{FF2B5EF4-FFF2-40B4-BE49-F238E27FC236}">
                <a16:creationId xmlns:a16="http://schemas.microsoft.com/office/drawing/2014/main" id="{D7294143-809D-C767-7D9E-2097A352781A}"/>
              </a:ext>
            </a:extLst>
          </p:cNvPr>
          <p:cNvSpPr txBox="1"/>
          <p:nvPr/>
        </p:nvSpPr>
        <p:spPr>
          <a:xfrm>
            <a:off x="990600" y="1524000"/>
            <a:ext cx="10363200" cy="4403065"/>
          </a:xfrm>
          <a:prstGeom prst="rect">
            <a:avLst/>
          </a:prstGeom>
          <a:noFill/>
        </p:spPr>
        <p:txBody>
          <a:bodyPr wrap="square">
            <a:spAutoFit/>
          </a:bodyPr>
          <a:lstStyle/>
          <a:p>
            <a:pPr marL="514350" indent="-514350">
              <a:lnSpc>
                <a:spcPct val="200000"/>
              </a:lnSpc>
              <a:buAutoNum type="romanUcPeriod"/>
            </a:pPr>
            <a:r>
              <a:rPr lang="en-US" b="1" dirty="0">
                <a:latin typeface="Bahnschrift" panose="020B0502040204020203" pitchFamily="34" charset="0"/>
              </a:rPr>
              <a:t>Rationale of Outlook and underlying model</a:t>
            </a:r>
            <a:endParaRPr lang="en-GB" b="1" dirty="0">
              <a:latin typeface="Bahnschrift" panose="020B0502040204020203" pitchFamily="34" charset="0"/>
            </a:endParaRPr>
          </a:p>
          <a:p>
            <a:pPr marL="514350" indent="-514350">
              <a:lnSpc>
                <a:spcPct val="200000"/>
              </a:lnSpc>
              <a:buAutoNum type="romanUcPeriod"/>
            </a:pPr>
            <a:r>
              <a:rPr lang="en-US" b="1" dirty="0">
                <a:latin typeface="Bahnschrift" panose="020B0502040204020203" pitchFamily="34" charset="0"/>
              </a:rPr>
              <a:t>Recent macroeconomic developments</a:t>
            </a:r>
          </a:p>
          <a:p>
            <a:pPr marL="514350" indent="-514350">
              <a:lnSpc>
                <a:spcPct val="200000"/>
              </a:lnSpc>
              <a:buAutoNum type="romanUcPeriod"/>
            </a:pPr>
            <a:r>
              <a:rPr lang="en-US" b="1" dirty="0">
                <a:solidFill>
                  <a:srgbClr val="FF0000"/>
                </a:solidFill>
                <a:latin typeface="Bahnschrift" panose="020B0502040204020203" pitchFamily="34" charset="0"/>
              </a:rPr>
              <a:t>Initial conditions and assumptions for forecast</a:t>
            </a:r>
          </a:p>
          <a:p>
            <a:pPr marL="514350" indent="-514350">
              <a:lnSpc>
                <a:spcPct val="200000"/>
              </a:lnSpc>
              <a:buAutoNum type="romanUcPeriod"/>
            </a:pPr>
            <a:r>
              <a:rPr lang="en-US" b="1" dirty="0">
                <a:latin typeface="Bahnschrift" panose="020B0502040204020203" pitchFamily="34" charset="0"/>
              </a:rPr>
              <a:t>Macroeconomic forecast/outlook</a:t>
            </a:r>
          </a:p>
          <a:p>
            <a:pPr marL="514350" indent="-514350">
              <a:lnSpc>
                <a:spcPct val="200000"/>
              </a:lnSpc>
              <a:buFontTx/>
              <a:buAutoNum type="romanUcPeriod"/>
            </a:pPr>
            <a:r>
              <a:rPr lang="en-GB" b="1" dirty="0">
                <a:latin typeface="Bahnschrift" panose="020B0502040204020203" pitchFamily="34" charset="0"/>
              </a:rPr>
              <a:t>Forecast evaluation (forecast comparison and effect recalibration)</a:t>
            </a:r>
            <a:endParaRPr lang="en-US" b="1" dirty="0">
              <a:latin typeface="Bahnschrift" panose="020B0502040204020203" pitchFamily="34" charset="0"/>
            </a:endParaRPr>
          </a:p>
          <a:p>
            <a:pPr marL="514350" indent="-514350">
              <a:lnSpc>
                <a:spcPct val="200000"/>
              </a:lnSpc>
              <a:buAutoNum type="romanUcPeriod"/>
            </a:pPr>
            <a:r>
              <a:rPr lang="en-US" b="1" dirty="0">
                <a:latin typeface="Bahnschrift" panose="020B0502040204020203" pitchFamily="34" charset="0"/>
                <a:cs typeface="+mj-cs"/>
              </a:rPr>
              <a:t>QMFM interrelation with macro toolbox (nowcasting, intMF)</a:t>
            </a:r>
          </a:p>
        </p:txBody>
      </p:sp>
    </p:spTree>
    <p:extLst>
      <p:ext uri="{BB962C8B-B14F-4D97-AF65-F5344CB8AC3E}">
        <p14:creationId xmlns:p14="http://schemas.microsoft.com/office/powerpoint/2010/main" val="24769597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E66D5-96F8-C776-06D5-E110B7CAB17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255FB16-A2D7-AA50-F4D7-7329FBD673E0}"/>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97AE203-F84D-4A7F-B161-8561326BE072}" type="slidenum">
              <a:rPr kumimoji="0" lang="en-US" sz="1000" b="0" i="0" u="none" strike="noStrike" kern="1200" cap="none" spc="0" normalizeH="0" baseline="0" noProof="0" smtClean="0">
                <a:ln>
                  <a:noFill/>
                </a:ln>
                <a:solidFill>
                  <a:srgbClr val="464653"/>
                </a:solidFill>
                <a:effectLst/>
                <a:uLnTx/>
                <a:uFillTx/>
                <a:latin typeface="Gill Sans MT"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sz="1000" b="0" i="0" u="none" strike="noStrike" kern="1200" cap="none" spc="0" normalizeH="0" baseline="0" noProof="0" dirty="0">
              <a:ln>
                <a:noFill/>
              </a:ln>
              <a:solidFill>
                <a:srgbClr val="464653"/>
              </a:solidFill>
              <a:effectLst/>
              <a:uLnTx/>
              <a:uFillTx/>
              <a:latin typeface="Gill Sans MT" charset="0"/>
              <a:ea typeface="ＭＳ Ｐゴシック" charset="-128"/>
              <a:cs typeface="+mn-cs"/>
            </a:endParaRPr>
          </a:p>
        </p:txBody>
      </p:sp>
      <p:sp>
        <p:nvSpPr>
          <p:cNvPr id="2" name="Title 1">
            <a:extLst>
              <a:ext uri="{FF2B5EF4-FFF2-40B4-BE49-F238E27FC236}">
                <a16:creationId xmlns:a16="http://schemas.microsoft.com/office/drawing/2014/main" id="{377CEE73-C74B-3B84-4080-A52B3299E858}"/>
              </a:ext>
            </a:extLst>
          </p:cNvPr>
          <p:cNvSpPr>
            <a:spLocks noGrp="1"/>
          </p:cNvSpPr>
          <p:nvPr>
            <p:ph type="title" idx="4294967295"/>
          </p:nvPr>
        </p:nvSpPr>
        <p:spPr>
          <a:xfrm>
            <a:off x="3276600" y="381000"/>
            <a:ext cx="6019800" cy="549274"/>
          </a:xfrm>
        </p:spPr>
        <p:txBody>
          <a:bodyPr>
            <a:normAutofit fontScale="90000"/>
          </a:bodyPr>
          <a:lstStyle/>
          <a:p>
            <a:pPr algn="ctr">
              <a:lnSpc>
                <a:spcPct val="200000"/>
              </a:lnSpc>
            </a:pPr>
            <a:r>
              <a:rPr lang="en-US" b="1" dirty="0">
                <a:solidFill>
                  <a:srgbClr val="008BCC"/>
                </a:solidFill>
                <a:latin typeface="Bahnschrift" panose="020B0502040204020203" pitchFamily="34" charset="0"/>
                <a:cs typeface="+mn-cs"/>
              </a:rPr>
              <a:t>Acronyms</a:t>
            </a:r>
            <a:endParaRPr lang="en-AE" b="1" dirty="0">
              <a:solidFill>
                <a:srgbClr val="008BCC"/>
              </a:solidFill>
              <a:latin typeface="Bahnschrift" panose="020B0502040204020203" pitchFamily="34" charset="0"/>
              <a:cs typeface="+mn-cs"/>
            </a:endParaRPr>
          </a:p>
        </p:txBody>
      </p:sp>
      <p:sp>
        <p:nvSpPr>
          <p:cNvPr id="5" name="Content Placeholder 2">
            <a:extLst>
              <a:ext uri="{FF2B5EF4-FFF2-40B4-BE49-F238E27FC236}">
                <a16:creationId xmlns:a16="http://schemas.microsoft.com/office/drawing/2014/main" id="{FC154AE9-F001-8533-BC32-D910385AC87E}"/>
              </a:ext>
            </a:extLst>
          </p:cNvPr>
          <p:cNvSpPr txBox="1">
            <a:spLocks/>
          </p:cNvSpPr>
          <p:nvPr/>
        </p:nvSpPr>
        <p:spPr>
          <a:xfrm>
            <a:off x="609600" y="1143000"/>
            <a:ext cx="5334000" cy="5334000"/>
          </a:xfrm>
          <a:prstGeom prst="rect">
            <a:avLst/>
          </a:prstGeom>
          <a:ln>
            <a:solidFill>
              <a:schemeClr val="accent1">
                <a:lumMod val="40000"/>
                <a:lumOff val="60000"/>
              </a:schemeClr>
            </a:solidFill>
          </a:ln>
        </p:spPr>
        <p:txBody>
          <a:bodyPr>
            <a:noAutofit/>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FPAS</a:t>
            </a:r>
            <a:r>
              <a:rPr kumimoji="0" lang="en-GB" sz="1600" b="0"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 </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Forecasting and Policy Analysis System (FPAS)</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ER: </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Exchange Rate</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RER:  </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Real Exchange Rate</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IB</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  Interbank interest rate</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RIR:  </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Real Interest Rate</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NTF:  </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Neal Term Forecast</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MT and L</a:t>
            </a:r>
            <a:r>
              <a:rPr kumimoji="0" lang="en-GB" sz="1600" b="0"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T</a:t>
            </a: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  </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Medium-Term</a:t>
            </a: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 </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Long-Term</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YoY, %:  </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Year on Year Percentage Change</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G&amp;S:  </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goods and services (govt demand, exports, …)</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US"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WEO:  </a:t>
            </a:r>
            <a:r>
              <a:rPr kumimoji="0" lang="en-US"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World Economic Outlook (by IMF)</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US"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GAS:  </a:t>
            </a:r>
            <a:r>
              <a:rPr kumimoji="0" lang="en-US"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General Assumptions (in WEO)</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US"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GEE:  </a:t>
            </a:r>
            <a:r>
              <a:rPr kumimoji="0" lang="en-US"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General Economic Environment (in WEO)</a:t>
            </a: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r>
              <a:rPr kumimoji="0" lang="en-US"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ea typeface="ＭＳ Ｐゴシック" charset="-128"/>
                <a:cs typeface="+mn-cs"/>
              </a:rPr>
              <a:t>CBO</a:t>
            </a:r>
            <a:r>
              <a:rPr kumimoji="0" lang="en-US"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  Central Budget Office US</a:t>
            </a:r>
            <a:endPar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endParaRPr>
          </a:p>
          <a:p>
            <a:pPr marL="273050" marR="0" lvl="0" indent="-273050" algn="l" defTabSz="914400" rtl="0" eaLnBrk="0" fontAlgn="base" latinLnBrk="0" hangingPunct="0">
              <a:lnSpc>
                <a:spcPct val="100000"/>
              </a:lnSpc>
              <a:spcBef>
                <a:spcPts val="600"/>
              </a:spcBef>
              <a:spcAft>
                <a:spcPts val="600"/>
              </a:spcAft>
              <a:buClr>
                <a:srgbClr val="00B0F0"/>
              </a:buClr>
              <a:buSzPct val="76000"/>
              <a:buFont typeface="Wingdings" panose="05000000000000000000" pitchFamily="2" charset="2"/>
              <a:buChar char="§"/>
              <a:tabLst/>
              <a:defRPr/>
            </a:pPr>
            <a:endParaRPr kumimoji="0" lang="en-GB" sz="1800" b="0"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endParaRPr>
          </a:p>
        </p:txBody>
      </p:sp>
      <p:sp>
        <p:nvSpPr>
          <p:cNvPr id="4" name="Content Placeholder 2">
            <a:extLst>
              <a:ext uri="{FF2B5EF4-FFF2-40B4-BE49-F238E27FC236}">
                <a16:creationId xmlns:a16="http://schemas.microsoft.com/office/drawing/2014/main" id="{BE7C06F3-7D38-F318-7279-90BF1F4262B5}"/>
              </a:ext>
            </a:extLst>
          </p:cNvPr>
          <p:cNvSpPr txBox="1">
            <a:spLocks/>
          </p:cNvSpPr>
          <p:nvPr/>
        </p:nvSpPr>
        <p:spPr>
          <a:xfrm>
            <a:off x="6019800" y="1143000"/>
            <a:ext cx="5334000" cy="5334000"/>
          </a:xfrm>
          <a:prstGeom prst="rect">
            <a:avLst/>
          </a:prstGeom>
          <a:ln>
            <a:solidFill>
              <a:schemeClr val="accent1">
                <a:lumMod val="40000"/>
                <a:lumOff val="60000"/>
              </a:schemeClr>
            </a:solidFill>
          </a:ln>
        </p:spPr>
        <p:txBody>
          <a:bodyPr>
            <a:noAutofit/>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marR="0" lvl="0" indent="0" algn="l" defTabSz="914400" rtl="0" eaLnBrk="0" fontAlgn="base" latinLnBrk="0" hangingPunct="0">
              <a:lnSpc>
                <a:spcPct val="100000"/>
              </a:lnSpc>
              <a:spcBef>
                <a:spcPts val="600"/>
              </a:spcBef>
              <a:spcAft>
                <a:spcPts val="600"/>
              </a:spcAft>
              <a:buClr>
                <a:srgbClr val="00B0F0"/>
              </a:buClr>
              <a:buSzPct val="76000"/>
              <a:buFont typeface="Wingdings 3" charset="2"/>
              <a:buNone/>
              <a:tabLst/>
              <a:defRPr/>
            </a:pPr>
            <a:endParaRPr kumimoji="0" lang="en-GB" sz="1800" b="0"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endParaRPr>
          </a:p>
        </p:txBody>
      </p:sp>
    </p:spTree>
    <p:extLst>
      <p:ext uri="{BB962C8B-B14F-4D97-AF65-F5344CB8AC3E}">
        <p14:creationId xmlns:p14="http://schemas.microsoft.com/office/powerpoint/2010/main" val="3241965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F2C85A4-DDE9-C3B5-5A35-6FA477425280}"/>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97AE203-F84D-4A7F-B161-8561326BE072}" type="slidenum">
              <a:rPr kumimoji="0" lang="en-US" sz="1000" b="0" i="0" u="none" strike="noStrike" kern="1200" cap="none" spc="0" normalizeH="0" baseline="0" noProof="0" smtClean="0">
                <a:ln>
                  <a:noFill/>
                </a:ln>
                <a:solidFill>
                  <a:srgbClr val="464653"/>
                </a:solidFill>
                <a:effectLst/>
                <a:uLnTx/>
                <a:uFillTx/>
                <a:latin typeface="Gill Sans MT"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3</a:t>
            </a:fld>
            <a:endParaRPr kumimoji="0" lang="en-US" sz="1000" b="0" i="0" u="none" strike="noStrike" kern="1200" cap="none" spc="0" normalizeH="0" baseline="0" noProof="0" dirty="0">
              <a:ln>
                <a:noFill/>
              </a:ln>
              <a:solidFill>
                <a:srgbClr val="464653"/>
              </a:solidFill>
              <a:effectLst/>
              <a:uLnTx/>
              <a:uFillTx/>
              <a:latin typeface="Gill Sans MT" charset="0"/>
              <a:ea typeface="ＭＳ Ｐゴシック" charset="-128"/>
              <a:cs typeface="+mn-cs"/>
            </a:endParaRPr>
          </a:p>
        </p:txBody>
      </p:sp>
      <p:sp>
        <p:nvSpPr>
          <p:cNvPr id="2" name="Title 1">
            <a:extLst>
              <a:ext uri="{FF2B5EF4-FFF2-40B4-BE49-F238E27FC236}">
                <a16:creationId xmlns:a16="http://schemas.microsoft.com/office/drawing/2014/main" id="{EED2D1E2-CA9D-BA89-EEEC-51D78AD3808C}"/>
              </a:ext>
            </a:extLst>
          </p:cNvPr>
          <p:cNvSpPr>
            <a:spLocks noGrp="1"/>
          </p:cNvSpPr>
          <p:nvPr>
            <p:ph type="title" idx="4294967295"/>
          </p:nvPr>
        </p:nvSpPr>
        <p:spPr>
          <a:xfrm>
            <a:off x="2971800" y="473075"/>
            <a:ext cx="6477000" cy="457200"/>
          </a:xfrm>
        </p:spPr>
        <p:txBody>
          <a:bodyPr>
            <a:normAutofit fontScale="90000"/>
          </a:bodyPr>
          <a:lstStyle/>
          <a:p>
            <a:pPr algn="ctr">
              <a:lnSpc>
                <a:spcPct val="200000"/>
              </a:lnSpc>
            </a:pPr>
            <a:r>
              <a:rPr lang="en-US" sz="2400" b="1" dirty="0">
                <a:solidFill>
                  <a:srgbClr val="008BCC"/>
                </a:solidFill>
                <a:latin typeface="Bahnschrift" panose="020B0502040204020203" pitchFamily="34" charset="0"/>
                <a:cs typeface="+mn-cs"/>
              </a:rPr>
              <a:t>Glossary of key terms</a:t>
            </a:r>
            <a:endParaRPr lang="en-AE" sz="2400" b="1" dirty="0">
              <a:solidFill>
                <a:srgbClr val="008BCC"/>
              </a:solidFill>
              <a:latin typeface="Bahnschrift" panose="020B0502040204020203" pitchFamily="34" charset="0"/>
              <a:cs typeface="+mn-cs"/>
            </a:endParaRPr>
          </a:p>
        </p:txBody>
      </p:sp>
      <p:sp>
        <p:nvSpPr>
          <p:cNvPr id="5" name="Content Placeholder 2">
            <a:extLst>
              <a:ext uri="{FF2B5EF4-FFF2-40B4-BE49-F238E27FC236}">
                <a16:creationId xmlns:a16="http://schemas.microsoft.com/office/drawing/2014/main" id="{9B6C95DA-AC08-36FA-592F-0A9D270D4B58}"/>
              </a:ext>
            </a:extLst>
          </p:cNvPr>
          <p:cNvSpPr txBox="1">
            <a:spLocks/>
          </p:cNvSpPr>
          <p:nvPr/>
        </p:nvSpPr>
        <p:spPr>
          <a:xfrm>
            <a:off x="533400" y="1066800"/>
            <a:ext cx="10972800" cy="5289550"/>
          </a:xfrm>
          <a:prstGeom prst="rect">
            <a:avLst/>
          </a:prstGeom>
          <a:ln>
            <a:solidFill>
              <a:schemeClr val="accent1">
                <a:lumMod val="40000"/>
                <a:lumOff val="60000"/>
              </a:schemeClr>
            </a:solidFill>
          </a:ln>
        </p:spPr>
        <p:txBody>
          <a:bodyPr>
            <a:noAutofit/>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Output gap &amp; final demand gaps (+/-):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output Y above/below potential or trend level Y*, i.e., output gap is log(Y/Y*) &gt;&lt; 0</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Real interest &amp; real exchange rate gaps</a:t>
            </a:r>
            <a:r>
              <a:rPr kumimoji="0" lang="en-GB" sz="1200" b="1"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RIR and RER above/below neutral or equilibrium levels</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Decomposition of macro aggregates by main drivers</a:t>
            </a:r>
            <a:r>
              <a:rPr kumimoji="0" lang="en-GB" sz="1200" b="1"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coloured bars in charts show contribution of each</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Fiscal deficit </a:t>
            </a:r>
            <a:r>
              <a:rPr kumimoji="0" lang="en-GB" sz="1200" b="1" i="0" u="none" strike="noStrike" kern="1200" cap="none" spc="0" normalizeH="0" baseline="0" noProof="0" dirty="0">
                <a:ln>
                  <a:noFill/>
                </a:ln>
                <a:solidFill>
                  <a:srgbClr val="002060"/>
                </a:solidFill>
                <a:effectLst/>
                <a:uLnTx/>
                <a:uFillTx/>
                <a:latin typeface="Bahnschrift SemiLight" panose="020B0502040204020203" pitchFamily="34" charset="0"/>
                <a:ea typeface="ＭＳ Ｐゴシック" charset="-128"/>
                <a:cs typeface="+mn-cs"/>
              </a:rPr>
              <a:t>relevant for demand impact</a:t>
            </a:r>
            <a:r>
              <a:rPr kumimoji="0" lang="en-GB" sz="1200" b="1"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deficit before grants = total expenditure -/- non/tax revenue</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Debt anchor &amp; sustainable deficit</a:t>
            </a:r>
            <a:r>
              <a:rPr kumimoji="0" lang="en-GB" sz="1200" b="1"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debt ratio to GDP target (with LT growth, inflation rates, etc.) drives sustainable debt-creating deficit. </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Fiscal stance expansionary/contractionary: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deficit, govt demand G&amp;S in % GDP above/below trend levels (“discretionary” deficit, demand &gt;&lt;0) </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Fiscal impulse (on private demand):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mainly</a:t>
            </a:r>
            <a:r>
              <a:rPr kumimoji="0" lang="en-GB" sz="1200" b="0"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discretionary fiscal deficit affecting consumption &amp; investment   (via income, ‘optimism’) </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More/less restrictive monetary policies</a:t>
            </a:r>
            <a:r>
              <a:rPr kumimoji="0" lang="en-GB" sz="1200" b="1"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(real) interest rates above/below neutral or trend levels</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More/less restrictive exchange rate policies</a:t>
            </a:r>
            <a:r>
              <a:rPr kumimoji="0" lang="en-GB" sz="1200" b="1"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real exchange rate below/above equilibrium or trend level</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Role expectations</a:t>
            </a:r>
            <a:r>
              <a:rPr kumimoji="0" lang="en-GB" sz="1200" b="1" i="0" u="none" strike="noStrike" kern="1200" cap="none" spc="0" normalizeH="0" baseline="0" noProof="0" dirty="0">
                <a:ln>
                  <a:noFill/>
                </a:ln>
                <a:solidFill>
                  <a:srgbClr val="002060"/>
                </a:solidFill>
                <a:effectLst/>
                <a:uLnTx/>
                <a:uFillTx/>
                <a:latin typeface="Bahnschrift SemiLight" panose="020B0502040204020203" pitchFamily="34" charset="0"/>
                <a:ea typeface="ＭＳ Ｐゴシック" charset="-128"/>
                <a:cs typeface="+mn-cs"/>
              </a:rPr>
              <a:t>:</a:t>
            </a:r>
            <a:r>
              <a:rPr kumimoji="0" lang="en-GB" sz="1200" b="1"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agents today consider expected macro variables and policies in future (expected inflation, exchange rate, demand gaps,…)</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Forward-looking</a:t>
            </a:r>
            <a:r>
              <a:rPr kumimoji="0" lang="en-GB" sz="1200" b="1"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one or four periods ahead behavioural expectations/speculations  {+1} or {+4 Q} </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Persistence:</a:t>
            </a:r>
            <a:r>
              <a:rPr kumimoji="0" lang="en-GB" sz="1200" b="1"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lag or effect of previous/initial values or behaviours</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Trend </a:t>
            </a:r>
            <a:r>
              <a:rPr kumimoji="0" lang="en-GB" sz="1200" b="0"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(unobserved):</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 trends of key macro variables are estimated; set steady state trends (to which variables converge in absence of shocks)</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Shock: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All other factors not captured by model equation or parameter specification </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kumimoji="0" lang="en-GB" sz="1200" b="1"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Decomposition </a:t>
            </a:r>
            <a:r>
              <a:rPr kumimoji="0" lang="en-GB" sz="1200" b="0" i="0" u="none" strike="noStrike" kern="1200" cap="none" spc="0" normalizeH="0" baseline="0" noProof="0" dirty="0">
                <a:ln>
                  <a:noFill/>
                </a:ln>
                <a:solidFill>
                  <a:srgbClr val="192EF7">
                    <a:lumMod val="50000"/>
                  </a:srgbClr>
                </a:solidFill>
                <a:effectLst/>
                <a:uLnTx/>
                <a:uFillTx/>
                <a:latin typeface="Bahnschrift SemiLight" panose="020B0502040204020203" pitchFamily="34" charset="0"/>
                <a:ea typeface="ＭＳ Ｐゴシック" charset="-128"/>
                <a:cs typeface="+mn-cs"/>
              </a:rPr>
              <a:t>(level, growth rate, % GDP): </a:t>
            </a:r>
            <a:r>
              <a:rPr kumimoji="0" lang="en-GB" sz="1200" b="0" i="0" u="none" strike="noStrike" kern="1200" cap="none" spc="0" normalizeH="0" baseline="0" noProof="0" dirty="0">
                <a:ln>
                  <a:noFill/>
                </a:ln>
                <a:solidFill>
                  <a:prstClr val="black"/>
                </a:solidFill>
                <a:effectLst/>
                <a:uLnTx/>
                <a:uFillTx/>
                <a:latin typeface="Bahnschrift SemiLight" panose="020B0502040204020203" pitchFamily="34" charset="0"/>
                <a:ea typeface="ＭＳ Ｐゴシック" charset="-128"/>
                <a:cs typeface="+mn-cs"/>
              </a:rPr>
              <a:t>e.g., output (gap) by final demands, GDP growth by components, deficit % of GDP by revenue, exp.</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lang="en-GB" sz="1200" b="1" dirty="0">
                <a:solidFill>
                  <a:srgbClr val="C00000"/>
                </a:solidFill>
                <a:latin typeface="Bahnschrift SemiLight" panose="020B0502040204020203" pitchFamily="34" charset="0"/>
              </a:rPr>
              <a:t>Overvaluation and undervaluation</a:t>
            </a:r>
          </a:p>
          <a:p>
            <a:pPr marL="273050" marR="0" lvl="0" indent="-27305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endParaRPr kumimoji="0" lang="en-GB" sz="12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endParaRPr>
          </a:p>
        </p:txBody>
      </p:sp>
    </p:spTree>
    <p:extLst>
      <p:ext uri="{BB962C8B-B14F-4D97-AF65-F5344CB8AC3E}">
        <p14:creationId xmlns:p14="http://schemas.microsoft.com/office/powerpoint/2010/main" val="26690763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F3451-F807-0A0F-1199-16CC6C89E63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533F254-D5FE-83EA-AD15-7D09DFD77458}"/>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97AE203-F84D-4A7F-B161-8561326BE072}" type="slidenum">
              <a:rPr kumimoji="0" lang="en-US" sz="1000" b="0" i="0" u="none" strike="noStrike" kern="1200" cap="none" spc="0" normalizeH="0" baseline="0" noProof="0" smtClean="0">
                <a:ln>
                  <a:noFill/>
                </a:ln>
                <a:solidFill>
                  <a:srgbClr val="464653"/>
                </a:solidFill>
                <a:effectLst/>
                <a:uLnTx/>
                <a:uFillTx/>
                <a:latin typeface="Gill Sans MT"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sz="1000" b="0" i="0" u="none" strike="noStrike" kern="1200" cap="none" spc="0" normalizeH="0" baseline="0" noProof="0" dirty="0">
              <a:ln>
                <a:noFill/>
              </a:ln>
              <a:solidFill>
                <a:srgbClr val="464653"/>
              </a:solidFill>
              <a:effectLst/>
              <a:uLnTx/>
              <a:uFillTx/>
              <a:latin typeface="Gill Sans MT" charset="0"/>
              <a:ea typeface="ＭＳ Ｐゴシック" charset="-128"/>
              <a:cs typeface="+mn-cs"/>
            </a:endParaRPr>
          </a:p>
        </p:txBody>
      </p:sp>
      <p:sp>
        <p:nvSpPr>
          <p:cNvPr id="2" name="Title 1">
            <a:extLst>
              <a:ext uri="{FF2B5EF4-FFF2-40B4-BE49-F238E27FC236}">
                <a16:creationId xmlns:a16="http://schemas.microsoft.com/office/drawing/2014/main" id="{A81CA196-8B58-7376-E9BC-FCD9FA95F6F2}"/>
              </a:ext>
            </a:extLst>
          </p:cNvPr>
          <p:cNvSpPr>
            <a:spLocks noGrp="1"/>
          </p:cNvSpPr>
          <p:nvPr>
            <p:ph type="title" idx="4294967295"/>
          </p:nvPr>
        </p:nvSpPr>
        <p:spPr>
          <a:xfrm>
            <a:off x="3200400" y="609600"/>
            <a:ext cx="6997700" cy="559921"/>
          </a:xfrm>
        </p:spPr>
        <p:txBody>
          <a:bodyPr>
            <a:noAutofit/>
          </a:bodyPr>
          <a:lstStyle/>
          <a:p>
            <a:pPr>
              <a:lnSpc>
                <a:spcPct val="200000"/>
              </a:lnSpc>
            </a:pPr>
            <a:r>
              <a:rPr lang="en-GB" sz="2400" b="1" dirty="0">
                <a:solidFill>
                  <a:srgbClr val="008BCC"/>
                </a:solidFill>
                <a:latin typeface="Bahnschrift" panose="020B0502040204020203" pitchFamily="34" charset="0"/>
                <a:cs typeface="+mn-cs"/>
              </a:rPr>
              <a:t>I. Rationale of outlook &amp; underlying QMFM model</a:t>
            </a:r>
            <a:endParaRPr lang="en-AE" sz="2400" b="1" dirty="0">
              <a:solidFill>
                <a:srgbClr val="008BCC"/>
              </a:solidFill>
              <a:latin typeface="Bahnschrift" panose="020B0502040204020203" pitchFamily="34" charset="0"/>
              <a:cs typeface="+mn-cs"/>
            </a:endParaRPr>
          </a:p>
        </p:txBody>
      </p:sp>
      <p:sp>
        <p:nvSpPr>
          <p:cNvPr id="5" name="Content Placeholder 2">
            <a:extLst>
              <a:ext uri="{FF2B5EF4-FFF2-40B4-BE49-F238E27FC236}">
                <a16:creationId xmlns:a16="http://schemas.microsoft.com/office/drawing/2014/main" id="{1B485FBB-CAC8-34BD-B1D2-7D0D58943C66}"/>
              </a:ext>
            </a:extLst>
          </p:cNvPr>
          <p:cNvSpPr txBox="1">
            <a:spLocks/>
          </p:cNvSpPr>
          <p:nvPr/>
        </p:nvSpPr>
        <p:spPr>
          <a:xfrm>
            <a:off x="762000" y="1295400"/>
            <a:ext cx="10591800" cy="4953000"/>
          </a:xfrm>
          <a:prstGeom prst="rect">
            <a:avLst/>
          </a:prstGeom>
          <a:ln>
            <a:solidFill>
              <a:schemeClr val="accent1">
                <a:lumMod val="40000"/>
                <a:lumOff val="60000"/>
              </a:schemeClr>
            </a:solidFill>
          </a:ln>
        </p:spPr>
        <p:txBody>
          <a:bodyPr>
            <a:noAutofit/>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273050" marR="0" lvl="0" indent="-273050" algn="l" defTabSz="914400" rtl="0" eaLnBrk="0" fontAlgn="base" latinLnBrk="0" hangingPunct="0">
              <a:lnSpc>
                <a:spcPct val="150000"/>
              </a:lnSpc>
              <a:spcBef>
                <a:spcPts val="600"/>
              </a:spcBef>
              <a:spcAft>
                <a:spcPts val="600"/>
              </a:spcAft>
              <a:buClr>
                <a:srgbClr val="00B0F0"/>
              </a:buClr>
              <a:buSzPct val="76000"/>
              <a:buFont typeface="Wingdings" panose="05000000000000000000" pitchFamily="2" charset="2"/>
              <a:buChar char="§"/>
              <a:tabLst/>
              <a:defRPr/>
            </a:pPr>
            <a:r>
              <a:rPr kumimoji="0" lang="en-GB" sz="1400" b="1"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Regular forecasts 16 quarters ahead for key macro aggregates </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(i.e., output, inflation, final demands, ..)</a:t>
            </a:r>
            <a:r>
              <a:rPr kumimoji="0" lang="en-GB" sz="1400" b="0"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 </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as influenced by fiscal, monetary, and exchange rate policies, incl. in response to shocks and new developments (</a:t>
            </a:r>
            <a:r>
              <a:rPr kumimoji="0" lang="en-GB" sz="1400" b="0"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scenario simulations</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a:t>
            </a:r>
          </a:p>
          <a:p>
            <a:pPr marL="273050" marR="0" lvl="0" indent="-273050" algn="l" defTabSz="914400" rtl="0" eaLnBrk="0" fontAlgn="base" latinLnBrk="0" hangingPunct="0">
              <a:lnSpc>
                <a:spcPct val="150000"/>
              </a:lnSpc>
              <a:spcBef>
                <a:spcPts val="600"/>
              </a:spcBef>
              <a:spcAft>
                <a:spcPts val="600"/>
              </a:spcAft>
              <a:buClr>
                <a:srgbClr val="00B0F0"/>
              </a:buClr>
              <a:buSzPct val="76000"/>
              <a:buFont typeface="Wingdings" panose="05000000000000000000" pitchFamily="2" charset="2"/>
              <a:buChar char="§"/>
              <a:tabLst/>
              <a:defRPr/>
            </a:pPr>
            <a:r>
              <a:rPr kumimoji="0" lang="en-GB" sz="1400" b="1"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Emphasis on fiscal and financing/debt policies</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 and interaction with monetary and exchange rate policies, </a:t>
            </a:r>
            <a:r>
              <a:rPr kumimoji="0" lang="en-US"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facilitating </a:t>
            </a:r>
            <a:r>
              <a:rPr kumimoji="0" lang="en-US" sz="1400" b="0"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policy coordination </a:t>
            </a:r>
            <a:r>
              <a:rPr kumimoji="0" lang="en-US"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between MINECOFIN and NBR</a:t>
            </a:r>
            <a:endPar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endParaRPr>
          </a:p>
          <a:p>
            <a:pPr marL="273050" marR="0" lvl="0" indent="-273050" algn="l" defTabSz="914400" rtl="0" eaLnBrk="0" fontAlgn="base" latinLnBrk="0" hangingPunct="0">
              <a:lnSpc>
                <a:spcPct val="150000"/>
              </a:lnSpc>
              <a:spcBef>
                <a:spcPts val="600"/>
              </a:spcBef>
              <a:spcAft>
                <a:spcPts val="600"/>
              </a:spcAft>
              <a:buClr>
                <a:srgbClr val="00B0F0"/>
              </a:buClr>
              <a:buSzPct val="76000"/>
              <a:buFont typeface="Wingdings" panose="05000000000000000000" pitchFamily="2" charset="2"/>
              <a:buChar char="§"/>
              <a:tabLst/>
              <a:defRPr/>
            </a:pPr>
            <a:r>
              <a:rPr kumimoji="0" lang="en-GB" sz="1400" b="1"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Input for </a:t>
            </a:r>
            <a:r>
              <a:rPr kumimoji="0" lang="en-US" sz="1400" b="1"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validated macro-fiscal projections in intMF</a:t>
            </a:r>
            <a:r>
              <a:rPr kumimoji="0" lang="en-US" sz="1400" b="0"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 </a:t>
            </a:r>
            <a:r>
              <a:rPr kumimoji="0" lang="en-US"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underpinning MT budgets and IMF programs (checks on intMF)</a:t>
            </a:r>
          </a:p>
          <a:p>
            <a:pPr marL="273050" marR="0" lvl="0" indent="-273050" algn="l" defTabSz="914400" rtl="0" eaLnBrk="0" fontAlgn="base" latinLnBrk="0" hangingPunct="0">
              <a:lnSpc>
                <a:spcPct val="150000"/>
              </a:lnSpc>
              <a:spcBef>
                <a:spcPts val="600"/>
              </a:spcBef>
              <a:spcAft>
                <a:spcPts val="600"/>
              </a:spcAft>
              <a:buClr>
                <a:srgbClr val="00B0F0"/>
              </a:buClr>
              <a:buSzPct val="76000"/>
              <a:buFont typeface="Wingdings" panose="05000000000000000000" pitchFamily="2" charset="2"/>
              <a:buChar char="§"/>
              <a:tabLst/>
              <a:defRPr/>
            </a:pPr>
            <a:r>
              <a:rPr kumimoji="0" lang="en-GB" sz="1400" b="1"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Underlying macro model </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is New-Keynesian, ‘semi-structural, gap model, FPAS-type</a:t>
            </a:r>
          </a:p>
          <a:p>
            <a:pPr marL="273050" marR="0" lvl="0" indent="-273050" algn="l" defTabSz="914400" rtl="0" eaLnBrk="0" fontAlgn="base" latinLnBrk="0" hangingPunct="0">
              <a:lnSpc>
                <a:spcPct val="150000"/>
              </a:lnSpc>
              <a:spcBef>
                <a:spcPts val="600"/>
              </a:spcBef>
              <a:spcAft>
                <a:spcPts val="600"/>
              </a:spcAft>
              <a:buClr>
                <a:srgbClr val="00B0F0"/>
              </a:buClr>
              <a:buSzPct val="76000"/>
              <a:buFont typeface="Wingdings" panose="05000000000000000000" pitchFamily="2" charset="2"/>
              <a:buChar char="§"/>
              <a:tabLst/>
              <a:defRPr/>
            </a:pPr>
            <a:r>
              <a:rPr kumimoji="0" lang="en-GB" sz="1400" b="1"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Uses analysis of past observations and estimated trends </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to fit model to data; assesses initial condition for forecast</a:t>
            </a:r>
          </a:p>
          <a:p>
            <a:pPr marL="273050" marR="0" lvl="0" indent="-273050" algn="l" defTabSz="914400" rtl="0" eaLnBrk="0" fontAlgn="base" latinLnBrk="0" hangingPunct="0">
              <a:lnSpc>
                <a:spcPct val="150000"/>
              </a:lnSpc>
              <a:spcBef>
                <a:spcPts val="600"/>
              </a:spcBef>
              <a:spcAft>
                <a:spcPts val="600"/>
              </a:spcAft>
              <a:buClr>
                <a:srgbClr val="00B0F0"/>
              </a:buClr>
              <a:buSzPct val="76000"/>
              <a:buFont typeface="Wingdings" panose="05000000000000000000" pitchFamily="2" charset="2"/>
              <a:buChar char="§"/>
              <a:tabLst/>
              <a:defRPr/>
            </a:pPr>
            <a:r>
              <a:rPr kumimoji="0" lang="en-GB" sz="1400" b="1"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Forecast premises</a:t>
            </a:r>
            <a:r>
              <a:rPr kumimoji="0" lang="en-GB" sz="1400" b="1"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 </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policy stance (fiscal deficit path, current policy interest rate, and ER), assumptions on external environment, other exogenous, and near-term forecasts for GDP and CPI, depending on other tools and judgment </a:t>
            </a:r>
          </a:p>
          <a:p>
            <a:pPr marL="273050" marR="0" lvl="0" indent="-273050" algn="l" defTabSz="914400" rtl="0" eaLnBrk="0" fontAlgn="base" latinLnBrk="0" hangingPunct="0">
              <a:lnSpc>
                <a:spcPct val="150000"/>
              </a:lnSpc>
              <a:spcBef>
                <a:spcPts val="600"/>
              </a:spcBef>
              <a:spcAft>
                <a:spcPts val="600"/>
              </a:spcAft>
              <a:buClr>
                <a:srgbClr val="00B0F0"/>
              </a:buClr>
              <a:buSzPct val="76000"/>
              <a:buFont typeface="Wingdings" panose="05000000000000000000" pitchFamily="2" charset="2"/>
              <a:buChar char="§"/>
              <a:tabLst/>
              <a:defRPr/>
            </a:pP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A</a:t>
            </a:r>
            <a:r>
              <a:rPr kumimoji="0" lang="en-US"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fter shocks and policy responses have worked out, </a:t>
            </a:r>
            <a:r>
              <a:rPr kumimoji="0" lang="en-US" sz="1400" b="1"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variables return gradually to their trends (long-term growth path)</a:t>
            </a:r>
            <a:r>
              <a:rPr kumimoji="0" lang="en-US"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 determined by their </a:t>
            </a:r>
            <a:r>
              <a:rPr kumimoji="0" lang="en-US" sz="1400" b="0" i="1"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steady-state levels (outside model</a:t>
            </a:r>
            <a:r>
              <a:rPr kumimoji="0" lang="en-US"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 e.g., potential output growth, equilibrium RER, RIR, CPI target, sustainable deficit).</a:t>
            </a:r>
            <a:endPar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endParaRPr>
          </a:p>
        </p:txBody>
      </p:sp>
    </p:spTree>
    <p:extLst>
      <p:ext uri="{BB962C8B-B14F-4D97-AF65-F5344CB8AC3E}">
        <p14:creationId xmlns:p14="http://schemas.microsoft.com/office/powerpoint/2010/main" val="2727824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FBB090-AFD0-7F99-80A5-8B5522B2B0EA}"/>
              </a:ext>
            </a:extLst>
          </p:cNvPr>
          <p:cNvSpPr>
            <a:spLocks noGrp="1"/>
          </p:cNvSpPr>
          <p:nvPr>
            <p:ph type="sldNum" sz="quarter" idx="12"/>
          </p:nvPr>
        </p:nvSpPr>
        <p:spPr/>
        <p:txBody>
          <a:bodyPr/>
          <a:lstStyle/>
          <a:p>
            <a:fld id="{D97AE203-F84D-4A7F-B161-8561326BE072}" type="slidenum">
              <a:rPr lang="en-US" smtClean="0"/>
              <a:pPr/>
              <a:t>5</a:t>
            </a:fld>
            <a:endParaRPr lang="en-US" dirty="0"/>
          </a:p>
        </p:txBody>
      </p:sp>
      <p:sp>
        <p:nvSpPr>
          <p:cNvPr id="2" name="Title 1">
            <a:extLst>
              <a:ext uri="{FF2B5EF4-FFF2-40B4-BE49-F238E27FC236}">
                <a16:creationId xmlns:a16="http://schemas.microsoft.com/office/drawing/2014/main" id="{D8DC94FF-3715-83D7-A3A5-F73D7D616784}"/>
              </a:ext>
            </a:extLst>
          </p:cNvPr>
          <p:cNvSpPr>
            <a:spLocks noGrp="1"/>
          </p:cNvSpPr>
          <p:nvPr>
            <p:ph type="title" idx="4294967295"/>
          </p:nvPr>
        </p:nvSpPr>
        <p:spPr>
          <a:xfrm>
            <a:off x="2743200" y="393950"/>
            <a:ext cx="7772400" cy="762000"/>
          </a:xfrm>
          <a:ln>
            <a:noFill/>
          </a:ln>
        </p:spPr>
        <p:txBody>
          <a:bodyPr>
            <a:normAutofit/>
          </a:bodyPr>
          <a:lstStyle/>
          <a:p>
            <a:r>
              <a:rPr lang="en-US" sz="2700" b="1" dirty="0">
                <a:solidFill>
                  <a:srgbClr val="008BCC"/>
                </a:solidFill>
                <a:latin typeface="Bahnschrift" panose="020B0502040204020203" pitchFamily="34" charset="0"/>
                <a:cs typeface="+mn-cs"/>
              </a:rPr>
              <a:t>II. D</a:t>
            </a:r>
            <a:r>
              <a:rPr lang="en-US" sz="2700" dirty="0">
                <a:solidFill>
                  <a:srgbClr val="008BCC"/>
                </a:solidFill>
                <a:cs typeface="+mn-cs"/>
              </a:rPr>
              <a:t>ata treatment &amp; Settings</a:t>
            </a:r>
            <a:br>
              <a:rPr lang="en-US" sz="2200" b="1" dirty="0"/>
            </a:br>
            <a:r>
              <a:rPr lang="en-US" sz="1600" b="1" dirty="0"/>
              <a:t>                       </a:t>
            </a:r>
            <a:endParaRPr lang="en-RW" sz="2000" b="1" dirty="0">
              <a:solidFill>
                <a:srgbClr val="109351"/>
              </a:solidFill>
              <a:latin typeface="Bahnschrift" panose="020B0502040204020203" pitchFamily="34" charset="0"/>
            </a:endParaRPr>
          </a:p>
        </p:txBody>
      </p:sp>
      <p:sp>
        <p:nvSpPr>
          <p:cNvPr id="7" name="Content Placeholder 2">
            <a:extLst>
              <a:ext uri="{FF2B5EF4-FFF2-40B4-BE49-F238E27FC236}">
                <a16:creationId xmlns:a16="http://schemas.microsoft.com/office/drawing/2014/main" id="{77308410-D62B-B2DD-B7B5-068D0264EE1F}"/>
              </a:ext>
            </a:extLst>
          </p:cNvPr>
          <p:cNvSpPr txBox="1">
            <a:spLocks/>
          </p:cNvSpPr>
          <p:nvPr/>
        </p:nvSpPr>
        <p:spPr>
          <a:xfrm>
            <a:off x="533400" y="1066800"/>
            <a:ext cx="9982200" cy="5289550"/>
          </a:xfrm>
          <a:prstGeom prst="rect">
            <a:avLst/>
          </a:prstGeom>
          <a:ln>
            <a:solidFill>
              <a:schemeClr val="accent1">
                <a:lumMod val="40000"/>
                <a:lumOff val="60000"/>
              </a:schemeClr>
            </a:solidFill>
          </a:ln>
        </p:spPr>
        <p:txBody>
          <a:bodyPr>
            <a:noAutofit/>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228600" marR="0" lvl="0" indent="-228600" algn="l" defTabSz="914400" rtl="0" eaLnBrk="0" fontAlgn="base" latinLnBrk="0" hangingPunct="0">
              <a:lnSpc>
                <a:spcPct val="150000"/>
              </a:lnSpc>
              <a:spcBef>
                <a:spcPts val="400"/>
              </a:spcBef>
              <a:spcAft>
                <a:spcPts val="0"/>
              </a:spcAft>
              <a:buClr>
                <a:srgbClr val="00B0F0"/>
              </a:buClr>
              <a:buSzPct val="76000"/>
              <a:buAutoNum type="arabicPeriod"/>
              <a:tabLst/>
              <a:defRPr/>
            </a:pPr>
            <a:r>
              <a:rPr lang="en-GB" sz="1400" b="1" dirty="0">
                <a:solidFill>
                  <a:prstClr val="black"/>
                </a:solidFill>
                <a:latin typeface="Bahnschrift Light" panose="020B0502040204020203" pitchFamily="34" charset="0"/>
              </a:rPr>
              <a:t>National Account (observed 2023Q2)</a:t>
            </a:r>
          </a:p>
          <a:p>
            <a:pPr marR="0" lvl="0" algn="l" defTabSz="914400" rtl="0" eaLnBrk="0" fontAlgn="base" latinLnBrk="0" hangingPunct="0">
              <a:lnSpc>
                <a:spcPct val="150000"/>
              </a:lnSpc>
              <a:spcBef>
                <a:spcPts val="400"/>
              </a:spcBef>
              <a:spcAft>
                <a:spcPts val="0"/>
              </a:spcAft>
              <a:buClr>
                <a:srgbClr val="00B0F0"/>
              </a:buClr>
              <a:buSzPct val="76000"/>
              <a:buFont typeface="Wingdings" panose="05000000000000000000" pitchFamily="2" charset="2"/>
              <a:buChar char="§"/>
              <a:tabLst/>
              <a:defRPr/>
            </a:pPr>
            <a:r>
              <a:rPr lang="en-GB" sz="1400" dirty="0">
                <a:solidFill>
                  <a:prstClr val="black"/>
                </a:solidFill>
                <a:latin typeface="Bahnschrift Light" panose="020B0502040204020203" pitchFamily="34" charset="0"/>
              </a:rPr>
              <a:t>Omission/suppression of 2023-25Q1 for final demand components: dynamic volatility led to unreliable estimation of trend&amp; gaps</a:t>
            </a:r>
          </a:p>
          <a:p>
            <a:pPr lvl="1">
              <a:lnSpc>
                <a:spcPct val="150000"/>
              </a:lnSpc>
              <a:spcBef>
                <a:spcPts val="400"/>
              </a:spcBef>
              <a:spcAft>
                <a:spcPts val="0"/>
              </a:spcAft>
              <a:buClr>
                <a:srgbClr val="00B0F0"/>
              </a:buClr>
              <a:buFont typeface="Courier New" panose="02070309020205020404" pitchFamily="49" charset="0"/>
              <a:buChar char="o"/>
              <a:defRPr/>
            </a:pPr>
            <a:r>
              <a:rPr lang="en-GB" sz="1200" dirty="0">
                <a:solidFill>
                  <a:prstClr val="black"/>
                </a:solidFill>
                <a:latin typeface="Bahnschrift Light" panose="020B0502040204020203" pitchFamily="34" charset="0"/>
              </a:rPr>
              <a:t>Consumption, private investment, Export, import and imports </a:t>
            </a:r>
          </a:p>
          <a:p>
            <a:pPr marL="503238" lvl="1" indent="-228600">
              <a:lnSpc>
                <a:spcPct val="150000"/>
              </a:lnSpc>
              <a:spcBef>
                <a:spcPts val="400"/>
              </a:spcBef>
              <a:spcAft>
                <a:spcPts val="0"/>
              </a:spcAft>
              <a:buClr>
                <a:srgbClr val="00B0F0"/>
              </a:buClr>
              <a:buAutoNum type="arabicPeriod"/>
              <a:defRPr/>
            </a:pPr>
            <a:endParaRPr kumimoji="0" lang="en-GB" sz="8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endParaRPr>
          </a:p>
          <a:p>
            <a:pPr>
              <a:lnSpc>
                <a:spcPct val="150000"/>
              </a:lnSpc>
              <a:spcBef>
                <a:spcPts val="400"/>
              </a:spcBef>
              <a:spcAft>
                <a:spcPts val="0"/>
              </a:spcAft>
              <a:buClr>
                <a:srgbClr val="00B0F0"/>
              </a:buClr>
              <a:buFont typeface="Wingdings" panose="05000000000000000000" pitchFamily="2" charset="2"/>
              <a:buChar char="§"/>
              <a:defRPr/>
            </a:pPr>
            <a:r>
              <a:rPr lang="en-GB" sz="1600" dirty="0">
                <a:solidFill>
                  <a:prstClr val="black"/>
                </a:solidFill>
                <a:latin typeface="Bahnschrift Light" panose="020B0502040204020203" pitchFamily="34" charset="0"/>
              </a:rPr>
              <a:t>2025Q2 (rebased): YoY% change used for derivation of non-rebased real GDP levels</a:t>
            </a:r>
          </a:p>
          <a:p>
            <a:pPr>
              <a:lnSpc>
                <a:spcPct val="150000"/>
              </a:lnSpc>
              <a:spcBef>
                <a:spcPts val="400"/>
              </a:spcBef>
              <a:spcAft>
                <a:spcPts val="0"/>
              </a:spcAft>
              <a:buClr>
                <a:srgbClr val="00B0F0"/>
              </a:buClr>
              <a:buFont typeface="Wingdings" panose="05000000000000000000" pitchFamily="2" charset="2"/>
              <a:buChar char="§"/>
              <a:defRPr/>
            </a:pPr>
            <a:r>
              <a:rPr lang="en-GB" sz="1600" dirty="0">
                <a:solidFill>
                  <a:prstClr val="black"/>
                </a:solidFill>
                <a:latin typeface="Bahnschrift Light" panose="020B0502040204020203" pitchFamily="34" charset="0"/>
              </a:rPr>
              <a:t>Filter estimation better than observed data for 2023-25 (levels) to derive corresponding trend, gap</a:t>
            </a:r>
            <a:endParaRPr kumimoji="0" lang="en-GB" sz="12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endParaRPr>
          </a:p>
          <a:p>
            <a:pPr marL="0" indent="0">
              <a:lnSpc>
                <a:spcPct val="150000"/>
              </a:lnSpc>
              <a:spcBef>
                <a:spcPts val="400"/>
              </a:spcBef>
              <a:spcAft>
                <a:spcPts val="0"/>
              </a:spcAft>
              <a:buClr>
                <a:srgbClr val="00B0F0"/>
              </a:buClr>
              <a:buNone/>
              <a:defRPr/>
            </a:pPr>
            <a:r>
              <a:rPr lang="en-GB" sz="1200" b="1" dirty="0">
                <a:solidFill>
                  <a:prstClr val="black"/>
                </a:solidFill>
                <a:latin typeface="Bahnschrift Light" panose="020B0502040204020203" pitchFamily="34" charset="0"/>
              </a:rPr>
              <a:t>2.  </a:t>
            </a:r>
            <a:r>
              <a:rPr lang="en-GB" sz="1400" b="1" dirty="0">
                <a:solidFill>
                  <a:prstClr val="black"/>
                </a:solidFill>
                <a:latin typeface="Bahnschrift Light" panose="020B0502040204020203" pitchFamily="34" charset="0"/>
              </a:rPr>
              <a:t>Main Settings:</a:t>
            </a:r>
          </a:p>
          <a:p>
            <a:pPr marL="0" marR="0" lvl="0" indent="0" algn="l" defTabSz="914400" rtl="0" eaLnBrk="0" fontAlgn="base" latinLnBrk="0" hangingPunct="0">
              <a:lnSpc>
                <a:spcPct val="150000"/>
              </a:lnSpc>
              <a:spcBef>
                <a:spcPts val="400"/>
              </a:spcBef>
              <a:spcAft>
                <a:spcPts val="0"/>
              </a:spcAft>
              <a:buClr>
                <a:srgbClr val="00B0F0"/>
              </a:buClr>
              <a:buSzPct val="76000"/>
              <a:buNone/>
              <a:tabLst/>
              <a:defRPr/>
            </a:pPr>
            <a:endParaRPr lang="en-GB" sz="1200" dirty="0">
              <a:solidFill>
                <a:prstClr val="black"/>
              </a:solidFill>
              <a:latin typeface="Bahnschrift Light" panose="020B0502040204020203" pitchFamily="34" charset="0"/>
            </a:endParaRPr>
          </a:p>
          <a:p>
            <a:pPr marL="0" marR="0" lvl="0" indent="0" algn="l" defTabSz="914400" rtl="0" eaLnBrk="0" fontAlgn="base" latinLnBrk="0" hangingPunct="0">
              <a:lnSpc>
                <a:spcPct val="150000"/>
              </a:lnSpc>
              <a:spcBef>
                <a:spcPts val="400"/>
              </a:spcBef>
              <a:spcAft>
                <a:spcPts val="0"/>
              </a:spcAft>
              <a:buClr>
                <a:srgbClr val="00B0F0"/>
              </a:buClr>
              <a:buSzPct val="76000"/>
              <a:buNone/>
              <a:tabLst/>
              <a:defRPr/>
            </a:pPr>
            <a:endParaRPr lang="en-GB" sz="1200" dirty="0">
              <a:solidFill>
                <a:prstClr val="black"/>
              </a:solidFill>
              <a:latin typeface="Bahnschrift Light" panose="020B0502040204020203" pitchFamily="34" charset="0"/>
            </a:endParaRPr>
          </a:p>
          <a:p>
            <a:pPr>
              <a:lnSpc>
                <a:spcPct val="150000"/>
              </a:lnSpc>
              <a:spcBef>
                <a:spcPts val="400"/>
              </a:spcBef>
              <a:spcAft>
                <a:spcPts val="0"/>
              </a:spcAft>
              <a:buClr>
                <a:srgbClr val="00B0F0"/>
              </a:buClr>
              <a:buFont typeface="Wingdings" panose="05000000000000000000" pitchFamily="2" charset="2"/>
              <a:buChar char="§"/>
              <a:defRPr/>
            </a:pPr>
            <a:r>
              <a:rPr kumimoji="0" lang="en-GB" sz="1200" b="1"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Filtration</a:t>
            </a:r>
            <a:r>
              <a:rPr lang="en-GB" sz="1200" b="1" dirty="0">
                <a:solidFill>
                  <a:prstClr val="black"/>
                </a:solidFill>
                <a:latin typeface="Bahnschrift Light" panose="020B0502040204020203" pitchFamily="34" charset="0"/>
              </a:rPr>
              <a:t>/estimation: </a:t>
            </a:r>
            <a:r>
              <a:rPr lang="sl-SI" sz="1200" dirty="0">
                <a:solidFill>
                  <a:prstClr val="black"/>
                </a:solidFill>
                <a:latin typeface="Bahnschrift Light" panose="020B0502040204020203" pitchFamily="34" charset="0"/>
              </a:rPr>
              <a:t>opts.filterHistory.range = qq(2006, 1) : qq(2025, 2)</a:t>
            </a:r>
            <a:r>
              <a:rPr lang="en-US" sz="1200" dirty="0">
                <a:solidFill>
                  <a:prstClr val="black"/>
                </a:solidFill>
                <a:latin typeface="Bahnschrift Light" panose="020B0502040204020203" pitchFamily="34" charset="0"/>
              </a:rPr>
              <a:t>: </a:t>
            </a:r>
          </a:p>
          <a:p>
            <a:pPr lvl="1">
              <a:lnSpc>
                <a:spcPct val="150000"/>
              </a:lnSpc>
              <a:spcBef>
                <a:spcPts val="400"/>
              </a:spcBef>
              <a:spcAft>
                <a:spcPts val="0"/>
              </a:spcAft>
              <a:buClr>
                <a:srgbClr val="00B0F0"/>
              </a:buClr>
              <a:buFont typeface="Wingdings" panose="05000000000000000000" pitchFamily="2" charset="2"/>
              <a:buChar char="§"/>
              <a:defRPr/>
            </a:pPr>
            <a:r>
              <a:rPr lang="en-US" sz="800" dirty="0">
                <a:solidFill>
                  <a:prstClr val="black"/>
                </a:solidFill>
                <a:latin typeface="Bahnschrift Light" panose="020B0502040204020203" pitchFamily="34" charset="0"/>
              </a:rPr>
              <a:t>Fiscal Q2 2025 </a:t>
            </a:r>
          </a:p>
          <a:p>
            <a:pPr lvl="1">
              <a:lnSpc>
                <a:spcPct val="150000"/>
              </a:lnSpc>
              <a:spcBef>
                <a:spcPts val="400"/>
              </a:spcBef>
              <a:spcAft>
                <a:spcPts val="0"/>
              </a:spcAft>
              <a:buClr>
                <a:srgbClr val="00B0F0"/>
              </a:buClr>
              <a:buFont typeface="Wingdings" panose="05000000000000000000" pitchFamily="2" charset="2"/>
              <a:buChar char="§"/>
              <a:defRPr/>
            </a:pPr>
            <a:r>
              <a:rPr lang="en-US" sz="800" dirty="0">
                <a:solidFill>
                  <a:prstClr val="black"/>
                </a:solidFill>
                <a:latin typeface="Bahnschrift Light" panose="020B0502040204020203" pitchFamily="34" charset="0"/>
              </a:rPr>
              <a:t>All other indicators (ER, IB rate, BOP) observed until 2025Q3</a:t>
            </a:r>
            <a:endParaRPr lang="en-US" sz="1200" dirty="0">
              <a:solidFill>
                <a:prstClr val="black"/>
              </a:solidFill>
              <a:latin typeface="Bahnschrift Light" panose="020B0502040204020203" pitchFamily="34" charset="0"/>
            </a:endParaRPr>
          </a:p>
          <a:p>
            <a:pPr lvl="1">
              <a:lnSpc>
                <a:spcPct val="150000"/>
              </a:lnSpc>
              <a:spcBef>
                <a:spcPts val="400"/>
              </a:spcBef>
              <a:spcAft>
                <a:spcPts val="0"/>
              </a:spcAft>
              <a:buClr>
                <a:srgbClr val="00B0F0"/>
              </a:buClr>
              <a:buFont typeface="Courier New" panose="02070309020205020404" pitchFamily="49" charset="0"/>
              <a:buChar char="o"/>
              <a:defRPr/>
            </a:pPr>
            <a:r>
              <a:rPr lang="en-GB" sz="800" dirty="0">
                <a:solidFill>
                  <a:prstClr val="black"/>
                </a:solidFill>
                <a:latin typeface="Bahnschrift Light" panose="020B0502040204020203" pitchFamily="34" charset="0"/>
              </a:rPr>
              <a:t>Extended filtration to 2025Q3 to capture nowcast </a:t>
            </a:r>
          </a:p>
          <a:p>
            <a:pPr>
              <a:lnSpc>
                <a:spcPct val="150000"/>
              </a:lnSpc>
              <a:spcBef>
                <a:spcPts val="400"/>
              </a:spcBef>
              <a:spcAft>
                <a:spcPts val="0"/>
              </a:spcAft>
              <a:buClr>
                <a:srgbClr val="00B0F0"/>
              </a:buClr>
              <a:buFont typeface="Wingdings" panose="05000000000000000000" pitchFamily="2" charset="2"/>
              <a:buChar char="§"/>
              <a:defRPr/>
            </a:pPr>
            <a:r>
              <a:rPr kumimoji="0" lang="en-GB" sz="1200" b="1"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Forecast/estimation</a:t>
            </a:r>
            <a:r>
              <a:rPr kumimoji="0" lang="en-GB" sz="12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 </a:t>
            </a:r>
            <a:r>
              <a:rPr kumimoji="0" lang="en-GB" sz="1200" b="0" i="0" u="none" strike="noStrike" kern="1200" cap="none" spc="0" normalizeH="0" baseline="0" noProof="0" dirty="0" err="1">
                <a:ln>
                  <a:noFill/>
                </a:ln>
                <a:solidFill>
                  <a:prstClr val="black"/>
                </a:solidFill>
                <a:effectLst/>
                <a:uLnTx/>
                <a:uFillTx/>
                <a:latin typeface="Bahnschrift Light" panose="020B0502040204020203" pitchFamily="34" charset="0"/>
                <a:ea typeface="ＭＳ Ｐゴシック" charset="-128"/>
                <a:cs typeface="+mn-cs"/>
              </a:rPr>
              <a:t>opts.forecast.range</a:t>
            </a:r>
            <a:r>
              <a:rPr kumimoji="0" lang="en-GB" sz="12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 = </a:t>
            </a:r>
            <a:r>
              <a:rPr kumimoji="0" lang="en-GB" sz="1200" b="0" i="0" u="none" strike="noStrike" kern="1200" cap="none" spc="0" normalizeH="0" baseline="0" noProof="0" dirty="0" err="1">
                <a:ln>
                  <a:noFill/>
                </a:ln>
                <a:solidFill>
                  <a:prstClr val="black"/>
                </a:solidFill>
                <a:effectLst/>
                <a:uLnTx/>
                <a:uFillTx/>
                <a:latin typeface="Bahnschrift Light" panose="020B0502040204020203" pitchFamily="34" charset="0"/>
                <a:ea typeface="ＭＳ Ｐゴシック" charset="-128"/>
                <a:cs typeface="+mn-cs"/>
              </a:rPr>
              <a:t>qq</a:t>
            </a:r>
            <a:r>
              <a:rPr kumimoji="0" lang="en-GB" sz="12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(2025, 3) : </a:t>
            </a:r>
            <a:r>
              <a:rPr kumimoji="0" lang="en-GB" sz="1200" b="0" i="0" u="none" strike="noStrike" kern="1200" cap="none" spc="0" normalizeH="0" baseline="0" noProof="0" dirty="0" err="1">
                <a:ln>
                  <a:noFill/>
                </a:ln>
                <a:solidFill>
                  <a:prstClr val="black"/>
                </a:solidFill>
                <a:effectLst/>
                <a:uLnTx/>
                <a:uFillTx/>
                <a:latin typeface="Bahnschrift Light" panose="020B0502040204020203" pitchFamily="34" charset="0"/>
                <a:ea typeface="ＭＳ Ｐゴシック" charset="-128"/>
                <a:cs typeface="+mn-cs"/>
              </a:rPr>
              <a:t>qq</a:t>
            </a:r>
            <a:r>
              <a:rPr kumimoji="0" lang="en-GB" sz="12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rPr>
              <a:t>(2029, 4)</a:t>
            </a:r>
          </a:p>
        </p:txBody>
      </p:sp>
      <p:pic>
        <p:nvPicPr>
          <p:cNvPr id="10" name="Picture 9">
            <a:extLst>
              <a:ext uri="{FF2B5EF4-FFF2-40B4-BE49-F238E27FC236}">
                <a16:creationId xmlns:a16="http://schemas.microsoft.com/office/drawing/2014/main" id="{0D626096-E39D-2963-AD87-B46657967B01}"/>
              </a:ext>
            </a:extLst>
          </p:cNvPr>
          <p:cNvPicPr>
            <a:picLocks noChangeAspect="1"/>
          </p:cNvPicPr>
          <p:nvPr/>
        </p:nvPicPr>
        <p:blipFill>
          <a:blip r:embed="rId3"/>
          <a:stretch>
            <a:fillRect/>
          </a:stretch>
        </p:blipFill>
        <p:spPr>
          <a:xfrm>
            <a:off x="2362200" y="3704242"/>
            <a:ext cx="3314870" cy="638208"/>
          </a:xfrm>
          <a:prstGeom prst="rect">
            <a:avLst/>
          </a:prstGeom>
        </p:spPr>
      </p:pic>
    </p:spTree>
    <p:extLst>
      <p:ext uri="{BB962C8B-B14F-4D97-AF65-F5344CB8AC3E}">
        <p14:creationId xmlns:p14="http://schemas.microsoft.com/office/powerpoint/2010/main" val="2889092757"/>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0522E-9775-EE19-85C3-50165EEF5E4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FD52F4B-3E13-2136-94A7-5E5CA9BAAFAE}"/>
              </a:ext>
            </a:extLst>
          </p:cNvPr>
          <p:cNvSpPr>
            <a:spLocks noGrp="1"/>
          </p:cNvSpPr>
          <p:nvPr>
            <p:ph type="sldNum" sz="quarter" idx="12"/>
          </p:nvPr>
        </p:nvSpPr>
        <p:spPr/>
        <p:txBody>
          <a:bodyPr/>
          <a:lstStyle/>
          <a:p>
            <a:fld id="{D97AE203-F84D-4A7F-B161-8561326BE072}" type="slidenum">
              <a:rPr lang="en-US" smtClean="0"/>
              <a:pPr/>
              <a:t>6</a:t>
            </a:fld>
            <a:endParaRPr lang="en-US" dirty="0"/>
          </a:p>
        </p:txBody>
      </p:sp>
      <p:sp>
        <p:nvSpPr>
          <p:cNvPr id="2" name="Title 1">
            <a:extLst>
              <a:ext uri="{FF2B5EF4-FFF2-40B4-BE49-F238E27FC236}">
                <a16:creationId xmlns:a16="http://schemas.microsoft.com/office/drawing/2014/main" id="{3CD72782-2C3F-6865-8ACA-EBFD7D2AB651}"/>
              </a:ext>
            </a:extLst>
          </p:cNvPr>
          <p:cNvSpPr>
            <a:spLocks noGrp="1"/>
          </p:cNvSpPr>
          <p:nvPr>
            <p:ph type="title" idx="4294967295"/>
          </p:nvPr>
        </p:nvSpPr>
        <p:spPr>
          <a:xfrm>
            <a:off x="2667000" y="228600"/>
            <a:ext cx="7010400" cy="609279"/>
          </a:xfrm>
          <a:ln>
            <a:noFill/>
          </a:ln>
        </p:spPr>
        <p:txBody>
          <a:bodyPr>
            <a:normAutofit fontScale="90000"/>
          </a:bodyPr>
          <a:lstStyle/>
          <a:p>
            <a:r>
              <a:rPr lang="en-US" sz="2700" b="1" dirty="0">
                <a:solidFill>
                  <a:srgbClr val="008BCC"/>
                </a:solidFill>
                <a:latin typeface="Bahnschrift" panose="020B0502040204020203" pitchFamily="34" charset="0"/>
                <a:cs typeface="+mn-cs"/>
              </a:rPr>
              <a:t>II. Main assumptions/tunes underlying forecasts</a:t>
            </a:r>
            <a:br>
              <a:rPr lang="en-US" sz="2200" b="1" dirty="0"/>
            </a:br>
            <a:r>
              <a:rPr lang="en-US" sz="1600" b="1" dirty="0"/>
              <a:t>                       </a:t>
            </a:r>
            <a:endParaRPr lang="en-RW" sz="2000" b="1" dirty="0">
              <a:solidFill>
                <a:srgbClr val="109351"/>
              </a:solidFill>
              <a:latin typeface="Bahnschrift" panose="020B0502040204020203" pitchFamily="34" charset="0"/>
            </a:endParaRPr>
          </a:p>
        </p:txBody>
      </p:sp>
      <p:sp>
        <p:nvSpPr>
          <p:cNvPr id="7" name="Content Placeholder 2">
            <a:extLst>
              <a:ext uri="{FF2B5EF4-FFF2-40B4-BE49-F238E27FC236}">
                <a16:creationId xmlns:a16="http://schemas.microsoft.com/office/drawing/2014/main" id="{E7CEBBC5-7191-6FBD-D45B-97645D1CB4C4}"/>
              </a:ext>
            </a:extLst>
          </p:cNvPr>
          <p:cNvSpPr txBox="1">
            <a:spLocks/>
          </p:cNvSpPr>
          <p:nvPr/>
        </p:nvSpPr>
        <p:spPr>
          <a:xfrm>
            <a:off x="533400" y="1066800"/>
            <a:ext cx="9982200" cy="5289550"/>
          </a:xfrm>
          <a:prstGeom prst="rect">
            <a:avLst/>
          </a:prstGeom>
          <a:ln>
            <a:solidFill>
              <a:schemeClr val="accent1">
                <a:lumMod val="40000"/>
                <a:lumOff val="60000"/>
              </a:schemeClr>
            </a:solidFill>
          </a:ln>
        </p:spPr>
        <p:txBody>
          <a:bodyPr>
            <a:noAutofit/>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228600" marR="0" lvl="0" indent="-228600" algn="l" defTabSz="914400" rtl="0" eaLnBrk="0" fontAlgn="base" latinLnBrk="0" hangingPunct="0">
              <a:lnSpc>
                <a:spcPct val="150000"/>
              </a:lnSpc>
              <a:spcBef>
                <a:spcPts val="400"/>
              </a:spcBef>
              <a:spcAft>
                <a:spcPts val="0"/>
              </a:spcAft>
              <a:buClr>
                <a:srgbClr val="00B0F0"/>
              </a:buClr>
              <a:buSzPct val="76000"/>
              <a:buAutoNum type="arabicPeriod"/>
              <a:tabLst/>
              <a:defRPr/>
            </a:pPr>
            <a:r>
              <a:rPr lang="en-GB" sz="1400" dirty="0">
                <a:solidFill>
                  <a:prstClr val="black"/>
                </a:solidFill>
                <a:latin typeface="Bahnschrift Light" panose="020B0502040204020203" pitchFamily="34" charset="0"/>
              </a:rPr>
              <a:t>National Account: </a:t>
            </a:r>
          </a:p>
          <a:p>
            <a:pPr>
              <a:lnSpc>
                <a:spcPct val="150000"/>
              </a:lnSpc>
              <a:spcBef>
                <a:spcPts val="400"/>
              </a:spcBef>
              <a:spcAft>
                <a:spcPts val="0"/>
              </a:spcAft>
              <a:buClr>
                <a:srgbClr val="00B0F0"/>
              </a:buClr>
              <a:buFont typeface="Wingdings" panose="05000000000000000000" pitchFamily="2" charset="2"/>
              <a:buChar char="§"/>
              <a:defRPr/>
            </a:pPr>
            <a:r>
              <a:rPr lang="en-GB" sz="1600" dirty="0">
                <a:solidFill>
                  <a:prstClr val="black"/>
                </a:solidFill>
                <a:latin typeface="Bahnschrift Light" panose="020B0502040204020203" pitchFamily="34" charset="0"/>
              </a:rPr>
              <a:t>GDP Nowcast for 2025Q3&amp;4</a:t>
            </a:r>
          </a:p>
          <a:p>
            <a:pPr marL="0" indent="0">
              <a:lnSpc>
                <a:spcPct val="150000"/>
              </a:lnSpc>
              <a:spcBef>
                <a:spcPts val="400"/>
              </a:spcBef>
              <a:spcAft>
                <a:spcPts val="0"/>
              </a:spcAft>
              <a:buClr>
                <a:srgbClr val="00B0F0"/>
              </a:buClr>
              <a:buNone/>
              <a:defRPr/>
            </a:pPr>
            <a:r>
              <a:rPr lang="en-GB" sz="1600" dirty="0">
                <a:solidFill>
                  <a:prstClr val="black"/>
                </a:solidFill>
                <a:latin typeface="Bahnschrift Light" panose="020B0502040204020203" pitchFamily="34" charset="0"/>
              </a:rPr>
              <a:t>2. ER: observed until 2025Q3 and Q4 tuned (remainder ER depreciation)</a:t>
            </a:r>
          </a:p>
          <a:p>
            <a:pPr marL="0" indent="0">
              <a:lnSpc>
                <a:spcPct val="150000"/>
              </a:lnSpc>
              <a:spcBef>
                <a:spcPts val="400"/>
              </a:spcBef>
              <a:spcAft>
                <a:spcPts val="0"/>
              </a:spcAft>
              <a:buClr>
                <a:srgbClr val="00B0F0"/>
              </a:buClr>
              <a:buNone/>
              <a:defRPr/>
            </a:pPr>
            <a:r>
              <a:rPr lang="en-GB" sz="1600" dirty="0">
                <a:solidFill>
                  <a:prstClr val="black"/>
                </a:solidFill>
                <a:latin typeface="Bahnschrift Light" panose="020B0502040204020203" pitchFamily="34" charset="0"/>
              </a:rPr>
              <a:t>3.All indicators observed after 2025Q2(Filter range) tuned as data in baseline/forecast</a:t>
            </a:r>
          </a:p>
          <a:p>
            <a:pPr marL="0" indent="0">
              <a:lnSpc>
                <a:spcPct val="150000"/>
              </a:lnSpc>
              <a:spcBef>
                <a:spcPts val="400"/>
              </a:spcBef>
              <a:spcAft>
                <a:spcPts val="0"/>
              </a:spcAft>
              <a:buClr>
                <a:srgbClr val="00B0F0"/>
              </a:buClr>
              <a:buNone/>
              <a:defRPr/>
            </a:pPr>
            <a:r>
              <a:rPr lang="en-GB" sz="1600" dirty="0">
                <a:solidFill>
                  <a:prstClr val="black"/>
                </a:solidFill>
                <a:latin typeface="Bahnschrift Light" panose="020B0502040204020203" pitchFamily="34" charset="0"/>
              </a:rPr>
              <a:t>4. Fiscal (Deficit, Revenue, Demand G&amp;S, Other expense): Smoothed/distributed from FY/semester to Qo </a:t>
            </a:r>
          </a:p>
          <a:p>
            <a:pPr lvl="1">
              <a:lnSpc>
                <a:spcPct val="150000"/>
              </a:lnSpc>
              <a:spcBef>
                <a:spcPts val="400"/>
              </a:spcBef>
              <a:spcAft>
                <a:spcPts val="0"/>
              </a:spcAft>
              <a:buClr>
                <a:srgbClr val="00B0F0"/>
              </a:buClr>
              <a:buFont typeface="Wingdings" panose="05000000000000000000" pitchFamily="2" charset="2"/>
              <a:buChar char="§"/>
              <a:defRPr/>
            </a:pPr>
            <a:r>
              <a:rPr lang="en-GB" sz="1200" dirty="0">
                <a:solidFill>
                  <a:prstClr val="black"/>
                </a:solidFill>
                <a:latin typeface="Bahnschrift Light" panose="020B0502040204020203" pitchFamily="34" charset="0"/>
              </a:rPr>
              <a:t>October 2025 Rev </a:t>
            </a:r>
            <a:r>
              <a:rPr lang="en-GB" sz="1200" dirty="0" err="1">
                <a:solidFill>
                  <a:prstClr val="black"/>
                </a:solidFill>
                <a:latin typeface="Bahnschrift Light" panose="020B0502040204020203" pitchFamily="34" charset="0"/>
              </a:rPr>
              <a:t>Proj</a:t>
            </a:r>
            <a:r>
              <a:rPr lang="en-GB" sz="1200" dirty="0">
                <a:solidFill>
                  <a:prstClr val="black"/>
                </a:solidFill>
                <a:latin typeface="Bahnschrift Light" panose="020B0502040204020203" pitchFamily="34" charset="0"/>
              </a:rPr>
              <a:t>: Agreed projection path</a:t>
            </a:r>
          </a:p>
          <a:p>
            <a:pPr marL="0" indent="0">
              <a:lnSpc>
                <a:spcPct val="150000"/>
              </a:lnSpc>
              <a:spcBef>
                <a:spcPts val="400"/>
              </a:spcBef>
              <a:spcAft>
                <a:spcPts val="0"/>
              </a:spcAft>
              <a:buClr>
                <a:srgbClr val="00B0F0"/>
              </a:buClr>
              <a:buNone/>
              <a:defRPr/>
            </a:pPr>
            <a:r>
              <a:rPr lang="en-GB" sz="1600" dirty="0">
                <a:solidFill>
                  <a:prstClr val="black"/>
                </a:solidFill>
                <a:latin typeface="Bahnschrift Light" panose="020B0502040204020203" pitchFamily="34" charset="0"/>
              </a:rPr>
              <a:t>Private investment (shock, % GDP): Smoothed/distributed from FY/semester to Qo </a:t>
            </a:r>
          </a:p>
          <a:p>
            <a:pPr lvl="1">
              <a:lnSpc>
                <a:spcPct val="150000"/>
              </a:lnSpc>
              <a:spcBef>
                <a:spcPts val="400"/>
              </a:spcBef>
              <a:spcAft>
                <a:spcPts val="0"/>
              </a:spcAft>
              <a:buClr>
                <a:srgbClr val="00B0F0"/>
              </a:buClr>
              <a:buFont typeface="Wingdings" panose="05000000000000000000" pitchFamily="2" charset="2"/>
              <a:buChar char="§"/>
              <a:defRPr/>
            </a:pPr>
            <a:r>
              <a:rPr lang="en-GB" sz="1200" dirty="0">
                <a:solidFill>
                  <a:prstClr val="black"/>
                </a:solidFill>
                <a:latin typeface="Bahnschrift Light" panose="020B0502040204020203" pitchFamily="34" charset="0"/>
              </a:rPr>
              <a:t>Other expense/NL/ow </a:t>
            </a:r>
            <a:r>
              <a:rPr lang="en-GB" sz="1200" dirty="0" err="1">
                <a:solidFill>
                  <a:prstClr val="black"/>
                </a:solidFill>
                <a:latin typeface="Bahnschrift Light" panose="020B0502040204020203" pitchFamily="34" charset="0"/>
              </a:rPr>
              <a:t>Bugesera</a:t>
            </a:r>
            <a:r>
              <a:rPr lang="en-GB" sz="1200" dirty="0">
                <a:solidFill>
                  <a:prstClr val="black"/>
                </a:solidFill>
                <a:latin typeface="Bahnschrift Light" panose="020B0502040204020203" pitchFamily="34" charset="0"/>
              </a:rPr>
              <a:t> Govt financing + Quatar Equity</a:t>
            </a:r>
          </a:p>
          <a:p>
            <a:pPr lvl="1">
              <a:lnSpc>
                <a:spcPct val="150000"/>
              </a:lnSpc>
              <a:spcBef>
                <a:spcPts val="400"/>
              </a:spcBef>
              <a:spcAft>
                <a:spcPts val="0"/>
              </a:spcAft>
              <a:buClr>
                <a:srgbClr val="00B0F0"/>
              </a:buClr>
              <a:buFont typeface="Wingdings" panose="05000000000000000000" pitchFamily="2" charset="2"/>
              <a:buChar char="§"/>
              <a:defRPr/>
            </a:pPr>
            <a:r>
              <a:rPr lang="en-GB" sz="1200" dirty="0">
                <a:solidFill>
                  <a:prstClr val="black"/>
                </a:solidFill>
                <a:latin typeface="Bahnschrift Light" panose="020B0502040204020203" pitchFamily="34" charset="0"/>
              </a:rPr>
              <a:t>Assumption is that financing equity investments for Airport are fully invested in construction by private agents (ATL)</a:t>
            </a:r>
          </a:p>
          <a:p>
            <a:pPr lvl="1">
              <a:lnSpc>
                <a:spcPct val="150000"/>
              </a:lnSpc>
              <a:spcBef>
                <a:spcPts val="400"/>
              </a:spcBef>
              <a:spcAft>
                <a:spcPts val="0"/>
              </a:spcAft>
              <a:buClr>
                <a:srgbClr val="00B0F0"/>
              </a:buClr>
              <a:buFont typeface="Wingdings" panose="05000000000000000000" pitchFamily="2" charset="2"/>
              <a:buChar char="§"/>
              <a:defRPr/>
            </a:pPr>
            <a:r>
              <a:rPr lang="en-GB" sz="1200" dirty="0">
                <a:solidFill>
                  <a:prstClr val="black"/>
                </a:solidFill>
                <a:latin typeface="Bahnschrift Light" panose="020B0502040204020203" pitchFamily="34" charset="0"/>
              </a:rPr>
              <a:t>Govt equity or NL/ow </a:t>
            </a:r>
            <a:r>
              <a:rPr lang="en-GB" sz="1200" dirty="0" err="1">
                <a:solidFill>
                  <a:prstClr val="black"/>
                </a:solidFill>
                <a:latin typeface="Bahnschrift Light" panose="020B0502040204020203" pitchFamily="34" charset="0"/>
              </a:rPr>
              <a:t>Bugesera</a:t>
            </a:r>
            <a:r>
              <a:rPr lang="en-GB" sz="1200" dirty="0">
                <a:solidFill>
                  <a:prstClr val="black"/>
                </a:solidFill>
                <a:latin typeface="Bahnschrift Light" panose="020B0502040204020203" pitchFamily="34" charset="0"/>
              </a:rPr>
              <a:t> in other-expense still indirectly affect GDP growth (fiscal impulse) thru private investment demand</a:t>
            </a:r>
          </a:p>
          <a:p>
            <a:pPr lvl="1">
              <a:lnSpc>
                <a:spcPct val="150000"/>
              </a:lnSpc>
              <a:spcBef>
                <a:spcPts val="400"/>
              </a:spcBef>
              <a:spcAft>
                <a:spcPts val="0"/>
              </a:spcAft>
              <a:buClr>
                <a:srgbClr val="00B0F0"/>
              </a:buClr>
              <a:buFont typeface="Wingdings" panose="05000000000000000000" pitchFamily="2" charset="2"/>
              <a:buChar char="§"/>
              <a:defRPr/>
            </a:pPr>
            <a:endParaRPr lang="en-GB" sz="1200" dirty="0">
              <a:solidFill>
                <a:prstClr val="black"/>
              </a:solidFill>
              <a:latin typeface="Bahnschrift Light" panose="020B0502040204020203" pitchFamily="34" charset="0"/>
            </a:endParaRPr>
          </a:p>
          <a:p>
            <a:pPr marL="274638" lvl="1" indent="0">
              <a:lnSpc>
                <a:spcPct val="150000"/>
              </a:lnSpc>
              <a:spcBef>
                <a:spcPts val="400"/>
              </a:spcBef>
              <a:spcAft>
                <a:spcPts val="0"/>
              </a:spcAft>
              <a:buClr>
                <a:srgbClr val="00B0F0"/>
              </a:buClr>
              <a:buNone/>
              <a:defRPr/>
            </a:pPr>
            <a:endParaRPr lang="en-GB" sz="1200" dirty="0">
              <a:solidFill>
                <a:prstClr val="black"/>
              </a:solidFill>
              <a:latin typeface="Bahnschrift Light" panose="020B0502040204020203" pitchFamily="34" charset="0"/>
            </a:endParaRPr>
          </a:p>
          <a:p>
            <a:pPr marL="0" marR="0" lvl="0" indent="0" algn="l" defTabSz="914400" rtl="0" eaLnBrk="0" fontAlgn="base" latinLnBrk="0" hangingPunct="0">
              <a:lnSpc>
                <a:spcPct val="150000"/>
              </a:lnSpc>
              <a:spcBef>
                <a:spcPts val="400"/>
              </a:spcBef>
              <a:spcAft>
                <a:spcPts val="0"/>
              </a:spcAft>
              <a:buClr>
                <a:srgbClr val="00B0F0"/>
              </a:buClr>
              <a:buSzPct val="76000"/>
              <a:buNone/>
              <a:tabLst/>
              <a:defRPr/>
            </a:pPr>
            <a:endParaRPr kumimoji="0" lang="en-GB" sz="1200" b="0" i="0" u="none" strike="noStrike" kern="1200" cap="none" spc="0" normalizeH="0" baseline="0" noProof="0" dirty="0">
              <a:ln>
                <a:noFill/>
              </a:ln>
              <a:solidFill>
                <a:prstClr val="black"/>
              </a:solidFill>
              <a:effectLst/>
              <a:uLnTx/>
              <a:uFillTx/>
              <a:latin typeface="Bahnschrift Light" panose="020B0502040204020203" pitchFamily="34" charset="0"/>
              <a:ea typeface="ＭＳ Ｐゴシック" charset="-128"/>
              <a:cs typeface="+mn-cs"/>
            </a:endParaRPr>
          </a:p>
        </p:txBody>
      </p:sp>
      <p:pic>
        <p:nvPicPr>
          <p:cNvPr id="5" name="Picture 4">
            <a:extLst>
              <a:ext uri="{FF2B5EF4-FFF2-40B4-BE49-F238E27FC236}">
                <a16:creationId xmlns:a16="http://schemas.microsoft.com/office/drawing/2014/main" id="{1B5A8580-D998-DE9D-A2EF-24BB9CC6D4CA}"/>
              </a:ext>
            </a:extLst>
          </p:cNvPr>
          <p:cNvPicPr>
            <a:picLocks noChangeAspect="1"/>
          </p:cNvPicPr>
          <p:nvPr/>
        </p:nvPicPr>
        <p:blipFill>
          <a:blip r:embed="rId2"/>
          <a:stretch>
            <a:fillRect/>
          </a:stretch>
        </p:blipFill>
        <p:spPr>
          <a:xfrm>
            <a:off x="762000" y="5029200"/>
            <a:ext cx="8305800" cy="1390721"/>
          </a:xfrm>
          <a:prstGeom prst="rect">
            <a:avLst/>
          </a:prstGeom>
        </p:spPr>
      </p:pic>
    </p:spTree>
    <p:extLst>
      <p:ext uri="{BB962C8B-B14F-4D97-AF65-F5344CB8AC3E}">
        <p14:creationId xmlns:p14="http://schemas.microsoft.com/office/powerpoint/2010/main" val="12609802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FDF4C-5E0B-46FF-2DC1-1F0D62F2E86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EF88047-806B-5D31-C65F-50243777FAC0}"/>
              </a:ext>
            </a:extLst>
          </p:cNvPr>
          <p:cNvSpPr>
            <a:spLocks noGrp="1"/>
          </p:cNvSpPr>
          <p:nvPr>
            <p:ph type="sldNum" sz="quarter" idx="12"/>
          </p:nvPr>
        </p:nvSpPr>
        <p:spPr/>
        <p:txBody>
          <a:bodyPr/>
          <a:lstStyle/>
          <a:p>
            <a:fld id="{D97AE203-F84D-4A7F-B161-8561326BE072}" type="slidenum">
              <a:rPr lang="en-US" smtClean="0"/>
              <a:pPr/>
              <a:t>7</a:t>
            </a:fld>
            <a:endParaRPr lang="en-US" dirty="0"/>
          </a:p>
        </p:txBody>
      </p:sp>
      <p:sp>
        <p:nvSpPr>
          <p:cNvPr id="2" name="Title 1">
            <a:extLst>
              <a:ext uri="{FF2B5EF4-FFF2-40B4-BE49-F238E27FC236}">
                <a16:creationId xmlns:a16="http://schemas.microsoft.com/office/drawing/2014/main" id="{F34D31CF-8231-22FA-9820-839850C2F98F}"/>
              </a:ext>
            </a:extLst>
          </p:cNvPr>
          <p:cNvSpPr>
            <a:spLocks noGrp="1"/>
          </p:cNvSpPr>
          <p:nvPr>
            <p:ph type="title" idx="4294967295"/>
          </p:nvPr>
        </p:nvSpPr>
        <p:spPr>
          <a:xfrm>
            <a:off x="3124200" y="228600"/>
            <a:ext cx="4635447" cy="762000"/>
          </a:xfrm>
          <a:ln>
            <a:noFill/>
          </a:ln>
        </p:spPr>
        <p:txBody>
          <a:bodyPr>
            <a:noAutofit/>
          </a:bodyPr>
          <a:lstStyle/>
          <a:p>
            <a:r>
              <a:rPr lang="en-US" sz="2400" b="1" dirty="0">
                <a:solidFill>
                  <a:srgbClr val="008BCC"/>
                </a:solidFill>
                <a:latin typeface="Bahnschrift" panose="020B0502040204020203" pitchFamily="34" charset="0"/>
                <a:cs typeface="+mn-cs"/>
              </a:rPr>
              <a:t>II. </a:t>
            </a:r>
            <a:r>
              <a:rPr lang="en-US" sz="2400" dirty="0">
                <a:solidFill>
                  <a:srgbClr val="008BCC"/>
                </a:solidFill>
                <a:cs typeface="+mn-cs"/>
              </a:rPr>
              <a:t>Forecast results: Baseline </a:t>
            </a:r>
            <a:br>
              <a:rPr lang="en-US" sz="2400" b="1" dirty="0"/>
            </a:br>
            <a:r>
              <a:rPr lang="en-US" sz="1200" b="1" dirty="0"/>
              <a:t>                                                   </a:t>
            </a:r>
            <a:endParaRPr lang="en-RW" sz="1600" b="1" dirty="0">
              <a:solidFill>
                <a:srgbClr val="109351"/>
              </a:solidFill>
              <a:latin typeface="Bahnschrift" panose="020B0502040204020203" pitchFamily="34" charset="0"/>
            </a:endParaRPr>
          </a:p>
        </p:txBody>
      </p:sp>
      <p:sp>
        <p:nvSpPr>
          <p:cNvPr id="11" name="TextBox 10">
            <a:extLst>
              <a:ext uri="{FF2B5EF4-FFF2-40B4-BE49-F238E27FC236}">
                <a16:creationId xmlns:a16="http://schemas.microsoft.com/office/drawing/2014/main" id="{D83616D7-D232-8850-0B6C-9843C567EE9F}"/>
              </a:ext>
            </a:extLst>
          </p:cNvPr>
          <p:cNvSpPr txBox="1"/>
          <p:nvPr/>
        </p:nvSpPr>
        <p:spPr>
          <a:xfrm>
            <a:off x="6096000" y="898851"/>
            <a:ext cx="5715000" cy="1953996"/>
          </a:xfrm>
          <a:prstGeom prst="rect">
            <a:avLst/>
          </a:prstGeom>
          <a:noFill/>
          <a:ln>
            <a:solidFill>
              <a:schemeClr val="accent1">
                <a:lumMod val="40000"/>
                <a:lumOff val="60000"/>
              </a:schemeClr>
            </a:solidFill>
          </a:ln>
        </p:spPr>
        <p:txBody>
          <a:bodyPr wrap="square" rtlCol="0">
            <a:spAutoFit/>
          </a:bodyPr>
          <a:lstStyle/>
          <a:p>
            <a:pPr marL="0" lvl="1" algn="just" eaLnBrk="0" hangingPunct="0">
              <a:lnSpc>
                <a:spcPct val="150000"/>
              </a:lnSpc>
              <a:spcBef>
                <a:spcPts val="0"/>
              </a:spcBef>
              <a:spcAft>
                <a:spcPts val="600"/>
              </a:spcAft>
              <a:buClr>
                <a:schemeClr val="accent1"/>
              </a:buClr>
              <a:buSzPct val="76000"/>
            </a:pPr>
            <a:r>
              <a:rPr lang="en-US" sz="1200" b="1" dirty="0">
                <a:latin typeface="Bahnschrift Light" panose="020B0502040204020203" pitchFamily="34" charset="0"/>
              </a:rPr>
              <a:t>Real GDP Growth Drivers: Final demand components</a:t>
            </a:r>
          </a:p>
          <a:p>
            <a:pPr marL="171450" lvl="1" indent="-171450" algn="just" eaLnBrk="0" hangingPunct="0">
              <a:lnSpc>
                <a:spcPct val="150000"/>
              </a:lnSpc>
              <a:spcBef>
                <a:spcPts val="0"/>
              </a:spcBef>
              <a:spcAft>
                <a:spcPts val="600"/>
              </a:spcAft>
              <a:buClr>
                <a:schemeClr val="accent1"/>
              </a:buClr>
              <a:buSzPct val="76000"/>
              <a:buFont typeface="Wingdings" panose="05000000000000000000" pitchFamily="2" charset="2"/>
              <a:buChar char="§"/>
            </a:pPr>
            <a:r>
              <a:rPr lang="en-US" sz="1200" b="1" dirty="0">
                <a:solidFill>
                  <a:srgbClr val="0070C0"/>
                </a:solidFill>
                <a:latin typeface="Bahnschrift Light" panose="020B0502040204020203" pitchFamily="34" charset="0"/>
                <a:ea typeface="Calibri" panose="020F0502020204030204" pitchFamily="34" charset="0"/>
                <a:cs typeface="Times New Roman" panose="02020603050405020304" pitchFamily="18" charset="0"/>
              </a:rPr>
              <a:t>A fiscal deficit o/w Govt Dem (NL </a:t>
            </a:r>
            <a:r>
              <a:rPr lang="en-US" sz="1200" b="1" dirty="0" err="1">
                <a:solidFill>
                  <a:srgbClr val="0070C0"/>
                </a:solidFill>
                <a:latin typeface="Bahnschrift Light" panose="020B0502040204020203" pitchFamily="34" charset="0"/>
                <a:ea typeface="Calibri" panose="020F0502020204030204" pitchFamily="34" charset="0"/>
                <a:cs typeface="Times New Roman" panose="02020603050405020304" pitchFamily="18" charset="0"/>
              </a:rPr>
              <a:t>Bugesera</a:t>
            </a:r>
            <a:r>
              <a:rPr lang="en-US" sz="1200" b="1" dirty="0">
                <a:solidFill>
                  <a:srgbClr val="0070C0"/>
                </a:solidFill>
                <a:latin typeface="Bahnschrift Light" panose="020B0502040204020203" pitchFamily="34" charset="0"/>
                <a:ea typeface="Calibri" panose="020F0502020204030204" pitchFamily="34" charset="0"/>
                <a:cs typeface="Times New Roman" panose="02020603050405020304" pitchFamily="18" charset="0"/>
              </a:rPr>
              <a:t>) in 2026-27  through private investment demand</a:t>
            </a:r>
          </a:p>
          <a:p>
            <a:pPr marL="628650" lvl="2" indent="-171450" algn="just" eaLnBrk="0" hangingPunct="0">
              <a:lnSpc>
                <a:spcPct val="150000"/>
              </a:lnSpc>
              <a:spcBef>
                <a:spcPts val="0"/>
              </a:spcBef>
              <a:spcAft>
                <a:spcPts val="600"/>
              </a:spcAft>
              <a:buClr>
                <a:schemeClr val="accent1"/>
              </a:buClr>
              <a:buSzPct val="76000"/>
              <a:buFont typeface="Wingdings" panose="05000000000000000000" pitchFamily="2" charset="2"/>
              <a:buChar char="§"/>
            </a:pPr>
            <a:r>
              <a:rPr lang="en-US" sz="1200" b="1" dirty="0">
                <a:solidFill>
                  <a:srgbClr val="0070C0"/>
                </a:solidFill>
                <a:latin typeface="Bahnschrift Light" panose="020B0502040204020203" pitchFamily="34" charset="0"/>
                <a:ea typeface="Calibri" panose="020F0502020204030204" pitchFamily="34" charset="0"/>
                <a:cs typeface="Times New Roman" panose="02020603050405020304" pitchFamily="18" charset="0"/>
              </a:rPr>
              <a:t>With a fiscal consolidation to accommodate </a:t>
            </a:r>
            <a:r>
              <a:rPr lang="en-US" sz="1200" b="1" dirty="0" err="1">
                <a:solidFill>
                  <a:srgbClr val="0070C0"/>
                </a:solidFill>
                <a:latin typeface="Bahnschrift Light" panose="020B0502040204020203" pitchFamily="34" charset="0"/>
                <a:ea typeface="Calibri" panose="020F0502020204030204" pitchFamily="34" charset="0"/>
                <a:cs typeface="Times New Roman" panose="02020603050405020304" pitchFamily="18" charset="0"/>
              </a:rPr>
              <a:t>Bugesera</a:t>
            </a:r>
            <a:endParaRPr lang="en-US" sz="1200" b="1" dirty="0">
              <a:solidFill>
                <a:srgbClr val="0070C0"/>
              </a:solidFill>
              <a:latin typeface="Bahnschrift Light" panose="020B0502040204020203" pitchFamily="34" charset="0"/>
              <a:ea typeface="Calibri" panose="020F0502020204030204" pitchFamily="34" charset="0"/>
              <a:cs typeface="Times New Roman" panose="02020603050405020304" pitchFamily="18" charset="0"/>
            </a:endParaRPr>
          </a:p>
          <a:p>
            <a:pPr marL="171450" lvl="1" indent="-171450" algn="just" eaLnBrk="0" hangingPunct="0">
              <a:lnSpc>
                <a:spcPct val="150000"/>
              </a:lnSpc>
              <a:spcBef>
                <a:spcPts val="0"/>
              </a:spcBef>
              <a:spcAft>
                <a:spcPts val="600"/>
              </a:spcAft>
              <a:buClr>
                <a:schemeClr val="accent1"/>
              </a:buClr>
              <a:buSzPct val="76000"/>
              <a:buFont typeface="Wingdings" panose="05000000000000000000" pitchFamily="2" charset="2"/>
              <a:buChar char="§"/>
            </a:pPr>
            <a:r>
              <a:rPr lang="en-US" sz="1200" b="1" dirty="0">
                <a:solidFill>
                  <a:srgbClr val="0070C0"/>
                </a:solidFill>
                <a:effectLst/>
                <a:latin typeface="Bahnschrift Light" panose="020B0502040204020203" pitchFamily="34" charset="0"/>
                <a:ea typeface="Calibri" panose="020F0502020204030204" pitchFamily="34" charset="0"/>
                <a:cs typeface="Times New Roman" panose="02020603050405020304" pitchFamily="18" charset="0"/>
              </a:rPr>
              <a:t>Govt dem increasing even after </a:t>
            </a:r>
            <a:r>
              <a:rPr lang="en-US" sz="1200" b="1" dirty="0" err="1">
                <a:solidFill>
                  <a:srgbClr val="0070C0"/>
                </a:solidFill>
                <a:effectLst/>
                <a:latin typeface="Bahnschrift Light" panose="020B0502040204020203" pitchFamily="34" charset="0"/>
                <a:ea typeface="Calibri" panose="020F0502020204030204" pitchFamily="34" charset="0"/>
                <a:cs typeface="Times New Roman" panose="02020603050405020304" pitchFamily="18" charset="0"/>
              </a:rPr>
              <a:t>Bu</a:t>
            </a:r>
            <a:r>
              <a:rPr lang="en-US" sz="1200" b="1" dirty="0" err="1">
                <a:solidFill>
                  <a:srgbClr val="0070C0"/>
                </a:solidFill>
                <a:latin typeface="Bahnschrift Light" panose="020B0502040204020203" pitchFamily="34" charset="0"/>
                <a:ea typeface="Calibri" panose="020F0502020204030204" pitchFamily="34" charset="0"/>
                <a:cs typeface="Times New Roman" panose="02020603050405020304" pitchFamily="18" charset="0"/>
              </a:rPr>
              <a:t>gesera</a:t>
            </a:r>
            <a:r>
              <a:rPr lang="en-US" sz="1200" b="1" dirty="0">
                <a:solidFill>
                  <a:srgbClr val="0070C0"/>
                </a:solidFill>
                <a:latin typeface="Bahnschrift Light" panose="020B0502040204020203" pitchFamily="34" charset="0"/>
                <a:ea typeface="Calibri" panose="020F0502020204030204" pitchFamily="34" charset="0"/>
                <a:cs typeface="Times New Roman" panose="02020603050405020304" pitchFamily="18" charset="0"/>
              </a:rPr>
              <a:t> (Less consolidation i.e.. Higher Cap inv)</a:t>
            </a:r>
            <a:endParaRPr lang="en-US" sz="1200" b="1" dirty="0">
              <a:solidFill>
                <a:srgbClr val="0070C0"/>
              </a:solidFill>
              <a:effectLst/>
              <a:latin typeface="Bahnschrift Light" panose="020B0502040204020203" pitchFamily="34" charset="0"/>
              <a:ea typeface="Calibri" panose="020F0502020204030204" pitchFamily="34" charset="0"/>
              <a:cs typeface="Times New Roman" panose="02020603050405020304" pitchFamily="18" charset="0"/>
            </a:endParaRPr>
          </a:p>
        </p:txBody>
      </p:sp>
      <p:pic>
        <p:nvPicPr>
          <p:cNvPr id="13" name="Picture 12">
            <a:extLst>
              <a:ext uri="{FF2B5EF4-FFF2-40B4-BE49-F238E27FC236}">
                <a16:creationId xmlns:a16="http://schemas.microsoft.com/office/drawing/2014/main" id="{8C541225-399D-085D-E564-B79AB8BFFF3C}"/>
              </a:ext>
            </a:extLst>
          </p:cNvPr>
          <p:cNvPicPr>
            <a:picLocks noChangeAspect="1"/>
          </p:cNvPicPr>
          <p:nvPr/>
        </p:nvPicPr>
        <p:blipFill>
          <a:blip r:embed="rId3"/>
          <a:stretch>
            <a:fillRect/>
          </a:stretch>
        </p:blipFill>
        <p:spPr>
          <a:xfrm>
            <a:off x="629375" y="1295400"/>
            <a:ext cx="5314225" cy="3810000"/>
          </a:xfrm>
          <a:prstGeom prst="rect">
            <a:avLst/>
          </a:prstGeom>
        </p:spPr>
      </p:pic>
      <p:pic>
        <p:nvPicPr>
          <p:cNvPr id="15" name="Picture 14">
            <a:extLst>
              <a:ext uri="{FF2B5EF4-FFF2-40B4-BE49-F238E27FC236}">
                <a16:creationId xmlns:a16="http://schemas.microsoft.com/office/drawing/2014/main" id="{A3525E19-F75C-969E-5654-8FD939272A06}"/>
              </a:ext>
            </a:extLst>
          </p:cNvPr>
          <p:cNvPicPr>
            <a:picLocks noChangeAspect="1"/>
          </p:cNvPicPr>
          <p:nvPr/>
        </p:nvPicPr>
        <p:blipFill>
          <a:blip r:embed="rId4"/>
          <a:stretch>
            <a:fillRect/>
          </a:stretch>
        </p:blipFill>
        <p:spPr>
          <a:xfrm>
            <a:off x="6096001" y="2742544"/>
            <a:ext cx="5715000" cy="2561610"/>
          </a:xfrm>
          <a:prstGeom prst="rect">
            <a:avLst/>
          </a:prstGeom>
        </p:spPr>
      </p:pic>
    </p:spTree>
    <p:extLst>
      <p:ext uri="{BB962C8B-B14F-4D97-AF65-F5344CB8AC3E}">
        <p14:creationId xmlns:p14="http://schemas.microsoft.com/office/powerpoint/2010/main" val="1794286039"/>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CC2C1-19BC-B634-C7CD-AD1924DAE91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8B21791-2459-A16D-674C-3D6AF101A4A2}"/>
              </a:ext>
            </a:extLst>
          </p:cNvPr>
          <p:cNvSpPr>
            <a:spLocks noGrp="1"/>
          </p:cNvSpPr>
          <p:nvPr>
            <p:ph type="sldNum" sz="quarter" idx="12"/>
          </p:nvPr>
        </p:nvSpPr>
        <p:spPr/>
        <p:txBody>
          <a:bodyPr/>
          <a:lstStyle/>
          <a:p>
            <a:fld id="{D97AE203-F84D-4A7F-B161-8561326BE072}" type="slidenum">
              <a:rPr lang="en-US" smtClean="0"/>
              <a:pPr/>
              <a:t>8</a:t>
            </a:fld>
            <a:endParaRPr lang="en-US" dirty="0"/>
          </a:p>
        </p:txBody>
      </p:sp>
      <p:sp>
        <p:nvSpPr>
          <p:cNvPr id="2" name="Title 1">
            <a:extLst>
              <a:ext uri="{FF2B5EF4-FFF2-40B4-BE49-F238E27FC236}">
                <a16:creationId xmlns:a16="http://schemas.microsoft.com/office/drawing/2014/main" id="{3C9B1D88-9449-08FA-F046-1BE4B88DDFD8}"/>
              </a:ext>
            </a:extLst>
          </p:cNvPr>
          <p:cNvSpPr>
            <a:spLocks noGrp="1"/>
          </p:cNvSpPr>
          <p:nvPr>
            <p:ph type="title" idx="4294967295"/>
          </p:nvPr>
        </p:nvSpPr>
        <p:spPr>
          <a:xfrm>
            <a:off x="3124200" y="228600"/>
            <a:ext cx="4635447" cy="762000"/>
          </a:xfrm>
          <a:ln>
            <a:noFill/>
          </a:ln>
        </p:spPr>
        <p:txBody>
          <a:bodyPr>
            <a:noAutofit/>
          </a:bodyPr>
          <a:lstStyle/>
          <a:p>
            <a:r>
              <a:rPr lang="en-US" sz="2400" b="1" dirty="0">
                <a:solidFill>
                  <a:srgbClr val="008BCC"/>
                </a:solidFill>
                <a:latin typeface="Bahnschrift" panose="020B0502040204020203" pitchFamily="34" charset="0"/>
                <a:cs typeface="+mn-cs"/>
              </a:rPr>
              <a:t>II. </a:t>
            </a:r>
            <a:r>
              <a:rPr lang="en-US" sz="2400" dirty="0">
                <a:solidFill>
                  <a:srgbClr val="008BCC"/>
                </a:solidFill>
                <a:cs typeface="+mn-cs"/>
              </a:rPr>
              <a:t>Forecast results: Alternative</a:t>
            </a:r>
            <a:br>
              <a:rPr lang="en-US" sz="2400" b="1" dirty="0"/>
            </a:br>
            <a:r>
              <a:rPr lang="en-US" sz="1200" b="1" dirty="0"/>
              <a:t>                                                   </a:t>
            </a:r>
            <a:endParaRPr lang="en-RW" sz="1600" b="1" dirty="0">
              <a:solidFill>
                <a:srgbClr val="109351"/>
              </a:solidFill>
              <a:latin typeface="Bahnschrift" panose="020B0502040204020203" pitchFamily="34" charset="0"/>
            </a:endParaRPr>
          </a:p>
        </p:txBody>
      </p:sp>
      <p:pic>
        <p:nvPicPr>
          <p:cNvPr id="10" name="Picture 9">
            <a:extLst>
              <a:ext uri="{FF2B5EF4-FFF2-40B4-BE49-F238E27FC236}">
                <a16:creationId xmlns:a16="http://schemas.microsoft.com/office/drawing/2014/main" id="{A490B4A0-ECCF-95DF-BA5D-D184C40C833D}"/>
              </a:ext>
            </a:extLst>
          </p:cNvPr>
          <p:cNvPicPr>
            <a:picLocks noChangeAspect="1"/>
          </p:cNvPicPr>
          <p:nvPr/>
        </p:nvPicPr>
        <p:blipFill>
          <a:blip r:embed="rId2"/>
          <a:stretch>
            <a:fillRect/>
          </a:stretch>
        </p:blipFill>
        <p:spPr>
          <a:xfrm>
            <a:off x="685800" y="1269571"/>
            <a:ext cx="6477000" cy="5291207"/>
          </a:xfrm>
          <a:prstGeom prst="rect">
            <a:avLst/>
          </a:prstGeom>
        </p:spPr>
      </p:pic>
      <p:sp>
        <p:nvSpPr>
          <p:cNvPr id="4" name="TextBox 3">
            <a:extLst>
              <a:ext uri="{FF2B5EF4-FFF2-40B4-BE49-F238E27FC236}">
                <a16:creationId xmlns:a16="http://schemas.microsoft.com/office/drawing/2014/main" id="{825F3703-C4E2-73B2-6559-B3D76C1DFAED}"/>
              </a:ext>
            </a:extLst>
          </p:cNvPr>
          <p:cNvSpPr txBox="1"/>
          <p:nvPr/>
        </p:nvSpPr>
        <p:spPr>
          <a:xfrm>
            <a:off x="7239000" y="2895600"/>
            <a:ext cx="4572000" cy="1323054"/>
          </a:xfrm>
          <a:prstGeom prst="rect">
            <a:avLst/>
          </a:prstGeom>
          <a:noFill/>
          <a:ln>
            <a:solidFill>
              <a:schemeClr val="accent1">
                <a:lumMod val="40000"/>
                <a:lumOff val="60000"/>
              </a:schemeClr>
            </a:solidFill>
          </a:ln>
        </p:spPr>
        <p:txBody>
          <a:bodyPr wrap="square" rtlCol="0">
            <a:spAutoFit/>
          </a:bodyPr>
          <a:lstStyle/>
          <a:p>
            <a:pPr marL="0" lvl="1" algn="just" eaLnBrk="0" hangingPunct="0">
              <a:lnSpc>
                <a:spcPct val="150000"/>
              </a:lnSpc>
              <a:spcBef>
                <a:spcPts val="0"/>
              </a:spcBef>
              <a:spcAft>
                <a:spcPts val="600"/>
              </a:spcAft>
              <a:buClr>
                <a:schemeClr val="accent1"/>
              </a:buClr>
              <a:buSzPct val="76000"/>
            </a:pPr>
            <a:r>
              <a:rPr lang="en-US" sz="1200" b="1" dirty="0">
                <a:latin typeface="Bahnschrift Light" panose="020B0502040204020203" pitchFamily="34" charset="0"/>
              </a:rPr>
              <a:t>Real GDP Growth Drivers: Final demand components</a:t>
            </a:r>
          </a:p>
          <a:p>
            <a:pPr marL="0" lvl="1" algn="just" eaLnBrk="0" hangingPunct="0">
              <a:lnSpc>
                <a:spcPct val="150000"/>
              </a:lnSpc>
              <a:spcBef>
                <a:spcPts val="0"/>
              </a:spcBef>
              <a:spcAft>
                <a:spcPts val="600"/>
              </a:spcAft>
              <a:buClr>
                <a:schemeClr val="accent1"/>
              </a:buClr>
              <a:buSzPct val="76000"/>
            </a:pPr>
            <a:endParaRPr lang="en-US" sz="1200" b="1" dirty="0">
              <a:solidFill>
                <a:srgbClr val="0070C0"/>
              </a:solidFill>
              <a:effectLst/>
              <a:latin typeface="Bahnschrift Light" panose="020B0502040204020203" pitchFamily="34" charset="0"/>
              <a:ea typeface="Calibri" panose="020F0502020204030204" pitchFamily="34" charset="0"/>
              <a:cs typeface="Times New Roman" panose="02020603050405020304" pitchFamily="18" charset="0"/>
            </a:endParaRPr>
          </a:p>
          <a:p>
            <a:pPr marL="0" lvl="1" algn="just" eaLnBrk="0" hangingPunct="0">
              <a:lnSpc>
                <a:spcPct val="150000"/>
              </a:lnSpc>
              <a:spcBef>
                <a:spcPts val="0"/>
              </a:spcBef>
              <a:spcAft>
                <a:spcPts val="600"/>
              </a:spcAft>
              <a:buClr>
                <a:schemeClr val="accent1"/>
              </a:buClr>
              <a:buSzPct val="76000"/>
            </a:pPr>
            <a:r>
              <a:rPr lang="en-US" sz="1200" b="1" dirty="0">
                <a:solidFill>
                  <a:srgbClr val="0070C0"/>
                </a:solidFill>
                <a:latin typeface="Bahnschrift Light" panose="020B0502040204020203" pitchFamily="34" charset="0"/>
                <a:ea typeface="Calibri" panose="020F0502020204030204" pitchFamily="34" charset="0"/>
                <a:cs typeface="Times New Roman" panose="02020603050405020304" pitchFamily="18" charset="0"/>
              </a:rPr>
              <a:t>Impact of and private investment demand prominent if compared.</a:t>
            </a:r>
            <a:endParaRPr lang="en-US" sz="1200" b="1" dirty="0">
              <a:solidFill>
                <a:srgbClr val="0070C0"/>
              </a:solidFill>
              <a:effectLst/>
              <a:latin typeface="Bahnschrift Light" panose="020B0502040204020203"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7603336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E4A37-87B1-13DB-8AF4-AABC8CB9AA0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4CCDF71-49A1-8C35-641B-1EA80B42BEFC}"/>
              </a:ext>
            </a:extLst>
          </p:cNvPr>
          <p:cNvSpPr>
            <a:spLocks noGrp="1"/>
          </p:cNvSpPr>
          <p:nvPr>
            <p:ph type="sldNum" sz="quarter" idx="12"/>
          </p:nvPr>
        </p:nvSpPr>
        <p:spPr/>
        <p:txBody>
          <a:bodyPr/>
          <a:lstStyle/>
          <a:p>
            <a:fld id="{D97AE203-F84D-4A7F-B161-8561326BE072}" type="slidenum">
              <a:rPr lang="en-US" smtClean="0"/>
              <a:pPr/>
              <a:t>9</a:t>
            </a:fld>
            <a:endParaRPr lang="en-US" dirty="0"/>
          </a:p>
        </p:txBody>
      </p:sp>
      <p:sp>
        <p:nvSpPr>
          <p:cNvPr id="2" name="Title 1">
            <a:extLst>
              <a:ext uri="{FF2B5EF4-FFF2-40B4-BE49-F238E27FC236}">
                <a16:creationId xmlns:a16="http://schemas.microsoft.com/office/drawing/2014/main" id="{9C64C747-AB4B-B722-148A-D75342B74B77}"/>
              </a:ext>
            </a:extLst>
          </p:cNvPr>
          <p:cNvSpPr>
            <a:spLocks noGrp="1"/>
          </p:cNvSpPr>
          <p:nvPr>
            <p:ph type="title" idx="4294967295"/>
          </p:nvPr>
        </p:nvSpPr>
        <p:spPr>
          <a:xfrm>
            <a:off x="3124200" y="228600"/>
            <a:ext cx="6553200" cy="762000"/>
          </a:xfrm>
          <a:ln>
            <a:noFill/>
          </a:ln>
        </p:spPr>
        <p:txBody>
          <a:bodyPr>
            <a:noAutofit/>
          </a:bodyPr>
          <a:lstStyle/>
          <a:p>
            <a:r>
              <a:rPr lang="en-US" sz="2400" b="1" dirty="0">
                <a:solidFill>
                  <a:srgbClr val="008BCC"/>
                </a:solidFill>
                <a:latin typeface="Bahnschrift" panose="020B0502040204020203" pitchFamily="34" charset="0"/>
                <a:cs typeface="+mn-cs"/>
              </a:rPr>
              <a:t>II. </a:t>
            </a:r>
            <a:r>
              <a:rPr lang="en-US" sz="2400" dirty="0">
                <a:solidFill>
                  <a:srgbClr val="008BCC"/>
                </a:solidFill>
                <a:cs typeface="+mn-cs"/>
              </a:rPr>
              <a:t>Forecast results: Cyclical position</a:t>
            </a:r>
            <a:endParaRPr lang="en-RW" sz="1600" b="1" dirty="0">
              <a:solidFill>
                <a:srgbClr val="109351"/>
              </a:solidFill>
              <a:latin typeface="Bahnschrift" panose="020B0502040204020203" pitchFamily="34" charset="0"/>
            </a:endParaRPr>
          </a:p>
        </p:txBody>
      </p:sp>
      <p:sp>
        <p:nvSpPr>
          <p:cNvPr id="4" name="TextBox 3">
            <a:extLst>
              <a:ext uri="{FF2B5EF4-FFF2-40B4-BE49-F238E27FC236}">
                <a16:creationId xmlns:a16="http://schemas.microsoft.com/office/drawing/2014/main" id="{D4FFB217-3055-0851-C755-C75076B6073A}"/>
              </a:ext>
            </a:extLst>
          </p:cNvPr>
          <p:cNvSpPr txBox="1"/>
          <p:nvPr/>
        </p:nvSpPr>
        <p:spPr>
          <a:xfrm>
            <a:off x="381000" y="5181600"/>
            <a:ext cx="4572000" cy="969111"/>
          </a:xfrm>
          <a:prstGeom prst="rect">
            <a:avLst/>
          </a:prstGeom>
          <a:noFill/>
          <a:ln>
            <a:solidFill>
              <a:schemeClr val="accent1">
                <a:lumMod val="40000"/>
                <a:lumOff val="60000"/>
              </a:schemeClr>
            </a:solidFill>
          </a:ln>
        </p:spPr>
        <p:txBody>
          <a:bodyPr wrap="square" rtlCol="0">
            <a:spAutoFit/>
          </a:bodyPr>
          <a:lstStyle/>
          <a:p>
            <a:pPr marL="0" lvl="1" algn="just" eaLnBrk="0" hangingPunct="0">
              <a:lnSpc>
                <a:spcPct val="150000"/>
              </a:lnSpc>
              <a:spcBef>
                <a:spcPts val="0"/>
              </a:spcBef>
              <a:spcAft>
                <a:spcPts val="600"/>
              </a:spcAft>
              <a:buClr>
                <a:schemeClr val="accent1"/>
              </a:buClr>
              <a:buSzPct val="76000"/>
            </a:pPr>
            <a:r>
              <a:rPr lang="en-US" sz="1200" b="1" dirty="0">
                <a:latin typeface="Bahnschrift Light" panose="020B0502040204020203" pitchFamily="34" charset="0"/>
              </a:rPr>
              <a:t>Real GDP Growth Drivers: Final demand components</a:t>
            </a:r>
          </a:p>
          <a:p>
            <a:pPr marL="0" lvl="1" algn="just" eaLnBrk="0" hangingPunct="0">
              <a:lnSpc>
                <a:spcPct val="150000"/>
              </a:lnSpc>
              <a:spcBef>
                <a:spcPts val="0"/>
              </a:spcBef>
              <a:spcAft>
                <a:spcPts val="600"/>
              </a:spcAft>
              <a:buClr>
                <a:schemeClr val="accent1"/>
              </a:buClr>
              <a:buSzPct val="76000"/>
            </a:pPr>
            <a:r>
              <a:rPr lang="en-US" sz="1200" b="1" dirty="0">
                <a:solidFill>
                  <a:srgbClr val="0070C0"/>
                </a:solidFill>
                <a:effectLst/>
                <a:latin typeface="Bahnschrift Light" panose="020B0502040204020203" pitchFamily="34" charset="0"/>
                <a:ea typeface="Calibri" panose="020F0502020204030204" pitchFamily="34" charset="0"/>
                <a:cs typeface="Times New Roman" panose="02020603050405020304" pitchFamily="18" charset="0"/>
              </a:rPr>
              <a:t>Forecasted closing output gap from positive pronounced  investment and export cyclical position</a:t>
            </a:r>
          </a:p>
        </p:txBody>
      </p:sp>
      <p:pic>
        <p:nvPicPr>
          <p:cNvPr id="6" name="Picture 5">
            <a:extLst>
              <a:ext uri="{FF2B5EF4-FFF2-40B4-BE49-F238E27FC236}">
                <a16:creationId xmlns:a16="http://schemas.microsoft.com/office/drawing/2014/main" id="{C577FCA9-6DDF-B7D7-BB56-70853E8DB87E}"/>
              </a:ext>
            </a:extLst>
          </p:cNvPr>
          <p:cNvPicPr>
            <a:picLocks noChangeAspect="1"/>
          </p:cNvPicPr>
          <p:nvPr/>
        </p:nvPicPr>
        <p:blipFill>
          <a:blip r:embed="rId2"/>
          <a:stretch>
            <a:fillRect/>
          </a:stretch>
        </p:blipFill>
        <p:spPr>
          <a:xfrm>
            <a:off x="533400" y="914400"/>
            <a:ext cx="5257800" cy="3962400"/>
          </a:xfrm>
          <a:prstGeom prst="rect">
            <a:avLst/>
          </a:prstGeom>
        </p:spPr>
      </p:pic>
      <p:pic>
        <p:nvPicPr>
          <p:cNvPr id="8" name="Picture 7">
            <a:extLst>
              <a:ext uri="{FF2B5EF4-FFF2-40B4-BE49-F238E27FC236}">
                <a16:creationId xmlns:a16="http://schemas.microsoft.com/office/drawing/2014/main" id="{D564D513-6A56-CC7A-9531-2F3BEA964219}"/>
              </a:ext>
            </a:extLst>
          </p:cNvPr>
          <p:cNvPicPr>
            <a:picLocks noChangeAspect="1"/>
          </p:cNvPicPr>
          <p:nvPr/>
        </p:nvPicPr>
        <p:blipFill>
          <a:blip r:embed="rId3"/>
          <a:stretch>
            <a:fillRect/>
          </a:stretch>
        </p:blipFill>
        <p:spPr>
          <a:xfrm>
            <a:off x="5887941" y="1219200"/>
            <a:ext cx="2895600" cy="2552700"/>
          </a:xfrm>
          <a:prstGeom prst="rect">
            <a:avLst/>
          </a:prstGeom>
        </p:spPr>
      </p:pic>
      <p:pic>
        <p:nvPicPr>
          <p:cNvPr id="11" name="Picture 10">
            <a:extLst>
              <a:ext uri="{FF2B5EF4-FFF2-40B4-BE49-F238E27FC236}">
                <a16:creationId xmlns:a16="http://schemas.microsoft.com/office/drawing/2014/main" id="{0D33B8C7-775C-CB95-CA25-981D44B40913}"/>
              </a:ext>
            </a:extLst>
          </p:cNvPr>
          <p:cNvPicPr>
            <a:picLocks noChangeAspect="1"/>
          </p:cNvPicPr>
          <p:nvPr/>
        </p:nvPicPr>
        <p:blipFill>
          <a:blip r:embed="rId4"/>
          <a:stretch>
            <a:fillRect/>
          </a:stretch>
        </p:blipFill>
        <p:spPr>
          <a:xfrm>
            <a:off x="8880282" y="2272056"/>
            <a:ext cx="2895600" cy="2267067"/>
          </a:xfrm>
          <a:prstGeom prst="rect">
            <a:avLst/>
          </a:prstGeom>
        </p:spPr>
      </p:pic>
      <p:pic>
        <p:nvPicPr>
          <p:cNvPr id="13" name="Picture 12">
            <a:extLst>
              <a:ext uri="{FF2B5EF4-FFF2-40B4-BE49-F238E27FC236}">
                <a16:creationId xmlns:a16="http://schemas.microsoft.com/office/drawing/2014/main" id="{0231A4A0-9024-CE17-12D9-8ABE807089A1}"/>
              </a:ext>
            </a:extLst>
          </p:cNvPr>
          <p:cNvPicPr>
            <a:picLocks noChangeAspect="1"/>
          </p:cNvPicPr>
          <p:nvPr/>
        </p:nvPicPr>
        <p:blipFill>
          <a:blip r:embed="rId5"/>
          <a:stretch>
            <a:fillRect/>
          </a:stretch>
        </p:blipFill>
        <p:spPr>
          <a:xfrm>
            <a:off x="5859449" y="4048066"/>
            <a:ext cx="2895600" cy="2267067"/>
          </a:xfrm>
          <a:prstGeom prst="rect">
            <a:avLst/>
          </a:prstGeom>
        </p:spPr>
      </p:pic>
    </p:spTree>
    <p:extLst>
      <p:ext uri="{BB962C8B-B14F-4D97-AF65-F5344CB8AC3E}">
        <p14:creationId xmlns:p14="http://schemas.microsoft.com/office/powerpoint/2010/main" val="33645676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4A30F-F1AF-7A79-492A-E0B0809E7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C7662-4EC7-436F-F35A-2747C667670B}"/>
              </a:ext>
            </a:extLst>
          </p:cNvPr>
          <p:cNvSpPr>
            <a:spLocks noGrp="1"/>
          </p:cNvSpPr>
          <p:nvPr>
            <p:ph type="title"/>
          </p:nvPr>
        </p:nvSpPr>
        <p:spPr>
          <a:xfrm>
            <a:off x="2209800" y="928688"/>
            <a:ext cx="9144000" cy="476250"/>
          </a:xfrm>
        </p:spPr>
        <p:txBody>
          <a:bodyPr>
            <a:normAutofit fontScale="90000"/>
          </a:bodyPr>
          <a:lstStyle/>
          <a:p>
            <a:r>
              <a:rPr lang="en-US" dirty="0">
                <a:solidFill>
                  <a:srgbClr val="008BCC"/>
                </a:solidFill>
                <a:ea typeface="ＭＳ Ｐゴシック" charset="-128"/>
              </a:rPr>
              <a:t>IIIa. Current cyclical position as influenced by recent policies</a:t>
            </a:r>
            <a:endParaRPr lang="en-US" dirty="0">
              <a:solidFill>
                <a:srgbClr val="008BCC"/>
              </a:solidFill>
            </a:endParaRPr>
          </a:p>
        </p:txBody>
      </p:sp>
      <p:sp>
        <p:nvSpPr>
          <p:cNvPr id="3" name="Content Placeholder 2">
            <a:extLst>
              <a:ext uri="{FF2B5EF4-FFF2-40B4-BE49-F238E27FC236}">
                <a16:creationId xmlns:a16="http://schemas.microsoft.com/office/drawing/2014/main" id="{C5A0840F-42A8-0F32-C51F-A693B64C48B5}"/>
              </a:ext>
            </a:extLst>
          </p:cNvPr>
          <p:cNvSpPr>
            <a:spLocks noGrp="1"/>
          </p:cNvSpPr>
          <p:nvPr>
            <p:ph idx="1"/>
          </p:nvPr>
        </p:nvSpPr>
        <p:spPr>
          <a:xfrm>
            <a:off x="533401" y="1495425"/>
            <a:ext cx="11049000" cy="4953000"/>
          </a:xfrm>
          <a:solidFill>
            <a:schemeClr val="bg1">
              <a:lumMod val="95000"/>
            </a:schemeClr>
          </a:solidFill>
          <a:ln>
            <a:solidFill>
              <a:schemeClr val="bg1">
                <a:lumMod val="50000"/>
              </a:schemeClr>
            </a:solidFill>
          </a:ln>
        </p:spPr>
        <p:txBody>
          <a:bodyPr>
            <a:normAutofit/>
          </a:bodyPr>
          <a:lstStyle/>
          <a:p>
            <a:pPr marL="0" indent="0">
              <a:lnSpc>
                <a:spcPct val="150000"/>
              </a:lnSpc>
              <a:spcBef>
                <a:spcPts val="0"/>
              </a:spcBef>
              <a:buNone/>
              <a:defRPr/>
            </a:pPr>
            <a:r>
              <a:rPr lang="en-US" sz="1600" b="1" dirty="0">
                <a:solidFill>
                  <a:prstClr val="black"/>
                </a:solidFill>
                <a:latin typeface="Bahnschrift" panose="020B0502040204020203" pitchFamily="34" charset="0"/>
              </a:rPr>
              <a:t>Cyclical position:</a:t>
            </a:r>
            <a:endParaRPr lang="en-US" sz="1600" dirty="0">
              <a:solidFill>
                <a:srgbClr val="C00000"/>
              </a:solidFill>
              <a:latin typeface="Bahnschrift" panose="020B0502040204020203" pitchFamily="34" charset="0"/>
            </a:endParaRPr>
          </a:p>
          <a:p>
            <a:pPr>
              <a:lnSpc>
                <a:spcPct val="150000"/>
              </a:lnSpc>
              <a:spcBef>
                <a:spcPts val="0"/>
              </a:spcBef>
              <a:buFont typeface="Wingdings" panose="05000000000000000000" pitchFamily="2" charset="2"/>
              <a:buChar char="§"/>
              <a:defRPr/>
            </a:pPr>
            <a:r>
              <a:rPr lang="en-US" sz="1600" dirty="0">
                <a:solidFill>
                  <a:srgbClr val="C00000"/>
                </a:solidFill>
                <a:latin typeface="Bahnschrift" panose="020B0502040204020203" pitchFamily="34" charset="0"/>
              </a:rPr>
              <a:t>Output has been growing above and below the potential level for the pre- and post-COVID periods, respectively</a:t>
            </a:r>
          </a:p>
          <a:p>
            <a:pPr lvl="1">
              <a:lnSpc>
                <a:spcPct val="150000"/>
              </a:lnSpc>
              <a:spcBef>
                <a:spcPts val="0"/>
              </a:spcBef>
              <a:buFont typeface="Wingdings" panose="05000000000000000000" pitchFamily="2" charset="2"/>
              <a:buChar char="§"/>
              <a:defRPr/>
            </a:pPr>
            <a:r>
              <a:rPr lang="en-US" sz="1200" dirty="0">
                <a:solidFill>
                  <a:srgbClr val="C00000"/>
                </a:solidFill>
                <a:latin typeface="Bahnschrift" panose="020B0502040204020203" pitchFamily="34" charset="0"/>
              </a:rPr>
              <a:t>Government recovery policies positively in the movement of output back to the potential level </a:t>
            </a:r>
          </a:p>
          <a:p>
            <a:pPr lvl="1">
              <a:lnSpc>
                <a:spcPct val="150000"/>
              </a:lnSpc>
              <a:spcBef>
                <a:spcPts val="0"/>
              </a:spcBef>
              <a:buFont typeface="Wingdings" panose="05000000000000000000" pitchFamily="2" charset="2"/>
              <a:buChar char="§"/>
              <a:defRPr/>
            </a:pPr>
            <a:r>
              <a:rPr lang="en-US" sz="1200" dirty="0">
                <a:solidFill>
                  <a:srgbClr val="C00000"/>
                </a:solidFill>
                <a:latin typeface="Bahnschrift" panose="020B0502040204020203" pitchFamily="34" charset="0"/>
              </a:rPr>
              <a:t>Nevertheless, agricultural output remains subdued where it remains below its potential since 2021 but is closing the gap as time goes on.</a:t>
            </a:r>
          </a:p>
          <a:p>
            <a:pPr lvl="1">
              <a:lnSpc>
                <a:spcPct val="150000"/>
              </a:lnSpc>
              <a:spcBef>
                <a:spcPts val="0"/>
              </a:spcBef>
              <a:buFont typeface="Wingdings" panose="05000000000000000000" pitchFamily="2" charset="2"/>
              <a:buChar char="§"/>
              <a:defRPr/>
            </a:pPr>
            <a:r>
              <a:rPr lang="en-US" sz="1200" dirty="0">
                <a:solidFill>
                  <a:srgbClr val="C00000"/>
                </a:solidFill>
                <a:latin typeface="Bahnschrift" panose="020B0502040204020203" pitchFamily="34" charset="0"/>
              </a:rPr>
              <a:t>Recently, Output temporally picked above potential level for the second half of 2023-24 due to eased Government fiscal consolidation and sustained positive exports.</a:t>
            </a:r>
            <a:endParaRPr lang="en-US" sz="1000" dirty="0">
              <a:solidFill>
                <a:prstClr val="black"/>
              </a:solidFill>
              <a:latin typeface="Bahnschrift Light" panose="020B0502040204020203" pitchFamily="34" charset="0"/>
            </a:endParaRPr>
          </a:p>
          <a:p>
            <a:pPr marL="0" indent="0">
              <a:lnSpc>
                <a:spcPct val="150000"/>
              </a:lnSpc>
              <a:spcBef>
                <a:spcPts val="0"/>
              </a:spcBef>
              <a:buNone/>
              <a:defRPr/>
            </a:pPr>
            <a:r>
              <a:rPr lang="en-US" sz="1600" b="1" dirty="0">
                <a:solidFill>
                  <a:prstClr val="black"/>
                </a:solidFill>
                <a:latin typeface="Bahnschrift" panose="020B0502040204020203" pitchFamily="34" charset="0"/>
              </a:rPr>
              <a:t>Fiscal policy position and stance:</a:t>
            </a:r>
          </a:p>
          <a:p>
            <a:pPr>
              <a:lnSpc>
                <a:spcPct val="150000"/>
              </a:lnSpc>
              <a:spcBef>
                <a:spcPts val="0"/>
              </a:spcBef>
              <a:buFont typeface="Wingdings" panose="05000000000000000000" pitchFamily="2" charset="2"/>
              <a:buChar char="§"/>
              <a:defRPr/>
            </a:pPr>
            <a:r>
              <a:rPr lang="en-US" sz="1600" dirty="0">
                <a:solidFill>
                  <a:srgbClr val="C00000"/>
                </a:solidFill>
                <a:latin typeface="Bahnschrift" panose="020B0502040204020203" pitchFamily="34" charset="0"/>
              </a:rPr>
              <a:t>Recent strong government consolidation led to a reduction in the deficit path.</a:t>
            </a:r>
          </a:p>
          <a:p>
            <a:pPr lvl="1">
              <a:lnSpc>
                <a:spcPct val="150000"/>
              </a:lnSpc>
              <a:spcBef>
                <a:spcPts val="0"/>
              </a:spcBef>
              <a:buFont typeface="Wingdings" panose="05000000000000000000" pitchFamily="2" charset="2"/>
              <a:buChar char="§"/>
              <a:defRPr/>
            </a:pPr>
            <a:r>
              <a:rPr lang="en-US" sz="1200" dirty="0">
                <a:solidFill>
                  <a:srgbClr val="C00000"/>
                </a:solidFill>
                <a:latin typeface="Bahnschrift" panose="020B0502040204020203" pitchFamily="34" charset="0"/>
              </a:rPr>
              <a:t>The government has been cutting spending to ensure a regulated fiscal path while also maintaining fiscal discipline.</a:t>
            </a:r>
          </a:p>
          <a:p>
            <a:pPr lvl="1">
              <a:lnSpc>
                <a:spcPct val="150000"/>
              </a:lnSpc>
              <a:spcBef>
                <a:spcPts val="0"/>
              </a:spcBef>
              <a:buFont typeface="Wingdings" panose="05000000000000000000" pitchFamily="2" charset="2"/>
              <a:buChar char="§"/>
              <a:defRPr/>
            </a:pPr>
            <a:r>
              <a:rPr lang="en-US" sz="1200" dirty="0">
                <a:solidFill>
                  <a:srgbClr val="C00000"/>
                </a:solidFill>
                <a:latin typeface="Bahnschrift" panose="020B0502040204020203" pitchFamily="34" charset="0"/>
              </a:rPr>
              <a:t>Tax reforms and measures to increase revenue collection under the MTRS framework.</a:t>
            </a:r>
            <a:endParaRPr lang="en-US" sz="1600" dirty="0">
              <a:solidFill>
                <a:prstClr val="black"/>
              </a:solidFill>
              <a:latin typeface="Bahnschrift" panose="020B0502040204020203" pitchFamily="34" charset="0"/>
            </a:endParaRPr>
          </a:p>
          <a:p>
            <a:pPr marL="0" indent="0">
              <a:lnSpc>
                <a:spcPct val="150000"/>
              </a:lnSpc>
              <a:spcBef>
                <a:spcPts val="0"/>
              </a:spcBef>
              <a:buNone/>
              <a:defRPr/>
            </a:pPr>
            <a:r>
              <a:rPr lang="en-US" sz="1600" b="1" dirty="0">
                <a:solidFill>
                  <a:prstClr val="black"/>
                </a:solidFill>
                <a:latin typeface="Bahnschrift" panose="020B0502040204020203" pitchFamily="34" charset="0"/>
              </a:rPr>
              <a:t>RIR and ER policy stance</a:t>
            </a:r>
            <a:r>
              <a:rPr lang="en-US" sz="1600" dirty="0">
                <a:solidFill>
                  <a:prstClr val="black"/>
                </a:solidFill>
                <a:latin typeface="Bahnschrift" panose="020B0502040204020203" pitchFamily="34" charset="0"/>
              </a:rPr>
              <a:t>:</a:t>
            </a:r>
          </a:p>
          <a:p>
            <a:pPr>
              <a:lnSpc>
                <a:spcPct val="150000"/>
              </a:lnSpc>
              <a:spcBef>
                <a:spcPts val="0"/>
              </a:spcBef>
              <a:buFont typeface="Wingdings" panose="05000000000000000000" pitchFamily="2" charset="2"/>
              <a:buChar char="§"/>
              <a:defRPr/>
            </a:pPr>
            <a:r>
              <a:rPr lang="en-US" sz="1600" dirty="0">
                <a:solidFill>
                  <a:srgbClr val="C00000"/>
                </a:solidFill>
                <a:latin typeface="Bahnschrift" panose="020B0502040204020203" pitchFamily="34" charset="0"/>
              </a:rPr>
              <a:t>Real Interest Rate rises as inflation stays in the bands:</a:t>
            </a:r>
          </a:p>
          <a:p>
            <a:pPr lvl="1">
              <a:lnSpc>
                <a:spcPct val="150000"/>
              </a:lnSpc>
              <a:spcBef>
                <a:spcPts val="0"/>
              </a:spcBef>
              <a:buFont typeface="Wingdings" panose="05000000000000000000" pitchFamily="2" charset="2"/>
              <a:buChar char="§"/>
              <a:defRPr/>
            </a:pPr>
            <a:r>
              <a:rPr lang="en-US" sz="1200" dirty="0">
                <a:solidFill>
                  <a:srgbClr val="C00000"/>
                </a:solidFill>
                <a:latin typeface="Bahnschrift" panose="020B0502040204020203" pitchFamily="34" charset="0"/>
              </a:rPr>
              <a:t>Constantly maintained policy interest rate.</a:t>
            </a:r>
          </a:p>
          <a:p>
            <a:pPr lvl="1">
              <a:lnSpc>
                <a:spcPct val="150000"/>
              </a:lnSpc>
              <a:spcBef>
                <a:spcPts val="0"/>
              </a:spcBef>
              <a:buFont typeface="Wingdings" panose="05000000000000000000" pitchFamily="2" charset="2"/>
              <a:buChar char="§"/>
              <a:defRPr/>
            </a:pPr>
            <a:r>
              <a:rPr lang="en-US" sz="1200" dirty="0">
                <a:solidFill>
                  <a:srgbClr val="C00000"/>
                </a:solidFill>
                <a:latin typeface="Bahnschrift" panose="020B0502040204020203" pitchFamily="34" charset="0"/>
              </a:rPr>
              <a:t>Accelerated exchange depreciation </a:t>
            </a:r>
            <a:endParaRPr lang="en-US" sz="1600" dirty="0">
              <a:solidFill>
                <a:prstClr val="black"/>
              </a:solidFill>
              <a:latin typeface="Bahnschrift" panose="020B0502040204020203" pitchFamily="34" charset="0"/>
            </a:endParaRPr>
          </a:p>
        </p:txBody>
      </p:sp>
    </p:spTree>
    <p:extLst>
      <p:ext uri="{BB962C8B-B14F-4D97-AF65-F5344CB8AC3E}">
        <p14:creationId xmlns:p14="http://schemas.microsoft.com/office/powerpoint/2010/main" val="15946259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BBD5B-8483-B5CB-F51A-19C8F35654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479193-34E2-CF65-A4DA-E276443A1359}"/>
              </a:ext>
            </a:extLst>
          </p:cNvPr>
          <p:cNvSpPr>
            <a:spLocks noGrp="1"/>
          </p:cNvSpPr>
          <p:nvPr>
            <p:ph type="title"/>
          </p:nvPr>
        </p:nvSpPr>
        <p:spPr>
          <a:xfrm>
            <a:off x="838200" y="928688"/>
            <a:ext cx="10515600" cy="476250"/>
          </a:xfrm>
        </p:spPr>
        <p:txBody>
          <a:bodyPr/>
          <a:lstStyle/>
          <a:p>
            <a:r>
              <a:rPr kumimoji="0" lang="en-US" sz="2800" b="1" i="0" u="none" strike="noStrike" kern="1200" cap="none" spc="0" normalizeH="0" baseline="0" noProof="0" dirty="0">
                <a:ln>
                  <a:noFill/>
                </a:ln>
                <a:solidFill>
                  <a:srgbClr val="008BCC"/>
                </a:solidFill>
                <a:effectLst/>
                <a:uLnTx/>
                <a:uFillTx/>
                <a:latin typeface="Bahnschrift" panose="020B0502040204020203" pitchFamily="34" charset="0"/>
                <a:ea typeface="ＭＳ Ｐゴシック" charset="-128"/>
                <a:cs typeface="+mj-cs"/>
              </a:rPr>
              <a:t>Summary of po</a:t>
            </a:r>
            <a:r>
              <a:rPr lang="en-US" dirty="0" err="1">
                <a:solidFill>
                  <a:srgbClr val="008BCC"/>
                </a:solidFill>
                <a:ea typeface="ＭＳ Ｐゴシック" charset="-128"/>
              </a:rPr>
              <a:t>licy</a:t>
            </a:r>
            <a:r>
              <a:rPr lang="en-US" dirty="0">
                <a:solidFill>
                  <a:srgbClr val="008BCC"/>
                </a:solidFill>
                <a:ea typeface="ＭＳ Ｐゴシック" charset="-128"/>
              </a:rPr>
              <a:t> a</a:t>
            </a:r>
            <a:r>
              <a:rPr kumimoji="0" lang="en-US" sz="2800" b="1" i="0" u="none" strike="noStrike" kern="1200" cap="none" spc="0" normalizeH="0" baseline="0" noProof="0" dirty="0" err="1">
                <a:ln>
                  <a:noFill/>
                </a:ln>
                <a:solidFill>
                  <a:srgbClr val="008BCC"/>
                </a:solidFill>
                <a:effectLst/>
                <a:uLnTx/>
                <a:uFillTx/>
                <a:latin typeface="Bahnschrift" panose="020B0502040204020203" pitchFamily="34" charset="0"/>
                <a:ea typeface="ＭＳ Ｐゴシック" charset="-128"/>
                <a:cs typeface="+mj-cs"/>
              </a:rPr>
              <a:t>ssumptions</a:t>
            </a:r>
            <a:r>
              <a:rPr kumimoji="0" lang="en-US" sz="2800" b="1" i="0" u="none" strike="noStrike" kern="1200" cap="none" spc="0" normalizeH="0" baseline="0" noProof="0" dirty="0">
                <a:ln>
                  <a:noFill/>
                </a:ln>
                <a:solidFill>
                  <a:srgbClr val="008BCC"/>
                </a:solidFill>
                <a:effectLst/>
                <a:uLnTx/>
                <a:uFillTx/>
                <a:latin typeface="Bahnschrift" panose="020B0502040204020203" pitchFamily="34" charset="0"/>
                <a:ea typeface="ＭＳ Ｐゴシック" charset="-128"/>
                <a:cs typeface="+mj-cs"/>
              </a:rPr>
              <a:t> underlying forecasts</a:t>
            </a:r>
            <a:endParaRPr lang="en-US" dirty="0">
              <a:solidFill>
                <a:srgbClr val="008BCC"/>
              </a:solidFill>
            </a:endParaRPr>
          </a:p>
        </p:txBody>
      </p:sp>
      <p:sp>
        <p:nvSpPr>
          <p:cNvPr id="3" name="Content Placeholder 2">
            <a:extLst>
              <a:ext uri="{FF2B5EF4-FFF2-40B4-BE49-F238E27FC236}">
                <a16:creationId xmlns:a16="http://schemas.microsoft.com/office/drawing/2014/main" id="{1E2F9777-4D90-5943-11C1-73F744980722}"/>
              </a:ext>
            </a:extLst>
          </p:cNvPr>
          <p:cNvSpPr>
            <a:spLocks noGrp="1"/>
          </p:cNvSpPr>
          <p:nvPr>
            <p:ph idx="1"/>
          </p:nvPr>
        </p:nvSpPr>
        <p:spPr>
          <a:xfrm>
            <a:off x="533401" y="1495425"/>
            <a:ext cx="11049000" cy="4953000"/>
          </a:xfrm>
          <a:solidFill>
            <a:schemeClr val="bg1">
              <a:lumMod val="95000"/>
            </a:schemeClr>
          </a:solidFill>
          <a:ln>
            <a:solidFill>
              <a:schemeClr val="bg1">
                <a:lumMod val="50000"/>
              </a:schemeClr>
            </a:solidFill>
          </a:ln>
        </p:spPr>
        <p:txBody>
          <a:bodyPr>
            <a:normAutofit/>
          </a:bodyPr>
          <a:lstStyle/>
          <a:p>
            <a:pPr marL="0" indent="0">
              <a:lnSpc>
                <a:spcPct val="150000"/>
              </a:lnSpc>
              <a:spcBef>
                <a:spcPts val="0"/>
              </a:spcBef>
              <a:buNone/>
              <a:defRPr/>
            </a:pPr>
            <a:r>
              <a:rPr lang="en-US" sz="1600" b="1" dirty="0">
                <a:solidFill>
                  <a:prstClr val="black"/>
                </a:solidFill>
                <a:latin typeface="Bahnschrift" panose="020B0502040204020203" pitchFamily="34" charset="0"/>
              </a:rPr>
              <a:t>Domestic policy stance: </a:t>
            </a:r>
          </a:p>
          <a:p>
            <a:pPr marL="0">
              <a:lnSpc>
                <a:spcPct val="150000"/>
              </a:lnSpc>
              <a:spcBef>
                <a:spcPts val="0"/>
              </a:spcBef>
              <a:buFont typeface="Wingdings" panose="05000000000000000000" pitchFamily="2" charset="2"/>
              <a:buChar char="§"/>
              <a:defRPr/>
            </a:pPr>
            <a:r>
              <a:rPr lang="en-US" sz="1400" b="1" dirty="0">
                <a:solidFill>
                  <a:prstClr val="black"/>
                </a:solidFill>
                <a:latin typeface="Bahnschrift Light" panose="020B0502040204020203" pitchFamily="34" charset="0"/>
              </a:rPr>
              <a:t>Monetary policy stance: </a:t>
            </a:r>
          </a:p>
          <a:p>
            <a:pPr marL="457200" lvl="2">
              <a:lnSpc>
                <a:spcPct val="150000"/>
              </a:lnSpc>
              <a:spcBef>
                <a:spcPts val="0"/>
              </a:spcBef>
              <a:buFont typeface="Wingdings" panose="05000000000000000000" pitchFamily="2" charset="2"/>
              <a:buChar char="§"/>
              <a:defRPr/>
            </a:pPr>
            <a:r>
              <a:rPr lang="en-US" sz="1200" b="1" dirty="0">
                <a:solidFill>
                  <a:prstClr val="black"/>
                </a:solidFill>
                <a:latin typeface="Bahnschrift Light" panose="020B0502040204020203" pitchFamily="34" charset="0"/>
              </a:rPr>
              <a:t>Policy Rate:</a:t>
            </a:r>
            <a:r>
              <a:rPr lang="en-US" sz="1200" dirty="0">
                <a:solidFill>
                  <a:prstClr val="black"/>
                </a:solidFill>
                <a:latin typeface="Bahnschrift Light" panose="020B0502040204020203" pitchFamily="34" charset="0"/>
              </a:rPr>
              <a:t> relatively loose money market rates i.e., accommodative CBR and steered interbank rates for second half of 2024</a:t>
            </a:r>
            <a:endParaRPr lang="en-US" sz="1200" b="1" dirty="0">
              <a:solidFill>
                <a:prstClr val="black"/>
              </a:solidFill>
              <a:latin typeface="Bahnschrift Light" panose="020B0502040204020203" pitchFamily="34" charset="0"/>
            </a:endParaRPr>
          </a:p>
          <a:p>
            <a:pPr marL="457200" lvl="2">
              <a:lnSpc>
                <a:spcPct val="150000"/>
              </a:lnSpc>
              <a:spcBef>
                <a:spcPts val="0"/>
              </a:spcBef>
              <a:buFont typeface="Wingdings" panose="05000000000000000000" pitchFamily="2" charset="2"/>
              <a:buChar char="§"/>
              <a:defRPr/>
            </a:pPr>
            <a:r>
              <a:rPr lang="en-US" sz="1200" b="1" dirty="0">
                <a:solidFill>
                  <a:prstClr val="black"/>
                </a:solidFill>
                <a:latin typeface="Bahnschrift Light" panose="020B0502040204020203" pitchFamily="34" charset="0"/>
              </a:rPr>
              <a:t>Exchange Rate (ER): Slowdown in </a:t>
            </a:r>
            <a:r>
              <a:rPr lang="en-US" sz="1200" dirty="0">
                <a:solidFill>
                  <a:prstClr val="black"/>
                </a:solidFill>
                <a:latin typeface="Bahnschrift Light" panose="020B0502040204020203" pitchFamily="34" charset="0"/>
              </a:rPr>
              <a:t>ER depreciation as in the PCI program of October 2024</a:t>
            </a:r>
          </a:p>
          <a:p>
            <a:pPr marL="0">
              <a:lnSpc>
                <a:spcPct val="150000"/>
              </a:lnSpc>
              <a:spcBef>
                <a:spcPts val="0"/>
              </a:spcBef>
              <a:buFont typeface="Wingdings" panose="05000000000000000000" pitchFamily="2" charset="2"/>
              <a:buChar char="§"/>
              <a:defRPr/>
            </a:pPr>
            <a:r>
              <a:rPr lang="en-US" sz="1400" b="1" dirty="0">
                <a:solidFill>
                  <a:prstClr val="black"/>
                </a:solidFill>
                <a:latin typeface="Bahnschrift Light" panose="020B0502040204020203" pitchFamily="34" charset="0"/>
              </a:rPr>
              <a:t>Fiscal Policy Stance: </a:t>
            </a:r>
          </a:p>
          <a:p>
            <a:pPr marL="0" lvl="1">
              <a:lnSpc>
                <a:spcPct val="150000"/>
              </a:lnSpc>
              <a:spcBef>
                <a:spcPts val="0"/>
              </a:spcBef>
              <a:buFont typeface="Wingdings" panose="05000000000000000000" pitchFamily="2" charset="2"/>
              <a:buChar char="§"/>
              <a:defRPr/>
            </a:pPr>
            <a:r>
              <a:rPr lang="en-US" sz="1200" b="1" dirty="0">
                <a:solidFill>
                  <a:prstClr val="black"/>
                </a:solidFill>
                <a:latin typeface="Bahnschrift Light" panose="020B0502040204020203" pitchFamily="34" charset="0"/>
              </a:rPr>
              <a:t>Fiscal deficit path: </a:t>
            </a:r>
          </a:p>
          <a:p>
            <a:pPr marL="457200" lvl="3">
              <a:lnSpc>
                <a:spcPct val="150000"/>
              </a:lnSpc>
              <a:spcBef>
                <a:spcPts val="0"/>
              </a:spcBef>
              <a:buFont typeface="+mj-lt"/>
              <a:buAutoNum type="arabicPeriod"/>
              <a:defRPr/>
            </a:pPr>
            <a:r>
              <a:rPr lang="en-US" sz="1200" b="1" dirty="0">
                <a:solidFill>
                  <a:prstClr val="black"/>
                </a:solidFill>
                <a:latin typeface="Bahnschrift Light" panose="020B0502040204020203" pitchFamily="34" charset="0"/>
              </a:rPr>
              <a:t>2023/24-2025/26: Re-introduction </a:t>
            </a:r>
            <a:r>
              <a:rPr lang="en-US" sz="1200" dirty="0">
                <a:solidFill>
                  <a:prstClr val="black"/>
                </a:solidFill>
                <a:latin typeface="Bahnschrift Light" panose="020B0502040204020203" pitchFamily="34" charset="0"/>
              </a:rPr>
              <a:t>of a strong fiscal consolidation (i.e., contractionary fiscal policy).</a:t>
            </a:r>
          </a:p>
          <a:p>
            <a:pPr marL="457200" lvl="3">
              <a:lnSpc>
                <a:spcPct val="150000"/>
              </a:lnSpc>
              <a:spcBef>
                <a:spcPts val="0"/>
              </a:spcBef>
              <a:buFont typeface="+mj-lt"/>
              <a:buAutoNum type="arabicPeriod"/>
              <a:defRPr/>
            </a:pPr>
            <a:r>
              <a:rPr lang="en-US" sz="1200" b="1" dirty="0">
                <a:solidFill>
                  <a:prstClr val="black"/>
                </a:solidFill>
                <a:latin typeface="Bahnschrift Light" panose="020B0502040204020203" pitchFamily="34" charset="0"/>
              </a:rPr>
              <a:t>2026/27 – onward</a:t>
            </a:r>
            <a:r>
              <a:rPr lang="en-US" sz="1200" dirty="0">
                <a:solidFill>
                  <a:prstClr val="black"/>
                </a:solidFill>
                <a:latin typeface="Bahnschrift Light" panose="020B0502040204020203" pitchFamily="34" charset="0"/>
              </a:rPr>
              <a:t>: Relatively expansionary fiscal policy that follows a sustainable level of deficit determined by debt creating deficit and grants path</a:t>
            </a:r>
          </a:p>
          <a:p>
            <a:pPr marL="228600" lvl="3" indent="0">
              <a:lnSpc>
                <a:spcPct val="150000"/>
              </a:lnSpc>
              <a:spcBef>
                <a:spcPts val="0"/>
              </a:spcBef>
              <a:buNone/>
              <a:defRPr/>
            </a:pPr>
            <a:endParaRPr lang="en-US" sz="1000" dirty="0">
              <a:solidFill>
                <a:prstClr val="black"/>
              </a:solidFill>
              <a:latin typeface="Bahnschrift Light" panose="020B0502040204020203" pitchFamily="34" charset="0"/>
            </a:endParaRPr>
          </a:p>
          <a:p>
            <a:pPr marL="0" indent="0">
              <a:lnSpc>
                <a:spcPct val="150000"/>
              </a:lnSpc>
              <a:spcBef>
                <a:spcPts val="0"/>
              </a:spcBef>
              <a:buNone/>
              <a:defRPr/>
            </a:pPr>
            <a:r>
              <a:rPr lang="en-US" sz="1600" dirty="0">
                <a:solidFill>
                  <a:prstClr val="black"/>
                </a:solidFill>
                <a:latin typeface="Bahnschrift" panose="020B0502040204020203" pitchFamily="34" charset="0"/>
              </a:rPr>
              <a:t>External Policy Stance/outlook (2024-27):</a:t>
            </a:r>
          </a:p>
          <a:p>
            <a:pPr marL="0" lvl="1">
              <a:lnSpc>
                <a:spcPct val="150000"/>
              </a:lnSpc>
              <a:spcBef>
                <a:spcPts val="0"/>
              </a:spcBef>
              <a:buFont typeface="Wingdings" panose="05000000000000000000" pitchFamily="2" charset="2"/>
              <a:buChar char="§"/>
              <a:defRPr/>
            </a:pPr>
            <a:r>
              <a:rPr lang="en-US" sz="1200" b="1" dirty="0">
                <a:solidFill>
                  <a:prstClr val="black"/>
                </a:solidFill>
                <a:latin typeface="Bahnschrift Light" panose="020B0502040204020203" pitchFamily="34" charset="0"/>
              </a:rPr>
              <a:t>Foreign (trading partners) demand: </a:t>
            </a:r>
            <a:r>
              <a:rPr lang="en-US" sz="1200" dirty="0">
                <a:solidFill>
                  <a:prstClr val="black"/>
                </a:solidFill>
                <a:latin typeface="Bahnschrift Light" panose="020B0502040204020203" pitchFamily="34" charset="0"/>
              </a:rPr>
              <a:t>slowing down for 2024-25 before showing a  strong </a:t>
            </a:r>
            <a:r>
              <a:rPr lang="en-GB" sz="1200" dirty="0">
                <a:solidFill>
                  <a:prstClr val="black"/>
                </a:solidFill>
                <a:latin typeface="Bahnschrift Light" panose="020B0502040204020203" pitchFamily="34" charset="0"/>
              </a:rPr>
              <a:t>recovery relative to COVID period.</a:t>
            </a:r>
            <a:endParaRPr lang="en-US" sz="1200" dirty="0">
              <a:solidFill>
                <a:prstClr val="black"/>
              </a:solidFill>
              <a:latin typeface="Bahnschrift Light" panose="020B0502040204020203" pitchFamily="34" charset="0"/>
            </a:endParaRPr>
          </a:p>
          <a:p>
            <a:pPr marL="0" lvl="1">
              <a:lnSpc>
                <a:spcPct val="150000"/>
              </a:lnSpc>
              <a:spcBef>
                <a:spcPts val="0"/>
              </a:spcBef>
              <a:buFont typeface="Wingdings" panose="05000000000000000000" pitchFamily="2" charset="2"/>
              <a:buChar char="§"/>
              <a:defRPr/>
            </a:pPr>
            <a:r>
              <a:rPr lang="en-US" sz="1200" b="1" dirty="0">
                <a:solidFill>
                  <a:prstClr val="black"/>
                </a:solidFill>
                <a:latin typeface="Bahnschrift Light" panose="020B0502040204020203" pitchFamily="34" charset="0"/>
              </a:rPr>
              <a:t>Foreign (trading partners) inflation: </a:t>
            </a:r>
            <a:r>
              <a:rPr lang="en-US" sz="1200" dirty="0">
                <a:solidFill>
                  <a:prstClr val="black"/>
                </a:solidFill>
                <a:latin typeface="Bahnschrift Light" panose="020B0502040204020203" pitchFamily="34" charset="0"/>
              </a:rPr>
              <a:t>to remain above target and converging to 2% target around 2027</a:t>
            </a:r>
          </a:p>
          <a:p>
            <a:pPr marL="0" lvl="1">
              <a:lnSpc>
                <a:spcPct val="150000"/>
              </a:lnSpc>
              <a:spcBef>
                <a:spcPts val="0"/>
              </a:spcBef>
              <a:buFont typeface="Wingdings" panose="05000000000000000000" pitchFamily="2" charset="2"/>
              <a:buChar char="§"/>
              <a:defRPr/>
            </a:pPr>
            <a:r>
              <a:rPr lang="en-US" sz="1200" dirty="0">
                <a:solidFill>
                  <a:prstClr val="black"/>
                </a:solidFill>
                <a:latin typeface="Bahnschrift Light" panose="020B0502040204020203" pitchFamily="34" charset="0"/>
              </a:rPr>
              <a:t>Foreign (US) interest rates: A relatively less tight monetary policy, however world  interest expected to be tight</a:t>
            </a:r>
          </a:p>
          <a:p>
            <a:pPr marL="0" lvl="1">
              <a:lnSpc>
                <a:spcPct val="150000"/>
              </a:lnSpc>
              <a:spcBef>
                <a:spcPts val="0"/>
              </a:spcBef>
              <a:buFont typeface="Wingdings" panose="05000000000000000000" pitchFamily="2" charset="2"/>
              <a:buChar char="§"/>
              <a:defRPr/>
            </a:pPr>
            <a:r>
              <a:rPr lang="en-US" sz="1200" dirty="0">
                <a:solidFill>
                  <a:prstClr val="black"/>
                </a:solidFill>
                <a:latin typeface="Bahnschrift Light" panose="020B0502040204020203" pitchFamily="34" charset="0"/>
              </a:rPr>
              <a:t>Overall global outlook improving, however with more downside risks</a:t>
            </a:r>
          </a:p>
          <a:p>
            <a:pPr marL="0" lvl="1">
              <a:lnSpc>
                <a:spcPct val="150000"/>
              </a:lnSpc>
              <a:spcBef>
                <a:spcPts val="0"/>
              </a:spcBef>
              <a:buFont typeface="Wingdings" panose="05000000000000000000" pitchFamily="2" charset="2"/>
              <a:buChar char="§"/>
              <a:defRPr/>
            </a:pPr>
            <a:endParaRPr lang="en-US" sz="1200" b="1" dirty="0">
              <a:solidFill>
                <a:prstClr val="black"/>
              </a:solidFill>
              <a:latin typeface="Bahnschrift Light" panose="020B0502040204020203" pitchFamily="34" charset="0"/>
            </a:endParaRPr>
          </a:p>
        </p:txBody>
      </p:sp>
      <p:sp>
        <p:nvSpPr>
          <p:cNvPr id="5" name="Content Placeholder 2">
            <a:extLst>
              <a:ext uri="{FF2B5EF4-FFF2-40B4-BE49-F238E27FC236}">
                <a16:creationId xmlns:a16="http://schemas.microsoft.com/office/drawing/2014/main" id="{8B2BB82D-95BF-BD5B-6230-0D94A28F4118}"/>
              </a:ext>
            </a:extLst>
          </p:cNvPr>
          <p:cNvSpPr txBox="1">
            <a:spLocks/>
          </p:cNvSpPr>
          <p:nvPr/>
        </p:nvSpPr>
        <p:spPr>
          <a:xfrm>
            <a:off x="6096000" y="1769269"/>
            <a:ext cx="5153025" cy="46791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Bahnschrift Light SemiCondensed"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Light SemiCondensed"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Light SemiCondensed"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Bahnschrift Light SemiCondensed"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Bahnschrift Light SemiCondensed"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400" b="0" i="0" u="none" strike="noStrike" kern="1200" cap="none" spc="0" normalizeH="0" baseline="0" noProof="0" dirty="0">
              <a:ln>
                <a:noFill/>
              </a:ln>
              <a:solidFill>
                <a:prstClr val="black"/>
              </a:solidFill>
              <a:effectLst/>
              <a:uLnTx/>
              <a:uFillTx/>
              <a:latin typeface="Bahnschrift Light SemiCondensed" panose="020B0502040204020203" pitchFamily="34" charset="0"/>
              <a:ea typeface="+mn-ea"/>
              <a:cs typeface="+mn-cs"/>
            </a:endParaRPr>
          </a:p>
        </p:txBody>
      </p:sp>
    </p:spTree>
    <p:extLst>
      <p:ext uri="{BB962C8B-B14F-4D97-AF65-F5344CB8AC3E}">
        <p14:creationId xmlns:p14="http://schemas.microsoft.com/office/powerpoint/2010/main" val="18672050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FF823-4628-65F3-B834-4DB78DDE64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A3139D-C637-2319-F4D1-1343B7E9B994}"/>
              </a:ext>
            </a:extLst>
          </p:cNvPr>
          <p:cNvSpPr>
            <a:spLocks noGrp="1"/>
          </p:cNvSpPr>
          <p:nvPr>
            <p:ph type="title"/>
          </p:nvPr>
        </p:nvSpPr>
        <p:spPr>
          <a:xfrm>
            <a:off x="838200" y="928688"/>
            <a:ext cx="10515600" cy="476250"/>
          </a:xfrm>
        </p:spPr>
        <p:txBody>
          <a:bodyPr/>
          <a:lstStyle/>
          <a:p>
            <a:r>
              <a:rPr lang="en-US" dirty="0" err="1">
                <a:solidFill>
                  <a:srgbClr val="008BCC"/>
                </a:solidFill>
              </a:rPr>
              <a:t>IIIb</a:t>
            </a:r>
            <a:r>
              <a:rPr lang="en-US" dirty="0">
                <a:solidFill>
                  <a:srgbClr val="008BCC"/>
                </a:solidFill>
              </a:rPr>
              <a:t>. Domestic policy stance</a:t>
            </a:r>
          </a:p>
        </p:txBody>
      </p:sp>
      <p:sp>
        <p:nvSpPr>
          <p:cNvPr id="3" name="Content Placeholder 2">
            <a:extLst>
              <a:ext uri="{FF2B5EF4-FFF2-40B4-BE49-F238E27FC236}">
                <a16:creationId xmlns:a16="http://schemas.microsoft.com/office/drawing/2014/main" id="{09C61A8E-C938-9899-B125-5D796138BE98}"/>
              </a:ext>
            </a:extLst>
          </p:cNvPr>
          <p:cNvSpPr>
            <a:spLocks noGrp="1"/>
          </p:cNvSpPr>
          <p:nvPr>
            <p:ph idx="1"/>
          </p:nvPr>
        </p:nvSpPr>
        <p:spPr>
          <a:xfrm>
            <a:off x="838200" y="1769269"/>
            <a:ext cx="10668000" cy="4679156"/>
          </a:xfrm>
          <a:solidFill>
            <a:schemeClr val="bg1">
              <a:lumMod val="95000"/>
            </a:schemeClr>
          </a:solidFill>
          <a:ln>
            <a:solidFill>
              <a:schemeClr val="accent5">
                <a:lumMod val="20000"/>
                <a:lumOff val="80000"/>
              </a:schemeClr>
            </a:solidFill>
          </a:ln>
        </p:spPr>
        <p:txBody>
          <a:bodyPr>
            <a:normAutofit/>
          </a:bodyPr>
          <a:lstStyle/>
          <a:p>
            <a:pPr marL="0" indent="0">
              <a:lnSpc>
                <a:spcPct val="200000"/>
              </a:lnSpc>
              <a:buNone/>
              <a:defRPr/>
            </a:pPr>
            <a:r>
              <a:rPr lang="en-US" sz="1400" b="1" dirty="0">
                <a:solidFill>
                  <a:prstClr val="black"/>
                </a:solidFill>
                <a:latin typeface="Bahnschrift Light" panose="020B0502040204020203" pitchFamily="34" charset="0"/>
              </a:rPr>
              <a:t>Domestic Assumptions: </a:t>
            </a:r>
            <a:r>
              <a:rPr lang="en-US" sz="1400" dirty="0">
                <a:solidFill>
                  <a:prstClr val="black"/>
                </a:solidFill>
                <a:latin typeface="Bahnschrift Light" panose="020B0502040204020203" pitchFamily="34" charset="0"/>
              </a:rPr>
              <a:t>NBR’s monetary (IB-rate), fiscal (deficit path) and ER policy stance.</a:t>
            </a:r>
          </a:p>
          <a:p>
            <a:pPr marL="342900" indent="-342900">
              <a:lnSpc>
                <a:spcPct val="150000"/>
              </a:lnSpc>
              <a:buFont typeface="Wingdings" panose="05000000000000000000" pitchFamily="2" charset="2"/>
              <a:buChar char="§"/>
              <a:defRPr/>
            </a:pPr>
            <a:r>
              <a:rPr lang="en-US" sz="1400" b="1" dirty="0">
                <a:solidFill>
                  <a:srgbClr val="FF0000"/>
                </a:solidFill>
                <a:latin typeface="Bahnschrift" panose="020B0502040204020203" pitchFamily="34" charset="0"/>
              </a:rPr>
              <a:t>Tight fiscal policies: further reduction in deficit (excl. grants) </a:t>
            </a:r>
            <a:r>
              <a:rPr lang="en-US" sz="1400" dirty="0">
                <a:solidFill>
                  <a:srgbClr val="FF0000"/>
                </a:solidFill>
                <a:latin typeface="Bahnschrift" panose="020B0502040204020203" pitchFamily="34" charset="0"/>
              </a:rPr>
              <a:t>per PCI program 2022-25 (May 2024 review): by [2.4]% of GDP in 2024/25 and further [2]% of GDP in 2025/26 (from  average of 11.6% of GDP in 2022/23-2023/24)</a:t>
            </a:r>
          </a:p>
          <a:p>
            <a:pPr marL="342900" indent="-342900">
              <a:lnSpc>
                <a:spcPct val="150000"/>
              </a:lnSpc>
              <a:buFont typeface="Wingdings" panose="05000000000000000000" pitchFamily="2" charset="2"/>
              <a:buChar char="§"/>
              <a:defRPr/>
            </a:pPr>
            <a:r>
              <a:rPr lang="en-US" sz="1400" dirty="0">
                <a:solidFill>
                  <a:srgbClr val="FF0000"/>
                </a:solidFill>
                <a:latin typeface="Bahnschrift" panose="020B0502040204020203" pitchFamily="34" charset="0"/>
              </a:rPr>
              <a:t>As per PCI program, deficit reduction comes in roughly equal parts from revenue increase, current spending cut and development spending cut.</a:t>
            </a:r>
            <a:endParaRPr lang="en-US" sz="1600" dirty="0">
              <a:solidFill>
                <a:srgbClr val="FF0000"/>
              </a:solidFill>
              <a:latin typeface="Bahnschrift" panose="020B0502040204020203" pitchFamily="34" charset="0"/>
            </a:endParaRPr>
          </a:p>
          <a:p>
            <a:pPr marL="342900" indent="-342900">
              <a:lnSpc>
                <a:spcPct val="150000"/>
              </a:lnSpc>
              <a:buFont typeface="Wingdings" panose="05000000000000000000" pitchFamily="2" charset="2"/>
              <a:buChar char="§"/>
              <a:defRPr/>
            </a:pPr>
            <a:r>
              <a:rPr lang="en-US" sz="1400" dirty="0">
                <a:solidFill>
                  <a:srgbClr val="FF0000"/>
                </a:solidFill>
                <a:latin typeface="Bahnschrift" panose="020B0502040204020203" pitchFamily="34" charset="0"/>
              </a:rPr>
              <a:t>After  2025/26, deficit assumed to gradually return toward sustainable level of 7.5% of GDP (compared to around 6% of GDP in post-PCI program projection).</a:t>
            </a:r>
            <a:endParaRPr lang="en-US" sz="1400" dirty="0">
              <a:solidFill>
                <a:prstClr val="black"/>
              </a:solidFill>
              <a:latin typeface="Bahnschrift Light" panose="020B0502040204020203" pitchFamily="34" charset="0"/>
            </a:endParaRPr>
          </a:p>
          <a:p>
            <a:pPr marL="342900" indent="-342900">
              <a:lnSpc>
                <a:spcPct val="150000"/>
              </a:lnSpc>
              <a:buFont typeface="Wingdings" panose="05000000000000000000" pitchFamily="2" charset="2"/>
              <a:buChar char="§"/>
              <a:defRPr/>
            </a:pPr>
            <a:r>
              <a:rPr lang="en-US" sz="1400" b="1" dirty="0">
                <a:solidFill>
                  <a:srgbClr val="FF0000"/>
                </a:solidFill>
                <a:latin typeface="Bahnschrift" panose="020B0502040204020203" pitchFamily="34" charset="0"/>
              </a:rPr>
              <a:t>Monetary policy stance: </a:t>
            </a:r>
            <a:r>
              <a:rPr lang="en-US" sz="1400" dirty="0">
                <a:solidFill>
                  <a:srgbClr val="FF0000"/>
                </a:solidFill>
                <a:latin typeface="Bahnschrift" panose="020B0502040204020203" pitchFamily="34" charset="0"/>
              </a:rPr>
              <a:t>a less tight monetary policy after rapidly falling inflation since 2d half 2023, i.e. 1% point drop in IB rate during 2024, to7.5% in 2024Q3</a:t>
            </a:r>
          </a:p>
          <a:p>
            <a:pPr marL="342900" indent="-342900">
              <a:lnSpc>
                <a:spcPct val="150000"/>
              </a:lnSpc>
              <a:buFont typeface="Wingdings" panose="05000000000000000000" pitchFamily="2" charset="2"/>
              <a:buChar char="§"/>
              <a:defRPr/>
            </a:pPr>
            <a:r>
              <a:rPr lang="en-US" sz="1400" b="1" dirty="0">
                <a:solidFill>
                  <a:srgbClr val="FF0000"/>
                </a:solidFill>
                <a:latin typeface="Bahnschrift" panose="020B0502040204020203" pitchFamily="34" charset="0"/>
              </a:rPr>
              <a:t>ER policy stance:</a:t>
            </a:r>
            <a:r>
              <a:rPr lang="en-US" sz="1400" dirty="0">
                <a:solidFill>
                  <a:srgbClr val="FF0000"/>
                </a:solidFill>
                <a:latin typeface="Bahnschrift" panose="020B0502040204020203" pitchFamily="34" charset="0"/>
              </a:rPr>
              <a:t> 2024Q3-4—assumed continuation of average ER depreciation path of 2024-Q1-Q2, i.e., depreciation rate of 9% annualized)</a:t>
            </a:r>
          </a:p>
        </p:txBody>
      </p:sp>
      <p:sp>
        <p:nvSpPr>
          <p:cNvPr id="5" name="Content Placeholder 2">
            <a:extLst>
              <a:ext uri="{FF2B5EF4-FFF2-40B4-BE49-F238E27FC236}">
                <a16:creationId xmlns:a16="http://schemas.microsoft.com/office/drawing/2014/main" id="{0B540738-290D-47A8-3D96-A01867FAAAE0}"/>
              </a:ext>
            </a:extLst>
          </p:cNvPr>
          <p:cNvSpPr txBox="1">
            <a:spLocks/>
          </p:cNvSpPr>
          <p:nvPr/>
        </p:nvSpPr>
        <p:spPr>
          <a:xfrm>
            <a:off x="6096000" y="1769269"/>
            <a:ext cx="5153025" cy="46791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Bahnschrift Light SemiCondensed"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Light SemiCondensed"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Light SemiCondensed"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Bahnschrift Light SemiCondensed"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Bahnschrift Light SemiCondensed"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400" b="0" i="0" u="none" strike="noStrike" kern="1200" cap="none" spc="0" normalizeH="0" baseline="0" noProof="0" dirty="0">
              <a:ln>
                <a:noFill/>
              </a:ln>
              <a:solidFill>
                <a:prstClr val="black"/>
              </a:solidFill>
              <a:effectLst/>
              <a:uLnTx/>
              <a:uFillTx/>
              <a:latin typeface="Bahnschrift Light SemiCondensed" panose="020B0502040204020203" pitchFamily="34" charset="0"/>
              <a:ea typeface="+mn-ea"/>
              <a:cs typeface="+mn-cs"/>
            </a:endParaRPr>
          </a:p>
        </p:txBody>
      </p:sp>
    </p:spTree>
    <p:extLst>
      <p:ext uri="{BB962C8B-B14F-4D97-AF65-F5344CB8AC3E}">
        <p14:creationId xmlns:p14="http://schemas.microsoft.com/office/powerpoint/2010/main" val="41294780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0AC63-0D03-7B26-2DD4-A8832FCA22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1DC3F1-DF5F-9039-CA36-61E4E6A432B0}"/>
              </a:ext>
            </a:extLst>
          </p:cNvPr>
          <p:cNvSpPr>
            <a:spLocks noGrp="1"/>
          </p:cNvSpPr>
          <p:nvPr>
            <p:ph type="title"/>
          </p:nvPr>
        </p:nvSpPr>
        <p:spPr>
          <a:xfrm>
            <a:off x="838200" y="928688"/>
            <a:ext cx="10515600" cy="476250"/>
          </a:xfrm>
        </p:spPr>
        <p:txBody>
          <a:bodyPr/>
          <a:lstStyle/>
          <a:p>
            <a:r>
              <a:rPr lang="en-US" dirty="0">
                <a:solidFill>
                  <a:srgbClr val="008BCC"/>
                </a:solidFill>
              </a:rPr>
              <a:t>IIIc. External environment Assumptions</a:t>
            </a:r>
          </a:p>
        </p:txBody>
      </p:sp>
      <p:sp>
        <p:nvSpPr>
          <p:cNvPr id="5" name="Content Placeholder 2">
            <a:extLst>
              <a:ext uri="{FF2B5EF4-FFF2-40B4-BE49-F238E27FC236}">
                <a16:creationId xmlns:a16="http://schemas.microsoft.com/office/drawing/2014/main" id="{3B60064D-30C3-A174-4C46-B7C52A847560}"/>
              </a:ext>
            </a:extLst>
          </p:cNvPr>
          <p:cNvSpPr txBox="1">
            <a:spLocks/>
          </p:cNvSpPr>
          <p:nvPr/>
        </p:nvSpPr>
        <p:spPr>
          <a:xfrm>
            <a:off x="6096000" y="1769269"/>
            <a:ext cx="5153025" cy="46791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Bahnschrift Light SemiCondensed"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Light SemiCondensed"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Light SemiCondensed"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Bahnschrift Light SemiCondensed"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Bahnschrift Light SemiCondensed"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400" b="0" i="0" u="none" strike="noStrike" kern="1200" cap="none" spc="0" normalizeH="0" baseline="0" noProof="0" dirty="0">
              <a:ln>
                <a:noFill/>
              </a:ln>
              <a:solidFill>
                <a:prstClr val="black"/>
              </a:solidFill>
              <a:effectLst/>
              <a:uLnTx/>
              <a:uFillTx/>
              <a:latin typeface="Bahnschrift Light SemiCondensed" panose="020B0502040204020203" pitchFamily="34" charset="0"/>
              <a:ea typeface="+mn-ea"/>
              <a:cs typeface="+mn-cs"/>
            </a:endParaRPr>
          </a:p>
        </p:txBody>
      </p:sp>
      <p:sp>
        <p:nvSpPr>
          <p:cNvPr id="6" name="Content Placeholder 2">
            <a:extLst>
              <a:ext uri="{FF2B5EF4-FFF2-40B4-BE49-F238E27FC236}">
                <a16:creationId xmlns:a16="http://schemas.microsoft.com/office/drawing/2014/main" id="{C321A36F-FBA2-D154-6B85-03BFEC2AB4FA}"/>
              </a:ext>
            </a:extLst>
          </p:cNvPr>
          <p:cNvSpPr txBox="1">
            <a:spLocks/>
          </p:cNvSpPr>
          <p:nvPr/>
        </p:nvSpPr>
        <p:spPr>
          <a:xfrm>
            <a:off x="838200" y="1676400"/>
            <a:ext cx="10744200" cy="4679156"/>
          </a:xfrm>
          <a:prstGeom prst="rect">
            <a:avLst/>
          </a:prstGeom>
          <a:solidFill>
            <a:schemeClr val="bg1">
              <a:lumMod val="95000"/>
            </a:schemeClr>
          </a:solidFill>
          <a:ln>
            <a:solidFill>
              <a:schemeClr val="accent5">
                <a:lumMod val="20000"/>
                <a:lumOff val="80000"/>
              </a:schemeClr>
            </a:solidFill>
          </a:ln>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Bahnschrift Light SemiCondensed"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Light SemiCondensed"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Light SemiCondensed"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Bahnschrift Light SemiCondensed"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Bahnschrift Light SemiCondensed"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just" defTabSz="914400" rtl="0" eaLnBrk="1" fontAlgn="auto" latinLnBrk="0" hangingPunct="1">
              <a:lnSpc>
                <a:spcPct val="200000"/>
              </a:lnSpc>
              <a:spcBef>
                <a:spcPts val="300"/>
              </a:spcBef>
              <a:spcAft>
                <a:spcPts val="400"/>
              </a:spcAft>
              <a:buClrTx/>
              <a:buSzTx/>
              <a:buFont typeface="Arial" panose="020B0604020202020204" pitchFamily="34" charset="0"/>
              <a:buNone/>
              <a:tabLst/>
              <a:defRPr/>
            </a:pPr>
            <a:r>
              <a:rPr kumimoji="0" lang="en-GB" sz="1600" b="1"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External Environment Assumptions:</a:t>
            </a:r>
          </a:p>
          <a:p>
            <a:pPr marL="274320" marR="0" lvl="0" indent="-285750" algn="just" defTabSz="914400" rtl="0" eaLnBrk="1" fontAlgn="auto" latinLnBrk="0" hangingPunct="1">
              <a:lnSpc>
                <a:spcPct val="200000"/>
              </a:lnSpc>
              <a:spcBef>
                <a:spcPts val="300"/>
              </a:spcBef>
              <a:spcAft>
                <a:spcPts val="400"/>
              </a:spcAft>
              <a:buClrTx/>
              <a:buSzTx/>
              <a:buFont typeface="Arial" panose="020B0604020202020204" pitchFamily="34" charset="0"/>
              <a:buChar char="•"/>
              <a:tabLst/>
              <a:defRPr/>
            </a:pP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Rwanda </a:t>
            </a:r>
            <a:r>
              <a:rPr kumimoji="0" lang="en-GB" sz="1600" b="0" i="0" u="none" strike="noStrike" kern="1200" cap="none" spc="0" normalizeH="0" baseline="0" noProof="0" dirty="0">
                <a:ln>
                  <a:noFill/>
                </a:ln>
                <a:solidFill>
                  <a:srgbClr val="FF0000"/>
                </a:solidFill>
                <a:effectLst/>
                <a:uLnTx/>
                <a:uFillTx/>
                <a:latin typeface="Bahnschrift Light" panose="020B0502040204020203" pitchFamily="34" charset="0"/>
                <a:ea typeface="+mn-ea"/>
                <a:cs typeface="+mn-cs"/>
              </a:rPr>
              <a:t>still enjoys </a:t>
            </a:r>
            <a:r>
              <a:rPr kumimoji="0" lang="en-GB" sz="1600" b="1" i="0" u="none" strike="noStrike" kern="1200" cap="none" spc="0" normalizeH="0" baseline="0" noProof="0" dirty="0">
                <a:ln>
                  <a:noFill/>
                </a:ln>
                <a:solidFill>
                  <a:srgbClr val="FF0000"/>
                </a:solidFill>
                <a:effectLst/>
                <a:uLnTx/>
                <a:uFillTx/>
                <a:latin typeface="Bahnschrift Light" panose="020B0502040204020203" pitchFamily="34" charset="0"/>
                <a:ea typeface="+mn-ea"/>
                <a:cs typeface="+mn-cs"/>
              </a:rPr>
              <a:t>recovery </a:t>
            </a:r>
            <a:r>
              <a:rPr kumimoji="0" lang="en-GB" sz="1600" b="1"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in trading partner demand relative to Covid-years</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 at 3% </a:t>
            </a:r>
            <a:r>
              <a:rPr kumimoji="0" lang="en-GB" sz="1600" b="0" i="0" u="none" strike="noStrike" kern="1200" cap="none" spc="0" normalizeH="0" baseline="0" noProof="0" dirty="0" err="1">
                <a:ln>
                  <a:noFill/>
                </a:ln>
                <a:solidFill>
                  <a:prstClr val="black"/>
                </a:solidFill>
                <a:effectLst/>
                <a:uLnTx/>
                <a:uFillTx/>
                <a:latin typeface="Bahnschrift Light" panose="020B0502040204020203" pitchFamily="34" charset="0"/>
                <a:ea typeface="+mn-ea"/>
                <a:cs typeface="+mn-cs"/>
              </a:rPr>
              <a:t>p.y</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 well above the trend</a:t>
            </a:r>
          </a:p>
          <a:p>
            <a:pPr marL="274320" marR="0" lvl="0" indent="-285750" algn="just" defTabSz="914400" rtl="0" eaLnBrk="1" fontAlgn="auto" latinLnBrk="0" hangingPunct="1">
              <a:lnSpc>
                <a:spcPct val="200000"/>
              </a:lnSpc>
              <a:spcBef>
                <a:spcPts val="300"/>
              </a:spcBef>
              <a:spcAft>
                <a:spcPts val="400"/>
              </a:spcAft>
              <a:buClrTx/>
              <a:buSzTx/>
              <a:buFont typeface="Arial" panose="020B0604020202020204" pitchFamily="34" charset="0"/>
              <a:buChar char="•"/>
              <a:tabLst/>
              <a:defRPr/>
            </a:pP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 </a:t>
            </a:r>
            <a:r>
              <a:rPr lang="en-GB" sz="1600" dirty="0">
                <a:solidFill>
                  <a:prstClr val="black"/>
                </a:solidFill>
                <a:latin typeface="Bahnschrift Light" panose="020B0502040204020203" pitchFamily="34" charset="0"/>
              </a:rPr>
              <a:t>W</a:t>
            </a:r>
            <a:r>
              <a:rPr kumimoji="0" lang="en-GB" sz="1600" b="0" i="0" u="none" strike="noStrike" kern="1200" cap="none" spc="0" normalizeH="0" baseline="0" noProof="0" dirty="0" err="1">
                <a:ln>
                  <a:noFill/>
                </a:ln>
                <a:solidFill>
                  <a:prstClr val="black"/>
                </a:solidFill>
                <a:effectLst/>
                <a:uLnTx/>
                <a:uFillTx/>
                <a:latin typeface="Bahnschrift Light" panose="020B0502040204020203" pitchFamily="34" charset="0"/>
                <a:ea typeface="+mn-ea"/>
                <a:cs typeface="+mn-cs"/>
              </a:rPr>
              <a:t>orld</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 economy is slowing down as interest rates are raised in response to inflation before catching up since 2026.</a:t>
            </a:r>
          </a:p>
          <a:p>
            <a:pPr marL="274320" marR="0" lvl="0" indent="-285750" algn="just" defTabSz="914400" rtl="0" eaLnBrk="1" fontAlgn="auto" latinLnBrk="0" hangingPunct="1">
              <a:lnSpc>
                <a:spcPct val="200000"/>
              </a:lnSpc>
              <a:spcBef>
                <a:spcPts val="300"/>
              </a:spcBef>
              <a:spcAft>
                <a:spcPts val="40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black"/>
                </a:solidFill>
                <a:effectLst/>
                <a:uLnTx/>
                <a:uFillTx/>
                <a:latin typeface="Bahnschrift Condensed" panose="020B0502040204020203" pitchFamily="34" charset="0"/>
                <a:ea typeface="+mn-ea"/>
                <a:cs typeface="+mn-cs"/>
              </a:rPr>
              <a:t>T</a:t>
            </a:r>
            <a:r>
              <a:rPr kumimoji="0" lang="en-US" sz="1600" b="1"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rading partners’ CPI inflation (in US$)—subdued at 1.5% p.</a:t>
            </a:r>
            <a:r>
              <a:rPr kumimoji="0" lang="en-US" sz="1600" b="1" i="0" u="none" strike="noStrike" kern="1200" cap="none" spc="0" normalizeH="0" baseline="0" noProof="0" dirty="0">
                <a:ln>
                  <a:noFill/>
                </a:ln>
                <a:solidFill>
                  <a:prstClr val="black"/>
                </a:solidFill>
                <a:effectLst/>
                <a:uLnTx/>
                <a:uFillTx/>
                <a:latin typeface="Bahnschrift" panose="020B0502040204020203" pitchFamily="34" charset="0"/>
                <a:ea typeface="+mn-ea"/>
                <a:cs typeface="+mn-cs"/>
              </a:rPr>
              <a:t>a</a:t>
            </a:r>
            <a:r>
              <a:rPr kumimoji="0" lang="en-US" sz="1600" b="1"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a:t>
            </a:r>
            <a:r>
              <a:rPr kumimoji="0" lang="en-US" sz="1600" b="0"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 in the past 5-7 years and projected to return and </a:t>
            </a:r>
            <a:r>
              <a:rPr kumimoji="0" lang="en-US" sz="1600" b="1"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remain below the trend level of 2% </a:t>
            </a:r>
            <a:r>
              <a:rPr kumimoji="0" lang="en-US" sz="1600" b="0"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in the coming years </a:t>
            </a:r>
          </a:p>
          <a:p>
            <a:pPr marL="274320" marR="0" lvl="0" indent="-285750" algn="just" defTabSz="914400" rtl="0" eaLnBrk="1" fontAlgn="auto" latinLnBrk="0" hangingPunct="1">
              <a:lnSpc>
                <a:spcPct val="200000"/>
              </a:lnSpc>
              <a:spcBef>
                <a:spcPts val="300"/>
              </a:spcBef>
              <a:spcAft>
                <a:spcPts val="40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World real interest rates are expected to rise from negative around -1% in the past decade to +1% by 2027,</a:t>
            </a:r>
          </a:p>
          <a:p>
            <a:pPr marL="731520" lvl="1" indent="-285750" algn="just" fontAlgn="auto">
              <a:lnSpc>
                <a:spcPct val="200000"/>
              </a:lnSpc>
              <a:spcBef>
                <a:spcPts val="300"/>
              </a:spcBef>
              <a:spcAft>
                <a:spcPts val="400"/>
              </a:spcAft>
            </a:pPr>
            <a:r>
              <a:rPr lang="en-US" sz="1400" dirty="0">
                <a:solidFill>
                  <a:prstClr val="black"/>
                </a:solidFill>
                <a:latin typeface="Bahnschrift Light" panose="020B0502040204020203" pitchFamily="34" charset="0"/>
              </a:rPr>
              <a:t>T</a:t>
            </a:r>
            <a:r>
              <a:rPr kumimoji="0" lang="en-US" sz="1400" b="0" i="0" u="none" strike="noStrike" kern="1200" cap="none" spc="0" normalizeH="0" baseline="0" noProof="0" dirty="0" err="1">
                <a:ln>
                  <a:noFill/>
                </a:ln>
                <a:solidFill>
                  <a:prstClr val="black"/>
                </a:solidFill>
                <a:effectLst/>
                <a:uLnTx/>
                <a:uFillTx/>
                <a:latin typeface="Bahnschrift Light" panose="020B0502040204020203" pitchFamily="34" charset="0"/>
                <a:ea typeface="+mn-ea"/>
                <a:cs typeface="+mn-cs"/>
              </a:rPr>
              <a:t>ransmitting</a:t>
            </a:r>
            <a:r>
              <a:rPr kumimoji="0" lang="en-US" sz="1400" b="0"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rPr>
              <a:t> one-for-one to Rwanda’s sovereign borrowing rates.</a:t>
            </a:r>
            <a:endParaRPr kumimoji="0" lang="en-AE" sz="1400" b="0"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endParaRPr>
          </a:p>
          <a:p>
            <a:pPr marL="274320" marR="0" lvl="0" indent="-285750" algn="just" defTabSz="914400" rtl="0" eaLnBrk="1" fontAlgn="auto" latinLnBrk="0" hangingPunct="1">
              <a:lnSpc>
                <a:spcPct val="150000"/>
              </a:lnSpc>
              <a:spcBef>
                <a:spcPts val="300"/>
              </a:spcBef>
              <a:spcAft>
                <a:spcPts val="400"/>
              </a:spcAft>
              <a:buClrTx/>
              <a:buSzTx/>
              <a:buFont typeface="Arial" panose="020B0604020202020204" pitchFamily="34" charset="0"/>
              <a:buChar char="•"/>
              <a:tabLst/>
              <a:defRPr/>
            </a:pPr>
            <a:endParaRPr kumimoji="0" lang="en-GB" sz="2400" b="0" i="0" u="none" strike="noStrike" kern="1200" cap="none" spc="0" normalizeH="0" baseline="0" noProof="0" dirty="0">
              <a:ln>
                <a:noFill/>
              </a:ln>
              <a:solidFill>
                <a:prstClr val="black"/>
              </a:solidFill>
              <a:effectLst/>
              <a:uLnTx/>
              <a:uFillTx/>
              <a:latin typeface="Bahnschrift Light" panose="020B0502040204020203" pitchFamily="34" charset="0"/>
              <a:ea typeface="+mn-ea"/>
              <a:cs typeface="+mn-cs"/>
            </a:endParaRPr>
          </a:p>
        </p:txBody>
      </p:sp>
    </p:spTree>
    <p:extLst>
      <p:ext uri="{BB962C8B-B14F-4D97-AF65-F5344CB8AC3E}">
        <p14:creationId xmlns:p14="http://schemas.microsoft.com/office/powerpoint/2010/main" val="12814228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C548A-56C7-ED85-3503-F56F8A30C4C4}"/>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4833507-6E23-1712-E72C-CD2B8F483A22}"/>
              </a:ext>
            </a:extLst>
          </p:cNvPr>
          <p:cNvSpPr>
            <a:spLocks noGrp="1"/>
          </p:cNvSpPr>
          <p:nvPr>
            <p:ph type="sldNum" sz="quarter" idx="12"/>
          </p:nvPr>
        </p:nvSpPr>
        <p:spPr/>
        <p:txBody>
          <a:bodyPr/>
          <a:lstStyle/>
          <a:p>
            <a:fld id="{D97AE203-F84D-4A7F-B161-8561326BE072}" type="slidenum">
              <a:rPr lang="en-US" smtClean="0"/>
              <a:pPr/>
              <a:t>14</a:t>
            </a:fld>
            <a:endParaRPr lang="en-US" dirty="0"/>
          </a:p>
        </p:txBody>
      </p:sp>
      <p:sp>
        <p:nvSpPr>
          <p:cNvPr id="2" name="Title 1">
            <a:extLst>
              <a:ext uri="{FF2B5EF4-FFF2-40B4-BE49-F238E27FC236}">
                <a16:creationId xmlns:a16="http://schemas.microsoft.com/office/drawing/2014/main" id="{9746CD7D-D79E-58A9-6AF1-362E1213C0F0}"/>
              </a:ext>
            </a:extLst>
          </p:cNvPr>
          <p:cNvSpPr>
            <a:spLocks noGrp="1"/>
          </p:cNvSpPr>
          <p:nvPr>
            <p:ph type="title" idx="4294967295"/>
          </p:nvPr>
        </p:nvSpPr>
        <p:spPr>
          <a:xfrm>
            <a:off x="3429000" y="228600"/>
            <a:ext cx="6248400" cy="762000"/>
          </a:xfrm>
        </p:spPr>
        <p:txBody>
          <a:bodyPr>
            <a:normAutofit fontScale="90000"/>
          </a:bodyPr>
          <a:lstStyle/>
          <a:p>
            <a:r>
              <a:rPr lang="en-GB" dirty="0">
                <a:solidFill>
                  <a:srgbClr val="008BCC"/>
                </a:solidFill>
                <a:cs typeface="+mn-cs"/>
              </a:rPr>
              <a:t>I</a:t>
            </a:r>
            <a:r>
              <a:rPr lang="en-GB" b="1" dirty="0">
                <a:solidFill>
                  <a:srgbClr val="008BCC"/>
                </a:solidFill>
                <a:latin typeface="Bahnschrift" panose="020B0502040204020203" pitchFamily="34" charset="0"/>
                <a:cs typeface="+mn-cs"/>
              </a:rPr>
              <a:t>V. Macroeconomic forecast/outlook</a:t>
            </a:r>
            <a:br>
              <a:rPr lang="en-GB" b="1" dirty="0"/>
            </a:br>
            <a:r>
              <a:rPr lang="en-GB" sz="2400" b="1" dirty="0">
                <a:solidFill>
                  <a:srgbClr val="109351"/>
                </a:solidFill>
                <a:latin typeface="Bahnschrift" panose="020B0502040204020203" pitchFamily="34" charset="0"/>
              </a:rPr>
              <a:t>Final demand—Real GDP</a:t>
            </a:r>
            <a:endParaRPr lang="en-AE" sz="2400" b="1" dirty="0">
              <a:solidFill>
                <a:srgbClr val="109351"/>
              </a:solidFill>
              <a:latin typeface="Bahnschrift" panose="020B0502040204020203" pitchFamily="34" charset="0"/>
            </a:endParaRPr>
          </a:p>
        </p:txBody>
      </p:sp>
      <p:sp>
        <p:nvSpPr>
          <p:cNvPr id="4" name="TextBox 3">
            <a:extLst>
              <a:ext uri="{FF2B5EF4-FFF2-40B4-BE49-F238E27FC236}">
                <a16:creationId xmlns:a16="http://schemas.microsoft.com/office/drawing/2014/main" id="{59092BCE-4958-3BAA-6800-381806A53BF5}"/>
              </a:ext>
            </a:extLst>
          </p:cNvPr>
          <p:cNvSpPr txBox="1"/>
          <p:nvPr/>
        </p:nvSpPr>
        <p:spPr>
          <a:xfrm>
            <a:off x="381000" y="1176159"/>
            <a:ext cx="6705600" cy="2349361"/>
          </a:xfrm>
          <a:prstGeom prst="rect">
            <a:avLst/>
          </a:prstGeom>
          <a:noFill/>
          <a:ln>
            <a:solidFill>
              <a:schemeClr val="accent5">
                <a:lumMod val="20000"/>
                <a:lumOff val="80000"/>
              </a:schemeClr>
            </a:solidFill>
          </a:ln>
        </p:spPr>
        <p:txBody>
          <a:bodyPr wrap="square" rtlCol="0">
            <a:spAutoFit/>
          </a:bodyPr>
          <a:lstStyle/>
          <a:p>
            <a:pPr marL="228600" marR="0" indent="-228600">
              <a:spcAft>
                <a:spcPts val="800"/>
              </a:spcAft>
              <a:buAutoNum type="arabicPeriod"/>
            </a:pPr>
            <a:r>
              <a:rPr lang="en-US" sz="1200" b="1" kern="100" dirty="0">
                <a:effectLst/>
                <a:latin typeface="Bahnschrift" panose="020B0502040204020203" pitchFamily="34" charset="0"/>
                <a:ea typeface="Aptos" panose="020B0004020202020204" pitchFamily="34" charset="0"/>
                <a:cs typeface="Times New Roman" panose="02020603050405020304" pitchFamily="18" charset="0"/>
              </a:rPr>
              <a:t>Real GDP: </a:t>
            </a:r>
            <a:r>
              <a:rPr lang="en-US" sz="1200" kern="100" dirty="0">
                <a:effectLst/>
                <a:latin typeface="Bahnschrift" panose="020B0502040204020203" pitchFamily="34" charset="0"/>
                <a:ea typeface="Aptos" panose="020B0004020202020204" pitchFamily="34" charset="0"/>
                <a:cs typeface="Times New Roman" panose="02020603050405020304" pitchFamily="18" charset="0"/>
              </a:rPr>
              <a:t>after robust growth in 2024, GDP growth to slow down in 2025-26 due to overall contractionary policies, followed by a catch-up in 2027-28, then return to growth path of 7½%.</a:t>
            </a:r>
          </a:p>
          <a:p>
            <a:pPr marL="171450" indent="-171450">
              <a:spcAft>
                <a:spcPts val="800"/>
              </a:spcAft>
              <a:buFont typeface="Arial" panose="020B0604020202020204" pitchFamily="34" charset="0"/>
              <a:buChar char="•"/>
            </a:pPr>
            <a:r>
              <a:rPr lang="en-US" sz="1200" b="1" kern="100" dirty="0">
                <a:effectLst/>
                <a:latin typeface="Bahnschrift Light" panose="020B0502040204020203" pitchFamily="34" charset="0"/>
                <a:ea typeface="Aptos" panose="020B0004020202020204" pitchFamily="34" charset="0"/>
                <a:cs typeface="Times New Roman" panose="02020603050405020304" pitchFamily="18" charset="0"/>
              </a:rPr>
              <a:t>GDP growth in 2024 </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is forecast at 7.8% despite a slowdown to 5% </a:t>
            </a:r>
            <a:r>
              <a:rPr lang="en-US" sz="1200" kern="100" dirty="0">
                <a:latin typeface="Bahnschrift Light" panose="020B0502040204020203" pitchFamily="34" charset="0"/>
                <a:ea typeface="Aptos" panose="020B0004020202020204" pitchFamily="34" charset="0"/>
                <a:cs typeface="Times New Roman" panose="02020603050405020304" pitchFamily="18" charset="0"/>
              </a:rPr>
              <a:t>for 2024Q4</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 given robustness earlier in 2024, helped by a still-low RIR and still-modest fiscal restraint.</a:t>
            </a:r>
            <a:endParaRPr lang="en-US" sz="1200" kern="100" dirty="0">
              <a:latin typeface="Bahnschrift Light" panose="020B0502040204020203" pitchFamily="34" charset="0"/>
              <a:ea typeface="Aptos" panose="020B0004020202020204" pitchFamily="34" charset="0"/>
              <a:cs typeface="Times New Roman" panose="02020603050405020304" pitchFamily="18" charset="0"/>
            </a:endParaRPr>
          </a:p>
          <a:p>
            <a:pPr marL="171450" marR="0" indent="-171450">
              <a:spcAft>
                <a:spcPts val="800"/>
              </a:spcAft>
              <a:buFont typeface="Arial" panose="020B0604020202020204" pitchFamily="34" charset="0"/>
              <a:buChar char="•"/>
            </a:pPr>
            <a:r>
              <a:rPr lang="en-US" sz="1200" b="1" kern="100" dirty="0">
                <a:effectLst/>
                <a:latin typeface="Bahnschrift Light" panose="020B0502040204020203" pitchFamily="34" charset="0"/>
                <a:ea typeface="Aptos" panose="020B0004020202020204" pitchFamily="34" charset="0"/>
                <a:cs typeface="Times New Roman" panose="02020603050405020304" pitchFamily="18" charset="0"/>
              </a:rPr>
              <a:t>Slowdown </a:t>
            </a:r>
            <a:r>
              <a:rPr lang="en-US" sz="1200" b="1" kern="100" dirty="0">
                <a:latin typeface="Bahnschrift Light" panose="020B0502040204020203" pitchFamily="34" charset="0"/>
                <a:ea typeface="Aptos" panose="020B0004020202020204" pitchFamily="34" charset="0"/>
                <a:cs typeface="Times New Roman" panose="02020603050405020304" pitchFamily="18" charset="0"/>
              </a:rPr>
              <a:t>in 2025-26 </a:t>
            </a:r>
            <a:r>
              <a:rPr lang="en-US" sz="1200" kern="100" dirty="0">
                <a:latin typeface="Bahnschrift Light" panose="020B0502040204020203" pitchFamily="34" charset="0"/>
                <a:ea typeface="Aptos" panose="020B0004020202020204" pitchFamily="34" charset="0"/>
                <a:cs typeface="Times New Roman" panose="02020603050405020304" pitchFamily="18" charset="0"/>
              </a:rPr>
              <a:t>is driven by </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strong fiscal consolidation, both directly as government demand for G&amp;S falls and indirectly through the negative fiscal impulse on private demand.</a:t>
            </a:r>
          </a:p>
          <a:p>
            <a:pPr marL="171450" indent="-171450">
              <a:spcAft>
                <a:spcPts val="800"/>
              </a:spcAft>
              <a:buFont typeface="Arial" panose="020B0604020202020204" pitchFamily="34" charset="0"/>
              <a:buChar char="•"/>
            </a:pP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Negative impact on demand of increased RIR as the real lending rates return to normal</a:t>
            </a:r>
          </a:p>
          <a:p>
            <a:pPr marL="171450" indent="-171450">
              <a:spcAft>
                <a:spcPts val="800"/>
              </a:spcAft>
              <a:buFont typeface="Arial" panose="020B0604020202020204" pitchFamily="34" charset="0"/>
              <a:buChar char="•"/>
            </a:pP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Slightly offsetting positive, but lagged effect on net exports of recent and further RER depreciation</a:t>
            </a:r>
            <a:endParaRPr lang="en-RW" sz="1200" kern="100" dirty="0">
              <a:effectLst/>
              <a:latin typeface="Bahnschrift Light" panose="020B0502040204020203" pitchFamily="34" charset="0"/>
              <a:ea typeface="Aptos" panose="020B0004020202020204" pitchFamily="34" charset="0"/>
              <a:cs typeface="Times New Roman" panose="02020603050405020304" pitchFamily="18" charset="0"/>
            </a:endParaRPr>
          </a:p>
        </p:txBody>
      </p:sp>
      <p:pic>
        <p:nvPicPr>
          <p:cNvPr id="6" name="Picture 5">
            <a:extLst>
              <a:ext uri="{FF2B5EF4-FFF2-40B4-BE49-F238E27FC236}">
                <a16:creationId xmlns:a16="http://schemas.microsoft.com/office/drawing/2014/main" id="{5D6B4C95-1EE2-6FAB-7947-959E540B5506}"/>
              </a:ext>
            </a:extLst>
          </p:cNvPr>
          <p:cNvPicPr>
            <a:picLocks noChangeAspect="1"/>
          </p:cNvPicPr>
          <p:nvPr/>
        </p:nvPicPr>
        <p:blipFill>
          <a:blip r:embed="rId3"/>
          <a:stretch>
            <a:fillRect/>
          </a:stretch>
        </p:blipFill>
        <p:spPr>
          <a:xfrm>
            <a:off x="7162800" y="1105554"/>
            <a:ext cx="4572000" cy="2749471"/>
          </a:xfrm>
          <a:prstGeom prst="rect">
            <a:avLst/>
          </a:prstGeom>
          <a:ln>
            <a:solidFill>
              <a:schemeClr val="accent5">
                <a:lumMod val="20000"/>
                <a:lumOff val="80000"/>
              </a:schemeClr>
            </a:solidFill>
          </a:ln>
        </p:spPr>
      </p:pic>
      <p:pic>
        <p:nvPicPr>
          <p:cNvPr id="9" name="Picture 8">
            <a:extLst>
              <a:ext uri="{FF2B5EF4-FFF2-40B4-BE49-F238E27FC236}">
                <a16:creationId xmlns:a16="http://schemas.microsoft.com/office/drawing/2014/main" id="{7246EB74-18A8-0999-86E9-F1D96877E96D}"/>
              </a:ext>
            </a:extLst>
          </p:cNvPr>
          <p:cNvPicPr>
            <a:picLocks noChangeAspect="1"/>
          </p:cNvPicPr>
          <p:nvPr/>
        </p:nvPicPr>
        <p:blipFill>
          <a:blip r:embed="rId4"/>
          <a:stretch>
            <a:fillRect/>
          </a:stretch>
        </p:blipFill>
        <p:spPr>
          <a:xfrm>
            <a:off x="7848601" y="4015335"/>
            <a:ext cx="3886200" cy="2537865"/>
          </a:xfrm>
          <a:prstGeom prst="rect">
            <a:avLst/>
          </a:prstGeom>
          <a:ln>
            <a:solidFill>
              <a:schemeClr val="accent5">
                <a:lumMod val="20000"/>
                <a:lumOff val="80000"/>
              </a:schemeClr>
            </a:solidFill>
          </a:ln>
        </p:spPr>
      </p:pic>
      <p:pic>
        <p:nvPicPr>
          <p:cNvPr id="11" name="Picture 10">
            <a:extLst>
              <a:ext uri="{FF2B5EF4-FFF2-40B4-BE49-F238E27FC236}">
                <a16:creationId xmlns:a16="http://schemas.microsoft.com/office/drawing/2014/main" id="{09483B34-B0D8-323A-35DD-9C14E0D965A5}"/>
              </a:ext>
            </a:extLst>
          </p:cNvPr>
          <p:cNvPicPr>
            <a:picLocks noChangeAspect="1"/>
          </p:cNvPicPr>
          <p:nvPr/>
        </p:nvPicPr>
        <p:blipFill>
          <a:blip r:embed="rId5"/>
          <a:stretch>
            <a:fillRect/>
          </a:stretch>
        </p:blipFill>
        <p:spPr>
          <a:xfrm>
            <a:off x="4038599" y="4015334"/>
            <a:ext cx="3711387" cy="2537865"/>
          </a:xfrm>
          <a:prstGeom prst="rect">
            <a:avLst/>
          </a:prstGeom>
          <a:ln>
            <a:solidFill>
              <a:schemeClr val="accent5">
                <a:lumMod val="20000"/>
                <a:lumOff val="80000"/>
              </a:schemeClr>
            </a:solidFill>
          </a:ln>
        </p:spPr>
      </p:pic>
      <p:sp>
        <p:nvSpPr>
          <p:cNvPr id="5" name="TextBox 4">
            <a:extLst>
              <a:ext uri="{FF2B5EF4-FFF2-40B4-BE49-F238E27FC236}">
                <a16:creationId xmlns:a16="http://schemas.microsoft.com/office/drawing/2014/main" id="{F4DAE249-3D69-E72E-DB0C-CB3A72926147}"/>
              </a:ext>
            </a:extLst>
          </p:cNvPr>
          <p:cNvSpPr txBox="1"/>
          <p:nvPr/>
        </p:nvSpPr>
        <p:spPr>
          <a:xfrm>
            <a:off x="381000" y="3855025"/>
            <a:ext cx="3536573" cy="1672253"/>
          </a:xfrm>
          <a:prstGeom prst="rect">
            <a:avLst/>
          </a:prstGeom>
          <a:noFill/>
          <a:ln>
            <a:solidFill>
              <a:schemeClr val="accent5">
                <a:lumMod val="20000"/>
                <a:lumOff val="80000"/>
              </a:schemeClr>
            </a:solidFill>
          </a:ln>
        </p:spPr>
        <p:txBody>
          <a:bodyPr wrap="square" rtlCol="0">
            <a:spAutoFit/>
          </a:bodyPr>
          <a:lstStyle/>
          <a:p>
            <a:pPr marL="0" marR="0">
              <a:spcAft>
                <a:spcPts val="800"/>
              </a:spcAft>
            </a:pPr>
            <a:r>
              <a:rPr lang="en-US" sz="1200" b="1" kern="100" dirty="0">
                <a:latin typeface="Bahnschrift" panose="020B0502040204020203" pitchFamily="34" charset="0"/>
                <a:ea typeface="Aptos" panose="020B0004020202020204" pitchFamily="34" charset="0"/>
                <a:cs typeface="Times New Roman" panose="02020603050405020304" pitchFamily="18" charset="0"/>
              </a:rPr>
              <a:t>C</a:t>
            </a:r>
            <a:r>
              <a:rPr lang="en-US" sz="1200" b="1" kern="100" dirty="0">
                <a:effectLst/>
                <a:latin typeface="Bahnschrift" panose="020B0502040204020203" pitchFamily="34" charset="0"/>
                <a:ea typeface="Aptos" panose="020B0004020202020204" pitchFamily="34" charset="0"/>
                <a:cs typeface="Times New Roman" panose="02020603050405020304" pitchFamily="18" charset="0"/>
              </a:rPr>
              <a:t>atch up in 2027-28 is driven by:  </a:t>
            </a:r>
            <a:endParaRPr lang="en-RW" sz="1200" b="1" kern="100" dirty="0">
              <a:effectLst/>
              <a:latin typeface="Bahnschrift" panose="020B0502040204020203" pitchFamily="34" charset="0"/>
              <a:ea typeface="Aptos" panose="020B0004020202020204" pitchFamily="34" charset="0"/>
              <a:cs typeface="Times New Roman" panose="02020603050405020304" pitchFamily="18" charset="0"/>
            </a:endParaRPr>
          </a:p>
          <a:p>
            <a:pPr marL="171450" marR="0" lvl="0" indent="-171450">
              <a:buFont typeface="Arial" panose="020B0604020202020204" pitchFamily="34" charset="0"/>
              <a:buChar char="•"/>
            </a:pP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Driven by end of fiscal consolidation (Govt demand pick up), the negative fiscal impulse stops</a:t>
            </a:r>
            <a:endParaRPr lang="en-US" sz="1200" kern="100" dirty="0">
              <a:latin typeface="Bahnschrift Light" panose="020B0502040204020203" pitchFamily="34" charset="0"/>
              <a:ea typeface="Aptos" panose="020B0004020202020204" pitchFamily="34" charset="0"/>
              <a:cs typeface="Times New Roman" panose="02020603050405020304" pitchFamily="18" charset="0"/>
            </a:endParaRPr>
          </a:p>
          <a:p>
            <a:pPr marL="171450" marR="0" lvl="0" indent="-171450">
              <a:buFont typeface="Arial" panose="020B0604020202020204" pitchFamily="34" charset="0"/>
              <a:buChar char="•"/>
            </a:pP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End of increase and the start of a slight decrease in RIR</a:t>
            </a:r>
            <a:endParaRPr lang="en-US" sz="1200" kern="100" dirty="0">
              <a:latin typeface="Bahnschrift Light" panose="020B0502040204020203" pitchFamily="34" charset="0"/>
              <a:ea typeface="Aptos" panose="020B0004020202020204" pitchFamily="34" charset="0"/>
              <a:cs typeface="Times New Roman" panose="02020603050405020304" pitchFamily="18" charset="0"/>
            </a:endParaRPr>
          </a:p>
          <a:p>
            <a:pPr marL="171450" marR="0" lvl="0" indent="-171450">
              <a:buFont typeface="Arial" panose="020B0604020202020204" pitchFamily="34" charset="0"/>
              <a:buChar char="•"/>
            </a:pP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Positive impact of more depreciated RER (some undervaluation)         </a:t>
            </a:r>
            <a:endParaRPr lang="en-RW" sz="1200" kern="100" dirty="0">
              <a:effectLst/>
              <a:latin typeface="Bahnschrift Light" panose="020B0502040204020203"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188725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0CEC34D-CC97-3D7D-A18A-8A80FC2EAA0E}"/>
              </a:ext>
            </a:extLst>
          </p:cNvPr>
          <p:cNvSpPr>
            <a:spLocks noGrp="1"/>
          </p:cNvSpPr>
          <p:nvPr>
            <p:ph type="sldNum" sz="quarter" idx="12"/>
          </p:nvPr>
        </p:nvSpPr>
        <p:spPr/>
        <p:txBody>
          <a:bodyPr/>
          <a:lstStyle/>
          <a:p>
            <a:fld id="{D97AE203-F84D-4A7F-B161-8561326BE072}" type="slidenum">
              <a:rPr lang="en-US" smtClean="0"/>
              <a:pPr/>
              <a:t>15</a:t>
            </a:fld>
            <a:endParaRPr lang="en-US" dirty="0"/>
          </a:p>
        </p:txBody>
      </p:sp>
      <p:sp>
        <p:nvSpPr>
          <p:cNvPr id="2" name="Title 1">
            <a:extLst>
              <a:ext uri="{FF2B5EF4-FFF2-40B4-BE49-F238E27FC236}">
                <a16:creationId xmlns:a16="http://schemas.microsoft.com/office/drawing/2014/main" id="{0966E48A-ACEE-51EB-B834-992F80F1053E}"/>
              </a:ext>
            </a:extLst>
          </p:cNvPr>
          <p:cNvSpPr>
            <a:spLocks noGrp="1"/>
          </p:cNvSpPr>
          <p:nvPr>
            <p:ph type="title" idx="4294967295"/>
          </p:nvPr>
        </p:nvSpPr>
        <p:spPr>
          <a:xfrm>
            <a:off x="3048000" y="228600"/>
            <a:ext cx="6705600" cy="762000"/>
          </a:xfrm>
        </p:spPr>
        <p:txBody>
          <a:bodyPr>
            <a:normAutofit fontScale="90000"/>
          </a:bodyPr>
          <a:lstStyle/>
          <a:p>
            <a:r>
              <a:rPr lang="en-GB" b="1" dirty="0">
                <a:solidFill>
                  <a:srgbClr val="008BCC"/>
                </a:solidFill>
                <a:latin typeface="Bahnschrift" panose="020B0502040204020203" pitchFamily="34" charset="0"/>
                <a:cs typeface="+mn-cs"/>
              </a:rPr>
              <a:t>VI. Macroeconomic forecast/outlook</a:t>
            </a:r>
            <a:br>
              <a:rPr lang="en-GB" b="1" dirty="0"/>
            </a:br>
            <a:r>
              <a:rPr lang="en-GB" sz="2400" b="1" dirty="0">
                <a:solidFill>
                  <a:srgbClr val="109351"/>
                </a:solidFill>
                <a:latin typeface="Bahnschrift" panose="020B0502040204020203" pitchFamily="34" charset="0"/>
              </a:rPr>
              <a:t>Final demand components</a:t>
            </a:r>
            <a:endParaRPr lang="en-AE" sz="2400" b="1" dirty="0">
              <a:solidFill>
                <a:srgbClr val="109351"/>
              </a:solidFill>
              <a:latin typeface="Bahnschrift" panose="020B0502040204020203" pitchFamily="34" charset="0"/>
            </a:endParaRPr>
          </a:p>
        </p:txBody>
      </p:sp>
      <p:sp>
        <p:nvSpPr>
          <p:cNvPr id="8" name="TextBox 7">
            <a:extLst>
              <a:ext uri="{FF2B5EF4-FFF2-40B4-BE49-F238E27FC236}">
                <a16:creationId xmlns:a16="http://schemas.microsoft.com/office/drawing/2014/main" id="{8A2297BD-FECE-C82F-F423-51AAF50D8B40}"/>
              </a:ext>
            </a:extLst>
          </p:cNvPr>
          <p:cNvSpPr txBox="1"/>
          <p:nvPr/>
        </p:nvSpPr>
        <p:spPr>
          <a:xfrm>
            <a:off x="533399" y="1066800"/>
            <a:ext cx="5257801" cy="4722703"/>
          </a:xfrm>
          <a:prstGeom prst="rect">
            <a:avLst/>
          </a:prstGeom>
          <a:noFill/>
          <a:ln>
            <a:solidFill>
              <a:schemeClr val="accent5">
                <a:lumMod val="20000"/>
                <a:lumOff val="80000"/>
              </a:schemeClr>
            </a:solidFill>
          </a:ln>
        </p:spPr>
        <p:txBody>
          <a:bodyPr wrap="square">
            <a:spAutoFit/>
          </a:bodyPr>
          <a:lstStyle/>
          <a:p>
            <a:pPr marL="0" marR="0">
              <a:lnSpc>
                <a:spcPct val="150000"/>
              </a:lnSpc>
              <a:spcAft>
                <a:spcPts val="800"/>
              </a:spcAft>
            </a:pPr>
            <a:r>
              <a:rPr lang="en-US" sz="1200" b="1" kern="100" dirty="0">
                <a:effectLst/>
                <a:latin typeface="Bahnschrift" panose="020B0502040204020203" pitchFamily="34" charset="0"/>
                <a:ea typeface="Aptos" panose="020B0004020202020204" pitchFamily="34" charset="0"/>
                <a:cs typeface="Times New Roman" panose="02020603050405020304" pitchFamily="18" charset="0"/>
              </a:rPr>
              <a:t>Final demand: </a:t>
            </a:r>
            <a:r>
              <a:rPr lang="en-US" sz="1200" kern="100" dirty="0">
                <a:effectLst/>
                <a:latin typeface="Bahnschrift" panose="020B0502040204020203" pitchFamily="34" charset="0"/>
                <a:ea typeface="Aptos" panose="020B0004020202020204" pitchFamily="34" charset="0"/>
                <a:cs typeface="Times New Roman" panose="02020603050405020304" pitchFamily="18" charset="0"/>
              </a:rPr>
              <a:t>Private demands are forecast to slow down in 2025-26, returning to normal thereafter</a:t>
            </a:r>
            <a:endParaRPr lang="en-RW" sz="1200" kern="100" dirty="0">
              <a:effectLst/>
              <a:latin typeface="Bahnschrift" panose="020B0502040204020203" pitchFamily="34" charset="0"/>
              <a:ea typeface="Aptos" panose="020B0004020202020204" pitchFamily="34" charset="0"/>
              <a:cs typeface="Times New Roman" panose="02020603050405020304" pitchFamily="18" charset="0"/>
            </a:endParaRPr>
          </a:p>
          <a:p>
            <a:pPr marL="171450" marR="0" indent="-171450">
              <a:lnSpc>
                <a:spcPct val="150000"/>
              </a:lnSpc>
              <a:spcAft>
                <a:spcPts val="800"/>
              </a:spcAft>
              <a:buFont typeface="Wingdings" panose="05000000000000000000" pitchFamily="2" charset="2"/>
              <a:buChar char="§"/>
            </a:pPr>
            <a:r>
              <a:rPr lang="en-US" sz="1200" b="1" kern="100" dirty="0">
                <a:effectLst/>
                <a:latin typeface="Bahnschrift Light" panose="020B0502040204020203" pitchFamily="34" charset="0"/>
                <a:ea typeface="Aptos" panose="020B0004020202020204" pitchFamily="34" charset="0"/>
                <a:cs typeface="Times New Roman" panose="02020603050405020304" pitchFamily="18" charset="0"/>
              </a:rPr>
              <a:t>Real consumption</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 after above-trend growth in 2023/early 2024, restrictive policies lower real consumption growth to </a:t>
            </a:r>
            <a:r>
              <a:rPr lang="en-US" sz="1200" u="sng" kern="100" dirty="0">
                <a:effectLst/>
                <a:latin typeface="Bahnschrift Light" panose="020B0502040204020203" pitchFamily="34" charset="0"/>
                <a:ea typeface="Aptos" panose="020B0004020202020204" pitchFamily="34" charset="0"/>
                <a:cs typeface="Times New Roman" panose="02020603050405020304" pitchFamily="18" charset="0"/>
              </a:rPr>
              <a:t>+</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4% in 2025-26, before it returns to trend growth in line with GDP (7.5%)</a:t>
            </a:r>
            <a:endParaRPr lang="en-US" sz="1200" kern="100" dirty="0">
              <a:latin typeface="Bahnschrift Light" panose="020B0502040204020203" pitchFamily="34" charset="0"/>
              <a:ea typeface="Aptos" panose="020B0004020202020204" pitchFamily="34" charset="0"/>
              <a:cs typeface="Times New Roman" panose="02020603050405020304" pitchFamily="18" charset="0"/>
            </a:endParaRPr>
          </a:p>
          <a:p>
            <a:pPr marL="171450" marR="0" indent="-171450">
              <a:lnSpc>
                <a:spcPct val="150000"/>
              </a:lnSpc>
              <a:spcAft>
                <a:spcPts val="800"/>
              </a:spcAft>
              <a:buFont typeface="Wingdings" panose="05000000000000000000" pitchFamily="2" charset="2"/>
              <a:buChar char="§"/>
            </a:pPr>
            <a:r>
              <a:rPr lang="en-US" sz="1200" b="1" kern="100" dirty="0">
                <a:effectLst/>
                <a:latin typeface="Bahnschrift Light" panose="020B0502040204020203" pitchFamily="34" charset="0"/>
                <a:ea typeface="Aptos" panose="020B0004020202020204" pitchFamily="34" charset="0"/>
                <a:cs typeface="Times New Roman" panose="02020603050405020304" pitchFamily="18" charset="0"/>
              </a:rPr>
              <a:t>Real investment</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 after sluggish growth in 2022-23, growth is forecast to be strong in 2024 (above 10%), slowing down to </a:t>
            </a:r>
            <a:r>
              <a:rPr lang="en-US" sz="1200" u="sng" kern="100" dirty="0">
                <a:effectLst/>
                <a:latin typeface="Bahnschrift Light" panose="020B0502040204020203" pitchFamily="34" charset="0"/>
                <a:ea typeface="Aptos" panose="020B0004020202020204" pitchFamily="34" charset="0"/>
                <a:cs typeface="Times New Roman" panose="02020603050405020304" pitchFamily="18" charset="0"/>
              </a:rPr>
              <a:t>+</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6% in 2025-26 as real lending rates increase; then moves to trend growth</a:t>
            </a:r>
            <a:endParaRPr lang="en-US" sz="1200" kern="100" dirty="0">
              <a:latin typeface="Bahnschrift Light" panose="020B0502040204020203" pitchFamily="34" charset="0"/>
              <a:ea typeface="Aptos" panose="020B0004020202020204" pitchFamily="34" charset="0"/>
              <a:cs typeface="Times New Roman" panose="02020603050405020304" pitchFamily="18" charset="0"/>
            </a:endParaRPr>
          </a:p>
          <a:p>
            <a:pPr marL="171450" marR="0" indent="-171450">
              <a:lnSpc>
                <a:spcPct val="150000"/>
              </a:lnSpc>
              <a:spcAft>
                <a:spcPts val="800"/>
              </a:spcAft>
              <a:buFont typeface="Wingdings" panose="05000000000000000000" pitchFamily="2" charset="2"/>
              <a:buChar char="§"/>
            </a:pPr>
            <a:r>
              <a:rPr lang="en-US" sz="1200" b="1" kern="100" dirty="0">
                <a:effectLst/>
                <a:latin typeface="Bahnschrift Light" panose="020B0502040204020203" pitchFamily="34" charset="0"/>
                <a:ea typeface="Aptos" panose="020B0004020202020204" pitchFamily="34" charset="0"/>
                <a:cs typeface="Times New Roman" panose="02020603050405020304" pitchFamily="18" charset="0"/>
              </a:rPr>
              <a:t>Real exports</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 After the above trend growth in 2023-24, export growth slows down but gradually as the positive effect of recent RER depreciation keeps export growth above the trend the whole period</a:t>
            </a:r>
            <a:endParaRPr lang="en-US" sz="1200" kern="100" dirty="0">
              <a:latin typeface="Bahnschrift Light" panose="020B0502040204020203" pitchFamily="34" charset="0"/>
              <a:ea typeface="Aptos" panose="020B0004020202020204" pitchFamily="34" charset="0"/>
              <a:cs typeface="Times New Roman" panose="02020603050405020304" pitchFamily="18" charset="0"/>
            </a:endParaRPr>
          </a:p>
          <a:p>
            <a:pPr marL="171450" marR="0" indent="-171450">
              <a:lnSpc>
                <a:spcPct val="150000"/>
              </a:lnSpc>
              <a:spcAft>
                <a:spcPts val="800"/>
              </a:spcAft>
              <a:buFont typeface="Wingdings" panose="05000000000000000000" pitchFamily="2" charset="2"/>
              <a:buChar char="§"/>
            </a:pPr>
            <a:r>
              <a:rPr lang="en-US" sz="1200" b="1" kern="100" dirty="0">
                <a:effectLst/>
                <a:latin typeface="Bahnschrift Light" panose="020B0502040204020203" pitchFamily="34" charset="0"/>
                <a:ea typeface="Aptos" panose="020B0004020202020204" pitchFamily="34" charset="0"/>
                <a:cs typeface="Times New Roman" panose="02020603050405020304" pitchFamily="18" charset="0"/>
              </a:rPr>
              <a:t>Real govt demand</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 almost no growth in 2025-26 due to fiscal consolidation, strong pickup thereafter</a:t>
            </a:r>
            <a:endParaRPr lang="en-US" sz="1200" kern="100" dirty="0">
              <a:latin typeface="Bahnschrift Light" panose="020B0502040204020203" pitchFamily="34" charset="0"/>
              <a:ea typeface="Aptos" panose="020B0004020202020204" pitchFamily="34" charset="0"/>
              <a:cs typeface="Times New Roman" panose="02020603050405020304" pitchFamily="18" charset="0"/>
            </a:endParaRPr>
          </a:p>
          <a:p>
            <a:pPr marL="171450" marR="0" indent="-171450">
              <a:lnSpc>
                <a:spcPct val="150000"/>
              </a:lnSpc>
              <a:spcAft>
                <a:spcPts val="800"/>
              </a:spcAft>
              <a:buFont typeface="Wingdings" panose="05000000000000000000" pitchFamily="2" charset="2"/>
              <a:buChar char="§"/>
            </a:pPr>
            <a:r>
              <a:rPr lang="en-US" sz="1200" b="1" kern="100" dirty="0">
                <a:effectLst/>
                <a:latin typeface="Bahnschrift Light" panose="020B0502040204020203" pitchFamily="34" charset="0"/>
                <a:ea typeface="Aptos" panose="020B0004020202020204" pitchFamily="34" charset="0"/>
                <a:cs typeface="Times New Roman" panose="02020603050405020304" pitchFamily="18" charset="0"/>
              </a:rPr>
              <a:t>Real imports</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 follow other demand components (including govt demand) </a:t>
            </a:r>
            <a:endParaRPr lang="en-RW" sz="1200" kern="100" dirty="0">
              <a:effectLst/>
              <a:latin typeface="Bahnschrift Light" panose="020B0502040204020203" pitchFamily="34" charset="0"/>
              <a:ea typeface="Aptos" panose="020B0004020202020204" pitchFamily="34" charset="0"/>
              <a:cs typeface="Times New Roman" panose="02020603050405020304" pitchFamily="18" charset="0"/>
            </a:endParaRPr>
          </a:p>
        </p:txBody>
      </p:sp>
      <p:grpSp>
        <p:nvGrpSpPr>
          <p:cNvPr id="5" name="Group 4">
            <a:extLst>
              <a:ext uri="{FF2B5EF4-FFF2-40B4-BE49-F238E27FC236}">
                <a16:creationId xmlns:a16="http://schemas.microsoft.com/office/drawing/2014/main" id="{0A307112-6422-CAA4-218C-FBEB9557CD7B}"/>
              </a:ext>
            </a:extLst>
          </p:cNvPr>
          <p:cNvGrpSpPr/>
          <p:nvPr/>
        </p:nvGrpSpPr>
        <p:grpSpPr>
          <a:xfrm>
            <a:off x="5899897" y="1066800"/>
            <a:ext cx="5715000" cy="5300841"/>
            <a:chOff x="5899897" y="1176159"/>
            <a:chExt cx="5715000" cy="5300841"/>
          </a:xfrm>
        </p:grpSpPr>
        <p:pic>
          <p:nvPicPr>
            <p:cNvPr id="6" name="Picture 5">
              <a:extLst>
                <a:ext uri="{FF2B5EF4-FFF2-40B4-BE49-F238E27FC236}">
                  <a16:creationId xmlns:a16="http://schemas.microsoft.com/office/drawing/2014/main" id="{00985010-08A1-73D8-E4C4-71032363F2A9}"/>
                </a:ext>
              </a:extLst>
            </p:cNvPr>
            <p:cNvPicPr>
              <a:picLocks noChangeAspect="1"/>
            </p:cNvPicPr>
            <p:nvPr/>
          </p:nvPicPr>
          <p:blipFill>
            <a:blip r:embed="rId3"/>
            <a:srcRect r="53086"/>
            <a:stretch/>
          </p:blipFill>
          <p:spPr>
            <a:xfrm>
              <a:off x="5899897" y="1176159"/>
              <a:ext cx="2895600" cy="5300841"/>
            </a:xfrm>
            <a:prstGeom prst="rect">
              <a:avLst/>
            </a:prstGeom>
            <a:ln>
              <a:solidFill>
                <a:schemeClr val="accent5">
                  <a:lumMod val="20000"/>
                  <a:lumOff val="80000"/>
                </a:schemeClr>
              </a:solidFill>
            </a:ln>
          </p:spPr>
        </p:pic>
        <p:pic>
          <p:nvPicPr>
            <p:cNvPr id="4" name="Picture 3">
              <a:extLst>
                <a:ext uri="{FF2B5EF4-FFF2-40B4-BE49-F238E27FC236}">
                  <a16:creationId xmlns:a16="http://schemas.microsoft.com/office/drawing/2014/main" id="{93D1090F-78DA-B5FB-34EF-9B05AABBE1E7}"/>
                </a:ext>
              </a:extLst>
            </p:cNvPr>
            <p:cNvPicPr>
              <a:picLocks noChangeAspect="1"/>
            </p:cNvPicPr>
            <p:nvPr/>
          </p:nvPicPr>
          <p:blipFill>
            <a:blip r:embed="rId3"/>
            <a:srcRect l="54321"/>
            <a:stretch/>
          </p:blipFill>
          <p:spPr>
            <a:xfrm>
              <a:off x="8795497" y="1176159"/>
              <a:ext cx="2819400" cy="5300841"/>
            </a:xfrm>
            <a:prstGeom prst="rect">
              <a:avLst/>
            </a:prstGeom>
            <a:ln>
              <a:solidFill>
                <a:schemeClr val="accent5">
                  <a:lumMod val="20000"/>
                  <a:lumOff val="80000"/>
                </a:schemeClr>
              </a:solidFill>
            </a:ln>
          </p:spPr>
        </p:pic>
      </p:grpSp>
    </p:spTree>
    <p:extLst>
      <p:ext uri="{BB962C8B-B14F-4D97-AF65-F5344CB8AC3E}">
        <p14:creationId xmlns:p14="http://schemas.microsoft.com/office/powerpoint/2010/main" val="23029328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AECA724-04CE-0978-4E96-A52B52FFCBB7}"/>
              </a:ext>
            </a:extLst>
          </p:cNvPr>
          <p:cNvSpPr>
            <a:spLocks noGrp="1"/>
          </p:cNvSpPr>
          <p:nvPr>
            <p:ph type="sldNum" sz="quarter" idx="12"/>
          </p:nvPr>
        </p:nvSpPr>
        <p:spPr/>
        <p:txBody>
          <a:bodyPr/>
          <a:lstStyle/>
          <a:p>
            <a:fld id="{D97AE203-F84D-4A7F-B161-8561326BE072}" type="slidenum">
              <a:rPr lang="en-US" smtClean="0"/>
              <a:pPr/>
              <a:t>16</a:t>
            </a:fld>
            <a:endParaRPr lang="en-US" dirty="0"/>
          </a:p>
        </p:txBody>
      </p:sp>
      <p:sp>
        <p:nvSpPr>
          <p:cNvPr id="2" name="Title 1">
            <a:extLst>
              <a:ext uri="{FF2B5EF4-FFF2-40B4-BE49-F238E27FC236}">
                <a16:creationId xmlns:a16="http://schemas.microsoft.com/office/drawing/2014/main" id="{F522B948-3F28-94A0-AFF9-22D3A186313C}"/>
              </a:ext>
            </a:extLst>
          </p:cNvPr>
          <p:cNvSpPr>
            <a:spLocks noGrp="1"/>
          </p:cNvSpPr>
          <p:nvPr>
            <p:ph type="title" idx="4294967295"/>
          </p:nvPr>
        </p:nvSpPr>
        <p:spPr>
          <a:xfrm>
            <a:off x="2895600" y="190500"/>
            <a:ext cx="6934200" cy="598488"/>
          </a:xfrm>
        </p:spPr>
        <p:txBody>
          <a:bodyPr/>
          <a:lstStyle/>
          <a:p>
            <a:r>
              <a:rPr lang="en-GB" sz="2400" b="1" dirty="0">
                <a:solidFill>
                  <a:srgbClr val="008BCC"/>
                </a:solidFill>
                <a:latin typeface="Bahnschrift" panose="020B0502040204020203" pitchFamily="34" charset="0"/>
              </a:rPr>
              <a:t>Fiscal: Budget deficit</a:t>
            </a:r>
            <a:endParaRPr lang="en-AE" sz="2400" b="1" dirty="0">
              <a:solidFill>
                <a:srgbClr val="008BCC"/>
              </a:solidFill>
              <a:latin typeface="Bahnschrift" panose="020B0502040204020203" pitchFamily="34" charset="0"/>
            </a:endParaRPr>
          </a:p>
        </p:txBody>
      </p:sp>
      <p:sp>
        <p:nvSpPr>
          <p:cNvPr id="10" name="Content Placeholder 2">
            <a:extLst>
              <a:ext uri="{FF2B5EF4-FFF2-40B4-BE49-F238E27FC236}">
                <a16:creationId xmlns:a16="http://schemas.microsoft.com/office/drawing/2014/main" id="{01FBA286-B9C2-0395-5CDE-596191958C6F}"/>
              </a:ext>
            </a:extLst>
          </p:cNvPr>
          <p:cNvSpPr txBox="1">
            <a:spLocks/>
          </p:cNvSpPr>
          <p:nvPr/>
        </p:nvSpPr>
        <p:spPr>
          <a:xfrm>
            <a:off x="533400" y="1330711"/>
            <a:ext cx="7086600" cy="4765289"/>
          </a:xfrm>
          <a:prstGeom prst="rect">
            <a:avLst/>
          </a:prstGeom>
          <a:ln>
            <a:solidFill>
              <a:schemeClr val="accent5">
                <a:lumMod val="20000"/>
                <a:lumOff val="80000"/>
              </a:schemeClr>
            </a:solidFill>
          </a:ln>
        </p:spPr>
        <p:txBody>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lvl="1" indent="0">
              <a:lnSpc>
                <a:spcPct val="150000"/>
              </a:lnSpc>
              <a:spcBef>
                <a:spcPct val="0"/>
              </a:spcBef>
              <a:spcAft>
                <a:spcPts val="800"/>
              </a:spcAft>
              <a:buNone/>
            </a:pPr>
            <a:r>
              <a:rPr lang="en-US" sz="1200" b="1" kern="100" dirty="0">
                <a:solidFill>
                  <a:srgbClr val="C00000"/>
                </a:solidFill>
                <a:latin typeface="Bahnschrift Light" panose="020B0502040204020203" pitchFamily="34" charset="0"/>
                <a:cs typeface="Times New Roman" panose="02020603050405020304" pitchFamily="18" charset="0"/>
              </a:rPr>
              <a:t>Trend is structural deficit level in percentage of GDP</a:t>
            </a:r>
          </a:p>
          <a:p>
            <a:pPr marL="0" lvl="1" indent="0">
              <a:lnSpc>
                <a:spcPct val="150000"/>
              </a:lnSpc>
              <a:spcBef>
                <a:spcPct val="0"/>
              </a:spcBef>
              <a:spcAft>
                <a:spcPts val="800"/>
              </a:spcAft>
              <a:buNone/>
            </a:pPr>
            <a:r>
              <a:rPr lang="en-US" sz="1200" b="1" kern="100" dirty="0">
                <a:solidFill>
                  <a:schemeClr val="tx1"/>
                </a:solidFill>
                <a:latin typeface="Bahnschrift Light" panose="020B0502040204020203" pitchFamily="34" charset="0"/>
                <a:cs typeface="Times New Roman" panose="02020603050405020304" pitchFamily="18" charset="0"/>
              </a:rPr>
              <a:t>Budget deficit (excl. grants, %GDP): </a:t>
            </a:r>
            <a:r>
              <a:rPr lang="en-GB" sz="1200" kern="100" dirty="0">
                <a:solidFill>
                  <a:schemeClr val="tx1"/>
                </a:solidFill>
                <a:latin typeface="Bahnschrift Light" panose="020B0502040204020203" pitchFamily="34" charset="0"/>
                <a:cs typeface="Times New Roman" panose="02020603050405020304" pitchFamily="18" charset="0"/>
              </a:rPr>
              <a:t>Reintroduction of post-COVID contractionary/consolidation fiscal policy in 2024-28 (</a:t>
            </a:r>
            <a:r>
              <a:rPr lang="en-US" sz="1200" kern="100" dirty="0">
                <a:solidFill>
                  <a:schemeClr val="tx1"/>
                </a:solidFill>
                <a:latin typeface="Bahnschrift Light" panose="020B0502040204020203" pitchFamily="34" charset="0"/>
                <a:cs typeface="Times New Roman" panose="02020603050405020304" pitchFamily="18" charset="0"/>
              </a:rPr>
              <a:t>above structural level during 2023-early 2024 before falling below structural level in 2024-28)</a:t>
            </a:r>
          </a:p>
          <a:p>
            <a:pPr marL="171450" lvl="1" indent="-171450">
              <a:lnSpc>
                <a:spcPct val="150000"/>
              </a:lnSpc>
              <a:spcBef>
                <a:spcPct val="0"/>
              </a:spcBef>
              <a:spcAft>
                <a:spcPts val="800"/>
              </a:spcAft>
              <a:buFont typeface="Wingdings" panose="05000000000000000000" pitchFamily="2" charset="2"/>
              <a:buChar char="§"/>
            </a:pPr>
            <a:r>
              <a:rPr lang="en-US" sz="1200" kern="100" dirty="0">
                <a:solidFill>
                  <a:schemeClr val="tx1"/>
                </a:solidFill>
                <a:latin typeface="Bahnschrift Light" panose="020B0502040204020203" pitchFamily="34" charset="0"/>
                <a:cs typeface="Times New Roman" panose="02020603050405020304" pitchFamily="18" charset="0"/>
              </a:rPr>
              <a:t>A cut in Govt. recurrent (G&amp;) and some capital spending below structural spending level</a:t>
            </a:r>
          </a:p>
          <a:p>
            <a:pPr marL="171450" lvl="1" indent="-171450">
              <a:lnSpc>
                <a:spcPct val="150000"/>
              </a:lnSpc>
              <a:spcBef>
                <a:spcPct val="0"/>
              </a:spcBef>
              <a:spcAft>
                <a:spcPts val="800"/>
              </a:spcAft>
              <a:buFont typeface="Wingdings" panose="05000000000000000000" pitchFamily="2" charset="2"/>
              <a:buChar char="§"/>
            </a:pPr>
            <a:r>
              <a:rPr lang="en-US" sz="1200" kern="100" dirty="0">
                <a:solidFill>
                  <a:schemeClr val="tx1"/>
                </a:solidFill>
                <a:latin typeface="Bahnschrift Light" panose="020B0502040204020203" pitchFamily="34" charset="0"/>
                <a:cs typeface="Times New Roman" panose="02020603050405020304" pitchFamily="18" charset="0"/>
              </a:rPr>
              <a:t>A temporal cut in other expenditures below trend level followed by a reintroduction of key spending (i.e., subsides, transfers and policy lending) post 2024.</a:t>
            </a:r>
            <a:endParaRPr lang="en-GB" sz="1200" kern="100" dirty="0">
              <a:solidFill>
                <a:schemeClr val="tx1"/>
              </a:solidFill>
              <a:latin typeface="Bahnschrift Light" panose="020B0502040204020203" pitchFamily="34" charset="0"/>
              <a:cs typeface="Times New Roman" panose="02020603050405020304" pitchFamily="18" charset="0"/>
            </a:endParaRPr>
          </a:p>
          <a:p>
            <a:pPr marL="0" lvl="1" indent="0">
              <a:lnSpc>
                <a:spcPct val="150000"/>
              </a:lnSpc>
              <a:spcBef>
                <a:spcPct val="0"/>
              </a:spcBef>
              <a:spcAft>
                <a:spcPts val="800"/>
              </a:spcAft>
              <a:buNone/>
            </a:pPr>
            <a:r>
              <a:rPr lang="en-GB" sz="1200" b="1" kern="100" dirty="0">
                <a:solidFill>
                  <a:schemeClr val="tx1"/>
                </a:solidFill>
                <a:latin typeface="Bahnschrift Light" panose="020B0502040204020203" pitchFamily="34" charset="0"/>
                <a:cs typeface="Times New Roman" panose="02020603050405020304" pitchFamily="18" charset="0"/>
              </a:rPr>
              <a:t>From late 2026 to 2028</a:t>
            </a:r>
            <a:r>
              <a:rPr lang="en-GB" sz="1200" kern="100" dirty="0">
                <a:solidFill>
                  <a:schemeClr val="tx1"/>
                </a:solidFill>
                <a:latin typeface="Bahnschrift Light" panose="020B0502040204020203" pitchFamily="34" charset="0"/>
                <a:cs typeface="Times New Roman" panose="02020603050405020304" pitchFamily="18" charset="0"/>
              </a:rPr>
              <a:t>, consolidation eases as deficit (increase in Govt. demand) moves back up toward a sustainable path</a:t>
            </a:r>
            <a:r>
              <a:rPr lang="en-US" sz="1200" kern="100" dirty="0">
                <a:solidFill>
                  <a:schemeClr val="tx1"/>
                </a:solidFill>
                <a:latin typeface="Bahnschrift Light" panose="020B0502040204020203" pitchFamily="34" charset="0"/>
                <a:cs typeface="Times New Roman" panose="02020603050405020304" pitchFamily="18" charset="0"/>
              </a:rPr>
              <a:t> (</a:t>
            </a:r>
            <a:r>
              <a:rPr lang="en-GB" sz="1200" kern="100" dirty="0">
                <a:solidFill>
                  <a:schemeClr val="tx1"/>
                </a:solidFill>
                <a:latin typeface="Bahnschrift Light" panose="020B0502040204020203" pitchFamily="34" charset="0"/>
                <a:cs typeface="Times New Roman" panose="02020603050405020304" pitchFamily="18" charset="0"/>
              </a:rPr>
              <a:t>beyond IMF PCI sustainable deficit and ratios) </a:t>
            </a:r>
          </a:p>
          <a:p>
            <a:pPr marL="560387" lvl="2" indent="-285750">
              <a:lnSpc>
                <a:spcPct val="150000"/>
              </a:lnSpc>
              <a:spcBef>
                <a:spcPct val="0"/>
              </a:spcBef>
              <a:spcAft>
                <a:spcPts val="800"/>
              </a:spcAft>
              <a:buFont typeface="Wingdings" panose="05000000000000000000" pitchFamily="2" charset="2"/>
              <a:buChar char="§"/>
            </a:pPr>
            <a:r>
              <a:rPr lang="en-GB" sz="1200" b="1" kern="100" dirty="0">
                <a:solidFill>
                  <a:schemeClr val="tx1"/>
                </a:solidFill>
                <a:latin typeface="Bahnschrift Light" panose="020B0502040204020203" pitchFamily="34" charset="0"/>
                <a:cs typeface="Times New Roman" panose="02020603050405020304" pitchFamily="18" charset="0"/>
              </a:rPr>
              <a:t>Ratios: </a:t>
            </a:r>
            <a:r>
              <a:rPr lang="en-GB" sz="1200" kern="100" dirty="0">
                <a:latin typeface="Bahnschrift Light" panose="020B0502040204020203" pitchFamily="34" charset="0"/>
                <a:cs typeface="Times New Roman" panose="02020603050405020304" pitchFamily="18" charset="0"/>
              </a:rPr>
              <a:t>R</a:t>
            </a:r>
            <a:r>
              <a:rPr lang="en-GB" sz="1200" kern="100" dirty="0">
                <a:solidFill>
                  <a:schemeClr val="tx1"/>
                </a:solidFill>
                <a:latin typeface="Bahnschrift Light" panose="020B0502040204020203" pitchFamily="34" charset="0"/>
                <a:cs typeface="Times New Roman" panose="02020603050405020304" pitchFamily="18" charset="0"/>
              </a:rPr>
              <a:t>evenue of 24%, Govt. demand G&amp;S of  26%, other expenditure of 5.5%, grants 2.5% and debt-creating deficit 5% of GDP (consistent with 45% NPV public debt)</a:t>
            </a:r>
            <a:endParaRPr lang="en-US" sz="1200" kern="100" dirty="0">
              <a:latin typeface="Bahnschrift Light" panose="020B0502040204020203" pitchFamily="34" charset="0"/>
              <a:cs typeface="Times New Roman" panose="02020603050405020304" pitchFamily="18" charset="0"/>
            </a:endParaRPr>
          </a:p>
          <a:p>
            <a:pPr marL="560387" lvl="2" indent="-285750">
              <a:lnSpc>
                <a:spcPct val="150000"/>
              </a:lnSpc>
              <a:spcBef>
                <a:spcPct val="0"/>
              </a:spcBef>
              <a:spcAft>
                <a:spcPts val="800"/>
              </a:spcAft>
              <a:buFont typeface="Wingdings" panose="05000000000000000000" pitchFamily="2" charset="2"/>
              <a:buChar char="§"/>
            </a:pPr>
            <a:r>
              <a:rPr lang="en-GB" sz="1200" kern="100" dirty="0">
                <a:latin typeface="Bahnschrift Light" panose="020B0502040204020203" pitchFamily="34" charset="0"/>
                <a:cs typeface="Times New Roman" panose="02020603050405020304" pitchFamily="18" charset="0"/>
              </a:rPr>
              <a:t>A</a:t>
            </a:r>
            <a:r>
              <a:rPr lang="en-GB" sz="1200" kern="100" dirty="0">
                <a:solidFill>
                  <a:schemeClr val="tx1"/>
                </a:solidFill>
                <a:latin typeface="Bahnschrift Light" panose="020B0502040204020203" pitchFamily="34" charset="0"/>
                <a:cs typeface="Times New Roman" panose="02020603050405020304" pitchFamily="18" charset="0"/>
              </a:rPr>
              <a:t>s revenue is slow to rise, debt-creating deficits are for a few years above sustainable, at 7%.</a:t>
            </a:r>
          </a:p>
          <a:p>
            <a:pPr marL="560387" lvl="2" indent="-285750">
              <a:lnSpc>
                <a:spcPct val="150000"/>
              </a:lnSpc>
              <a:spcBef>
                <a:spcPct val="0"/>
              </a:spcBef>
              <a:spcAft>
                <a:spcPts val="800"/>
              </a:spcAft>
              <a:buFont typeface="Wingdings" panose="05000000000000000000" pitchFamily="2" charset="2"/>
              <a:buChar char="§"/>
            </a:pPr>
            <a:r>
              <a:rPr lang="en-US" sz="1200" dirty="0">
                <a:latin typeface="Bahnschrift Light" panose="020B0502040204020203" pitchFamily="34" charset="0"/>
              </a:rPr>
              <a:t>Fiscal consolidation fading thereafter (returning to structural level) after 2026</a:t>
            </a:r>
          </a:p>
          <a:p>
            <a:pPr marL="560387" lvl="2" indent="-285750">
              <a:spcBef>
                <a:spcPct val="0"/>
              </a:spcBef>
              <a:spcAft>
                <a:spcPts val="800"/>
              </a:spcAft>
              <a:buFont typeface="Wingdings" panose="05000000000000000000" pitchFamily="2" charset="2"/>
              <a:buChar char="§"/>
            </a:pPr>
            <a:endParaRPr lang="en-RW" sz="1100" kern="100" dirty="0">
              <a:solidFill>
                <a:schemeClr val="tx1"/>
              </a:solidFill>
              <a:latin typeface="Bahnschrift Light" panose="020B0502040204020203" pitchFamily="34" charset="0"/>
              <a:cs typeface="Times New Roman" panose="02020603050405020304" pitchFamily="18" charset="0"/>
            </a:endParaRPr>
          </a:p>
        </p:txBody>
      </p:sp>
      <p:sp>
        <p:nvSpPr>
          <p:cNvPr id="4" name="Content Placeholder 2">
            <a:extLst>
              <a:ext uri="{FF2B5EF4-FFF2-40B4-BE49-F238E27FC236}">
                <a16:creationId xmlns:a16="http://schemas.microsoft.com/office/drawing/2014/main" id="{728DCE5C-B184-5784-80FB-8F6265A85C30}"/>
              </a:ext>
            </a:extLst>
          </p:cNvPr>
          <p:cNvSpPr txBox="1">
            <a:spLocks/>
          </p:cNvSpPr>
          <p:nvPr/>
        </p:nvSpPr>
        <p:spPr>
          <a:xfrm>
            <a:off x="533400" y="914400"/>
            <a:ext cx="11201400" cy="290899"/>
          </a:xfrm>
          <a:prstGeom prst="rect">
            <a:avLst/>
          </a:prstGeom>
          <a:ln>
            <a:solidFill>
              <a:schemeClr val="accent5">
                <a:lumMod val="20000"/>
                <a:lumOff val="80000"/>
              </a:schemeClr>
            </a:solidFill>
          </a:ln>
        </p:spPr>
        <p:txBody>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gn="just">
              <a:buNone/>
            </a:pPr>
            <a:r>
              <a:rPr lang="en-GB" sz="1100" i="1" dirty="0">
                <a:solidFill>
                  <a:srgbClr val="109351"/>
                </a:solidFill>
                <a:latin typeface="Bahnschrift" panose="020B0502040204020203" pitchFamily="34" charset="0"/>
              </a:rPr>
              <a:t>Budget deficit (spending—Govt. demand &amp; other expenditures and revenue) composed into structural, discretional and cyclical deficit to breakdown its effect on final demand</a:t>
            </a:r>
          </a:p>
        </p:txBody>
      </p:sp>
      <p:pic>
        <p:nvPicPr>
          <p:cNvPr id="6" name="Picture 5">
            <a:extLst>
              <a:ext uri="{FF2B5EF4-FFF2-40B4-BE49-F238E27FC236}">
                <a16:creationId xmlns:a16="http://schemas.microsoft.com/office/drawing/2014/main" id="{34042D8A-8961-1D0C-65C6-4F84C6C0592A}"/>
              </a:ext>
            </a:extLst>
          </p:cNvPr>
          <p:cNvPicPr>
            <a:picLocks noChangeAspect="1"/>
          </p:cNvPicPr>
          <p:nvPr/>
        </p:nvPicPr>
        <p:blipFill>
          <a:blip r:embed="rId3"/>
          <a:stretch>
            <a:fillRect/>
          </a:stretch>
        </p:blipFill>
        <p:spPr>
          <a:xfrm>
            <a:off x="7696200" y="1800327"/>
            <a:ext cx="4038600" cy="3960995"/>
          </a:xfrm>
          <a:prstGeom prst="rect">
            <a:avLst/>
          </a:prstGeom>
          <a:ln>
            <a:solidFill>
              <a:schemeClr val="accent5">
                <a:lumMod val="20000"/>
                <a:lumOff val="80000"/>
              </a:schemeClr>
            </a:solidFill>
          </a:ln>
        </p:spPr>
      </p:pic>
    </p:spTree>
    <p:extLst>
      <p:ext uri="{BB962C8B-B14F-4D97-AF65-F5344CB8AC3E}">
        <p14:creationId xmlns:p14="http://schemas.microsoft.com/office/powerpoint/2010/main" val="36175365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C1072-9CC2-F320-1EF2-B76F0FDEDCCC}"/>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8765158-3C40-A10C-7DA3-C9086C6C3B26}"/>
              </a:ext>
            </a:extLst>
          </p:cNvPr>
          <p:cNvSpPr>
            <a:spLocks noGrp="1"/>
          </p:cNvSpPr>
          <p:nvPr>
            <p:ph type="sldNum" sz="quarter" idx="12"/>
          </p:nvPr>
        </p:nvSpPr>
        <p:spPr/>
        <p:txBody>
          <a:bodyPr/>
          <a:lstStyle/>
          <a:p>
            <a:fld id="{D97AE203-F84D-4A7F-B161-8561326BE072}" type="slidenum">
              <a:rPr lang="en-US" smtClean="0"/>
              <a:pPr/>
              <a:t>17</a:t>
            </a:fld>
            <a:endParaRPr lang="en-US" dirty="0"/>
          </a:p>
        </p:txBody>
      </p:sp>
      <p:sp>
        <p:nvSpPr>
          <p:cNvPr id="2" name="Title 1">
            <a:extLst>
              <a:ext uri="{FF2B5EF4-FFF2-40B4-BE49-F238E27FC236}">
                <a16:creationId xmlns:a16="http://schemas.microsoft.com/office/drawing/2014/main" id="{8B2EE8DE-2A38-6DE0-0E91-EF4E3DDC6155}"/>
              </a:ext>
            </a:extLst>
          </p:cNvPr>
          <p:cNvSpPr>
            <a:spLocks noGrp="1"/>
          </p:cNvSpPr>
          <p:nvPr>
            <p:ph type="title" idx="4294967295"/>
          </p:nvPr>
        </p:nvSpPr>
        <p:spPr>
          <a:xfrm>
            <a:off x="2895600" y="190500"/>
            <a:ext cx="6934200" cy="598488"/>
          </a:xfrm>
        </p:spPr>
        <p:txBody>
          <a:bodyPr/>
          <a:lstStyle/>
          <a:p>
            <a:r>
              <a:rPr lang="en-GB" sz="2400" b="1" dirty="0">
                <a:solidFill>
                  <a:srgbClr val="008BCC"/>
                </a:solidFill>
                <a:latin typeface="Bahnschrift" panose="020B0502040204020203" pitchFamily="34" charset="0"/>
              </a:rPr>
              <a:t>Fiscal: Budget deficit compos</a:t>
            </a:r>
            <a:r>
              <a:rPr lang="en-GB" sz="2400" dirty="0">
                <a:solidFill>
                  <a:srgbClr val="008BCC"/>
                </a:solidFill>
              </a:rPr>
              <a:t>itions</a:t>
            </a:r>
            <a:endParaRPr lang="en-AE" sz="2400" b="1" dirty="0">
              <a:solidFill>
                <a:srgbClr val="008BCC"/>
              </a:solidFill>
              <a:latin typeface="Bahnschrift" panose="020B0502040204020203" pitchFamily="34" charset="0"/>
            </a:endParaRPr>
          </a:p>
        </p:txBody>
      </p:sp>
      <p:sp>
        <p:nvSpPr>
          <p:cNvPr id="4" name="Content Placeholder 2">
            <a:extLst>
              <a:ext uri="{FF2B5EF4-FFF2-40B4-BE49-F238E27FC236}">
                <a16:creationId xmlns:a16="http://schemas.microsoft.com/office/drawing/2014/main" id="{3AAA0ED7-79BF-0F6E-0DC3-8EBFC30C9FE9}"/>
              </a:ext>
            </a:extLst>
          </p:cNvPr>
          <p:cNvSpPr txBox="1">
            <a:spLocks/>
          </p:cNvSpPr>
          <p:nvPr/>
        </p:nvSpPr>
        <p:spPr>
          <a:xfrm>
            <a:off x="457199" y="904104"/>
            <a:ext cx="10828276" cy="290899"/>
          </a:xfrm>
          <a:prstGeom prst="rect">
            <a:avLst/>
          </a:prstGeom>
        </p:spPr>
        <p:txBody>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gn="just">
              <a:buNone/>
            </a:pPr>
            <a:r>
              <a:rPr lang="en-GB" sz="1100" i="1" dirty="0">
                <a:solidFill>
                  <a:srgbClr val="109351"/>
                </a:solidFill>
                <a:latin typeface="Bahnschrift" panose="020B0502040204020203" pitchFamily="34" charset="0"/>
              </a:rPr>
              <a:t>Govt expenditure (spending—Govt. demand &amp; other expenditures) composed into structural, discretional and cyclical deficit to breakdown its effect on final demand</a:t>
            </a:r>
          </a:p>
        </p:txBody>
      </p:sp>
      <p:pic>
        <p:nvPicPr>
          <p:cNvPr id="8" name="Picture 7">
            <a:extLst>
              <a:ext uri="{FF2B5EF4-FFF2-40B4-BE49-F238E27FC236}">
                <a16:creationId xmlns:a16="http://schemas.microsoft.com/office/drawing/2014/main" id="{E0ED0ADD-2C37-78F7-6A68-86B81DC0F127}"/>
              </a:ext>
            </a:extLst>
          </p:cNvPr>
          <p:cNvPicPr>
            <a:picLocks noChangeAspect="1"/>
          </p:cNvPicPr>
          <p:nvPr/>
        </p:nvPicPr>
        <p:blipFill>
          <a:blip r:embed="rId3"/>
          <a:stretch>
            <a:fillRect/>
          </a:stretch>
        </p:blipFill>
        <p:spPr>
          <a:xfrm>
            <a:off x="7772400" y="1177197"/>
            <a:ext cx="3513075" cy="2603627"/>
          </a:xfrm>
          <a:prstGeom prst="rect">
            <a:avLst/>
          </a:prstGeom>
          <a:ln>
            <a:solidFill>
              <a:schemeClr val="accent5">
                <a:lumMod val="20000"/>
                <a:lumOff val="80000"/>
              </a:schemeClr>
            </a:solidFill>
          </a:ln>
        </p:spPr>
      </p:pic>
      <p:pic>
        <p:nvPicPr>
          <p:cNvPr id="11" name="Picture 10">
            <a:extLst>
              <a:ext uri="{FF2B5EF4-FFF2-40B4-BE49-F238E27FC236}">
                <a16:creationId xmlns:a16="http://schemas.microsoft.com/office/drawing/2014/main" id="{B1A31B50-D26F-83A6-D340-694F9EA1784A}"/>
              </a:ext>
            </a:extLst>
          </p:cNvPr>
          <p:cNvPicPr>
            <a:picLocks noChangeAspect="1"/>
          </p:cNvPicPr>
          <p:nvPr/>
        </p:nvPicPr>
        <p:blipFill>
          <a:blip r:embed="rId4"/>
          <a:stretch>
            <a:fillRect/>
          </a:stretch>
        </p:blipFill>
        <p:spPr>
          <a:xfrm>
            <a:off x="7772400" y="3860480"/>
            <a:ext cx="3513075" cy="2516429"/>
          </a:xfrm>
          <a:prstGeom prst="rect">
            <a:avLst/>
          </a:prstGeom>
          <a:ln>
            <a:solidFill>
              <a:schemeClr val="accent5">
                <a:lumMod val="20000"/>
                <a:lumOff val="80000"/>
              </a:schemeClr>
            </a:solidFill>
          </a:ln>
        </p:spPr>
      </p:pic>
      <p:sp>
        <p:nvSpPr>
          <p:cNvPr id="5" name="Content Placeholder 2">
            <a:extLst>
              <a:ext uri="{FF2B5EF4-FFF2-40B4-BE49-F238E27FC236}">
                <a16:creationId xmlns:a16="http://schemas.microsoft.com/office/drawing/2014/main" id="{63E96B2C-DD9B-99FD-86D2-4D5B9FCF8016}"/>
              </a:ext>
            </a:extLst>
          </p:cNvPr>
          <p:cNvSpPr txBox="1">
            <a:spLocks/>
          </p:cNvSpPr>
          <p:nvPr/>
        </p:nvSpPr>
        <p:spPr>
          <a:xfrm>
            <a:off x="457200" y="1177197"/>
            <a:ext cx="7239000" cy="1794603"/>
          </a:xfrm>
          <a:prstGeom prst="rect">
            <a:avLst/>
          </a:prstGeom>
          <a:ln>
            <a:solidFill>
              <a:schemeClr val="accent5">
                <a:lumMod val="20000"/>
                <a:lumOff val="80000"/>
              </a:schemeClr>
            </a:solidFill>
          </a:ln>
        </p:spPr>
        <p:txBody>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lvl="1" indent="0">
              <a:spcBef>
                <a:spcPct val="0"/>
              </a:spcBef>
              <a:spcAft>
                <a:spcPts val="800"/>
              </a:spcAft>
              <a:buNone/>
            </a:pPr>
            <a:r>
              <a:rPr lang="en-US" sz="1200" b="1" kern="100" dirty="0">
                <a:solidFill>
                  <a:schemeClr val="tx1"/>
                </a:solidFill>
                <a:latin typeface="Bahnschrift" panose="020B0502040204020203" pitchFamily="34" charset="0"/>
                <a:cs typeface="Times New Roman" panose="02020603050405020304" pitchFamily="18" charset="0"/>
              </a:rPr>
              <a:t>Budget deficit (excl. grants, % GDP)</a:t>
            </a:r>
          </a:p>
          <a:p>
            <a:pPr marL="171450" lvl="1" indent="-171450">
              <a:spcBef>
                <a:spcPct val="0"/>
              </a:spcBef>
              <a:spcAft>
                <a:spcPts val="800"/>
              </a:spcAft>
              <a:buFont typeface="Wingdings" panose="05000000000000000000" pitchFamily="2" charset="2"/>
              <a:buChar char="§"/>
            </a:pPr>
            <a:r>
              <a:rPr lang="en-US" sz="1200" kern="100" dirty="0">
                <a:solidFill>
                  <a:schemeClr val="tx1"/>
                </a:solidFill>
                <a:latin typeface="Bahnschrift Light" panose="020B0502040204020203" pitchFamily="34" charset="0"/>
                <a:cs typeface="Times New Roman" panose="02020603050405020304" pitchFamily="18" charset="0"/>
              </a:rPr>
              <a:t>Assumed to follow PCI fiscal targets for 2024/25 and 2025/26 with deficit reductions by 2.4% and 2% of GDP, resp. (from an average level of 11.6% of GDP in 2022/23-2023/24). </a:t>
            </a:r>
          </a:p>
          <a:p>
            <a:pPr marL="171450" lvl="1" indent="-171450">
              <a:spcBef>
                <a:spcPct val="0"/>
              </a:spcBef>
              <a:spcAft>
                <a:spcPts val="800"/>
              </a:spcAft>
              <a:buFont typeface="Wingdings" panose="05000000000000000000" pitchFamily="2" charset="2"/>
              <a:buChar char="§"/>
            </a:pPr>
            <a:r>
              <a:rPr lang="en-US" sz="1200" dirty="0">
                <a:solidFill>
                  <a:schemeClr val="tx1"/>
                </a:solidFill>
                <a:latin typeface="Bahnschrift Light" panose="020B0502040204020203" pitchFamily="34" charset="0"/>
              </a:rPr>
              <a:t>After  2025/26, deficit assumed to gradually return toward sustainable level of 7.5% of GDP (compared to around 6% of GDP in post-PCI program projection).</a:t>
            </a:r>
          </a:p>
          <a:p>
            <a:pPr marL="171450" lvl="1" indent="-171450">
              <a:spcBef>
                <a:spcPct val="0"/>
              </a:spcBef>
              <a:spcAft>
                <a:spcPts val="800"/>
              </a:spcAft>
              <a:buFont typeface="Wingdings" panose="05000000000000000000" pitchFamily="2" charset="2"/>
              <a:buChar char="§"/>
            </a:pPr>
            <a:r>
              <a:rPr lang="en-US" sz="1200" dirty="0">
                <a:solidFill>
                  <a:schemeClr val="tx1"/>
                </a:solidFill>
                <a:latin typeface="Bahnschrift Light" panose="020B0502040204020203" pitchFamily="34" charset="0"/>
              </a:rPr>
              <a:t>Large negative effect on demand slowing down output growth in 2025-26, which ends in late 2026 when deficit moves back up to its sustainable level and output growth returns to steady state.. </a:t>
            </a:r>
          </a:p>
        </p:txBody>
      </p:sp>
      <p:sp>
        <p:nvSpPr>
          <p:cNvPr id="7" name="TextBox 6">
            <a:extLst>
              <a:ext uri="{FF2B5EF4-FFF2-40B4-BE49-F238E27FC236}">
                <a16:creationId xmlns:a16="http://schemas.microsoft.com/office/drawing/2014/main" id="{3B6E9F43-CC9B-7C11-E75C-FBE9D07C8759}"/>
              </a:ext>
            </a:extLst>
          </p:cNvPr>
          <p:cNvSpPr txBox="1"/>
          <p:nvPr/>
        </p:nvSpPr>
        <p:spPr>
          <a:xfrm>
            <a:off x="457200" y="3184481"/>
            <a:ext cx="7239000" cy="1167884"/>
          </a:xfrm>
          <a:prstGeom prst="rect">
            <a:avLst/>
          </a:prstGeom>
          <a:noFill/>
          <a:ln>
            <a:solidFill>
              <a:schemeClr val="accent5">
                <a:lumMod val="20000"/>
                <a:lumOff val="80000"/>
              </a:schemeClr>
            </a:solidFill>
          </a:ln>
        </p:spPr>
        <p:txBody>
          <a:bodyPr wrap="square" rtlCol="0">
            <a:spAutoFit/>
          </a:bodyPr>
          <a:lstStyle/>
          <a:p>
            <a:pPr>
              <a:lnSpc>
                <a:spcPct val="150000"/>
              </a:lnSpc>
            </a:pPr>
            <a:r>
              <a:rPr lang="en-US" sz="1200" b="1" dirty="0">
                <a:latin typeface="Bahnschrift" panose="020B0502040204020203" pitchFamily="34" charset="0"/>
              </a:rPr>
              <a:t>Government demand of G&amp;S (% of GDP)</a:t>
            </a:r>
          </a:p>
          <a:p>
            <a:pPr marL="171450" indent="-171450">
              <a:lnSpc>
                <a:spcPct val="150000"/>
              </a:lnSpc>
              <a:buFont typeface="Wingdings" panose="05000000000000000000" pitchFamily="2" charset="2"/>
              <a:buChar char="§"/>
            </a:pPr>
            <a:r>
              <a:rPr lang="en-US" sz="1200" kern="100" dirty="0">
                <a:solidFill>
                  <a:schemeClr val="tx1"/>
                </a:solidFill>
                <a:latin typeface="Bahnschrift Light" panose="020B0502040204020203" pitchFamily="34" charset="0"/>
                <a:cs typeface="Times New Roman" panose="02020603050405020304" pitchFamily="18" charset="0"/>
              </a:rPr>
              <a:t>With two-thirds of deficit reduction coming from spending (current, development), govt demand for G&amp;S is forecast below trend, with downward pressure on demand.</a:t>
            </a:r>
            <a:endParaRPr lang="en-RW" sz="1200" kern="100" dirty="0">
              <a:solidFill>
                <a:schemeClr val="tx1"/>
              </a:solidFill>
              <a:latin typeface="Bahnschrift Light" panose="020B0502040204020203" pitchFamily="34" charset="0"/>
              <a:cs typeface="Times New Roman" panose="02020603050405020304" pitchFamily="18" charset="0"/>
            </a:endParaRPr>
          </a:p>
          <a:p>
            <a:pPr marL="171450" indent="-171450">
              <a:lnSpc>
                <a:spcPct val="150000"/>
              </a:lnSpc>
              <a:buFont typeface="Wingdings" panose="05000000000000000000" pitchFamily="2" charset="2"/>
              <a:buChar char="§"/>
            </a:pPr>
            <a:r>
              <a:rPr lang="en-US" sz="1200" dirty="0">
                <a:latin typeface="Bahnschrift Light" panose="020B0502040204020203" pitchFamily="34" charset="0"/>
              </a:rPr>
              <a:t>From late 2026, govt demand for G&amp;S returns to sustainable path, ending negative effect on demand.</a:t>
            </a:r>
            <a:endParaRPr lang="en-US" sz="1200" i="1" dirty="0">
              <a:latin typeface="Bahnschrift Light" panose="020B0502040204020203" pitchFamily="34" charset="0"/>
            </a:endParaRPr>
          </a:p>
        </p:txBody>
      </p:sp>
      <p:sp>
        <p:nvSpPr>
          <p:cNvPr id="9" name="TextBox 8">
            <a:extLst>
              <a:ext uri="{FF2B5EF4-FFF2-40B4-BE49-F238E27FC236}">
                <a16:creationId xmlns:a16="http://schemas.microsoft.com/office/drawing/2014/main" id="{D82C056A-ECAF-A9DE-41D7-1E6E9E3D2DA9}"/>
              </a:ext>
            </a:extLst>
          </p:cNvPr>
          <p:cNvSpPr txBox="1"/>
          <p:nvPr/>
        </p:nvSpPr>
        <p:spPr>
          <a:xfrm>
            <a:off x="457199" y="4953000"/>
            <a:ext cx="7200899" cy="1162754"/>
          </a:xfrm>
          <a:prstGeom prst="rect">
            <a:avLst/>
          </a:prstGeom>
          <a:noFill/>
          <a:ln>
            <a:solidFill>
              <a:schemeClr val="accent5">
                <a:lumMod val="20000"/>
                <a:lumOff val="80000"/>
              </a:schemeClr>
            </a:solidFill>
          </a:ln>
        </p:spPr>
        <p:txBody>
          <a:bodyPr wrap="square">
            <a:spAutoFit/>
          </a:bodyPr>
          <a:lstStyle/>
          <a:p>
            <a:pPr marL="0" marR="0">
              <a:lnSpc>
                <a:spcPct val="150000"/>
              </a:lnSpc>
              <a:spcAft>
                <a:spcPts val="0"/>
              </a:spcAft>
            </a:pPr>
            <a:r>
              <a:rPr lang="en-US" sz="1200" b="1" kern="100" dirty="0">
                <a:latin typeface="Bahnschrift" panose="020B0502040204020203" pitchFamily="34" charset="0"/>
                <a:cs typeface="Times New Roman" panose="02020603050405020304" pitchFamily="18" charset="0"/>
              </a:rPr>
              <a:t>Fiscal “rule” for deficit path after PCI</a:t>
            </a:r>
            <a:endParaRPr lang="en-US" sz="1200" b="0" dirty="0">
              <a:latin typeface="Bahnschrift" panose="020B0502040204020203" pitchFamily="34" charset="0"/>
            </a:endParaRPr>
          </a:p>
          <a:p>
            <a:pPr marR="0">
              <a:lnSpc>
                <a:spcPct val="150000"/>
              </a:lnSpc>
              <a:spcAft>
                <a:spcPts val="0"/>
              </a:spcAft>
            </a:pPr>
            <a:r>
              <a:rPr lang="en-US" sz="1200" dirty="0">
                <a:latin typeface="Bahnschrift Light" panose="020B0502040204020203" pitchFamily="34" charset="0"/>
              </a:rPr>
              <a:t>Sustainable deficit (driven by sustainable PV debt of 70% of GDP, “strong debt-carrying capacity) 7.5% of GDP, with revenue 24%, spending G&amp;S 26%, and other spending 5.5% of GDP (assuming sustainable grants 2.5% of GDP, real growth 7.5%, domestic debt 15%).</a:t>
            </a:r>
            <a:endParaRPr lang="en-US" sz="1200" kern="100" dirty="0">
              <a:latin typeface="Bahnschrift Light" panose="020B0502040204020203" pitchFamily="34" charset="0"/>
              <a:cs typeface="Times New Roman" panose="02020603050405020304" pitchFamily="18" charset="0"/>
            </a:endParaRPr>
          </a:p>
        </p:txBody>
      </p:sp>
    </p:spTree>
    <p:extLst>
      <p:ext uri="{BB962C8B-B14F-4D97-AF65-F5344CB8AC3E}">
        <p14:creationId xmlns:p14="http://schemas.microsoft.com/office/powerpoint/2010/main" val="31761883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AECA724-04CE-0978-4E96-A52B52FFCBB7}"/>
              </a:ext>
            </a:extLst>
          </p:cNvPr>
          <p:cNvSpPr>
            <a:spLocks noGrp="1"/>
          </p:cNvSpPr>
          <p:nvPr>
            <p:ph type="sldNum" sz="quarter" idx="12"/>
          </p:nvPr>
        </p:nvSpPr>
        <p:spPr/>
        <p:txBody>
          <a:bodyPr/>
          <a:lstStyle/>
          <a:p>
            <a:fld id="{D97AE203-F84D-4A7F-B161-8561326BE072}" type="slidenum">
              <a:rPr lang="en-US" smtClean="0"/>
              <a:pPr/>
              <a:t>18</a:t>
            </a:fld>
            <a:endParaRPr lang="en-US" dirty="0"/>
          </a:p>
        </p:txBody>
      </p:sp>
      <p:sp>
        <p:nvSpPr>
          <p:cNvPr id="2" name="Title 1">
            <a:extLst>
              <a:ext uri="{FF2B5EF4-FFF2-40B4-BE49-F238E27FC236}">
                <a16:creationId xmlns:a16="http://schemas.microsoft.com/office/drawing/2014/main" id="{F522B948-3F28-94A0-AFF9-22D3A186313C}"/>
              </a:ext>
            </a:extLst>
          </p:cNvPr>
          <p:cNvSpPr>
            <a:spLocks noGrp="1"/>
          </p:cNvSpPr>
          <p:nvPr>
            <p:ph type="title" idx="4294967295"/>
          </p:nvPr>
        </p:nvSpPr>
        <p:spPr>
          <a:xfrm>
            <a:off x="2819400" y="238125"/>
            <a:ext cx="6934200" cy="609600"/>
          </a:xfrm>
        </p:spPr>
        <p:txBody>
          <a:bodyPr/>
          <a:lstStyle/>
          <a:p>
            <a:r>
              <a:rPr lang="en-GB" sz="2400" b="1" dirty="0">
                <a:solidFill>
                  <a:srgbClr val="008BCC"/>
                </a:solidFill>
                <a:latin typeface="Bahnschrift" panose="020B0502040204020203" pitchFamily="34" charset="0"/>
              </a:rPr>
              <a:t>Inflation: Headline CPI and components </a:t>
            </a:r>
            <a:endParaRPr lang="en-AE" sz="2400" b="1" dirty="0">
              <a:solidFill>
                <a:srgbClr val="008BCC"/>
              </a:solidFill>
              <a:latin typeface="Bahnschrift" panose="020B0502040204020203" pitchFamily="34" charset="0"/>
            </a:endParaRPr>
          </a:p>
        </p:txBody>
      </p:sp>
      <p:sp>
        <p:nvSpPr>
          <p:cNvPr id="11" name="TextBox 10">
            <a:extLst>
              <a:ext uri="{FF2B5EF4-FFF2-40B4-BE49-F238E27FC236}">
                <a16:creationId xmlns:a16="http://schemas.microsoft.com/office/drawing/2014/main" id="{46B9D025-CC2E-BA46-942B-5C53E9D9632B}"/>
              </a:ext>
            </a:extLst>
          </p:cNvPr>
          <p:cNvSpPr txBox="1"/>
          <p:nvPr/>
        </p:nvSpPr>
        <p:spPr>
          <a:xfrm>
            <a:off x="609599" y="1306829"/>
            <a:ext cx="5003799" cy="4544834"/>
          </a:xfrm>
          <a:prstGeom prst="rect">
            <a:avLst/>
          </a:prstGeom>
          <a:noFill/>
          <a:ln>
            <a:solidFill>
              <a:schemeClr val="accent5">
                <a:lumMod val="20000"/>
                <a:lumOff val="80000"/>
              </a:schemeClr>
            </a:solidFill>
          </a:ln>
        </p:spPr>
        <p:txBody>
          <a:bodyPr wrap="square">
            <a:spAutoFit/>
          </a:bodyPr>
          <a:lstStyle/>
          <a:p>
            <a:pPr marL="0" marR="0">
              <a:spcAft>
                <a:spcPts val="800"/>
              </a:spcAft>
            </a:pPr>
            <a:r>
              <a:rPr lang="en-US" sz="1200" b="1" kern="100" dirty="0">
                <a:latin typeface="Bahnschrift" panose="020B0502040204020203" pitchFamily="34" charset="0"/>
                <a:ea typeface="Aptos" panose="020B0004020202020204" pitchFamily="34" charset="0"/>
                <a:cs typeface="Times New Roman" panose="02020603050405020304" pitchFamily="18" charset="0"/>
              </a:rPr>
              <a:t>Headline inflation </a:t>
            </a:r>
            <a:r>
              <a:rPr lang="en-US" sz="1200" b="1" kern="100" dirty="0">
                <a:effectLst/>
                <a:latin typeface="Bahnschrift" panose="020B0502040204020203" pitchFamily="34" charset="0"/>
                <a:ea typeface="Aptos" panose="020B0004020202020204" pitchFamily="34" charset="0"/>
                <a:cs typeface="Times New Roman" panose="02020603050405020304" pitchFamily="18" charset="0"/>
              </a:rPr>
              <a:t>(period average) is expected to </a:t>
            </a:r>
            <a:r>
              <a:rPr lang="en-US" sz="1200" kern="100" dirty="0">
                <a:effectLst/>
                <a:latin typeface="Bahnschrift" panose="020B0502040204020203" pitchFamily="34" charset="0"/>
                <a:ea typeface="Aptos" panose="020B0004020202020204" pitchFamily="34" charset="0"/>
                <a:cs typeface="Times New Roman" panose="02020603050405020304" pitchFamily="18" charset="0"/>
              </a:rPr>
              <a:t>be</a:t>
            </a:r>
            <a:r>
              <a:rPr lang="en-US" sz="1200" b="1" kern="100" dirty="0">
                <a:effectLst/>
                <a:latin typeface="Bahnschrift" panose="020B0502040204020203" pitchFamily="34" charset="0"/>
                <a:ea typeface="Aptos" panose="020B0004020202020204" pitchFamily="34" charset="0"/>
                <a:cs typeface="Times New Roman" panose="02020603050405020304" pitchFamily="18" charset="0"/>
              </a:rPr>
              <a:t> </a:t>
            </a:r>
            <a:r>
              <a:rPr lang="en-US" sz="1200" kern="100" dirty="0">
                <a:effectLst/>
                <a:latin typeface="Bahnschrift" panose="020B0502040204020203" pitchFamily="34" charset="0"/>
                <a:ea typeface="Aptos" panose="020B0004020202020204" pitchFamily="34" charset="0"/>
                <a:cs typeface="Times New Roman" panose="02020603050405020304" pitchFamily="18" charset="0"/>
              </a:rPr>
              <a:t>subdued</a:t>
            </a:r>
            <a:r>
              <a:rPr lang="en-US" sz="1200" kern="100" dirty="0">
                <a:latin typeface="Bahnschrift" panose="020B0502040204020203" pitchFamily="34" charset="0"/>
                <a:ea typeface="Aptos" panose="020B0004020202020204" pitchFamily="34" charset="0"/>
                <a:cs typeface="Times New Roman" panose="02020603050405020304" pitchFamily="18" charset="0"/>
              </a:rPr>
              <a:t> </a:t>
            </a:r>
            <a:r>
              <a:rPr lang="en-US" sz="1200" kern="100" dirty="0">
                <a:effectLst/>
                <a:latin typeface="Bahnschrift" panose="020B0502040204020203" pitchFamily="34" charset="0"/>
                <a:ea typeface="Aptos" panose="020B0004020202020204" pitchFamily="34" charset="0"/>
                <a:cs typeface="Times New Roman" panose="02020603050405020304" pitchFamily="18" charset="0"/>
              </a:rPr>
              <a:t>below 5% until 2027</a:t>
            </a:r>
            <a:r>
              <a:rPr lang="en-US" sz="1200" kern="100" dirty="0">
                <a:latin typeface="Bahnschrift" panose="020B0502040204020203" pitchFamily="34" charset="0"/>
                <a:ea typeface="Aptos" panose="020B0004020202020204" pitchFamily="34" charset="0"/>
                <a:cs typeface="Times New Roman" panose="02020603050405020304" pitchFamily="18" charset="0"/>
              </a:rPr>
              <a:t> </a:t>
            </a:r>
            <a:r>
              <a:rPr lang="en-US" sz="1200" kern="100" dirty="0">
                <a:effectLst/>
                <a:latin typeface="Bahnschrift" panose="020B0502040204020203" pitchFamily="34" charset="0"/>
                <a:ea typeface="Aptos" panose="020B0004020202020204" pitchFamily="34" charset="0"/>
                <a:cs typeface="Times New Roman" panose="02020603050405020304" pitchFamily="18" charset="0"/>
              </a:rPr>
              <a:t>before a gradual return to target of 5% in 2028 d</a:t>
            </a:r>
            <a:r>
              <a:rPr lang="en-US" sz="1200" kern="100" dirty="0">
                <a:latin typeface="Bahnschrift" panose="020B0502040204020203" pitchFamily="34" charset="0"/>
                <a:ea typeface="Aptos" panose="020B0004020202020204" pitchFamily="34" charset="0"/>
                <a:cs typeface="Times New Roman" panose="02020603050405020304" pitchFamily="18" charset="0"/>
              </a:rPr>
              <a:t>riven</a:t>
            </a:r>
            <a:r>
              <a:rPr lang="en-US" sz="1200" kern="100" dirty="0">
                <a:effectLst/>
                <a:latin typeface="Bahnschrift" panose="020B0502040204020203" pitchFamily="34" charset="0"/>
                <a:ea typeface="Aptos" panose="020B0004020202020204" pitchFamily="34" charset="0"/>
                <a:cs typeface="Times New Roman" panose="02020603050405020304" pitchFamily="18" charset="0"/>
              </a:rPr>
              <a:t>:</a:t>
            </a:r>
            <a:endParaRPr lang="en-RW" sz="1200" kern="100" dirty="0">
              <a:effectLst/>
              <a:latin typeface="Bahnschrift" panose="020B0502040204020203" pitchFamily="34" charset="0"/>
              <a:ea typeface="Aptos" panose="020B0004020202020204" pitchFamily="34" charset="0"/>
              <a:cs typeface="Times New Roman" panose="02020603050405020304" pitchFamily="18" charset="0"/>
            </a:endParaRPr>
          </a:p>
          <a:p>
            <a:pPr marL="285750" marR="0" indent="-285750">
              <a:spcAft>
                <a:spcPts val="800"/>
              </a:spcAft>
              <a:buFont typeface="Wingdings" panose="05000000000000000000" pitchFamily="2" charset="2"/>
              <a:buChar char="§"/>
            </a:pPr>
            <a:r>
              <a:rPr lang="en-US" sz="1200" kern="100" dirty="0">
                <a:latin typeface="Bahnschrift Light" panose="020B0502040204020203" pitchFamily="34" charset="0"/>
                <a:ea typeface="Aptos" panose="020B0004020202020204" pitchFamily="34" charset="0"/>
                <a:cs typeface="Times New Roman" panose="02020603050405020304" pitchFamily="18" charset="0"/>
              </a:rPr>
              <a:t>Recent </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drop in food, energy and core inflation followed by </a:t>
            </a:r>
            <a:r>
              <a:rPr lang="en-US" sz="1200" kern="100" dirty="0">
                <a:latin typeface="Bahnschrift Light" panose="020B0502040204020203" pitchFamily="34" charset="0"/>
                <a:ea typeface="Aptos" panose="020B0004020202020204" pitchFamily="34" charset="0"/>
                <a:cs typeface="Times New Roman" panose="02020603050405020304" pitchFamily="18" charset="0"/>
              </a:rPr>
              <a:t>a </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reversal in 2023-24 of earlier positive price shocks</a:t>
            </a:r>
          </a:p>
          <a:p>
            <a:pPr marL="285750" marR="0" indent="-285750">
              <a:spcAft>
                <a:spcPts val="800"/>
              </a:spcAft>
              <a:buFont typeface="Wingdings" panose="05000000000000000000" pitchFamily="2" charset="2"/>
              <a:buChar char="§"/>
            </a:pP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Demand-restraining policies</a:t>
            </a:r>
            <a:r>
              <a:rPr lang="en-US" sz="1200" kern="100" dirty="0">
                <a:latin typeface="Bahnschrift Light" panose="020B0502040204020203" pitchFamily="34" charset="0"/>
                <a:ea typeface="Aptos" panose="020B0004020202020204" pitchFamily="34" charset="0"/>
                <a:cs typeface="Times New Roman" panose="02020603050405020304" pitchFamily="18" charset="0"/>
              </a:rPr>
              <a:t> (i.e., tight interest rates and fiscal consolidation policy)</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a:t>
            </a:r>
          </a:p>
          <a:p>
            <a:pPr marL="0" marR="0">
              <a:spcAft>
                <a:spcPts val="800"/>
              </a:spcAft>
            </a:pPr>
            <a:r>
              <a:rPr lang="en-US" sz="1200" b="1" kern="100" dirty="0">
                <a:latin typeface="Bahnschrift" panose="020B0502040204020203" pitchFamily="34" charset="0"/>
                <a:cs typeface="Times New Roman" panose="02020603050405020304" pitchFamily="18" charset="0"/>
              </a:rPr>
              <a:t>2025-27—well below 5%:</a:t>
            </a:r>
            <a:endParaRPr lang="en-RW" sz="1200" b="1" kern="100" dirty="0">
              <a:latin typeface="Bahnschrift" panose="020B0502040204020203" pitchFamily="34" charset="0"/>
              <a:cs typeface="Times New Roman" panose="02020603050405020304" pitchFamily="18" charset="0"/>
            </a:endParaRPr>
          </a:p>
          <a:p>
            <a:pPr marL="285750" lvl="0" indent="-285750">
              <a:spcAft>
                <a:spcPts val="80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effect of increasing RIR and large negative fiscal impulse on demand, hence output</a:t>
            </a:r>
          </a:p>
          <a:p>
            <a:pPr marL="285750" lvl="0" indent="-285750">
              <a:spcAft>
                <a:spcPts val="80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continued drop in food prices as agriculture returns to normal</a:t>
            </a:r>
          </a:p>
          <a:p>
            <a:pPr marL="285750" lvl="0" indent="-285750">
              <a:spcAft>
                <a:spcPts val="80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still low trading partner prices, and a small drop in world energy and food prices</a:t>
            </a:r>
          </a:p>
          <a:p>
            <a:pPr marL="285750" lvl="0" indent="-285750">
              <a:spcAft>
                <a:spcPts val="80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somewhat offset by the CPI-increasing effect of nominal ER depreciation on import prices</a:t>
            </a:r>
            <a:endParaRPr lang="en-RW" sz="1200" kern="100" dirty="0">
              <a:latin typeface="Bahnschrift Light" panose="020B0502040204020203" pitchFamily="34" charset="0"/>
              <a:cs typeface="Times New Roman" panose="02020603050405020304" pitchFamily="18" charset="0"/>
            </a:endParaRPr>
          </a:p>
          <a:p>
            <a:pPr>
              <a:spcAft>
                <a:spcPts val="800"/>
              </a:spcAft>
            </a:pPr>
            <a:r>
              <a:rPr lang="en-US" sz="1200" b="1" kern="100" dirty="0">
                <a:latin typeface="Bahnschrift" panose="020B0502040204020203" pitchFamily="34" charset="0"/>
                <a:cs typeface="Times New Roman" panose="02020603050405020304" pitchFamily="18" charset="0"/>
              </a:rPr>
              <a:t>2028 onward—return to target:      </a:t>
            </a:r>
            <a:endParaRPr lang="en-RW" sz="1200" b="1" kern="100" dirty="0">
              <a:latin typeface="Bahnschrift" panose="020B0502040204020203" pitchFamily="34" charset="0"/>
              <a:cs typeface="Times New Roman" panose="02020603050405020304" pitchFamily="18" charset="0"/>
            </a:endParaRPr>
          </a:p>
          <a:p>
            <a:pPr marL="285750" marR="0" indent="-285750">
              <a:spcAft>
                <a:spcPts val="80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Govt demand pick up (as consolidation stops post-PCI)</a:t>
            </a:r>
            <a:endParaRPr lang="en-RW" sz="1200" kern="100" dirty="0">
              <a:latin typeface="Bahnschrift Light" panose="020B0502040204020203" pitchFamily="34" charset="0"/>
              <a:cs typeface="Times New Roman" panose="02020603050405020304" pitchFamily="18" charset="0"/>
            </a:endParaRPr>
          </a:p>
          <a:p>
            <a:pPr marL="285750" marR="0" indent="-285750">
              <a:spcAft>
                <a:spcPts val="80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Other demand components return to normal</a:t>
            </a:r>
            <a:endParaRPr lang="en-RW" sz="1200" kern="100" dirty="0">
              <a:latin typeface="Bahnschrift Light" panose="020B0502040204020203" pitchFamily="34" charset="0"/>
              <a:cs typeface="Times New Roman" panose="02020603050405020304" pitchFamily="18" charset="0"/>
            </a:endParaRPr>
          </a:p>
          <a:p>
            <a:pPr marL="285750" marR="0" indent="-285750">
              <a:spcAft>
                <a:spcPts val="80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Interest rate policies push inflation back to target</a:t>
            </a:r>
          </a:p>
        </p:txBody>
      </p:sp>
      <p:pic>
        <p:nvPicPr>
          <p:cNvPr id="19" name="Picture 18">
            <a:extLst>
              <a:ext uri="{FF2B5EF4-FFF2-40B4-BE49-F238E27FC236}">
                <a16:creationId xmlns:a16="http://schemas.microsoft.com/office/drawing/2014/main" id="{7269B86C-FDF8-F8C3-FDA6-63BA7EB6302A}"/>
              </a:ext>
            </a:extLst>
          </p:cNvPr>
          <p:cNvPicPr>
            <a:picLocks noChangeAspect="1"/>
          </p:cNvPicPr>
          <p:nvPr/>
        </p:nvPicPr>
        <p:blipFill>
          <a:blip r:embed="rId3"/>
          <a:stretch>
            <a:fillRect/>
          </a:stretch>
        </p:blipFill>
        <p:spPr>
          <a:xfrm>
            <a:off x="5715000" y="1306829"/>
            <a:ext cx="3048000" cy="2633891"/>
          </a:xfrm>
          <a:prstGeom prst="rect">
            <a:avLst/>
          </a:prstGeom>
          <a:ln>
            <a:solidFill>
              <a:schemeClr val="accent5">
                <a:lumMod val="20000"/>
                <a:lumOff val="80000"/>
              </a:schemeClr>
            </a:solidFill>
          </a:ln>
        </p:spPr>
      </p:pic>
      <p:pic>
        <p:nvPicPr>
          <p:cNvPr id="5" name="Picture 4">
            <a:extLst>
              <a:ext uri="{FF2B5EF4-FFF2-40B4-BE49-F238E27FC236}">
                <a16:creationId xmlns:a16="http://schemas.microsoft.com/office/drawing/2014/main" id="{2F33B6F9-3328-F7CA-D1C6-95084B309530}"/>
              </a:ext>
            </a:extLst>
          </p:cNvPr>
          <p:cNvPicPr>
            <a:picLocks noChangeAspect="1"/>
          </p:cNvPicPr>
          <p:nvPr/>
        </p:nvPicPr>
        <p:blipFill>
          <a:blip r:embed="rId4"/>
          <a:stretch>
            <a:fillRect/>
          </a:stretch>
        </p:blipFill>
        <p:spPr>
          <a:xfrm>
            <a:off x="8864600" y="1306829"/>
            <a:ext cx="2870200" cy="2633891"/>
          </a:xfrm>
          <a:prstGeom prst="rect">
            <a:avLst/>
          </a:prstGeom>
          <a:ln>
            <a:solidFill>
              <a:schemeClr val="accent5">
                <a:lumMod val="20000"/>
                <a:lumOff val="80000"/>
              </a:schemeClr>
            </a:solidFill>
          </a:ln>
        </p:spPr>
      </p:pic>
      <p:pic>
        <p:nvPicPr>
          <p:cNvPr id="7" name="Picture 6">
            <a:extLst>
              <a:ext uri="{FF2B5EF4-FFF2-40B4-BE49-F238E27FC236}">
                <a16:creationId xmlns:a16="http://schemas.microsoft.com/office/drawing/2014/main" id="{FC20914D-8F5B-F8DA-62AD-2943AC25E795}"/>
              </a:ext>
            </a:extLst>
          </p:cNvPr>
          <p:cNvPicPr>
            <a:picLocks noChangeAspect="1"/>
          </p:cNvPicPr>
          <p:nvPr/>
        </p:nvPicPr>
        <p:blipFill>
          <a:blip r:embed="rId5"/>
          <a:stretch>
            <a:fillRect/>
          </a:stretch>
        </p:blipFill>
        <p:spPr>
          <a:xfrm>
            <a:off x="5714999" y="4038600"/>
            <a:ext cx="3048001" cy="2438400"/>
          </a:xfrm>
          <a:prstGeom prst="rect">
            <a:avLst/>
          </a:prstGeom>
          <a:ln>
            <a:solidFill>
              <a:schemeClr val="accent5">
                <a:lumMod val="20000"/>
                <a:lumOff val="80000"/>
              </a:schemeClr>
            </a:solidFill>
          </a:ln>
        </p:spPr>
      </p:pic>
      <p:pic>
        <p:nvPicPr>
          <p:cNvPr id="10" name="Picture 9">
            <a:extLst>
              <a:ext uri="{FF2B5EF4-FFF2-40B4-BE49-F238E27FC236}">
                <a16:creationId xmlns:a16="http://schemas.microsoft.com/office/drawing/2014/main" id="{F5542E1F-415A-9709-0A4F-3CFD0E3FEEEB}"/>
              </a:ext>
            </a:extLst>
          </p:cNvPr>
          <p:cNvPicPr>
            <a:picLocks noChangeAspect="1"/>
          </p:cNvPicPr>
          <p:nvPr/>
        </p:nvPicPr>
        <p:blipFill>
          <a:blip r:embed="rId6"/>
          <a:stretch>
            <a:fillRect/>
          </a:stretch>
        </p:blipFill>
        <p:spPr>
          <a:xfrm>
            <a:off x="8847665" y="4038600"/>
            <a:ext cx="2887135" cy="2438400"/>
          </a:xfrm>
          <a:prstGeom prst="rect">
            <a:avLst/>
          </a:prstGeom>
          <a:ln>
            <a:solidFill>
              <a:schemeClr val="accent5">
                <a:lumMod val="20000"/>
                <a:lumOff val="80000"/>
              </a:schemeClr>
            </a:solidFill>
          </a:ln>
        </p:spPr>
      </p:pic>
    </p:spTree>
    <p:extLst>
      <p:ext uri="{BB962C8B-B14F-4D97-AF65-F5344CB8AC3E}">
        <p14:creationId xmlns:p14="http://schemas.microsoft.com/office/powerpoint/2010/main" val="8775595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693A2E-363D-1D2D-E820-83FCF32AA33C}"/>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58EA807-898D-90E8-2F12-03F3205FA806}"/>
              </a:ext>
            </a:extLst>
          </p:cNvPr>
          <p:cNvSpPr>
            <a:spLocks noGrp="1"/>
          </p:cNvSpPr>
          <p:nvPr>
            <p:ph type="sldNum" sz="quarter" idx="12"/>
          </p:nvPr>
        </p:nvSpPr>
        <p:spPr/>
        <p:txBody>
          <a:bodyPr/>
          <a:lstStyle/>
          <a:p>
            <a:fld id="{D97AE203-F84D-4A7F-B161-8561326BE072}" type="slidenum">
              <a:rPr lang="en-US" smtClean="0"/>
              <a:pPr/>
              <a:t>19</a:t>
            </a:fld>
            <a:endParaRPr lang="en-US" dirty="0"/>
          </a:p>
        </p:txBody>
      </p:sp>
      <p:sp>
        <p:nvSpPr>
          <p:cNvPr id="2" name="Title 1">
            <a:extLst>
              <a:ext uri="{FF2B5EF4-FFF2-40B4-BE49-F238E27FC236}">
                <a16:creationId xmlns:a16="http://schemas.microsoft.com/office/drawing/2014/main" id="{C138AE88-1DDE-E633-6622-331867877A74}"/>
              </a:ext>
            </a:extLst>
          </p:cNvPr>
          <p:cNvSpPr>
            <a:spLocks noGrp="1"/>
          </p:cNvSpPr>
          <p:nvPr>
            <p:ph type="title" idx="4294967295"/>
          </p:nvPr>
        </p:nvSpPr>
        <p:spPr>
          <a:xfrm>
            <a:off x="3111858" y="304800"/>
            <a:ext cx="6870342" cy="598488"/>
          </a:xfrm>
        </p:spPr>
        <p:txBody>
          <a:bodyPr/>
          <a:lstStyle/>
          <a:p>
            <a:r>
              <a:rPr lang="en-US" sz="2400" b="1" dirty="0">
                <a:solidFill>
                  <a:srgbClr val="008BCC"/>
                </a:solidFill>
                <a:latin typeface="Bahnschrift" panose="020B0502040204020203" pitchFamily="34" charset="0"/>
              </a:rPr>
              <a:t>Fiscal impulse and its effect on private demand</a:t>
            </a:r>
            <a:endParaRPr lang="en-AE" sz="2400" b="1" dirty="0">
              <a:solidFill>
                <a:srgbClr val="008BCC"/>
              </a:solidFill>
              <a:latin typeface="Bahnschrift" panose="020B0502040204020203" pitchFamily="34" charset="0"/>
            </a:endParaRPr>
          </a:p>
        </p:txBody>
      </p:sp>
      <p:sp>
        <p:nvSpPr>
          <p:cNvPr id="5" name="TextBox 4">
            <a:extLst>
              <a:ext uri="{FF2B5EF4-FFF2-40B4-BE49-F238E27FC236}">
                <a16:creationId xmlns:a16="http://schemas.microsoft.com/office/drawing/2014/main" id="{63DB7A98-BD55-781F-F1E6-ECD79A1DCD85}"/>
              </a:ext>
            </a:extLst>
          </p:cNvPr>
          <p:cNvSpPr txBox="1"/>
          <p:nvPr/>
        </p:nvSpPr>
        <p:spPr>
          <a:xfrm>
            <a:off x="533399" y="990600"/>
            <a:ext cx="6641742" cy="430887"/>
          </a:xfrm>
          <a:prstGeom prst="rect">
            <a:avLst/>
          </a:prstGeom>
          <a:noFill/>
        </p:spPr>
        <p:txBody>
          <a:bodyPr wrap="square">
            <a:spAutoFit/>
          </a:bodyPr>
          <a:lstStyle/>
          <a:p>
            <a:pPr indent="0" algn="just">
              <a:buNone/>
            </a:pPr>
            <a:r>
              <a:rPr lang="en-GB" sz="1100" b="1" dirty="0">
                <a:solidFill>
                  <a:srgbClr val="109351"/>
                </a:solidFill>
                <a:latin typeface="+mj-lt"/>
              </a:rPr>
              <a:t>Fiscal policy affects final demand (i.e., total output and private investment) through directly: Govt. demand of G&amp;S and indirectly: fiscal impulse created by policy other expenditures in the short run.</a:t>
            </a:r>
          </a:p>
        </p:txBody>
      </p:sp>
      <p:sp>
        <p:nvSpPr>
          <p:cNvPr id="4" name="Content Placeholder 2">
            <a:extLst>
              <a:ext uri="{FF2B5EF4-FFF2-40B4-BE49-F238E27FC236}">
                <a16:creationId xmlns:a16="http://schemas.microsoft.com/office/drawing/2014/main" id="{3405CCB6-3EAB-86B7-B9A0-996D215F8076}"/>
              </a:ext>
            </a:extLst>
          </p:cNvPr>
          <p:cNvSpPr txBox="1">
            <a:spLocks/>
          </p:cNvSpPr>
          <p:nvPr/>
        </p:nvSpPr>
        <p:spPr>
          <a:xfrm>
            <a:off x="308674" y="1260708"/>
            <a:ext cx="6092126" cy="750514"/>
          </a:xfrm>
          <a:prstGeom prst="rect">
            <a:avLst/>
          </a:prstGeom>
        </p:spPr>
        <p:txBody>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lgn="just">
              <a:buFont typeface="Wingdings" panose="05000000000000000000" pitchFamily="2" charset="2"/>
              <a:buChar char="§"/>
            </a:pPr>
            <a:endParaRPr lang="en-GB" sz="1600" dirty="0"/>
          </a:p>
        </p:txBody>
      </p:sp>
      <p:sp>
        <p:nvSpPr>
          <p:cNvPr id="13" name="TextBox 12">
            <a:extLst>
              <a:ext uri="{FF2B5EF4-FFF2-40B4-BE49-F238E27FC236}">
                <a16:creationId xmlns:a16="http://schemas.microsoft.com/office/drawing/2014/main" id="{DB203802-0949-98F8-C140-863EC1349BB6}"/>
              </a:ext>
            </a:extLst>
          </p:cNvPr>
          <p:cNvSpPr txBox="1"/>
          <p:nvPr/>
        </p:nvSpPr>
        <p:spPr>
          <a:xfrm>
            <a:off x="533400" y="1447800"/>
            <a:ext cx="7086600" cy="2481641"/>
          </a:xfrm>
          <a:prstGeom prst="rect">
            <a:avLst/>
          </a:prstGeom>
          <a:noFill/>
          <a:ln>
            <a:solidFill>
              <a:schemeClr val="accent5">
                <a:lumMod val="20000"/>
                <a:lumOff val="80000"/>
              </a:schemeClr>
            </a:solidFill>
          </a:ln>
        </p:spPr>
        <p:txBody>
          <a:bodyPr wrap="square" rtlCol="0">
            <a:spAutoFit/>
          </a:bodyPr>
          <a:lstStyle/>
          <a:p>
            <a:pPr>
              <a:lnSpc>
                <a:spcPct val="150000"/>
              </a:lnSpc>
            </a:pPr>
            <a:r>
              <a:rPr lang="en-US" sz="1200" b="1" dirty="0">
                <a:latin typeface="Bahnschrift Light" panose="020B0502040204020203" pitchFamily="34" charset="0"/>
              </a:rPr>
              <a:t>Govt. demand of G&amp;S (direct effect) :</a:t>
            </a:r>
          </a:p>
          <a:p>
            <a:pPr marL="171450" indent="-171450">
              <a:lnSpc>
                <a:spcPct val="150000"/>
              </a:lnSpc>
              <a:buFont typeface="Wingdings" panose="05000000000000000000" pitchFamily="2" charset="2"/>
              <a:buChar char="§"/>
            </a:pPr>
            <a:r>
              <a:rPr lang="en-US" sz="1200" dirty="0">
                <a:latin typeface="Bahnschrift Light" panose="020B0502040204020203" pitchFamily="34" charset="0"/>
              </a:rPr>
              <a:t>From 2024, govt demand % GDP switches from above to below its structural trend (Implies negative govt demand for 2023-25, fading thereafter)</a:t>
            </a:r>
            <a:endParaRPr lang="en-US" sz="1200" b="1" dirty="0">
              <a:latin typeface="Bahnschrift Light" panose="020B0502040204020203" pitchFamily="34" charset="0"/>
            </a:endParaRPr>
          </a:p>
          <a:p>
            <a:pPr marL="171450" indent="-171450">
              <a:lnSpc>
                <a:spcPct val="150000"/>
              </a:lnSpc>
              <a:buFont typeface="Wingdings" panose="05000000000000000000" pitchFamily="2" charset="2"/>
              <a:buChar char="§"/>
            </a:pPr>
            <a:r>
              <a:rPr lang="en-US" sz="1200" dirty="0">
                <a:latin typeface="Bahnschrift Light" panose="020B0502040204020203" pitchFamily="34" charset="0"/>
              </a:rPr>
              <a:t>Government. Demand below structural trend: induced total GDP growth through  lower final consumption of G&amp;S (i.e. Govt consumption of imported &amp; domestic goods and wages)</a:t>
            </a:r>
          </a:p>
          <a:p>
            <a:pPr marL="171450" indent="-171450">
              <a:lnSpc>
                <a:spcPct val="150000"/>
              </a:lnSpc>
              <a:buFont typeface="Wingdings" panose="05000000000000000000" pitchFamily="2" charset="2"/>
              <a:buChar char="§"/>
            </a:pPr>
            <a:r>
              <a:rPr lang="en-US" sz="1200" dirty="0">
                <a:solidFill>
                  <a:schemeClr val="tx2"/>
                </a:solidFill>
                <a:latin typeface="Bahnschrift Light" panose="020B0502040204020203" pitchFamily="34" charset="0"/>
              </a:rPr>
              <a:t>Contractionary/consolidation policy of a lower deficit induce negative effect on final demand</a:t>
            </a:r>
          </a:p>
          <a:p>
            <a:pPr marL="461963" lvl="1" indent="-174625">
              <a:lnSpc>
                <a:spcPct val="150000"/>
              </a:lnSpc>
              <a:buFont typeface="Wingdings" panose="05000000000000000000" pitchFamily="2" charset="2"/>
              <a:buChar char="§"/>
            </a:pPr>
            <a:r>
              <a:rPr lang="en-US" sz="1100" dirty="0">
                <a:solidFill>
                  <a:schemeClr val="tx2"/>
                </a:solidFill>
                <a:latin typeface="Bahnschrift Light" panose="020B0502040204020203" pitchFamily="34" charset="0"/>
              </a:rPr>
              <a:t> 1. lower consumption i.e., imports &amp; domestic goods &amp; services and wages) for 2023-25.</a:t>
            </a:r>
          </a:p>
          <a:p>
            <a:pPr marL="461963" lvl="1" indent="-174625">
              <a:lnSpc>
                <a:spcPct val="150000"/>
              </a:lnSpc>
              <a:buFont typeface="Wingdings" panose="05000000000000000000" pitchFamily="2" charset="2"/>
              <a:buChar char="§"/>
            </a:pPr>
            <a:r>
              <a:rPr lang="en-US" sz="1100" dirty="0">
                <a:solidFill>
                  <a:schemeClr val="tx2"/>
                </a:solidFill>
                <a:latin typeface="Bahnschrift Light" panose="020B0502040204020203" pitchFamily="34" charset="0"/>
              </a:rPr>
              <a:t>2. Lower investment demand i.e., cut in Government. capital spending in development activities.</a:t>
            </a:r>
          </a:p>
          <a:p>
            <a:pPr marL="461963" lvl="1" indent="-174625">
              <a:lnSpc>
                <a:spcPct val="150000"/>
              </a:lnSpc>
              <a:buFont typeface="Wingdings" panose="05000000000000000000" pitchFamily="2" charset="2"/>
              <a:buChar char="§"/>
            </a:pPr>
            <a:r>
              <a:rPr lang="en-US" sz="1100" dirty="0">
                <a:solidFill>
                  <a:schemeClr val="tx2"/>
                </a:solidFill>
                <a:latin typeface="Bahnschrift Light" panose="020B0502040204020203" pitchFamily="34" charset="0"/>
              </a:rPr>
              <a:t>3. Spillover into reduced public-private partnerships, hence lower private investment demand.</a:t>
            </a:r>
          </a:p>
        </p:txBody>
      </p:sp>
      <p:pic>
        <p:nvPicPr>
          <p:cNvPr id="7" name="Picture 6">
            <a:extLst>
              <a:ext uri="{FF2B5EF4-FFF2-40B4-BE49-F238E27FC236}">
                <a16:creationId xmlns:a16="http://schemas.microsoft.com/office/drawing/2014/main" id="{19BB792A-8E47-F2F6-608F-4284FF045278}"/>
              </a:ext>
            </a:extLst>
          </p:cNvPr>
          <p:cNvPicPr>
            <a:picLocks noChangeAspect="1"/>
          </p:cNvPicPr>
          <p:nvPr/>
        </p:nvPicPr>
        <p:blipFill>
          <a:blip r:embed="rId3"/>
          <a:stretch>
            <a:fillRect/>
          </a:stretch>
        </p:blipFill>
        <p:spPr>
          <a:xfrm>
            <a:off x="7772399" y="1066800"/>
            <a:ext cx="3921063" cy="2671644"/>
          </a:xfrm>
          <a:prstGeom prst="rect">
            <a:avLst/>
          </a:prstGeom>
          <a:ln>
            <a:solidFill>
              <a:schemeClr val="accent5">
                <a:lumMod val="20000"/>
                <a:lumOff val="80000"/>
              </a:schemeClr>
            </a:solidFill>
          </a:ln>
        </p:spPr>
      </p:pic>
      <p:sp>
        <p:nvSpPr>
          <p:cNvPr id="16" name="TextBox 15">
            <a:extLst>
              <a:ext uri="{FF2B5EF4-FFF2-40B4-BE49-F238E27FC236}">
                <a16:creationId xmlns:a16="http://schemas.microsoft.com/office/drawing/2014/main" id="{B4E1333C-3A83-53A3-20A1-53262D0F4599}"/>
              </a:ext>
            </a:extLst>
          </p:cNvPr>
          <p:cNvSpPr txBox="1"/>
          <p:nvPr/>
        </p:nvSpPr>
        <p:spPr>
          <a:xfrm>
            <a:off x="533399" y="3985553"/>
            <a:ext cx="7086600" cy="1993751"/>
          </a:xfrm>
          <a:prstGeom prst="rect">
            <a:avLst/>
          </a:prstGeom>
          <a:noFill/>
          <a:ln>
            <a:solidFill>
              <a:schemeClr val="accent5">
                <a:lumMod val="20000"/>
                <a:lumOff val="80000"/>
              </a:schemeClr>
            </a:solidFill>
          </a:ln>
        </p:spPr>
        <p:txBody>
          <a:bodyPr wrap="square" rtlCol="0">
            <a:spAutoFit/>
          </a:bodyPr>
          <a:lstStyle/>
          <a:p>
            <a:pPr>
              <a:lnSpc>
                <a:spcPct val="150000"/>
              </a:lnSpc>
            </a:pPr>
            <a:r>
              <a:rPr lang="en-US" sz="1200" b="1" dirty="0">
                <a:latin typeface="Bahnschrift Light" panose="020B0502040204020203" pitchFamily="34" charset="0"/>
              </a:rPr>
              <a:t>Govt. other expenditures (indirect effect): </a:t>
            </a:r>
            <a:r>
              <a:rPr lang="en-US" sz="1200" b="1" i="1" dirty="0">
                <a:latin typeface="Bahnschrift Light" panose="020B0502040204020203" pitchFamily="34" charset="0"/>
              </a:rPr>
              <a:t>Fiscal impulse </a:t>
            </a:r>
            <a:r>
              <a:rPr lang="en-US" sz="1200" b="1" dirty="0">
                <a:latin typeface="Bahnschrift Light" panose="020B0502040204020203" pitchFamily="34" charset="0"/>
              </a:rPr>
              <a:t>to final demand</a:t>
            </a:r>
          </a:p>
          <a:p>
            <a:pPr marL="171450" indent="-171450">
              <a:lnSpc>
                <a:spcPct val="150000"/>
              </a:lnSpc>
              <a:buFont typeface="Wingdings" panose="05000000000000000000" pitchFamily="2" charset="2"/>
              <a:buChar char="§"/>
            </a:pPr>
            <a:r>
              <a:rPr lang="en-US" sz="1200" b="1" dirty="0">
                <a:latin typeface="Bahnschrift Light" panose="020B0502040204020203" pitchFamily="34" charset="0"/>
              </a:rPr>
              <a:t>Other Govt. expenditures(% of GDP) </a:t>
            </a:r>
            <a:r>
              <a:rPr lang="en-US" sz="1200" dirty="0">
                <a:latin typeface="Bahnschrift Light" panose="020B0502040204020203" pitchFamily="34" charset="0"/>
              </a:rPr>
              <a:t>temporary cut below structural spending level (5% of GDP) in 2024 before reintroduced back to normal level in 2025-28</a:t>
            </a:r>
          </a:p>
          <a:p>
            <a:pPr marL="171450" indent="-171450">
              <a:lnSpc>
                <a:spcPct val="150000"/>
              </a:lnSpc>
              <a:buFont typeface="Wingdings" panose="05000000000000000000" pitchFamily="2" charset="2"/>
              <a:buChar char="§"/>
            </a:pPr>
            <a:r>
              <a:rPr lang="en-US" sz="1200" dirty="0">
                <a:latin typeface="Bahnschrift Light" panose="020B0502040204020203" pitchFamily="34" charset="0"/>
              </a:rPr>
              <a:t>Movement in private investment, apart from own influence, is also driven by private consumption and exports through the output.</a:t>
            </a:r>
          </a:p>
          <a:p>
            <a:pPr marL="171450" indent="-171450">
              <a:lnSpc>
                <a:spcPct val="150000"/>
              </a:lnSpc>
              <a:buFont typeface="Wingdings" panose="05000000000000000000" pitchFamily="2" charset="2"/>
              <a:buChar char="§"/>
            </a:pPr>
            <a:r>
              <a:rPr lang="en-US" sz="1200" dirty="0">
                <a:latin typeface="Bahnschrift Light" panose="020B0502040204020203" pitchFamily="34" charset="0"/>
              </a:rPr>
              <a:t>Fiscal impulse makes a small portion of private investment; this is due to spillovers of other expenditures since government demand and investment is reflected in income.</a:t>
            </a:r>
          </a:p>
        </p:txBody>
      </p:sp>
      <p:pic>
        <p:nvPicPr>
          <p:cNvPr id="8" name="Picture 7">
            <a:extLst>
              <a:ext uri="{FF2B5EF4-FFF2-40B4-BE49-F238E27FC236}">
                <a16:creationId xmlns:a16="http://schemas.microsoft.com/office/drawing/2014/main" id="{49B3656A-8F18-BC22-274D-F9AA272CFBEE}"/>
              </a:ext>
            </a:extLst>
          </p:cNvPr>
          <p:cNvPicPr>
            <a:picLocks noChangeAspect="1"/>
          </p:cNvPicPr>
          <p:nvPr/>
        </p:nvPicPr>
        <p:blipFill>
          <a:blip r:embed="rId4"/>
          <a:stretch>
            <a:fillRect/>
          </a:stretch>
        </p:blipFill>
        <p:spPr>
          <a:xfrm>
            <a:off x="7772399" y="3875606"/>
            <a:ext cx="3921064" cy="2343582"/>
          </a:xfrm>
          <a:prstGeom prst="rect">
            <a:avLst/>
          </a:prstGeom>
          <a:ln>
            <a:solidFill>
              <a:schemeClr val="accent5">
                <a:lumMod val="20000"/>
                <a:lumOff val="80000"/>
              </a:schemeClr>
            </a:solidFill>
          </a:ln>
        </p:spPr>
      </p:pic>
    </p:spTree>
    <p:extLst>
      <p:ext uri="{BB962C8B-B14F-4D97-AF65-F5344CB8AC3E}">
        <p14:creationId xmlns:p14="http://schemas.microsoft.com/office/powerpoint/2010/main" val="3378938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95AA3-45A2-7DB1-CAA0-683A13346C80}"/>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8B4F4E-4984-C848-B72B-7DC90542FCCE}"/>
              </a:ext>
            </a:extLst>
          </p:cNvPr>
          <p:cNvSpPr>
            <a:spLocks noGrp="1"/>
          </p:cNvSpPr>
          <p:nvPr>
            <p:ph type="sldNum" sz="quarter" idx="12"/>
          </p:nvPr>
        </p:nvSpPr>
        <p:spPr/>
        <p:txBody>
          <a:bodyPr/>
          <a:lstStyle/>
          <a:p>
            <a:fld id="{D97AE203-F84D-4A7F-B161-8561326BE072}" type="slidenum">
              <a:rPr lang="en-US" smtClean="0"/>
              <a:pPr/>
              <a:t>20</a:t>
            </a:fld>
            <a:endParaRPr lang="en-US" dirty="0"/>
          </a:p>
        </p:txBody>
      </p:sp>
      <p:sp>
        <p:nvSpPr>
          <p:cNvPr id="2" name="Title 1">
            <a:extLst>
              <a:ext uri="{FF2B5EF4-FFF2-40B4-BE49-F238E27FC236}">
                <a16:creationId xmlns:a16="http://schemas.microsoft.com/office/drawing/2014/main" id="{740CE92A-13E3-72A8-BA05-206DE0F2F409}"/>
              </a:ext>
            </a:extLst>
          </p:cNvPr>
          <p:cNvSpPr>
            <a:spLocks noGrp="1"/>
          </p:cNvSpPr>
          <p:nvPr>
            <p:ph type="title" idx="4294967295"/>
          </p:nvPr>
        </p:nvSpPr>
        <p:spPr>
          <a:xfrm>
            <a:off x="2781300" y="228600"/>
            <a:ext cx="6629400" cy="562005"/>
          </a:xfrm>
        </p:spPr>
        <p:txBody>
          <a:bodyPr>
            <a:normAutofit/>
          </a:bodyPr>
          <a:lstStyle/>
          <a:p>
            <a:pPr algn="ctr"/>
            <a:r>
              <a:rPr lang="en-US" sz="2400" b="1" dirty="0">
                <a:solidFill>
                  <a:srgbClr val="008BCC"/>
                </a:solidFill>
                <a:latin typeface="Bahnschrift" panose="020B0502040204020203" pitchFamily="34" charset="0"/>
              </a:rPr>
              <a:t>Nominal and Real Interest </a:t>
            </a:r>
            <a:r>
              <a:rPr lang="en-US" sz="2400" dirty="0">
                <a:solidFill>
                  <a:srgbClr val="008BCC"/>
                </a:solidFill>
              </a:rPr>
              <a:t>R</a:t>
            </a:r>
            <a:r>
              <a:rPr lang="en-US" sz="2400" b="1" dirty="0">
                <a:solidFill>
                  <a:srgbClr val="008BCC"/>
                </a:solidFill>
                <a:latin typeface="Bahnschrift" panose="020B0502040204020203" pitchFamily="34" charset="0"/>
              </a:rPr>
              <a:t>ates (Inter-Bank)</a:t>
            </a:r>
            <a:endParaRPr lang="en-AE" sz="2400" b="1" dirty="0">
              <a:solidFill>
                <a:srgbClr val="008BCC"/>
              </a:solidFill>
              <a:latin typeface="Bahnschrift" panose="020B0502040204020203" pitchFamily="34" charset="0"/>
            </a:endParaRPr>
          </a:p>
        </p:txBody>
      </p:sp>
      <p:pic>
        <p:nvPicPr>
          <p:cNvPr id="12" name="Picture 11">
            <a:extLst>
              <a:ext uri="{FF2B5EF4-FFF2-40B4-BE49-F238E27FC236}">
                <a16:creationId xmlns:a16="http://schemas.microsoft.com/office/drawing/2014/main" id="{11487125-CB8B-0E6E-7CAA-08402A61B9B7}"/>
              </a:ext>
            </a:extLst>
          </p:cNvPr>
          <p:cNvPicPr>
            <a:picLocks noChangeAspect="1"/>
          </p:cNvPicPr>
          <p:nvPr/>
        </p:nvPicPr>
        <p:blipFill>
          <a:blip r:embed="rId3"/>
          <a:stretch>
            <a:fillRect/>
          </a:stretch>
        </p:blipFill>
        <p:spPr>
          <a:xfrm>
            <a:off x="5867402" y="3851192"/>
            <a:ext cx="3047996" cy="2465940"/>
          </a:xfrm>
          <a:prstGeom prst="rect">
            <a:avLst/>
          </a:prstGeom>
          <a:ln>
            <a:solidFill>
              <a:schemeClr val="accent5">
                <a:lumMod val="20000"/>
                <a:lumOff val="80000"/>
              </a:schemeClr>
            </a:solidFill>
          </a:ln>
        </p:spPr>
      </p:pic>
      <p:pic>
        <p:nvPicPr>
          <p:cNvPr id="14" name="Picture 13">
            <a:extLst>
              <a:ext uri="{FF2B5EF4-FFF2-40B4-BE49-F238E27FC236}">
                <a16:creationId xmlns:a16="http://schemas.microsoft.com/office/drawing/2014/main" id="{C6394B84-7DF8-61F5-4EEC-A1A2773E864D}"/>
              </a:ext>
            </a:extLst>
          </p:cNvPr>
          <p:cNvPicPr>
            <a:picLocks noChangeAspect="1"/>
          </p:cNvPicPr>
          <p:nvPr/>
        </p:nvPicPr>
        <p:blipFill>
          <a:blip r:embed="rId4"/>
          <a:stretch>
            <a:fillRect/>
          </a:stretch>
        </p:blipFill>
        <p:spPr>
          <a:xfrm>
            <a:off x="5867402" y="1212796"/>
            <a:ext cx="3047996" cy="2546322"/>
          </a:xfrm>
          <a:prstGeom prst="rect">
            <a:avLst/>
          </a:prstGeom>
          <a:ln>
            <a:solidFill>
              <a:schemeClr val="accent5">
                <a:lumMod val="20000"/>
                <a:lumOff val="80000"/>
              </a:schemeClr>
            </a:solidFill>
          </a:ln>
        </p:spPr>
      </p:pic>
      <p:sp>
        <p:nvSpPr>
          <p:cNvPr id="4" name="TextBox 3">
            <a:extLst>
              <a:ext uri="{FF2B5EF4-FFF2-40B4-BE49-F238E27FC236}">
                <a16:creationId xmlns:a16="http://schemas.microsoft.com/office/drawing/2014/main" id="{A2233C93-9EE8-EA1B-FFC0-3CE93964E0E1}"/>
              </a:ext>
            </a:extLst>
          </p:cNvPr>
          <p:cNvSpPr txBox="1"/>
          <p:nvPr/>
        </p:nvSpPr>
        <p:spPr>
          <a:xfrm>
            <a:off x="448732" y="3352800"/>
            <a:ext cx="5266267" cy="1672253"/>
          </a:xfrm>
          <a:prstGeom prst="rect">
            <a:avLst/>
          </a:prstGeom>
          <a:noFill/>
          <a:ln>
            <a:solidFill>
              <a:schemeClr val="accent5">
                <a:lumMod val="20000"/>
                <a:lumOff val="80000"/>
              </a:schemeClr>
            </a:solidFill>
          </a:ln>
        </p:spPr>
        <p:txBody>
          <a:bodyPr wrap="square">
            <a:spAutoFit/>
          </a:bodyPr>
          <a:lstStyle/>
          <a:p>
            <a:pPr marL="0" marR="0">
              <a:spcAft>
                <a:spcPts val="0"/>
              </a:spcAft>
            </a:pPr>
            <a:r>
              <a:rPr lang="en-US" sz="1200" b="1" kern="100" dirty="0">
                <a:effectLst/>
                <a:latin typeface="Bahnschrift" panose="020B0502040204020203" pitchFamily="34" charset="0"/>
                <a:ea typeface="Aptos" panose="020B0004020202020204" pitchFamily="34" charset="0"/>
                <a:cs typeface="Times New Roman" panose="02020603050405020304" pitchFamily="18" charset="0"/>
              </a:rPr>
              <a:t>Real </a:t>
            </a:r>
            <a:r>
              <a:rPr lang="en-US" sz="1200" b="1" kern="100" dirty="0">
                <a:latin typeface="Bahnschrift" panose="020B0502040204020203" pitchFamily="34" charset="0"/>
                <a:ea typeface="Aptos" panose="020B0004020202020204" pitchFamily="34" charset="0"/>
                <a:cs typeface="Times New Roman" panose="02020603050405020304" pitchFamily="18" charset="0"/>
              </a:rPr>
              <a:t>IB and lending rates</a:t>
            </a:r>
            <a:endParaRPr lang="en-US" sz="1200" kern="100" dirty="0">
              <a:effectLst/>
              <a:latin typeface="Bahnschrift" panose="020B0502040204020203" pitchFamily="34" charset="0"/>
              <a:ea typeface="Aptos" panose="020B0004020202020204" pitchFamily="34" charset="0"/>
              <a:cs typeface="Times New Roman" panose="02020603050405020304" pitchFamily="18" charset="0"/>
            </a:endParaRPr>
          </a:p>
          <a:p>
            <a:pPr marL="274320" marR="0" indent="-274320">
              <a:spcAft>
                <a:spcPts val="0"/>
              </a:spcAft>
              <a:buFont typeface="Wingdings" panose="05000000000000000000" pitchFamily="2" charset="2"/>
              <a:buChar char="§"/>
            </a:pPr>
            <a:r>
              <a:rPr lang="en-US" sz="1200" kern="100" dirty="0">
                <a:latin typeface="Bahnschrift Light" panose="020B0502040204020203" pitchFamily="34" charset="0"/>
                <a:ea typeface="Aptos" panose="020B0004020202020204" pitchFamily="34" charset="0"/>
                <a:cs typeface="Times New Roman" panose="02020603050405020304" pitchFamily="18" charset="0"/>
              </a:rPr>
              <a:t>Forecast to increase gradually </a:t>
            </a:r>
            <a:r>
              <a:rPr lang="en-US" sz="1200" kern="100" dirty="0">
                <a:effectLst/>
                <a:latin typeface="Bahnschrift Light" panose="020B0502040204020203" pitchFamily="34" charset="0"/>
                <a:ea typeface="Aptos" panose="020B0004020202020204" pitchFamily="34" charset="0"/>
                <a:cs typeface="Times New Roman" panose="02020603050405020304" pitchFamily="18" charset="0"/>
              </a:rPr>
              <a:t>from below-trend </a:t>
            </a:r>
            <a:r>
              <a:rPr lang="en-US" sz="1200" kern="100" dirty="0">
                <a:latin typeface="Bahnschrift Light" panose="020B0502040204020203" pitchFamily="34" charset="0"/>
                <a:ea typeface="Aptos" panose="020B0004020202020204" pitchFamily="34" charset="0"/>
                <a:cs typeface="Times New Roman" panose="02020603050405020304" pitchFamily="18" charset="0"/>
              </a:rPr>
              <a:t>levels during most of 2022-24, to trend level of around 4% for IB and 12% for lending rate (lending premium remaining around 8%)</a:t>
            </a:r>
          </a:p>
          <a:p>
            <a:pPr marL="285750" lvl="1" indent="-285750">
              <a:spcAft>
                <a:spcPts val="80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Real interest rates return to normal ending their demand-stimulating effect in past years</a:t>
            </a:r>
          </a:p>
          <a:p>
            <a:pPr marL="285750" lvl="1" indent="-285750">
              <a:spcAft>
                <a:spcPts val="80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Real lending rates mirror real policy rate through the transmission mechanism</a:t>
            </a:r>
          </a:p>
        </p:txBody>
      </p:sp>
      <p:sp>
        <p:nvSpPr>
          <p:cNvPr id="5" name="TextBox 4">
            <a:extLst>
              <a:ext uri="{FF2B5EF4-FFF2-40B4-BE49-F238E27FC236}">
                <a16:creationId xmlns:a16="http://schemas.microsoft.com/office/drawing/2014/main" id="{3B64A999-AB11-EEE9-6E1B-B231026DA423}"/>
              </a:ext>
            </a:extLst>
          </p:cNvPr>
          <p:cNvSpPr txBox="1"/>
          <p:nvPr/>
        </p:nvSpPr>
        <p:spPr>
          <a:xfrm>
            <a:off x="448732" y="5116803"/>
            <a:ext cx="5266267" cy="1200329"/>
          </a:xfrm>
          <a:prstGeom prst="rect">
            <a:avLst/>
          </a:prstGeom>
          <a:noFill/>
          <a:ln>
            <a:solidFill>
              <a:schemeClr val="accent5">
                <a:lumMod val="20000"/>
                <a:lumOff val="80000"/>
              </a:schemeClr>
            </a:solidFill>
          </a:ln>
        </p:spPr>
        <p:txBody>
          <a:bodyPr wrap="square">
            <a:spAutoFit/>
          </a:bodyPr>
          <a:lstStyle/>
          <a:p>
            <a:pPr marL="0" marR="0">
              <a:spcAft>
                <a:spcPts val="0"/>
              </a:spcAft>
            </a:pPr>
            <a:r>
              <a:rPr lang="en-US" sz="1200" b="1" kern="100" dirty="0">
                <a:latin typeface="Bahnschrift" panose="020B0502040204020203" pitchFamily="34" charset="0"/>
                <a:cs typeface="Times New Roman" panose="02020603050405020304" pitchFamily="18" charset="0"/>
              </a:rPr>
              <a:t>Interest rate “rule” used in forecast</a:t>
            </a:r>
          </a:p>
          <a:p>
            <a:pPr marL="0" marR="0">
              <a:spcAft>
                <a:spcPts val="0"/>
              </a:spcAft>
            </a:pPr>
            <a:r>
              <a:rPr lang="en-US" sz="1200" kern="100" dirty="0">
                <a:latin typeface="Bahnschrift Light" panose="020B0502040204020203" pitchFamily="34" charset="0"/>
                <a:cs typeface="Times New Roman" panose="02020603050405020304" pitchFamily="18" charset="0"/>
              </a:rPr>
              <a:t>Policy interest rate (interbank) responds to expected inflation deviation from target and output deviation from potential (subject to persistence) but tends to neutral rate, driven by world real interest rate, country premium and inflation target in Rwanda.</a:t>
            </a:r>
          </a:p>
          <a:p>
            <a:pPr marL="285750" lvl="1" indent="-285750">
              <a:spcAft>
                <a:spcPts val="0"/>
              </a:spcAft>
              <a:buFont typeface="Wingdings" panose="05000000000000000000" pitchFamily="2" charset="2"/>
              <a:buChar char="§"/>
            </a:pPr>
            <a:endParaRPr lang="en-US" sz="1200" kern="100" dirty="0">
              <a:latin typeface="Bahnschrift Light" panose="020B0502040204020203" pitchFamily="34" charset="0"/>
              <a:cs typeface="Times New Roman" panose="02020603050405020304" pitchFamily="18" charset="0"/>
            </a:endParaRPr>
          </a:p>
        </p:txBody>
      </p:sp>
      <p:sp>
        <p:nvSpPr>
          <p:cNvPr id="6" name="TextBox 5">
            <a:extLst>
              <a:ext uri="{FF2B5EF4-FFF2-40B4-BE49-F238E27FC236}">
                <a16:creationId xmlns:a16="http://schemas.microsoft.com/office/drawing/2014/main" id="{EF651AC9-71F3-34C4-1D3C-47C54D75213C}"/>
              </a:ext>
            </a:extLst>
          </p:cNvPr>
          <p:cNvSpPr txBox="1"/>
          <p:nvPr/>
        </p:nvSpPr>
        <p:spPr>
          <a:xfrm>
            <a:off x="448732" y="1212796"/>
            <a:ext cx="5266268" cy="2041585"/>
          </a:xfrm>
          <a:prstGeom prst="rect">
            <a:avLst/>
          </a:prstGeom>
          <a:noFill/>
          <a:ln>
            <a:solidFill>
              <a:schemeClr val="accent5">
                <a:lumMod val="20000"/>
                <a:lumOff val="80000"/>
              </a:schemeClr>
            </a:solidFill>
          </a:ln>
        </p:spPr>
        <p:txBody>
          <a:bodyPr wrap="square">
            <a:spAutoFit/>
          </a:bodyPr>
          <a:lstStyle/>
          <a:p>
            <a:pPr marL="0" marR="0">
              <a:spcAft>
                <a:spcPts val="0"/>
              </a:spcAft>
            </a:pPr>
            <a:r>
              <a:rPr lang="en-US" sz="1200" b="1" kern="100" dirty="0">
                <a:effectLst/>
                <a:latin typeface="Bahnschrift" panose="020B0502040204020203" pitchFamily="34" charset="0"/>
                <a:ea typeface="Aptos" panose="020B0004020202020204" pitchFamily="34" charset="0"/>
                <a:cs typeface="Times New Roman" panose="02020603050405020304" pitchFamily="18" charset="0"/>
              </a:rPr>
              <a:t>P</a:t>
            </a:r>
            <a:r>
              <a:rPr lang="en-US" sz="1200" b="1" kern="100" dirty="0">
                <a:latin typeface="Bahnschrift" panose="020B0502040204020203" pitchFamily="34" charset="0"/>
                <a:ea typeface="Aptos" panose="020B0004020202020204" pitchFamily="34" charset="0"/>
                <a:cs typeface="Times New Roman" panose="02020603050405020304" pitchFamily="18" charset="0"/>
              </a:rPr>
              <a:t>olicy interest rate (IB rate), nominal terms</a:t>
            </a:r>
            <a:r>
              <a:rPr lang="en-US" sz="1200" b="1" kern="100" dirty="0">
                <a:effectLst/>
                <a:latin typeface="Bahnschrift" panose="020B0502040204020203" pitchFamily="34" charset="0"/>
                <a:ea typeface="Aptos" panose="020B0004020202020204" pitchFamily="34" charset="0"/>
                <a:cs typeface="Times New Roman" panose="02020603050405020304" pitchFamily="18" charset="0"/>
              </a:rPr>
              <a:t>  </a:t>
            </a:r>
          </a:p>
          <a:p>
            <a:pPr marL="285750" lvl="1" indent="-285750">
              <a:spcAft>
                <a:spcPts val="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After increases totaling 2.5% points during 2022-24 in response to inflation, the IB rate forecast to be lowered in 2d half of 2024 as inflation abates</a:t>
            </a:r>
          </a:p>
          <a:p>
            <a:pPr marL="285750" lvl="1" indent="-285750">
              <a:spcAft>
                <a:spcPts val="80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In 2024-25, contractionary effect of fiscal consolidation should keep IB at below 7.5% </a:t>
            </a:r>
          </a:p>
          <a:p>
            <a:pPr marL="285750" lvl="1" indent="-285750">
              <a:spcAft>
                <a:spcPts val="80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After 2025, IB forecast to move up to above 8% in line with the neutral rate, in turn driven by increasing world real interest rate (1.5%, from negative until early 2023) and Rwanda’s country risk premium (2%) and target core inflation rate (4.5%)</a:t>
            </a:r>
          </a:p>
        </p:txBody>
      </p:sp>
      <p:pic>
        <p:nvPicPr>
          <p:cNvPr id="8" name="Picture 7">
            <a:extLst>
              <a:ext uri="{FF2B5EF4-FFF2-40B4-BE49-F238E27FC236}">
                <a16:creationId xmlns:a16="http://schemas.microsoft.com/office/drawing/2014/main" id="{33941B0B-6C74-9F1B-1D47-4FBDF68D979C}"/>
              </a:ext>
            </a:extLst>
          </p:cNvPr>
          <p:cNvPicPr>
            <a:picLocks noChangeAspect="1"/>
          </p:cNvPicPr>
          <p:nvPr/>
        </p:nvPicPr>
        <p:blipFill>
          <a:blip r:embed="rId5"/>
          <a:stretch>
            <a:fillRect/>
          </a:stretch>
        </p:blipFill>
        <p:spPr>
          <a:xfrm>
            <a:off x="9067801" y="1212796"/>
            <a:ext cx="2675467" cy="2546321"/>
          </a:xfrm>
          <a:prstGeom prst="rect">
            <a:avLst/>
          </a:prstGeom>
          <a:ln>
            <a:solidFill>
              <a:schemeClr val="accent5">
                <a:lumMod val="20000"/>
                <a:lumOff val="80000"/>
              </a:schemeClr>
            </a:solidFill>
          </a:ln>
        </p:spPr>
      </p:pic>
      <p:pic>
        <p:nvPicPr>
          <p:cNvPr id="11" name="Picture 10">
            <a:extLst>
              <a:ext uri="{FF2B5EF4-FFF2-40B4-BE49-F238E27FC236}">
                <a16:creationId xmlns:a16="http://schemas.microsoft.com/office/drawing/2014/main" id="{E122A924-2093-B063-669B-08B8A646C0A8}"/>
              </a:ext>
            </a:extLst>
          </p:cNvPr>
          <p:cNvPicPr>
            <a:picLocks noChangeAspect="1"/>
          </p:cNvPicPr>
          <p:nvPr/>
        </p:nvPicPr>
        <p:blipFill>
          <a:blip r:embed="rId6"/>
          <a:stretch>
            <a:fillRect/>
          </a:stretch>
        </p:blipFill>
        <p:spPr>
          <a:xfrm>
            <a:off x="9067801" y="3851192"/>
            <a:ext cx="2675467" cy="2465940"/>
          </a:xfrm>
          <a:prstGeom prst="rect">
            <a:avLst/>
          </a:prstGeom>
          <a:ln>
            <a:solidFill>
              <a:schemeClr val="accent5">
                <a:lumMod val="20000"/>
                <a:lumOff val="80000"/>
              </a:schemeClr>
            </a:solidFill>
          </a:ln>
        </p:spPr>
      </p:pic>
    </p:spTree>
    <p:extLst>
      <p:ext uri="{BB962C8B-B14F-4D97-AF65-F5344CB8AC3E}">
        <p14:creationId xmlns:p14="http://schemas.microsoft.com/office/powerpoint/2010/main" val="19567263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BDFB9-FBDD-C647-A1B5-C6DE1DD770B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B58E160-C9E3-4CB4-5C39-D496B6916A47}"/>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97AE203-F84D-4A7F-B161-8561326BE072}" type="slidenum">
              <a:rPr kumimoji="0" lang="en-US" sz="1000" b="0" i="0" u="none" strike="noStrike" kern="1200" cap="none" spc="0" normalizeH="0" baseline="0" noProof="0" smtClean="0">
                <a:ln>
                  <a:noFill/>
                </a:ln>
                <a:solidFill>
                  <a:srgbClr val="464653"/>
                </a:solidFill>
                <a:effectLst/>
                <a:uLnTx/>
                <a:uFillTx/>
                <a:latin typeface="Gill Sans MT"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21</a:t>
            </a:fld>
            <a:endParaRPr kumimoji="0" lang="en-US" sz="1000" b="0" i="0" u="none" strike="noStrike" kern="1200" cap="none" spc="0" normalizeH="0" baseline="0" noProof="0" dirty="0">
              <a:ln>
                <a:noFill/>
              </a:ln>
              <a:solidFill>
                <a:srgbClr val="464653"/>
              </a:solidFill>
              <a:effectLst/>
              <a:uLnTx/>
              <a:uFillTx/>
              <a:latin typeface="Gill Sans MT" charset="0"/>
              <a:ea typeface="ＭＳ Ｐゴシック" charset="-128"/>
              <a:cs typeface="+mn-cs"/>
            </a:endParaRPr>
          </a:p>
        </p:txBody>
      </p:sp>
      <p:sp>
        <p:nvSpPr>
          <p:cNvPr id="2" name="Title 1">
            <a:extLst>
              <a:ext uri="{FF2B5EF4-FFF2-40B4-BE49-F238E27FC236}">
                <a16:creationId xmlns:a16="http://schemas.microsoft.com/office/drawing/2014/main" id="{A4FA52F1-C418-475A-DF3D-15623C05149D}"/>
              </a:ext>
            </a:extLst>
          </p:cNvPr>
          <p:cNvSpPr>
            <a:spLocks noGrp="1"/>
          </p:cNvSpPr>
          <p:nvPr>
            <p:ph type="title" idx="4294967295"/>
          </p:nvPr>
        </p:nvSpPr>
        <p:spPr>
          <a:xfrm>
            <a:off x="2819400" y="242888"/>
            <a:ext cx="6629400" cy="549275"/>
          </a:xfrm>
        </p:spPr>
        <p:txBody>
          <a:bodyPr/>
          <a:lstStyle/>
          <a:p>
            <a:r>
              <a:rPr lang="en-US" sz="2400" b="1" dirty="0">
                <a:solidFill>
                  <a:srgbClr val="008BCC"/>
                </a:solidFill>
                <a:latin typeface="Bahnschrift" panose="020B0502040204020203" pitchFamily="34" charset="0"/>
              </a:rPr>
              <a:t>Nominal and Real Exchange Rates (ER, RER)</a:t>
            </a:r>
            <a:endParaRPr lang="en-AE" sz="2400" b="1" dirty="0">
              <a:solidFill>
                <a:srgbClr val="008BCC"/>
              </a:solidFill>
              <a:latin typeface="Bahnschrift" panose="020B0502040204020203" pitchFamily="34" charset="0"/>
            </a:endParaRPr>
          </a:p>
        </p:txBody>
      </p:sp>
      <p:sp>
        <p:nvSpPr>
          <p:cNvPr id="5" name="Content Placeholder 2">
            <a:extLst>
              <a:ext uri="{FF2B5EF4-FFF2-40B4-BE49-F238E27FC236}">
                <a16:creationId xmlns:a16="http://schemas.microsoft.com/office/drawing/2014/main" id="{76F6B2A1-3985-662A-F1C2-3AD6D3062C53}"/>
              </a:ext>
            </a:extLst>
          </p:cNvPr>
          <p:cNvSpPr txBox="1">
            <a:spLocks/>
          </p:cNvSpPr>
          <p:nvPr/>
        </p:nvSpPr>
        <p:spPr>
          <a:xfrm>
            <a:off x="609600" y="1066800"/>
            <a:ext cx="10896600" cy="5562600"/>
          </a:xfrm>
          <a:prstGeom prst="rect">
            <a:avLst/>
          </a:prstGeom>
        </p:spPr>
        <p:txBody>
          <a:bodyPr>
            <a:noAutofit/>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marR="0" lvl="0" indent="0" algn="just" defTabSz="914400" rtl="0" eaLnBrk="0" fontAlgn="base" latinLnBrk="0" hangingPunct="0">
              <a:lnSpc>
                <a:spcPct val="100000"/>
              </a:lnSpc>
              <a:spcBef>
                <a:spcPts val="600"/>
              </a:spcBef>
              <a:spcAft>
                <a:spcPts val="600"/>
              </a:spcAft>
              <a:buClr>
                <a:srgbClr val="00B0F0"/>
              </a:buClr>
              <a:buSzPct val="76000"/>
              <a:buFont typeface="Wingdings 3" charset="2"/>
              <a:buNone/>
              <a:tabLst/>
              <a:defRPr/>
            </a:pPr>
            <a:endParaRPr kumimoji="0" lang="en-US" sz="2400" b="1" i="0" u="none" strike="noStrike" kern="1200" cap="none" spc="0" normalizeH="0" baseline="0" noProof="0" dirty="0">
              <a:ln>
                <a:noFill/>
              </a:ln>
              <a:solidFill>
                <a:prstClr val="black"/>
              </a:solidFill>
              <a:effectLst/>
              <a:uLnTx/>
              <a:uFillTx/>
              <a:latin typeface="Gill Sans MT"/>
              <a:ea typeface="ＭＳ Ｐゴシック" charset="-128"/>
              <a:cs typeface="+mn-cs"/>
            </a:endParaRPr>
          </a:p>
          <a:p>
            <a:pPr marL="0" marR="0" lvl="0" indent="0" algn="just" defTabSz="914400" rtl="0" eaLnBrk="0" fontAlgn="base" latinLnBrk="0" hangingPunct="0">
              <a:lnSpc>
                <a:spcPct val="100000"/>
              </a:lnSpc>
              <a:spcBef>
                <a:spcPts val="600"/>
              </a:spcBef>
              <a:spcAft>
                <a:spcPts val="600"/>
              </a:spcAft>
              <a:buClr>
                <a:srgbClr val="00B0F0"/>
              </a:buClr>
              <a:buSzPct val="76000"/>
              <a:buFont typeface="Wingdings 3" charset="2"/>
              <a:buNone/>
              <a:tabLst/>
              <a:defRPr/>
            </a:pPr>
            <a:endParaRPr kumimoji="0" lang="en-US" sz="2400" b="1" i="0" u="none" strike="noStrike" kern="1200" cap="none" spc="0" normalizeH="0" baseline="0" noProof="0" dirty="0">
              <a:ln>
                <a:noFill/>
              </a:ln>
              <a:solidFill>
                <a:prstClr val="black"/>
              </a:solidFill>
              <a:effectLst/>
              <a:uLnTx/>
              <a:uFillTx/>
              <a:latin typeface="Gill Sans MT"/>
              <a:ea typeface="ＭＳ Ｐゴシック" charset="-128"/>
              <a:cs typeface="+mn-cs"/>
            </a:endParaRPr>
          </a:p>
        </p:txBody>
      </p:sp>
      <p:pic>
        <p:nvPicPr>
          <p:cNvPr id="12" name="Picture 11">
            <a:extLst>
              <a:ext uri="{FF2B5EF4-FFF2-40B4-BE49-F238E27FC236}">
                <a16:creationId xmlns:a16="http://schemas.microsoft.com/office/drawing/2014/main" id="{2D9D69CF-BE40-3B72-8E3A-A16EF5D22CBB}"/>
              </a:ext>
            </a:extLst>
          </p:cNvPr>
          <p:cNvPicPr>
            <a:picLocks noChangeAspect="1"/>
          </p:cNvPicPr>
          <p:nvPr/>
        </p:nvPicPr>
        <p:blipFill>
          <a:blip r:embed="rId2"/>
          <a:stretch>
            <a:fillRect/>
          </a:stretch>
        </p:blipFill>
        <p:spPr>
          <a:xfrm>
            <a:off x="5293856" y="1296366"/>
            <a:ext cx="3485664" cy="2411106"/>
          </a:xfrm>
          <a:prstGeom prst="rect">
            <a:avLst/>
          </a:prstGeom>
          <a:ln>
            <a:solidFill>
              <a:schemeClr val="accent5">
                <a:lumMod val="20000"/>
                <a:lumOff val="80000"/>
              </a:schemeClr>
            </a:solidFill>
          </a:ln>
        </p:spPr>
      </p:pic>
      <p:pic>
        <p:nvPicPr>
          <p:cNvPr id="9" name="Picture 8">
            <a:extLst>
              <a:ext uri="{FF2B5EF4-FFF2-40B4-BE49-F238E27FC236}">
                <a16:creationId xmlns:a16="http://schemas.microsoft.com/office/drawing/2014/main" id="{EA9214C8-213B-4B88-5A0E-C119B6DDE9F3}"/>
              </a:ext>
            </a:extLst>
          </p:cNvPr>
          <p:cNvPicPr>
            <a:picLocks noChangeAspect="1"/>
          </p:cNvPicPr>
          <p:nvPr/>
        </p:nvPicPr>
        <p:blipFill>
          <a:blip r:embed="rId3"/>
          <a:stretch>
            <a:fillRect/>
          </a:stretch>
        </p:blipFill>
        <p:spPr>
          <a:xfrm>
            <a:off x="5293856" y="3856567"/>
            <a:ext cx="3485664" cy="2694557"/>
          </a:xfrm>
          <a:prstGeom prst="rect">
            <a:avLst/>
          </a:prstGeom>
          <a:ln>
            <a:solidFill>
              <a:schemeClr val="accent5">
                <a:lumMod val="20000"/>
                <a:lumOff val="80000"/>
              </a:schemeClr>
            </a:solidFill>
          </a:ln>
        </p:spPr>
      </p:pic>
      <p:sp>
        <p:nvSpPr>
          <p:cNvPr id="11" name="TextBox 10">
            <a:extLst>
              <a:ext uri="{FF2B5EF4-FFF2-40B4-BE49-F238E27FC236}">
                <a16:creationId xmlns:a16="http://schemas.microsoft.com/office/drawing/2014/main" id="{DC73D6CA-075C-1036-7F50-6E7391186EB5}"/>
              </a:ext>
            </a:extLst>
          </p:cNvPr>
          <p:cNvSpPr txBox="1"/>
          <p:nvPr/>
        </p:nvSpPr>
        <p:spPr>
          <a:xfrm>
            <a:off x="490240" y="3104798"/>
            <a:ext cx="4522028" cy="1902285"/>
          </a:xfrm>
          <a:prstGeom prst="rect">
            <a:avLst/>
          </a:prstGeom>
          <a:noFill/>
          <a:ln>
            <a:solidFill>
              <a:schemeClr val="accent5">
                <a:lumMod val="20000"/>
                <a:lumOff val="80000"/>
              </a:schemeClr>
            </a:solidFill>
          </a:ln>
        </p:spPr>
        <p:txBody>
          <a:bodyPr wrap="square">
            <a:noAutofit/>
          </a:bodyPr>
          <a:lstStyle>
            <a:defPPr>
              <a:defRPr lang="en-US"/>
            </a:defPPr>
            <a:lvl1pPr marL="0" marR="0">
              <a:lnSpc>
                <a:spcPct val="150000"/>
              </a:lnSpc>
              <a:spcAft>
                <a:spcPts val="800"/>
              </a:spcAft>
              <a:defRPr sz="1200" b="1" kern="100">
                <a:effectLst/>
                <a:latin typeface="Bahnschrift" panose="020B0502040204020203" pitchFamily="34" charset="0"/>
                <a:ea typeface="Aptos" panose="020B0004020202020204" pitchFamily="34" charset="0"/>
                <a:cs typeface="Times New Roman" panose="02020603050405020304" pitchFamily="18" charset="0"/>
              </a:defRPr>
            </a:lvl1pPr>
            <a:lvl2pPr marL="628650" lvl="1" indent="-171450">
              <a:lnSpc>
                <a:spcPct val="150000"/>
              </a:lnSpc>
              <a:spcAft>
                <a:spcPts val="800"/>
              </a:spcAft>
              <a:buFont typeface="Wingdings" panose="05000000000000000000" pitchFamily="2" charset="2"/>
              <a:buChar char="§"/>
              <a:defRPr sz="1200" kern="100">
                <a:latin typeface="Bahnschrift Light" panose="020B0502040204020203" pitchFamily="34" charset="0"/>
                <a:cs typeface="Times New Roman" panose="02020603050405020304" pitchFamily="18" charset="0"/>
              </a:defRPr>
            </a:lvl2pPr>
          </a:lstStyle>
          <a:p>
            <a:pPr>
              <a:lnSpc>
                <a:spcPct val="100000"/>
              </a:lnSpc>
              <a:spcAft>
                <a:spcPts val="0"/>
              </a:spcAft>
            </a:pPr>
            <a:r>
              <a:rPr lang="en-US" dirty="0"/>
              <a:t>Real Exchange Rate (RER):</a:t>
            </a:r>
          </a:p>
          <a:p>
            <a:pPr marL="171450" indent="-171450">
              <a:lnSpc>
                <a:spcPct val="100000"/>
              </a:lnSpc>
              <a:spcAft>
                <a:spcPts val="0"/>
              </a:spcAft>
              <a:buFont typeface="Arial" panose="020B0604020202020204" pitchFamily="34" charset="0"/>
              <a:buChar char="•"/>
            </a:pPr>
            <a:r>
              <a:rPr lang="en-US" b="0" dirty="0">
                <a:latin typeface="Bahnschrift Light" panose="020B0502040204020203" pitchFamily="34" charset="0"/>
              </a:rPr>
              <a:t>High-inflation episode of 2022-23 and slow ER adjustment led to a RER overvaluation.</a:t>
            </a:r>
          </a:p>
          <a:p>
            <a:pPr marL="171450" indent="-171450">
              <a:lnSpc>
                <a:spcPct val="100000"/>
              </a:lnSpc>
              <a:spcAft>
                <a:spcPts val="0"/>
              </a:spcAft>
              <a:buFont typeface="Arial" panose="020B0604020202020204" pitchFamily="34" charset="0"/>
              <a:buChar char="•"/>
            </a:pPr>
            <a:r>
              <a:rPr lang="en-US" b="0" dirty="0">
                <a:latin typeface="Bahnschrift Light" panose="020B0502040204020203" pitchFamily="34" charset="0"/>
              </a:rPr>
              <a:t>Accelerated NER depreciation in 2023-24 more than corrected for earlier overvaluation, leading to some undervaluation in the course of 2024 and beyond, with positive impact on net exports. </a:t>
            </a:r>
          </a:p>
          <a:p>
            <a:pPr marL="171450" indent="-171450">
              <a:lnSpc>
                <a:spcPct val="100000"/>
              </a:lnSpc>
              <a:spcAft>
                <a:spcPts val="0"/>
              </a:spcAft>
              <a:buFont typeface="Arial" panose="020B0604020202020204" pitchFamily="34" charset="0"/>
              <a:buChar char="•"/>
            </a:pPr>
            <a:r>
              <a:rPr lang="en-US" b="0" dirty="0">
                <a:latin typeface="Bahnschrift Light" panose="020B0502040204020203" pitchFamily="34" charset="0"/>
              </a:rPr>
              <a:t>Return to NER target path means RER gradually returns to steady state (no </a:t>
            </a:r>
            <a:r>
              <a:rPr lang="en-US" sz="1400" b="0" dirty="0">
                <a:latin typeface="Bahnschrift Light" panose="020B0502040204020203" pitchFamily="34" charset="0"/>
              </a:rPr>
              <a:t>over/undervaluation). </a:t>
            </a:r>
          </a:p>
        </p:txBody>
      </p:sp>
      <p:sp>
        <p:nvSpPr>
          <p:cNvPr id="13" name="TextBox 12">
            <a:extLst>
              <a:ext uri="{FF2B5EF4-FFF2-40B4-BE49-F238E27FC236}">
                <a16:creationId xmlns:a16="http://schemas.microsoft.com/office/drawing/2014/main" id="{A0469B6A-29C3-795C-0071-532C20E88836}"/>
              </a:ext>
            </a:extLst>
          </p:cNvPr>
          <p:cNvSpPr txBox="1"/>
          <p:nvPr/>
        </p:nvSpPr>
        <p:spPr>
          <a:xfrm>
            <a:off x="532572" y="1296366"/>
            <a:ext cx="4479695" cy="1716356"/>
          </a:xfrm>
          <a:prstGeom prst="rect">
            <a:avLst/>
          </a:prstGeom>
          <a:noFill/>
          <a:ln>
            <a:solidFill>
              <a:schemeClr val="accent5">
                <a:lumMod val="20000"/>
                <a:lumOff val="80000"/>
              </a:schemeClr>
            </a:solidFill>
          </a:ln>
        </p:spPr>
        <p:txBody>
          <a:bodyPr wrap="square">
            <a:noAutofit/>
          </a:bodyPr>
          <a:lstStyle/>
          <a:p>
            <a:pPr marL="0" marR="0">
              <a:spcAft>
                <a:spcPts val="0"/>
              </a:spcAft>
            </a:pPr>
            <a:r>
              <a:rPr lang="en-US" sz="1200" b="1" kern="100" dirty="0">
                <a:effectLst/>
                <a:latin typeface="Bahnschrift" panose="020B0502040204020203" pitchFamily="34" charset="0"/>
                <a:ea typeface="Aptos" panose="020B0004020202020204" pitchFamily="34" charset="0"/>
                <a:cs typeface="Times New Roman" panose="02020603050405020304" pitchFamily="18" charset="0"/>
              </a:rPr>
              <a:t>Nominal Exchange Rates (NER):</a:t>
            </a:r>
          </a:p>
          <a:p>
            <a:pPr marL="171450" marR="0" indent="-171450">
              <a:spcAft>
                <a:spcPts val="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After slow depreciation during inflationary episode of 2022-23—leading to real overvaluation—rate of depreciation accelerated from mid-2023 to end-2024.</a:t>
            </a:r>
          </a:p>
          <a:p>
            <a:pPr marL="171450" marR="0" indent="-171450">
              <a:spcAft>
                <a:spcPts val="0"/>
              </a:spcAft>
              <a:buFont typeface="Wingdings" panose="05000000000000000000" pitchFamily="2" charset="2"/>
              <a:buChar char="§"/>
            </a:pPr>
            <a:r>
              <a:rPr lang="en-US" sz="1200" kern="100" dirty="0">
                <a:latin typeface="Bahnschrift Light" panose="020B0502040204020203" pitchFamily="34" charset="0"/>
                <a:cs typeface="Times New Roman" panose="02020603050405020304" pitchFamily="18" charset="0"/>
              </a:rPr>
              <a:t>From 2025, ER forecast to return to ER target path of deprecation of some 3% per year, in line with inflation differentials, and no need for further RER depreciation, other things being equal.</a:t>
            </a:r>
          </a:p>
        </p:txBody>
      </p:sp>
      <p:sp>
        <p:nvSpPr>
          <p:cNvPr id="14" name="TextBox 13">
            <a:extLst>
              <a:ext uri="{FF2B5EF4-FFF2-40B4-BE49-F238E27FC236}">
                <a16:creationId xmlns:a16="http://schemas.microsoft.com/office/drawing/2014/main" id="{15A5176F-870F-9141-638F-A130501AADEC}"/>
              </a:ext>
            </a:extLst>
          </p:cNvPr>
          <p:cNvSpPr txBox="1"/>
          <p:nvPr/>
        </p:nvSpPr>
        <p:spPr>
          <a:xfrm>
            <a:off x="490239" y="5099159"/>
            <a:ext cx="4522028" cy="1439753"/>
          </a:xfrm>
          <a:prstGeom prst="rect">
            <a:avLst/>
          </a:prstGeom>
          <a:noFill/>
          <a:ln>
            <a:solidFill>
              <a:schemeClr val="accent5">
                <a:lumMod val="20000"/>
                <a:lumOff val="80000"/>
              </a:schemeClr>
            </a:solidFill>
          </a:ln>
        </p:spPr>
        <p:txBody>
          <a:bodyPr wrap="square">
            <a:spAutoFit/>
          </a:bodyPr>
          <a:lstStyle/>
          <a:p>
            <a:pPr marL="0" marR="0">
              <a:lnSpc>
                <a:spcPct val="150000"/>
              </a:lnSpc>
              <a:spcAft>
                <a:spcPts val="0"/>
              </a:spcAft>
            </a:pPr>
            <a:r>
              <a:rPr lang="en-US" sz="1200" b="1" kern="100" dirty="0">
                <a:latin typeface="Bahnschrift" panose="020B0502040204020203" pitchFamily="34" charset="0"/>
                <a:cs typeface="Times New Roman" panose="02020603050405020304" pitchFamily="18" charset="0"/>
              </a:rPr>
              <a:t>Exchange rate “rule” used in forecast</a:t>
            </a:r>
            <a:r>
              <a:rPr lang="en-US" sz="1200" b="0" dirty="0">
                <a:latin typeface="Bahnschrift" panose="020B0502040204020203" pitchFamily="34" charset="0"/>
              </a:rPr>
              <a:t>:</a:t>
            </a:r>
          </a:p>
          <a:p>
            <a:pPr marR="0">
              <a:lnSpc>
                <a:spcPct val="150000"/>
              </a:lnSpc>
              <a:spcAft>
                <a:spcPts val="0"/>
              </a:spcAft>
            </a:pPr>
            <a:r>
              <a:rPr lang="en-US" sz="1200" b="0" dirty="0">
                <a:latin typeface="Bahnschrift Light" panose="020B0502040204020203" pitchFamily="34" charset="0"/>
              </a:rPr>
              <a:t>NER gradually moving with inflation differentials and steady state target RER depreciation rate (based on assessment of fundamentals), with only weak response to interest rate differentials.</a:t>
            </a:r>
            <a:endParaRPr lang="en-US" sz="1200" kern="100" dirty="0">
              <a:latin typeface="Bahnschrift Light" panose="020B0502040204020203" pitchFamily="34" charset="0"/>
              <a:cs typeface="Times New Roman" panose="02020603050405020304" pitchFamily="18" charset="0"/>
            </a:endParaRPr>
          </a:p>
        </p:txBody>
      </p:sp>
      <p:pic>
        <p:nvPicPr>
          <p:cNvPr id="16" name="Picture 15">
            <a:extLst>
              <a:ext uri="{FF2B5EF4-FFF2-40B4-BE49-F238E27FC236}">
                <a16:creationId xmlns:a16="http://schemas.microsoft.com/office/drawing/2014/main" id="{5AADDCCC-B0AF-C7AC-CF3E-1095EA9EC622}"/>
              </a:ext>
            </a:extLst>
          </p:cNvPr>
          <p:cNvPicPr>
            <a:picLocks noChangeAspect="1"/>
          </p:cNvPicPr>
          <p:nvPr/>
        </p:nvPicPr>
        <p:blipFill>
          <a:blip r:embed="rId4"/>
          <a:stretch>
            <a:fillRect/>
          </a:stretch>
        </p:blipFill>
        <p:spPr>
          <a:xfrm>
            <a:off x="8875255" y="3856568"/>
            <a:ext cx="2912533" cy="2694556"/>
          </a:xfrm>
          <a:prstGeom prst="rect">
            <a:avLst/>
          </a:prstGeom>
          <a:ln>
            <a:solidFill>
              <a:schemeClr val="accent5">
                <a:lumMod val="20000"/>
                <a:lumOff val="80000"/>
              </a:schemeClr>
            </a:solidFill>
          </a:ln>
        </p:spPr>
      </p:pic>
      <p:pic>
        <p:nvPicPr>
          <p:cNvPr id="19" name="Picture 18">
            <a:extLst>
              <a:ext uri="{FF2B5EF4-FFF2-40B4-BE49-F238E27FC236}">
                <a16:creationId xmlns:a16="http://schemas.microsoft.com/office/drawing/2014/main" id="{C1A41C2D-3923-3577-CB97-7504AEF59895}"/>
              </a:ext>
            </a:extLst>
          </p:cNvPr>
          <p:cNvPicPr>
            <a:picLocks noChangeAspect="1"/>
          </p:cNvPicPr>
          <p:nvPr/>
        </p:nvPicPr>
        <p:blipFill>
          <a:blip r:embed="rId5"/>
          <a:stretch>
            <a:fillRect/>
          </a:stretch>
        </p:blipFill>
        <p:spPr>
          <a:xfrm>
            <a:off x="8875254" y="1296366"/>
            <a:ext cx="2912533" cy="2395220"/>
          </a:xfrm>
          <a:prstGeom prst="rect">
            <a:avLst/>
          </a:prstGeom>
          <a:ln>
            <a:solidFill>
              <a:schemeClr val="accent5">
                <a:lumMod val="20000"/>
                <a:lumOff val="80000"/>
              </a:schemeClr>
            </a:solidFill>
          </a:ln>
        </p:spPr>
      </p:pic>
    </p:spTree>
    <p:extLst>
      <p:ext uri="{BB962C8B-B14F-4D97-AF65-F5344CB8AC3E}">
        <p14:creationId xmlns:p14="http://schemas.microsoft.com/office/powerpoint/2010/main" val="20508103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29282-7046-C4D8-0D18-7B7D8433A4A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575EB00-211B-0E7C-613E-8B4B3416D90E}"/>
              </a:ext>
            </a:extLst>
          </p:cNvPr>
          <p:cNvSpPr>
            <a:spLocks noGrp="1"/>
          </p:cNvSpPr>
          <p:nvPr>
            <p:ph type="sldNum" sz="quarter" idx="12"/>
          </p:nvPr>
        </p:nvSpPr>
        <p:spPr/>
        <p:txBody>
          <a:bodyPr/>
          <a:lstStyle/>
          <a:p>
            <a:fld id="{D97AE203-F84D-4A7F-B161-8561326BE072}" type="slidenum">
              <a:rPr lang="en-US" smtClean="0"/>
              <a:pPr/>
              <a:t>22</a:t>
            </a:fld>
            <a:endParaRPr lang="en-US" dirty="0"/>
          </a:p>
        </p:txBody>
      </p:sp>
      <p:sp>
        <p:nvSpPr>
          <p:cNvPr id="2" name="Title 1">
            <a:extLst>
              <a:ext uri="{FF2B5EF4-FFF2-40B4-BE49-F238E27FC236}">
                <a16:creationId xmlns:a16="http://schemas.microsoft.com/office/drawing/2014/main" id="{3E61E4B2-716E-3D87-F285-17B209CE8B46}"/>
              </a:ext>
            </a:extLst>
          </p:cNvPr>
          <p:cNvSpPr>
            <a:spLocks noGrp="1"/>
          </p:cNvSpPr>
          <p:nvPr>
            <p:ph type="title" idx="4294967295"/>
          </p:nvPr>
        </p:nvSpPr>
        <p:spPr>
          <a:xfrm>
            <a:off x="3276600" y="441325"/>
            <a:ext cx="5562600" cy="396875"/>
          </a:xfrm>
        </p:spPr>
        <p:txBody>
          <a:bodyPr>
            <a:normAutofit fontScale="90000"/>
          </a:bodyPr>
          <a:lstStyle/>
          <a:p>
            <a:pPr>
              <a:lnSpc>
                <a:spcPct val="150000"/>
              </a:lnSpc>
            </a:pPr>
            <a:r>
              <a:rPr lang="en-GB" b="1" dirty="0">
                <a:solidFill>
                  <a:srgbClr val="008BCC"/>
                </a:solidFill>
                <a:latin typeface="Bahnschrift" panose="020B0502040204020203" pitchFamily="34" charset="0"/>
                <a:cs typeface="+mn-cs"/>
              </a:rPr>
              <a:t>VIII. Policies driving forecasts</a:t>
            </a:r>
          </a:p>
        </p:txBody>
      </p:sp>
      <p:sp>
        <p:nvSpPr>
          <p:cNvPr id="5" name="Content Placeholder 2">
            <a:extLst>
              <a:ext uri="{FF2B5EF4-FFF2-40B4-BE49-F238E27FC236}">
                <a16:creationId xmlns:a16="http://schemas.microsoft.com/office/drawing/2014/main" id="{2A66A508-DB28-B023-DC0E-D21FBF74CEDE}"/>
              </a:ext>
            </a:extLst>
          </p:cNvPr>
          <p:cNvSpPr txBox="1">
            <a:spLocks/>
          </p:cNvSpPr>
          <p:nvPr/>
        </p:nvSpPr>
        <p:spPr>
          <a:xfrm>
            <a:off x="381000" y="1143000"/>
            <a:ext cx="11201400" cy="5334000"/>
          </a:xfrm>
          <a:prstGeom prst="rect">
            <a:avLst/>
          </a:prstGeom>
        </p:spPr>
        <p:txBody>
          <a:bodyPr>
            <a:noAutofit/>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spcAft>
                <a:spcPts val="600"/>
              </a:spcAft>
              <a:buFont typeface="Wingdings" panose="05000000000000000000" pitchFamily="2" charset="2"/>
              <a:buChar char="§"/>
            </a:pPr>
            <a:endParaRPr lang="en-GB" sz="1400" dirty="0"/>
          </a:p>
        </p:txBody>
      </p:sp>
      <p:sp>
        <p:nvSpPr>
          <p:cNvPr id="8" name="TextBox 7">
            <a:extLst>
              <a:ext uri="{FF2B5EF4-FFF2-40B4-BE49-F238E27FC236}">
                <a16:creationId xmlns:a16="http://schemas.microsoft.com/office/drawing/2014/main" id="{AB8F1E6C-DA97-4A9D-685D-B846CBEB5751}"/>
              </a:ext>
            </a:extLst>
          </p:cNvPr>
          <p:cNvSpPr txBox="1"/>
          <p:nvPr/>
        </p:nvSpPr>
        <p:spPr>
          <a:xfrm>
            <a:off x="609600" y="1219200"/>
            <a:ext cx="10896600" cy="4614084"/>
          </a:xfrm>
          <a:prstGeom prst="rect">
            <a:avLst/>
          </a:prstGeom>
          <a:noFill/>
          <a:ln>
            <a:solidFill>
              <a:schemeClr val="accent1">
                <a:lumMod val="40000"/>
                <a:lumOff val="60000"/>
              </a:schemeClr>
            </a:solidFill>
          </a:ln>
        </p:spPr>
        <p:txBody>
          <a:bodyPr wrap="square" rtlCol="0">
            <a:spAutoFit/>
          </a:bodyPr>
          <a:lstStyle/>
          <a:p>
            <a:pPr>
              <a:lnSpc>
                <a:spcPct val="150000"/>
              </a:lnSpc>
            </a:pPr>
            <a:r>
              <a:rPr lang="en-US" sz="2000" b="1" kern="100" dirty="0">
                <a:solidFill>
                  <a:srgbClr val="109351"/>
                </a:solidFill>
                <a:latin typeface="Bahnschrift" panose="020B0502040204020203" pitchFamily="34" charset="0"/>
                <a:ea typeface="Aptos" panose="020B0004020202020204" pitchFamily="34" charset="0"/>
                <a:cs typeface="Times New Roman" panose="02020603050405020304" pitchFamily="18" charset="0"/>
              </a:rPr>
              <a:t>Real Output growth:</a:t>
            </a:r>
            <a:endParaRPr lang="en-US" sz="1400" b="1" kern="100" dirty="0">
              <a:solidFill>
                <a:srgbClr val="109351"/>
              </a:solidFill>
              <a:latin typeface="Bahnschrift" panose="020B0502040204020203" pitchFamily="34" charset="0"/>
              <a:ea typeface="Aptos" panose="020B0004020202020204" pitchFamily="34" charset="0"/>
              <a:cs typeface="Times New Roman" panose="02020603050405020304" pitchFamily="18" charset="0"/>
            </a:endParaRPr>
          </a:p>
          <a:p>
            <a:pPr>
              <a:lnSpc>
                <a:spcPct val="150000"/>
              </a:lnSpc>
            </a:pPr>
            <a:r>
              <a:rPr lang="en-US" sz="1800" b="1" kern="100" dirty="0">
                <a:solidFill>
                  <a:prstClr val="black"/>
                </a:solidFill>
                <a:latin typeface="Bahnschrift" panose="020B0502040204020203" pitchFamily="34" charset="0"/>
                <a:ea typeface="Aptos" panose="020B0004020202020204" pitchFamily="34" charset="0"/>
                <a:cs typeface="Times New Roman" panose="02020603050405020304" pitchFamily="18" charset="0"/>
              </a:rPr>
              <a:t>S</a:t>
            </a:r>
            <a:r>
              <a:rPr kumimoji="0" lang="en-US" sz="1800" b="1" i="0" u="none" strike="noStrike" kern="100" cap="none" spc="0" normalizeH="0" baseline="0" noProof="0" dirty="0">
                <a:ln>
                  <a:noFill/>
                </a:ln>
                <a:solidFill>
                  <a:prstClr val="black"/>
                </a:solidFill>
                <a:effectLst/>
                <a:uLnTx/>
                <a:uFillTx/>
                <a:latin typeface="Bahnschrift" panose="020B0502040204020203" pitchFamily="34" charset="0"/>
                <a:ea typeface="Aptos" panose="020B0004020202020204" pitchFamily="34" charset="0"/>
                <a:cs typeface="Times New Roman" panose="02020603050405020304" pitchFamily="18" charset="0"/>
              </a:rPr>
              <a:t>lowdown in 2025-26: </a:t>
            </a:r>
          </a:p>
          <a:p>
            <a:pPr marL="628650" lvl="1" indent="-171450">
              <a:lnSpc>
                <a:spcPct val="150000"/>
              </a:lnSpc>
              <a:buFont typeface="Wingdings" panose="05000000000000000000" pitchFamily="2" charset="2"/>
              <a:buChar char="§"/>
              <a:defRPr/>
            </a:pPr>
            <a:r>
              <a:rPr kumimoji="0" lang="en-US" sz="1800" b="1" i="0" u="none" strike="noStrike" kern="100" cap="none" spc="0" normalizeH="0" baseline="0" noProof="0" dirty="0">
                <a:ln>
                  <a:noFill/>
                </a:ln>
                <a:solidFill>
                  <a:prstClr val="black"/>
                </a:solidFill>
                <a:effectLst/>
                <a:uLnTx/>
                <a:uFillTx/>
                <a:latin typeface="Bahnschrift Light" panose="020B0502040204020203" pitchFamily="34" charset="0"/>
                <a:ea typeface="Aptos" panose="020B0004020202020204" pitchFamily="34" charset="0"/>
                <a:cs typeface="Times New Roman" panose="02020603050405020304" pitchFamily="18" charset="0"/>
              </a:rPr>
              <a:t>Fiscal policy: </a:t>
            </a:r>
            <a:r>
              <a:rPr lang="en-US" sz="1800" b="1" kern="100" dirty="0">
                <a:solidFill>
                  <a:prstClr val="black"/>
                </a:solidFill>
                <a:latin typeface="Bahnschrift Light" panose="020B0502040204020203" pitchFamily="34" charset="0"/>
                <a:ea typeface="Aptos" panose="020B0004020202020204" pitchFamily="34" charset="0"/>
                <a:cs typeface="Times New Roman" panose="02020603050405020304" pitchFamily="18" charset="0"/>
              </a:rPr>
              <a:t>contraction</a:t>
            </a:r>
            <a:r>
              <a:rPr kumimoji="0" lang="en-US" sz="1800" b="1" i="0" u="none" strike="noStrike" kern="100" cap="none" spc="0" normalizeH="0" baseline="0" noProof="0" dirty="0">
                <a:ln>
                  <a:noFill/>
                </a:ln>
                <a:solidFill>
                  <a:prstClr val="black"/>
                </a:solidFill>
                <a:effectLst/>
                <a:uLnTx/>
                <a:uFillTx/>
                <a:latin typeface="Bahnschrift Light" panose="020B0502040204020203" pitchFamily="34" charset="0"/>
                <a:ea typeface="Aptos" panose="020B0004020202020204" pitchFamily="34" charset="0"/>
                <a:cs typeface="Times New Roman" panose="02020603050405020304" pitchFamily="18" charset="0"/>
              </a:rPr>
              <a:t> fiscal </a:t>
            </a:r>
            <a:r>
              <a:rPr lang="en-US" sz="1800" b="1" kern="100" dirty="0">
                <a:solidFill>
                  <a:prstClr val="black"/>
                </a:solidFill>
                <a:latin typeface="Bahnschrift Light" panose="020B0502040204020203" pitchFamily="34" charset="0"/>
                <a:ea typeface="Aptos" panose="020B0004020202020204" pitchFamily="34" charset="0"/>
                <a:cs typeface="Times New Roman" panose="02020603050405020304" pitchFamily="18" charset="0"/>
              </a:rPr>
              <a:t>policy—</a:t>
            </a:r>
            <a:r>
              <a:rPr kumimoji="0" lang="en-US" sz="1800" b="0" i="0" u="none" strike="noStrike" kern="100" cap="none" spc="0" normalizeH="0" baseline="0" noProof="0" dirty="0">
                <a:ln>
                  <a:noFill/>
                </a:ln>
                <a:solidFill>
                  <a:prstClr val="black"/>
                </a:solidFill>
                <a:effectLst/>
                <a:uLnTx/>
                <a:uFillTx/>
                <a:latin typeface="Bahnschrift Light" panose="020B0502040204020203" pitchFamily="34" charset="0"/>
                <a:ea typeface="Aptos" panose="020B0004020202020204" pitchFamily="34" charset="0"/>
                <a:cs typeface="Times New Roman" panose="02020603050405020304" pitchFamily="18" charset="0"/>
              </a:rPr>
              <a:t>strong fiscal consolidation </a:t>
            </a:r>
            <a:r>
              <a:rPr lang="en-US" sz="1800" kern="100" dirty="0" err="1">
                <a:solidFill>
                  <a:prstClr val="black"/>
                </a:solidFill>
                <a:latin typeface="Bahnschrift Light" panose="020B0502040204020203" pitchFamily="34" charset="0"/>
                <a:ea typeface="Aptos" panose="020B0004020202020204" pitchFamily="34" charset="0"/>
                <a:cs typeface="Times New Roman" panose="02020603050405020304" pitchFamily="18" charset="0"/>
              </a:rPr>
              <a:t>i.e</a:t>
            </a:r>
            <a:r>
              <a:rPr lang="en-US" sz="1800" kern="100" dirty="0">
                <a:solidFill>
                  <a:prstClr val="black"/>
                </a:solidFill>
                <a:latin typeface="Bahnschrift Light" panose="020B0502040204020203" pitchFamily="34" charset="0"/>
                <a:ea typeface="Aptos" panose="020B0004020202020204" pitchFamily="34" charset="0"/>
                <a:cs typeface="Times New Roman" panose="02020603050405020304" pitchFamily="18" charset="0"/>
              </a:rPr>
              <a:t>, tight </a:t>
            </a:r>
            <a:r>
              <a:rPr kumimoji="0" lang="en-US" sz="1800" b="0" i="0" u="none" strike="noStrike" kern="100" cap="none" spc="0" normalizeH="0" baseline="0" noProof="0" dirty="0">
                <a:ln>
                  <a:noFill/>
                </a:ln>
                <a:solidFill>
                  <a:prstClr val="black"/>
                </a:solidFill>
                <a:effectLst/>
                <a:uLnTx/>
                <a:uFillTx/>
                <a:latin typeface="Bahnschrift Light" panose="020B0502040204020203" pitchFamily="34" charset="0"/>
                <a:ea typeface="Aptos" panose="020B0004020202020204" pitchFamily="34" charset="0"/>
                <a:cs typeface="Times New Roman" panose="02020603050405020304" pitchFamily="18" charset="0"/>
              </a:rPr>
              <a:t>govt demand for G&amp;S falls and negative fiscal impulse on private demand)</a:t>
            </a:r>
          </a:p>
          <a:p>
            <a:pPr marL="628650" lvl="1" indent="-171450">
              <a:lnSpc>
                <a:spcPct val="150000"/>
              </a:lnSpc>
              <a:buFont typeface="Wingdings" panose="05000000000000000000" pitchFamily="2" charset="2"/>
              <a:buChar char="§"/>
              <a:defRPr/>
            </a:pPr>
            <a:r>
              <a:rPr lang="en-US" sz="1800" b="1" kern="100" dirty="0">
                <a:solidFill>
                  <a:prstClr val="black"/>
                </a:solidFill>
                <a:latin typeface="Bahnschrift Light" panose="020B0502040204020203" pitchFamily="34" charset="0"/>
                <a:ea typeface="Aptos" panose="020B0004020202020204" pitchFamily="34" charset="0"/>
                <a:cs typeface="Times New Roman" panose="02020603050405020304" pitchFamily="18" charset="0"/>
              </a:rPr>
              <a:t>Monetary policy: T</a:t>
            </a:r>
            <a:r>
              <a:rPr lang="en-US" sz="1800" kern="100" dirty="0">
                <a:solidFill>
                  <a:prstClr val="black"/>
                </a:solidFill>
                <a:latin typeface="Bahnschrift Light" panose="020B0502040204020203" pitchFamily="34" charset="0"/>
                <a:ea typeface="Aptos" panose="020B0004020202020204" pitchFamily="34" charset="0"/>
                <a:cs typeface="Times New Roman" panose="02020603050405020304" pitchFamily="18" charset="0"/>
              </a:rPr>
              <a:t>ight Real interest rates contracting demand</a:t>
            </a:r>
          </a:p>
          <a:p>
            <a:pPr marL="628650" lvl="1" indent="-171450">
              <a:lnSpc>
                <a:spcPct val="150000"/>
              </a:lnSpc>
              <a:buFont typeface="Wingdings" panose="05000000000000000000" pitchFamily="2" charset="2"/>
              <a:buChar char="§"/>
              <a:defRPr/>
            </a:pPr>
            <a:r>
              <a:rPr kumimoji="0" lang="en-US" sz="1800" b="1" i="0" u="none" strike="noStrike" kern="100" cap="none" spc="0" normalizeH="0" baseline="0" noProof="0" dirty="0">
                <a:ln>
                  <a:noFill/>
                </a:ln>
                <a:solidFill>
                  <a:prstClr val="black"/>
                </a:solidFill>
                <a:effectLst/>
                <a:uLnTx/>
                <a:uFillTx/>
                <a:latin typeface="Bahnschrift Light" panose="020B0502040204020203" pitchFamily="34" charset="0"/>
                <a:ea typeface="Aptos" panose="020B0004020202020204" pitchFamily="34" charset="0"/>
                <a:cs typeface="Times New Roman" panose="02020603050405020304" pitchFamily="18" charset="0"/>
              </a:rPr>
              <a:t>Exchange rate: </a:t>
            </a:r>
            <a:r>
              <a:rPr kumimoji="0" lang="en-US" sz="1800" b="0" i="0" u="none" strike="noStrike" kern="100" cap="none" spc="0" normalizeH="0" baseline="0" noProof="0" dirty="0">
                <a:ln>
                  <a:noFill/>
                </a:ln>
                <a:solidFill>
                  <a:prstClr val="black"/>
                </a:solidFill>
                <a:effectLst/>
                <a:uLnTx/>
                <a:uFillTx/>
                <a:latin typeface="Bahnschrift Light" panose="020B0502040204020203" pitchFamily="34" charset="0"/>
                <a:ea typeface="Aptos" panose="020B0004020202020204" pitchFamily="34" charset="0"/>
                <a:cs typeface="Times New Roman" panose="02020603050405020304" pitchFamily="18" charset="0"/>
              </a:rPr>
              <a:t>Further RER depreciation to negatively affect net exports.</a:t>
            </a:r>
            <a:endParaRPr lang="en-US" sz="1800" kern="100" noProof="0" dirty="0">
              <a:solidFill>
                <a:prstClr val="black"/>
              </a:solidFill>
              <a:latin typeface="Bahnschrift Light" panose="020B0502040204020203" pitchFamily="34" charset="0"/>
              <a:ea typeface="Aptos" panose="020B0004020202020204" pitchFamily="34" charset="0"/>
              <a:cs typeface="Times New Roman" panose="02020603050405020304" pitchFamily="18" charset="0"/>
            </a:endParaRPr>
          </a:p>
          <a:p>
            <a:pPr lvl="1">
              <a:lnSpc>
                <a:spcPct val="150000"/>
              </a:lnSpc>
              <a:defRPr/>
            </a:pPr>
            <a:endParaRPr kumimoji="0" lang="en-RW" sz="1800" b="0" i="0" u="none" strike="noStrike" kern="100" cap="none" spc="0" normalizeH="0" baseline="0" noProof="0" dirty="0">
              <a:ln>
                <a:noFill/>
              </a:ln>
              <a:solidFill>
                <a:prstClr val="black"/>
              </a:solidFill>
              <a:effectLst/>
              <a:uLnTx/>
              <a:uFillTx/>
              <a:latin typeface="Bahnschrift Light" panose="020B0502040204020203" pitchFamily="34" charset="0"/>
              <a:ea typeface="Aptos" panose="020B0004020202020204" pitchFamily="34" charset="0"/>
              <a:cs typeface="Times New Roman" panose="02020603050405020304" pitchFamily="18" charset="0"/>
            </a:endParaRPr>
          </a:p>
          <a:p>
            <a:pPr>
              <a:lnSpc>
                <a:spcPct val="150000"/>
              </a:lnSpc>
            </a:pPr>
            <a:r>
              <a:rPr lang="en-US" sz="1600" b="1" kern="100" dirty="0">
                <a:latin typeface="Bahnschrift" panose="020B0502040204020203" pitchFamily="34" charset="0"/>
                <a:ea typeface="Aptos" panose="020B0004020202020204" pitchFamily="34" charset="0"/>
                <a:cs typeface="Times New Roman" panose="02020603050405020304" pitchFamily="18" charset="0"/>
              </a:rPr>
              <a:t>C</a:t>
            </a:r>
            <a:r>
              <a:rPr lang="en-US" sz="1600" b="1" kern="100" dirty="0">
                <a:effectLst/>
                <a:latin typeface="Bahnschrift" panose="020B0502040204020203" pitchFamily="34" charset="0"/>
                <a:ea typeface="Aptos" panose="020B0004020202020204" pitchFamily="34" charset="0"/>
                <a:cs typeface="Times New Roman" panose="02020603050405020304" pitchFamily="18" charset="0"/>
              </a:rPr>
              <a:t>atch up in 2027-28: </a:t>
            </a:r>
          </a:p>
          <a:p>
            <a:pPr marL="628650" lvl="1" indent="-171450">
              <a:lnSpc>
                <a:spcPct val="150000"/>
              </a:lnSpc>
              <a:buFont typeface="Wingdings" panose="05000000000000000000" pitchFamily="2" charset="2"/>
              <a:buChar char="§"/>
            </a:pPr>
            <a:r>
              <a:rPr lang="en-US" sz="1800" b="1" kern="100" dirty="0">
                <a:effectLst/>
                <a:latin typeface="Bahnschrift Light" panose="020B0502040204020203" pitchFamily="34" charset="0"/>
                <a:ea typeface="Aptos" panose="020B0004020202020204" pitchFamily="34" charset="0"/>
                <a:cs typeface="Times New Roman" panose="02020603050405020304" pitchFamily="18" charset="0"/>
              </a:rPr>
              <a:t>Fiscal policy: </a:t>
            </a:r>
            <a:r>
              <a:rPr lang="en-US" sz="1800" kern="100" dirty="0">
                <a:latin typeface="Bahnschrift Light" panose="020B0502040204020203" pitchFamily="34" charset="0"/>
                <a:ea typeface="Aptos" panose="020B0004020202020204" pitchFamily="34" charset="0"/>
                <a:cs typeface="Times New Roman" panose="02020603050405020304" pitchFamily="18" charset="0"/>
              </a:rPr>
              <a:t>expansionary</a:t>
            </a:r>
            <a:r>
              <a:rPr lang="en-US" sz="1800" kern="100" dirty="0">
                <a:effectLst/>
                <a:latin typeface="Bahnschrift Light" panose="020B0502040204020203" pitchFamily="34" charset="0"/>
                <a:ea typeface="Aptos" panose="020B0004020202020204" pitchFamily="34" charset="0"/>
                <a:cs typeface="Times New Roman" panose="02020603050405020304" pitchFamily="18" charset="0"/>
              </a:rPr>
              <a:t> fiscal demand—end of fiscal consolidation (Govt demand pick up)</a:t>
            </a:r>
          </a:p>
          <a:p>
            <a:pPr marL="628650" lvl="1" indent="-171450">
              <a:lnSpc>
                <a:spcPct val="150000"/>
              </a:lnSpc>
              <a:buFont typeface="Wingdings" panose="05000000000000000000" pitchFamily="2" charset="2"/>
              <a:buChar char="§"/>
            </a:pPr>
            <a:r>
              <a:rPr lang="en-US" sz="1800" b="1" kern="100" dirty="0">
                <a:latin typeface="Bahnschrift Light" panose="020B0502040204020203" pitchFamily="34" charset="0"/>
                <a:ea typeface="Aptos" panose="020B0004020202020204" pitchFamily="34" charset="0"/>
                <a:cs typeface="Times New Roman" panose="02020603050405020304" pitchFamily="18" charset="0"/>
              </a:rPr>
              <a:t>Monetary policy: </a:t>
            </a:r>
            <a:r>
              <a:rPr lang="en-US" sz="1800" kern="100" dirty="0">
                <a:latin typeface="Bahnschrift Light" panose="020B0502040204020203" pitchFamily="34" charset="0"/>
                <a:ea typeface="Aptos" panose="020B0004020202020204" pitchFamily="34" charset="0"/>
                <a:cs typeface="Times New Roman" panose="02020603050405020304" pitchFamily="18" charset="0"/>
              </a:rPr>
              <a:t>Expansionary Real Interest Rate </a:t>
            </a:r>
          </a:p>
          <a:p>
            <a:pPr marL="628650" lvl="1" indent="-171450">
              <a:lnSpc>
                <a:spcPct val="150000"/>
              </a:lnSpc>
              <a:buFont typeface="Wingdings" panose="05000000000000000000" pitchFamily="2" charset="2"/>
              <a:buChar char="§"/>
            </a:pPr>
            <a:r>
              <a:rPr lang="en-US" sz="1800" b="1" kern="100" dirty="0">
                <a:effectLst/>
                <a:latin typeface="Bahnschrift Light" panose="020B0502040204020203" pitchFamily="34" charset="0"/>
                <a:ea typeface="Aptos" panose="020B0004020202020204" pitchFamily="34" charset="0"/>
                <a:cs typeface="Times New Roman" panose="02020603050405020304" pitchFamily="18" charset="0"/>
              </a:rPr>
              <a:t>Exchange rate: </a:t>
            </a:r>
            <a:r>
              <a:rPr lang="en-US" sz="1800" kern="100" dirty="0">
                <a:effectLst/>
                <a:latin typeface="Bahnschrift Light" panose="020B0502040204020203" pitchFamily="34" charset="0"/>
                <a:ea typeface="Aptos" panose="020B0004020202020204" pitchFamily="34" charset="0"/>
                <a:cs typeface="Times New Roman" panose="02020603050405020304" pitchFamily="18" charset="0"/>
              </a:rPr>
              <a:t>Positive impact of more depreciated RER to exports</a:t>
            </a:r>
            <a:endParaRPr lang="en-US" sz="1800" b="1" kern="100" dirty="0">
              <a:effectLst/>
              <a:latin typeface="Bahnschrift" panose="020B0502040204020203"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1305382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F2C85A4-DDE9-C3B5-5A35-6FA477425280}"/>
              </a:ext>
            </a:extLst>
          </p:cNvPr>
          <p:cNvSpPr>
            <a:spLocks noGrp="1"/>
          </p:cNvSpPr>
          <p:nvPr>
            <p:ph type="sldNum" sz="quarter" idx="12"/>
          </p:nvPr>
        </p:nvSpPr>
        <p:spPr/>
        <p:txBody>
          <a:bodyPr/>
          <a:lstStyle/>
          <a:p>
            <a:fld id="{D97AE203-F84D-4A7F-B161-8561326BE072}" type="slidenum">
              <a:rPr lang="en-US" smtClean="0"/>
              <a:pPr/>
              <a:t>23</a:t>
            </a:fld>
            <a:endParaRPr lang="en-US" dirty="0"/>
          </a:p>
        </p:txBody>
      </p:sp>
      <p:sp>
        <p:nvSpPr>
          <p:cNvPr id="2" name="Title 1">
            <a:extLst>
              <a:ext uri="{FF2B5EF4-FFF2-40B4-BE49-F238E27FC236}">
                <a16:creationId xmlns:a16="http://schemas.microsoft.com/office/drawing/2014/main" id="{EED2D1E2-CA9D-BA89-EEEC-51D78AD3808C}"/>
              </a:ext>
            </a:extLst>
          </p:cNvPr>
          <p:cNvSpPr>
            <a:spLocks noGrp="1"/>
          </p:cNvSpPr>
          <p:nvPr>
            <p:ph type="title" idx="4294967295"/>
          </p:nvPr>
        </p:nvSpPr>
        <p:spPr>
          <a:xfrm>
            <a:off x="2438400" y="647650"/>
            <a:ext cx="8839200" cy="549275"/>
          </a:xfrm>
        </p:spPr>
        <p:txBody>
          <a:bodyPr>
            <a:normAutofit fontScale="90000"/>
          </a:bodyPr>
          <a:lstStyle/>
          <a:p>
            <a:pPr>
              <a:lnSpc>
                <a:spcPct val="150000"/>
              </a:lnSpc>
            </a:pPr>
            <a:r>
              <a:rPr lang="en-GB" b="1" dirty="0">
                <a:solidFill>
                  <a:srgbClr val="008BCC"/>
                </a:solidFill>
                <a:latin typeface="Bahnschrift" panose="020B0502040204020203" pitchFamily="34" charset="0"/>
                <a:cs typeface="+mn-cs"/>
              </a:rPr>
              <a:t>VII. Forecast evaluation (latest vs. new forecast)</a:t>
            </a:r>
          </a:p>
        </p:txBody>
      </p:sp>
      <p:sp>
        <p:nvSpPr>
          <p:cNvPr id="5" name="Content Placeholder 2">
            <a:extLst>
              <a:ext uri="{FF2B5EF4-FFF2-40B4-BE49-F238E27FC236}">
                <a16:creationId xmlns:a16="http://schemas.microsoft.com/office/drawing/2014/main" id="{9B6C95DA-AC08-36FA-592F-0A9D270D4B58}"/>
              </a:ext>
            </a:extLst>
          </p:cNvPr>
          <p:cNvSpPr txBox="1">
            <a:spLocks/>
          </p:cNvSpPr>
          <p:nvPr/>
        </p:nvSpPr>
        <p:spPr>
          <a:xfrm>
            <a:off x="381000" y="1143000"/>
            <a:ext cx="11201400" cy="5334000"/>
          </a:xfrm>
          <a:prstGeom prst="rect">
            <a:avLst/>
          </a:prstGeom>
        </p:spPr>
        <p:txBody>
          <a:bodyPr>
            <a:noAutofit/>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spcAft>
                <a:spcPts val="600"/>
              </a:spcAft>
              <a:buFont typeface="Wingdings" panose="05000000000000000000" pitchFamily="2" charset="2"/>
              <a:buChar char="§"/>
            </a:pPr>
            <a:endParaRPr lang="en-GB" sz="1400" dirty="0"/>
          </a:p>
        </p:txBody>
      </p:sp>
      <p:sp>
        <p:nvSpPr>
          <p:cNvPr id="7" name="Title 1">
            <a:extLst>
              <a:ext uri="{FF2B5EF4-FFF2-40B4-BE49-F238E27FC236}">
                <a16:creationId xmlns:a16="http://schemas.microsoft.com/office/drawing/2014/main" id="{DC14A58F-5106-C8F6-D986-844BA0772EDF}"/>
              </a:ext>
            </a:extLst>
          </p:cNvPr>
          <p:cNvSpPr txBox="1">
            <a:spLocks/>
          </p:cNvSpPr>
          <p:nvPr/>
        </p:nvSpPr>
        <p:spPr>
          <a:xfrm>
            <a:off x="2438400" y="1182012"/>
            <a:ext cx="7315200" cy="396874"/>
          </a:xfrm>
          <a:prstGeom prst="rect">
            <a:avLst/>
          </a:prstGeom>
        </p:spPr>
        <p:txBody>
          <a:bodyPr anchor="b" anchorCtr="0"/>
          <a:lstStyle>
            <a:lvl1pPr algn="l" rtl="0" eaLnBrk="0" fontAlgn="base" hangingPunct="0">
              <a:spcBef>
                <a:spcPct val="0"/>
              </a:spcBef>
              <a:spcAft>
                <a:spcPct val="0"/>
              </a:spcAft>
              <a:defRPr sz="2800" kern="1200">
                <a:solidFill>
                  <a:schemeClr val="tx1"/>
                </a:solidFill>
                <a:latin typeface="+mn-lt"/>
                <a:ea typeface="ＭＳ Ｐゴシック" charset="-128"/>
                <a:cs typeface="+mj-cs"/>
              </a:defRPr>
            </a:lvl1pPr>
            <a:lvl2pPr algn="l" rtl="0" eaLnBrk="0" fontAlgn="base" hangingPunct="0">
              <a:spcBef>
                <a:spcPct val="0"/>
              </a:spcBef>
              <a:spcAft>
                <a:spcPct val="0"/>
              </a:spcAft>
              <a:defRPr sz="3200">
                <a:solidFill>
                  <a:schemeClr val="tx2"/>
                </a:solidFill>
                <a:latin typeface="Bookman Old Style" pitchFamily="18" charset="0"/>
                <a:ea typeface="ＭＳ Ｐゴシック" charset="-128"/>
              </a:defRPr>
            </a:lvl2pPr>
            <a:lvl3pPr algn="l" rtl="0" eaLnBrk="0" fontAlgn="base" hangingPunct="0">
              <a:spcBef>
                <a:spcPct val="0"/>
              </a:spcBef>
              <a:spcAft>
                <a:spcPct val="0"/>
              </a:spcAft>
              <a:defRPr sz="3200">
                <a:solidFill>
                  <a:schemeClr val="tx2"/>
                </a:solidFill>
                <a:latin typeface="Bookman Old Style" pitchFamily="18" charset="0"/>
                <a:ea typeface="ＭＳ Ｐゴシック" charset="-128"/>
              </a:defRPr>
            </a:lvl3pPr>
            <a:lvl4pPr algn="l" rtl="0" eaLnBrk="0" fontAlgn="base" hangingPunct="0">
              <a:spcBef>
                <a:spcPct val="0"/>
              </a:spcBef>
              <a:spcAft>
                <a:spcPct val="0"/>
              </a:spcAft>
              <a:defRPr sz="3200">
                <a:solidFill>
                  <a:schemeClr val="tx2"/>
                </a:solidFill>
                <a:latin typeface="Bookman Old Style" pitchFamily="18" charset="0"/>
                <a:ea typeface="ＭＳ Ｐゴシック" charset="-128"/>
              </a:defRPr>
            </a:lvl4pPr>
            <a:lvl5pPr algn="l" rtl="0" eaLnBrk="0" fontAlgn="base" hangingPunct="0">
              <a:spcBef>
                <a:spcPct val="0"/>
              </a:spcBef>
              <a:spcAft>
                <a:spcPct val="0"/>
              </a:spcAft>
              <a:defRPr sz="3200">
                <a:solidFill>
                  <a:schemeClr val="tx2"/>
                </a:solidFill>
                <a:latin typeface="Bookman Old Style" pitchFamily="18" charset="0"/>
                <a:ea typeface="ＭＳ Ｐゴシック" charset="-128"/>
              </a:defRPr>
            </a:lvl5pPr>
            <a:lvl6pPr marL="457200" algn="l" rtl="0" fontAlgn="base">
              <a:spcBef>
                <a:spcPct val="0"/>
              </a:spcBef>
              <a:spcAft>
                <a:spcPct val="0"/>
              </a:spcAft>
              <a:defRPr sz="3200">
                <a:solidFill>
                  <a:schemeClr val="tx2"/>
                </a:solidFill>
                <a:latin typeface="Bookman Old Style" pitchFamily="18" charset="0"/>
              </a:defRPr>
            </a:lvl6pPr>
            <a:lvl7pPr marL="914400" algn="l" rtl="0" fontAlgn="base">
              <a:spcBef>
                <a:spcPct val="0"/>
              </a:spcBef>
              <a:spcAft>
                <a:spcPct val="0"/>
              </a:spcAft>
              <a:defRPr sz="3200">
                <a:solidFill>
                  <a:schemeClr val="tx2"/>
                </a:solidFill>
                <a:latin typeface="Bookman Old Style" pitchFamily="18" charset="0"/>
              </a:defRPr>
            </a:lvl7pPr>
            <a:lvl8pPr marL="1371600" algn="l" rtl="0" fontAlgn="base">
              <a:spcBef>
                <a:spcPct val="0"/>
              </a:spcBef>
              <a:spcAft>
                <a:spcPct val="0"/>
              </a:spcAft>
              <a:defRPr sz="3200">
                <a:solidFill>
                  <a:schemeClr val="tx2"/>
                </a:solidFill>
                <a:latin typeface="Bookman Old Style" pitchFamily="18" charset="0"/>
              </a:defRPr>
            </a:lvl8pPr>
            <a:lvl9pPr marL="1828800" algn="l" rtl="0" fontAlgn="base">
              <a:spcBef>
                <a:spcPct val="0"/>
              </a:spcBef>
              <a:spcAft>
                <a:spcPct val="0"/>
              </a:spcAft>
              <a:defRPr sz="3200">
                <a:solidFill>
                  <a:schemeClr val="tx2"/>
                </a:solidFill>
                <a:latin typeface="Bookman Old Style" pitchFamily="18" charset="0"/>
              </a:defRPr>
            </a:lvl9pPr>
          </a:lstStyle>
          <a:p>
            <a:pPr>
              <a:lnSpc>
                <a:spcPct val="150000"/>
              </a:lnSpc>
            </a:pPr>
            <a:r>
              <a:rPr lang="en-GB" sz="2400" b="1" dirty="0">
                <a:solidFill>
                  <a:srgbClr val="109351"/>
                </a:solidFill>
                <a:latin typeface="Bahnschrift" panose="020B0502040204020203" pitchFamily="34" charset="0"/>
              </a:rPr>
              <a:t>Main indicators</a:t>
            </a:r>
          </a:p>
        </p:txBody>
      </p:sp>
      <p:sp>
        <p:nvSpPr>
          <p:cNvPr id="8" name="TextBox 7">
            <a:extLst>
              <a:ext uri="{FF2B5EF4-FFF2-40B4-BE49-F238E27FC236}">
                <a16:creationId xmlns:a16="http://schemas.microsoft.com/office/drawing/2014/main" id="{3296A0F5-D0A6-542C-AF7D-0AC2B6E046F8}"/>
              </a:ext>
            </a:extLst>
          </p:cNvPr>
          <p:cNvSpPr txBox="1"/>
          <p:nvPr/>
        </p:nvSpPr>
        <p:spPr>
          <a:xfrm>
            <a:off x="7315200" y="1662450"/>
            <a:ext cx="4267200" cy="4341958"/>
          </a:xfrm>
          <a:prstGeom prst="rect">
            <a:avLst/>
          </a:prstGeom>
          <a:noFill/>
          <a:ln>
            <a:solidFill>
              <a:schemeClr val="accent5">
                <a:lumMod val="20000"/>
                <a:lumOff val="80000"/>
              </a:schemeClr>
            </a:solidFill>
          </a:ln>
        </p:spPr>
        <p:txBody>
          <a:bodyPr wrap="square" rtlCol="0">
            <a:spAutoFit/>
          </a:bodyPr>
          <a:lstStyle/>
          <a:p>
            <a:pPr>
              <a:lnSpc>
                <a:spcPct val="150000"/>
              </a:lnSpc>
            </a:pPr>
            <a:r>
              <a:rPr lang="en-US" sz="1600" b="1" u="sng" dirty="0">
                <a:solidFill>
                  <a:srgbClr val="109351"/>
                </a:solidFill>
                <a:latin typeface="Bahnschrift Light" panose="020B0502040204020203" pitchFamily="34" charset="0"/>
              </a:rPr>
              <a:t>Nov 2024 vs. Nov 2023 forecast</a:t>
            </a:r>
          </a:p>
          <a:p>
            <a:pPr>
              <a:lnSpc>
                <a:spcPct val="150000"/>
              </a:lnSpc>
            </a:pPr>
            <a:r>
              <a:rPr lang="en-US" sz="1600" b="1" i="1" dirty="0">
                <a:latin typeface="Bahnschrift Light" panose="020B0502040204020203" pitchFamily="34" charset="0"/>
              </a:rPr>
              <a:t>Effect of new observed data/info</a:t>
            </a:r>
          </a:p>
          <a:p>
            <a:pPr marL="342900" indent="-342900">
              <a:lnSpc>
                <a:spcPct val="150000"/>
              </a:lnSpc>
              <a:buFont typeface="Wingdings" panose="05000000000000000000" pitchFamily="2" charset="2"/>
              <a:buChar char="§"/>
            </a:pPr>
            <a:r>
              <a:rPr lang="en-US" sz="1400" dirty="0">
                <a:latin typeface="Bahnschrift Light" panose="020B0502040204020203" pitchFamily="34" charset="0"/>
              </a:rPr>
              <a:t>Lower output growth due to tight monetary and fiscal policy.</a:t>
            </a:r>
          </a:p>
          <a:p>
            <a:pPr marL="342900" indent="-342900">
              <a:lnSpc>
                <a:spcPct val="150000"/>
              </a:lnSpc>
              <a:buFont typeface="Wingdings" panose="05000000000000000000" pitchFamily="2" charset="2"/>
              <a:buChar char="§"/>
            </a:pPr>
            <a:r>
              <a:rPr lang="en-US" sz="1400" dirty="0">
                <a:latin typeface="Bahnschrift Light" panose="020B0502040204020203" pitchFamily="34" charset="0"/>
              </a:rPr>
              <a:t>More responsive policy and real interest rates on inflation (recalibrated reaction of IR on inflation).</a:t>
            </a:r>
          </a:p>
          <a:p>
            <a:pPr marL="342900" indent="-342900">
              <a:lnSpc>
                <a:spcPct val="150000"/>
              </a:lnSpc>
              <a:buFont typeface="Wingdings" panose="05000000000000000000" pitchFamily="2" charset="2"/>
              <a:buChar char="§"/>
            </a:pPr>
            <a:r>
              <a:rPr lang="en-US" sz="1400" dirty="0">
                <a:latin typeface="Bahnschrift Light" panose="020B0502040204020203" pitchFamily="34" charset="0"/>
              </a:rPr>
              <a:t>More overvalued Exchange Rate (ER) leading to a higher ER depreciation. </a:t>
            </a:r>
          </a:p>
          <a:p>
            <a:pPr marL="342900" indent="-342900">
              <a:lnSpc>
                <a:spcPct val="150000"/>
              </a:lnSpc>
              <a:buFont typeface="Wingdings" panose="05000000000000000000" pitchFamily="2" charset="2"/>
              <a:buChar char="§"/>
            </a:pPr>
            <a:r>
              <a:rPr lang="en-US" sz="1400" dirty="0">
                <a:latin typeface="Bahnschrift Light" panose="020B0502040204020203" pitchFamily="34" charset="0"/>
              </a:rPr>
              <a:t>CPI turning to target and but accelerates after 2026.</a:t>
            </a:r>
          </a:p>
          <a:p>
            <a:pPr marL="342900" indent="-342900">
              <a:lnSpc>
                <a:spcPct val="150000"/>
              </a:lnSpc>
              <a:buFont typeface="Wingdings" panose="05000000000000000000" pitchFamily="2" charset="2"/>
              <a:buChar char="§"/>
            </a:pPr>
            <a:r>
              <a:rPr lang="en-US" sz="1400" dirty="0">
                <a:latin typeface="Bahnschrift Light" panose="020B0502040204020203" pitchFamily="34" charset="0"/>
              </a:rPr>
              <a:t>A lower budget deficit due to more consolidated fiscal policies.</a:t>
            </a:r>
          </a:p>
        </p:txBody>
      </p:sp>
      <p:pic>
        <p:nvPicPr>
          <p:cNvPr id="11" name="Picture 10">
            <a:extLst>
              <a:ext uri="{FF2B5EF4-FFF2-40B4-BE49-F238E27FC236}">
                <a16:creationId xmlns:a16="http://schemas.microsoft.com/office/drawing/2014/main" id="{F96C8263-8761-931D-87E5-DA8CB882AA4C}"/>
              </a:ext>
            </a:extLst>
          </p:cNvPr>
          <p:cNvPicPr>
            <a:picLocks noChangeAspect="1"/>
          </p:cNvPicPr>
          <p:nvPr/>
        </p:nvPicPr>
        <p:blipFill>
          <a:blip r:embed="rId3"/>
          <a:stretch>
            <a:fillRect/>
          </a:stretch>
        </p:blipFill>
        <p:spPr>
          <a:xfrm>
            <a:off x="1066800" y="1561953"/>
            <a:ext cx="6172200" cy="4648199"/>
          </a:xfrm>
          <a:prstGeom prst="rect">
            <a:avLst/>
          </a:prstGeom>
          <a:ln>
            <a:solidFill>
              <a:schemeClr val="accent5">
                <a:lumMod val="20000"/>
                <a:lumOff val="80000"/>
              </a:schemeClr>
            </a:solidFill>
          </a:ln>
        </p:spPr>
      </p:pic>
    </p:spTree>
    <p:extLst>
      <p:ext uri="{BB962C8B-B14F-4D97-AF65-F5344CB8AC3E}">
        <p14:creationId xmlns:p14="http://schemas.microsoft.com/office/powerpoint/2010/main" val="32207284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5DAA0-2284-87D1-F321-AC0FD09E3C3D}"/>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6FF2078-3EB9-C5F0-7970-143EF934F074}"/>
              </a:ext>
            </a:extLst>
          </p:cNvPr>
          <p:cNvSpPr>
            <a:spLocks noGrp="1"/>
          </p:cNvSpPr>
          <p:nvPr>
            <p:ph type="sldNum" sz="quarter" idx="12"/>
          </p:nvPr>
        </p:nvSpPr>
        <p:spPr/>
        <p:txBody>
          <a:bodyPr/>
          <a:lstStyle/>
          <a:p>
            <a:fld id="{D97AE203-F84D-4A7F-B161-8561326BE072}" type="slidenum">
              <a:rPr lang="en-US" smtClean="0"/>
              <a:pPr/>
              <a:t>24</a:t>
            </a:fld>
            <a:endParaRPr lang="en-US" dirty="0"/>
          </a:p>
        </p:txBody>
      </p:sp>
      <p:sp>
        <p:nvSpPr>
          <p:cNvPr id="2" name="Title 1">
            <a:extLst>
              <a:ext uri="{FF2B5EF4-FFF2-40B4-BE49-F238E27FC236}">
                <a16:creationId xmlns:a16="http://schemas.microsoft.com/office/drawing/2014/main" id="{15C0F8AA-B97D-DC41-1036-94BDAA51A751}"/>
              </a:ext>
            </a:extLst>
          </p:cNvPr>
          <p:cNvSpPr>
            <a:spLocks noGrp="1"/>
          </p:cNvSpPr>
          <p:nvPr>
            <p:ph type="title" idx="4294967295"/>
          </p:nvPr>
        </p:nvSpPr>
        <p:spPr>
          <a:xfrm>
            <a:off x="2667000" y="746125"/>
            <a:ext cx="8839200" cy="396875"/>
          </a:xfrm>
        </p:spPr>
        <p:txBody>
          <a:bodyPr>
            <a:normAutofit fontScale="90000"/>
          </a:bodyPr>
          <a:lstStyle/>
          <a:p>
            <a:pPr>
              <a:lnSpc>
                <a:spcPct val="150000"/>
              </a:lnSpc>
            </a:pPr>
            <a:r>
              <a:rPr lang="en-GB" b="1" dirty="0">
                <a:solidFill>
                  <a:srgbClr val="008BCC"/>
                </a:solidFill>
                <a:latin typeface="Bahnschrift" panose="020B0502040204020203" pitchFamily="34" charset="0"/>
                <a:cs typeface="+mn-cs"/>
              </a:rPr>
              <a:t>VIII. Model revision—Effect of recalibration</a:t>
            </a:r>
          </a:p>
        </p:txBody>
      </p:sp>
      <p:sp>
        <p:nvSpPr>
          <p:cNvPr id="5" name="Content Placeholder 2">
            <a:extLst>
              <a:ext uri="{FF2B5EF4-FFF2-40B4-BE49-F238E27FC236}">
                <a16:creationId xmlns:a16="http://schemas.microsoft.com/office/drawing/2014/main" id="{F4AF2C41-745B-2914-8149-03CBB7D6F627}"/>
              </a:ext>
            </a:extLst>
          </p:cNvPr>
          <p:cNvSpPr txBox="1">
            <a:spLocks/>
          </p:cNvSpPr>
          <p:nvPr/>
        </p:nvSpPr>
        <p:spPr>
          <a:xfrm>
            <a:off x="381000" y="1143000"/>
            <a:ext cx="11201400" cy="5334000"/>
          </a:xfrm>
          <a:prstGeom prst="rect">
            <a:avLst/>
          </a:prstGeom>
        </p:spPr>
        <p:txBody>
          <a:bodyPr>
            <a:noAutofit/>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spcAft>
                <a:spcPts val="600"/>
              </a:spcAft>
              <a:buFont typeface="Wingdings" panose="05000000000000000000" pitchFamily="2" charset="2"/>
              <a:buChar char="§"/>
            </a:pPr>
            <a:endParaRPr lang="en-GB" sz="1400" dirty="0"/>
          </a:p>
        </p:txBody>
      </p:sp>
      <p:sp>
        <p:nvSpPr>
          <p:cNvPr id="7" name="Title 1">
            <a:extLst>
              <a:ext uri="{FF2B5EF4-FFF2-40B4-BE49-F238E27FC236}">
                <a16:creationId xmlns:a16="http://schemas.microsoft.com/office/drawing/2014/main" id="{85BD608F-C07F-6A6A-C26E-1E077561A3E8}"/>
              </a:ext>
            </a:extLst>
          </p:cNvPr>
          <p:cNvSpPr txBox="1">
            <a:spLocks/>
          </p:cNvSpPr>
          <p:nvPr/>
        </p:nvSpPr>
        <p:spPr>
          <a:xfrm>
            <a:off x="2671482" y="1206434"/>
            <a:ext cx="6019800" cy="338904"/>
          </a:xfrm>
          <a:prstGeom prst="rect">
            <a:avLst/>
          </a:prstGeom>
        </p:spPr>
        <p:txBody>
          <a:bodyPr anchor="b" anchorCtr="0"/>
          <a:lstStyle>
            <a:lvl1pPr algn="l" rtl="0" eaLnBrk="0" fontAlgn="base" hangingPunct="0">
              <a:spcBef>
                <a:spcPct val="0"/>
              </a:spcBef>
              <a:spcAft>
                <a:spcPct val="0"/>
              </a:spcAft>
              <a:defRPr sz="2800" kern="1200">
                <a:solidFill>
                  <a:schemeClr val="tx1"/>
                </a:solidFill>
                <a:latin typeface="+mn-lt"/>
                <a:ea typeface="ＭＳ Ｐゴシック" charset="-128"/>
                <a:cs typeface="+mj-cs"/>
              </a:defRPr>
            </a:lvl1pPr>
            <a:lvl2pPr algn="l" rtl="0" eaLnBrk="0" fontAlgn="base" hangingPunct="0">
              <a:spcBef>
                <a:spcPct val="0"/>
              </a:spcBef>
              <a:spcAft>
                <a:spcPct val="0"/>
              </a:spcAft>
              <a:defRPr sz="3200">
                <a:solidFill>
                  <a:schemeClr val="tx2"/>
                </a:solidFill>
                <a:latin typeface="Bookman Old Style" pitchFamily="18" charset="0"/>
                <a:ea typeface="ＭＳ Ｐゴシック" charset="-128"/>
              </a:defRPr>
            </a:lvl2pPr>
            <a:lvl3pPr algn="l" rtl="0" eaLnBrk="0" fontAlgn="base" hangingPunct="0">
              <a:spcBef>
                <a:spcPct val="0"/>
              </a:spcBef>
              <a:spcAft>
                <a:spcPct val="0"/>
              </a:spcAft>
              <a:defRPr sz="3200">
                <a:solidFill>
                  <a:schemeClr val="tx2"/>
                </a:solidFill>
                <a:latin typeface="Bookman Old Style" pitchFamily="18" charset="0"/>
                <a:ea typeface="ＭＳ Ｐゴシック" charset="-128"/>
              </a:defRPr>
            </a:lvl3pPr>
            <a:lvl4pPr algn="l" rtl="0" eaLnBrk="0" fontAlgn="base" hangingPunct="0">
              <a:spcBef>
                <a:spcPct val="0"/>
              </a:spcBef>
              <a:spcAft>
                <a:spcPct val="0"/>
              </a:spcAft>
              <a:defRPr sz="3200">
                <a:solidFill>
                  <a:schemeClr val="tx2"/>
                </a:solidFill>
                <a:latin typeface="Bookman Old Style" pitchFamily="18" charset="0"/>
                <a:ea typeface="ＭＳ Ｐゴシック" charset="-128"/>
              </a:defRPr>
            </a:lvl4pPr>
            <a:lvl5pPr algn="l" rtl="0" eaLnBrk="0" fontAlgn="base" hangingPunct="0">
              <a:spcBef>
                <a:spcPct val="0"/>
              </a:spcBef>
              <a:spcAft>
                <a:spcPct val="0"/>
              </a:spcAft>
              <a:defRPr sz="3200">
                <a:solidFill>
                  <a:schemeClr val="tx2"/>
                </a:solidFill>
                <a:latin typeface="Bookman Old Style" pitchFamily="18" charset="0"/>
                <a:ea typeface="ＭＳ Ｐゴシック" charset="-128"/>
              </a:defRPr>
            </a:lvl5pPr>
            <a:lvl6pPr marL="457200" algn="l" rtl="0" fontAlgn="base">
              <a:spcBef>
                <a:spcPct val="0"/>
              </a:spcBef>
              <a:spcAft>
                <a:spcPct val="0"/>
              </a:spcAft>
              <a:defRPr sz="3200">
                <a:solidFill>
                  <a:schemeClr val="tx2"/>
                </a:solidFill>
                <a:latin typeface="Bookman Old Style" pitchFamily="18" charset="0"/>
              </a:defRPr>
            </a:lvl6pPr>
            <a:lvl7pPr marL="914400" algn="l" rtl="0" fontAlgn="base">
              <a:spcBef>
                <a:spcPct val="0"/>
              </a:spcBef>
              <a:spcAft>
                <a:spcPct val="0"/>
              </a:spcAft>
              <a:defRPr sz="3200">
                <a:solidFill>
                  <a:schemeClr val="tx2"/>
                </a:solidFill>
                <a:latin typeface="Bookman Old Style" pitchFamily="18" charset="0"/>
              </a:defRPr>
            </a:lvl7pPr>
            <a:lvl8pPr marL="1371600" algn="l" rtl="0" fontAlgn="base">
              <a:spcBef>
                <a:spcPct val="0"/>
              </a:spcBef>
              <a:spcAft>
                <a:spcPct val="0"/>
              </a:spcAft>
              <a:defRPr sz="3200">
                <a:solidFill>
                  <a:schemeClr val="tx2"/>
                </a:solidFill>
                <a:latin typeface="Bookman Old Style" pitchFamily="18" charset="0"/>
              </a:defRPr>
            </a:lvl8pPr>
            <a:lvl9pPr marL="1828800" algn="l" rtl="0" fontAlgn="base">
              <a:spcBef>
                <a:spcPct val="0"/>
              </a:spcBef>
              <a:spcAft>
                <a:spcPct val="0"/>
              </a:spcAft>
              <a:defRPr sz="3200">
                <a:solidFill>
                  <a:schemeClr val="tx2"/>
                </a:solidFill>
                <a:latin typeface="Bookman Old Style" pitchFamily="18" charset="0"/>
              </a:defRPr>
            </a:lvl9pPr>
          </a:lstStyle>
          <a:p>
            <a:pPr>
              <a:lnSpc>
                <a:spcPct val="150000"/>
              </a:lnSpc>
            </a:pPr>
            <a:r>
              <a:rPr lang="en-GB" sz="2400" b="1" dirty="0">
                <a:solidFill>
                  <a:srgbClr val="109351"/>
                </a:solidFill>
                <a:latin typeface="Bahnschrift" panose="020B0502040204020203" pitchFamily="34" charset="0"/>
              </a:rPr>
              <a:t>Main indicators</a:t>
            </a:r>
          </a:p>
        </p:txBody>
      </p:sp>
      <p:sp>
        <p:nvSpPr>
          <p:cNvPr id="8" name="TextBox 7">
            <a:extLst>
              <a:ext uri="{FF2B5EF4-FFF2-40B4-BE49-F238E27FC236}">
                <a16:creationId xmlns:a16="http://schemas.microsoft.com/office/drawing/2014/main" id="{3D9FA967-B138-F6ED-6048-1680A554DAB6}"/>
              </a:ext>
            </a:extLst>
          </p:cNvPr>
          <p:cNvSpPr txBox="1"/>
          <p:nvPr/>
        </p:nvSpPr>
        <p:spPr>
          <a:xfrm>
            <a:off x="7315200" y="1842404"/>
            <a:ext cx="4166140" cy="4480457"/>
          </a:xfrm>
          <a:prstGeom prst="rect">
            <a:avLst/>
          </a:prstGeom>
          <a:noFill/>
          <a:ln>
            <a:solidFill>
              <a:schemeClr val="accent1">
                <a:lumMod val="40000"/>
                <a:lumOff val="60000"/>
              </a:schemeClr>
            </a:solidFill>
          </a:ln>
        </p:spPr>
        <p:txBody>
          <a:bodyPr wrap="square" rtlCol="0">
            <a:spAutoFit/>
          </a:bodyPr>
          <a:lstStyle/>
          <a:p>
            <a:pPr>
              <a:lnSpc>
                <a:spcPct val="150000"/>
              </a:lnSpc>
            </a:pPr>
            <a:r>
              <a:rPr lang="en-US" sz="1800" b="1" u="sng" dirty="0">
                <a:solidFill>
                  <a:srgbClr val="008BCC"/>
                </a:solidFill>
                <a:latin typeface="Bahnschrift" panose="020B0502040204020203" pitchFamily="34" charset="0"/>
              </a:rPr>
              <a:t>Nov 2024 vs. Sept 2023 forecasts</a:t>
            </a:r>
          </a:p>
          <a:p>
            <a:pPr algn="just">
              <a:lnSpc>
                <a:spcPct val="150000"/>
              </a:lnSpc>
            </a:pPr>
            <a:r>
              <a:rPr lang="en-GB" sz="1600" b="1" dirty="0">
                <a:latin typeface="Bahnschrift" panose="020B0502040204020203" pitchFamily="34" charset="0"/>
              </a:rPr>
              <a:t>Effect of parameter recalibration (Incl. IB rate response to inflation and output gap, UIP and Core CPI persistence) </a:t>
            </a:r>
          </a:p>
          <a:p>
            <a:pPr marL="285750" indent="-285750">
              <a:lnSpc>
                <a:spcPct val="150000"/>
              </a:lnSpc>
              <a:buFont typeface="Wingdings" panose="05000000000000000000" pitchFamily="2" charset="2"/>
              <a:buChar char="§"/>
            </a:pPr>
            <a:r>
              <a:rPr lang="en-US" sz="1400" dirty="0">
                <a:latin typeface="Bahnschrift" panose="020B0502040204020203" pitchFamily="34" charset="0"/>
              </a:rPr>
              <a:t>More responsive policy and real interest rates on inflation (recalibrated reaction of IR on inflation)</a:t>
            </a:r>
          </a:p>
          <a:p>
            <a:pPr marL="342900" indent="-342900">
              <a:lnSpc>
                <a:spcPct val="150000"/>
              </a:lnSpc>
              <a:buFont typeface="Wingdings" panose="05000000000000000000" pitchFamily="2" charset="2"/>
              <a:buChar char="§"/>
            </a:pPr>
            <a:r>
              <a:rPr lang="en-US" sz="1400" dirty="0">
                <a:latin typeface="Bahnschrift" panose="020B0502040204020203" pitchFamily="34" charset="0"/>
              </a:rPr>
              <a:t>A less overvalued Exchange Rate (ER)—A less ER depreciation </a:t>
            </a:r>
          </a:p>
          <a:p>
            <a:pPr marL="342900" indent="-342900">
              <a:lnSpc>
                <a:spcPct val="150000"/>
              </a:lnSpc>
              <a:buFont typeface="Wingdings" panose="05000000000000000000" pitchFamily="2" charset="2"/>
              <a:buChar char="§"/>
            </a:pPr>
            <a:r>
              <a:rPr lang="en-US" sz="1400" dirty="0">
                <a:latin typeface="Bahnschrift" panose="020B0502040204020203" pitchFamily="34" charset="0"/>
              </a:rPr>
              <a:t>CPI turning to target and more accelerated post-2026.</a:t>
            </a:r>
          </a:p>
          <a:p>
            <a:pPr marL="342900" indent="-342900">
              <a:lnSpc>
                <a:spcPct val="150000"/>
              </a:lnSpc>
              <a:buFont typeface="Wingdings" panose="05000000000000000000" pitchFamily="2" charset="2"/>
              <a:buChar char="§"/>
            </a:pPr>
            <a:r>
              <a:rPr lang="en-US" sz="1400" dirty="0">
                <a:latin typeface="Bahnschrift" panose="020B0502040204020203" pitchFamily="34" charset="0"/>
              </a:rPr>
              <a:t>Higher GDP growth due to less tight monetary policy.</a:t>
            </a:r>
          </a:p>
        </p:txBody>
      </p:sp>
      <p:pic>
        <p:nvPicPr>
          <p:cNvPr id="11" name="Picture 10">
            <a:extLst>
              <a:ext uri="{FF2B5EF4-FFF2-40B4-BE49-F238E27FC236}">
                <a16:creationId xmlns:a16="http://schemas.microsoft.com/office/drawing/2014/main" id="{651487EB-3E0C-689D-01C9-02AECF465EC0}"/>
              </a:ext>
            </a:extLst>
          </p:cNvPr>
          <p:cNvPicPr>
            <a:picLocks noChangeAspect="1"/>
          </p:cNvPicPr>
          <p:nvPr/>
        </p:nvPicPr>
        <p:blipFill>
          <a:blip r:embed="rId3"/>
          <a:srcRect b="51184"/>
          <a:stretch/>
        </p:blipFill>
        <p:spPr>
          <a:xfrm>
            <a:off x="710660" y="1838394"/>
            <a:ext cx="6452140" cy="2314496"/>
          </a:xfrm>
          <a:prstGeom prst="rect">
            <a:avLst/>
          </a:prstGeom>
          <a:ln>
            <a:solidFill>
              <a:schemeClr val="accent1">
                <a:lumMod val="40000"/>
                <a:lumOff val="60000"/>
              </a:schemeClr>
            </a:solidFill>
          </a:ln>
        </p:spPr>
      </p:pic>
      <p:pic>
        <p:nvPicPr>
          <p:cNvPr id="4" name="Picture 3">
            <a:extLst>
              <a:ext uri="{FF2B5EF4-FFF2-40B4-BE49-F238E27FC236}">
                <a16:creationId xmlns:a16="http://schemas.microsoft.com/office/drawing/2014/main" id="{EEA1F833-1F89-4ED3-3DC5-CEC3629E0097}"/>
              </a:ext>
            </a:extLst>
          </p:cNvPr>
          <p:cNvPicPr>
            <a:picLocks noChangeAspect="1"/>
          </p:cNvPicPr>
          <p:nvPr/>
        </p:nvPicPr>
        <p:blipFill>
          <a:blip r:embed="rId3"/>
          <a:srcRect t="60066"/>
          <a:stretch/>
        </p:blipFill>
        <p:spPr>
          <a:xfrm>
            <a:off x="710660" y="4152890"/>
            <a:ext cx="6452140" cy="1893332"/>
          </a:xfrm>
          <a:prstGeom prst="rect">
            <a:avLst/>
          </a:prstGeom>
          <a:ln>
            <a:solidFill>
              <a:schemeClr val="accent1">
                <a:lumMod val="40000"/>
                <a:lumOff val="60000"/>
              </a:schemeClr>
            </a:solidFill>
          </a:ln>
        </p:spPr>
      </p:pic>
    </p:spTree>
    <p:extLst>
      <p:ext uri="{BB962C8B-B14F-4D97-AF65-F5344CB8AC3E}">
        <p14:creationId xmlns:p14="http://schemas.microsoft.com/office/powerpoint/2010/main" val="24451279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CCC0E1-48DC-7EBC-571E-D6698B3A83F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57FC8E6-53C0-AEAE-30EB-28ABFD8598A2}"/>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97AE203-F84D-4A7F-B161-8561326BE072}" type="slidenum">
              <a:rPr kumimoji="0" lang="en-US" sz="1000" b="0" i="0" u="none" strike="noStrike" kern="1200" cap="none" spc="0" normalizeH="0" baseline="0" noProof="0" smtClean="0">
                <a:ln>
                  <a:noFill/>
                </a:ln>
                <a:solidFill>
                  <a:srgbClr val="464653"/>
                </a:solidFill>
                <a:effectLst/>
                <a:uLnTx/>
                <a:uFillTx/>
                <a:latin typeface="Gill Sans MT"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25</a:t>
            </a:fld>
            <a:endParaRPr kumimoji="0" lang="en-US" sz="1000" b="0" i="0" u="none" strike="noStrike" kern="1200" cap="none" spc="0" normalizeH="0" baseline="0" noProof="0" dirty="0">
              <a:ln>
                <a:noFill/>
              </a:ln>
              <a:solidFill>
                <a:srgbClr val="464653"/>
              </a:solidFill>
              <a:effectLst/>
              <a:uLnTx/>
              <a:uFillTx/>
              <a:latin typeface="Gill Sans MT" charset="0"/>
              <a:ea typeface="ＭＳ Ｐゴシック" charset="-128"/>
              <a:cs typeface="+mn-cs"/>
            </a:endParaRPr>
          </a:p>
        </p:txBody>
      </p:sp>
      <p:sp>
        <p:nvSpPr>
          <p:cNvPr id="2" name="Title 1">
            <a:extLst>
              <a:ext uri="{FF2B5EF4-FFF2-40B4-BE49-F238E27FC236}">
                <a16:creationId xmlns:a16="http://schemas.microsoft.com/office/drawing/2014/main" id="{9656A725-3CE2-543A-41F0-760D0008F6E1}"/>
              </a:ext>
            </a:extLst>
          </p:cNvPr>
          <p:cNvSpPr>
            <a:spLocks noGrp="1"/>
          </p:cNvSpPr>
          <p:nvPr>
            <p:ph type="title" idx="4294967295"/>
          </p:nvPr>
        </p:nvSpPr>
        <p:spPr>
          <a:xfrm>
            <a:off x="1752600" y="838200"/>
            <a:ext cx="9220200" cy="750888"/>
          </a:xfrm>
        </p:spPr>
        <p:txBody>
          <a:bodyPr>
            <a:normAutofit/>
          </a:bodyPr>
          <a:lstStyle/>
          <a:p>
            <a:pPr>
              <a:lnSpc>
                <a:spcPct val="150000"/>
              </a:lnSpc>
            </a:pPr>
            <a:r>
              <a:rPr lang="en-US" sz="2800" b="1" dirty="0">
                <a:solidFill>
                  <a:srgbClr val="008BCC"/>
                </a:solidFill>
                <a:latin typeface="Bahnschrift" panose="020B0502040204020203" pitchFamily="34" charset="0"/>
                <a:cs typeface="+mn-cs"/>
              </a:rPr>
              <a:t>VI. Inputs for intMF projections &amp; discussions </a:t>
            </a:r>
            <a:r>
              <a:rPr lang="en-US" sz="2800" i="1" dirty="0">
                <a:solidFill>
                  <a:srgbClr val="008BCC"/>
                </a:solidFill>
                <a:latin typeface="Bahnschrift" panose="020B0502040204020203" pitchFamily="34" charset="0"/>
                <a:cs typeface="+mn-cs"/>
              </a:rPr>
              <a:t>(template)</a:t>
            </a:r>
            <a:endParaRPr lang="en-GB" sz="2800" i="1" dirty="0">
              <a:solidFill>
                <a:srgbClr val="008BCC"/>
              </a:solidFill>
              <a:latin typeface="Bahnschrift" panose="020B0502040204020203" pitchFamily="34" charset="0"/>
              <a:cs typeface="+mn-cs"/>
            </a:endParaRPr>
          </a:p>
        </p:txBody>
      </p:sp>
      <p:sp>
        <p:nvSpPr>
          <p:cNvPr id="10" name="Content Placeholder 2">
            <a:extLst>
              <a:ext uri="{FF2B5EF4-FFF2-40B4-BE49-F238E27FC236}">
                <a16:creationId xmlns:a16="http://schemas.microsoft.com/office/drawing/2014/main" id="{994A4649-2D17-7D9C-C4CD-020D4DB02760}"/>
              </a:ext>
            </a:extLst>
          </p:cNvPr>
          <p:cNvSpPr txBox="1">
            <a:spLocks/>
          </p:cNvSpPr>
          <p:nvPr/>
        </p:nvSpPr>
        <p:spPr>
          <a:xfrm>
            <a:off x="609600" y="1828800"/>
            <a:ext cx="11049000" cy="4419600"/>
          </a:xfrm>
          <a:prstGeom prst="rect">
            <a:avLst/>
          </a:prstGeom>
          <a:ln>
            <a:solidFill>
              <a:schemeClr val="accent5">
                <a:lumMod val="20000"/>
                <a:lumOff val="80000"/>
              </a:schemeClr>
            </a:solidFill>
          </a:ln>
        </p:spPr>
        <p:txBody>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marR="0" lvl="0" indent="0" algn="just" defTabSz="914400" rtl="0" eaLnBrk="0" fontAlgn="base" latinLnBrk="0" hangingPunct="0">
              <a:lnSpc>
                <a:spcPct val="100000"/>
              </a:lnSpc>
              <a:spcBef>
                <a:spcPts val="0"/>
              </a:spcBef>
              <a:spcAft>
                <a:spcPts val="600"/>
              </a:spcAft>
              <a:buClr>
                <a:srgbClr val="00B0F0"/>
              </a:buClr>
              <a:buSzPct val="76000"/>
              <a:buFont typeface="Wingdings 3" charset="2"/>
              <a:buNone/>
              <a:tabLst/>
              <a:defRPr/>
            </a:pP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QMFM forecast is an independent assessment of macro-outlook—incl. interaction of macro policies. Its demand-driven approach complements the mainly supply-driven </a:t>
            </a:r>
            <a:r>
              <a:rPr kumimoji="0" lang="en-GB" sz="1600" b="0" i="0" u="none" strike="noStrike" kern="1200" cap="none" spc="0" normalizeH="0" baseline="0" noProof="0" dirty="0" err="1">
                <a:ln>
                  <a:noFill/>
                </a:ln>
                <a:solidFill>
                  <a:prstClr val="black"/>
                </a:solidFill>
                <a:effectLst/>
                <a:uLnTx/>
                <a:uFillTx/>
                <a:latin typeface="Bahnschrift Light" panose="020B0502040204020203" pitchFamily="34" charset="0"/>
              </a:rPr>
              <a:t>intMF</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 projection</a:t>
            </a:r>
          </a:p>
          <a:p>
            <a:pPr marL="273050" marR="0" lvl="0" indent="-273050" algn="just" defTabSz="914400" rtl="0" eaLnBrk="0" fontAlgn="base" latinLnBrk="0" hangingPunct="0">
              <a:lnSpc>
                <a:spcPct val="100000"/>
              </a:lnSpc>
              <a:spcBef>
                <a:spcPts val="0"/>
              </a:spcBef>
              <a:spcAft>
                <a:spcPct val="0"/>
              </a:spcAft>
              <a:buClr>
                <a:srgbClr val="00B0F0"/>
              </a:buClr>
              <a:buSzPct val="76000"/>
              <a:buFont typeface="Wingdings 3"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rPr>
              <a:t>Real GDP</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 contractionary impact of fiscal deficit reduction and RIR increase in 2025-26 suggest downward adjustment of GDP growth from </a:t>
            </a:r>
            <a:r>
              <a:rPr kumimoji="0" lang="en-GB" sz="1600" b="0" i="0" u="none" strike="noStrike" kern="1200" cap="none" spc="0" normalizeH="0" baseline="0" noProof="0" dirty="0" err="1">
                <a:ln>
                  <a:noFill/>
                </a:ln>
                <a:solidFill>
                  <a:prstClr val="black"/>
                </a:solidFill>
                <a:effectLst/>
                <a:uLnTx/>
                <a:uFillTx/>
                <a:latin typeface="Bahnschrift Light" panose="020B0502040204020203" pitchFamily="34" charset="0"/>
              </a:rPr>
              <a:t>intMF</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 sum of sectoral growth rates:</a:t>
            </a:r>
          </a:p>
          <a:p>
            <a:pPr marL="1096963" marR="0" lvl="3" indent="-228600" algn="just" defTabSz="914400" rtl="0" eaLnBrk="0" fontAlgn="base" latinLnBrk="0" hangingPunct="0">
              <a:lnSpc>
                <a:spcPct val="100000"/>
              </a:lnSpc>
              <a:spcBef>
                <a:spcPts val="0"/>
              </a:spcBef>
              <a:spcAft>
                <a:spcPts val="600"/>
              </a:spcAft>
              <a:buClr>
                <a:srgbClr val="23A900"/>
              </a:buClr>
              <a:buSzPct val="70000"/>
              <a:buFont typeface="Wingdings" panose="05000000000000000000" pitchFamily="2" charset="2"/>
              <a:buChar char="Ø"/>
              <a:tabLst/>
              <a:defRPr/>
            </a:pP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for </a:t>
            </a:r>
            <a:r>
              <a:rPr kumimoji="0" lang="en-GB" sz="1600" b="0" i="0" u="none" strike="noStrike" kern="1200" cap="none" spc="0" normalizeH="0" baseline="0" noProof="0" dirty="0" err="1">
                <a:ln>
                  <a:noFill/>
                </a:ln>
                <a:solidFill>
                  <a:prstClr val="black"/>
                </a:solidFill>
                <a:effectLst/>
                <a:uLnTx/>
                <a:uFillTx/>
                <a:latin typeface="Bahnschrift Light" panose="020B0502040204020203" pitchFamily="34" charset="0"/>
              </a:rPr>
              <a:t>intMF</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 consider: </a:t>
            </a:r>
            <a:r>
              <a:rPr kumimoji="0" lang="en-GB" sz="1600" b="0" i="0" u="none" strike="noStrike" kern="1200" cap="none" spc="0" normalizeH="0" baseline="0" noProof="0" dirty="0">
                <a:ln>
                  <a:noFill/>
                </a:ln>
                <a:solidFill>
                  <a:srgbClr val="29C000">
                    <a:lumMod val="75000"/>
                  </a:srgbClr>
                </a:solidFill>
                <a:effectLst/>
                <a:uLnTx/>
                <a:uFillTx/>
                <a:latin typeface="Bahnschrift Light" panose="020B0502040204020203" pitchFamily="34" charset="0"/>
              </a:rPr>
              <a:t>GDP growth around 6% in 2025-26 before catch up to 8-9% in 2027-28</a:t>
            </a:r>
          </a:p>
          <a:p>
            <a:pPr marL="273050" marR="0" lvl="0" indent="-273050" algn="just" defTabSz="914400" rtl="0" eaLnBrk="0" fontAlgn="base" latinLnBrk="0" hangingPunct="0">
              <a:lnSpc>
                <a:spcPct val="100000"/>
              </a:lnSpc>
              <a:spcBef>
                <a:spcPts val="0"/>
              </a:spcBef>
              <a:spcAft>
                <a:spcPct val="0"/>
              </a:spcAft>
              <a:buClr>
                <a:srgbClr val="00B0F0"/>
              </a:buClr>
              <a:buSzPct val="76000"/>
              <a:buFont typeface="Wingdings 3"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rPr>
              <a:t>CPI</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  the negative impact on demand of the restrictive policies—more than offsetting price-increasing effect of fast NER depreciation—should lead to subdued inflation in 2025-26:</a:t>
            </a:r>
          </a:p>
          <a:p>
            <a:pPr marL="1096963" marR="0" lvl="3" indent="-228600" algn="just" defTabSz="914400" rtl="0" eaLnBrk="0" fontAlgn="base" latinLnBrk="0" hangingPunct="0">
              <a:lnSpc>
                <a:spcPct val="100000"/>
              </a:lnSpc>
              <a:spcBef>
                <a:spcPts val="0"/>
              </a:spcBef>
              <a:spcAft>
                <a:spcPts val="600"/>
              </a:spcAft>
              <a:buClr>
                <a:srgbClr val="23A900"/>
              </a:buClr>
              <a:buSzPct val="70000"/>
              <a:buFont typeface="Wingdings" panose="05000000000000000000" pitchFamily="2" charset="2"/>
              <a:buChar char="Ø"/>
              <a:tabLst/>
              <a:defRPr/>
            </a:pP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for </a:t>
            </a:r>
            <a:r>
              <a:rPr kumimoji="0" lang="en-GB" sz="1600" b="0" i="0" u="none" strike="noStrike" kern="1200" cap="none" spc="0" normalizeH="0" baseline="0" noProof="0" dirty="0" err="1">
                <a:ln>
                  <a:noFill/>
                </a:ln>
                <a:solidFill>
                  <a:prstClr val="black"/>
                </a:solidFill>
                <a:effectLst/>
                <a:uLnTx/>
                <a:uFillTx/>
                <a:latin typeface="Bahnschrift Light" panose="020B0502040204020203" pitchFamily="34" charset="0"/>
              </a:rPr>
              <a:t>intMF</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 consider</a:t>
            </a:r>
            <a:r>
              <a:rPr kumimoji="0" lang="en-GB" sz="1600" b="0" i="0" u="none" strike="noStrike" kern="1200" cap="none" spc="0" normalizeH="0" baseline="0" noProof="0" dirty="0">
                <a:ln>
                  <a:noFill/>
                </a:ln>
                <a:solidFill>
                  <a:srgbClr val="29C000">
                    <a:lumMod val="75000"/>
                  </a:srgbClr>
                </a:solidFill>
                <a:effectLst/>
                <a:uLnTx/>
                <a:uFillTx/>
                <a:latin typeface="Bahnschrift Light" panose="020B0502040204020203" pitchFamily="34" charset="0"/>
              </a:rPr>
              <a:t>: CPI rate below 5% in 2025-26</a:t>
            </a:r>
          </a:p>
          <a:p>
            <a:pPr marL="273050" marR="0" lvl="0" indent="-273050" algn="just" defTabSz="914400" rtl="0" eaLnBrk="0" fontAlgn="base" latinLnBrk="0" hangingPunct="0">
              <a:lnSpc>
                <a:spcPct val="100000"/>
              </a:lnSpc>
              <a:spcBef>
                <a:spcPts val="0"/>
              </a:spcBef>
              <a:spcAft>
                <a:spcPct val="0"/>
              </a:spcAft>
              <a:buClr>
                <a:srgbClr val="00B0F0"/>
              </a:buClr>
              <a:buSzPct val="76000"/>
              <a:buFont typeface="Wingdings 3"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rPr>
              <a:t>Private demand</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 restrictive policies slow down private investment/consumption growth, to consider in </a:t>
            </a:r>
            <a:r>
              <a:rPr kumimoji="0" lang="en-GB" sz="1600" b="0" i="0" u="none" strike="noStrike" kern="1200" cap="none" spc="0" normalizeH="0" baseline="0" noProof="0" dirty="0" err="1">
                <a:ln>
                  <a:noFill/>
                </a:ln>
                <a:solidFill>
                  <a:prstClr val="black"/>
                </a:solidFill>
                <a:effectLst/>
                <a:uLnTx/>
                <a:uFillTx/>
                <a:latin typeface="Bahnschrift Light" panose="020B0502040204020203" pitchFamily="34" charset="0"/>
              </a:rPr>
              <a:t>intMF</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 where investment growth is a guess and consumption residual:</a:t>
            </a:r>
          </a:p>
          <a:p>
            <a:pPr marL="1096963" marR="0" lvl="3" indent="-228600" algn="just" defTabSz="914400" rtl="0" eaLnBrk="0" fontAlgn="base" latinLnBrk="0" hangingPunct="0">
              <a:lnSpc>
                <a:spcPct val="100000"/>
              </a:lnSpc>
              <a:spcBef>
                <a:spcPts val="0"/>
              </a:spcBef>
              <a:spcAft>
                <a:spcPts val="600"/>
              </a:spcAft>
              <a:buClr>
                <a:srgbClr val="23A900"/>
              </a:buClr>
              <a:buSzPct val="70000"/>
              <a:buFont typeface="Wingdings" panose="05000000000000000000" pitchFamily="2" charset="2"/>
              <a:buChar char="Ø"/>
              <a:tabLst/>
              <a:defRPr/>
            </a:pP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for </a:t>
            </a:r>
            <a:r>
              <a:rPr kumimoji="0" lang="en-GB" sz="1600" b="0" i="0" u="none" strike="noStrike" kern="1200" cap="none" spc="0" normalizeH="0" baseline="0" noProof="0" dirty="0" err="1">
                <a:ln>
                  <a:noFill/>
                </a:ln>
                <a:solidFill>
                  <a:prstClr val="black"/>
                </a:solidFill>
                <a:effectLst/>
                <a:uLnTx/>
                <a:uFillTx/>
                <a:latin typeface="Bahnschrift Light" panose="020B0502040204020203" pitchFamily="34" charset="0"/>
              </a:rPr>
              <a:t>intMF</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 consider: </a:t>
            </a:r>
            <a:r>
              <a:rPr kumimoji="0" lang="en-GB" sz="1600" b="0" i="0" u="none" strike="noStrike" kern="1200" cap="none" spc="0" normalizeH="0" baseline="0" noProof="0" dirty="0">
                <a:ln>
                  <a:noFill/>
                </a:ln>
                <a:solidFill>
                  <a:srgbClr val="29C000">
                    <a:lumMod val="75000"/>
                  </a:srgbClr>
                </a:solidFill>
                <a:effectLst/>
                <a:uLnTx/>
                <a:uFillTx/>
                <a:latin typeface="Bahnschrift Light" panose="020B0502040204020203" pitchFamily="34" charset="0"/>
              </a:rPr>
              <a:t>real consumption growth much below trend in 2025-26</a:t>
            </a:r>
          </a:p>
          <a:p>
            <a:pPr marL="1096963" marR="0" lvl="3" indent="-228600" algn="just" defTabSz="914400" rtl="0" eaLnBrk="0" fontAlgn="base" latinLnBrk="0" hangingPunct="0">
              <a:lnSpc>
                <a:spcPct val="100000"/>
              </a:lnSpc>
              <a:spcBef>
                <a:spcPts val="0"/>
              </a:spcBef>
              <a:spcAft>
                <a:spcPts val="600"/>
              </a:spcAft>
              <a:buClr>
                <a:srgbClr val="23A900"/>
              </a:buClr>
              <a:buSzPct val="70000"/>
              <a:buFont typeface="Wingdings" panose="05000000000000000000" pitchFamily="2" charset="2"/>
              <a:buChar char="Ø"/>
              <a:tabLst/>
              <a:defRPr/>
            </a:pPr>
            <a:r>
              <a:rPr kumimoji="0" lang="en-GB" sz="1600" b="0" i="0" u="none" strike="noStrike" kern="1200" cap="none" spc="0" normalizeH="0" baseline="0" noProof="0" dirty="0">
                <a:ln>
                  <a:noFill/>
                </a:ln>
                <a:solidFill>
                  <a:srgbClr val="29C000">
                    <a:lumMod val="75000"/>
                  </a:srgbClr>
                </a:solidFill>
                <a:effectLst/>
                <a:uLnTx/>
                <a:uFillTx/>
                <a:latin typeface="Bahnschrift Light" panose="020B0502040204020203" pitchFamily="34" charset="0"/>
              </a:rPr>
              <a:t> 		     real investment growth 5-6% in 2025-26</a:t>
            </a:r>
          </a:p>
          <a:p>
            <a:pPr marL="273050" marR="0" lvl="0" indent="-273050" algn="just" defTabSz="914400" rtl="0" eaLnBrk="0" fontAlgn="base" latinLnBrk="0" hangingPunct="0">
              <a:lnSpc>
                <a:spcPct val="100000"/>
              </a:lnSpc>
              <a:spcBef>
                <a:spcPts val="0"/>
              </a:spcBef>
              <a:spcAft>
                <a:spcPct val="0"/>
              </a:spcAft>
              <a:buClr>
                <a:srgbClr val="00B0F0"/>
              </a:buClr>
              <a:buSzPct val="76000"/>
              <a:buFont typeface="Wingdings 3" charset="2"/>
              <a:buChar char=""/>
              <a:tabLst/>
              <a:defRPr/>
            </a:pPr>
            <a:r>
              <a:rPr kumimoji="0" lang="en-GB" sz="16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rPr>
              <a:t>Imports G&amp;S</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 following domestic demand and GDP—compounded by recent strong RER depreciation--real imports growth is forecast to dip much below trend in 2025-26:   :</a:t>
            </a:r>
          </a:p>
          <a:p>
            <a:pPr marL="1096963" marR="0" lvl="3" indent="-228600" algn="just" defTabSz="914400" rtl="0" eaLnBrk="0" fontAlgn="base" latinLnBrk="0" hangingPunct="0">
              <a:lnSpc>
                <a:spcPct val="100000"/>
              </a:lnSpc>
              <a:spcBef>
                <a:spcPts val="0"/>
              </a:spcBef>
              <a:spcAft>
                <a:spcPct val="0"/>
              </a:spcAft>
              <a:buClr>
                <a:srgbClr val="23A900"/>
              </a:buClr>
              <a:buSzPct val="70000"/>
              <a:buFont typeface="Wingdings" panose="05000000000000000000" pitchFamily="2" charset="2"/>
              <a:buChar char="Ø"/>
              <a:tabLst/>
              <a:defRPr/>
            </a:pP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for </a:t>
            </a:r>
            <a:r>
              <a:rPr kumimoji="0" lang="en-GB" sz="1600" b="0" i="0" u="none" strike="noStrike" kern="1200" cap="none" spc="0" normalizeH="0" baseline="0" noProof="0" dirty="0" err="1">
                <a:ln>
                  <a:noFill/>
                </a:ln>
                <a:solidFill>
                  <a:prstClr val="black"/>
                </a:solidFill>
                <a:effectLst/>
                <a:uLnTx/>
                <a:uFillTx/>
                <a:latin typeface="Bahnschrift Light" panose="020B0502040204020203" pitchFamily="34" charset="0"/>
              </a:rPr>
              <a:t>intMF</a:t>
            </a:r>
            <a:r>
              <a:rPr kumimoji="0" lang="en-GB" sz="1600" b="0" i="0" u="none" strike="noStrike" kern="1200" cap="none" spc="0" normalizeH="0" baseline="0" noProof="0" dirty="0">
                <a:ln>
                  <a:noFill/>
                </a:ln>
                <a:solidFill>
                  <a:prstClr val="black"/>
                </a:solidFill>
                <a:effectLst/>
                <a:uLnTx/>
                <a:uFillTx/>
                <a:latin typeface="Bahnschrift Light" panose="020B0502040204020203" pitchFamily="34" charset="0"/>
              </a:rPr>
              <a:t> consider: </a:t>
            </a:r>
            <a:r>
              <a:rPr kumimoji="0" lang="en-GB" sz="1600" b="0" i="0" u="none" strike="noStrike" kern="1200" cap="none" spc="0" normalizeH="0" baseline="0" noProof="0" dirty="0">
                <a:ln>
                  <a:noFill/>
                </a:ln>
                <a:solidFill>
                  <a:srgbClr val="29C000">
                    <a:lumMod val="75000"/>
                  </a:srgbClr>
                </a:solidFill>
                <a:effectLst/>
                <a:uLnTx/>
                <a:uFillTx/>
                <a:latin typeface="Bahnschrift Light" panose="020B0502040204020203" pitchFamily="34" charset="0"/>
              </a:rPr>
              <a:t>real import growth +6% in 2025-26 as check against </a:t>
            </a:r>
            <a:r>
              <a:rPr kumimoji="0" lang="en-GB" sz="1600" b="0" i="0" u="none" strike="noStrike" kern="1200" cap="none" spc="0" normalizeH="0" baseline="0" noProof="0" dirty="0" err="1">
                <a:ln>
                  <a:noFill/>
                </a:ln>
                <a:solidFill>
                  <a:srgbClr val="29C000">
                    <a:lumMod val="75000"/>
                  </a:srgbClr>
                </a:solidFill>
                <a:effectLst/>
                <a:uLnTx/>
                <a:uFillTx/>
                <a:latin typeface="Bahnschrift Light" panose="020B0502040204020203" pitchFamily="34" charset="0"/>
              </a:rPr>
              <a:t>BoP’s</a:t>
            </a:r>
            <a:r>
              <a:rPr kumimoji="0" lang="en-GB" sz="1600" b="0" i="0" u="none" strike="noStrike" kern="1200" cap="none" spc="0" normalizeH="0" baseline="0" noProof="0" dirty="0">
                <a:ln>
                  <a:noFill/>
                </a:ln>
                <a:solidFill>
                  <a:srgbClr val="29C000">
                    <a:lumMod val="75000"/>
                  </a:srgbClr>
                </a:solidFill>
                <a:effectLst/>
                <a:uLnTx/>
                <a:uFillTx/>
                <a:latin typeface="Bahnschrift Light" panose="020B0502040204020203" pitchFamily="34" charset="0"/>
              </a:rPr>
              <a:t> sum of import lines </a:t>
            </a:r>
          </a:p>
          <a:p>
            <a:pPr marL="273050" marR="0" lvl="0" indent="-273050" algn="just" defTabSz="914400" rtl="0" eaLnBrk="0" fontAlgn="base" latinLnBrk="0" hangingPunct="0">
              <a:lnSpc>
                <a:spcPct val="150000"/>
              </a:lnSpc>
              <a:spcBef>
                <a:spcPts val="0"/>
              </a:spcBef>
              <a:spcAft>
                <a:spcPct val="0"/>
              </a:spcAft>
              <a:buClr>
                <a:srgbClr val="00B0F0"/>
              </a:buClr>
              <a:buSzPct val="76000"/>
              <a:buFont typeface="Wingdings 3" charset="2"/>
              <a:buChar char=""/>
              <a:tabLst/>
              <a:defRPr/>
            </a:pPr>
            <a:endPar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ndParaRPr>
          </a:p>
          <a:p>
            <a:pPr marL="273050" marR="0" lvl="0" indent="-273050" algn="just" defTabSz="914400" rtl="0" eaLnBrk="0" fontAlgn="base" latinLnBrk="0" hangingPunct="0">
              <a:lnSpc>
                <a:spcPct val="100000"/>
              </a:lnSpc>
              <a:spcBef>
                <a:spcPts val="600"/>
              </a:spcBef>
              <a:spcAft>
                <a:spcPct val="0"/>
              </a:spcAft>
              <a:buClr>
                <a:srgbClr val="00B0F0"/>
              </a:buClr>
              <a:buSzPct val="76000"/>
              <a:buFont typeface="Wingdings 3" charset="2"/>
              <a:buChar char=""/>
              <a:tabLst/>
              <a:defRPr/>
            </a:pPr>
            <a:endPar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ndParaRPr>
          </a:p>
        </p:txBody>
      </p:sp>
    </p:spTree>
    <p:extLst>
      <p:ext uri="{BB962C8B-B14F-4D97-AF65-F5344CB8AC3E}">
        <p14:creationId xmlns:p14="http://schemas.microsoft.com/office/powerpoint/2010/main" val="18354215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9CDDF-C674-4275-B139-0622D56D1AFE}"/>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8377FB4-13FA-AF27-7601-0066DDD2D74C}"/>
              </a:ext>
            </a:extLst>
          </p:cNvPr>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97AE203-F84D-4A7F-B161-8561326BE072}" type="slidenum">
              <a:rPr kumimoji="0" lang="en-US" sz="1000" b="0" i="0" u="none" strike="noStrike" kern="1200" cap="none" spc="0" normalizeH="0" baseline="0" noProof="0" smtClean="0">
                <a:ln>
                  <a:noFill/>
                </a:ln>
                <a:solidFill>
                  <a:srgbClr val="464653"/>
                </a:solidFill>
                <a:effectLst/>
                <a:uLnTx/>
                <a:uFillTx/>
                <a:latin typeface="Gill Sans MT"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sz="1000" b="0" i="0" u="none" strike="noStrike" kern="1200" cap="none" spc="0" normalizeH="0" baseline="0" noProof="0" dirty="0">
              <a:ln>
                <a:noFill/>
              </a:ln>
              <a:solidFill>
                <a:srgbClr val="464653"/>
              </a:solidFill>
              <a:effectLst/>
              <a:uLnTx/>
              <a:uFillTx/>
              <a:latin typeface="Gill Sans MT" charset="0"/>
              <a:ea typeface="ＭＳ Ｐゴシック" charset="-128"/>
              <a:cs typeface="+mn-cs"/>
            </a:endParaRPr>
          </a:p>
        </p:txBody>
      </p:sp>
      <p:sp>
        <p:nvSpPr>
          <p:cNvPr id="2" name="Title 1">
            <a:extLst>
              <a:ext uri="{FF2B5EF4-FFF2-40B4-BE49-F238E27FC236}">
                <a16:creationId xmlns:a16="http://schemas.microsoft.com/office/drawing/2014/main" id="{B83C9B37-6A39-4450-A5EC-7697F498AF66}"/>
              </a:ext>
            </a:extLst>
          </p:cNvPr>
          <p:cNvSpPr>
            <a:spLocks noGrp="1"/>
          </p:cNvSpPr>
          <p:nvPr>
            <p:ph type="title" idx="4294967295"/>
          </p:nvPr>
        </p:nvSpPr>
        <p:spPr>
          <a:xfrm>
            <a:off x="1752600" y="576261"/>
            <a:ext cx="10439400" cy="750888"/>
          </a:xfrm>
        </p:spPr>
        <p:txBody>
          <a:bodyPr>
            <a:noAutofit/>
          </a:bodyPr>
          <a:lstStyle/>
          <a:p>
            <a:pPr>
              <a:lnSpc>
                <a:spcPct val="150000"/>
              </a:lnSpc>
            </a:pPr>
            <a:r>
              <a:rPr lang="en-US" sz="2800" b="1" dirty="0">
                <a:solidFill>
                  <a:srgbClr val="008BCC"/>
                </a:solidFill>
                <a:latin typeface="Bahnschrift" panose="020B0502040204020203" pitchFamily="34" charset="0"/>
                <a:cs typeface="+mn-cs"/>
              </a:rPr>
              <a:t>VI. Inputs for intMF projections &amp; discussions (cont’d) </a:t>
            </a:r>
            <a:r>
              <a:rPr lang="en-US" sz="2800" i="1" dirty="0">
                <a:solidFill>
                  <a:srgbClr val="008BCC"/>
                </a:solidFill>
                <a:latin typeface="Bahnschrift" panose="020B0502040204020203" pitchFamily="34" charset="0"/>
                <a:cs typeface="+mn-cs"/>
              </a:rPr>
              <a:t>(template)</a:t>
            </a:r>
            <a:endParaRPr lang="en-GB" sz="2800" i="1" dirty="0">
              <a:solidFill>
                <a:srgbClr val="008BCC"/>
              </a:solidFill>
              <a:latin typeface="Bahnschrift" panose="020B0502040204020203" pitchFamily="34" charset="0"/>
              <a:cs typeface="+mn-cs"/>
            </a:endParaRPr>
          </a:p>
        </p:txBody>
      </p:sp>
      <p:sp>
        <p:nvSpPr>
          <p:cNvPr id="10" name="Content Placeholder 2">
            <a:extLst>
              <a:ext uri="{FF2B5EF4-FFF2-40B4-BE49-F238E27FC236}">
                <a16:creationId xmlns:a16="http://schemas.microsoft.com/office/drawing/2014/main" id="{4E069DDE-7F8E-54BD-BA51-923F487E69FE}"/>
              </a:ext>
            </a:extLst>
          </p:cNvPr>
          <p:cNvSpPr txBox="1">
            <a:spLocks/>
          </p:cNvSpPr>
          <p:nvPr/>
        </p:nvSpPr>
        <p:spPr>
          <a:xfrm>
            <a:off x="609600" y="1509712"/>
            <a:ext cx="10896600" cy="4772027"/>
          </a:xfrm>
          <a:prstGeom prst="rect">
            <a:avLst/>
          </a:prstGeom>
          <a:ln>
            <a:solidFill>
              <a:schemeClr val="accent1">
                <a:lumMod val="40000"/>
                <a:lumOff val="60000"/>
              </a:schemeClr>
            </a:solidFill>
          </a:ln>
        </p:spPr>
        <p:txBody>
          <a:bodyPr/>
          <a:lstStyle>
            <a:lvl1pPr marL="273050" indent="-273050" algn="l" rtl="0" eaLnBrk="0" fontAlgn="base" hangingPunct="0">
              <a:spcBef>
                <a:spcPts val="600"/>
              </a:spcBef>
              <a:spcAft>
                <a:spcPct val="0"/>
              </a:spcAft>
              <a:buClr>
                <a:schemeClr val="accent1"/>
              </a:buClr>
              <a:buSzPct val="76000"/>
              <a:buFont typeface="Wingdings 3" charset="2"/>
              <a:buChar char=""/>
              <a:defRPr sz="2400" kern="1200">
                <a:solidFill>
                  <a:schemeClr val="tx1"/>
                </a:solidFill>
                <a:latin typeface="+mn-lt"/>
                <a:ea typeface="ＭＳ Ｐゴシック" charset="-128"/>
                <a:cs typeface="+mn-cs"/>
              </a:defRPr>
            </a:lvl1pPr>
            <a:lvl2pPr marL="547688" indent="-273050" algn="l" rtl="0" eaLnBrk="0" fontAlgn="base" hangingPunct="0">
              <a:spcBef>
                <a:spcPts val="500"/>
              </a:spcBef>
              <a:spcAft>
                <a:spcPct val="0"/>
              </a:spcAft>
              <a:buClr>
                <a:schemeClr val="accent2"/>
              </a:buClr>
              <a:buSzPct val="76000"/>
              <a:buFont typeface="Wingdings 3" charset="2"/>
              <a:buChar char=""/>
              <a:defRPr sz="2000" kern="1200">
                <a:solidFill>
                  <a:schemeClr val="tx2"/>
                </a:solidFill>
                <a:latin typeface="+mn-lt"/>
                <a:ea typeface="ＭＳ Ｐゴシック" charset="-128"/>
                <a:cs typeface="+mn-cs"/>
              </a:defRPr>
            </a:lvl2pPr>
            <a:lvl3pPr marL="822325" indent="-228600" algn="l" rtl="0" eaLnBrk="0" fontAlgn="base" hangingPunct="0">
              <a:spcBef>
                <a:spcPts val="500"/>
              </a:spcBef>
              <a:spcAft>
                <a:spcPct val="0"/>
              </a:spcAft>
              <a:buClr>
                <a:srgbClr val="BCBCBC"/>
              </a:buClr>
              <a:buSzPct val="76000"/>
              <a:buFont typeface="Wingdings 3" charset="2"/>
              <a:buChar char=""/>
              <a:defRPr sz="2400" kern="1200">
                <a:solidFill>
                  <a:schemeClr val="tx1"/>
                </a:solidFill>
                <a:latin typeface="+mn-lt"/>
                <a:ea typeface="ＭＳ Ｐゴシック" charset="-128"/>
                <a:cs typeface="+mn-cs"/>
              </a:defRPr>
            </a:lvl3pPr>
            <a:lvl4pPr marL="1096963" indent="-228600" algn="l" rtl="0" eaLnBrk="0" fontAlgn="base" hangingPunct="0">
              <a:spcBef>
                <a:spcPts val="400"/>
              </a:spcBef>
              <a:spcAft>
                <a:spcPct val="0"/>
              </a:spcAft>
              <a:buClr>
                <a:srgbClr val="23A900"/>
              </a:buClr>
              <a:buSzPct val="70000"/>
              <a:buFont typeface="Wingdings" charset="2"/>
              <a:buChar char=""/>
              <a:defRPr sz="2000" kern="1200">
                <a:solidFill>
                  <a:schemeClr val="tx1"/>
                </a:solidFill>
                <a:latin typeface="+mn-lt"/>
                <a:ea typeface="ＭＳ Ｐゴシック" charset="-128"/>
                <a:cs typeface="+mn-cs"/>
              </a:defRPr>
            </a:lvl4pPr>
            <a:lvl5pPr marL="1371600" indent="-228600" algn="l" rtl="0" eaLnBrk="0" fontAlgn="base" hangingPunct="0">
              <a:spcBef>
                <a:spcPts val="300"/>
              </a:spcBef>
              <a:spcAft>
                <a:spcPct val="0"/>
              </a:spcAft>
              <a:buClr>
                <a:schemeClr val="accent2"/>
              </a:buClr>
              <a:buSzPct val="70000"/>
              <a:buFont typeface="Wingdings" charset="2"/>
              <a:buChar char=""/>
              <a:defRPr sz="1600" kern="1200">
                <a:solidFill>
                  <a:schemeClr val="tx1"/>
                </a:solidFill>
                <a:latin typeface="+mn-lt"/>
                <a:ea typeface="ＭＳ Ｐゴシック" charset="-128"/>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273050" marR="0" lvl="0" indent="-273050" algn="just" defTabSz="914400" rtl="0" eaLnBrk="0" fontAlgn="base" latinLnBrk="0" hangingPunct="0">
              <a:lnSpc>
                <a:spcPct val="150000"/>
              </a:lnSpc>
              <a:spcBef>
                <a:spcPts val="0"/>
              </a:spcBef>
              <a:spcAft>
                <a:spcPct val="0"/>
              </a:spcAft>
              <a:buClr>
                <a:srgbClr val="00B0F0"/>
              </a:buClr>
              <a:buSzPct val="76000"/>
              <a:buFont typeface="Wingdings 3" charset="2"/>
              <a:buChar char=""/>
              <a:tabLst/>
              <a:defRPr/>
            </a:pPr>
            <a:r>
              <a:rPr kumimoji="0" lang="en-GB" sz="14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rPr>
              <a:t>Exports G&amp;S</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rPr>
              <a:t>: export growth is forecast to return to trend after dip in 2024, helped by recent strong RER depreciation:</a:t>
            </a:r>
          </a:p>
          <a:p>
            <a:pPr marL="1096963" marR="0" lvl="3" indent="-228600" algn="just" defTabSz="914400" rtl="0" eaLnBrk="0" fontAlgn="base" latinLnBrk="0" hangingPunct="0">
              <a:lnSpc>
                <a:spcPct val="150000"/>
              </a:lnSpc>
              <a:spcBef>
                <a:spcPts val="0"/>
              </a:spcBef>
              <a:spcAft>
                <a:spcPts val="0"/>
              </a:spcAft>
              <a:buClr>
                <a:srgbClr val="23A900"/>
              </a:buClr>
              <a:buSzPct val="70000"/>
              <a:buFont typeface="Wingdings" panose="05000000000000000000" pitchFamily="2" charset="2"/>
              <a:buChar char="Ø"/>
              <a:tabLst/>
              <a:defRPr/>
            </a:pP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rPr>
              <a:t>for intMF consider: </a:t>
            </a:r>
            <a:r>
              <a:rPr kumimoji="0" lang="en-GB" sz="1400" b="0" i="0" u="none" strike="noStrike" kern="1200" cap="none" spc="0" normalizeH="0" baseline="0" noProof="0" dirty="0">
                <a:ln>
                  <a:noFill/>
                </a:ln>
                <a:solidFill>
                  <a:srgbClr val="29C000">
                    <a:lumMod val="75000"/>
                  </a:srgbClr>
                </a:solidFill>
                <a:effectLst/>
                <a:uLnTx/>
                <a:uFillTx/>
                <a:latin typeface="Bahnschrift Light" panose="020B0502040204020203" pitchFamily="34" charset="0"/>
              </a:rPr>
              <a:t>real export growth </a:t>
            </a:r>
            <a:r>
              <a:rPr kumimoji="0" lang="en-GB" sz="1400" b="0" i="0" u="sng" strike="noStrike" kern="1200" cap="none" spc="0" normalizeH="0" baseline="0" noProof="0" dirty="0">
                <a:ln>
                  <a:noFill/>
                </a:ln>
                <a:solidFill>
                  <a:srgbClr val="29C000">
                    <a:lumMod val="75000"/>
                  </a:srgbClr>
                </a:solidFill>
                <a:effectLst/>
                <a:uLnTx/>
                <a:uFillTx/>
                <a:latin typeface="Bahnschrift Light" panose="020B0502040204020203" pitchFamily="34" charset="0"/>
              </a:rPr>
              <a:t>+</a:t>
            </a:r>
            <a:r>
              <a:rPr kumimoji="0" lang="en-GB" sz="1400" b="0" i="0" u="none" strike="noStrike" kern="1200" cap="none" spc="0" normalizeH="0" baseline="0" noProof="0" dirty="0">
                <a:ln>
                  <a:noFill/>
                </a:ln>
                <a:solidFill>
                  <a:srgbClr val="29C000">
                    <a:lumMod val="75000"/>
                  </a:srgbClr>
                </a:solidFill>
                <a:effectLst/>
                <a:uLnTx/>
                <a:uFillTx/>
                <a:latin typeface="Bahnschrift Light" panose="020B0502040204020203" pitchFamily="34" charset="0"/>
              </a:rPr>
              <a:t>10% in 2025-26 as check against BoP’s sum of export lines </a:t>
            </a:r>
          </a:p>
          <a:p>
            <a:pPr marL="273050" marR="0" lvl="0" indent="-273050" algn="just" defTabSz="914400" rtl="0" eaLnBrk="0" fontAlgn="base" latinLnBrk="0" hangingPunct="0">
              <a:lnSpc>
                <a:spcPct val="150000"/>
              </a:lnSpc>
              <a:spcBef>
                <a:spcPts val="0"/>
              </a:spcBef>
              <a:spcAft>
                <a:spcPct val="0"/>
              </a:spcAft>
              <a:buClr>
                <a:srgbClr val="00B0F0"/>
              </a:buClr>
              <a:buSzPct val="76000"/>
              <a:buFont typeface="Wingdings 3" charset="2"/>
              <a:buChar char=""/>
              <a:tabLst/>
              <a:defRPr/>
            </a:pPr>
            <a:r>
              <a:rPr kumimoji="0" lang="en-GB" sz="14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rPr>
              <a:t>Fiscal path</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rPr>
              <a:t>: 2024/25─2025/26 reflects PCI fiscal program targets (in % GDP). But the forecast from 2026/27 reflects premise that the deficit and its components be allowed to move gradually to their sustainable levels (for deficit 7.5% of GDP, before grants of 2.5%):</a:t>
            </a:r>
          </a:p>
          <a:p>
            <a:pPr marL="1096963" marR="0" lvl="3" indent="-228600" algn="just" defTabSz="914400" rtl="0" eaLnBrk="0" fontAlgn="base" latinLnBrk="0" hangingPunct="0">
              <a:lnSpc>
                <a:spcPct val="150000"/>
              </a:lnSpc>
              <a:spcBef>
                <a:spcPts val="0"/>
              </a:spcBef>
              <a:spcAft>
                <a:spcPts val="0"/>
              </a:spcAft>
              <a:buClr>
                <a:srgbClr val="23A900"/>
              </a:buClr>
              <a:buSzPct val="70000"/>
              <a:buFont typeface="Wingdings" panose="05000000000000000000" pitchFamily="2" charset="2"/>
              <a:buChar char="Ø"/>
              <a:tabLst/>
              <a:defRPr/>
            </a:pP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rPr>
              <a:t>for intMF consider: </a:t>
            </a:r>
            <a:r>
              <a:rPr kumimoji="0" lang="en-GB" sz="1400" b="0" i="0" u="none" strike="noStrike" kern="1200" cap="none" spc="0" normalizeH="0" baseline="0" noProof="0" dirty="0">
                <a:ln>
                  <a:noFill/>
                </a:ln>
                <a:solidFill>
                  <a:srgbClr val="29C000">
                    <a:lumMod val="75000"/>
                  </a:srgbClr>
                </a:solidFill>
                <a:effectLst/>
                <a:uLnTx/>
                <a:uFillTx/>
                <a:latin typeface="Bahnschrift Light" panose="020B0502040204020203" pitchFamily="34" charset="0"/>
              </a:rPr>
              <a:t>return to sustainable deficit (and components) of 7.5% of GDP from 2026/27</a:t>
            </a:r>
          </a:p>
          <a:p>
            <a:pPr marL="273050" marR="0" lvl="0" indent="-273050" algn="just" defTabSz="914400" rtl="0" eaLnBrk="0" fontAlgn="base" latinLnBrk="0" hangingPunct="0">
              <a:lnSpc>
                <a:spcPct val="150000"/>
              </a:lnSpc>
              <a:spcBef>
                <a:spcPts val="0"/>
              </a:spcBef>
              <a:spcAft>
                <a:spcPct val="0"/>
              </a:spcAft>
              <a:buClr>
                <a:srgbClr val="00B0F0"/>
              </a:buClr>
              <a:buSzPct val="76000"/>
              <a:buFont typeface="Wingdings 3" charset="2"/>
              <a:buChar char=""/>
              <a:tabLst/>
              <a:defRPr/>
            </a:pPr>
            <a:r>
              <a:rPr kumimoji="0" lang="en-GB" sz="14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rPr>
              <a:t>Exchange rate</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rPr>
              <a:t>: the forecast reflects NBR’s rule of return to ER path that first corrects for RER overvaluation, then for inflation differential with trading partners (</a:t>
            </a:r>
            <a:r>
              <a:rPr kumimoji="0" lang="en-GB" sz="1400" b="0" i="0" u="sng" strike="noStrike" kern="1200" cap="none" spc="0" normalizeH="0" baseline="0" noProof="0" dirty="0">
                <a:ln>
                  <a:noFill/>
                </a:ln>
                <a:solidFill>
                  <a:prstClr val="black"/>
                </a:solidFill>
                <a:effectLst/>
                <a:uLnTx/>
                <a:uFillTx/>
                <a:latin typeface="Bahnschrift Light" panose="020B0502040204020203" pitchFamily="34" charset="0"/>
              </a:rPr>
              <a:t>+</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rPr>
              <a:t>3% </a:t>
            </a:r>
            <a:r>
              <a:rPr kumimoji="0" lang="en-GB" sz="1400" b="0" i="0" u="none" strike="noStrike" kern="1200" cap="none" spc="0" normalizeH="0" baseline="0" noProof="0" dirty="0" err="1">
                <a:ln>
                  <a:noFill/>
                </a:ln>
                <a:solidFill>
                  <a:prstClr val="black"/>
                </a:solidFill>
                <a:effectLst/>
                <a:uLnTx/>
                <a:uFillTx/>
                <a:latin typeface="Bahnschrift Light" panose="020B0502040204020203" pitchFamily="34" charset="0"/>
              </a:rPr>
              <a:t>py</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rPr>
              <a:t>). The 2022-23 RER overvaluation (due to the inflation surge) was more than corrected in 2024:</a:t>
            </a:r>
          </a:p>
          <a:p>
            <a:pPr marL="1096963" marR="0" lvl="3" indent="-228600" algn="just" defTabSz="914400" rtl="0" eaLnBrk="0" fontAlgn="base" latinLnBrk="0" hangingPunct="0">
              <a:lnSpc>
                <a:spcPct val="150000"/>
              </a:lnSpc>
              <a:spcBef>
                <a:spcPts val="0"/>
              </a:spcBef>
              <a:spcAft>
                <a:spcPts val="0"/>
              </a:spcAft>
              <a:buClr>
                <a:srgbClr val="23A900"/>
              </a:buClr>
              <a:buSzPct val="70000"/>
              <a:buFont typeface="Wingdings" panose="05000000000000000000" pitchFamily="2" charset="2"/>
              <a:buChar char="Ø"/>
              <a:tabLst/>
              <a:defRPr/>
            </a:pP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rPr>
              <a:t> for intMF consider: </a:t>
            </a:r>
            <a:r>
              <a:rPr kumimoji="0" lang="en-GB" sz="1400" b="0" i="0" u="none" strike="noStrike" kern="1200" cap="none" spc="0" normalizeH="0" baseline="0" noProof="0" dirty="0">
                <a:ln>
                  <a:noFill/>
                </a:ln>
                <a:solidFill>
                  <a:srgbClr val="29C000">
                    <a:lumMod val="75000"/>
                  </a:srgbClr>
                </a:solidFill>
                <a:effectLst/>
                <a:uLnTx/>
                <a:uFillTx/>
                <a:latin typeface="Bahnschrift Light" panose="020B0502040204020203" pitchFamily="34" charset="0"/>
              </a:rPr>
              <a:t>much smaller NER depreciation rate than in 2023-24, i.e. of some 2% p.y.</a:t>
            </a:r>
          </a:p>
          <a:p>
            <a:pPr marL="273050" marR="0" lvl="0" indent="-273050" algn="just" defTabSz="914400" rtl="0" eaLnBrk="0" fontAlgn="base" latinLnBrk="0" hangingPunct="0">
              <a:lnSpc>
                <a:spcPct val="150000"/>
              </a:lnSpc>
              <a:spcBef>
                <a:spcPts val="0"/>
              </a:spcBef>
              <a:spcAft>
                <a:spcPct val="0"/>
              </a:spcAft>
              <a:buClr>
                <a:srgbClr val="00B0F0"/>
              </a:buClr>
              <a:buSzPct val="76000"/>
              <a:buFont typeface="Wingdings 3" charset="2"/>
              <a:buChar char=""/>
              <a:tabLst/>
              <a:defRPr/>
            </a:pPr>
            <a:r>
              <a:rPr kumimoji="0" lang="en-GB" sz="1400" b="1" i="0" u="none" strike="noStrike" kern="1200" cap="none" spc="0" normalizeH="0" baseline="0" noProof="0" dirty="0">
                <a:ln>
                  <a:noFill/>
                </a:ln>
                <a:solidFill>
                  <a:srgbClr val="192EF7">
                    <a:lumMod val="50000"/>
                  </a:srgbClr>
                </a:solidFill>
                <a:effectLst/>
                <a:uLnTx/>
                <a:uFillTx/>
                <a:latin typeface="Bahnschrift Light" panose="020B0502040204020203" pitchFamily="34" charset="0"/>
              </a:rPr>
              <a:t>Real interest rate</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rPr>
              <a:t>: forecast reflects a rise back to ‘normal’ for real policy (IB) and lending rates (</a:t>
            </a:r>
            <a:r>
              <a:rPr kumimoji="0" lang="en-GB" sz="1400" b="0" i="0" u="sng" strike="noStrike" kern="1200" cap="none" spc="0" normalizeH="0" baseline="0" noProof="0" dirty="0">
                <a:ln>
                  <a:noFill/>
                </a:ln>
                <a:solidFill>
                  <a:prstClr val="black"/>
                </a:solidFill>
                <a:effectLst/>
                <a:uLnTx/>
                <a:uFillTx/>
                <a:latin typeface="Bahnschrift Light" panose="020B0502040204020203" pitchFamily="34" charset="0"/>
              </a:rPr>
              <a:t>+</a:t>
            </a: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rPr>
              <a:t>8% points above real IB) as NBR raised interest rates and inflation plunged in 2024. The RIR rise has contributed to demand restraint in 2024-26. Beyond 2026, RIR reflect higher world RIR (1.5% from 2026, compared to 0% in 2023).</a:t>
            </a:r>
          </a:p>
          <a:p>
            <a:pPr marL="1096963" marR="0" lvl="3" indent="-228600" algn="just" defTabSz="914400" rtl="0" eaLnBrk="0" fontAlgn="base" latinLnBrk="0" hangingPunct="0">
              <a:lnSpc>
                <a:spcPct val="150000"/>
              </a:lnSpc>
              <a:spcBef>
                <a:spcPts val="0"/>
              </a:spcBef>
              <a:spcAft>
                <a:spcPts val="600"/>
              </a:spcAft>
              <a:buClr>
                <a:srgbClr val="23A900"/>
              </a:buClr>
              <a:buSzPct val="70000"/>
              <a:buFont typeface="Wingdings" panose="05000000000000000000" pitchFamily="2" charset="2"/>
              <a:buChar char="Ø"/>
              <a:tabLst/>
              <a:defRPr/>
            </a:pPr>
            <a:r>
              <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rPr>
              <a:t> for intMF consider: </a:t>
            </a:r>
            <a:r>
              <a:rPr kumimoji="0" lang="en-GB" sz="1400" b="0" i="0" u="none" strike="noStrike" kern="1200" cap="none" spc="0" normalizeH="0" baseline="0" noProof="0" dirty="0">
                <a:ln>
                  <a:noFill/>
                </a:ln>
                <a:solidFill>
                  <a:srgbClr val="29C000">
                    <a:lumMod val="75000"/>
                  </a:srgbClr>
                </a:solidFill>
                <a:effectLst/>
                <a:uLnTx/>
                <a:uFillTx/>
                <a:latin typeface="Bahnschrift Light" panose="020B0502040204020203" pitchFamily="34" charset="0"/>
              </a:rPr>
              <a:t>how does the forecast RIR affect real private domestic demand?</a:t>
            </a:r>
            <a:endParaRPr kumimoji="0" lang="en-GB" sz="1400" b="0" i="0" u="none" strike="noStrike" kern="1200" cap="none" spc="0" normalizeH="0" baseline="0" noProof="0" dirty="0">
              <a:ln>
                <a:noFill/>
              </a:ln>
              <a:solidFill>
                <a:prstClr val="black"/>
              </a:solidFill>
              <a:effectLst/>
              <a:uLnTx/>
              <a:uFillTx/>
              <a:latin typeface="Bahnschrift Light" panose="020B0502040204020203" pitchFamily="34" charset="0"/>
            </a:endParaRPr>
          </a:p>
        </p:txBody>
      </p:sp>
    </p:spTree>
    <p:extLst>
      <p:ext uri="{BB962C8B-B14F-4D97-AF65-F5344CB8AC3E}">
        <p14:creationId xmlns:p14="http://schemas.microsoft.com/office/powerpoint/2010/main" val="22991753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65"/>
          <p:cNvSpPr>
            <a:spLocks noChangeArrowheads="1"/>
          </p:cNvSpPr>
          <p:nvPr/>
        </p:nvSpPr>
        <p:spPr bwMode="auto">
          <a:xfrm>
            <a:off x="1524001" y="4868025"/>
            <a:ext cx="184731" cy="600164"/>
          </a:xfrm>
          <a:prstGeom prst="rect">
            <a:avLst/>
          </a:prstGeom>
          <a:noFill/>
          <a:ln w="9525">
            <a:noFill/>
            <a:miter lim="800000"/>
            <a:headEnd/>
            <a:tailEnd/>
          </a:ln>
        </p:spPr>
        <p:txBody>
          <a:bodyPr wrap="none" anchor="ctr">
            <a:spAutoFit/>
          </a:bodyPr>
          <a:lstStyle/>
          <a:p>
            <a:br>
              <a:rPr lang="en-GB" sz="900" dirty="0"/>
            </a:br>
            <a:endParaRPr lang="en-GB" dirty="0"/>
          </a:p>
        </p:txBody>
      </p:sp>
      <p:sp>
        <p:nvSpPr>
          <p:cNvPr id="6" name="TextBox 5"/>
          <p:cNvSpPr txBox="1"/>
          <p:nvPr/>
        </p:nvSpPr>
        <p:spPr>
          <a:xfrm>
            <a:off x="1752600" y="1143001"/>
            <a:ext cx="8458200" cy="4078039"/>
          </a:xfrm>
          <a:prstGeom prst="rect">
            <a:avLst/>
          </a:prstGeom>
          <a:noFill/>
          <a:ln w="28575">
            <a:noFill/>
          </a:ln>
        </p:spPr>
        <p:txBody>
          <a:bodyPr>
            <a:spAutoFit/>
          </a:bodyPr>
          <a:lstStyle/>
          <a:p>
            <a:pPr algn="ctr">
              <a:defRPr/>
            </a:pPr>
            <a:endParaRPr lang="en-US" sz="3300" b="1" dirty="0">
              <a:solidFill>
                <a:schemeClr val="accent6">
                  <a:lumMod val="50000"/>
                </a:schemeClr>
              </a:solidFill>
              <a:latin typeface="Bookman Old Style" pitchFamily="18" charset="0"/>
              <a:cs typeface="Arial" pitchFamily="34" charset="0"/>
            </a:endParaRPr>
          </a:p>
          <a:p>
            <a:pPr algn="ctr">
              <a:defRPr/>
            </a:pPr>
            <a:endParaRPr lang="en-GB" sz="4000" b="1" dirty="0">
              <a:solidFill>
                <a:schemeClr val="accent4">
                  <a:lumMod val="75000"/>
                </a:schemeClr>
              </a:solidFill>
            </a:endParaRPr>
          </a:p>
          <a:p>
            <a:pPr algn="ctr">
              <a:defRPr/>
            </a:pPr>
            <a:r>
              <a:rPr lang="en-GB" sz="3200" b="1" dirty="0">
                <a:solidFill>
                  <a:srgbClr val="008BCC"/>
                </a:solidFill>
                <a:latin typeface="+mn-lt"/>
              </a:rPr>
              <a:t>THANK YOU</a:t>
            </a:r>
          </a:p>
          <a:p>
            <a:pPr algn="ctr">
              <a:defRPr/>
            </a:pPr>
            <a:endParaRPr lang="en-GB" sz="3200" b="1" dirty="0">
              <a:solidFill>
                <a:schemeClr val="accent4">
                  <a:lumMod val="75000"/>
                </a:schemeClr>
              </a:solidFill>
            </a:endParaRPr>
          </a:p>
          <a:p>
            <a:pPr algn="ctr">
              <a:defRPr/>
            </a:pPr>
            <a:endParaRPr lang="en-US" sz="3600" b="1" dirty="0">
              <a:latin typeface="Calibri" pitchFamily="34" charset="0"/>
              <a:cs typeface="Arial" pitchFamily="34" charset="0"/>
            </a:endParaRPr>
          </a:p>
          <a:p>
            <a:pPr algn="ctr">
              <a:defRPr/>
            </a:pPr>
            <a:endParaRPr lang="en-US" sz="4000" b="1" dirty="0">
              <a:solidFill>
                <a:schemeClr val="accent2">
                  <a:lumMod val="50000"/>
                </a:schemeClr>
              </a:solidFill>
              <a:latin typeface="Calibri" pitchFamily="34" charset="0"/>
              <a:cs typeface="Arial" pitchFamily="34" charset="0"/>
            </a:endParaRPr>
          </a:p>
          <a:p>
            <a:pPr algn="r">
              <a:defRPr/>
            </a:pPr>
            <a:endParaRPr lang="en-GB" i="1" dirty="0">
              <a:solidFill>
                <a:schemeClr val="accent6">
                  <a:lumMod val="75000"/>
                </a:schemeClr>
              </a:solidFill>
            </a:endParaRPr>
          </a:p>
          <a:p>
            <a:pPr>
              <a:defRPr/>
            </a:pPr>
            <a:endParaRPr lang="en-US" sz="2200" b="1" dirty="0">
              <a:latin typeface="Calibri" pitchFamily="34" charset="0"/>
              <a:cs typeface="Arial" pitchFamily="34" charset="0"/>
            </a:endParaRPr>
          </a:p>
        </p:txBody>
      </p:sp>
      <p:cxnSp>
        <p:nvCxnSpPr>
          <p:cNvPr id="7" name="Straight Connector 6"/>
          <p:cNvCxnSpPr/>
          <p:nvPr/>
        </p:nvCxnSpPr>
        <p:spPr>
          <a:xfrm rot="10800000">
            <a:off x="2362200" y="3048000"/>
            <a:ext cx="7543800" cy="1588"/>
          </a:xfrm>
          <a:prstGeom prst="line">
            <a:avLst/>
          </a:prstGeom>
          <a:ln w="38100">
            <a:solidFill>
              <a:srgbClr val="10935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10168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E70382D-03F1-B037-8AF8-AE56371093B4}"/>
              </a:ext>
            </a:extLst>
          </p:cNvPr>
          <p:cNvSpPr>
            <a:spLocks noGrp="1"/>
          </p:cNvSpPr>
          <p:nvPr>
            <p:ph type="sldNum" sz="quarter" idx="12"/>
          </p:nvPr>
        </p:nvSpPr>
        <p:spPr/>
        <p:txBody>
          <a:bodyPr/>
          <a:lstStyle/>
          <a:p>
            <a:fld id="{D97AE203-F84D-4A7F-B161-8561326BE072}" type="slidenum">
              <a:rPr lang="en-US" smtClean="0"/>
              <a:pPr/>
              <a:t>28</a:t>
            </a:fld>
            <a:endParaRPr lang="en-US" dirty="0"/>
          </a:p>
        </p:txBody>
      </p:sp>
      <p:sp>
        <p:nvSpPr>
          <p:cNvPr id="2" name="Title 1">
            <a:extLst>
              <a:ext uri="{FF2B5EF4-FFF2-40B4-BE49-F238E27FC236}">
                <a16:creationId xmlns:a16="http://schemas.microsoft.com/office/drawing/2014/main" id="{60C3556C-239C-2032-A4AB-F5EC73F0A12B}"/>
              </a:ext>
            </a:extLst>
          </p:cNvPr>
          <p:cNvSpPr>
            <a:spLocks noGrp="1"/>
          </p:cNvSpPr>
          <p:nvPr>
            <p:ph type="title" idx="4294967295"/>
          </p:nvPr>
        </p:nvSpPr>
        <p:spPr>
          <a:xfrm>
            <a:off x="2819400" y="760926"/>
            <a:ext cx="7010400" cy="609600"/>
          </a:xfrm>
        </p:spPr>
        <p:txBody>
          <a:bodyPr>
            <a:noAutofit/>
          </a:bodyPr>
          <a:lstStyle/>
          <a:p>
            <a:pPr>
              <a:lnSpc>
                <a:spcPct val="150000"/>
              </a:lnSpc>
            </a:pPr>
            <a:r>
              <a:rPr lang="en-US" sz="2800" b="1" dirty="0">
                <a:solidFill>
                  <a:srgbClr val="008BCC"/>
                </a:solidFill>
                <a:latin typeface="Bahnschrift" panose="020B0502040204020203" pitchFamily="34" charset="0"/>
                <a:cs typeface="+mn-cs"/>
              </a:rPr>
              <a:t>X. Data issues and requests &amp; suggestions</a:t>
            </a:r>
            <a:endParaRPr lang="en-RW" sz="2800" b="1" dirty="0">
              <a:solidFill>
                <a:srgbClr val="008BCC"/>
              </a:solidFill>
              <a:latin typeface="Bahnschrift" panose="020B0502040204020203" pitchFamily="34" charset="0"/>
              <a:cs typeface="+mn-cs"/>
            </a:endParaRPr>
          </a:p>
        </p:txBody>
      </p:sp>
      <p:sp>
        <p:nvSpPr>
          <p:cNvPr id="5" name="TextBox 4">
            <a:extLst>
              <a:ext uri="{FF2B5EF4-FFF2-40B4-BE49-F238E27FC236}">
                <a16:creationId xmlns:a16="http://schemas.microsoft.com/office/drawing/2014/main" id="{95F7979F-7F8C-8730-D214-36B5AA930C70}"/>
              </a:ext>
            </a:extLst>
          </p:cNvPr>
          <p:cNvSpPr txBox="1"/>
          <p:nvPr/>
        </p:nvSpPr>
        <p:spPr>
          <a:xfrm>
            <a:off x="1092200" y="1638766"/>
            <a:ext cx="10896600" cy="3831818"/>
          </a:xfrm>
          <a:prstGeom prst="rect">
            <a:avLst/>
          </a:prstGeom>
          <a:noFill/>
        </p:spPr>
        <p:txBody>
          <a:bodyPr wrap="square">
            <a:spAutoFit/>
          </a:bodyPr>
          <a:lstStyle/>
          <a:p>
            <a:pPr algn="just">
              <a:spcBef>
                <a:spcPts val="0"/>
              </a:spcBef>
              <a:spcAft>
                <a:spcPts val="0"/>
              </a:spcAft>
            </a:pPr>
            <a:r>
              <a:rPr lang="en-US" sz="1800" b="1" dirty="0">
                <a:solidFill>
                  <a:srgbClr val="109351"/>
                </a:solidFill>
                <a:latin typeface="Bahnschrift Light" panose="020B0502040204020203" pitchFamily="34" charset="0"/>
              </a:rPr>
              <a:t>Model/Outlook data issues to be addressed</a:t>
            </a:r>
          </a:p>
          <a:p>
            <a:pPr algn="just">
              <a:spcBef>
                <a:spcPts val="0"/>
              </a:spcBef>
              <a:spcAft>
                <a:spcPts val="0"/>
              </a:spcAft>
            </a:pPr>
            <a:endParaRPr lang="en-US" sz="1800" b="1" dirty="0">
              <a:solidFill>
                <a:srgbClr val="0070C0"/>
              </a:solidFill>
              <a:latin typeface="Bahnschrift Light" panose="020B0502040204020203" pitchFamily="34" charset="0"/>
            </a:endParaRPr>
          </a:p>
          <a:p>
            <a:pPr marL="342900" indent="-342900">
              <a:spcAft>
                <a:spcPts val="800"/>
              </a:spcAft>
              <a:buFont typeface="Wingdings" panose="05000000000000000000" pitchFamily="2" charset="2"/>
              <a:buChar char="§"/>
            </a:pPr>
            <a:r>
              <a:rPr lang="en-US" sz="1800" dirty="0">
                <a:latin typeface="Bahnschrift Light" panose="020B0502040204020203" pitchFamily="34" charset="0"/>
                <a:ea typeface="Calibri" panose="020F0502020204030204" pitchFamily="34" charset="0"/>
                <a:cs typeface="Times New Roman" panose="02020603050405020304" pitchFamily="18" charset="0"/>
              </a:rPr>
              <a:t>intMF – fiscal: accurate govt demand for G&amp;S, more timely and reliable Q data, timely Q treasury plan</a:t>
            </a:r>
          </a:p>
          <a:p>
            <a:pPr>
              <a:spcAft>
                <a:spcPts val="800"/>
              </a:spcAft>
            </a:pPr>
            <a:r>
              <a:rPr lang="en-US" sz="1800" dirty="0">
                <a:latin typeface="Bahnschrift Light" panose="020B0502040204020203" pitchFamily="34" charset="0"/>
                <a:ea typeface="Calibri" panose="020F0502020204030204" pitchFamily="34" charset="0"/>
                <a:cs typeface="Times New Roman" panose="02020603050405020304" pitchFamily="18" charset="0"/>
              </a:rPr>
              <a:t>	– debt: timely &amp; complete Q data (showing IMF separately) and projections integrated into intMF</a:t>
            </a:r>
          </a:p>
          <a:p>
            <a:pPr marL="342900" indent="-342900">
              <a:spcAft>
                <a:spcPts val="800"/>
              </a:spcAft>
              <a:buFont typeface="Wingdings" panose="05000000000000000000" pitchFamily="2" charset="2"/>
              <a:buChar char="§"/>
            </a:pPr>
            <a:r>
              <a:rPr lang="en-US" sz="1800" dirty="0">
                <a:latin typeface="Bahnschrift Light" panose="020B0502040204020203" pitchFamily="34" charset="0"/>
                <a:ea typeface="Calibri" panose="020F0502020204030204" pitchFamily="34" charset="0"/>
                <a:cs typeface="Times New Roman" panose="02020603050405020304" pitchFamily="18" charset="0"/>
              </a:rPr>
              <a:t>NA/NISR – discrepancies/anomalies Govt consumption, investment, inventories, final demand deflators</a:t>
            </a:r>
          </a:p>
          <a:p>
            <a:pPr marL="342900" indent="-342900">
              <a:spcAft>
                <a:spcPts val="800"/>
              </a:spcAft>
              <a:buFont typeface="Wingdings" panose="05000000000000000000" pitchFamily="2" charset="2"/>
              <a:buChar char="§"/>
            </a:pPr>
            <a:r>
              <a:rPr lang="en-US" sz="1800" dirty="0">
                <a:latin typeface="Bahnschrift Light" panose="020B0502040204020203" pitchFamily="34" charset="0"/>
                <a:ea typeface="Calibri" panose="020F0502020204030204" pitchFamily="34" charset="0"/>
                <a:cs typeface="Times New Roman" panose="02020603050405020304" pitchFamily="18" charset="0"/>
              </a:rPr>
              <a:t>NBR – more timely Q BoP data, as input for models and intMF </a:t>
            </a:r>
          </a:p>
          <a:p>
            <a:pPr>
              <a:spcAft>
                <a:spcPts val="800"/>
              </a:spcAft>
            </a:pPr>
            <a:r>
              <a:rPr lang="en-US" sz="1800" dirty="0">
                <a:latin typeface="Bahnschrift Light" panose="020B0502040204020203" pitchFamily="34" charset="0"/>
                <a:cs typeface="Times New Roman" panose="02020603050405020304" pitchFamily="18" charset="0"/>
              </a:rPr>
              <a:t>                 NBR-FPAS results, </a:t>
            </a:r>
            <a:r>
              <a:rPr lang="en-US" sz="1800" dirty="0">
                <a:latin typeface="Bahnschrift Light" panose="020B0502040204020203" pitchFamily="34" charset="0"/>
                <a:ea typeface="Calibri" panose="020F0502020204030204" pitchFamily="34" charset="0"/>
                <a:cs typeface="Times New Roman" panose="02020603050405020304" pitchFamily="18" charset="0"/>
              </a:rPr>
              <a:t>analysis of potential output, </a:t>
            </a:r>
            <a:r>
              <a:rPr lang="en-US" sz="1800" dirty="0">
                <a:latin typeface="Bahnschrift Light" panose="020B0502040204020203" pitchFamily="34" charset="0"/>
                <a:cs typeface="Times New Roman" panose="02020603050405020304" pitchFamily="18" charset="0"/>
              </a:rPr>
              <a:t>international interest rates (GPM)</a:t>
            </a:r>
          </a:p>
          <a:p>
            <a:pPr marL="285750" indent="-285750">
              <a:spcAft>
                <a:spcPts val="800"/>
              </a:spcAft>
              <a:buFont typeface="Wingdings" panose="05000000000000000000" pitchFamily="2" charset="2"/>
              <a:buChar char="§"/>
            </a:pPr>
            <a:r>
              <a:rPr lang="en-US" sz="1800" dirty="0">
                <a:latin typeface="Bahnschrift Light" panose="020B0502040204020203" pitchFamily="34" charset="0"/>
                <a:ea typeface="Calibri" panose="020F0502020204030204" pitchFamily="34" charset="0"/>
                <a:cs typeface="Times New Roman" panose="02020603050405020304" pitchFamily="18" charset="0"/>
              </a:rPr>
              <a:t>WEOGAS &amp; GEE in right format– timely sharing by IMF staff,  QoQ projection instead of  YoY</a:t>
            </a:r>
            <a:endParaRPr lang="en-US" sz="1800" b="1" dirty="0">
              <a:solidFill>
                <a:srgbClr val="0070C0"/>
              </a:solidFill>
              <a:latin typeface="Bahnschrift Light" panose="020B0502040204020203" pitchFamily="34" charset="0"/>
            </a:endParaRPr>
          </a:p>
          <a:p>
            <a:pPr marL="342900" indent="-342900">
              <a:spcAft>
                <a:spcPts val="600"/>
              </a:spcAft>
              <a:buFont typeface="Wingdings" panose="05000000000000000000" pitchFamily="2" charset="2"/>
              <a:buChar char="§"/>
            </a:pPr>
            <a:r>
              <a:rPr lang="en-US" sz="1800" dirty="0">
                <a:latin typeface="Bahnschrift Light" panose="020B0502040204020203" pitchFamily="34" charset="0"/>
                <a:cs typeface="Times New Roman" panose="02020603050405020304" pitchFamily="18" charset="0"/>
              </a:rPr>
              <a:t>timely data reconciliation and iterative comparison of forecast results from various tools </a:t>
            </a:r>
          </a:p>
          <a:p>
            <a:pPr>
              <a:spcAft>
                <a:spcPts val="800"/>
              </a:spcAft>
            </a:pPr>
            <a:r>
              <a:rPr lang="en-US" sz="1800" dirty="0">
                <a:latin typeface="Bahnschrift Light" panose="020B0502040204020203" pitchFamily="34" charset="0"/>
                <a:cs typeface="Times New Roman" panose="02020603050405020304" pitchFamily="18" charset="0"/>
              </a:rPr>
              <a:t>     input for intMF well before each Review and each quarter</a:t>
            </a:r>
          </a:p>
        </p:txBody>
      </p:sp>
    </p:spTree>
    <p:extLst>
      <p:ext uri="{BB962C8B-B14F-4D97-AF65-F5344CB8AC3E}">
        <p14:creationId xmlns:p14="http://schemas.microsoft.com/office/powerpoint/2010/main" val="6418726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AFFE418-E4FE-37F1-555E-0751EC4B485A}"/>
              </a:ext>
            </a:extLst>
          </p:cNvPr>
          <p:cNvSpPr>
            <a:spLocks noGrp="1"/>
          </p:cNvSpPr>
          <p:nvPr>
            <p:ph type="sldNum" sz="quarter" idx="12"/>
          </p:nvPr>
        </p:nvSpPr>
        <p:spPr/>
        <p:txBody>
          <a:bodyPr/>
          <a:lstStyle/>
          <a:p>
            <a:fld id="{D97AE203-F84D-4A7F-B161-8561326BE072}" type="slidenum">
              <a:rPr lang="en-US" smtClean="0"/>
              <a:pPr/>
              <a:t>29</a:t>
            </a:fld>
            <a:endParaRPr lang="en-US" dirty="0"/>
          </a:p>
        </p:txBody>
      </p:sp>
      <p:sp>
        <p:nvSpPr>
          <p:cNvPr id="2" name="Title 1">
            <a:extLst>
              <a:ext uri="{FF2B5EF4-FFF2-40B4-BE49-F238E27FC236}">
                <a16:creationId xmlns:a16="http://schemas.microsoft.com/office/drawing/2014/main" id="{BFBE8807-BD6B-A3ED-9602-BE4FCBAB2C5A}"/>
              </a:ext>
            </a:extLst>
          </p:cNvPr>
          <p:cNvSpPr>
            <a:spLocks noGrp="1"/>
          </p:cNvSpPr>
          <p:nvPr>
            <p:ph type="title" idx="4294967295"/>
          </p:nvPr>
        </p:nvSpPr>
        <p:spPr>
          <a:xfrm>
            <a:off x="2789049" y="284163"/>
            <a:ext cx="6888352" cy="609600"/>
          </a:xfrm>
        </p:spPr>
        <p:txBody>
          <a:bodyPr>
            <a:noAutofit/>
          </a:bodyPr>
          <a:lstStyle/>
          <a:p>
            <a:pPr algn="ctr">
              <a:lnSpc>
                <a:spcPct val="100000"/>
              </a:lnSpc>
            </a:pPr>
            <a:r>
              <a:rPr lang="en-GB" sz="2400" b="1" dirty="0">
                <a:solidFill>
                  <a:srgbClr val="008BCC"/>
                </a:solidFill>
                <a:latin typeface="Bahnschrift" panose="020B0502040204020203" pitchFamily="34" charset="0"/>
                <a:cs typeface="+mn-cs"/>
              </a:rPr>
              <a:t>XI. Alternative scenario: higher foreign food/oil prices (2023-24)</a:t>
            </a:r>
            <a:endParaRPr lang="en-US" sz="2400" b="1" dirty="0">
              <a:solidFill>
                <a:srgbClr val="008BCC"/>
              </a:solidFill>
              <a:latin typeface="Bahnschrift" panose="020B0502040204020203" pitchFamily="34" charset="0"/>
              <a:cs typeface="+mn-cs"/>
            </a:endParaRPr>
          </a:p>
        </p:txBody>
      </p:sp>
      <p:sp>
        <p:nvSpPr>
          <p:cNvPr id="4" name="TextBox 3">
            <a:extLst>
              <a:ext uri="{FF2B5EF4-FFF2-40B4-BE49-F238E27FC236}">
                <a16:creationId xmlns:a16="http://schemas.microsoft.com/office/drawing/2014/main" id="{C8309FB4-CAA2-9888-339D-0BF98DAD9D8C}"/>
              </a:ext>
            </a:extLst>
          </p:cNvPr>
          <p:cNvSpPr txBox="1"/>
          <p:nvPr/>
        </p:nvSpPr>
        <p:spPr>
          <a:xfrm rot="10800000" flipV="1">
            <a:off x="510221" y="3615584"/>
            <a:ext cx="5360003" cy="2901692"/>
          </a:xfrm>
          <a:prstGeom prst="rect">
            <a:avLst/>
          </a:prstGeom>
          <a:noFill/>
          <a:ln>
            <a:solidFill>
              <a:schemeClr val="accent1">
                <a:lumMod val="40000"/>
                <a:lumOff val="60000"/>
              </a:schemeClr>
            </a:solidFill>
          </a:ln>
        </p:spPr>
        <p:txBody>
          <a:bodyPr wrap="square" rtlCol="0">
            <a:spAutoFit/>
          </a:bodyPr>
          <a:lstStyle/>
          <a:p>
            <a:pPr>
              <a:lnSpc>
                <a:spcPct val="150000"/>
              </a:lnSpc>
            </a:pPr>
            <a:r>
              <a:rPr lang="en-GB" sz="1200" b="1" dirty="0">
                <a:solidFill>
                  <a:srgbClr val="00B0F0"/>
                </a:solidFill>
                <a:latin typeface="Bahnschrift Light" panose="020B0502040204020203" pitchFamily="34" charset="0"/>
                <a:ea typeface="Calibri" panose="020F0502020204030204" pitchFamily="34" charset="0"/>
              </a:rPr>
              <a:t>Higher-than-WEO foreign food and oil prices in 2023-24</a:t>
            </a:r>
          </a:p>
          <a:p>
            <a:pPr marL="285750" indent="-285750">
              <a:lnSpc>
                <a:spcPct val="150000"/>
              </a:lnSpc>
              <a:buFont typeface="Wingdings" panose="05000000000000000000" pitchFamily="2" charset="2"/>
              <a:buChar char="§"/>
            </a:pPr>
            <a:r>
              <a:rPr lang="en-US" sz="1200" dirty="0">
                <a:latin typeface="Bahnschrift Light" panose="020B0502040204020203" pitchFamily="34" charset="0"/>
              </a:rPr>
              <a:t>foreign food and oil prices on average 25% higher than BL</a:t>
            </a:r>
          </a:p>
          <a:p>
            <a:pPr marL="285750" indent="-285750">
              <a:lnSpc>
                <a:spcPct val="150000"/>
              </a:lnSpc>
              <a:buFont typeface="Wingdings" panose="05000000000000000000" pitchFamily="2" charset="2"/>
              <a:buChar char="§"/>
            </a:pPr>
            <a:r>
              <a:rPr lang="en-US" sz="1200" dirty="0">
                <a:latin typeface="Bahnschrift Light" panose="020B0502040204020203" pitchFamily="34" charset="0"/>
              </a:rPr>
              <a:t>with peak around end-2023, return to WEO levels from 2025</a:t>
            </a:r>
          </a:p>
          <a:p>
            <a:pPr marL="285750" indent="-285750">
              <a:lnSpc>
                <a:spcPct val="150000"/>
              </a:lnSpc>
              <a:spcAft>
                <a:spcPts val="600"/>
              </a:spcAft>
              <a:buFont typeface="Wingdings" panose="05000000000000000000" pitchFamily="2" charset="2"/>
              <a:buChar char="§"/>
            </a:pPr>
            <a:r>
              <a:rPr lang="en-US" sz="1200" dirty="0">
                <a:latin typeface="Bahnschrift Light" panose="020B0502040204020203" pitchFamily="34" charset="0"/>
              </a:rPr>
              <a:t>no change in fiscal policy</a:t>
            </a:r>
          </a:p>
          <a:p>
            <a:pPr>
              <a:lnSpc>
                <a:spcPct val="150000"/>
              </a:lnSpc>
            </a:pPr>
            <a:r>
              <a:rPr lang="en-GB" sz="1200" b="1" dirty="0">
                <a:solidFill>
                  <a:srgbClr val="00B0F0"/>
                </a:solidFill>
                <a:latin typeface="Bahnschrift Light" panose="020B0502040204020203" pitchFamily="34" charset="0"/>
                <a:ea typeface="Calibri" panose="020F0502020204030204" pitchFamily="34" charset="0"/>
              </a:rPr>
              <a:t>Results in higher headline CPI, little or no effect on output</a:t>
            </a:r>
          </a:p>
          <a:p>
            <a:pPr marL="285750" indent="-285750">
              <a:lnSpc>
                <a:spcPct val="150000"/>
              </a:lnSpc>
              <a:buFont typeface="Wingdings" panose="05000000000000000000" pitchFamily="2" charset="2"/>
              <a:buChar char="§"/>
            </a:pPr>
            <a:r>
              <a:rPr lang="en-US" sz="1200" dirty="0">
                <a:latin typeface="Bahnschrift Light" panose="020B0502040204020203" pitchFamily="34" charset="0"/>
              </a:rPr>
              <a:t>headline CPI temporarily higher, reflecting food/oil import shares</a:t>
            </a:r>
          </a:p>
          <a:p>
            <a:pPr marL="285750" indent="-285750">
              <a:lnSpc>
                <a:spcPct val="150000"/>
              </a:lnSpc>
              <a:buFont typeface="Wingdings" panose="05000000000000000000" pitchFamily="2" charset="2"/>
              <a:buChar char="§"/>
            </a:pPr>
            <a:r>
              <a:rPr lang="en-US" sz="1200" dirty="0">
                <a:latin typeface="Bahnschrift Light" panose="020B0502040204020203" pitchFamily="34" charset="0"/>
              </a:rPr>
              <a:t>small response policy rate, reversed fast as expected inflation drops</a:t>
            </a:r>
          </a:p>
          <a:p>
            <a:pPr marL="285750" indent="-285750">
              <a:lnSpc>
                <a:spcPct val="150000"/>
              </a:lnSpc>
              <a:buFont typeface="Wingdings" panose="05000000000000000000" pitchFamily="2" charset="2"/>
              <a:buChar char="§"/>
            </a:pPr>
            <a:r>
              <a:rPr lang="en-US" sz="1200" dirty="0">
                <a:latin typeface="Bahnschrift Light" panose="020B0502040204020203" pitchFamily="34" charset="0"/>
              </a:rPr>
              <a:t>small positive effect on demand of lower RIR</a:t>
            </a:r>
          </a:p>
          <a:p>
            <a:pPr marL="285750" indent="-285750">
              <a:lnSpc>
                <a:spcPct val="150000"/>
              </a:lnSpc>
              <a:buFont typeface="Wingdings" panose="05000000000000000000" pitchFamily="2" charset="2"/>
              <a:buChar char="§"/>
            </a:pPr>
            <a:r>
              <a:rPr lang="en-US" sz="1200" dirty="0">
                <a:latin typeface="Bahnschrift Light" panose="020B0502040204020203" pitchFamily="34" charset="0"/>
              </a:rPr>
              <a:t>mostly offset by negative effect of slightly more appreciated RER</a:t>
            </a:r>
          </a:p>
          <a:p>
            <a:pPr marL="285750" indent="-285750">
              <a:lnSpc>
                <a:spcPct val="150000"/>
              </a:lnSpc>
              <a:buFont typeface="Wingdings" panose="05000000000000000000" pitchFamily="2" charset="2"/>
              <a:buChar char="§"/>
            </a:pPr>
            <a:r>
              <a:rPr lang="en-US" sz="1200" dirty="0">
                <a:latin typeface="Bahnschrift Light" panose="020B0502040204020203" pitchFamily="34" charset="0"/>
              </a:rPr>
              <a:t>overall effect on GDP is very small, less than 0.2% </a:t>
            </a:r>
          </a:p>
        </p:txBody>
      </p:sp>
      <p:pic>
        <p:nvPicPr>
          <p:cNvPr id="6" name="Picture 5" descr="Chart, line chart&#10;&#10;Description automatically generated">
            <a:extLst>
              <a:ext uri="{FF2B5EF4-FFF2-40B4-BE49-F238E27FC236}">
                <a16:creationId xmlns:a16="http://schemas.microsoft.com/office/drawing/2014/main" id="{B580BD2F-649E-60FA-633D-03324DE6B0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0222" y="1066800"/>
            <a:ext cx="2690178" cy="2501255"/>
          </a:xfrm>
          <a:prstGeom prst="rect">
            <a:avLst/>
          </a:prstGeom>
          <a:ln>
            <a:solidFill>
              <a:schemeClr val="accent1">
                <a:lumMod val="40000"/>
                <a:lumOff val="60000"/>
              </a:schemeClr>
            </a:solidFill>
          </a:ln>
        </p:spPr>
      </p:pic>
      <p:pic>
        <p:nvPicPr>
          <p:cNvPr id="8" name="Picture 7" descr="Chart, line chart&#10;&#10;Description automatically generated">
            <a:extLst>
              <a:ext uri="{FF2B5EF4-FFF2-40B4-BE49-F238E27FC236}">
                <a16:creationId xmlns:a16="http://schemas.microsoft.com/office/drawing/2014/main" id="{889A9DE6-9BFC-6A53-38AD-C47A1425745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290641" y="1066800"/>
            <a:ext cx="2690178" cy="2501256"/>
          </a:xfrm>
          <a:prstGeom prst="rect">
            <a:avLst/>
          </a:prstGeom>
          <a:ln>
            <a:solidFill>
              <a:schemeClr val="accent1">
                <a:lumMod val="40000"/>
                <a:lumOff val="60000"/>
              </a:schemeClr>
            </a:solidFill>
          </a:ln>
        </p:spPr>
      </p:pic>
      <p:pic>
        <p:nvPicPr>
          <p:cNvPr id="10" name="Picture 9" descr="Chart, line chart&#10;&#10;Description automatically generated">
            <a:extLst>
              <a:ext uri="{FF2B5EF4-FFF2-40B4-BE49-F238E27FC236}">
                <a16:creationId xmlns:a16="http://schemas.microsoft.com/office/drawing/2014/main" id="{F6EB5B70-CE75-4FDF-6C04-C834BE64FBE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7735" y="1071282"/>
            <a:ext cx="2741474" cy="2856419"/>
          </a:xfrm>
          <a:prstGeom prst="rect">
            <a:avLst/>
          </a:prstGeom>
          <a:ln>
            <a:solidFill>
              <a:schemeClr val="accent1">
                <a:lumMod val="40000"/>
                <a:lumOff val="60000"/>
              </a:schemeClr>
            </a:solidFill>
          </a:ln>
        </p:spPr>
      </p:pic>
      <p:pic>
        <p:nvPicPr>
          <p:cNvPr id="15" name="Picture 14" descr="Chart, line chart&#10;&#10;Description automatically generated">
            <a:extLst>
              <a:ext uri="{FF2B5EF4-FFF2-40B4-BE49-F238E27FC236}">
                <a16:creationId xmlns:a16="http://schemas.microsoft.com/office/drawing/2014/main" id="{02925C9B-2BDC-4C9B-9C7D-72DD591BE9A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896272" y="1066800"/>
            <a:ext cx="2722161" cy="2627820"/>
          </a:xfrm>
          <a:prstGeom prst="rect">
            <a:avLst/>
          </a:prstGeom>
          <a:ln>
            <a:solidFill>
              <a:schemeClr val="accent1">
                <a:lumMod val="40000"/>
                <a:lumOff val="60000"/>
              </a:schemeClr>
            </a:solidFill>
          </a:ln>
        </p:spPr>
      </p:pic>
      <p:pic>
        <p:nvPicPr>
          <p:cNvPr id="18" name="Picture 17" descr="Chart, line chart&#10;&#10;Description automatically generated">
            <a:extLst>
              <a:ext uri="{FF2B5EF4-FFF2-40B4-BE49-F238E27FC236}">
                <a16:creationId xmlns:a16="http://schemas.microsoft.com/office/drawing/2014/main" id="{52BB3907-ABDC-4994-C0FA-C0740D7B474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33966" y="3962400"/>
            <a:ext cx="2962306" cy="2308325"/>
          </a:xfrm>
          <a:prstGeom prst="rect">
            <a:avLst/>
          </a:prstGeom>
          <a:ln>
            <a:solidFill>
              <a:schemeClr val="accent1">
                <a:lumMod val="40000"/>
                <a:lumOff val="60000"/>
              </a:schemeClr>
            </a:solidFill>
          </a:ln>
        </p:spPr>
      </p:pic>
      <p:pic>
        <p:nvPicPr>
          <p:cNvPr id="19" name="Picture 18" descr="Chart, line chart&#10;&#10;Description automatically generated">
            <a:extLst>
              <a:ext uri="{FF2B5EF4-FFF2-40B4-BE49-F238E27FC236}">
                <a16:creationId xmlns:a16="http://schemas.microsoft.com/office/drawing/2014/main" id="{DA0C3106-E3A5-B8F3-5DA5-36C26B5C43A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026718" y="3733800"/>
            <a:ext cx="2708084" cy="2308325"/>
          </a:xfrm>
          <a:prstGeom prst="rect">
            <a:avLst/>
          </a:prstGeom>
          <a:ln>
            <a:solidFill>
              <a:schemeClr val="accent1">
                <a:lumMod val="40000"/>
                <a:lumOff val="60000"/>
              </a:schemeClr>
            </a:solidFill>
          </a:ln>
        </p:spPr>
      </p:pic>
    </p:spTree>
    <p:extLst>
      <p:ext uri="{BB962C8B-B14F-4D97-AF65-F5344CB8AC3E}">
        <p14:creationId xmlns:p14="http://schemas.microsoft.com/office/powerpoint/2010/main" val="33275430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5CDF8F7-7F5E-7D6D-E3E8-C142EB7C92C4}"/>
              </a:ext>
            </a:extLst>
          </p:cNvPr>
          <p:cNvSpPr>
            <a:spLocks noGrp="1"/>
          </p:cNvSpPr>
          <p:nvPr>
            <p:ph type="sldNum" sz="quarter" idx="12"/>
          </p:nvPr>
        </p:nvSpPr>
        <p:spPr/>
        <p:txBody>
          <a:bodyPr/>
          <a:lstStyle/>
          <a:p>
            <a:fld id="{D97AE203-F84D-4A7F-B161-8561326BE072}" type="slidenum">
              <a:rPr lang="en-US" smtClean="0"/>
              <a:pPr/>
              <a:t>30</a:t>
            </a:fld>
            <a:endParaRPr lang="en-US" dirty="0"/>
          </a:p>
        </p:txBody>
      </p:sp>
      <p:sp>
        <p:nvSpPr>
          <p:cNvPr id="2" name="Title 1">
            <a:extLst>
              <a:ext uri="{FF2B5EF4-FFF2-40B4-BE49-F238E27FC236}">
                <a16:creationId xmlns:a16="http://schemas.microsoft.com/office/drawing/2014/main" id="{7C5EAC75-6C92-AB65-6348-00D2D6D83AFA}"/>
              </a:ext>
            </a:extLst>
          </p:cNvPr>
          <p:cNvSpPr>
            <a:spLocks noGrp="1"/>
          </p:cNvSpPr>
          <p:nvPr>
            <p:ph type="title" idx="4294967295"/>
          </p:nvPr>
        </p:nvSpPr>
        <p:spPr>
          <a:xfrm>
            <a:off x="2819400" y="98424"/>
            <a:ext cx="6781800" cy="972416"/>
          </a:xfrm>
        </p:spPr>
        <p:txBody>
          <a:bodyPr>
            <a:normAutofit/>
          </a:bodyPr>
          <a:lstStyle/>
          <a:p>
            <a:pPr algn="ctr">
              <a:lnSpc>
                <a:spcPct val="100000"/>
              </a:lnSpc>
            </a:pPr>
            <a:r>
              <a:rPr lang="en-US" sz="2800" b="1" dirty="0">
                <a:solidFill>
                  <a:srgbClr val="008BCC"/>
                </a:solidFill>
                <a:latin typeface="Bahnschrift" panose="020B0502040204020203" pitchFamily="34" charset="0"/>
                <a:cs typeface="+mn-cs"/>
              </a:rPr>
              <a:t>VIII. QMFM: main relationships and transmission mechanisms</a:t>
            </a:r>
            <a:endParaRPr lang="en-AE" sz="2800" b="1" dirty="0">
              <a:solidFill>
                <a:srgbClr val="008BCC"/>
              </a:solidFill>
              <a:latin typeface="Bahnschrift" panose="020B0502040204020203" pitchFamily="34" charset="0"/>
              <a:cs typeface="+mn-cs"/>
            </a:endParaRPr>
          </a:p>
        </p:txBody>
      </p:sp>
      <p:pic>
        <p:nvPicPr>
          <p:cNvPr id="4" name="Picture 3">
            <a:extLst>
              <a:ext uri="{FF2B5EF4-FFF2-40B4-BE49-F238E27FC236}">
                <a16:creationId xmlns:a16="http://schemas.microsoft.com/office/drawing/2014/main" id="{435B370B-B524-55B7-8DFA-989DF55857A6}"/>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762000" y="1070841"/>
            <a:ext cx="10832452" cy="5285510"/>
          </a:xfrm>
          <a:prstGeom prst="rect">
            <a:avLst/>
          </a:prstGeom>
          <a:noFill/>
          <a:ln>
            <a:noFill/>
          </a:ln>
        </p:spPr>
      </p:pic>
    </p:spTree>
    <p:extLst>
      <p:ext uri="{BB962C8B-B14F-4D97-AF65-F5344CB8AC3E}">
        <p14:creationId xmlns:p14="http://schemas.microsoft.com/office/powerpoint/2010/main" val="367455815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2_Origin">
  <a:themeElements>
    <a:clrScheme name="SPU colour scheme">
      <a:dk1>
        <a:sysClr val="windowText" lastClr="000000"/>
      </a:dk1>
      <a:lt1>
        <a:srgbClr val="FFFFFF"/>
      </a:lt1>
      <a:dk2>
        <a:srgbClr val="464653"/>
      </a:dk2>
      <a:lt2>
        <a:srgbClr val="DDE9EC"/>
      </a:lt2>
      <a:accent1>
        <a:srgbClr val="00B0F0"/>
      </a:accent1>
      <a:accent2>
        <a:srgbClr val="29C000"/>
      </a:accent2>
      <a:accent3>
        <a:srgbClr val="FFFF00"/>
      </a:accent3>
      <a:accent4>
        <a:srgbClr val="192EF7"/>
      </a:accent4>
      <a:accent5>
        <a:srgbClr val="F6C120"/>
      </a:accent5>
      <a:accent6>
        <a:srgbClr val="638BAD"/>
      </a:accent6>
      <a:hlink>
        <a:srgbClr val="518592"/>
      </a:hlink>
      <a:folHlink>
        <a:srgbClr val="7F7F7F"/>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Origin">
  <a:themeElements>
    <a:clrScheme name="SPU colour scheme">
      <a:dk1>
        <a:sysClr val="windowText" lastClr="000000"/>
      </a:dk1>
      <a:lt1>
        <a:srgbClr val="FFFFFF"/>
      </a:lt1>
      <a:dk2>
        <a:srgbClr val="464653"/>
      </a:dk2>
      <a:lt2>
        <a:srgbClr val="DDE9EC"/>
      </a:lt2>
      <a:accent1>
        <a:srgbClr val="00B0F0"/>
      </a:accent1>
      <a:accent2>
        <a:srgbClr val="29C000"/>
      </a:accent2>
      <a:accent3>
        <a:srgbClr val="FFFF00"/>
      </a:accent3>
      <a:accent4>
        <a:srgbClr val="192EF7"/>
      </a:accent4>
      <a:accent5>
        <a:srgbClr val="F6C120"/>
      </a:accent5>
      <a:accent6>
        <a:srgbClr val="638BAD"/>
      </a:accent6>
      <a:hlink>
        <a:srgbClr val="518592"/>
      </a:hlink>
      <a:folHlink>
        <a:srgbClr val="7F7F7F"/>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57130</TotalTime>
  <Words>4705</Words>
  <Application>Microsoft Office PowerPoint</Application>
  <PresentationFormat>Widescreen</PresentationFormat>
  <Paragraphs>348</Paragraphs>
  <Slides>31</Slides>
  <Notes>21</Notes>
  <HiddenSlides>0</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31</vt:i4>
      </vt:variant>
    </vt:vector>
  </HeadingPairs>
  <TitlesOfParts>
    <vt:vector size="49" baseType="lpstr">
      <vt:lpstr>ＭＳ Ｐゴシック</vt:lpstr>
      <vt:lpstr>Arial</vt:lpstr>
      <vt:lpstr>Bahnschrift</vt:lpstr>
      <vt:lpstr>Bahnschrift Condensed</vt:lpstr>
      <vt:lpstr>Bahnschrift Light</vt:lpstr>
      <vt:lpstr>Bahnschrift Light Condensed</vt:lpstr>
      <vt:lpstr>Bahnschrift Light SemiCondensed</vt:lpstr>
      <vt:lpstr>Bahnschrift SemiLight</vt:lpstr>
      <vt:lpstr>Bookman Old Style</vt:lpstr>
      <vt:lpstr>Calibri</vt:lpstr>
      <vt:lpstr>Courier New</vt:lpstr>
      <vt:lpstr>Gill Sans MT</vt:lpstr>
      <vt:lpstr>Symbol</vt:lpstr>
      <vt:lpstr>Wingdings</vt:lpstr>
      <vt:lpstr>Wingdings 3</vt:lpstr>
      <vt:lpstr>2_Origin</vt:lpstr>
      <vt:lpstr>Office Theme</vt:lpstr>
      <vt:lpstr>3_Origin</vt:lpstr>
      <vt:lpstr>PowerPoint Presentation</vt:lpstr>
      <vt:lpstr>Outline/contents</vt:lpstr>
      <vt:lpstr>Acronyms</vt:lpstr>
      <vt:lpstr>Glossary of key terms</vt:lpstr>
      <vt:lpstr>I. Rationale of outlook &amp; underlying QMFM model</vt:lpstr>
      <vt:lpstr>II. Data treatment &amp; Settings                        </vt:lpstr>
      <vt:lpstr>II. Main assumptions/tunes underlying forecasts                        </vt:lpstr>
      <vt:lpstr>II. Forecast results: Baseline                                                     </vt:lpstr>
      <vt:lpstr>II. Forecast results: Alternative                                                    </vt:lpstr>
      <vt:lpstr>II. Forecast results: Cyclical position</vt:lpstr>
      <vt:lpstr>IIIa. Current cyclical position as influenced by recent policies</vt:lpstr>
      <vt:lpstr>Summary of policy assumptions underlying forecasts</vt:lpstr>
      <vt:lpstr>IIIb. Domestic policy stance</vt:lpstr>
      <vt:lpstr>IIIc. External environment Assumptions</vt:lpstr>
      <vt:lpstr>IV. Macroeconomic forecast/outlook Final demand—Real GDP</vt:lpstr>
      <vt:lpstr>VI. Macroeconomic forecast/outlook Final demand components</vt:lpstr>
      <vt:lpstr>Fiscal: Budget deficit</vt:lpstr>
      <vt:lpstr>Fiscal: Budget deficit compositions</vt:lpstr>
      <vt:lpstr>Inflation: Headline CPI and components </vt:lpstr>
      <vt:lpstr>Fiscal impulse and its effect on private demand</vt:lpstr>
      <vt:lpstr>Nominal and Real Interest Rates (Inter-Bank)</vt:lpstr>
      <vt:lpstr>Nominal and Real Exchange Rates (ER, RER)</vt:lpstr>
      <vt:lpstr>VIII. Policies driving forecasts</vt:lpstr>
      <vt:lpstr>VII. Forecast evaluation (latest vs. new forecast)</vt:lpstr>
      <vt:lpstr>VIII. Model revision—Effect of recalibration</vt:lpstr>
      <vt:lpstr>VI. Inputs for intMF projections &amp; discussions (template)</vt:lpstr>
      <vt:lpstr>VI. Inputs for intMF projections &amp; discussions (cont’d) (template)</vt:lpstr>
      <vt:lpstr>PowerPoint Presentation</vt:lpstr>
      <vt:lpstr>X. Data issues and requests &amp; suggestions</vt:lpstr>
      <vt:lpstr>XI. Alternative scenario: higher foreign food/oil prices (2023-24)</vt:lpstr>
      <vt:lpstr>VIII. QMFM: main relationships and transmission mechanisms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Economic Presentation</dc:title>
  <dc:creator>leorugwa</dc:creator>
  <cp:lastModifiedBy>Evariste MANIRUMVA</cp:lastModifiedBy>
  <cp:revision>1837</cp:revision>
  <cp:lastPrinted>2023-06-23T12:26:08Z</cp:lastPrinted>
  <dcterms:created xsi:type="dcterms:W3CDTF">2011-04-18T20:01:25Z</dcterms:created>
  <dcterms:modified xsi:type="dcterms:W3CDTF">2025-11-14T13:57:40Z</dcterms:modified>
</cp:coreProperties>
</file>