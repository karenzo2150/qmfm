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25B_6AF2A1D7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  <p:sldMasterId id="2147483910" r:id="rId2"/>
    <p:sldMasterId id="2147483922" r:id="rId3"/>
  </p:sldMasterIdLst>
  <p:notesMasterIdLst>
    <p:notesMasterId r:id="rId18"/>
  </p:notesMasterIdLst>
  <p:handoutMasterIdLst>
    <p:handoutMasterId r:id="rId19"/>
  </p:handoutMasterIdLst>
  <p:sldIdLst>
    <p:sldId id="566" r:id="rId4"/>
    <p:sldId id="601" r:id="rId5"/>
    <p:sldId id="593" r:id="rId6"/>
    <p:sldId id="594" r:id="rId7"/>
    <p:sldId id="595" r:id="rId8"/>
    <p:sldId id="602" r:id="rId9"/>
    <p:sldId id="607" r:id="rId10"/>
    <p:sldId id="603" r:id="rId11"/>
    <p:sldId id="608" r:id="rId12"/>
    <p:sldId id="609" r:id="rId13"/>
    <p:sldId id="598" r:id="rId14"/>
    <p:sldId id="586" r:id="rId15"/>
    <p:sldId id="565" r:id="rId16"/>
    <p:sldId id="545" r:id="rId17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601"/>
            <p14:sldId id="593"/>
            <p14:sldId id="594"/>
            <p14:sldId id="595"/>
            <p14:sldId id="602"/>
            <p14:sldId id="607"/>
            <p14:sldId id="603"/>
            <p14:sldId id="608"/>
            <p14:sldId id="609"/>
            <p14:sldId id="598"/>
            <p14:sldId id="586"/>
            <p14:sldId id="565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9351"/>
    <a:srgbClr val="008BCC"/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788" autoAdjust="0"/>
  </p:normalViewPr>
  <p:slideViewPr>
    <p:cSldViewPr>
      <p:cViewPr varScale="1">
        <p:scale>
          <a:sx n="81" d="100"/>
          <a:sy n="81" d="100"/>
        </p:scale>
        <p:origin x="24" y="2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omments/modernComment_25B_6AF2A1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56F808-68F0-4CE6-835C-955214F7B385}" authorId="{D56D2716-681C-0ED8-9BD4-37117C3B4FB8}" created="2025-03-03T02:28:58.6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94286039" sldId="603"/>
      <ac:spMk id="18" creationId="{A9B51905-B381-2286-37CA-179558F51EC5}"/>
      <ac:txMk cp="266" len="46">
        <ac:context len="746" hash="1903763674"/>
      </ac:txMk>
    </ac:txMkLst>
    <p188:txBody>
      <a:bodyPr/>
      <a:lstStyle/>
      <a:p>
        <a:r>
          <a:rPr lang="en-US"/>
          <a:t>The recovery of C, I is hard to see from y-on-y growth charts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D348-D783-9781-2D90-3C28E68E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14999-5FCD-E785-316D-37591730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40BB-CFFB-590F-8AC5-3F375738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D557-4BB0-94B5-1A10-FDDB8459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83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11/16/2025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16/11/2025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98E8-D6C5-21AA-6BC8-21DF08C0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5780B-3089-D83A-54E2-D7AF8145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5AB25-69E8-BE36-9F9F-8E82A54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AB43-0058-B846-7D8B-BD965EE8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3B95-7EC7-BF39-7295-153EB3F8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609A-5DC2-9CB5-20EE-ABD5D60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375"/>
            <a:ext cx="10515600" cy="476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800" b="1">
                <a:latin typeface="Bahnschrift" panose="020B0502040204020203" pitchFamily="34" charset="0"/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BFCD-640D-4D35-1B02-56A84116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611B-7B3B-ACE5-6E5A-8CD70355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548F-B783-DAD5-5269-FA453BE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>
                <a:latin typeface="Bahnschrift Light SemiCondensed" panose="020B0502040204020203" pitchFamily="3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90A1-7BD7-E7F2-EED6-F2A9B632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pPr algn="l"/>
            <a:fld id="{D41F6BB1-3072-477A-8416-723305CEF71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BF8A-5B37-336F-B6B2-B255D23A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538C5-2BF2-AE48-0938-56AA906E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38EF-68A1-4184-B926-F258578F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81467-5B20-5F9E-690B-B5351E6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832C8-BAC3-494D-16F0-328212F4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1A09-B7F0-1551-9732-0DFEFB2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C291-3262-A69D-0162-C169D140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8485C-FD72-1F85-A330-8D6B8A678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83A49-8C7E-3F0C-D5D7-5330E5B8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1E6A-AA54-BF30-D3B0-F183CCC3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531B-F130-758A-E17A-21547714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23D-AF5A-D2C0-6EA5-ED0269F5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57275"/>
            <a:ext cx="10515600" cy="633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0E48-4C2D-2B2B-964F-88262B8CE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081B-AED5-9BDD-42C4-183B4313D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1A8D6-6096-F19A-F31F-B24A328AC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B0B60-C100-5272-3B52-242A1B3E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16AFD-2884-82F2-85EF-60CC69B8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4FFB9-BD63-4954-B342-92FD028A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2F79E-888C-E739-A807-CE92E919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8639-7441-C5CC-B004-72F862B4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DB76E-A99C-A9A2-2A56-1D3A335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6794B-D66C-A3A8-3D89-528001E4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B1946-7B3C-5D6F-B6B3-05EE80FA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3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58EE5-A6D5-1B17-A565-CBFA0FC3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E5286-4134-96A7-49A6-630AF0CC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CF4D-9210-9221-642A-76149DAF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6AA-CD9E-662B-9853-A78C070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866B5-138B-4FC4-80BF-CF269BE1D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FF8B-6BE8-4754-6044-CCFD98D7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657F-A1BA-23CB-479C-060203E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59696-456E-34AA-C8A0-DEB94CCC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4C4FD-86B3-9465-413E-F37F528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B08-FF37-9363-2A10-C9CF5D43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04900"/>
            <a:ext cx="3932237" cy="952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19786-B2A6-AFFE-64E5-9EB2E5304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88F3A-AB52-C920-020A-F635704A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871-5148-4F43-11B6-3AD6D342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40A6C-BDA2-7098-2430-EDC3EC9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EE63-100B-37C2-85F8-2BF65D08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5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FCC2-5904-491E-581A-36BFCBA9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600"/>
            <a:ext cx="105156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1C980-0C3C-A426-947B-B2E8E147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87D3-0BF2-4993-432B-703A2C0E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A88F-A729-F1E9-BA06-6AD8DCBB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5B78-BAD5-7D9B-358B-F0AEB5DB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8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1F69C-82E3-CB06-9B7F-882518542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B3F83-AAE6-EEDF-B93F-6457BDBE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31A-66D8-8628-1499-FA3DFD08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69D6-F949-7E42-3D3C-2F7AAD7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BCEC-62AB-2A95-67F1-87161F1C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18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76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2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11/16/2025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83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16/11/2025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59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F5A59-B018-E644-7607-2B768C00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9"/>
            <a:ext cx="10515600" cy="523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2F0B-9D89-A110-3EF3-4D5470AC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397"/>
            <a:ext cx="10515600" cy="462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E6DB9-30EE-BD7A-21FA-9CEA5DE8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C8C5-01D9-BD5B-4B6F-E0D27B6DF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2C13-4287-8CA5-6198-EE3FEDF6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E7FC1-0F67-52EB-4B9B-BA1536A1B871}"/>
              </a:ext>
            </a:extLst>
          </p:cNvPr>
          <p:cNvSpPr txBox="1"/>
          <p:nvPr userDrawn="1"/>
        </p:nvSpPr>
        <p:spPr>
          <a:xfrm>
            <a:off x="9184956" y="266195"/>
            <a:ext cx="2743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Quarterly </a:t>
            </a:r>
            <a:r>
              <a:rPr lang="en-US" sz="1200" b="1" dirty="0" err="1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MacroFiscal</a:t>
            </a:r>
            <a:r>
              <a:rPr lang="en-US" sz="12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 Model (QMFM)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85403-7BBD-6A57-0C45-F6343FBA9BF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61" y="98440"/>
            <a:ext cx="685800" cy="752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D7134-32AC-814F-E326-42F953FCCD1D}"/>
              </a:ext>
            </a:extLst>
          </p:cNvPr>
          <p:cNvSpPr txBox="1"/>
          <p:nvPr userDrawn="1"/>
        </p:nvSpPr>
        <p:spPr>
          <a:xfrm>
            <a:off x="976861" y="182497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Ministry of Finance and Economic Planning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3E20EA-1628-2B2A-A3E8-BCC8040BE9AF}"/>
              </a:ext>
            </a:extLst>
          </p:cNvPr>
          <p:cNvGrpSpPr/>
          <p:nvPr userDrawn="1"/>
        </p:nvGrpSpPr>
        <p:grpSpPr>
          <a:xfrm>
            <a:off x="11914707" y="2140515"/>
            <a:ext cx="179811" cy="3721558"/>
            <a:chOff x="11773967" y="1367522"/>
            <a:chExt cx="179811" cy="372155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271194-5E18-B988-8451-55421FB112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CEEFD0-3B63-D760-590E-FCFA9EF35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EE86D6-C30B-8306-1F11-98F29A7A44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870C66-FBF3-3EFE-AA9D-6D111EA8A0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E828D8-2892-806A-A619-C3B9C0D89F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C24050-BCDF-F60D-273C-2253F92689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B3EA7-8B35-59B3-A7D4-5F95CA32EC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9B42D6-2704-1195-5E76-9FEAD5D22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F1DE02-10B9-EC4A-03C2-28CCAF5D74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5A9003-71C1-28DB-3369-068EC9328229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33D68EB-81BE-458F-BD7A-D624523A2772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A9F18B-AF0C-5FB3-9F9B-C8A8829488AC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11D928-D70D-DF9F-B57F-067D5DA97BDF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75CCBD-0B8E-F194-AD05-7B99DFCCDA11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7C7FE4-EF8A-A30B-8556-3BF9B116FEF7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72ED5B-ABBD-0FC1-E9C7-B05B0736DE9D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8F157A8-F470-DA23-16CF-4BE1AB262AD7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E27AEA-9A4A-AABC-29C2-4990604BCA3F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FDD5D-E9D3-A18F-6C1A-8E36E735BE9F}"/>
              </a:ext>
            </a:extLst>
          </p:cNvPr>
          <p:cNvGrpSpPr/>
          <p:nvPr userDrawn="1"/>
        </p:nvGrpSpPr>
        <p:grpSpPr>
          <a:xfrm>
            <a:off x="106812" y="2140515"/>
            <a:ext cx="179811" cy="3721558"/>
            <a:chOff x="11773967" y="1367522"/>
            <a:chExt cx="179811" cy="372155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E90D111-1D56-F61F-7AF8-02E148449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9BF5A0-A616-F9C1-4375-EBDCA6F245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B0F3FE-3FE9-DBB9-A1AA-5A5EDA61A8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5E4C7E-E0C5-3A90-1B7E-250F0F9B79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9E9BC-C992-4034-E847-F368F47127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E36CE0-2FDB-9EE1-7529-DDA254E48C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3F9AD5-0323-288C-B4BC-00DEEB0143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C302256-9149-54B8-F58D-102A6CA537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0005EF-F712-1A4E-8CF7-4B101B9385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51667B-31CC-F91D-2150-789398A79EA0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B018D8-2EF5-9A97-ECA6-3EAC02944669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E3E30C8-9AB4-DCDE-B2B4-CC8A62D3ED7B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65E4C7-016D-3E91-47F9-34C38241BE40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A216DA0-7AB9-DC0F-EB9B-94A71B678E08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C524A-0598-5970-3E3A-1A12BB314944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D92E5C-0133-6F6E-3AC4-E3BF08B7133E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4C966B-D75E-287C-60AF-D1830CC3F6E1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EFA3F1-7B18-877A-99AD-CED79E0ECE78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E3985124-E079-0DEA-BC3A-5AE9D3FBCF84}"/>
              </a:ext>
            </a:extLst>
          </p:cNvPr>
          <p:cNvSpPr/>
          <p:nvPr userDrawn="1"/>
        </p:nvSpPr>
        <p:spPr>
          <a:xfrm>
            <a:off x="160655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BCDF17F-7678-886B-BDC1-7D46E0FDC526}"/>
              </a:ext>
            </a:extLst>
          </p:cNvPr>
          <p:cNvSpPr/>
          <p:nvPr userDrawn="1"/>
        </p:nvSpPr>
        <p:spPr>
          <a:xfrm>
            <a:off x="9779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3D20AC5-1E8E-5321-E43D-46B445C65B67}"/>
              </a:ext>
            </a:extLst>
          </p:cNvPr>
          <p:cNvSpPr/>
          <p:nvPr userDrawn="1"/>
        </p:nvSpPr>
        <p:spPr>
          <a:xfrm>
            <a:off x="3492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80B877-F110-D95C-7DD0-FEBBD1B4BA64}"/>
              </a:ext>
            </a:extLst>
          </p:cNvPr>
          <p:cNvSpPr/>
          <p:nvPr userDrawn="1"/>
        </p:nvSpPr>
        <p:spPr>
          <a:xfrm>
            <a:off x="55880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3F7BB24-25F0-4188-72B0-2D5ED9CFB76E}"/>
              </a:ext>
            </a:extLst>
          </p:cNvPr>
          <p:cNvSpPr/>
          <p:nvPr userDrawn="1"/>
        </p:nvSpPr>
        <p:spPr>
          <a:xfrm>
            <a:off x="7683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DEBEE4-3529-6BF7-C1EE-1F06689DC266}"/>
              </a:ext>
            </a:extLst>
          </p:cNvPr>
          <p:cNvSpPr/>
          <p:nvPr userDrawn="1"/>
        </p:nvSpPr>
        <p:spPr>
          <a:xfrm>
            <a:off x="118745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31BAD7-ACD6-558C-7884-5F8B8158569B}"/>
              </a:ext>
            </a:extLst>
          </p:cNvPr>
          <p:cNvSpPr/>
          <p:nvPr userDrawn="1"/>
        </p:nvSpPr>
        <p:spPr>
          <a:xfrm>
            <a:off x="13970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44534C1-CAD6-EE98-DA4C-80ABB36189FA}"/>
              </a:ext>
            </a:extLst>
          </p:cNvPr>
          <p:cNvSpPr/>
          <p:nvPr userDrawn="1"/>
        </p:nvSpPr>
        <p:spPr>
          <a:xfrm>
            <a:off x="181610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D273F5C-D33F-EF59-0554-6E5D0016BFBC}"/>
              </a:ext>
            </a:extLst>
          </p:cNvPr>
          <p:cNvSpPr/>
          <p:nvPr userDrawn="1"/>
        </p:nvSpPr>
        <p:spPr>
          <a:xfrm>
            <a:off x="2005561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062037-C070-A95A-9CED-80046DEC4BEB}"/>
              </a:ext>
            </a:extLst>
          </p:cNvPr>
          <p:cNvSpPr/>
          <p:nvPr userDrawn="1"/>
        </p:nvSpPr>
        <p:spPr>
          <a:xfrm>
            <a:off x="112839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6AEF5D-0DD5-0B6D-960F-425B1836E1F8}"/>
              </a:ext>
            </a:extLst>
          </p:cNvPr>
          <p:cNvSpPr/>
          <p:nvPr userDrawn="1"/>
        </p:nvSpPr>
        <p:spPr>
          <a:xfrm>
            <a:off x="1149350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6BA97C-413A-8ACF-FA70-F3C46173BD30}"/>
              </a:ext>
            </a:extLst>
          </p:cNvPr>
          <p:cNvSpPr/>
          <p:nvPr userDrawn="1"/>
        </p:nvSpPr>
        <p:spPr>
          <a:xfrm>
            <a:off x="117030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6513DCA-0540-607D-489B-ADAE97DD8FC5}"/>
              </a:ext>
            </a:extLst>
          </p:cNvPr>
          <p:cNvSpPr/>
          <p:nvPr userDrawn="1"/>
        </p:nvSpPr>
        <p:spPr>
          <a:xfrm>
            <a:off x="106553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5863C7-E4EF-A939-43D8-8A5F26090798}"/>
              </a:ext>
            </a:extLst>
          </p:cNvPr>
          <p:cNvSpPr/>
          <p:nvPr userDrawn="1"/>
        </p:nvSpPr>
        <p:spPr>
          <a:xfrm>
            <a:off x="1086485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52C00B1-AA56-6255-E25D-597D9F99820B}"/>
              </a:ext>
            </a:extLst>
          </p:cNvPr>
          <p:cNvSpPr/>
          <p:nvPr userDrawn="1"/>
        </p:nvSpPr>
        <p:spPr>
          <a:xfrm>
            <a:off x="110744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CB4C63B-CD2A-B497-E58A-2767E6C01D10}"/>
              </a:ext>
            </a:extLst>
          </p:cNvPr>
          <p:cNvSpPr/>
          <p:nvPr userDrawn="1"/>
        </p:nvSpPr>
        <p:spPr>
          <a:xfrm>
            <a:off x="1004673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9A7A4A1-FD2B-1297-4853-FC278D1569B2}"/>
              </a:ext>
            </a:extLst>
          </p:cNvPr>
          <p:cNvSpPr/>
          <p:nvPr userDrawn="1"/>
        </p:nvSpPr>
        <p:spPr>
          <a:xfrm>
            <a:off x="1025628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8E970DA-C16D-69FE-3E8F-9761A3D62978}"/>
              </a:ext>
            </a:extLst>
          </p:cNvPr>
          <p:cNvSpPr/>
          <p:nvPr userDrawn="1"/>
        </p:nvSpPr>
        <p:spPr>
          <a:xfrm>
            <a:off x="10445750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smtClean="0">
          <a:solidFill>
            <a:schemeClr val="tx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795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25B_6AF2A1D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109351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109351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F4B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ahnschrift Light" panose="020B0502040204020203" pitchFamily="34" charset="0"/>
              </a:rPr>
              <a:t>October 2025 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rgbClr val="008BCC"/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0" y="647513"/>
            <a:ext cx="7010400" cy="549275"/>
          </a:xfrm>
        </p:spPr>
        <p:txBody>
          <a:bodyPr/>
          <a:lstStyle/>
          <a:p>
            <a:pPr algn="ctr"/>
            <a:r>
              <a:rPr lang="en-GB" sz="3200" b="1" dirty="0">
                <a:solidFill>
                  <a:srgbClr val="008BCC"/>
                </a:solidFill>
                <a:latin typeface="Bahnschrift" panose="020B0502040204020203" pitchFamily="34" charset="0"/>
              </a:rPr>
              <a:t>Outline/contents</a:t>
            </a:r>
            <a:endParaRPr lang="en-AE" sz="3200" b="1" dirty="0">
              <a:solidFill>
                <a:srgbClr val="008BCC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990600" y="1524000"/>
            <a:ext cx="10363200" cy="440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Rationale of Outlook and underlying model</a:t>
            </a:r>
            <a:endParaRPr lang="en-GB" b="1" dirty="0"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rgbClr val="002060"/>
                </a:solidFill>
                <a:latin typeface="Bahnschrift" panose="020B0502040204020203" pitchFamily="34" charset="0"/>
              </a:rPr>
              <a:t>Initial conditions and assumptions for forecast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latin typeface="Bahnschrift" panose="020B0502040204020203" pitchFamily="34" charset="0"/>
              </a:rPr>
              <a:t>Forecast evaluation (forecast comparison and effect recalibration)</a:t>
            </a:r>
            <a:endParaRPr lang="en-US" b="1" dirty="0"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  <a:cs typeface="+mj-cs"/>
              </a:rPr>
              <a:t>QMFM interrelation with macro toolbox (nowcasting, intMF)</a:t>
            </a:r>
          </a:p>
        </p:txBody>
      </p:sp>
    </p:spTree>
    <p:extLst>
      <p:ext uri="{BB962C8B-B14F-4D97-AF65-F5344CB8AC3E}">
        <p14:creationId xmlns:p14="http://schemas.microsoft.com/office/powerpoint/2010/main" val="247695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6600" y="381000"/>
            <a:ext cx="6019800" cy="549274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Acronyms</a:t>
            </a:r>
            <a:endParaRPr lang="en-AE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5334000" cy="5334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FPAS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Forecasting and Policy Analysis System (FPAS)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ER: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IB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Interbank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RIR: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NTF: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Neal Term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MT and 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Medium-Term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Long-Term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YoY, %: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Year on Year Percentage Change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G&amp;S: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goods and services (govt demand, exports, 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WEO: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World Economic Outlook (by IMF)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GAS: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Assumptions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GEE: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Economic Environment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CBO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Central Budget Office US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6019800" y="1143000"/>
            <a:ext cx="5334000" cy="5334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9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71800" y="473075"/>
            <a:ext cx="6477000" cy="457200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Glossary of key terms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0972800" cy="528955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gap &amp; final demand gaps (+/-):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Y above/below potential or trend level Y*, i.e., output gap is log(Y/Y*) &gt;&lt; 0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interest &amp; real exchange rate gaps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RIR and RER above/below neutral or equilibrium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of macro aggregates by main drivers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coloured bars in charts show contribution of each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deficit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relevant for demand impact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 before grants = total expenditure -/- non/tax revenue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anchor &amp; sustainable deficit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ratio to GDP target (with LT growth, inflation rates, etc.) drives sustainable debt-creating deficit.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stance expansionary/contractionary: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deficit, govt demand G&amp;S in % GDP above/below trend levels (“discretionary” deficit, demand &gt;&lt;0)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impulse (on private demand):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mainly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discretionary fiscal deficit affecting consumption &amp; investment   (via income, ‘optimism’)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monetary policies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(real) interest rates above/below neutral or trend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exchange rate policies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exchange rate below/above equilibrium or trend level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Role expectations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agents today consider expected macro variables and policies in future (expected inflation, exchange rate, demand gaps,…)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Forward-looking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one or four periods ahead behavioural expectations/speculations  {+1} or {+4 Q}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Persistence: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lag or effect of previous/initial values or behaviours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Trend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(unobserved):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trends of key macro variables are estimated; set steady state trends (to which variables converge in absence of shocks)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Shock: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All other factors not captured by model equation or parameter specification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(level, growth rate, % GDP):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e.g., output (gap) by final demands, GDP growth by components, deficit % of GDP by revenue, exp.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200" b="1" dirty="0">
                <a:solidFill>
                  <a:srgbClr val="C00000"/>
                </a:solidFill>
                <a:latin typeface="Bahnschrift SemiLight" panose="020B0502040204020203" pitchFamily="34" charset="0"/>
              </a:rPr>
              <a:t>Overvaluation and undervaluation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07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00400" y="609600"/>
            <a:ext cx="6997700" cy="559921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I. Rationale of outlook &amp; underlying QMFM model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762000" y="1295400"/>
            <a:ext cx="10591800" cy="4953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Regular forecasts 16 quarters ahead for key macro aggregates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(i.e., output, inflation, final demands, ..)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as influenced by fiscal, monetary, and exchange rate policies, incl. in response to shocks and new developments (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scenario simulations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Emphasis on fiscal and financing/debt policies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and interaction with monetary and exchange rate policies,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facilitating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coordination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between MINECOFIN and NBR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Input for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validated macro-fiscal projections in intMF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underpinning MT budgets and IMF programs (checks on intMF)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Underlying macro model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is New-Keynesian, ‘semi-structural, gap model, FPAS-type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Uses analysis of past observations and estimated trends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to fit model to data; assesses initial condition for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 premises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stance (fiscal deficit path, current policy interest rate, and ER), assumptions on external environment, other exogenous, and near-term forecasts for GDP and CPI, depending on other tools and judgment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fter shocks and policy responses have worked out,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variables return gradually to their trends (long-term growth path)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determined by their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steady-state levels (outside model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e.g., potential output growth, equilibrium RER, RIR, CPI target, sustainable deficit).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82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43200" y="393950"/>
            <a:ext cx="7772400" cy="762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D</a:t>
            </a:r>
            <a:r>
              <a:rPr lang="en-US" sz="2700" dirty="0">
                <a:solidFill>
                  <a:srgbClr val="008BCC"/>
                </a:solidFill>
                <a:cs typeface="+mn-cs"/>
              </a:rPr>
              <a:t>ata treatment &amp; Settings</a:t>
            </a:r>
            <a:br>
              <a:rPr lang="en-US" sz="2200" b="1" dirty="0"/>
            </a:br>
            <a:r>
              <a:rPr lang="en-US" sz="1600" b="1" dirty="0"/>
              <a:t>                       </a:t>
            </a:r>
            <a:endParaRPr lang="en-RW" sz="20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308410-D62B-B2DD-B7B5-068D0264EE1F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10972800" cy="528955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AutoNum type="arabicPeriod"/>
              <a:tabLst/>
              <a:defRPr/>
            </a:pPr>
            <a:r>
              <a:rPr lang="en-GB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Account (observed 2023Q2)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Omission/suppression of 2023-25Q1 for final demand components: dynamic volatility led to unreliable estimation of trend&amp; gaps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Courier New" panose="02070309020205020404" pitchFamily="49" charset="0"/>
              <a:buChar char="o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Consumption, private investment, Export, import and imports </a:t>
            </a:r>
          </a:p>
          <a:p>
            <a:pPr marL="503238" lvl="1" indent="-2286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AutoNum type="arabicPeriod"/>
              <a:defRPr/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2025Q2 (rebased): YoY% change used for derivation of non-rebased real GDP levels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Filter estimation better than observed data for 2023-25 (levels) to derive corresponding trend, gap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2.  </a:t>
            </a:r>
            <a:r>
              <a:rPr lang="en-GB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Main Settings: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Filtration</a:t>
            </a: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/estimation: </a:t>
            </a:r>
            <a:r>
              <a:rPr lang="sl-SI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opts.filterHistory.range = qq(2006, 1) : qq(2025, 2)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Q2 2025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All other indicators (ER, IB rate, BOP) observed until 2025Q3</a:t>
            </a:r>
            <a:endParaRPr lang="en-US" sz="14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Courier New" panose="02070309020205020404" pitchFamily="49" charset="0"/>
              <a:buChar char="o"/>
              <a:defRPr/>
            </a:pPr>
            <a:r>
              <a:rPr lang="en-GB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Extended filtration to 2025Q3 to capture nowcast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Forecast/estimation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opts.forecast.range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=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qq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(2025, 3) 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qq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(2029, 4)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626096-E39D-2963-AD87-B4665796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412434"/>
            <a:ext cx="5334000" cy="115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9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522E-9775-EE19-85C3-50165EEF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D52F4B-3E13-2136-94A7-5E5CA9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72782-2C3F-6865-8ACA-EBFD7D2AB6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67000" y="228600"/>
            <a:ext cx="7010400" cy="609279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Main assumptions/tunes underlying forecasts</a:t>
            </a:r>
            <a:br>
              <a:rPr lang="en-US" sz="2200" b="1" dirty="0"/>
            </a:br>
            <a:r>
              <a:rPr lang="en-US" sz="1600" b="1" dirty="0"/>
              <a:t>                       </a:t>
            </a:r>
            <a:endParaRPr lang="en-RW" sz="20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CEBBC5-7191-6FBD-D45B-97645D1CB4C4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125200" cy="54102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AutoNum type="arabicPeriod"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Account: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GDP Nowcast for 2025Q3&amp;4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2. ER: observed until 2025Q3 and Q4 tuned (remainder ER depreciation)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3.All indicators observed after 2025Q2(Filter range) tuned as data in baseline/forecast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4. Fiscal (Deficit, Revenue, Demand G&amp;S, Other expense): Smoothed/distributed from FY/semester to Qo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October 2025 Rev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Proj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Agreed projection path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Private investment (shock, %GDP): Smoothed/distributed from FY/semester to Qo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Other expense/NL/ow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Bugesera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Govt + Quatar Equity: directly affect growth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financing equity investments for Airport are fully invested in construction by private agents (ATL).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equity or NL/ow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Bugesera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in other-expense still indirectly affect GDP growth (fiscal impulse) thru private investment demand</a:t>
            </a:r>
          </a:p>
          <a:p>
            <a:pPr marL="274638" lvl="1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274638" lvl="1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A8580-D998-DE9D-A2EF-24BB9CC6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99" y="4800600"/>
            <a:ext cx="8153401" cy="155575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6098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DF4C-5E0B-46FF-2DC1-1F0D62F2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88047-806B-5D31-C65F-50243777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D31CF-8231-22FA-9820-839850C2F9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4635447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Baseline </a:t>
            </a:r>
            <a:br>
              <a:rPr lang="en-US" sz="2400" b="1" dirty="0"/>
            </a:br>
            <a:r>
              <a:rPr lang="en-US" sz="1200" b="1" dirty="0"/>
              <a:t>                                                   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616D7-D232-8850-0B6C-9843C567EE9F}"/>
              </a:ext>
            </a:extLst>
          </p:cNvPr>
          <p:cNvSpPr txBox="1"/>
          <p:nvPr/>
        </p:nvSpPr>
        <p:spPr>
          <a:xfrm>
            <a:off x="6096000" y="1582074"/>
            <a:ext cx="5638800" cy="195399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Final demand components</a:t>
            </a:r>
          </a:p>
          <a:p>
            <a:pPr marL="171450" lvl="1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fiscal deficit o/w Govt &amp; Dem (NL 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Bugesera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2026-27 through private investment demand</a:t>
            </a:r>
          </a:p>
          <a:p>
            <a:pPr marL="628650" lvl="2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 fiscal consolidation to accommodate 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Bugesera</a:t>
            </a:r>
            <a:endParaRPr lang="en-US" sz="1200" b="1" dirty="0">
              <a:solidFill>
                <a:srgbClr val="0070C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1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Govt dem increasing even after </a:t>
            </a:r>
            <a:r>
              <a:rPr lang="en-US" sz="1200" b="1" dirty="0" err="1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gesera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(Less consolidation i.e.. higher gap inv)</a:t>
            </a:r>
            <a:endParaRPr lang="en-US" sz="12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541225-399D-085D-E564-B79AB8BF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95399"/>
            <a:ext cx="5486400" cy="5090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525E19-F75C-969E-5654-8FD93927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57600"/>
            <a:ext cx="5638800" cy="272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860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C2C1-19BC-B634-C7CD-AD1924DA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21791-2459-A16D-674C-3D6AF101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B1D88-9449-08FA-F046-1BE4B88DDFD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4635447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Alternative</a:t>
            </a:r>
            <a:br>
              <a:rPr lang="en-US" sz="2400" b="1" dirty="0"/>
            </a:br>
            <a:r>
              <a:rPr lang="en-US" sz="1200" b="1" dirty="0"/>
              <a:t>                                                   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90B4A0-ECCF-95DF-BA5D-D184C40C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4918"/>
            <a:ext cx="6781800" cy="5207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5F3703-C4E2-73B2-6559-B3D76C1DFAED}"/>
              </a:ext>
            </a:extLst>
          </p:cNvPr>
          <p:cNvSpPr txBox="1"/>
          <p:nvPr/>
        </p:nvSpPr>
        <p:spPr>
          <a:xfrm>
            <a:off x="7315200" y="1524000"/>
            <a:ext cx="4572000" cy="16846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Private investment 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endParaRPr lang="en-US" sz="1200" b="1" dirty="0">
              <a:latin typeface="Bahnschrift Light" panose="020B0502040204020203" pitchFamily="34" charset="0"/>
            </a:endParaRP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050" b="1" dirty="0">
                <a:latin typeface="Bahnschrift Light" panose="020B0502040204020203" pitchFamily="34" charset="0"/>
              </a:rPr>
              <a:t>Baseline: Private investment demand (</a:t>
            </a:r>
            <a:r>
              <a:rPr lang="en-US" sz="1050" b="1" dirty="0" err="1">
                <a:latin typeface="Bahnschrift Light" panose="020B0502040204020203" pitchFamily="34" charset="0"/>
              </a:rPr>
              <a:t>Bugesera</a:t>
            </a:r>
            <a:r>
              <a:rPr lang="en-US" sz="1050" b="1" dirty="0">
                <a:latin typeface="Bahnschrift Light" panose="020B0502040204020203" pitchFamily="34" charset="0"/>
              </a:rPr>
              <a:t>: </a:t>
            </a:r>
            <a:r>
              <a:rPr lang="en-US" sz="1050" b="1" dirty="0" err="1">
                <a:latin typeface="Bahnschrift Light" panose="020B0502040204020203" pitchFamily="34" charset="0"/>
              </a:rPr>
              <a:t>Govt+Qatar</a:t>
            </a:r>
            <a:r>
              <a:rPr lang="en-US" sz="1050" b="1" dirty="0">
                <a:latin typeface="Bahnschrift Light" panose="020B0502040204020203" pitchFamily="34" charset="0"/>
              </a:rPr>
              <a:t> equity)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050" b="1" dirty="0">
                <a:latin typeface="Bahnschrift Light" panose="020B0502040204020203" pitchFamily="34" charset="0"/>
              </a:rPr>
              <a:t>Alternative: Otherwise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 effect of private investment demand prominent</a:t>
            </a:r>
            <a:endParaRPr lang="en-US" sz="12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33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4A37-87B1-13DB-8AF4-AABC8CB9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CCDF71-49A1-8C35-641B-1EA80B42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4C747-AB4B-B722-148A-D75342B74B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6553200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Cyclical position (B.C)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FB217-3055-0851-C755-C75076B6073A}"/>
              </a:ext>
            </a:extLst>
          </p:cNvPr>
          <p:cNvSpPr txBox="1"/>
          <p:nvPr/>
        </p:nvSpPr>
        <p:spPr>
          <a:xfrm>
            <a:off x="381000" y="5181600"/>
            <a:ext cx="4572000" cy="969111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Final demand components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Forecasted closing output gap from a positive investment and export demand cyclical position.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7FCA9-6DDF-B7D7-BB56-70853E8D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18" y="990600"/>
            <a:ext cx="5257800" cy="396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64D513-6A56-CC7A-9531-2F3BEA96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941" y="1219200"/>
            <a:ext cx="2895600" cy="255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33B8C7-775C-CB95-CA25-981D44B40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282" y="2272056"/>
            <a:ext cx="2895600" cy="2267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31A4A0-9024-CE17-12D9-8ABE80708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31" y="3930591"/>
            <a:ext cx="2895600" cy="22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6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3A2E-363D-1D2D-E820-83FCF32A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EA807-898D-90E8-2F12-03F3205F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8AE88-1DDE-E633-6622-331867877A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304811"/>
            <a:ext cx="6870342" cy="50242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</a:rPr>
              <a:t>Discussions: responsive </a:t>
            </a:r>
            <a:r>
              <a:rPr lang="en-US" sz="2400" dirty="0">
                <a:solidFill>
                  <a:srgbClr val="008BCC"/>
                </a:solidFill>
              </a:rPr>
              <a:t>p</a:t>
            </a:r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</a:rPr>
              <a:t>olicy variables 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05CCB6-3EAB-86B7-B9A0-996D215F8076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03802-0949-98F8-C140-863EC1349BB6}"/>
              </a:ext>
            </a:extLst>
          </p:cNvPr>
          <p:cNvSpPr txBox="1"/>
          <p:nvPr/>
        </p:nvSpPr>
        <p:spPr>
          <a:xfrm>
            <a:off x="533400" y="1447800"/>
            <a:ext cx="5029200" cy="285097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Exchange rates: </a:t>
            </a:r>
            <a:r>
              <a:rPr lang="en-US" sz="11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From 2025, ER forecast to return to ER target path of deprecation of some 3% per year, in line with inflation differentials, and no need for further RER depreciation, other things being equal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Forecast reflects NBR’s rule of return to ER path that first corrects for RER overvaluation, then for inflation differential with trading partners (+3% </a:t>
            </a:r>
            <a:r>
              <a:rPr lang="en-US" sz="1100" dirty="0" err="1">
                <a:solidFill>
                  <a:schemeClr val="tx2"/>
                </a:solidFill>
                <a:latin typeface="Bahnschrift Light" panose="020B0502040204020203" pitchFamily="34" charset="0"/>
              </a:rPr>
              <a:t>py</a:t>
            </a: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).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2022-23 RER overvaluation (due to the inflation surge) was more than corrected in 2024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latin typeface="Bahnschrift Light" panose="020B0502040204020203" pitchFamily="34" charset="0"/>
              </a:rPr>
              <a:t>leading to some undervaluation in the course of 2024 and beyond, with positive impact on net exports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002060"/>
                </a:solidFill>
                <a:latin typeface="Bahnschrift Light" panose="020B0502040204020203" pitchFamily="34" charset="0"/>
              </a:rPr>
              <a:t>ER flexibility: no need for further policy/program exogenous corrections</a:t>
            </a:r>
            <a:endParaRPr lang="en-US" sz="1100" dirty="0">
              <a:solidFill>
                <a:schemeClr val="tx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E1333C-3A83-53A3-20A1-53262D0F4599}"/>
              </a:ext>
            </a:extLst>
          </p:cNvPr>
          <p:cNvSpPr txBox="1"/>
          <p:nvPr/>
        </p:nvSpPr>
        <p:spPr>
          <a:xfrm>
            <a:off x="533400" y="4485865"/>
            <a:ext cx="4791884" cy="1559017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Bahnschrift Light" panose="020B0502040204020203" pitchFamily="34" charset="0"/>
              </a:rPr>
              <a:t>Real interest rate: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Real interest rates return to normal ending their demand-stimulating effect in past years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Real lending rates mirror real policy rate through the transmission mechanism</a:t>
            </a:r>
          </a:p>
          <a:p>
            <a:pPr>
              <a:lnSpc>
                <a:spcPct val="150000"/>
              </a:lnSpc>
            </a:pPr>
            <a:endParaRPr lang="en-US" sz="1200" b="1" dirty="0">
              <a:latin typeface="Bahnschrift Light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164EC-7FF9-A1BD-21C0-EC1F9BA1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69" y="1368604"/>
            <a:ext cx="2908291" cy="241110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B0CA60-4317-0F2F-9C62-08B38E021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368603"/>
            <a:ext cx="3276600" cy="241110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88DCE2-C27D-EBBD-9B08-D46ADFFFB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169" y="3856859"/>
            <a:ext cx="2908291" cy="249949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CC0064-61C1-8EF2-EF32-F65430399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1" y="3844691"/>
            <a:ext cx="3352800" cy="251165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3789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6600" y="441325"/>
            <a:ext cx="5562600" cy="396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VIII. Policies driving forecasts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609600" y="1219200"/>
            <a:ext cx="10896600" cy="54450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kern="100" dirty="0">
                <a:solidFill>
                  <a:srgbClr val="109351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Output growth:</a:t>
            </a:r>
            <a:endParaRPr lang="en-US" sz="1400" b="1" kern="100" dirty="0">
              <a:solidFill>
                <a:srgbClr val="109351"/>
              </a:solidFill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lowdown in 2026-27: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policy—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easing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consolidation of demand (Capex) to 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accommodate </a:t>
            </a:r>
            <a:r>
              <a:rPr lang="en-US" sz="1800" kern="100" dirty="0" err="1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Bugesera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(i.e., NL/Govt equity)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 positive fiscal impulse on private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T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ight Real interest rates contracting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 (moderately overvalued) to affect net exports.</a:t>
            </a:r>
            <a:endParaRPr lang="en-US" sz="1800" kern="100" noProof="0" dirty="0">
              <a:solidFill>
                <a:prstClr val="black"/>
              </a:solidFill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kumimoji="0" lang="en-RW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-2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030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re-surfaced 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demand—end of fiscal consolidation (Govt demand pick up)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 Real Interest Rate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Flexible uncontrolled exchange rate (less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overvalued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18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0" y="647650"/>
            <a:ext cx="8839200" cy="5492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2438400" y="1182012"/>
            <a:ext cx="73152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109351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EDCCB-651F-F31D-90AF-B091E0DA4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76401"/>
            <a:ext cx="6772520" cy="483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rgbClr val="008BCC"/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109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58271</TotalTime>
  <Words>1455</Words>
  <Application>Microsoft Office PowerPoint</Application>
  <PresentationFormat>Widescreen</PresentationFormat>
  <Paragraphs>145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31" baseType="lpstr">
      <vt:lpstr>ＭＳ Ｐゴシック</vt:lpstr>
      <vt:lpstr>Arial</vt:lpstr>
      <vt:lpstr>Bahnschrift</vt:lpstr>
      <vt:lpstr>Bahnschrift Light</vt:lpstr>
      <vt:lpstr>Bahnschrift Light Condensed</vt:lpstr>
      <vt:lpstr>Bahnschrift Light SemiCondensed</vt:lpstr>
      <vt:lpstr>Bahnschrift SemiLight</vt:lpstr>
      <vt:lpstr>Bookman Old Style</vt:lpstr>
      <vt:lpstr>Calibri</vt:lpstr>
      <vt:lpstr>Courier New</vt:lpstr>
      <vt:lpstr>Gill Sans MT</vt:lpstr>
      <vt:lpstr>Symbol</vt:lpstr>
      <vt:lpstr>Wingdings</vt:lpstr>
      <vt:lpstr>Wingdings 3</vt:lpstr>
      <vt:lpstr>2_Origin</vt:lpstr>
      <vt:lpstr>Office Theme</vt:lpstr>
      <vt:lpstr>3_Origin</vt:lpstr>
      <vt:lpstr>PowerPoint Presentation</vt:lpstr>
      <vt:lpstr>Outline/contents</vt:lpstr>
      <vt:lpstr>Acronyms</vt:lpstr>
      <vt:lpstr>Glossary of key terms</vt:lpstr>
      <vt:lpstr>I. Rationale of outlook &amp; underlying QMFM model</vt:lpstr>
      <vt:lpstr>II. Data treatment &amp; Settings                        </vt:lpstr>
      <vt:lpstr>II. Main assumptions/tunes underlying forecasts                        </vt:lpstr>
      <vt:lpstr>II. Forecast results: Baseline                                                     </vt:lpstr>
      <vt:lpstr>II. Forecast results: Alternative                                                    </vt:lpstr>
      <vt:lpstr>II. Forecast results: Cyclical position (B.C)</vt:lpstr>
      <vt:lpstr>Discussions: responsive policy variables </vt:lpstr>
      <vt:lpstr>VIII. Policies driving forecasts</vt:lpstr>
      <vt:lpstr>VII. Forecast evaluation (latest vs. new forecast)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1848</cp:revision>
  <cp:lastPrinted>2023-06-23T12:26:08Z</cp:lastPrinted>
  <dcterms:created xsi:type="dcterms:W3CDTF">2011-04-18T20:01:25Z</dcterms:created>
  <dcterms:modified xsi:type="dcterms:W3CDTF">2025-11-17T06:57:02Z</dcterms:modified>
</cp:coreProperties>
</file>