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modernComment_25B_6AF2A1D7.xml" ContentType="application/vnd.ms-powerpoint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bookmarkIdSeed="3">
  <p:sldMasterIdLst>
    <p:sldMasterId id="2147483716" r:id="rId1"/>
    <p:sldMasterId id="2147483910" r:id="rId2"/>
    <p:sldMasterId id="2147483922" r:id="rId3"/>
  </p:sldMasterIdLst>
  <p:notesMasterIdLst>
    <p:notesMasterId r:id="rId18"/>
  </p:notesMasterIdLst>
  <p:handoutMasterIdLst>
    <p:handoutMasterId r:id="rId19"/>
  </p:handoutMasterIdLst>
  <p:sldIdLst>
    <p:sldId id="566" r:id="rId4"/>
    <p:sldId id="601" r:id="rId5"/>
    <p:sldId id="593" r:id="rId6"/>
    <p:sldId id="594" r:id="rId7"/>
    <p:sldId id="595" r:id="rId8"/>
    <p:sldId id="602" r:id="rId9"/>
    <p:sldId id="607" r:id="rId10"/>
    <p:sldId id="603" r:id="rId11"/>
    <p:sldId id="608" r:id="rId12"/>
    <p:sldId id="609" r:id="rId13"/>
    <p:sldId id="598" r:id="rId14"/>
    <p:sldId id="586" r:id="rId15"/>
    <p:sldId id="565" r:id="rId16"/>
    <p:sldId id="545" r:id="rId17"/>
  </p:sldIdLst>
  <p:sldSz cx="12192000" cy="6858000"/>
  <p:notesSz cx="7102475" cy="93884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EFA106F-A1D2-4A8C-B134-8F2A12C21D33}">
          <p14:sldIdLst>
            <p14:sldId id="566"/>
            <p14:sldId id="601"/>
            <p14:sldId id="593"/>
            <p14:sldId id="594"/>
            <p14:sldId id="595"/>
            <p14:sldId id="602"/>
            <p14:sldId id="607"/>
            <p14:sldId id="603"/>
            <p14:sldId id="608"/>
            <p14:sldId id="609"/>
            <p14:sldId id="598"/>
            <p14:sldId id="586"/>
            <p14:sldId id="565"/>
            <p14:sldId id="54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7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56D2716-681C-0ED8-9BD4-37117C3B4FB8}" name="arend Kouwenaar" initials="aK" userId="adbbcea973320f35" providerId="Windows Live"/>
  <p188:author id="{FE78AC8B-25A4-2FA1-255B-A2BA7B6FF7E8}" name="Manirumva, Evariste" initials="ME" userId="S::emanirumva@icipe.org::fbb618da-2b8a-4a66-b30b-f0e53196d74f" providerId="AD"/>
  <p188:author id="{D5143AD7-E749-5E1E-371D-A585C0C727CD}" name="User" initials="U" userId="User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variste MANIRUMVA" initials="EM" lastIdx="4" clrIdx="0">
    <p:extLst>
      <p:ext uri="{19B8F6BF-5375-455C-9EA6-DF929625EA0E}">
        <p15:presenceInfo xmlns:p15="http://schemas.microsoft.com/office/powerpoint/2012/main" userId="S-1-5-21-367653040-3284563744-1480659140-5515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9351"/>
    <a:srgbClr val="008BCC"/>
    <a:srgbClr val="F4BC0A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5788" autoAdjust="0"/>
  </p:normalViewPr>
  <p:slideViewPr>
    <p:cSldViewPr>
      <p:cViewPr varScale="1">
        <p:scale>
          <a:sx n="81" d="100"/>
          <a:sy n="81" d="100"/>
        </p:scale>
        <p:origin x="24" y="2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55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2196" y="-102"/>
      </p:cViewPr>
      <p:guideLst>
        <p:guide orient="horz" pos="2957"/>
        <p:guide pos="223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microsoft.com/office/2018/10/relationships/authors" Target="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comments/modernComment_25B_6AF2A1D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256F808-68F0-4CE6-835C-955214F7B385}" authorId="{D56D2716-681C-0ED8-9BD4-37117C3B4FB8}" created="2025-03-03T02:28:58.64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794286039" sldId="603"/>
      <ac:spMk id="18" creationId="{A9B51905-B381-2286-37CA-179558F51EC5}"/>
      <ac:txMk cp="266" len="46">
        <ac:context len="746" hash="1903763674"/>
      </ac:txMk>
    </ac:txMkLst>
    <p188:txBody>
      <a:bodyPr/>
      <a:lstStyle/>
      <a:p>
        <a:r>
          <a:rPr lang="en-US"/>
          <a:t>The recovery of C, I is hard to see from y-on-y growth charts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7" y="5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2491" y="5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952391-E811-40BD-BF31-152F5CC3E0D7}" type="datetime1">
              <a:rPr lang="en-US"/>
              <a:pPr/>
              <a:t>11/16/2025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7" y="8917280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2491" y="8917280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C8EE828-0B52-48BD-AC30-C13AE1823DC9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5950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7" y="5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2491" y="5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91EC5310-AD28-478C-9D1F-55544C92CB9A}" type="datetime1">
              <a:rPr lang="en-US"/>
              <a:pPr/>
              <a:t>11/16/2025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261100" cy="3521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2823" tIns="46413" rIns="92823" bIns="46413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893" y="4460256"/>
            <a:ext cx="5680694" cy="4224651"/>
          </a:xfrm>
          <a:prstGeom prst="rect">
            <a:avLst/>
          </a:prstGeom>
        </p:spPr>
        <p:txBody>
          <a:bodyPr vert="horz" wrap="square" lIns="92823" tIns="46413" rIns="92823" bIns="46413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7" y="8917280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2491" y="8917280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21D82EB7-C704-4A63-B645-1186AD9BB91E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5015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47C504-C68F-4932-B214-1C432888EE05}" type="slidenum">
              <a:rPr lang="en-GB" smtClean="0"/>
              <a:pPr>
                <a:defRPr/>
              </a:pPr>
              <a:t>0</a:t>
            </a:fld>
            <a:endParaRPr lang="en-GB" dirty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20688" y="704850"/>
            <a:ext cx="6261100" cy="35210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26762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2789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783BB-1414-C279-F950-988665617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92C1AD-D963-60D9-FC97-938A36710E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63AC0-3AE0-42E1-7D17-04592A3B66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76F94D-A96F-1875-E58B-64A03AEC0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1D82EB7-C704-4A63-B645-1186AD9BB9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3594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1D82EB7-C704-4A63-B645-1186AD9BB9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10772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C5FFA-F2B7-3365-95C3-12B676326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429277-5966-A8A8-5D70-5638B53F15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B544AE-56FD-6F3F-CD78-201681CE5C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EF9E3-4C15-B044-4A94-0F8887FFDC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1D82EB7-C704-4A63-B645-1186AD9BB9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50959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1D348-D783-9781-2D90-3C28E68E1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814999-5FCD-E785-316D-375917301E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C740BB-CFFB-590F-8AC5-3F3757387F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Output gap and Fiscal Impulse in last Chart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CD557-4BB0-94B5-1A10-FDDB845969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90835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7E109-D787-D4AD-0E8E-BE98CA1D2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B8DB73-BD56-4FFD-447F-9E08B33D56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EA956D-3852-3CD3-403D-6C8EC57B6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BBAA10-F97B-3D25-F64A-5B360FC834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464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9775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47C504-C68F-4932-B214-1C432888EE05}" type="slidenum">
              <a:rPr lang="en-GB" smtClean="0"/>
              <a:pPr>
                <a:defRPr/>
              </a:pPr>
              <a:t>13</a:t>
            </a:fld>
            <a:endParaRPr lang="en-GB" dirty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7640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3454400" y="1371600"/>
            <a:ext cx="8331200" cy="236220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3454400" y="1371600"/>
            <a:ext cx="304800" cy="23622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3860800" y="1371600"/>
            <a:ext cx="7924800" cy="23622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600" b="1" dirty="0">
                <a:latin typeface="Gill Sans MT" charset="0"/>
                <a:cs typeface="Times New Roman" charset="0"/>
              </a:rPr>
              <a:t>Rwanda CAADP Post Compact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600" b="1" dirty="0">
                <a:latin typeface="Gill Sans MT" charset="0"/>
                <a:cs typeface="Times New Roman" charset="0"/>
              </a:rPr>
              <a:t>High-Level Stakeholder Meeting</a:t>
            </a:r>
          </a:p>
        </p:txBody>
      </p:sp>
      <p:pic>
        <p:nvPicPr>
          <p:cNvPr id="10" name="Picture 1" descr="armoirie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 rot="10800000" flipH="1" flipV="1">
            <a:off x="304800" y="1350964"/>
            <a:ext cx="2286000" cy="2382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ubtitle 8"/>
          <p:cNvSpPr txBox="1">
            <a:spLocks/>
          </p:cNvSpPr>
          <p:nvPr userDrawn="1"/>
        </p:nvSpPr>
        <p:spPr>
          <a:xfrm>
            <a:off x="3860800" y="6248400"/>
            <a:ext cx="7823200" cy="6096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r">
              <a:spcBef>
                <a:spcPts val="600"/>
              </a:spcBef>
              <a:buClr>
                <a:schemeClr val="accent1"/>
              </a:buClr>
              <a:buSzPct val="76000"/>
              <a:buFont typeface="Symbol" charset="2"/>
              <a:buNone/>
            </a:pPr>
            <a:endParaRPr lang="en-US" sz="1000" dirty="0">
              <a:solidFill>
                <a:schemeClr val="bg2"/>
              </a:solidFill>
              <a:latin typeface="Bookman Old Style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3454400" y="4191000"/>
            <a:ext cx="304800" cy="990600"/>
          </a:xfrm>
          <a:prstGeom prst="rect">
            <a:avLst/>
          </a:prstGeom>
          <a:solidFill>
            <a:schemeClr val="accent3"/>
          </a:solidFill>
          <a:ln w="6350" cap="rnd" cmpd="sng" algn="ctr">
            <a:solidFill>
              <a:schemeClr val="accent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3450167" y="4191000"/>
            <a:ext cx="8343900" cy="990600"/>
          </a:xfrm>
          <a:prstGeom prst="rect">
            <a:avLst/>
          </a:prstGeom>
          <a:noFill/>
          <a:ln w="6350" cap="rnd" cmpd="sng" algn="ctr">
            <a:solidFill>
              <a:schemeClr val="accent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860800" y="4267200"/>
            <a:ext cx="7823199" cy="4572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r">
              <a:defRPr sz="24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860800" y="4724400"/>
            <a:ext cx="7823199" cy="457200"/>
          </a:xfrm>
        </p:spPr>
        <p:txBody>
          <a:bodyPr/>
          <a:lstStyle>
            <a:lvl1pPr marL="0" indent="0" algn="r">
              <a:buNone/>
              <a:defRPr sz="20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traight Connector 2"/>
          <p:cNvSpPr>
            <a:spLocks noChangeShapeType="1"/>
          </p:cNvSpPr>
          <p:nvPr userDrawn="1"/>
        </p:nvSpPr>
        <p:spPr bwMode="auto">
          <a:xfrm>
            <a:off x="1625601" y="1066800"/>
            <a:ext cx="10240433" cy="0"/>
          </a:xfrm>
          <a:prstGeom prst="line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838200"/>
          </a:xfrm>
          <a:prstGeom prst="rect">
            <a:avLst/>
          </a:prstGeom>
        </p:spPr>
        <p:txBody>
          <a:bodyPr anchor="b" anchorCtr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9347200" y="6416676"/>
            <a:ext cx="2641600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/>
                </a:solidFill>
                <a:latin typeface="Gill Sans MT" charset="0"/>
              </a:defRPr>
            </a:lvl1pPr>
          </a:lstStyle>
          <a:p>
            <a:fld id="{D97AE203-F84D-4A7F-B161-8561326BE072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endParaRPr lang="en-GB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fld id="{970CC022-FA3D-4B6F-94CC-171F6923194E}" type="slidenum">
              <a:rPr lang="en-GB"/>
              <a:pPr/>
              <a:t>‹#›</a:t>
            </a:fld>
            <a:endParaRPr lang="en-GB" dirty="0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fld id="{0C3105CC-1B2D-4903-971E-6A5C773A19C5}" type="datetime1">
              <a:rPr lang="en-US"/>
              <a:pPr/>
              <a:t>11/16/2025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07D18-9295-5C12-B7F8-D8E376409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83A11-90E3-6BC7-796C-FBF7B4348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E7D45-0C98-9643-133E-7CF04135A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79336-2E43-44A0-ADE1-7669CAFC9F7E}" type="datetimeFigureOut">
              <a:rPr lang="x-none" smtClean="0"/>
              <a:t>16/11/2025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FCEDC-4AD8-AC4F-ED12-34EC3D3DB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255A3-94B7-8CEE-EB38-2E387C050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78F0-BBE9-411C-9D0D-17F9871AB4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51388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298E8-D6C5-21AA-6BC8-21DF08C0A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latin typeface="Bahnschrift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85780B-3089-D83A-54E2-D7AF8145D3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>
                <a:latin typeface="Bahnschrift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5AB25-69E8-BE36-9F9F-8E82A54BF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Bahnschrift Light SemiCondensed" panose="020B0502040204020203" pitchFamily="34" charset="0"/>
              </a:defRPr>
            </a:lvl1pPr>
          </a:lstStyle>
          <a:p>
            <a:fld id="{25418435-C720-449D-B816-40E688690315}" type="datetimeFigureOut">
              <a:rPr lang="en-US" smtClean="0"/>
              <a:pPr/>
              <a:t>11/16/2025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6AB43-0058-B846-7D8B-BD965EE8F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Bahnschrift Light SemiCondensed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63B95-7EC7-BF39-7295-153EB3F8A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Bahnschrift Light SemiCondensed" panose="020B0502040204020203" pitchFamily="34" charset="0"/>
              </a:defRPr>
            </a:lvl1pPr>
          </a:lstStyle>
          <a:p>
            <a:fld id="{D41F6BB1-3072-477A-8416-723305CEF71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7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7609A-5DC2-9CB5-20EE-ABD5D60EC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5375"/>
            <a:ext cx="10515600" cy="4762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800" b="1">
                <a:latin typeface="Bahnschrift" panose="020B0502040204020203" pitchFamily="34" charset="0"/>
              </a:defRPr>
            </a:lvl1pPr>
          </a:lstStyle>
          <a:p>
            <a:pPr lvl="0" algn="ctr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6BFCD-640D-4D35-1B02-56A84116D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1611B-7B3B-ACE5-6E5A-8CD703555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ctr"/>
          <a:lstStyle>
            <a:lvl1pPr>
              <a:defRPr lang="en-US" smtClean="0">
                <a:latin typeface="Bahnschrift Light SemiCondensed" panose="020B0502040204020203" pitchFamily="34" charset="0"/>
              </a:defRPr>
            </a:lvl1pPr>
          </a:lstStyle>
          <a:p>
            <a:fld id="{25418435-C720-449D-B816-40E688690315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6548F-B783-DAD5-5269-FA453BE44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>
              <a:defRPr lang="en-US">
                <a:latin typeface="Bahnschrift Light SemiCondensed" panose="020B0502040204020203" pitchFamily="34" charset="0"/>
              </a:defRPr>
            </a:lvl1pPr>
          </a:lstStyle>
          <a:p>
            <a:pPr algn="l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390A1-7BD7-E7F2-EED6-F2A9B6324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>
              <a:defRPr lang="en-US" smtClean="0">
                <a:latin typeface="Bahnschrift Light SemiCondensed" panose="020B0502040204020203" pitchFamily="34" charset="0"/>
              </a:defRPr>
            </a:lvl1pPr>
          </a:lstStyle>
          <a:p>
            <a:pPr algn="l"/>
            <a:fld id="{D41F6BB1-3072-477A-8416-723305CEF715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00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6BF8A-5B37-336F-B6B2-B255D23A0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F538C5-2BF2-AE48-0938-56AA906E6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438EF-68A1-4184-B926-F258578F8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8435-C720-449D-B816-40E688690315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81467-5B20-5F9E-690B-B5351E684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832C8-BAC3-494D-16F0-328212F4E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6BB1-3072-477A-8416-723305CEF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692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21A09-B7F0-1551-9732-0DFEFB2A8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2C291-3262-A69D-0162-C169D140BA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58485C-FD72-1F85-A330-8D6B8A6782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83A49-8C7E-3F0C-D5D7-5330E5B8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8435-C720-449D-B816-40E688690315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341E6A-AA54-BF30-D3B0-F183CCC3E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F3531B-F130-758A-E17A-215477147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6BB1-3072-477A-8416-723305CEF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319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EB23D-AF5A-D2C0-6EA5-ED0269F5F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057275"/>
            <a:ext cx="10515600" cy="6334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80E48-4C2D-2B2B-964F-88262B8CE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71081B-AED5-9BDD-42C4-183B4313DC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E1A8D6-6096-F19A-F31F-B24A328AC4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9B0B60-C100-5272-3B52-242A1B3EB9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E16AFD-2884-82F2-85EF-60CC69B8E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8435-C720-449D-B816-40E688690315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34FFB9-BD63-4954-B342-92FD028A5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32F79E-888C-E739-A807-CE92E9197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6BB1-3072-477A-8416-723305CEF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811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68639-7441-C5CC-B004-72F862B44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9DB76E-A99C-A9A2-2A56-1D3A33518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8435-C720-449D-B816-40E688690315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86794B-D66C-A3A8-3D89-528001E4D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0B1946-7B3C-5D6F-B6B3-05EE80FA9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6BB1-3072-477A-8416-723305CEF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134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858EE5-A6D5-1B17-A565-CBFA0FC33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8435-C720-449D-B816-40E688690315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9E5286-4134-96A7-49A6-630AF0CC9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81CF4D-9210-9221-642A-76149DAF0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6BB1-3072-477A-8416-723305CEF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6959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1A6AA-CD9E-662B-9853-A78C07070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866B5-138B-4FC4-80BF-CF269BE1D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FF8B-6BE8-4754-6044-CCFD98D79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C6657F-A1BA-23CB-479C-060203EEA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8435-C720-449D-B816-40E688690315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059696-456E-34AA-C8A0-DEB94CCC1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4C4FD-86B3-9465-413E-F37F528F4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6BB1-3072-477A-8416-723305CEF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1665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76B08-FF37-9363-2A10-C9CF5D43F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104900"/>
            <a:ext cx="3932237" cy="9525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619786-B2A6-AFFE-64E5-9EB2E5304F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F88F3A-AB52-C920-020A-F635704A6B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131871-5148-4F43-11B6-3AD6D3420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8435-C720-449D-B816-40E688690315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040A6C-BDA2-7098-2430-EDC3EC90A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45EE63-100B-37C2-85F8-2BF65D08F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6BB1-3072-477A-8416-723305CEF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4656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5FCC2-5904-491E-581A-36BFCBA98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600"/>
            <a:ext cx="10515600" cy="64633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81C980-0C3C-A426-947B-B2E8E1478D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C87D3-0BF2-4993-432B-703A2C0E4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8435-C720-449D-B816-40E688690315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6A88F-A729-F1E9-BA06-6AD8DCBBB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75B78-BAD5-7D9B-358B-F0AEB5DB4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6BB1-3072-477A-8416-723305CEF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8085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D1F69C-82E3-CB06-9B7F-8825185427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AB3F83-AAE6-EEDF-B93F-6457BDBE63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7A31A-66D8-8628-1499-FA3DFD084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8435-C720-449D-B816-40E688690315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069D6-F949-7E42-3D3C-2F7AAD7AC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3BCEC-62AB-2A95-67F1-87161F1C4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6BB1-3072-477A-8416-723305CEF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9185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3454400" y="1371600"/>
            <a:ext cx="8331200" cy="236220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3454400" y="1371600"/>
            <a:ext cx="304800" cy="23622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3860800" y="1371600"/>
            <a:ext cx="7924800" cy="23622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600" b="1" dirty="0">
                <a:latin typeface="Gill Sans MT" charset="0"/>
                <a:cs typeface="Times New Roman" charset="0"/>
              </a:rPr>
              <a:t>Rwanda CAADP Post Compact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600" b="1" dirty="0">
                <a:latin typeface="Gill Sans MT" charset="0"/>
                <a:cs typeface="Times New Roman" charset="0"/>
              </a:rPr>
              <a:t>High-Level Stakeholder Meeting</a:t>
            </a:r>
          </a:p>
        </p:txBody>
      </p:sp>
      <p:pic>
        <p:nvPicPr>
          <p:cNvPr id="10" name="Picture 1" descr="armoirie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 rot="10800000" flipH="1" flipV="1">
            <a:off x="304800" y="1350964"/>
            <a:ext cx="2946400" cy="2382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ubtitle 8"/>
          <p:cNvSpPr txBox="1">
            <a:spLocks/>
          </p:cNvSpPr>
          <p:nvPr userDrawn="1"/>
        </p:nvSpPr>
        <p:spPr>
          <a:xfrm>
            <a:off x="3860800" y="6248400"/>
            <a:ext cx="7823200" cy="6096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r">
              <a:spcBef>
                <a:spcPts val="600"/>
              </a:spcBef>
              <a:buClr>
                <a:schemeClr val="accent1"/>
              </a:buClr>
              <a:buSzPct val="76000"/>
              <a:buFont typeface="Symbol" charset="2"/>
              <a:buNone/>
            </a:pPr>
            <a:endParaRPr lang="en-US" sz="1000" dirty="0">
              <a:solidFill>
                <a:schemeClr val="bg2"/>
              </a:solidFill>
              <a:latin typeface="Bookman Old Style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3454400" y="4191000"/>
            <a:ext cx="304800" cy="990600"/>
          </a:xfrm>
          <a:prstGeom prst="rect">
            <a:avLst/>
          </a:prstGeom>
          <a:solidFill>
            <a:schemeClr val="accent3"/>
          </a:solidFill>
          <a:ln w="6350" cap="rnd" cmpd="sng" algn="ctr">
            <a:solidFill>
              <a:schemeClr val="accent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3450167" y="4191000"/>
            <a:ext cx="8343900" cy="990600"/>
          </a:xfrm>
          <a:prstGeom prst="rect">
            <a:avLst/>
          </a:prstGeom>
          <a:noFill/>
          <a:ln w="6350" cap="rnd" cmpd="sng" algn="ctr">
            <a:solidFill>
              <a:schemeClr val="accent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860800" y="4267200"/>
            <a:ext cx="7823199" cy="4572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r">
              <a:defRPr sz="24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860800" y="4724400"/>
            <a:ext cx="7823199" cy="457200"/>
          </a:xfrm>
        </p:spPr>
        <p:txBody>
          <a:bodyPr/>
          <a:lstStyle>
            <a:lvl1pPr marL="0" indent="0" algn="r">
              <a:buNone/>
              <a:defRPr sz="20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5765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traight Connector 2"/>
          <p:cNvSpPr>
            <a:spLocks noChangeShapeType="1"/>
          </p:cNvSpPr>
          <p:nvPr userDrawn="1"/>
        </p:nvSpPr>
        <p:spPr bwMode="auto">
          <a:xfrm>
            <a:off x="1625601" y="1066800"/>
            <a:ext cx="10240433" cy="0"/>
          </a:xfrm>
          <a:prstGeom prst="line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838200"/>
          </a:xfrm>
          <a:prstGeom prst="rect">
            <a:avLst/>
          </a:prstGeom>
        </p:spPr>
        <p:txBody>
          <a:bodyPr anchor="b" anchorCtr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9347200" y="6416676"/>
            <a:ext cx="2641600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/>
                </a:solidFill>
                <a:latin typeface="Gill Sans MT" charset="0"/>
              </a:defRPr>
            </a:lvl1pPr>
          </a:lstStyle>
          <a:p>
            <a:fld id="{D97AE203-F84D-4A7F-B161-8561326BE072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3281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endParaRPr lang="en-GB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fld id="{970CC022-FA3D-4B6F-94CC-171F6923194E}" type="slidenum">
              <a:rPr lang="en-GB"/>
              <a:pPr/>
              <a:t>‹#›</a:t>
            </a:fld>
            <a:endParaRPr lang="en-GB" dirty="0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fld id="{0C3105CC-1B2D-4903-971E-6A5C773A19C5}" type="datetime1">
              <a:rPr lang="en-US"/>
              <a:pPr/>
              <a:t>11/16/2025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648319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07D18-9295-5C12-B7F8-D8E376409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83A11-90E3-6BC7-796C-FBF7B4348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E7D45-0C98-9643-133E-7CF04135A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79336-2E43-44A0-ADE1-7669CAFC9F7E}" type="datetimeFigureOut">
              <a:rPr lang="x-none" smtClean="0"/>
              <a:t>16/11/2025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FCEDC-4AD8-AC4F-ED12-34EC3D3DB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255A3-94B7-8CEE-EB38-2E387C050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78F0-BBE9-411C-9D0D-17F9871AB4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20597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203200" y="1219200"/>
            <a:ext cx="11379200" cy="491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203201" y="6629400"/>
            <a:ext cx="11741151" cy="0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pic>
        <p:nvPicPr>
          <p:cNvPr id="1028" name="Picture 1" descr="armoirie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rot="10800000" flipH="1" flipV="1">
            <a:off x="203200" y="152400"/>
            <a:ext cx="863600" cy="82073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ＭＳ Ｐゴシック" charset="-128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charset="2"/>
        <a:buChar char="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1pPr>
      <a:lvl2pPr marL="547688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charset="2"/>
        <a:buChar char=""/>
        <a:defRPr sz="2000" kern="1200">
          <a:solidFill>
            <a:schemeClr val="tx2"/>
          </a:solidFill>
          <a:latin typeface="+mn-lt"/>
          <a:ea typeface="ＭＳ Ｐゴシック" charset="-128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charset="2"/>
        <a:buChar char="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096963" indent="-228600" algn="l" rtl="0" eaLnBrk="0" fontAlgn="base" hangingPunct="0">
        <a:spcBef>
          <a:spcPts val="400"/>
        </a:spcBef>
        <a:spcAft>
          <a:spcPct val="0"/>
        </a:spcAft>
        <a:buClr>
          <a:srgbClr val="23A900"/>
        </a:buClr>
        <a:buSzPct val="70000"/>
        <a:buFont typeface="Wingdings" charset="2"/>
        <a:buChar char="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charset="2"/>
        <a:buChar char=""/>
        <a:defRPr sz="16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BF5A59-B018-E644-7607-2B768C005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6659"/>
            <a:ext cx="10515600" cy="5232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 algn="ctr"/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DB2F0B-9D89-A110-3EF3-4D5470AC3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48397"/>
            <a:ext cx="10515600" cy="46285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E6DB9-30EE-BD7A-21FA-9CEA5DE842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Bahnschrift Light SemiCondensed" panose="020B0502040204020203" pitchFamily="34" charset="0"/>
              </a:defRPr>
            </a:lvl1pPr>
          </a:lstStyle>
          <a:p>
            <a:fld id="{25418435-C720-449D-B816-40E688690315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BC8C5-01D9-BD5B-4B6F-E0D27B6DF3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Bahnschrift Light SemiCondensed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62C13-4287-8CA5-6198-EE3FEDF66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Bahnschrift Light SemiCondensed" panose="020B0502040204020203" pitchFamily="34" charset="0"/>
              </a:defRPr>
            </a:lvl1pPr>
          </a:lstStyle>
          <a:p>
            <a:fld id="{D41F6BB1-3072-477A-8416-723305CEF71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EE7FC1-0F67-52EB-4B9B-BA1536A1B871}"/>
              </a:ext>
            </a:extLst>
          </p:cNvPr>
          <p:cNvSpPr txBox="1"/>
          <p:nvPr userDrawn="1"/>
        </p:nvSpPr>
        <p:spPr>
          <a:xfrm>
            <a:off x="9184956" y="266195"/>
            <a:ext cx="2743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tx1">
                    <a:alpha val="26000"/>
                  </a:schemeClr>
                </a:solidFill>
                <a:latin typeface="Bahnschrift Light Condensed" panose="020B0502040204020203" pitchFamily="34" charset="0"/>
              </a:rPr>
              <a:t>Quarterly </a:t>
            </a:r>
            <a:r>
              <a:rPr lang="en-US" sz="1200" b="1" dirty="0" err="1">
                <a:solidFill>
                  <a:schemeClr val="tx1">
                    <a:alpha val="26000"/>
                  </a:schemeClr>
                </a:solidFill>
                <a:latin typeface="Bahnschrift Light Condensed" panose="020B0502040204020203" pitchFamily="34" charset="0"/>
              </a:rPr>
              <a:t>MacroFiscal</a:t>
            </a:r>
            <a:r>
              <a:rPr lang="en-US" sz="1200" b="1" dirty="0">
                <a:solidFill>
                  <a:schemeClr val="tx1">
                    <a:alpha val="26000"/>
                  </a:schemeClr>
                </a:solidFill>
                <a:latin typeface="Bahnschrift Light Condensed" panose="020B0502040204020203" pitchFamily="34" charset="0"/>
              </a:rPr>
              <a:t> Model (QMFM)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685403-7BBD-6A57-0C45-F6343FBA9BF2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061" y="98440"/>
            <a:ext cx="685800" cy="7528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3D7134-32AC-814F-E326-42F953FCCD1D}"/>
              </a:ext>
            </a:extLst>
          </p:cNvPr>
          <p:cNvSpPr txBox="1"/>
          <p:nvPr userDrawn="1"/>
        </p:nvSpPr>
        <p:spPr>
          <a:xfrm>
            <a:off x="976861" y="182497"/>
            <a:ext cx="205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1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Ministry of Finance and Economic Planning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33E20EA-1628-2B2A-A3E8-BCC8040BE9AF}"/>
              </a:ext>
            </a:extLst>
          </p:cNvPr>
          <p:cNvGrpSpPr/>
          <p:nvPr userDrawn="1"/>
        </p:nvGrpSpPr>
        <p:grpSpPr>
          <a:xfrm>
            <a:off x="11914707" y="2140515"/>
            <a:ext cx="179811" cy="3721558"/>
            <a:chOff x="11773967" y="1367522"/>
            <a:chExt cx="179811" cy="3721558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0271194-5E18-B988-8451-55421FB1122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12555" y="4613219"/>
              <a:ext cx="0" cy="475861"/>
            </a:xfrm>
            <a:prstGeom prst="line">
              <a:avLst/>
            </a:prstGeom>
            <a:ln w="73025" cap="rnd">
              <a:solidFill>
                <a:srgbClr val="109351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5CEEFD0-3B63-D760-590E-FCFA9EF352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905862" y="4189445"/>
              <a:ext cx="0" cy="475861"/>
            </a:xfrm>
            <a:prstGeom prst="line">
              <a:avLst/>
            </a:prstGeom>
            <a:ln w="73025" cap="rnd">
              <a:solidFill>
                <a:srgbClr val="109351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0EE86D6-C30B-8306-1F11-98F29A7A444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12556" y="3786690"/>
              <a:ext cx="0" cy="475861"/>
            </a:xfrm>
            <a:prstGeom prst="line">
              <a:avLst/>
            </a:prstGeom>
            <a:ln w="73025" cap="rnd">
              <a:solidFill>
                <a:srgbClr val="109351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4870C66-FBF3-3EFE-AA9D-6D111EA8A07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915192" y="3384473"/>
              <a:ext cx="0" cy="475861"/>
            </a:xfrm>
            <a:prstGeom prst="line">
              <a:avLst/>
            </a:prstGeom>
            <a:ln w="73025" cap="rnd">
              <a:solidFill>
                <a:srgbClr val="FAD644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CE828D8-2892-806A-A619-C3B9C0D89F0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12555" y="3020579"/>
              <a:ext cx="0" cy="475861"/>
            </a:xfrm>
            <a:prstGeom prst="line">
              <a:avLst/>
            </a:prstGeom>
            <a:ln w="73025" cap="rnd">
              <a:solidFill>
                <a:srgbClr val="FAD644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9C24050-BCDF-F60D-273C-2253F926891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905862" y="2577375"/>
              <a:ext cx="0" cy="475861"/>
            </a:xfrm>
            <a:prstGeom prst="line">
              <a:avLst/>
            </a:prstGeom>
            <a:ln w="73025" cap="rnd">
              <a:solidFill>
                <a:srgbClr val="FAD644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64B3EA7-8B35-59B3-A7D4-5F95CA32EC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12555" y="2194051"/>
              <a:ext cx="0" cy="475861"/>
            </a:xfrm>
            <a:prstGeom prst="line">
              <a:avLst/>
            </a:prstGeom>
            <a:ln w="73025" cap="rnd">
              <a:solidFill>
                <a:srgbClr val="008BCC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C9B42D6-2704-1195-5E76-9FEAD5D2232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905862" y="1770277"/>
              <a:ext cx="0" cy="475861"/>
            </a:xfrm>
            <a:prstGeom prst="line">
              <a:avLst/>
            </a:prstGeom>
            <a:ln w="73025" cap="rnd">
              <a:solidFill>
                <a:srgbClr val="008BCC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F1DE02-10B9-EC4A-03C2-28CCAF5D748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12556" y="1367522"/>
              <a:ext cx="0" cy="475861"/>
            </a:xfrm>
            <a:prstGeom prst="line">
              <a:avLst/>
            </a:prstGeom>
            <a:ln w="73025" cap="rnd">
              <a:solidFill>
                <a:srgbClr val="008BCC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F5A9003-71C1-28DB-3369-068EC9328229}"/>
                </a:ext>
              </a:extLst>
            </p:cNvPr>
            <p:cNvSpPr/>
            <p:nvPr userDrawn="1"/>
          </p:nvSpPr>
          <p:spPr>
            <a:xfrm>
              <a:off x="11773968" y="1978831"/>
              <a:ext cx="77173" cy="77173"/>
            </a:xfrm>
            <a:prstGeom prst="ellipse">
              <a:avLst/>
            </a:prstGeom>
            <a:solidFill>
              <a:srgbClr val="008B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33D68EB-81BE-458F-BD7A-D624523A2772}"/>
                </a:ext>
              </a:extLst>
            </p:cNvPr>
            <p:cNvSpPr/>
            <p:nvPr userDrawn="1"/>
          </p:nvSpPr>
          <p:spPr>
            <a:xfrm>
              <a:off x="11876605" y="2373170"/>
              <a:ext cx="77173" cy="77173"/>
            </a:xfrm>
            <a:prstGeom prst="ellipse">
              <a:avLst/>
            </a:prstGeom>
            <a:solidFill>
              <a:srgbClr val="008B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CA9F18B-AF0C-5FB3-9F9B-C8A8829488AC}"/>
                </a:ext>
              </a:extLst>
            </p:cNvPr>
            <p:cNvSpPr/>
            <p:nvPr userDrawn="1"/>
          </p:nvSpPr>
          <p:spPr>
            <a:xfrm>
              <a:off x="11773967" y="2811651"/>
              <a:ext cx="77173" cy="77173"/>
            </a:xfrm>
            <a:prstGeom prst="ellipse">
              <a:avLst/>
            </a:prstGeom>
            <a:solidFill>
              <a:srgbClr val="FAD64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D11D928-D70D-DF9F-B57F-067D5DA97BDF}"/>
                </a:ext>
              </a:extLst>
            </p:cNvPr>
            <p:cNvSpPr/>
            <p:nvPr userDrawn="1"/>
          </p:nvSpPr>
          <p:spPr>
            <a:xfrm>
              <a:off x="11867275" y="3184646"/>
              <a:ext cx="77173" cy="77173"/>
            </a:xfrm>
            <a:prstGeom prst="ellipse">
              <a:avLst/>
            </a:prstGeom>
            <a:solidFill>
              <a:srgbClr val="FAD64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0875CCBD-0B8E-F194-AD05-7B99DFCCDA11}"/>
                </a:ext>
              </a:extLst>
            </p:cNvPr>
            <p:cNvSpPr/>
            <p:nvPr userDrawn="1"/>
          </p:nvSpPr>
          <p:spPr>
            <a:xfrm>
              <a:off x="11773967" y="3611809"/>
              <a:ext cx="77173" cy="77173"/>
            </a:xfrm>
            <a:prstGeom prst="ellipse">
              <a:avLst/>
            </a:prstGeom>
            <a:solidFill>
              <a:srgbClr val="FAD64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667C7FE4-EF8A-A30B-8556-3BF9B116FEF7}"/>
                </a:ext>
              </a:extLst>
            </p:cNvPr>
            <p:cNvSpPr/>
            <p:nvPr userDrawn="1"/>
          </p:nvSpPr>
          <p:spPr>
            <a:xfrm>
              <a:off x="11876604" y="3980862"/>
              <a:ext cx="77173" cy="77173"/>
            </a:xfrm>
            <a:prstGeom prst="ellipse">
              <a:avLst/>
            </a:prstGeom>
            <a:solidFill>
              <a:srgbClr val="1093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A272ED5B-ABBD-0FC1-E9C7-B05B0736DE9D}"/>
                </a:ext>
              </a:extLst>
            </p:cNvPr>
            <p:cNvSpPr/>
            <p:nvPr userDrawn="1"/>
          </p:nvSpPr>
          <p:spPr>
            <a:xfrm>
              <a:off x="11773967" y="4399298"/>
              <a:ext cx="77173" cy="77173"/>
            </a:xfrm>
            <a:prstGeom prst="ellipse">
              <a:avLst/>
            </a:prstGeom>
            <a:solidFill>
              <a:srgbClr val="1093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8F157A8-F470-DA23-16CF-4BE1AB262AD7}"/>
                </a:ext>
              </a:extLst>
            </p:cNvPr>
            <p:cNvSpPr/>
            <p:nvPr userDrawn="1"/>
          </p:nvSpPr>
          <p:spPr>
            <a:xfrm>
              <a:off x="11867274" y="4782238"/>
              <a:ext cx="77173" cy="77173"/>
            </a:xfrm>
            <a:prstGeom prst="ellipse">
              <a:avLst/>
            </a:prstGeom>
            <a:solidFill>
              <a:srgbClr val="1093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CE27AEA-9A4A-AABC-29C2-4990604BCA3F}"/>
                </a:ext>
              </a:extLst>
            </p:cNvPr>
            <p:cNvSpPr/>
            <p:nvPr userDrawn="1"/>
          </p:nvSpPr>
          <p:spPr>
            <a:xfrm>
              <a:off x="11876603" y="1566865"/>
              <a:ext cx="77173" cy="77173"/>
            </a:xfrm>
            <a:prstGeom prst="ellipse">
              <a:avLst/>
            </a:prstGeom>
            <a:solidFill>
              <a:srgbClr val="008B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0BFDD5D-E9D3-A18F-6C1A-8E36E735BE9F}"/>
              </a:ext>
            </a:extLst>
          </p:cNvPr>
          <p:cNvGrpSpPr/>
          <p:nvPr userDrawn="1"/>
        </p:nvGrpSpPr>
        <p:grpSpPr>
          <a:xfrm>
            <a:off x="106812" y="2140515"/>
            <a:ext cx="179811" cy="3721558"/>
            <a:chOff x="11773967" y="1367522"/>
            <a:chExt cx="179811" cy="3721558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2E90D111-1D56-F61F-7AF8-02E148449B4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12555" y="4613219"/>
              <a:ext cx="0" cy="475861"/>
            </a:xfrm>
            <a:prstGeom prst="line">
              <a:avLst/>
            </a:prstGeom>
            <a:ln w="73025" cap="rnd">
              <a:solidFill>
                <a:srgbClr val="109351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39BF5A0-A616-F9C1-4375-EBDCA6F2450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905862" y="4189445"/>
              <a:ext cx="0" cy="475861"/>
            </a:xfrm>
            <a:prstGeom prst="line">
              <a:avLst/>
            </a:prstGeom>
            <a:ln w="73025" cap="rnd">
              <a:solidFill>
                <a:srgbClr val="109351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9B0F3FE-3FE9-DBB9-A1AA-5A5EDA61A82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12556" y="3786690"/>
              <a:ext cx="0" cy="475861"/>
            </a:xfrm>
            <a:prstGeom prst="line">
              <a:avLst/>
            </a:prstGeom>
            <a:ln w="73025" cap="rnd">
              <a:solidFill>
                <a:srgbClr val="109351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AB5E4C7E-E0C5-3A90-1B7E-250F0F9B79C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915192" y="3384473"/>
              <a:ext cx="0" cy="475861"/>
            </a:xfrm>
            <a:prstGeom prst="line">
              <a:avLst/>
            </a:prstGeom>
            <a:ln w="73025" cap="rnd">
              <a:solidFill>
                <a:srgbClr val="FAD644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759E9BC-C992-4034-E847-F368F47127B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12555" y="3020579"/>
              <a:ext cx="0" cy="475861"/>
            </a:xfrm>
            <a:prstGeom prst="line">
              <a:avLst/>
            </a:prstGeom>
            <a:ln w="73025" cap="rnd">
              <a:solidFill>
                <a:srgbClr val="FAD644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4E36CE0-2FDB-9EE1-7529-DDA254E48C2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905862" y="2577375"/>
              <a:ext cx="0" cy="475861"/>
            </a:xfrm>
            <a:prstGeom prst="line">
              <a:avLst/>
            </a:prstGeom>
            <a:ln w="73025" cap="rnd">
              <a:solidFill>
                <a:srgbClr val="FAD644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A13F9AD5-0323-288C-B4BC-00DEEB0143D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12555" y="2194051"/>
              <a:ext cx="0" cy="475861"/>
            </a:xfrm>
            <a:prstGeom prst="line">
              <a:avLst/>
            </a:prstGeom>
            <a:ln w="73025" cap="rnd">
              <a:solidFill>
                <a:srgbClr val="008BCC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C302256-9149-54B8-F58D-102A6CA5374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905862" y="1770277"/>
              <a:ext cx="0" cy="475861"/>
            </a:xfrm>
            <a:prstGeom prst="line">
              <a:avLst/>
            </a:prstGeom>
            <a:ln w="73025" cap="rnd">
              <a:solidFill>
                <a:srgbClr val="008BCC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40005EF-F712-1A4E-8CF7-4B101B9385E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12556" y="1367522"/>
              <a:ext cx="0" cy="475861"/>
            </a:xfrm>
            <a:prstGeom prst="line">
              <a:avLst/>
            </a:prstGeom>
            <a:ln w="73025" cap="rnd">
              <a:solidFill>
                <a:srgbClr val="008BCC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651667B-31CC-F91D-2150-789398A79EA0}"/>
                </a:ext>
              </a:extLst>
            </p:cNvPr>
            <p:cNvSpPr/>
            <p:nvPr userDrawn="1"/>
          </p:nvSpPr>
          <p:spPr>
            <a:xfrm>
              <a:off x="11773968" y="1978831"/>
              <a:ext cx="77173" cy="77173"/>
            </a:xfrm>
            <a:prstGeom prst="ellipse">
              <a:avLst/>
            </a:prstGeom>
            <a:solidFill>
              <a:srgbClr val="008B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DB018D8-2EF5-9A97-ECA6-3EAC02944669}"/>
                </a:ext>
              </a:extLst>
            </p:cNvPr>
            <p:cNvSpPr/>
            <p:nvPr userDrawn="1"/>
          </p:nvSpPr>
          <p:spPr>
            <a:xfrm>
              <a:off x="11876605" y="2373170"/>
              <a:ext cx="77173" cy="77173"/>
            </a:xfrm>
            <a:prstGeom prst="ellipse">
              <a:avLst/>
            </a:prstGeom>
            <a:solidFill>
              <a:srgbClr val="008B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3E3E30C8-9AB4-DCDE-B2B4-CC8A62D3ED7B}"/>
                </a:ext>
              </a:extLst>
            </p:cNvPr>
            <p:cNvSpPr/>
            <p:nvPr userDrawn="1"/>
          </p:nvSpPr>
          <p:spPr>
            <a:xfrm>
              <a:off x="11773967" y="2811651"/>
              <a:ext cx="77173" cy="77173"/>
            </a:xfrm>
            <a:prstGeom prst="ellipse">
              <a:avLst/>
            </a:prstGeom>
            <a:solidFill>
              <a:srgbClr val="FAD64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2965E4C7-016D-3E91-47F9-34C38241BE40}"/>
                </a:ext>
              </a:extLst>
            </p:cNvPr>
            <p:cNvSpPr/>
            <p:nvPr userDrawn="1"/>
          </p:nvSpPr>
          <p:spPr>
            <a:xfrm>
              <a:off x="11867275" y="3184646"/>
              <a:ext cx="77173" cy="77173"/>
            </a:xfrm>
            <a:prstGeom prst="ellipse">
              <a:avLst/>
            </a:prstGeom>
            <a:solidFill>
              <a:srgbClr val="FAD64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1A216DA0-7AB9-DC0F-EB9B-94A71B678E08}"/>
                </a:ext>
              </a:extLst>
            </p:cNvPr>
            <p:cNvSpPr/>
            <p:nvPr userDrawn="1"/>
          </p:nvSpPr>
          <p:spPr>
            <a:xfrm>
              <a:off x="11773967" y="3611809"/>
              <a:ext cx="77173" cy="77173"/>
            </a:xfrm>
            <a:prstGeom prst="ellipse">
              <a:avLst/>
            </a:prstGeom>
            <a:solidFill>
              <a:srgbClr val="FAD64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BEBC524A-0598-5970-3E3A-1A12BB314944}"/>
                </a:ext>
              </a:extLst>
            </p:cNvPr>
            <p:cNvSpPr/>
            <p:nvPr userDrawn="1"/>
          </p:nvSpPr>
          <p:spPr>
            <a:xfrm>
              <a:off x="11876604" y="3980862"/>
              <a:ext cx="77173" cy="77173"/>
            </a:xfrm>
            <a:prstGeom prst="ellipse">
              <a:avLst/>
            </a:prstGeom>
            <a:solidFill>
              <a:srgbClr val="1093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EED92E5C-0133-6F6E-3AC4-E3BF08B7133E}"/>
                </a:ext>
              </a:extLst>
            </p:cNvPr>
            <p:cNvSpPr/>
            <p:nvPr userDrawn="1"/>
          </p:nvSpPr>
          <p:spPr>
            <a:xfrm>
              <a:off x="11773967" y="4399298"/>
              <a:ext cx="77173" cy="77173"/>
            </a:xfrm>
            <a:prstGeom prst="ellipse">
              <a:avLst/>
            </a:prstGeom>
            <a:solidFill>
              <a:srgbClr val="1093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9B4C966B-D75E-287C-60AF-D1830CC3F6E1}"/>
                </a:ext>
              </a:extLst>
            </p:cNvPr>
            <p:cNvSpPr/>
            <p:nvPr userDrawn="1"/>
          </p:nvSpPr>
          <p:spPr>
            <a:xfrm>
              <a:off x="11867274" y="4782238"/>
              <a:ext cx="77173" cy="77173"/>
            </a:xfrm>
            <a:prstGeom prst="ellipse">
              <a:avLst/>
            </a:prstGeom>
            <a:solidFill>
              <a:srgbClr val="1093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5AEFA3F1-7B18-877A-99AD-CED79E0ECE78}"/>
                </a:ext>
              </a:extLst>
            </p:cNvPr>
            <p:cNvSpPr/>
            <p:nvPr userDrawn="1"/>
          </p:nvSpPr>
          <p:spPr>
            <a:xfrm>
              <a:off x="11876603" y="1566865"/>
              <a:ext cx="77173" cy="77173"/>
            </a:xfrm>
            <a:prstGeom prst="ellipse">
              <a:avLst/>
            </a:prstGeom>
            <a:solidFill>
              <a:srgbClr val="008B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Oval 60">
            <a:extLst>
              <a:ext uri="{FF2B5EF4-FFF2-40B4-BE49-F238E27FC236}">
                <a16:creationId xmlns:a16="http://schemas.microsoft.com/office/drawing/2014/main" id="{E3985124-E079-0DEA-BC3A-5AE9D3FBCF84}"/>
              </a:ext>
            </a:extLst>
          </p:cNvPr>
          <p:cNvSpPr/>
          <p:nvPr userDrawn="1"/>
        </p:nvSpPr>
        <p:spPr>
          <a:xfrm>
            <a:off x="1606550" y="6617616"/>
            <a:ext cx="139700" cy="139700"/>
          </a:xfrm>
          <a:prstGeom prst="ellipse">
            <a:avLst/>
          </a:prstGeom>
          <a:solidFill>
            <a:srgbClr val="10935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8BCDF17F-7678-886B-BDC1-7D46E0FDC526}"/>
              </a:ext>
            </a:extLst>
          </p:cNvPr>
          <p:cNvSpPr/>
          <p:nvPr userDrawn="1"/>
        </p:nvSpPr>
        <p:spPr>
          <a:xfrm>
            <a:off x="977900" y="6617616"/>
            <a:ext cx="139700" cy="139700"/>
          </a:xfrm>
          <a:prstGeom prst="ellipse">
            <a:avLst/>
          </a:prstGeom>
          <a:solidFill>
            <a:srgbClr val="FAD20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A3D20AC5-1E8E-5321-E43D-46B445C65B67}"/>
              </a:ext>
            </a:extLst>
          </p:cNvPr>
          <p:cNvSpPr/>
          <p:nvPr userDrawn="1"/>
        </p:nvSpPr>
        <p:spPr>
          <a:xfrm>
            <a:off x="349250" y="6617616"/>
            <a:ext cx="139700" cy="139700"/>
          </a:xfrm>
          <a:prstGeom prst="ellipse">
            <a:avLst/>
          </a:prstGeom>
          <a:solidFill>
            <a:srgbClr val="008B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FA80B877-F110-D95C-7DD0-FEBBD1B4BA64}"/>
              </a:ext>
            </a:extLst>
          </p:cNvPr>
          <p:cNvSpPr/>
          <p:nvPr userDrawn="1"/>
        </p:nvSpPr>
        <p:spPr>
          <a:xfrm>
            <a:off x="558800" y="6617616"/>
            <a:ext cx="139700" cy="139700"/>
          </a:xfrm>
          <a:prstGeom prst="ellipse">
            <a:avLst/>
          </a:prstGeom>
          <a:solidFill>
            <a:srgbClr val="008B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03F7BB24-25F0-4188-72B0-2D5ED9CFB76E}"/>
              </a:ext>
            </a:extLst>
          </p:cNvPr>
          <p:cNvSpPr/>
          <p:nvPr userDrawn="1"/>
        </p:nvSpPr>
        <p:spPr>
          <a:xfrm>
            <a:off x="768350" y="6617616"/>
            <a:ext cx="139700" cy="139700"/>
          </a:xfrm>
          <a:prstGeom prst="ellipse">
            <a:avLst/>
          </a:prstGeom>
          <a:solidFill>
            <a:srgbClr val="008B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97DEBEE4-3529-6BF7-C1EE-1F06689DC266}"/>
              </a:ext>
            </a:extLst>
          </p:cNvPr>
          <p:cNvSpPr/>
          <p:nvPr userDrawn="1"/>
        </p:nvSpPr>
        <p:spPr>
          <a:xfrm>
            <a:off x="1187450" y="6617616"/>
            <a:ext cx="139700" cy="139700"/>
          </a:xfrm>
          <a:prstGeom prst="ellipse">
            <a:avLst/>
          </a:prstGeom>
          <a:solidFill>
            <a:srgbClr val="FAD20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8631BAD7-ACD6-558C-7884-5F8B8158569B}"/>
              </a:ext>
            </a:extLst>
          </p:cNvPr>
          <p:cNvSpPr/>
          <p:nvPr userDrawn="1"/>
        </p:nvSpPr>
        <p:spPr>
          <a:xfrm>
            <a:off x="1397000" y="6617616"/>
            <a:ext cx="139700" cy="139700"/>
          </a:xfrm>
          <a:prstGeom prst="ellipse">
            <a:avLst/>
          </a:prstGeom>
          <a:solidFill>
            <a:srgbClr val="FAD20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644534C1-CAD6-EE98-DA4C-80ABB36189FA}"/>
              </a:ext>
            </a:extLst>
          </p:cNvPr>
          <p:cNvSpPr/>
          <p:nvPr userDrawn="1"/>
        </p:nvSpPr>
        <p:spPr>
          <a:xfrm>
            <a:off x="1816100" y="6617616"/>
            <a:ext cx="139700" cy="139700"/>
          </a:xfrm>
          <a:prstGeom prst="ellipse">
            <a:avLst/>
          </a:prstGeom>
          <a:solidFill>
            <a:srgbClr val="10935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6D273F5C-D33F-EF59-0554-6E5D0016BFBC}"/>
              </a:ext>
            </a:extLst>
          </p:cNvPr>
          <p:cNvSpPr/>
          <p:nvPr userDrawn="1"/>
        </p:nvSpPr>
        <p:spPr>
          <a:xfrm>
            <a:off x="2005561" y="6617616"/>
            <a:ext cx="139700" cy="139700"/>
          </a:xfrm>
          <a:prstGeom prst="ellipse">
            <a:avLst/>
          </a:prstGeom>
          <a:solidFill>
            <a:srgbClr val="10935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47062037-C070-A95A-9CED-80046DEC4BEB}"/>
              </a:ext>
            </a:extLst>
          </p:cNvPr>
          <p:cNvSpPr/>
          <p:nvPr userDrawn="1"/>
        </p:nvSpPr>
        <p:spPr>
          <a:xfrm>
            <a:off x="11283950" y="109891"/>
            <a:ext cx="139700" cy="139700"/>
          </a:xfrm>
          <a:prstGeom prst="ellipse">
            <a:avLst/>
          </a:prstGeom>
          <a:solidFill>
            <a:srgbClr val="008B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FA6AEF5D-0DD5-0B6D-960F-425B1836E1F8}"/>
              </a:ext>
            </a:extLst>
          </p:cNvPr>
          <p:cNvSpPr/>
          <p:nvPr userDrawn="1"/>
        </p:nvSpPr>
        <p:spPr>
          <a:xfrm>
            <a:off x="11493500" y="109891"/>
            <a:ext cx="139700" cy="139700"/>
          </a:xfrm>
          <a:prstGeom prst="ellipse">
            <a:avLst/>
          </a:prstGeom>
          <a:solidFill>
            <a:srgbClr val="008B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BD6BA97C-413A-8ACF-FA70-F3C46173BD30}"/>
              </a:ext>
            </a:extLst>
          </p:cNvPr>
          <p:cNvSpPr/>
          <p:nvPr userDrawn="1"/>
        </p:nvSpPr>
        <p:spPr>
          <a:xfrm>
            <a:off x="11703050" y="109891"/>
            <a:ext cx="139700" cy="139700"/>
          </a:xfrm>
          <a:prstGeom prst="ellipse">
            <a:avLst/>
          </a:prstGeom>
          <a:solidFill>
            <a:srgbClr val="008B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E6513DCA-0540-607D-489B-ADAE97DD8FC5}"/>
              </a:ext>
            </a:extLst>
          </p:cNvPr>
          <p:cNvSpPr/>
          <p:nvPr userDrawn="1"/>
        </p:nvSpPr>
        <p:spPr>
          <a:xfrm>
            <a:off x="10655300" y="109891"/>
            <a:ext cx="139700" cy="139700"/>
          </a:xfrm>
          <a:prstGeom prst="ellipse">
            <a:avLst/>
          </a:prstGeom>
          <a:solidFill>
            <a:srgbClr val="FAD20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EE5863C7-E4EF-A939-43D8-8A5F26090798}"/>
              </a:ext>
            </a:extLst>
          </p:cNvPr>
          <p:cNvSpPr/>
          <p:nvPr userDrawn="1"/>
        </p:nvSpPr>
        <p:spPr>
          <a:xfrm>
            <a:off x="10864850" y="109891"/>
            <a:ext cx="139700" cy="139700"/>
          </a:xfrm>
          <a:prstGeom prst="ellipse">
            <a:avLst/>
          </a:prstGeom>
          <a:solidFill>
            <a:srgbClr val="FAD20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C52C00B1-AA56-6255-E25D-597D9F99820B}"/>
              </a:ext>
            </a:extLst>
          </p:cNvPr>
          <p:cNvSpPr/>
          <p:nvPr userDrawn="1"/>
        </p:nvSpPr>
        <p:spPr>
          <a:xfrm>
            <a:off x="11074400" y="109891"/>
            <a:ext cx="139700" cy="139700"/>
          </a:xfrm>
          <a:prstGeom prst="ellipse">
            <a:avLst/>
          </a:prstGeom>
          <a:solidFill>
            <a:srgbClr val="FAD20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4CB4C63B-CD2A-B497-E58A-2767E6C01D10}"/>
              </a:ext>
            </a:extLst>
          </p:cNvPr>
          <p:cNvSpPr/>
          <p:nvPr userDrawn="1"/>
        </p:nvSpPr>
        <p:spPr>
          <a:xfrm>
            <a:off x="10046739" y="109891"/>
            <a:ext cx="139700" cy="139700"/>
          </a:xfrm>
          <a:prstGeom prst="ellipse">
            <a:avLst/>
          </a:prstGeom>
          <a:solidFill>
            <a:srgbClr val="10935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09A7A4A1-FD2B-1297-4853-FC278D1569B2}"/>
              </a:ext>
            </a:extLst>
          </p:cNvPr>
          <p:cNvSpPr/>
          <p:nvPr userDrawn="1"/>
        </p:nvSpPr>
        <p:spPr>
          <a:xfrm>
            <a:off x="10256289" y="109891"/>
            <a:ext cx="139700" cy="139700"/>
          </a:xfrm>
          <a:prstGeom prst="ellipse">
            <a:avLst/>
          </a:prstGeom>
          <a:solidFill>
            <a:srgbClr val="10935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28E970DA-C16D-69FE-3E8F-9761A3D62978}"/>
              </a:ext>
            </a:extLst>
          </p:cNvPr>
          <p:cNvSpPr/>
          <p:nvPr userDrawn="1"/>
        </p:nvSpPr>
        <p:spPr>
          <a:xfrm>
            <a:off x="10445750" y="109891"/>
            <a:ext cx="139700" cy="139700"/>
          </a:xfrm>
          <a:prstGeom prst="ellipse">
            <a:avLst/>
          </a:prstGeom>
          <a:solidFill>
            <a:srgbClr val="10935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094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  <p:sldLayoutId id="2147483912" r:id="rId2"/>
    <p:sldLayoutId id="2147483913" r:id="rId3"/>
    <p:sldLayoutId id="2147483914" r:id="rId4"/>
    <p:sldLayoutId id="2147483915" r:id="rId5"/>
    <p:sldLayoutId id="2147483916" r:id="rId6"/>
    <p:sldLayoutId id="2147483917" r:id="rId7"/>
    <p:sldLayoutId id="2147483918" r:id="rId8"/>
    <p:sldLayoutId id="2147483919" r:id="rId9"/>
    <p:sldLayoutId id="2147483920" r:id="rId10"/>
    <p:sldLayoutId id="214748392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200" b="1" kern="1200" smtClean="0">
          <a:solidFill>
            <a:schemeClr val="tx1"/>
          </a:solidFill>
          <a:latin typeface="Bahnschrift" panose="020B050204020402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Bahnschrift Light SemiCondensed" panose="020B050204020402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Bahnschrift Light SemiCondensed" panose="020B050204020402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Bahnschrift Light SemiCondensed" panose="020B050204020402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Bahnschrift Light SemiCondensed" panose="020B050204020402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Bahnschrift Light SemiCondensed" panose="020B050204020402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203200" y="1219200"/>
            <a:ext cx="11379200" cy="491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203201" y="6629400"/>
            <a:ext cx="11741151" cy="0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pic>
        <p:nvPicPr>
          <p:cNvPr id="1028" name="Picture 1" descr="armoirie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rot="10800000" flipH="1" flipV="1">
            <a:off x="203200" y="152400"/>
            <a:ext cx="1016000" cy="82073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57954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3" r:id="rId1"/>
    <p:sldLayoutId id="2147483924" r:id="rId2"/>
    <p:sldLayoutId id="2147483925" r:id="rId3"/>
    <p:sldLayoutId id="2147483926" r:id="rId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ＭＳ Ｐゴシック" charset="-128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charset="2"/>
        <a:buChar char="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1pPr>
      <a:lvl2pPr marL="547688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charset="2"/>
        <a:buChar char=""/>
        <a:defRPr sz="2000" kern="1200">
          <a:solidFill>
            <a:schemeClr val="tx2"/>
          </a:solidFill>
          <a:latin typeface="+mn-lt"/>
          <a:ea typeface="ＭＳ Ｐゴシック" charset="-128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charset="2"/>
        <a:buChar char="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096963" indent="-228600" algn="l" rtl="0" eaLnBrk="0" fontAlgn="base" hangingPunct="0">
        <a:spcBef>
          <a:spcPts val="400"/>
        </a:spcBef>
        <a:spcAft>
          <a:spcPct val="0"/>
        </a:spcAft>
        <a:buClr>
          <a:srgbClr val="23A900"/>
        </a:buClr>
        <a:buSzPct val="70000"/>
        <a:buFont typeface="Wingdings" charset="2"/>
        <a:buChar char="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charset="2"/>
        <a:buChar char=""/>
        <a:defRPr sz="16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microsoft.com/office/2018/10/relationships/comments" Target="../comments/modernComment_25B_6AF2A1D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7.emf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65"/>
          <p:cNvSpPr>
            <a:spLocks noChangeArrowheads="1"/>
          </p:cNvSpPr>
          <p:nvPr/>
        </p:nvSpPr>
        <p:spPr bwMode="auto">
          <a:xfrm>
            <a:off x="1524001" y="4868025"/>
            <a:ext cx="184731" cy="600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br>
              <a:rPr lang="en-GB" sz="900" dirty="0"/>
            </a:b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1866900" y="3475772"/>
            <a:ext cx="8458200" cy="1482842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GB" sz="3200" b="1" dirty="0">
                <a:solidFill>
                  <a:srgbClr val="109351"/>
                </a:solidFill>
                <a:latin typeface="Bahnschrift" panose="020B0502040204020203" pitchFamily="34" charset="0"/>
              </a:rPr>
              <a:t>Quarterly Macro-Fiscal Outlook (QMFO)</a:t>
            </a:r>
          </a:p>
          <a:p>
            <a:pPr algn="ctr">
              <a:lnSpc>
                <a:spcPct val="150000"/>
              </a:lnSpc>
              <a:defRPr/>
            </a:pPr>
            <a:r>
              <a:rPr lang="en-GB" sz="3200" b="1" dirty="0">
                <a:solidFill>
                  <a:srgbClr val="109351"/>
                </a:solidFill>
                <a:latin typeface="Bahnschrift" panose="020B0502040204020203" pitchFamily="34" charset="0"/>
              </a:rPr>
              <a:t>Summary Outlook 2024-27</a:t>
            </a:r>
          </a:p>
        </p:txBody>
      </p:sp>
      <p:cxnSp>
        <p:nvCxnSpPr>
          <p:cNvPr id="7" name="Straight Connector 6"/>
          <p:cNvCxnSpPr/>
          <p:nvPr/>
        </p:nvCxnSpPr>
        <p:spPr>
          <a:xfrm rot="10800000">
            <a:off x="2362200" y="3048000"/>
            <a:ext cx="7543800" cy="1588"/>
          </a:xfrm>
          <a:prstGeom prst="line">
            <a:avLst/>
          </a:prstGeom>
          <a:ln w="38100">
            <a:solidFill>
              <a:srgbClr val="F4BC0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048000" y="5715000"/>
            <a:ext cx="586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Bahnschrift Light" panose="020B0502040204020203" pitchFamily="34" charset="0"/>
              </a:rPr>
              <a:t>October 2025 Round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578755-694B-F809-9288-A5B861F3FF33}"/>
              </a:ext>
            </a:extLst>
          </p:cNvPr>
          <p:cNvSpPr txBox="1"/>
          <p:nvPr/>
        </p:nvSpPr>
        <p:spPr>
          <a:xfrm>
            <a:off x="1524001" y="990600"/>
            <a:ext cx="8458200" cy="1077218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3200" b="1" dirty="0">
                <a:solidFill>
                  <a:srgbClr val="008BCC"/>
                </a:solidFill>
                <a:latin typeface="Bahnschrift" panose="020B0502040204020203" pitchFamily="34" charset="0"/>
              </a:rPr>
              <a:t>MINECOFIN Quarterly Macro-Fiscal Model (QMFM)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438400" y="647513"/>
            <a:ext cx="7010400" cy="549275"/>
          </a:xfrm>
        </p:spPr>
        <p:txBody>
          <a:bodyPr/>
          <a:lstStyle/>
          <a:p>
            <a:pPr algn="ctr"/>
            <a:r>
              <a:rPr lang="en-GB" sz="3200" b="1" dirty="0">
                <a:solidFill>
                  <a:srgbClr val="008BCC"/>
                </a:solidFill>
                <a:latin typeface="Bahnschrift" panose="020B0502040204020203" pitchFamily="34" charset="0"/>
              </a:rPr>
              <a:t>Outline/contents</a:t>
            </a:r>
            <a:endParaRPr lang="en-AE" sz="3200" b="1" dirty="0">
              <a:solidFill>
                <a:srgbClr val="008BCC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457200" y="1143000"/>
            <a:ext cx="10896600" cy="53340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endParaRPr lang="en-GB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294143-809D-C767-7D9E-2097A352781A}"/>
              </a:ext>
            </a:extLst>
          </p:cNvPr>
          <p:cNvSpPr txBox="1"/>
          <p:nvPr/>
        </p:nvSpPr>
        <p:spPr>
          <a:xfrm>
            <a:off x="990600" y="1524000"/>
            <a:ext cx="10363200" cy="4403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buAutoNum type="romanUcPeriod"/>
            </a:pPr>
            <a:r>
              <a:rPr lang="en-US" b="1" dirty="0">
                <a:latin typeface="Bahnschrift" panose="020B0502040204020203" pitchFamily="34" charset="0"/>
              </a:rPr>
              <a:t>Rationale of Outlook and underlying model</a:t>
            </a:r>
            <a:endParaRPr lang="en-GB" b="1" dirty="0">
              <a:latin typeface="Bahnschrift" panose="020B0502040204020203" pitchFamily="34" charset="0"/>
            </a:endParaRPr>
          </a:p>
          <a:p>
            <a:pPr marL="514350" indent="-514350">
              <a:lnSpc>
                <a:spcPct val="200000"/>
              </a:lnSpc>
              <a:buAutoNum type="romanUcPeriod"/>
            </a:pPr>
            <a:r>
              <a:rPr lang="en-US" b="1" dirty="0">
                <a:latin typeface="Bahnschrift" panose="020B0502040204020203" pitchFamily="34" charset="0"/>
              </a:rPr>
              <a:t>Recent macroeconomic developments</a:t>
            </a:r>
          </a:p>
          <a:p>
            <a:pPr marL="514350" indent="-514350">
              <a:lnSpc>
                <a:spcPct val="200000"/>
              </a:lnSpc>
              <a:buAutoNum type="romanUcPeriod"/>
            </a:pPr>
            <a:r>
              <a:rPr lang="en-US" b="1" dirty="0">
                <a:solidFill>
                  <a:srgbClr val="002060"/>
                </a:solidFill>
                <a:latin typeface="Bahnschrift" panose="020B0502040204020203" pitchFamily="34" charset="0"/>
              </a:rPr>
              <a:t>Initial conditions and assumptions for forecast</a:t>
            </a:r>
          </a:p>
          <a:p>
            <a:pPr marL="514350" indent="-514350">
              <a:lnSpc>
                <a:spcPct val="200000"/>
              </a:lnSpc>
              <a:buAutoNum type="romanUcPeriod"/>
            </a:pPr>
            <a:r>
              <a:rPr lang="en-US" b="1" dirty="0">
                <a:latin typeface="Bahnschrift" panose="020B0502040204020203" pitchFamily="34" charset="0"/>
              </a:rPr>
              <a:t>Macroeconomic forecast/outlook</a:t>
            </a:r>
          </a:p>
          <a:p>
            <a:pPr marL="514350" indent="-514350">
              <a:lnSpc>
                <a:spcPct val="200000"/>
              </a:lnSpc>
              <a:buFontTx/>
              <a:buAutoNum type="romanUcPeriod"/>
            </a:pPr>
            <a:r>
              <a:rPr lang="en-GB" b="1" dirty="0">
                <a:latin typeface="Bahnschrift" panose="020B0502040204020203" pitchFamily="34" charset="0"/>
              </a:rPr>
              <a:t>Forecast evaluation (forecast comparison and effect recalibration)</a:t>
            </a:r>
            <a:endParaRPr lang="en-US" b="1" dirty="0">
              <a:latin typeface="Bahnschrift" panose="020B0502040204020203" pitchFamily="34" charset="0"/>
            </a:endParaRPr>
          </a:p>
          <a:p>
            <a:pPr marL="514350" indent="-514350">
              <a:lnSpc>
                <a:spcPct val="200000"/>
              </a:lnSpc>
              <a:buAutoNum type="romanUcPeriod"/>
            </a:pPr>
            <a:r>
              <a:rPr lang="en-US" b="1" dirty="0">
                <a:latin typeface="Bahnschrift" panose="020B0502040204020203" pitchFamily="34" charset="0"/>
                <a:cs typeface="+mj-cs"/>
              </a:rPr>
              <a:t>QMFM interrelation with macro toolbox (nowcasting, intMF)</a:t>
            </a:r>
          </a:p>
        </p:txBody>
      </p:sp>
    </p:spTree>
    <p:extLst>
      <p:ext uri="{BB962C8B-B14F-4D97-AF65-F5344CB8AC3E}">
        <p14:creationId xmlns:p14="http://schemas.microsoft.com/office/powerpoint/2010/main" val="2476959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E66D5-96F8-C776-06D5-E110B7CAB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55FB16-A2D7-AA50-F4D7-7329FBD67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7AE203-F84D-4A7F-B161-8561326BE072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64653"/>
                </a:solidFill>
                <a:effectLst/>
                <a:uLnTx/>
                <a:uFillTx/>
                <a:latin typeface="Gill Sans MT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64653"/>
              </a:solidFill>
              <a:effectLst/>
              <a:uLnTx/>
              <a:uFillTx/>
              <a:latin typeface="Gill Sans MT" charset="0"/>
              <a:ea typeface="ＭＳ Ｐゴシック" charset="-128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7CEE73-C74B-3B84-4080-A52B3299E85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76600" y="381000"/>
            <a:ext cx="6019800" cy="549274"/>
          </a:xfrm>
        </p:spPr>
        <p:txBody>
          <a:bodyPr>
            <a:normAutofit fontScale="90000"/>
          </a:bodyPr>
          <a:lstStyle/>
          <a:p>
            <a:pPr algn="ctr">
              <a:lnSpc>
                <a:spcPct val="200000"/>
              </a:lnSpc>
            </a:pPr>
            <a:r>
              <a:rPr lang="en-US" b="1" dirty="0">
                <a:solidFill>
                  <a:srgbClr val="008BCC"/>
                </a:solidFill>
                <a:latin typeface="Bahnschrift" panose="020B0502040204020203" pitchFamily="34" charset="0"/>
                <a:cs typeface="+mn-cs"/>
              </a:rPr>
              <a:t>Acronyms</a:t>
            </a:r>
            <a:endParaRPr lang="en-AE" b="1" dirty="0">
              <a:solidFill>
                <a:srgbClr val="008BCC"/>
              </a:solidFill>
              <a:latin typeface="Bahnschrift" panose="020B0502040204020203" pitchFamily="34" charset="0"/>
              <a:cs typeface="+mn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C154AE9-F001-8533-BC32-D910385AC87E}"/>
              </a:ext>
            </a:extLst>
          </p:cNvPr>
          <p:cNvSpPr txBox="1">
            <a:spLocks/>
          </p:cNvSpPr>
          <p:nvPr/>
        </p:nvSpPr>
        <p:spPr>
          <a:xfrm>
            <a:off x="609600" y="1143000"/>
            <a:ext cx="5334000" cy="5334000"/>
          </a:xfrm>
          <a:prstGeom prst="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FPAS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: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Forecasting and Policy Analysis System (FPAS)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ER: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Exchange Rate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RER: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Real Exchange Rate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IB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:  Interbank interest rate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RIR: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Real Interest Rate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NTF: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Neal Term Forecast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MT and L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T</a:t>
            </a: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: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Medium-Term</a:t>
            </a: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Long-Term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YoY, %: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Year on Year Percentage Change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G&amp;S: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goods and services (govt demand, exports, …)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WEO: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World Economic Outlook (by IMF)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GAS: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General Assumptions (in WEO)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GEE: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General Economic Environment (in WEO)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CBO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:  Central Budget Office US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ＭＳ Ｐゴシック" charset="-128"/>
              <a:cs typeface="+mn-cs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endParaRPr kumimoji="0" lang="en-GB" sz="1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ＭＳ Ｐゴシック" charset="-128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7C06F3-7D38-F318-7279-90BF1F4262B5}"/>
              </a:ext>
            </a:extLst>
          </p:cNvPr>
          <p:cNvSpPr txBox="1">
            <a:spLocks/>
          </p:cNvSpPr>
          <p:nvPr/>
        </p:nvSpPr>
        <p:spPr>
          <a:xfrm>
            <a:off x="6019800" y="1143000"/>
            <a:ext cx="5334000" cy="5334000"/>
          </a:xfrm>
          <a:prstGeom prst="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 3" charset="2"/>
              <a:buNone/>
              <a:tabLst/>
              <a:defRPr/>
            </a:pPr>
            <a:endParaRPr kumimoji="0" lang="en-GB" sz="1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1965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7AE203-F84D-4A7F-B161-8561326BE072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64653"/>
                </a:solidFill>
                <a:effectLst/>
                <a:uLnTx/>
                <a:uFillTx/>
                <a:latin typeface="Gill Sans MT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64653"/>
              </a:solidFill>
              <a:effectLst/>
              <a:uLnTx/>
              <a:uFillTx/>
              <a:latin typeface="Gill Sans MT" charset="0"/>
              <a:ea typeface="ＭＳ Ｐゴシック" charset="-128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971800" y="473075"/>
            <a:ext cx="6477000" cy="457200"/>
          </a:xfrm>
        </p:spPr>
        <p:txBody>
          <a:bodyPr>
            <a:normAutofit fontScale="90000"/>
          </a:bodyPr>
          <a:lstStyle/>
          <a:p>
            <a:pPr algn="ctr">
              <a:lnSpc>
                <a:spcPct val="200000"/>
              </a:lnSpc>
            </a:pPr>
            <a:r>
              <a:rPr lang="en-US" sz="2400" b="1" dirty="0">
                <a:solidFill>
                  <a:srgbClr val="008BCC"/>
                </a:solidFill>
                <a:latin typeface="Bahnschrift" panose="020B0502040204020203" pitchFamily="34" charset="0"/>
                <a:cs typeface="+mn-cs"/>
              </a:rPr>
              <a:t>Glossary of key terms</a:t>
            </a:r>
            <a:endParaRPr lang="en-AE" sz="2400" b="1" dirty="0">
              <a:solidFill>
                <a:srgbClr val="008BCC"/>
              </a:solidFill>
              <a:latin typeface="Bahnschrift" panose="020B0502040204020203" pitchFamily="34" charset="0"/>
              <a:cs typeface="+mn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533400" y="1066800"/>
            <a:ext cx="10972800" cy="5289550"/>
          </a:xfrm>
          <a:prstGeom prst="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Output gap &amp; final demand gaps (+/-):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output Y above/below potential or trend level Y*, i.e., output gap is log(Y/Y*) &gt;&lt; 0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Real interest &amp; real exchange rate gaps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: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RIR and RER above/below neutral or equilibrium levels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Decomposition of macro aggregates by main drivers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: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coloured bars in charts show contribution of each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Fiscal deficit 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relevant for demand impact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: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deficit before grants = total expenditure -/- non/tax revenue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Debt anchor &amp; sustainable deficit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: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debt ratio to GDP target (with LT growth, inflation rates, etc.) drives sustainable debt-creating deficit. 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Fiscal stance expansionary/contractionary: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deficit, govt demand G&amp;S in % GDP above/below trend levels (“discretionary” deficit, demand &gt;&lt;0) 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Fiscal impulse (on private demand):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mainly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discretionary fiscal deficit affecting consumption &amp; investment   (via income, ‘optimism’) 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More/less restrictive monetary policies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: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(real) interest rates above/below neutral or trend levels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More/less restrictive exchange rate policies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: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real exchange rate below/above equilibrium or trend level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Role expectations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: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agents today consider expected macro variables and policies in future (expected inflation, exchange rate, demand gaps,…)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Forward-looking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: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one or four periods ahead behavioural expectations/speculations  {+1} or {+4 Q} 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Persistence: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lag or effect of previous/initial values or behaviours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Trend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(unobserved):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 trends of key macro variables are estimated; set steady state trends (to which variables converge in absence of shocks)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Shock: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All other factors not captured by model equation or parameter specification 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Decomposition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(level, growth rate, % GDP):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" panose="020B0502040204020203" pitchFamily="34" charset="0"/>
                <a:ea typeface="ＭＳ Ｐゴシック" charset="-128"/>
                <a:cs typeface="+mn-cs"/>
              </a:rPr>
              <a:t>e.g., output (gap) by final demands, GDP growth by components, deficit % of GDP by revenue, exp.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lang="en-GB" sz="1200" b="1" dirty="0">
                <a:solidFill>
                  <a:srgbClr val="C00000"/>
                </a:solidFill>
                <a:latin typeface="Bahnschrift SemiLight" panose="020B0502040204020203" pitchFamily="34" charset="0"/>
              </a:rPr>
              <a:t>Overvaluation and undervaluation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9076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F3451-F807-0A0F-1199-16CC6C89E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33F254-D5FE-83EA-AD15-7D09DFD77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7AE203-F84D-4A7F-B161-8561326BE072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64653"/>
                </a:solidFill>
                <a:effectLst/>
                <a:uLnTx/>
                <a:uFillTx/>
                <a:latin typeface="Gill Sans MT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64653"/>
              </a:solidFill>
              <a:effectLst/>
              <a:uLnTx/>
              <a:uFillTx/>
              <a:latin typeface="Gill Sans MT" charset="0"/>
              <a:ea typeface="ＭＳ Ｐゴシック" charset="-128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1CA196-8B58-7376-E9BC-FCD9FA95F6F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00400" y="609600"/>
            <a:ext cx="6997700" cy="559921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GB" sz="2400" b="1" dirty="0">
                <a:solidFill>
                  <a:srgbClr val="008BCC"/>
                </a:solidFill>
                <a:latin typeface="Bahnschrift" panose="020B0502040204020203" pitchFamily="34" charset="0"/>
                <a:cs typeface="+mn-cs"/>
              </a:rPr>
              <a:t>I. Rationale of outlook &amp; underlying QMFM model</a:t>
            </a:r>
            <a:endParaRPr lang="en-AE" sz="2400" b="1" dirty="0">
              <a:solidFill>
                <a:srgbClr val="008BCC"/>
              </a:solidFill>
              <a:latin typeface="Bahnschrift" panose="020B0502040204020203" pitchFamily="34" charset="0"/>
              <a:cs typeface="+mn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B485FBB-CAC8-34BD-B1D2-7D0D58943C66}"/>
              </a:ext>
            </a:extLst>
          </p:cNvPr>
          <p:cNvSpPr txBox="1">
            <a:spLocks/>
          </p:cNvSpPr>
          <p:nvPr/>
        </p:nvSpPr>
        <p:spPr>
          <a:xfrm>
            <a:off x="762000" y="1295400"/>
            <a:ext cx="10591800" cy="4953000"/>
          </a:xfrm>
          <a:prstGeom prst="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Regular forecasts 16 quarters ahead for key macro aggregates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(i.e., output, inflation, final demands, ..)</a:t>
            </a:r>
            <a:r>
              <a:rPr kumimoji="0" lang="en-GB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as influenced by fiscal, monetary, and exchange rate policies, incl. in response to shocks and new developments (</a:t>
            </a:r>
            <a:r>
              <a:rPr kumimoji="0" lang="en-GB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scenario simulations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)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Emphasis on fiscal and financing/debt policies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 and interaction with monetary and exchange rate policies,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facilitating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policy coordination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between MINECOFIN and NBR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ＭＳ Ｐゴシック" charset="-128"/>
              <a:cs typeface="+mn-cs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Input for 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validated macro-fiscal projections in intMF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underpinning MT budgets and IMF programs (checks on intMF)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Underlying macro model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is New-Keynesian, ‘semi-structural, gap model, FPAS-type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Uses analysis of past observations and estimated trends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to fit model to data; assesses initial condition for forecast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Forecast premises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: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policy stance (fiscal deficit path, current policy interest rate, and ER), assumptions on external environment, other exogenous, and near-term forecasts for GDP and CPI, depending on other tools and judgment </a:t>
            </a:r>
          </a:p>
          <a:p>
            <a:pPr marL="273050" marR="0" lvl="0" indent="-27305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fter shocks and policy responses have worked out, 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variables return gradually to their trends (long-term growth path)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, determined by their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steady-state levels (outside model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, e.g., potential output growth, equilibrium RER, RIR, CPI target, sustainable deficit).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7824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FBB090-AFD0-7F99-80A5-8B5522B2B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DC94FF-3715-83D7-A3A5-F73D7D61678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743200" y="393950"/>
            <a:ext cx="7772400" cy="762000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sz="2700" b="1" dirty="0">
                <a:solidFill>
                  <a:srgbClr val="008BCC"/>
                </a:solidFill>
                <a:latin typeface="Bahnschrift" panose="020B0502040204020203" pitchFamily="34" charset="0"/>
                <a:cs typeface="+mn-cs"/>
              </a:rPr>
              <a:t>II. D</a:t>
            </a:r>
            <a:r>
              <a:rPr lang="en-US" sz="2700" dirty="0">
                <a:solidFill>
                  <a:srgbClr val="008BCC"/>
                </a:solidFill>
                <a:cs typeface="+mn-cs"/>
              </a:rPr>
              <a:t>ata treatment &amp; Settings</a:t>
            </a:r>
            <a:br>
              <a:rPr lang="en-US" sz="2200" b="1" dirty="0"/>
            </a:br>
            <a:r>
              <a:rPr lang="en-US" sz="1600" b="1" dirty="0"/>
              <a:t>                       </a:t>
            </a:r>
            <a:endParaRPr lang="en-RW" sz="2000" b="1" dirty="0">
              <a:solidFill>
                <a:srgbClr val="109351"/>
              </a:solidFill>
              <a:latin typeface="Bahnschrift" panose="020B0502040204020203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7308410-D62B-B2DD-B7B5-068D0264EE1F}"/>
              </a:ext>
            </a:extLst>
          </p:cNvPr>
          <p:cNvSpPr txBox="1">
            <a:spLocks/>
          </p:cNvSpPr>
          <p:nvPr/>
        </p:nvSpPr>
        <p:spPr>
          <a:xfrm>
            <a:off x="457200" y="1066800"/>
            <a:ext cx="10972800" cy="5289550"/>
          </a:xfrm>
          <a:prstGeom prst="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ct val="76000"/>
              <a:buAutoNum type="arabicPeriod"/>
              <a:tabLst/>
              <a:defRPr/>
            </a:pPr>
            <a:r>
              <a:rPr lang="en-GB" sz="1400" b="1" dirty="0">
                <a:solidFill>
                  <a:prstClr val="black"/>
                </a:solidFill>
                <a:latin typeface="Bahnschrift Light" panose="020B0502040204020203" pitchFamily="34" charset="0"/>
              </a:rPr>
              <a:t>National Account (observed 2023Q2)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lang="en-GB" sz="1400" dirty="0">
                <a:solidFill>
                  <a:prstClr val="black"/>
                </a:solidFill>
                <a:latin typeface="Bahnschrift Light" panose="020B0502040204020203" pitchFamily="34" charset="0"/>
              </a:rPr>
              <a:t>Omission/suppression of 2023-25Q1 for final demand components: dynamic volatility led to unreliable estimation of trend&amp; gaps</a:t>
            </a:r>
          </a:p>
          <a:p>
            <a:pPr lvl="1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Font typeface="Courier New" panose="02070309020205020404" pitchFamily="49" charset="0"/>
              <a:buChar char="o"/>
              <a:defRPr/>
            </a:pPr>
            <a:r>
              <a:rPr lang="en-GB" sz="1200" dirty="0">
                <a:solidFill>
                  <a:prstClr val="black"/>
                </a:solidFill>
                <a:latin typeface="Bahnschrift Light" panose="020B0502040204020203" pitchFamily="34" charset="0"/>
              </a:rPr>
              <a:t>Consumption, private investment, Export, import and imports </a:t>
            </a:r>
          </a:p>
          <a:p>
            <a:pPr marL="503238" lvl="1" indent="-22860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AutoNum type="arabicPeriod"/>
              <a:defRPr/>
            </a:pPr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ＭＳ Ｐゴシック" charset="-128"/>
              <a:cs typeface="+mn-cs"/>
            </a:endParaR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Font typeface="Wingdings" panose="05000000000000000000" pitchFamily="2" charset="2"/>
              <a:buChar char="§"/>
              <a:defRPr/>
            </a:pPr>
            <a:r>
              <a:rPr lang="en-GB" sz="1600" dirty="0">
                <a:solidFill>
                  <a:prstClr val="black"/>
                </a:solidFill>
                <a:latin typeface="Bahnschrift Light" panose="020B0502040204020203" pitchFamily="34" charset="0"/>
              </a:rPr>
              <a:t>2025Q2 (rebased): YoY% change used for derivation of non-rebased real GDP levels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Font typeface="Wingdings" panose="05000000000000000000" pitchFamily="2" charset="2"/>
              <a:buChar char="§"/>
              <a:defRPr/>
            </a:pPr>
            <a:r>
              <a:rPr lang="en-GB" sz="1600" dirty="0">
                <a:solidFill>
                  <a:prstClr val="black"/>
                </a:solidFill>
                <a:latin typeface="Bahnschrift Light" panose="020B0502040204020203" pitchFamily="34" charset="0"/>
              </a:rPr>
              <a:t>Filter estimation better than observed data for 2023-25 (levels) to derive corresponding trend, gap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ＭＳ Ｐゴシック" charset="-128"/>
              <a:cs typeface="+mn-cs"/>
            </a:endParaRPr>
          </a:p>
          <a:p>
            <a:pPr marL="0" inden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None/>
              <a:defRPr/>
            </a:pPr>
            <a:r>
              <a:rPr lang="en-GB" sz="1200" b="1" dirty="0">
                <a:solidFill>
                  <a:prstClr val="black"/>
                </a:solidFill>
                <a:latin typeface="Bahnschrift Light" panose="020B0502040204020203" pitchFamily="34" charset="0"/>
              </a:rPr>
              <a:t>2.  </a:t>
            </a:r>
            <a:r>
              <a:rPr lang="en-GB" sz="1400" b="1" dirty="0">
                <a:solidFill>
                  <a:prstClr val="black"/>
                </a:solidFill>
                <a:latin typeface="Bahnschrift Light" panose="020B0502040204020203" pitchFamily="34" charset="0"/>
              </a:rPr>
              <a:t>Main Settings: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ct val="76000"/>
              <a:buNone/>
              <a:tabLst/>
              <a:defRPr/>
            </a:pPr>
            <a:endParaRPr lang="en-GB" sz="1200" dirty="0">
              <a:solidFill>
                <a:prstClr val="black"/>
              </a:solidFill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ct val="76000"/>
              <a:buNone/>
              <a:tabLst/>
              <a:defRPr/>
            </a:pPr>
            <a:endParaRPr lang="en-GB" sz="1200" dirty="0">
              <a:solidFill>
                <a:prstClr val="black"/>
              </a:solidFill>
              <a:latin typeface="Bahnschrift Light" panose="020B0502040204020203" pitchFamily="34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Font typeface="Wingdings" panose="05000000000000000000" pitchFamily="2" charset="2"/>
              <a:buChar char="§"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ＭＳ Ｐゴシック" charset="-128"/>
              <a:cs typeface="+mn-cs"/>
            </a:endParaR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Font typeface="Wingdings" panose="05000000000000000000" pitchFamily="2" charset="2"/>
              <a:buChar char="§"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Filtration</a:t>
            </a:r>
            <a:r>
              <a:rPr lang="en-GB" sz="1200" b="1" dirty="0">
                <a:solidFill>
                  <a:prstClr val="black"/>
                </a:solidFill>
                <a:latin typeface="Bahnschrift Light" panose="020B0502040204020203" pitchFamily="34" charset="0"/>
              </a:rPr>
              <a:t>/estimation: </a:t>
            </a:r>
            <a:r>
              <a:rPr lang="sl-SI" sz="1200" dirty="0">
                <a:solidFill>
                  <a:prstClr val="black"/>
                </a:solidFill>
                <a:latin typeface="Bahnschrift Light" panose="020B0502040204020203" pitchFamily="34" charset="0"/>
              </a:rPr>
              <a:t>opts.filterHistory.range = qq(2006, 1) : qq(2025, 2)</a:t>
            </a:r>
            <a:r>
              <a:rPr lang="en-US" sz="1200" dirty="0">
                <a:solidFill>
                  <a:prstClr val="black"/>
                </a:solidFill>
                <a:latin typeface="Bahnschrift Light" panose="020B0502040204020203" pitchFamily="34" charset="0"/>
              </a:rPr>
              <a:t>: </a:t>
            </a:r>
          </a:p>
          <a:p>
            <a:pPr lvl="1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Font typeface="Wingdings" panose="05000000000000000000" pitchFamily="2" charset="2"/>
              <a:buChar char="§"/>
              <a:defRPr/>
            </a:pPr>
            <a:r>
              <a:rPr lang="en-US" sz="900" dirty="0">
                <a:solidFill>
                  <a:prstClr val="black"/>
                </a:solidFill>
                <a:latin typeface="Bahnschrift Light" panose="020B0502040204020203" pitchFamily="34" charset="0"/>
              </a:rPr>
              <a:t>Fiscal Q2 2025 </a:t>
            </a:r>
          </a:p>
          <a:p>
            <a:pPr lvl="1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Font typeface="Wingdings" panose="05000000000000000000" pitchFamily="2" charset="2"/>
              <a:buChar char="§"/>
              <a:defRPr/>
            </a:pPr>
            <a:r>
              <a:rPr lang="en-US" sz="900" dirty="0">
                <a:solidFill>
                  <a:prstClr val="black"/>
                </a:solidFill>
                <a:latin typeface="Bahnschrift Light" panose="020B0502040204020203" pitchFamily="34" charset="0"/>
              </a:rPr>
              <a:t>All other indicators (ER, IB rate, BOP) observed until 2025Q3</a:t>
            </a:r>
            <a:endParaRPr lang="en-US" sz="1400" dirty="0">
              <a:solidFill>
                <a:prstClr val="black"/>
              </a:solidFill>
              <a:latin typeface="Bahnschrift Light" panose="020B0502040204020203" pitchFamily="34" charset="0"/>
            </a:endParaRPr>
          </a:p>
          <a:p>
            <a:pPr lvl="1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Font typeface="Courier New" panose="02070309020205020404" pitchFamily="49" charset="0"/>
              <a:buChar char="o"/>
              <a:defRPr/>
            </a:pPr>
            <a:r>
              <a:rPr lang="en-GB" sz="900" dirty="0">
                <a:solidFill>
                  <a:prstClr val="black"/>
                </a:solidFill>
                <a:latin typeface="Bahnschrift Light" panose="020B0502040204020203" pitchFamily="34" charset="0"/>
              </a:rPr>
              <a:t>Extended filtration to 2025Q3 to capture nowcast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Font typeface="Wingdings" panose="05000000000000000000" pitchFamily="2" charset="2"/>
              <a:buChar char="§"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Forecast/estimation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: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opts.forecast.range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 =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qq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(2025, 3) :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qq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ＭＳ Ｐゴシック" charset="-128"/>
                <a:cs typeface="+mn-cs"/>
              </a:rPr>
              <a:t>(2029, 4)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D626096-E39D-2963-AD87-B46657967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3412434"/>
            <a:ext cx="5334000" cy="1159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092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0522E-9775-EE19-85C3-50165EEF5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D52F4B-3E13-2136-94A7-5E5CA9B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72782-2C3F-6865-8ACA-EBFD7D2AB65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67000" y="228600"/>
            <a:ext cx="7010400" cy="609279"/>
          </a:xfrm>
          <a:ln>
            <a:noFill/>
          </a:ln>
        </p:spPr>
        <p:txBody>
          <a:bodyPr>
            <a:normAutofit fontScale="90000"/>
          </a:bodyPr>
          <a:lstStyle/>
          <a:p>
            <a:r>
              <a:rPr lang="en-US" sz="2700" b="1" dirty="0">
                <a:solidFill>
                  <a:srgbClr val="008BCC"/>
                </a:solidFill>
                <a:latin typeface="Bahnschrift" panose="020B0502040204020203" pitchFamily="34" charset="0"/>
                <a:cs typeface="+mn-cs"/>
              </a:rPr>
              <a:t>II. Main assumptions/tunes underlying forecasts</a:t>
            </a:r>
            <a:br>
              <a:rPr lang="en-US" sz="2200" b="1" dirty="0"/>
            </a:br>
            <a:r>
              <a:rPr lang="en-US" sz="1600" b="1" dirty="0"/>
              <a:t>                       </a:t>
            </a:r>
            <a:endParaRPr lang="en-RW" sz="2000" b="1" dirty="0">
              <a:solidFill>
                <a:srgbClr val="109351"/>
              </a:solidFill>
              <a:latin typeface="Bahnschrift" panose="020B0502040204020203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7CEBBC5-7191-6FBD-D45B-97645D1CB4C4}"/>
              </a:ext>
            </a:extLst>
          </p:cNvPr>
          <p:cNvSpPr txBox="1">
            <a:spLocks/>
          </p:cNvSpPr>
          <p:nvPr/>
        </p:nvSpPr>
        <p:spPr>
          <a:xfrm>
            <a:off x="533400" y="1066800"/>
            <a:ext cx="11125200" cy="5410200"/>
          </a:xfrm>
          <a:prstGeom prst="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ct val="76000"/>
              <a:buAutoNum type="arabicPeriod"/>
              <a:tabLst/>
              <a:defRPr/>
            </a:pPr>
            <a:r>
              <a:rPr lang="en-GB" sz="1400" dirty="0">
                <a:solidFill>
                  <a:prstClr val="black"/>
                </a:solidFill>
                <a:latin typeface="Bahnschrift Light" panose="020B0502040204020203" pitchFamily="34" charset="0"/>
              </a:rPr>
              <a:t>National Account: </a:t>
            </a:r>
          </a:p>
          <a:p>
            <a:pPr lvl="1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Font typeface="Wingdings" panose="05000000000000000000" pitchFamily="2" charset="2"/>
              <a:buChar char="§"/>
              <a:defRPr/>
            </a:pPr>
            <a:r>
              <a:rPr lang="en-GB" sz="1200" dirty="0">
                <a:solidFill>
                  <a:prstClr val="black"/>
                </a:solidFill>
                <a:latin typeface="Bahnschrift Light" panose="020B0502040204020203" pitchFamily="34" charset="0"/>
              </a:rPr>
              <a:t>GDP Nowcast for 2025Q3&amp;4</a:t>
            </a:r>
          </a:p>
          <a:p>
            <a:pPr marL="0" inden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None/>
              <a:defRPr/>
            </a:pPr>
            <a:r>
              <a:rPr lang="en-GB" sz="1600" dirty="0">
                <a:solidFill>
                  <a:prstClr val="black"/>
                </a:solidFill>
                <a:latin typeface="Bahnschrift Light" panose="020B0502040204020203" pitchFamily="34" charset="0"/>
              </a:rPr>
              <a:t>2. ER: observed until 2025Q3 and Q4 tuned (remainder ER depreciation)</a:t>
            </a:r>
          </a:p>
          <a:p>
            <a:pPr marL="0" inden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None/>
              <a:defRPr/>
            </a:pPr>
            <a:r>
              <a:rPr lang="en-GB" sz="1600" dirty="0">
                <a:solidFill>
                  <a:prstClr val="black"/>
                </a:solidFill>
                <a:latin typeface="Bahnschrift Light" panose="020B0502040204020203" pitchFamily="34" charset="0"/>
              </a:rPr>
              <a:t>3.All indicators observed after 2025Q2(Filter range) tuned as data in baseline/forecast</a:t>
            </a:r>
          </a:p>
          <a:p>
            <a:pPr marL="0" inden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None/>
              <a:defRPr/>
            </a:pPr>
            <a:r>
              <a:rPr lang="en-GB" sz="1600" dirty="0">
                <a:solidFill>
                  <a:prstClr val="black"/>
                </a:solidFill>
                <a:latin typeface="Bahnschrift Light" panose="020B0502040204020203" pitchFamily="34" charset="0"/>
              </a:rPr>
              <a:t>4. Fiscal (Deficit, Revenue, Demand G&amp;S, Other expense): Smoothed/distributed from FY/semester to Qo </a:t>
            </a:r>
          </a:p>
          <a:p>
            <a:pPr lvl="1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Font typeface="Wingdings" panose="05000000000000000000" pitchFamily="2" charset="2"/>
              <a:buChar char="§"/>
              <a:defRPr/>
            </a:pPr>
            <a:r>
              <a:rPr lang="en-GB" sz="1200" dirty="0">
                <a:solidFill>
                  <a:prstClr val="black"/>
                </a:solidFill>
                <a:latin typeface="Bahnschrift Light" panose="020B0502040204020203" pitchFamily="34" charset="0"/>
              </a:rPr>
              <a:t>October 2025 Rev </a:t>
            </a:r>
            <a:r>
              <a:rPr lang="en-GB" sz="1200" dirty="0" err="1">
                <a:solidFill>
                  <a:prstClr val="black"/>
                </a:solidFill>
                <a:latin typeface="Bahnschrift Light" panose="020B0502040204020203" pitchFamily="34" charset="0"/>
              </a:rPr>
              <a:t>Proj</a:t>
            </a:r>
            <a:r>
              <a:rPr lang="en-GB" sz="1200" dirty="0">
                <a:solidFill>
                  <a:prstClr val="black"/>
                </a:solidFill>
                <a:latin typeface="Bahnschrift Light" panose="020B0502040204020203" pitchFamily="34" charset="0"/>
              </a:rPr>
              <a:t>: Agreed projection path</a:t>
            </a:r>
          </a:p>
          <a:p>
            <a:pPr marL="0" inden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None/>
              <a:defRPr/>
            </a:pPr>
            <a:r>
              <a:rPr lang="en-GB" sz="1600" dirty="0">
                <a:solidFill>
                  <a:prstClr val="black"/>
                </a:solidFill>
                <a:latin typeface="Bahnschrift Light" panose="020B0502040204020203" pitchFamily="34" charset="0"/>
              </a:rPr>
              <a:t>Private investment (shock, %GDP): Smoothed/distributed from FY/semester to Qo </a:t>
            </a:r>
          </a:p>
          <a:p>
            <a:pPr lvl="1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Font typeface="Wingdings" panose="05000000000000000000" pitchFamily="2" charset="2"/>
              <a:buChar char="§"/>
              <a:defRPr/>
            </a:pPr>
            <a:r>
              <a:rPr lang="en-GB" sz="1200" dirty="0">
                <a:solidFill>
                  <a:prstClr val="black"/>
                </a:solidFill>
                <a:latin typeface="Bahnschrift Light" panose="020B0502040204020203" pitchFamily="34" charset="0"/>
              </a:rPr>
              <a:t>Other expense/NL/ow </a:t>
            </a:r>
            <a:r>
              <a:rPr lang="en-GB" sz="1200" dirty="0" err="1">
                <a:solidFill>
                  <a:prstClr val="black"/>
                </a:solidFill>
                <a:latin typeface="Bahnschrift Light" panose="020B0502040204020203" pitchFamily="34" charset="0"/>
              </a:rPr>
              <a:t>Bugesera</a:t>
            </a:r>
            <a:r>
              <a:rPr lang="en-GB" sz="1200" dirty="0">
                <a:solidFill>
                  <a:prstClr val="black"/>
                </a:solidFill>
                <a:latin typeface="Bahnschrift Light" panose="020B0502040204020203" pitchFamily="34" charset="0"/>
              </a:rPr>
              <a:t> Govt + Quatar Equity: directly affect growth</a:t>
            </a:r>
          </a:p>
          <a:p>
            <a:pPr lvl="1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Font typeface="Wingdings" panose="05000000000000000000" pitchFamily="2" charset="2"/>
              <a:buChar char="§"/>
              <a:defRPr/>
            </a:pPr>
            <a:r>
              <a:rPr lang="en-GB" sz="1200" dirty="0">
                <a:solidFill>
                  <a:prstClr val="black"/>
                </a:solidFill>
                <a:latin typeface="Bahnschrift Light" panose="020B0502040204020203" pitchFamily="34" charset="0"/>
              </a:rPr>
              <a:t>financing equity investments for Airport are fully invested in construction by private agents (ATL).</a:t>
            </a:r>
          </a:p>
          <a:p>
            <a:pPr lvl="1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Font typeface="Wingdings" panose="05000000000000000000" pitchFamily="2" charset="2"/>
              <a:buChar char="§"/>
              <a:defRPr/>
            </a:pPr>
            <a:r>
              <a:rPr lang="en-GB" sz="1200" dirty="0">
                <a:solidFill>
                  <a:prstClr val="black"/>
                </a:solidFill>
                <a:latin typeface="Bahnschrift Light" panose="020B0502040204020203" pitchFamily="34" charset="0"/>
              </a:rPr>
              <a:t>Govt equity or NL/ow </a:t>
            </a:r>
            <a:r>
              <a:rPr lang="en-GB" sz="1200" dirty="0" err="1">
                <a:solidFill>
                  <a:prstClr val="black"/>
                </a:solidFill>
                <a:latin typeface="Bahnschrift Light" panose="020B0502040204020203" pitchFamily="34" charset="0"/>
              </a:rPr>
              <a:t>Bugesera</a:t>
            </a:r>
            <a:r>
              <a:rPr lang="en-GB" sz="1200" dirty="0">
                <a:solidFill>
                  <a:prstClr val="black"/>
                </a:solidFill>
                <a:latin typeface="Bahnschrift Light" panose="020B0502040204020203" pitchFamily="34" charset="0"/>
              </a:rPr>
              <a:t> in other-expense still indirectly affect GDP growth (fiscal impulse) thru private investment demand</a:t>
            </a:r>
          </a:p>
          <a:p>
            <a:pPr marL="274638" lvl="1" inden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None/>
              <a:defRPr/>
            </a:pPr>
            <a:endParaRPr lang="en-GB" sz="1200" dirty="0">
              <a:solidFill>
                <a:prstClr val="black"/>
              </a:solidFill>
              <a:latin typeface="Bahnschrift Light" panose="020B0502040204020203" pitchFamily="34" charset="0"/>
            </a:endParaRPr>
          </a:p>
          <a:p>
            <a:pPr marL="274638" lvl="1" inden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None/>
              <a:defRPr/>
            </a:pPr>
            <a:endParaRPr lang="en-GB" sz="1200" dirty="0">
              <a:solidFill>
                <a:prstClr val="black"/>
              </a:solidFill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ct val="76000"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ＭＳ Ｐゴシック" charset="-128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5A8580-D998-DE9D-A2EF-24BB9CC6D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299" y="4800600"/>
            <a:ext cx="8153401" cy="1555750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1260980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FDF4C-5E0B-46FF-2DC1-1F0D62F2E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F88047-806B-5D31-C65F-50243777F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4D31CF-8231-22FA-9820-839850C2F98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124200" y="228600"/>
            <a:ext cx="4635447" cy="762000"/>
          </a:xfrm>
          <a:ln>
            <a:noFill/>
          </a:ln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008BCC"/>
                </a:solidFill>
                <a:latin typeface="Bahnschrift" panose="020B0502040204020203" pitchFamily="34" charset="0"/>
                <a:cs typeface="+mn-cs"/>
              </a:rPr>
              <a:t>II. </a:t>
            </a:r>
            <a:r>
              <a:rPr lang="en-US" sz="2400" dirty="0">
                <a:solidFill>
                  <a:srgbClr val="008BCC"/>
                </a:solidFill>
                <a:cs typeface="+mn-cs"/>
              </a:rPr>
              <a:t>Forecast results: Baseline </a:t>
            </a:r>
            <a:br>
              <a:rPr lang="en-US" sz="2400" b="1" dirty="0"/>
            </a:br>
            <a:r>
              <a:rPr lang="en-US" sz="1200" b="1" dirty="0"/>
              <a:t>                                                   </a:t>
            </a:r>
            <a:endParaRPr lang="en-RW" sz="1600" b="1" dirty="0">
              <a:solidFill>
                <a:srgbClr val="109351"/>
              </a:solidFill>
              <a:latin typeface="Bahnschrif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3616D7-D232-8850-0B6C-9843C567EE9F}"/>
              </a:ext>
            </a:extLst>
          </p:cNvPr>
          <p:cNvSpPr txBox="1"/>
          <p:nvPr/>
        </p:nvSpPr>
        <p:spPr>
          <a:xfrm>
            <a:off x="6096000" y="1582074"/>
            <a:ext cx="5638800" cy="1953996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lvl="1" algn="just" eaLnBrk="0" hangingPunc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76000"/>
            </a:pPr>
            <a:r>
              <a:rPr lang="en-US" sz="1200" b="1" dirty="0">
                <a:latin typeface="Bahnschrift Light" panose="020B0502040204020203" pitchFamily="34" charset="0"/>
              </a:rPr>
              <a:t>Real GDP Growth Drivers: Final demand components</a:t>
            </a:r>
          </a:p>
          <a:p>
            <a:pPr marL="171450" lvl="1" indent="-171450" algn="just" eaLnBrk="0" hangingPunc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76000"/>
              <a:buFont typeface="Wingdings" panose="05000000000000000000" pitchFamily="2" charset="2"/>
              <a:buChar char="§"/>
            </a:pPr>
            <a:r>
              <a:rPr lang="en-US" sz="1200" b="1" dirty="0">
                <a:solidFill>
                  <a:srgbClr val="0070C0"/>
                </a:solidFill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fiscal deficit o/w Govt &amp; Dem (NL </a:t>
            </a:r>
            <a:r>
              <a:rPr lang="en-US" sz="1200" b="1" dirty="0" err="1">
                <a:solidFill>
                  <a:srgbClr val="0070C0"/>
                </a:solidFill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Bugesera</a:t>
            </a:r>
            <a:r>
              <a:rPr lang="en-US" sz="1200" b="1" dirty="0">
                <a:solidFill>
                  <a:srgbClr val="0070C0"/>
                </a:solidFill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in 2026-27 through private investment demand</a:t>
            </a:r>
          </a:p>
          <a:p>
            <a:pPr marL="628650" lvl="2" indent="-171450" algn="just" eaLnBrk="0" hangingPunc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76000"/>
              <a:buFont typeface="Wingdings" panose="05000000000000000000" pitchFamily="2" charset="2"/>
              <a:buChar char="§"/>
            </a:pPr>
            <a:r>
              <a:rPr lang="en-US" sz="1200" b="1" dirty="0">
                <a:solidFill>
                  <a:srgbClr val="0070C0"/>
                </a:solidFill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 a fiscal consolidation to accommodate </a:t>
            </a:r>
            <a:r>
              <a:rPr lang="en-US" sz="1200" b="1" dirty="0" err="1">
                <a:solidFill>
                  <a:srgbClr val="0070C0"/>
                </a:solidFill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Bugesera</a:t>
            </a:r>
            <a:endParaRPr lang="en-US" sz="1200" b="1" dirty="0">
              <a:solidFill>
                <a:srgbClr val="0070C0"/>
              </a:solidFill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lvl="1" indent="-171450" algn="just" eaLnBrk="0" hangingPunc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76000"/>
              <a:buFont typeface="Wingdings" panose="05000000000000000000" pitchFamily="2" charset="2"/>
              <a:buChar char="§"/>
            </a:pPr>
            <a:r>
              <a:rPr lang="en-US" sz="1200" b="1" dirty="0">
                <a:solidFill>
                  <a:srgbClr val="0070C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Govt dem increasing even after </a:t>
            </a:r>
            <a:r>
              <a:rPr lang="en-US" sz="1200" b="1" dirty="0" err="1">
                <a:solidFill>
                  <a:srgbClr val="0070C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</a:t>
            </a:r>
            <a:r>
              <a:rPr lang="en-US" sz="1200" b="1" dirty="0" err="1">
                <a:solidFill>
                  <a:srgbClr val="0070C0"/>
                </a:solidFill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gesera</a:t>
            </a:r>
            <a:r>
              <a:rPr lang="en-US" sz="1200" b="1" dirty="0">
                <a:solidFill>
                  <a:srgbClr val="0070C0"/>
                </a:solidFill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(Less consolidation i.e.. higher gap inv)</a:t>
            </a:r>
            <a:endParaRPr lang="en-US" sz="1200" b="1" dirty="0">
              <a:solidFill>
                <a:srgbClr val="0070C0"/>
              </a:solidFill>
              <a:effectLst/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C541225-399D-085D-E564-B79AB8BFF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1295399"/>
            <a:ext cx="5486400" cy="509080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3525E19-F75C-969E-5654-8FD939272A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657600"/>
            <a:ext cx="5638800" cy="272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28603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CC2C1-19BC-B634-C7CD-AD1924DAE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B21791-2459-A16D-674C-3D6AF101A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9B1D88-9449-08FA-F046-1BE4B88DDFD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124200" y="228600"/>
            <a:ext cx="4635447" cy="762000"/>
          </a:xfrm>
          <a:ln>
            <a:noFill/>
          </a:ln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008BCC"/>
                </a:solidFill>
                <a:latin typeface="Bahnschrift" panose="020B0502040204020203" pitchFamily="34" charset="0"/>
                <a:cs typeface="+mn-cs"/>
              </a:rPr>
              <a:t>II. </a:t>
            </a:r>
            <a:r>
              <a:rPr lang="en-US" sz="2400" dirty="0">
                <a:solidFill>
                  <a:srgbClr val="008BCC"/>
                </a:solidFill>
                <a:cs typeface="+mn-cs"/>
              </a:rPr>
              <a:t>Forecast results: Alternative</a:t>
            </a:r>
            <a:br>
              <a:rPr lang="en-US" sz="2400" b="1" dirty="0"/>
            </a:br>
            <a:r>
              <a:rPr lang="en-US" sz="1200" b="1" dirty="0"/>
              <a:t>                                                   </a:t>
            </a:r>
            <a:endParaRPr lang="en-RW" sz="1600" b="1" dirty="0">
              <a:solidFill>
                <a:srgbClr val="109351"/>
              </a:solidFill>
              <a:latin typeface="Bahnschrift" panose="020B0502040204020203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90B4A0-ECCF-95DF-BA5D-D184C40C8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14918"/>
            <a:ext cx="6781800" cy="52074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5F3703-C4E2-73B2-6559-B3D76C1DFAED}"/>
              </a:ext>
            </a:extLst>
          </p:cNvPr>
          <p:cNvSpPr txBox="1"/>
          <p:nvPr/>
        </p:nvSpPr>
        <p:spPr>
          <a:xfrm>
            <a:off x="7315200" y="1524000"/>
            <a:ext cx="4572000" cy="1684692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lvl="1" algn="just" eaLnBrk="0" hangingPunc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76000"/>
            </a:pPr>
            <a:r>
              <a:rPr lang="en-US" sz="1200" b="1" dirty="0">
                <a:latin typeface="Bahnschrift Light" panose="020B0502040204020203" pitchFamily="34" charset="0"/>
              </a:rPr>
              <a:t>Real GDP Growth Drivers: Private investment </a:t>
            </a:r>
          </a:p>
          <a:p>
            <a:pPr marL="0" lvl="1" algn="just" eaLnBrk="0" hangingPunc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76000"/>
            </a:pPr>
            <a:endParaRPr lang="en-US" sz="1200" b="1" dirty="0">
              <a:latin typeface="Bahnschrift Light" panose="020B0502040204020203" pitchFamily="34" charset="0"/>
            </a:endParaRPr>
          </a:p>
          <a:p>
            <a:pPr marL="0" lvl="1" algn="just" eaLnBrk="0" hangingPunc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76000"/>
            </a:pPr>
            <a:r>
              <a:rPr lang="en-US" sz="1050" b="1" dirty="0">
                <a:latin typeface="Bahnschrift Light" panose="020B0502040204020203" pitchFamily="34" charset="0"/>
              </a:rPr>
              <a:t>Baseline: Private investment demand (</a:t>
            </a:r>
            <a:r>
              <a:rPr lang="en-US" sz="1050" b="1" dirty="0" err="1">
                <a:latin typeface="Bahnschrift Light" panose="020B0502040204020203" pitchFamily="34" charset="0"/>
              </a:rPr>
              <a:t>Bugesera</a:t>
            </a:r>
            <a:r>
              <a:rPr lang="en-US" sz="1050" b="1" dirty="0">
                <a:latin typeface="Bahnschrift Light" panose="020B0502040204020203" pitchFamily="34" charset="0"/>
              </a:rPr>
              <a:t>: </a:t>
            </a:r>
            <a:r>
              <a:rPr lang="en-US" sz="1050" b="1" dirty="0" err="1">
                <a:latin typeface="Bahnschrift Light" panose="020B0502040204020203" pitchFamily="34" charset="0"/>
              </a:rPr>
              <a:t>Govt+Qatar</a:t>
            </a:r>
            <a:r>
              <a:rPr lang="en-US" sz="1050" b="1" dirty="0">
                <a:latin typeface="Bahnschrift Light" panose="020B0502040204020203" pitchFamily="34" charset="0"/>
              </a:rPr>
              <a:t> equity)</a:t>
            </a:r>
          </a:p>
          <a:p>
            <a:pPr marL="0" lvl="1" algn="just" eaLnBrk="0" hangingPunc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76000"/>
            </a:pPr>
            <a:r>
              <a:rPr lang="en-US" sz="1050" b="1" dirty="0">
                <a:latin typeface="Bahnschrift Light" panose="020B0502040204020203" pitchFamily="34" charset="0"/>
              </a:rPr>
              <a:t>Alternative: Otherwise</a:t>
            </a:r>
          </a:p>
          <a:p>
            <a:pPr marL="0" lvl="1" algn="just" eaLnBrk="0" hangingPunc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76000"/>
            </a:pPr>
            <a:r>
              <a:rPr lang="en-US" sz="1200" b="1" dirty="0">
                <a:solidFill>
                  <a:srgbClr val="0070C0"/>
                </a:solidFill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Direct effect of private investment demand prominent</a:t>
            </a:r>
            <a:endParaRPr lang="en-US" sz="1200" b="1" dirty="0">
              <a:solidFill>
                <a:srgbClr val="0070C0"/>
              </a:solidFill>
              <a:effectLst/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0333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E4A37-87B1-13DB-8AF4-AABC8CB9A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CCDF71-49A1-8C35-641B-1EA80B42B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64C747-AB4B-B722-148A-D75342B74B7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124200" y="228600"/>
            <a:ext cx="6553200" cy="762000"/>
          </a:xfrm>
          <a:ln>
            <a:noFill/>
          </a:ln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008BCC"/>
                </a:solidFill>
                <a:latin typeface="Bahnschrift" panose="020B0502040204020203" pitchFamily="34" charset="0"/>
                <a:cs typeface="+mn-cs"/>
              </a:rPr>
              <a:t>II. </a:t>
            </a:r>
            <a:r>
              <a:rPr lang="en-US" sz="2400" dirty="0">
                <a:solidFill>
                  <a:srgbClr val="008BCC"/>
                </a:solidFill>
                <a:cs typeface="+mn-cs"/>
              </a:rPr>
              <a:t>Forecast results: Cyclical position (B.C)</a:t>
            </a:r>
            <a:endParaRPr lang="en-RW" sz="1600" b="1" dirty="0">
              <a:solidFill>
                <a:srgbClr val="10935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FFB217-3055-0851-C755-C75076B6073A}"/>
              </a:ext>
            </a:extLst>
          </p:cNvPr>
          <p:cNvSpPr txBox="1"/>
          <p:nvPr/>
        </p:nvSpPr>
        <p:spPr>
          <a:xfrm>
            <a:off x="381000" y="5181600"/>
            <a:ext cx="4572000" cy="969111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lvl="1" algn="just" eaLnBrk="0" hangingPunc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76000"/>
            </a:pPr>
            <a:r>
              <a:rPr lang="en-US" sz="1200" b="1" dirty="0">
                <a:latin typeface="Bahnschrift Light" panose="020B0502040204020203" pitchFamily="34" charset="0"/>
              </a:rPr>
              <a:t>Real GDP Growth Drivers: Final demand components</a:t>
            </a:r>
          </a:p>
          <a:p>
            <a:pPr marL="0" lvl="1" algn="just" eaLnBrk="0" hangingPunc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76000"/>
            </a:pPr>
            <a:r>
              <a:rPr lang="en-US" sz="1200" b="1" dirty="0">
                <a:solidFill>
                  <a:srgbClr val="0070C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Forecasted closing output gap from a positive investment and export demand cyclical position.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77FCA9-6DDF-B7D7-BB56-70853E8DB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118" y="990600"/>
            <a:ext cx="5257800" cy="3962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564D513-6A56-CC7A-9531-2F3BEA964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7941" y="1219200"/>
            <a:ext cx="2895600" cy="25527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D33B8C7-775C-CB95-CA25-981D44B409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0282" y="2272056"/>
            <a:ext cx="2895600" cy="22670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231A4A0-9024-CE17-12D9-8ABE807089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0531" y="3930591"/>
            <a:ext cx="2895600" cy="2267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567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93A2E-363D-1D2D-E820-83FCF32AA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8EA807-898D-90E8-2F12-03F3205FA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38AE88-1DDE-E633-6622-331867877A7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124200" y="304811"/>
            <a:ext cx="6870342" cy="50242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8BCC"/>
                </a:solidFill>
                <a:latin typeface="Bahnschrift" panose="020B0502040204020203" pitchFamily="34" charset="0"/>
              </a:rPr>
              <a:t>Discussions: responsive </a:t>
            </a:r>
            <a:r>
              <a:rPr lang="en-US" sz="2400" dirty="0">
                <a:solidFill>
                  <a:srgbClr val="008BCC"/>
                </a:solidFill>
              </a:rPr>
              <a:t>p</a:t>
            </a:r>
            <a:r>
              <a:rPr lang="en-US" sz="2400" b="1" dirty="0">
                <a:solidFill>
                  <a:srgbClr val="008BCC"/>
                </a:solidFill>
                <a:latin typeface="Bahnschrift" panose="020B0502040204020203" pitchFamily="34" charset="0"/>
              </a:rPr>
              <a:t>olicy variables </a:t>
            </a:r>
            <a:endParaRPr lang="en-AE" sz="2400" b="1" dirty="0">
              <a:solidFill>
                <a:srgbClr val="008BCC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405CCB6-3EAB-86B7-B9A0-996D215F8076}"/>
              </a:ext>
            </a:extLst>
          </p:cNvPr>
          <p:cNvSpPr txBox="1">
            <a:spLocks/>
          </p:cNvSpPr>
          <p:nvPr/>
        </p:nvSpPr>
        <p:spPr>
          <a:xfrm>
            <a:off x="308674" y="1260708"/>
            <a:ext cx="6092126" cy="750514"/>
          </a:xfrm>
          <a:prstGeom prst="rect">
            <a:avLst/>
          </a:prstGeom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§"/>
            </a:pPr>
            <a:endParaRPr lang="en-GB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203802-0949-98F8-C140-863EC1349BB6}"/>
              </a:ext>
            </a:extLst>
          </p:cNvPr>
          <p:cNvSpPr txBox="1"/>
          <p:nvPr/>
        </p:nvSpPr>
        <p:spPr>
          <a:xfrm>
            <a:off x="533400" y="1447800"/>
            <a:ext cx="5029200" cy="2850973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2"/>
                </a:solidFill>
                <a:latin typeface="Bahnschrift Light" panose="020B0502040204020203" pitchFamily="34" charset="0"/>
              </a:rPr>
              <a:t>Exchange rates: </a:t>
            </a:r>
            <a:r>
              <a:rPr lang="en-US" sz="1100" kern="1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From 2025, ER forecast to return to ER target path of deprecation of some 3% per year, in line with inflation differentials, and no need for further RER depreciation, other things being equal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chemeClr val="tx2"/>
                </a:solidFill>
                <a:latin typeface="Bahnschrift Light" panose="020B0502040204020203" pitchFamily="34" charset="0"/>
              </a:rPr>
              <a:t>Forecast reflects NBR’s rule of return to ER path that first corrects for RER overvaluation, then for inflation differential with trading partners (+3% </a:t>
            </a:r>
            <a:r>
              <a:rPr lang="en-US" sz="1100" dirty="0" err="1">
                <a:solidFill>
                  <a:schemeClr val="tx2"/>
                </a:solidFill>
                <a:latin typeface="Bahnschrift Light" panose="020B0502040204020203" pitchFamily="34" charset="0"/>
              </a:rPr>
              <a:t>py</a:t>
            </a:r>
            <a:r>
              <a:rPr lang="en-US" sz="1100" dirty="0">
                <a:solidFill>
                  <a:schemeClr val="tx2"/>
                </a:solidFill>
                <a:latin typeface="Bahnschrift Light" panose="020B0502040204020203" pitchFamily="34" charset="0"/>
              </a:rPr>
              <a:t>). 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chemeClr val="tx2"/>
                </a:solidFill>
                <a:latin typeface="Bahnschrift Light" panose="020B0502040204020203" pitchFamily="34" charset="0"/>
              </a:rPr>
              <a:t>2022-23 RER overvaluation (due to the inflation surge) was more than corrected in 2024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100" dirty="0">
                <a:latin typeface="Bahnschrift Light" panose="020B0502040204020203" pitchFamily="34" charset="0"/>
              </a:rPr>
              <a:t>leading to some undervaluation in the course of 2024 and beyond, with positive impact on net exports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002060"/>
                </a:solidFill>
                <a:latin typeface="Bahnschrift Light" panose="020B0502040204020203" pitchFamily="34" charset="0"/>
              </a:rPr>
              <a:t>ER flexibility: no need for further policy/program exogenous corrections</a:t>
            </a:r>
            <a:endParaRPr lang="en-US" sz="1100" dirty="0">
              <a:solidFill>
                <a:schemeClr val="tx2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E1333C-3A83-53A3-20A1-53262D0F4599}"/>
              </a:ext>
            </a:extLst>
          </p:cNvPr>
          <p:cNvSpPr txBox="1"/>
          <p:nvPr/>
        </p:nvSpPr>
        <p:spPr>
          <a:xfrm>
            <a:off x="533400" y="4485865"/>
            <a:ext cx="4791884" cy="1559017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latin typeface="Bahnschrift Light" panose="020B0502040204020203" pitchFamily="34" charset="0"/>
              </a:rPr>
              <a:t>Real interest rate:</a:t>
            </a:r>
          </a:p>
          <a:p>
            <a:pPr marL="285750" lvl="1" indent="-28575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200" kern="1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Real interest rates return to normal ending their demand-stimulating effect in past years</a:t>
            </a:r>
          </a:p>
          <a:p>
            <a:pPr marL="285750" lvl="1" indent="-28575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200" kern="100" dirty="0">
                <a:latin typeface="Bahnschrift Light" panose="020B0502040204020203" pitchFamily="34" charset="0"/>
                <a:cs typeface="Times New Roman" panose="02020603050405020304" pitchFamily="18" charset="0"/>
              </a:rPr>
              <a:t>Real lending rates mirror real policy rate through the transmission mechanism</a:t>
            </a:r>
          </a:p>
          <a:p>
            <a:pPr>
              <a:lnSpc>
                <a:spcPct val="150000"/>
              </a:lnSpc>
            </a:pPr>
            <a:endParaRPr lang="en-US" sz="1200" b="1" dirty="0">
              <a:latin typeface="Bahnschrift Light" panose="020B050204020402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6C164EC-7FF9-A1BD-21C0-EC1F9BA10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169" y="1368604"/>
            <a:ext cx="2908291" cy="2411106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4B0CA60-4317-0F2F-9C62-08B38E021C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0" y="1368603"/>
            <a:ext cx="3276600" cy="2411107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688DCE2-C27D-EBBD-9B08-D46ADFFFB7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3169" y="3856859"/>
            <a:ext cx="2908291" cy="2499492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7CC0064-61C1-8EF2-EF32-F65430399B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2601" y="3844691"/>
            <a:ext cx="3352800" cy="2511658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337893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29282-7046-C4D8-0D18-7B7D8433A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75EB00-211B-0E7C-613E-8B4B3416D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61E4B2-716E-3D87-F285-17B209CE8B4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76600" y="441325"/>
            <a:ext cx="5562600" cy="396875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GB" b="1" dirty="0">
                <a:solidFill>
                  <a:srgbClr val="008BCC"/>
                </a:solidFill>
                <a:latin typeface="Bahnschrift" panose="020B0502040204020203" pitchFamily="34" charset="0"/>
                <a:cs typeface="+mn-cs"/>
              </a:rPr>
              <a:t>VIII. Policies driving forecasts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A66A508-DB28-B023-DC0E-D21FBF74CEDE}"/>
              </a:ext>
            </a:extLst>
          </p:cNvPr>
          <p:cNvSpPr txBox="1">
            <a:spLocks/>
          </p:cNvSpPr>
          <p:nvPr/>
        </p:nvSpPr>
        <p:spPr>
          <a:xfrm>
            <a:off x="381000" y="1143000"/>
            <a:ext cx="11201400" cy="53340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GB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8F1E6C-DA97-4A9D-685D-B846CBEB5751}"/>
              </a:ext>
            </a:extLst>
          </p:cNvPr>
          <p:cNvSpPr txBox="1"/>
          <p:nvPr/>
        </p:nvSpPr>
        <p:spPr>
          <a:xfrm>
            <a:off x="609600" y="1219200"/>
            <a:ext cx="10896600" cy="5445080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kern="100" dirty="0">
                <a:solidFill>
                  <a:srgbClr val="109351"/>
                </a:solidFill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 Output growth:</a:t>
            </a:r>
            <a:endParaRPr lang="en-US" sz="1400" b="1" kern="100" dirty="0">
              <a:solidFill>
                <a:srgbClr val="109351"/>
              </a:solidFill>
              <a:latin typeface="Bahnschrif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800" b="1" kern="100" dirty="0">
                <a:solidFill>
                  <a:prstClr val="black"/>
                </a:solidFill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</a:t>
            </a:r>
            <a:r>
              <a:rPr kumimoji="0" lang="en-US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lowdown in 2026-27: 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kumimoji="0" lang="en-US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Fiscal policy: </a:t>
            </a:r>
            <a:r>
              <a:rPr lang="en-US" sz="1800" b="1" kern="100" dirty="0">
                <a:solidFill>
                  <a:prstClr val="black"/>
                </a:solidFill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contraction</a:t>
            </a:r>
            <a:r>
              <a:rPr kumimoji="0" lang="en-US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fiscal </a:t>
            </a:r>
            <a:r>
              <a:rPr lang="en-US" sz="1800" b="1" kern="100" dirty="0">
                <a:solidFill>
                  <a:prstClr val="black"/>
                </a:solidFill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policy—</a:t>
            </a:r>
            <a:r>
              <a:rPr lang="en-US" sz="1800" kern="100" dirty="0">
                <a:solidFill>
                  <a:prstClr val="black"/>
                </a:solidFill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easing</a:t>
            </a: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fiscal consolidation of demand (Capex) to </a:t>
            </a:r>
            <a:r>
              <a:rPr lang="en-US" sz="1800" kern="100" dirty="0">
                <a:solidFill>
                  <a:prstClr val="black"/>
                </a:solidFill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accommodate </a:t>
            </a:r>
            <a:r>
              <a:rPr lang="en-US" sz="1800" kern="100" dirty="0" err="1">
                <a:solidFill>
                  <a:prstClr val="black"/>
                </a:solidFill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Bugesera</a:t>
            </a:r>
            <a:r>
              <a:rPr lang="en-US" sz="1800" kern="100" dirty="0">
                <a:solidFill>
                  <a:prstClr val="black"/>
                </a:solidFill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(i.e., NL/Govt equity)</a:t>
            </a:r>
          </a:p>
          <a:p>
            <a:pPr marL="1085850" lvl="2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direct positive fiscal impulse on private demand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1800" b="1" kern="100" dirty="0">
                <a:solidFill>
                  <a:prstClr val="black"/>
                </a:solidFill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Monetary policy: T</a:t>
            </a:r>
            <a:r>
              <a:rPr lang="en-US" sz="1800" kern="100" dirty="0">
                <a:solidFill>
                  <a:prstClr val="black"/>
                </a:solidFill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ight Real interest rates contracting demand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kumimoji="0" lang="en-US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Exchange rate: </a:t>
            </a: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Further RER depreciation (moderately overvalued) to affect net exports.</a:t>
            </a:r>
            <a:endParaRPr lang="en-US" sz="1800" kern="100" noProof="0" dirty="0">
              <a:solidFill>
                <a:prstClr val="black"/>
              </a:solidFill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defRPr/>
            </a:pPr>
            <a:endParaRPr kumimoji="0" lang="en-RW" sz="1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b="1" kern="100" dirty="0"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</a:t>
            </a:r>
            <a:r>
              <a:rPr lang="en-US" sz="1600" b="1" kern="100" dirty="0">
                <a:effectLst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atch up in 202</a:t>
            </a:r>
            <a:r>
              <a:rPr lang="en-US" sz="1600" b="1" kern="100" dirty="0"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8</a:t>
            </a:r>
            <a:r>
              <a:rPr lang="en-US" sz="1600" b="1" kern="100" dirty="0">
                <a:effectLst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-2</a:t>
            </a:r>
            <a:r>
              <a:rPr lang="en-US" sz="1600" b="1" kern="100" dirty="0"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030</a:t>
            </a:r>
            <a:r>
              <a:rPr lang="en-US" sz="1600" b="1" kern="100" dirty="0">
                <a:effectLst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b="1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Fiscal policy: re-surfaced </a:t>
            </a:r>
            <a:r>
              <a:rPr lang="en-US" sz="1800" kern="100" dirty="0"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expansionary</a:t>
            </a:r>
            <a:r>
              <a:rPr lang="en-US" sz="18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fiscal demand—end of fiscal consolidation (Govt demand pick up)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b="1" kern="100" dirty="0"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Monetary policy: </a:t>
            </a:r>
            <a:r>
              <a:rPr lang="en-US" sz="1800" kern="100" dirty="0"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Expansionary Real Interest Rate 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b="1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Exchange rate: Flexible uncontrolled exchange rate (less </a:t>
            </a:r>
            <a:r>
              <a:rPr lang="en-US" sz="18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overvalued</a:t>
            </a:r>
            <a:r>
              <a:rPr lang="en-US" sz="1800" kern="100" dirty="0"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en-US" sz="1800" b="1" kern="100" dirty="0">
              <a:effectLst/>
              <a:latin typeface="Bahnschrif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5382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438400" y="647650"/>
            <a:ext cx="8839200" cy="549275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GB" b="1" dirty="0">
                <a:solidFill>
                  <a:srgbClr val="008BCC"/>
                </a:solidFill>
                <a:latin typeface="Bahnschrift" panose="020B0502040204020203" pitchFamily="34" charset="0"/>
                <a:cs typeface="+mn-cs"/>
              </a:rPr>
              <a:t>VII. Forecast evaluation (latest vs. new forecast)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381000" y="1143000"/>
            <a:ext cx="11201400" cy="53340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GB" sz="1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C14A58F-5106-C8F6-D986-844BA0772EDF}"/>
              </a:ext>
            </a:extLst>
          </p:cNvPr>
          <p:cNvSpPr txBox="1">
            <a:spLocks/>
          </p:cNvSpPr>
          <p:nvPr/>
        </p:nvSpPr>
        <p:spPr>
          <a:xfrm>
            <a:off x="2438400" y="1182012"/>
            <a:ext cx="7315200" cy="396874"/>
          </a:xfrm>
          <a:prstGeom prst="rect">
            <a:avLst/>
          </a:prstGeom>
        </p:spPr>
        <p:txBody>
          <a:bodyPr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+mn-lt"/>
                <a:ea typeface="ＭＳ Ｐゴシック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GB" sz="2400" b="1" dirty="0">
                <a:solidFill>
                  <a:srgbClr val="109351"/>
                </a:solidFill>
                <a:latin typeface="Bahnschrift" panose="020B0502040204020203" pitchFamily="34" charset="0"/>
              </a:rPr>
              <a:t>Main indicators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C77D58-4BE0-A8FA-C254-F68E0BEB7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1617898"/>
            <a:ext cx="7934733" cy="4792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7284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65"/>
          <p:cNvSpPr>
            <a:spLocks noChangeArrowheads="1"/>
          </p:cNvSpPr>
          <p:nvPr/>
        </p:nvSpPr>
        <p:spPr bwMode="auto">
          <a:xfrm>
            <a:off x="1524001" y="4868025"/>
            <a:ext cx="184731" cy="600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br>
              <a:rPr lang="en-GB" sz="900" dirty="0"/>
            </a:b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1752600" y="1143001"/>
            <a:ext cx="8458200" cy="4078039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endParaRPr lang="en-US" sz="3300" b="1" dirty="0">
              <a:solidFill>
                <a:schemeClr val="accent6">
                  <a:lumMod val="50000"/>
                </a:schemeClr>
              </a:solidFill>
              <a:latin typeface="Bookman Old Style" pitchFamily="18" charset="0"/>
              <a:cs typeface="Arial" pitchFamily="34" charset="0"/>
            </a:endParaRPr>
          </a:p>
          <a:p>
            <a:pPr algn="ctr">
              <a:defRPr/>
            </a:pPr>
            <a:endParaRPr lang="en-GB" sz="40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>
              <a:defRPr/>
            </a:pPr>
            <a:r>
              <a:rPr lang="en-GB" sz="3200" b="1" dirty="0">
                <a:solidFill>
                  <a:srgbClr val="008BCC"/>
                </a:solidFill>
                <a:latin typeface="+mn-lt"/>
              </a:rPr>
              <a:t>THANK YOU</a:t>
            </a:r>
          </a:p>
          <a:p>
            <a:pPr algn="ctr">
              <a:defRPr/>
            </a:pPr>
            <a:endParaRPr lang="en-GB" sz="32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>
              <a:defRPr/>
            </a:pPr>
            <a:endParaRPr lang="en-US" sz="3600" b="1" dirty="0">
              <a:latin typeface="Calibri" pitchFamily="34" charset="0"/>
              <a:cs typeface="Arial" pitchFamily="34" charset="0"/>
            </a:endParaRPr>
          </a:p>
          <a:p>
            <a:pPr algn="ctr">
              <a:defRPr/>
            </a:pPr>
            <a:endParaRPr lang="en-US" sz="4000" b="1" dirty="0">
              <a:solidFill>
                <a:schemeClr val="accent2">
                  <a:lumMod val="50000"/>
                </a:schemeClr>
              </a:solidFill>
              <a:latin typeface="Calibri" pitchFamily="34" charset="0"/>
              <a:cs typeface="Arial" pitchFamily="34" charset="0"/>
            </a:endParaRPr>
          </a:p>
          <a:p>
            <a:pPr algn="r">
              <a:defRPr/>
            </a:pPr>
            <a:endParaRPr lang="en-GB" i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defRPr/>
            </a:pPr>
            <a:endParaRPr lang="en-US" sz="2200" b="1" dirty="0">
              <a:latin typeface="Calibri" pitchFamily="34" charset="0"/>
              <a:cs typeface="Arial" pitchFamily="3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 rot="10800000">
            <a:off x="2362200" y="3048000"/>
            <a:ext cx="7543800" cy="1588"/>
          </a:xfrm>
          <a:prstGeom prst="line">
            <a:avLst/>
          </a:prstGeom>
          <a:ln w="38100">
            <a:solidFill>
              <a:srgbClr val="1093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10168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2_Origin">
  <a:themeElements>
    <a:clrScheme name="SPU colour scheme">
      <a:dk1>
        <a:sysClr val="windowText" lastClr="000000"/>
      </a:dk1>
      <a:lt1>
        <a:srgbClr val="FFFFFF"/>
      </a:lt1>
      <a:dk2>
        <a:srgbClr val="464653"/>
      </a:dk2>
      <a:lt2>
        <a:srgbClr val="DDE9EC"/>
      </a:lt2>
      <a:accent1>
        <a:srgbClr val="00B0F0"/>
      </a:accent1>
      <a:accent2>
        <a:srgbClr val="29C000"/>
      </a:accent2>
      <a:accent3>
        <a:srgbClr val="FFFF00"/>
      </a:accent3>
      <a:accent4>
        <a:srgbClr val="192EF7"/>
      </a:accent4>
      <a:accent5>
        <a:srgbClr val="F6C120"/>
      </a:accent5>
      <a:accent6>
        <a:srgbClr val="638BAD"/>
      </a:accent6>
      <a:hlink>
        <a:srgbClr val="518592"/>
      </a:hlink>
      <a:folHlink>
        <a:srgbClr val="7F7F7F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rigin">
  <a:themeElements>
    <a:clrScheme name="SPU colour scheme">
      <a:dk1>
        <a:sysClr val="windowText" lastClr="000000"/>
      </a:dk1>
      <a:lt1>
        <a:srgbClr val="FFFFFF"/>
      </a:lt1>
      <a:dk2>
        <a:srgbClr val="464653"/>
      </a:dk2>
      <a:lt2>
        <a:srgbClr val="DDE9EC"/>
      </a:lt2>
      <a:accent1>
        <a:srgbClr val="00B0F0"/>
      </a:accent1>
      <a:accent2>
        <a:srgbClr val="29C000"/>
      </a:accent2>
      <a:accent3>
        <a:srgbClr val="FFFF00"/>
      </a:accent3>
      <a:accent4>
        <a:srgbClr val="192EF7"/>
      </a:accent4>
      <a:accent5>
        <a:srgbClr val="F6C120"/>
      </a:accent5>
      <a:accent6>
        <a:srgbClr val="638BAD"/>
      </a:accent6>
      <a:hlink>
        <a:srgbClr val="518592"/>
      </a:hlink>
      <a:folHlink>
        <a:srgbClr val="7F7F7F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58349</TotalTime>
  <Words>1455</Words>
  <Application>Microsoft Office PowerPoint</Application>
  <PresentationFormat>Widescreen</PresentationFormat>
  <Paragraphs>145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31" baseType="lpstr">
      <vt:lpstr>ＭＳ Ｐゴシック</vt:lpstr>
      <vt:lpstr>Arial</vt:lpstr>
      <vt:lpstr>Bahnschrift</vt:lpstr>
      <vt:lpstr>Bahnschrift Light</vt:lpstr>
      <vt:lpstr>Bahnschrift Light Condensed</vt:lpstr>
      <vt:lpstr>Bahnschrift Light SemiCondensed</vt:lpstr>
      <vt:lpstr>Bahnschrift SemiLight</vt:lpstr>
      <vt:lpstr>Bookman Old Style</vt:lpstr>
      <vt:lpstr>Calibri</vt:lpstr>
      <vt:lpstr>Courier New</vt:lpstr>
      <vt:lpstr>Gill Sans MT</vt:lpstr>
      <vt:lpstr>Symbol</vt:lpstr>
      <vt:lpstr>Wingdings</vt:lpstr>
      <vt:lpstr>Wingdings 3</vt:lpstr>
      <vt:lpstr>2_Origin</vt:lpstr>
      <vt:lpstr>Office Theme</vt:lpstr>
      <vt:lpstr>3_Origin</vt:lpstr>
      <vt:lpstr>PowerPoint Presentation</vt:lpstr>
      <vt:lpstr>Outline/contents</vt:lpstr>
      <vt:lpstr>Acronyms</vt:lpstr>
      <vt:lpstr>Glossary of key terms</vt:lpstr>
      <vt:lpstr>I. Rationale of outlook &amp; underlying QMFM model</vt:lpstr>
      <vt:lpstr>II. Data treatment &amp; Settings                        </vt:lpstr>
      <vt:lpstr>II. Main assumptions/tunes underlying forecasts                        </vt:lpstr>
      <vt:lpstr>II. Forecast results: Baseline                                                     </vt:lpstr>
      <vt:lpstr>II. Forecast results: Alternative                                                    </vt:lpstr>
      <vt:lpstr>II. Forecast results: Cyclical position (B.C)</vt:lpstr>
      <vt:lpstr>Discussions: responsive policy variables </vt:lpstr>
      <vt:lpstr>VIII. Policies driving forecasts</vt:lpstr>
      <vt:lpstr>VII. Forecast evaluation (latest vs. new forecast)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Economic Presentation</dc:title>
  <dc:creator>leorugwa</dc:creator>
  <cp:lastModifiedBy>Evariste MANIRUMVA</cp:lastModifiedBy>
  <cp:revision>1849</cp:revision>
  <cp:lastPrinted>2023-06-23T12:26:08Z</cp:lastPrinted>
  <dcterms:created xsi:type="dcterms:W3CDTF">2011-04-18T20:01:25Z</dcterms:created>
  <dcterms:modified xsi:type="dcterms:W3CDTF">2025-11-17T08:15:22Z</dcterms:modified>
</cp:coreProperties>
</file>