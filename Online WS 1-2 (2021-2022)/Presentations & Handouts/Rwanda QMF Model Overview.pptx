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82" r:id="rId1"/>
    <p:sldMasterId id="2147484200" r:id="rId2"/>
  </p:sldMasterIdLst>
  <p:notesMasterIdLst>
    <p:notesMasterId r:id="rId12"/>
  </p:notesMasterIdLst>
  <p:handoutMasterIdLst>
    <p:handoutMasterId r:id="rId13"/>
  </p:handoutMasterIdLst>
  <p:sldIdLst>
    <p:sldId id="804" r:id="rId3"/>
    <p:sldId id="830" r:id="rId4"/>
    <p:sldId id="908" r:id="rId5"/>
    <p:sldId id="909" r:id="rId6"/>
    <p:sldId id="919" r:id="rId7"/>
    <p:sldId id="918" r:id="rId8"/>
    <p:sldId id="911" r:id="rId9"/>
    <p:sldId id="920" r:id="rId10"/>
    <p:sldId id="877" r:id="rId11"/>
  </p:sldIdLst>
  <p:sldSz cx="10972800" cy="6858000"/>
  <p:notesSz cx="9928225" cy="67976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4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ain NGENDA" initials="AN" lastIdx="1" clrIdx="0"/>
  <p:cmAuthor id="2" name="Uzziel Ndagijimana" initials="" lastIdx="3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5050"/>
    <a:srgbClr val="FF3300"/>
    <a:srgbClr val="FF90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337" autoAdjust="0"/>
  </p:normalViewPr>
  <p:slideViewPr>
    <p:cSldViewPr snapToGrid="0" snapToObjects="1">
      <p:cViewPr varScale="1">
        <p:scale>
          <a:sx n="109" d="100"/>
          <a:sy n="109" d="100"/>
        </p:scale>
        <p:origin x="1086" y="114"/>
      </p:cViewPr>
      <p:guideLst>
        <p:guide orient="horz" pos="2160"/>
        <p:guide pos="34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331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594" y="0"/>
            <a:ext cx="430331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E2CDF-05C7-4C8C-955A-F8C6FF41FCA6}" type="datetimeFigureOut">
              <a:rPr lang="en-US" smtClean="0"/>
              <a:t>6/8/2022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30331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594" y="6456699"/>
            <a:ext cx="430331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EF317-109B-497B-863B-087168C06F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4653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3313" cy="3391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594" y="1"/>
            <a:ext cx="4303313" cy="3391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88F4D25-77A7-48AD-BC5A-53DE6F54F54C}" type="datetimeFigureOut">
              <a:rPr lang="en-US"/>
              <a:pPr>
                <a:defRPr/>
              </a:pPr>
              <a:t>6/8/2022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509588"/>
            <a:ext cx="407987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361" y="3229277"/>
            <a:ext cx="7943507" cy="305862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7465"/>
            <a:ext cx="4303313" cy="3391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594" y="6457465"/>
            <a:ext cx="4303313" cy="3391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DC90D89-9B74-4423-8A64-93CC695AF7C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60309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0972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108960" y="1371600"/>
            <a:ext cx="749808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108960" y="1371600"/>
            <a:ext cx="27432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474720" y="1371600"/>
            <a:ext cx="713232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257175" indent="-257175" fontAlgn="auto">
              <a:spcBef>
                <a:spcPts val="450"/>
              </a:spcBef>
              <a:spcAft>
                <a:spcPts val="450"/>
              </a:spcAft>
              <a:buFont typeface="Arial" pitchFamily="34" charset="0"/>
              <a:buNone/>
              <a:defRPr/>
            </a:pPr>
            <a:r>
              <a:rPr lang="en-US" sz="1950" b="1" spc="113" dirty="0">
                <a:solidFill>
                  <a:prstClr val="black"/>
                </a:solidFill>
                <a:latin typeface="Gill Sans MT"/>
                <a:ea typeface="Times New Roman"/>
                <a:cs typeface="Arial" charset="0"/>
              </a:rPr>
              <a:t>Rwanda CAADP Post Compact</a:t>
            </a:r>
          </a:p>
          <a:p>
            <a:pPr marL="257175" indent="-257175" fontAlgn="auto">
              <a:spcBef>
                <a:spcPts val="450"/>
              </a:spcBef>
              <a:spcAft>
                <a:spcPts val="450"/>
              </a:spcAft>
              <a:buFont typeface="Arial" pitchFamily="34" charset="0"/>
              <a:buNone/>
              <a:defRPr/>
            </a:pPr>
            <a:r>
              <a:rPr lang="en-US" sz="1950" b="1" spc="113" dirty="0">
                <a:solidFill>
                  <a:prstClr val="black"/>
                </a:solidFill>
                <a:latin typeface="Gill Sans MT"/>
                <a:ea typeface="Times New Roman"/>
                <a:cs typeface="Arial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274320" y="1350966"/>
            <a:ext cx="2651760" cy="238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474720" y="6248400"/>
            <a:ext cx="7040880" cy="609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fontAlgn="auto">
              <a:spcBef>
                <a:spcPts val="450"/>
              </a:spcBef>
              <a:spcAft>
                <a:spcPts val="0"/>
              </a:spcAft>
              <a:buClr>
                <a:srgbClr val="00B0F0"/>
              </a:buClr>
              <a:buSzPct val="76000"/>
              <a:buFont typeface="Symbol"/>
              <a:buNone/>
              <a:defRPr/>
            </a:pPr>
            <a:endParaRPr lang="en-US" sz="788" dirty="0">
              <a:solidFill>
                <a:srgbClr val="DDE9EC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108960" y="4191000"/>
            <a:ext cx="27432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105151" y="4191000"/>
            <a:ext cx="750951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474722" y="4267200"/>
            <a:ext cx="704087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18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474722" y="4724400"/>
            <a:ext cx="7040879" cy="457200"/>
          </a:xfrm>
        </p:spPr>
        <p:txBody>
          <a:bodyPr/>
          <a:lstStyle>
            <a:lvl1pPr marL="0" indent="0" algn="r">
              <a:buNone/>
              <a:defRPr sz="15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201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463042" y="1066800"/>
            <a:ext cx="9216390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n>
                <a:solidFill>
                  <a:prstClr val="black"/>
                </a:solidFill>
              </a:ln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0" y="228600"/>
            <a:ext cx="9235440" cy="838200"/>
          </a:xfrm>
          <a:prstGeom prst="rect">
            <a:avLst/>
          </a:prstGeom>
        </p:spPr>
        <p:txBody>
          <a:bodyPr anchor="b" anchorCtr="0"/>
          <a:lstStyle>
            <a:lvl1pPr>
              <a:defRPr sz="21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412480" y="6416678"/>
            <a:ext cx="237744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750">
                <a:solidFill>
                  <a:srgbClr val="464653"/>
                </a:solidFill>
                <a:latin typeface="Gill Sans MT" panose="020B0502020104020203" pitchFamily="34" charset="0"/>
              </a:defRPr>
            </a:lvl1pPr>
          </a:lstStyle>
          <a:p>
            <a:pPr>
              <a:defRPr/>
            </a:pPr>
            <a:fld id="{F5A34D9F-AF06-4FA0-A01F-E8CCEC6E59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5886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749040" y="6248400"/>
            <a:ext cx="347472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863840" y="6248400"/>
            <a:ext cx="256032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A83A67F9-4A9C-47C0-84E9-9A2DE18F929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548640" y="6245225"/>
            <a:ext cx="256032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745DBCC1-9433-4F5E-ACC0-CF6DCC56E8A8}" type="datetime1">
              <a:rPr lang="en-GB"/>
              <a:pPr>
                <a:defRPr/>
              </a:pPr>
              <a:t>08/06/2022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0332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3816" y="6092828"/>
            <a:ext cx="10972800" cy="765175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89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50" b="1" dirty="0">
                <a:solidFill>
                  <a:srgbClr val="FFFFFF"/>
                </a:solidFill>
              </a:rPr>
              <a:t>Self-Reliance</a:t>
            </a:r>
          </a:p>
        </p:txBody>
      </p:sp>
      <p:pic>
        <p:nvPicPr>
          <p:cNvPr id="5" name="Picture 1" descr="armoiri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215266" y="188916"/>
            <a:ext cx="1042034" cy="9366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 userDrawn="1"/>
        </p:nvCxnSpPr>
        <p:spPr>
          <a:xfrm>
            <a:off x="1554482" y="981075"/>
            <a:ext cx="9462136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99147" y="260648"/>
            <a:ext cx="8739782" cy="720080"/>
          </a:xfrm>
          <a:prstGeom prst="rect">
            <a:avLst/>
          </a:prstGeom>
        </p:spPr>
        <p:txBody>
          <a:bodyPr/>
          <a:lstStyle>
            <a:lvl1pPr>
              <a:defRPr sz="3300" b="1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61054" y="1340772"/>
            <a:ext cx="9764284" cy="4536503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800"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724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4" descr="Coat_of_arm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33425" y="606425"/>
            <a:ext cx="1647826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7"/>
          <p:cNvSpPr txBox="1">
            <a:spLocks noChangeArrowheads="1"/>
          </p:cNvSpPr>
          <p:nvPr userDrawn="1"/>
        </p:nvSpPr>
        <p:spPr bwMode="gray">
          <a:xfrm>
            <a:off x="1557337" y="2324541"/>
            <a:ext cx="9144000" cy="14568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algn="ctr"/>
            <a:r>
              <a:rPr lang="en-US" altLang="en-US" sz="2333" dirty="0">
                <a:solidFill>
                  <a:srgbClr val="192EF7">
                    <a:lumMod val="75000"/>
                  </a:srgbClr>
                </a:solidFill>
              </a:rPr>
              <a:t>	</a:t>
            </a:r>
          </a:p>
          <a:p>
            <a:pPr algn="ctr"/>
            <a:r>
              <a:rPr lang="en-US" altLang="en-US" sz="2667" dirty="0">
                <a:solidFill>
                  <a:srgbClr val="192EF7">
                    <a:lumMod val="75000"/>
                  </a:srgbClr>
                </a:solidFill>
              </a:rPr>
              <a:t>RWANDA’S VISION 2020 - EDPRS2</a:t>
            </a:r>
          </a:p>
          <a:p>
            <a:pPr algn="ctr"/>
            <a:r>
              <a:rPr lang="en-US" altLang="en-US" sz="2667" dirty="0">
                <a:solidFill>
                  <a:srgbClr val="192EF7">
                    <a:lumMod val="75000"/>
                  </a:srgbClr>
                </a:solidFill>
              </a:rPr>
              <a:t>And Post-2020</a:t>
            </a:r>
            <a:br>
              <a:rPr lang="en-GB" altLang="en-US" sz="2000" dirty="0">
                <a:solidFill>
                  <a:srgbClr val="FFFFFF"/>
                </a:solidFill>
                <a:ea typeface="ヒラギノ角ゴ Pro W3"/>
                <a:cs typeface="ヒラギノ角ゴ Pro W3"/>
              </a:rPr>
            </a:br>
            <a:r>
              <a:rPr lang="en-GB" altLang="en-US" dirty="0">
                <a:solidFill>
                  <a:srgbClr val="FFFFFF"/>
                </a:solidFill>
                <a:ea typeface="ヒラギノ角ゴ Pro W3"/>
                <a:cs typeface="ヒラギノ角ゴ Pro W3"/>
              </a:rPr>
              <a:t>A Model of Reform-Driven, Market-Based, Sustainable Development </a:t>
            </a:r>
            <a:endParaRPr lang="en-US" altLang="en-US" sz="1667" dirty="0">
              <a:solidFill>
                <a:srgbClr val="FFFFFF"/>
              </a:solidFill>
              <a:ea typeface="ヒラギノ角ゴ Pro W3"/>
              <a:cs typeface="ヒラギノ角ゴ Pro W3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 userDrawn="1"/>
        </p:nvSpPr>
        <p:spPr bwMode="gray">
          <a:xfrm>
            <a:off x="85726" y="6402451"/>
            <a:ext cx="1471612" cy="45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altLang="en-US" sz="1167" b="1" dirty="0">
                <a:solidFill>
                  <a:prstClr val="black"/>
                </a:solidFill>
                <a:ea typeface="ヒラギノ角ゴ Pro W3"/>
              </a:rPr>
              <a:t>25</a:t>
            </a:r>
            <a:r>
              <a:rPr lang="en-US" altLang="en-US" sz="1167" b="1" baseline="30000" dirty="0">
                <a:solidFill>
                  <a:prstClr val="black"/>
                </a:solidFill>
                <a:ea typeface="ヒラギノ角ゴ Pro W3"/>
              </a:rPr>
              <a:t>th</a:t>
            </a:r>
            <a:r>
              <a:rPr lang="en-US" altLang="en-US" sz="1167" b="1" dirty="0">
                <a:solidFill>
                  <a:prstClr val="black"/>
                </a:solidFill>
                <a:ea typeface="ヒラギノ角ゴ Pro W3"/>
              </a:rPr>
              <a:t> April 2017  </a:t>
            </a:r>
            <a:r>
              <a:rPr lang="en-US" altLang="en-US" dirty="0">
                <a:solidFill>
                  <a:srgbClr val="FFFFFF"/>
                </a:solidFill>
                <a:ea typeface="ヒラギノ角ゴ Pro W3"/>
                <a:cs typeface="ヒラギノ角ゴ Pro W3"/>
              </a:rPr>
              <a:t>2017</a:t>
            </a:r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gray">
          <a:xfrm>
            <a:off x="236538" y="4521202"/>
            <a:ext cx="9601200" cy="25654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1531876">
              <a:spcBef>
                <a:spcPct val="75000"/>
              </a:spcBef>
              <a:buClr>
                <a:srgbClr val="97999B"/>
              </a:buClr>
              <a:buFont typeface="Wingdings 2" pitchFamily="18" charset="2"/>
              <a:buNone/>
            </a:pPr>
            <a:r>
              <a:rPr lang="en-US" altLang="en-US" sz="1667" dirty="0">
                <a:solidFill>
                  <a:prstClr val="black"/>
                </a:solidFill>
                <a:ea typeface="ヒラギノ角ゴ Pro W3"/>
                <a:cs typeface="ヒラギノ角ゴ Pro W3"/>
              </a:rPr>
              <a:t>NIGERIAN DELEGATION PRESENTATION</a:t>
            </a: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gray">
          <a:xfrm>
            <a:off x="236538" y="5321382"/>
            <a:ext cx="9601200" cy="56438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indent="-1377102">
              <a:lnSpc>
                <a:spcPct val="110000"/>
              </a:lnSpc>
              <a:buClr>
                <a:srgbClr val="29C000"/>
              </a:buClr>
            </a:pPr>
            <a:r>
              <a:rPr lang="en-US" altLang="en-US" sz="1667" dirty="0">
                <a:solidFill>
                  <a:prstClr val="black"/>
                </a:solidFill>
              </a:rPr>
              <a:t>						</a:t>
            </a:r>
            <a:r>
              <a:rPr lang="en-US" altLang="en-US" sz="1667" b="1" dirty="0">
                <a:solidFill>
                  <a:prstClr val="black"/>
                </a:solidFill>
              </a:rPr>
              <a:t>Claver GATETE</a:t>
            </a:r>
          </a:p>
          <a:p>
            <a:pPr indent="-1377102">
              <a:lnSpc>
                <a:spcPct val="110000"/>
              </a:lnSpc>
              <a:buClr>
                <a:srgbClr val="29C000"/>
              </a:buClr>
            </a:pPr>
            <a:r>
              <a:rPr lang="en-US" altLang="en-US" sz="1667" b="1" dirty="0">
                <a:solidFill>
                  <a:prstClr val="black"/>
                </a:solidFill>
              </a:rPr>
              <a:t>				Minister of Finance and Economic Planning </a:t>
            </a:r>
          </a:p>
        </p:txBody>
      </p:sp>
    </p:spTree>
    <p:extLst>
      <p:ext uri="{BB962C8B-B14F-4D97-AF65-F5344CB8AC3E}">
        <p14:creationId xmlns:p14="http://schemas.microsoft.com/office/powerpoint/2010/main" val="3677353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0" y="869442"/>
            <a:ext cx="10972802" cy="0"/>
          </a:xfrm>
          <a:prstGeom prst="line">
            <a:avLst/>
          </a:prstGeom>
          <a:ln w="6350" cmpd="sng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99148" y="167884"/>
            <a:ext cx="7024651" cy="72008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61057" y="1340776"/>
            <a:ext cx="9764284" cy="4268393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buClr>
                <a:schemeClr val="accent2"/>
              </a:buClr>
              <a:defRPr sz="1500" b="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buClrTx/>
              <a:defRPr sz="1500" b="0">
                <a:solidFill>
                  <a:srgbClr val="29C000"/>
                </a:solidFill>
                <a:latin typeface="Arial"/>
                <a:cs typeface="Arial"/>
              </a:defRPr>
            </a:lvl2pPr>
            <a:lvl3pPr>
              <a:buClrTx/>
              <a:defRPr sz="1333" b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defRPr>
            </a:lvl3pPr>
            <a:lvl4pPr>
              <a:buClr>
                <a:schemeClr val="accent1">
                  <a:lumMod val="75000"/>
                </a:schemeClr>
              </a:buClr>
              <a:defRPr sz="1333" b="0">
                <a:solidFill>
                  <a:schemeClr val="accent1">
                    <a:lumMod val="75000"/>
                  </a:schemeClr>
                </a:solidFill>
                <a:latin typeface="Trebuchet MS"/>
                <a:cs typeface="Trebuchet MS"/>
              </a:defRPr>
            </a:lvl4pPr>
            <a:lvl5pPr>
              <a:buClr>
                <a:schemeClr val="accent2"/>
              </a:buClr>
              <a:defRPr sz="1333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Slide Number Placeholder 20"/>
          <p:cNvSpPr>
            <a:spLocks noGrp="1"/>
          </p:cNvSpPr>
          <p:nvPr>
            <p:ph type="sldNum" sz="quarter" idx="11"/>
          </p:nvPr>
        </p:nvSpPr>
        <p:spPr>
          <a:xfrm>
            <a:off x="9980299" y="6475418"/>
            <a:ext cx="992504" cy="382587"/>
          </a:xfrm>
        </p:spPr>
        <p:txBody>
          <a:bodyPr anchor="ctr"/>
          <a:lstStyle>
            <a:lvl1pPr algn="ctr">
              <a:defRPr sz="1167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fld id="{4B3B5BF1-36F4-440D-932D-C7907D6A98BA}" type="slidenum">
              <a:rPr lang="en-GB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  <p:pic>
        <p:nvPicPr>
          <p:cNvPr id="7" name="Picture 1" descr="armoiri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126080" y="47684"/>
            <a:ext cx="780083" cy="79398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2033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1411606" y="1054100"/>
            <a:ext cx="9462134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99148" y="167884"/>
            <a:ext cx="7024651" cy="72008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61057" y="1340774"/>
            <a:ext cx="9764284" cy="4536503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buClr>
                <a:schemeClr val="accent2"/>
              </a:buClr>
              <a:defRPr sz="1500" b="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buClrTx/>
              <a:defRPr sz="1500" b="0">
                <a:solidFill>
                  <a:srgbClr val="29C000"/>
                </a:solidFill>
                <a:latin typeface="Arial"/>
                <a:cs typeface="Arial"/>
              </a:defRPr>
            </a:lvl2pPr>
            <a:lvl3pPr>
              <a:buClrTx/>
              <a:defRPr sz="1333" b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defRPr>
            </a:lvl3pPr>
            <a:lvl4pPr>
              <a:buClr>
                <a:schemeClr val="accent1">
                  <a:lumMod val="75000"/>
                </a:schemeClr>
              </a:buClr>
              <a:defRPr sz="1333" b="0">
                <a:solidFill>
                  <a:schemeClr val="accent1">
                    <a:lumMod val="75000"/>
                  </a:schemeClr>
                </a:solidFill>
                <a:latin typeface="Trebuchet MS"/>
                <a:cs typeface="Trebuchet MS"/>
              </a:defRPr>
            </a:lvl4pPr>
            <a:lvl5pPr>
              <a:buClr>
                <a:schemeClr val="accent2"/>
              </a:buClr>
              <a:defRPr sz="1333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7" name="Slide Number Placeholder 20"/>
          <p:cNvSpPr>
            <a:spLocks noGrp="1"/>
          </p:cNvSpPr>
          <p:nvPr>
            <p:ph type="sldNum" sz="quarter" idx="11"/>
          </p:nvPr>
        </p:nvSpPr>
        <p:spPr>
          <a:xfrm>
            <a:off x="9980299" y="6442080"/>
            <a:ext cx="992504" cy="415925"/>
          </a:xfrm>
        </p:spPr>
        <p:txBody>
          <a:bodyPr anchor="ctr"/>
          <a:lstStyle>
            <a:lvl1pPr algn="ctr">
              <a:defRPr sz="1167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fld id="{0821D767-9B51-460C-BC52-8D5CC4921366}" type="slidenum">
              <a:rPr lang="en-GB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8545190" y="6337100"/>
            <a:ext cx="184731" cy="297454"/>
          </a:xfrm>
          <a:prstGeom prst="rect">
            <a:avLst/>
          </a:prstGeom>
          <a:solidFill>
            <a:srgbClr val="FFCCFF"/>
          </a:solidFill>
        </p:spPr>
        <p:txBody>
          <a:bodyPr wrap="none" rtlCol="0">
            <a:spAutoFit/>
          </a:bodyPr>
          <a:lstStyle/>
          <a:p>
            <a:endParaRPr lang="en-US" sz="1333" dirty="0">
              <a:solidFill>
                <a:prstClr val="black"/>
              </a:solidFill>
            </a:endParaRPr>
          </a:p>
        </p:txBody>
      </p:sp>
      <p:pic>
        <p:nvPicPr>
          <p:cNvPr id="8" name="Picture 1" descr="armoiri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150813" y="119065"/>
            <a:ext cx="869950" cy="9366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093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3"/>
          <p:cNvSpPr>
            <a:spLocks noChangeShapeType="1"/>
          </p:cNvSpPr>
          <p:nvPr userDrawn="1"/>
        </p:nvSpPr>
        <p:spPr bwMode="auto">
          <a:xfrm>
            <a:off x="1463040" y="1066800"/>
            <a:ext cx="9235440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n>
                <a:solidFill>
                  <a:prstClr val="black"/>
                </a:solidFill>
              </a:ln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463043" y="1074738"/>
            <a:ext cx="9231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0" y="228600"/>
            <a:ext cx="9235440" cy="838200"/>
          </a:xfrm>
          <a:prstGeom prst="rect">
            <a:avLst/>
          </a:prstGeom>
        </p:spPr>
        <p:txBody>
          <a:bodyPr anchor="b" anchorCtr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91440" y="1219200"/>
            <a:ext cx="10607040" cy="5105400"/>
          </a:xfrm>
        </p:spPr>
        <p:txBody>
          <a:bodyPr/>
          <a:lstStyle/>
          <a:p>
            <a:r>
              <a:rPr lang="en-US" dirty="0"/>
              <a:t>Testing</a:t>
            </a:r>
          </a:p>
          <a:p>
            <a:pPr lvl="1"/>
            <a:r>
              <a:rPr lang="en-US" dirty="0"/>
              <a:t>Testing</a:t>
            </a:r>
          </a:p>
          <a:p>
            <a:pPr lvl="2"/>
            <a:r>
              <a:rPr lang="en-US" dirty="0"/>
              <a:t>Testing</a:t>
            </a:r>
          </a:p>
          <a:p>
            <a:pPr lvl="3"/>
            <a:r>
              <a:rPr lang="en-US" dirty="0"/>
              <a:t>Testing</a:t>
            </a:r>
          </a:p>
          <a:p>
            <a:pPr lvl="4"/>
            <a:r>
              <a:rPr lang="en-US" dirty="0"/>
              <a:t>Testing</a:t>
            </a:r>
          </a:p>
          <a:p>
            <a:pPr lvl="4"/>
            <a:r>
              <a:rPr lang="en-US" dirty="0"/>
              <a:t>Testing</a:t>
            </a:r>
          </a:p>
        </p:txBody>
      </p:sp>
      <p:pic>
        <p:nvPicPr>
          <p:cNvPr id="7" name="Picture 1" descr="armoiri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150813" y="119065"/>
            <a:ext cx="869950" cy="9366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265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3"/>
          <p:cNvSpPr>
            <a:spLocks noChangeShapeType="1"/>
          </p:cNvSpPr>
          <p:nvPr userDrawn="1"/>
        </p:nvSpPr>
        <p:spPr bwMode="auto">
          <a:xfrm>
            <a:off x="1463040" y="1066800"/>
            <a:ext cx="9235440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n>
                <a:solidFill>
                  <a:prstClr val="black"/>
                </a:solidFill>
              </a:ln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0" y="228600"/>
            <a:ext cx="9235440" cy="8382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91440" y="1219200"/>
            <a:ext cx="10607040" cy="5105400"/>
          </a:xfrm>
        </p:spPr>
        <p:txBody>
          <a:bodyPr/>
          <a:lstStyle/>
          <a:p>
            <a:r>
              <a:rPr lang="en-US" dirty="0"/>
              <a:t>Testing</a:t>
            </a:r>
          </a:p>
          <a:p>
            <a:pPr lvl="1"/>
            <a:r>
              <a:rPr lang="en-US" dirty="0"/>
              <a:t>Testing</a:t>
            </a:r>
          </a:p>
          <a:p>
            <a:pPr lvl="2"/>
            <a:r>
              <a:rPr lang="en-US" dirty="0"/>
              <a:t>Testing</a:t>
            </a:r>
          </a:p>
          <a:p>
            <a:pPr lvl="3"/>
            <a:r>
              <a:rPr lang="en-US" dirty="0"/>
              <a:t>Testing</a:t>
            </a:r>
          </a:p>
          <a:p>
            <a:pPr lvl="4"/>
            <a:r>
              <a:rPr lang="en-US" dirty="0"/>
              <a:t>Testing</a:t>
            </a:r>
          </a:p>
          <a:p>
            <a:pPr lvl="4"/>
            <a:r>
              <a:rPr lang="en-US" dirty="0"/>
              <a:t>Testing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412480" y="6416680"/>
            <a:ext cx="2377440" cy="365125"/>
          </a:xfrm>
          <a:prstGeom prst="rect">
            <a:avLst/>
          </a:prstGeom>
        </p:spPr>
        <p:txBody>
          <a:bodyPr/>
          <a:lstStyle>
            <a:lvl1pPr>
              <a:defRPr sz="1167">
                <a:solidFill>
                  <a:srgbClr val="000000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CA8220CF-409D-4A75-951A-24912013115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2571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4" descr="Coat_of_arm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4959" y="708025"/>
            <a:ext cx="1825283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8" name="Rectangle 84"/>
          <p:cNvSpPr>
            <a:spLocks noGrp="1" noChangeArrowheads="1"/>
          </p:cNvSpPr>
          <p:nvPr>
            <p:ph type="subTitle" idx="1"/>
          </p:nvPr>
        </p:nvSpPr>
        <p:spPr>
          <a:xfrm>
            <a:off x="4939523" y="6308727"/>
            <a:ext cx="5864470" cy="357545"/>
          </a:xfrm>
        </p:spPr>
        <p:txBody>
          <a:bodyPr>
            <a:spAutoFit/>
          </a:bodyPr>
          <a:lstStyle>
            <a:lvl1pPr marL="0" indent="0" algn="r">
              <a:buFontTx/>
              <a:buNone/>
              <a:defRPr sz="1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9699" name="Rectangle 83"/>
          <p:cNvSpPr>
            <a:spLocks noGrp="1" noChangeArrowheads="1"/>
          </p:cNvSpPr>
          <p:nvPr>
            <p:ph type="ctrTitle"/>
          </p:nvPr>
        </p:nvSpPr>
        <p:spPr>
          <a:xfrm>
            <a:off x="4895558" y="5745172"/>
            <a:ext cx="5908432" cy="427037"/>
          </a:xfrm>
          <a:prstGeom prst="rect">
            <a:avLst/>
          </a:prstGeom>
          <a:ln w="9525"/>
        </p:spPr>
        <p:txBody>
          <a:bodyPr anchor="b"/>
          <a:lstStyle>
            <a:lvl1pPr algn="r">
              <a:defRPr sz="2333"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29489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3"/>
          <p:cNvSpPr>
            <a:spLocks noChangeShapeType="1"/>
          </p:cNvSpPr>
          <p:nvPr userDrawn="1"/>
        </p:nvSpPr>
        <p:spPr bwMode="auto">
          <a:xfrm>
            <a:off x="1463040" y="1066800"/>
            <a:ext cx="9235440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n>
                <a:solidFill>
                  <a:prstClr val="black"/>
                </a:solidFill>
              </a:ln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0" y="228600"/>
            <a:ext cx="9235440" cy="838200"/>
          </a:xfrm>
          <a:prstGeom prst="rect">
            <a:avLst/>
          </a:prstGeom>
        </p:spPr>
        <p:txBody>
          <a:bodyPr anchor="b" anchorCtr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91440" y="1219200"/>
            <a:ext cx="10607040" cy="5105400"/>
          </a:xfrm>
        </p:spPr>
        <p:txBody>
          <a:bodyPr/>
          <a:lstStyle/>
          <a:p>
            <a:r>
              <a:rPr lang="en-US" dirty="0"/>
              <a:t>Testing</a:t>
            </a:r>
          </a:p>
          <a:p>
            <a:pPr lvl="1"/>
            <a:r>
              <a:rPr lang="en-US" dirty="0"/>
              <a:t>Testing</a:t>
            </a:r>
          </a:p>
          <a:p>
            <a:pPr lvl="2"/>
            <a:r>
              <a:rPr lang="en-US" dirty="0"/>
              <a:t>Testing</a:t>
            </a:r>
          </a:p>
          <a:p>
            <a:pPr lvl="3"/>
            <a:r>
              <a:rPr lang="en-US" dirty="0"/>
              <a:t>Testing</a:t>
            </a:r>
          </a:p>
          <a:p>
            <a:pPr lvl="4"/>
            <a:r>
              <a:rPr lang="en-US" dirty="0"/>
              <a:t>Testing</a:t>
            </a:r>
          </a:p>
          <a:p>
            <a:pPr lvl="4"/>
            <a:r>
              <a:rPr lang="en-US" dirty="0"/>
              <a:t>Testing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412480" y="6416678"/>
            <a:ext cx="237744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167">
                <a:solidFill>
                  <a:srgbClr val="000000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EDF09BD2-28CD-4BB6-9C39-D98C87CE07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8839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182880" y="1219200"/>
            <a:ext cx="10241280" cy="491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182882" y="6629400"/>
            <a:ext cx="10567036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2052" name="Picture 1" descr="armoiri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182880" y="152400"/>
            <a:ext cx="9144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92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84" r:id="rId2"/>
    <p:sldLayoutId id="2147484185" r:id="rId3"/>
    <p:sldLayoutId id="2147484186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Bookman Old Style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Bookman Old Style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Bookman Old Style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Bookman Old Style" pitchFamily="18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Bookman Old Style" pitchFamily="18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Bookman Old Style" pitchFamily="18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Bookman Old Style" pitchFamily="18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Bookman Old Style" pitchFamily="18" charset="0"/>
        </a:defRPr>
      </a:lvl9pPr>
    </p:titleStyle>
    <p:bodyStyle>
      <a:lvl1pPr marL="204788" indent="-204788" algn="l" rtl="0" eaLnBrk="0" fontAlgn="base" hangingPunct="0">
        <a:spcBef>
          <a:spcPts val="45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10766" indent="-204788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1500" kern="1200">
          <a:solidFill>
            <a:schemeClr val="tx2"/>
          </a:solidFill>
          <a:latin typeface="+mn-lt"/>
          <a:ea typeface="+mn-ea"/>
          <a:cs typeface="+mn-cs"/>
        </a:defRPr>
      </a:lvl2pPr>
      <a:lvl3pPr marL="616744" indent="-171450" algn="l" rtl="0" eaLnBrk="0" fontAlgn="base" hangingPunct="0">
        <a:spcBef>
          <a:spcPts val="375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22722" indent="-171450" algn="l" rtl="0" eaLnBrk="0" fontAlgn="base" hangingPunct="0">
        <a:spcBef>
          <a:spcPts val="300"/>
        </a:spcBef>
        <a:spcAft>
          <a:spcPct val="0"/>
        </a:spcAft>
        <a:buClr>
          <a:srgbClr val="23A900"/>
        </a:buClr>
        <a:buSzPct val="70000"/>
        <a:buFont typeface="Wingdings" panose="05000000000000000000" pitchFamily="2" charset="2"/>
        <a:buChar char="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71450" algn="l" rtl="0" eaLnBrk="0" fontAlgn="base" hangingPunct="0">
        <a:spcBef>
          <a:spcPts val="225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34440" indent="-137160" algn="l" rtl="0" eaLnBrk="1" latinLnBrk="0" hangingPunct="1">
        <a:spcBef>
          <a:spcPts val="225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-137160" algn="l" rtl="0" eaLnBrk="1" latinLnBrk="0" hangingPunct="1">
        <a:spcBef>
          <a:spcPts val="225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37160" algn="l" rtl="0" eaLnBrk="1" latinLnBrk="0" hangingPunct="1">
        <a:spcBef>
          <a:spcPts val="225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37160" algn="l" rtl="0" eaLnBrk="1" latinLnBrk="0" hangingPunct="1">
        <a:spcBef>
          <a:spcPts val="225"/>
        </a:spcBef>
        <a:buClr>
          <a:srgbClr val="9FB8CD"/>
        </a:buClr>
        <a:buSzPct val="75000"/>
        <a:buFont typeface="Wingdings 3"/>
        <a:buChar char=""/>
        <a:defRPr kumimoji="0" lang="en-US" sz="9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182880" y="1219200"/>
            <a:ext cx="10241280" cy="4910138"/>
          </a:xfrm>
          <a:prstGeom prst="roundRect">
            <a:avLst/>
          </a:prstGeom>
          <a:ln w="19050"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12480" y="6416680"/>
            <a:ext cx="2377440" cy="365125"/>
          </a:xfrm>
          <a:prstGeom prst="rect">
            <a:avLst/>
          </a:prstGeom>
        </p:spPr>
        <p:txBody>
          <a:bodyPr anchor="b" anchorCtr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917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fld id="{132FF22A-E0A3-42A5-A6F0-32DA14351E5D}" type="slidenum">
              <a:rPr lang="en-GB">
                <a:solidFill>
                  <a:srgbClr val="00B0F0">
                    <a:lumMod val="75000"/>
                  </a:srgbClr>
                </a:solidFill>
              </a:rPr>
              <a:pPr>
                <a:defRPr/>
              </a:pPr>
              <a:t>‹#›</a:t>
            </a:fld>
            <a:endParaRPr lang="en-GB" dirty="0">
              <a:solidFill>
                <a:srgbClr val="00B0F0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426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203" r:id="rId3"/>
    <p:sldLayoutId id="2147484204" r:id="rId4"/>
    <p:sldLayoutId id="2147484207" r:id="rId5"/>
    <p:sldLayoutId id="2147484208" r:id="rId6"/>
    <p:sldLayoutId id="2147484209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67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67">
          <a:solidFill>
            <a:schemeClr val="tx2"/>
          </a:solidFill>
          <a:latin typeface="Cambri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67">
          <a:solidFill>
            <a:schemeClr val="tx2"/>
          </a:solidFill>
          <a:latin typeface="Cambri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67">
          <a:solidFill>
            <a:schemeClr val="tx2"/>
          </a:solidFill>
          <a:latin typeface="Cambri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67">
          <a:solidFill>
            <a:schemeClr val="tx2"/>
          </a:solidFill>
          <a:latin typeface="Cambria" pitchFamily="18" charset="0"/>
        </a:defRPr>
      </a:lvl5pPr>
      <a:lvl6pPr marL="380985" algn="l" rtl="0" eaLnBrk="1" fontAlgn="base" hangingPunct="1">
        <a:spcBef>
          <a:spcPct val="0"/>
        </a:spcBef>
        <a:spcAft>
          <a:spcPct val="0"/>
        </a:spcAft>
        <a:defRPr sz="2667">
          <a:solidFill>
            <a:schemeClr val="tx2"/>
          </a:solidFill>
          <a:latin typeface="Bookman Old Style" pitchFamily="18" charset="0"/>
        </a:defRPr>
      </a:lvl6pPr>
      <a:lvl7pPr marL="761970" algn="l" rtl="0" eaLnBrk="1" fontAlgn="base" hangingPunct="1">
        <a:spcBef>
          <a:spcPct val="0"/>
        </a:spcBef>
        <a:spcAft>
          <a:spcPct val="0"/>
        </a:spcAft>
        <a:defRPr sz="2667">
          <a:solidFill>
            <a:schemeClr val="tx2"/>
          </a:solidFill>
          <a:latin typeface="Bookman Old Style" pitchFamily="18" charset="0"/>
        </a:defRPr>
      </a:lvl7pPr>
      <a:lvl8pPr marL="1142954" algn="l" rtl="0" eaLnBrk="1" fontAlgn="base" hangingPunct="1">
        <a:spcBef>
          <a:spcPct val="0"/>
        </a:spcBef>
        <a:spcAft>
          <a:spcPct val="0"/>
        </a:spcAft>
        <a:defRPr sz="2667">
          <a:solidFill>
            <a:schemeClr val="tx2"/>
          </a:solidFill>
          <a:latin typeface="Bookman Old Style" pitchFamily="18" charset="0"/>
        </a:defRPr>
      </a:lvl8pPr>
      <a:lvl9pPr marL="1523939" algn="l" rtl="0" eaLnBrk="1" fontAlgn="base" hangingPunct="1">
        <a:spcBef>
          <a:spcPct val="0"/>
        </a:spcBef>
        <a:spcAft>
          <a:spcPct val="0"/>
        </a:spcAft>
        <a:defRPr sz="2667">
          <a:solidFill>
            <a:schemeClr val="tx2"/>
          </a:solidFill>
          <a:latin typeface="Bookman Old Style" pitchFamily="18" charset="0"/>
        </a:defRPr>
      </a:lvl9pPr>
    </p:titleStyle>
    <p:bodyStyle>
      <a:lvl1pPr marL="227533" indent="-227533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Arial"/>
          <a:ea typeface="MS PMincho" pitchFamily="18" charset="-128"/>
          <a:cs typeface="Arial"/>
        </a:defRPr>
      </a:lvl1pPr>
      <a:lvl2pPr marL="456388" indent="-227533" algn="l" rtl="0" eaLnBrk="0" fontAlgn="base" hangingPunct="0">
        <a:spcBef>
          <a:spcPts val="417"/>
        </a:spcBef>
        <a:spcAft>
          <a:spcPct val="0"/>
        </a:spcAft>
        <a:buClr>
          <a:schemeClr val="accent2"/>
        </a:buClr>
        <a:buSzPct val="100000"/>
        <a:buFont typeface="Lucida Grande"/>
        <a:buChar char="-"/>
        <a:defRPr sz="2000" kern="1200">
          <a:solidFill>
            <a:schemeClr val="accent2"/>
          </a:solidFill>
          <a:latin typeface="Arial"/>
          <a:ea typeface="MS PMincho" pitchFamily="18" charset="-128"/>
          <a:cs typeface="Arial"/>
        </a:defRPr>
      </a:lvl2pPr>
      <a:lvl3pPr marL="685243" indent="-190492" algn="l" rtl="0" eaLnBrk="0" fontAlgn="base" hangingPunct="0">
        <a:spcBef>
          <a:spcPts val="417"/>
        </a:spcBef>
        <a:spcAft>
          <a:spcPct val="0"/>
        </a:spcAft>
        <a:buClr>
          <a:srgbClr val="0084B4"/>
        </a:buClr>
        <a:buSzPct val="76000"/>
        <a:buFont typeface="Wingdings 3" pitchFamily="18" charset="2"/>
        <a:buChar char=""/>
        <a:defRPr sz="1667" kern="1200">
          <a:solidFill>
            <a:srgbClr val="0084B4"/>
          </a:solidFill>
          <a:latin typeface="Arial"/>
          <a:ea typeface="MS PMincho" pitchFamily="18" charset="-128"/>
          <a:cs typeface="Arial"/>
        </a:defRPr>
      </a:lvl3pPr>
      <a:lvl4pPr marL="914099" indent="-190492" algn="l" rtl="0" eaLnBrk="0" fontAlgn="base" hangingPunct="0">
        <a:spcBef>
          <a:spcPts val="333"/>
        </a:spcBef>
        <a:spcAft>
          <a:spcPct val="0"/>
        </a:spcAft>
        <a:buClr>
          <a:srgbClr val="23A900"/>
        </a:buClr>
        <a:buSzPct val="70000"/>
        <a:buFont typeface="Wingdings" pitchFamily="2" charset="2"/>
        <a:buChar char="§"/>
        <a:defRPr sz="1667" kern="1200">
          <a:solidFill>
            <a:schemeClr val="accent1"/>
          </a:solidFill>
          <a:latin typeface="+mn-lt"/>
          <a:ea typeface="MS PMincho" pitchFamily="18" charset="-128"/>
          <a:cs typeface="+mn-cs"/>
        </a:defRPr>
      </a:lvl4pPr>
      <a:lvl5pPr marL="1142954" indent="-190492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§"/>
        <a:defRPr sz="1333" kern="1200">
          <a:solidFill>
            <a:schemeClr val="accent1"/>
          </a:solidFill>
          <a:latin typeface="+mn-lt"/>
          <a:ea typeface="MS PMincho" pitchFamily="18" charset="-128"/>
          <a:cs typeface="+mn-cs"/>
        </a:defRPr>
      </a:lvl5pPr>
      <a:lvl6pPr marL="1371545" indent="-152394" algn="l" rtl="0" eaLnBrk="1" latinLnBrk="0" hangingPunct="1">
        <a:spcBef>
          <a:spcPts val="25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333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523939" indent="-152394" algn="l" rtl="0" eaLnBrk="1" latinLnBrk="0" hangingPunct="1">
        <a:spcBef>
          <a:spcPts val="25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167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1676333" indent="-152394" algn="l" rtl="0" eaLnBrk="1" latinLnBrk="0" hangingPunct="1">
        <a:spcBef>
          <a:spcPts val="25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167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1828727" indent="-152394" algn="l" rtl="0" eaLnBrk="1" latinLnBrk="0" hangingPunct="1">
        <a:spcBef>
          <a:spcPts val="250"/>
        </a:spcBef>
        <a:buClr>
          <a:srgbClr val="9FB8CD"/>
        </a:buClr>
        <a:buSzPct val="75000"/>
        <a:buFont typeface="Wingdings 3"/>
        <a:buChar char=""/>
        <a:defRPr kumimoji="0" lang="en-US" sz="10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gray">
          <a:xfrm>
            <a:off x="1908628" y="2271061"/>
            <a:ext cx="715554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lang="en-US" altLang="en-US" sz="3000" b="1" dirty="0">
                <a:solidFill>
                  <a:srgbClr val="FFFFFF"/>
                </a:solidFill>
                <a:ea typeface="ヒラギノ角ゴ Pro W3"/>
                <a:cs typeface="ヒラギノ角ゴ Pro W3"/>
              </a:rPr>
              <a:t>Rwanda Quarterly Macro-Fiscal Model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8369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2163689" y="167884"/>
            <a:ext cx="7512746" cy="566634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78296" y="890547"/>
            <a:ext cx="10153815" cy="5749760"/>
          </a:xfrm>
        </p:spPr>
        <p:txBody>
          <a:bodyPr/>
          <a:lstStyle/>
          <a:p>
            <a:pPr lvl="3">
              <a:lnSpc>
                <a:spcPct val="150000"/>
              </a:lnSpc>
            </a:pPr>
            <a:endParaRPr lang="en-US" altLang="en-US" sz="26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>
              <a:lnSpc>
                <a:spcPct val="150000"/>
              </a:lnSpc>
            </a:pPr>
            <a:r>
              <a:rPr lang="en-US" altLang="en-US" sz="26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 of Key terms </a:t>
            </a:r>
          </a:p>
          <a:p>
            <a:pPr lvl="3">
              <a:lnSpc>
                <a:spcPct val="150000"/>
              </a:lnSpc>
            </a:pPr>
            <a:r>
              <a:rPr lang="en-US" altLang="en-US" sz="26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properties</a:t>
            </a:r>
          </a:p>
          <a:p>
            <a:pPr lvl="3">
              <a:lnSpc>
                <a:spcPct val="150000"/>
              </a:lnSpc>
            </a:pPr>
            <a:r>
              <a:rPr lang="en-US" altLang="en-US" sz="26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Blocks/ Main Equations</a:t>
            </a:r>
          </a:p>
          <a:p>
            <a:pPr lvl="3">
              <a:lnSpc>
                <a:spcPct val="150000"/>
              </a:lnSpc>
            </a:pPr>
            <a:r>
              <a:rPr lang="en-US" altLang="en-US" sz="26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Functioning</a:t>
            </a:r>
          </a:p>
          <a:p>
            <a:pPr lvl="3">
              <a:lnSpc>
                <a:spcPct val="150000"/>
              </a:lnSpc>
            </a:pPr>
            <a:r>
              <a:rPr lang="en-US" altLang="en-US" sz="26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Application</a:t>
            </a:r>
          </a:p>
          <a:p>
            <a:pPr lvl="3">
              <a:lnSpc>
                <a:spcPct val="150000"/>
              </a:lnSpc>
            </a:pPr>
            <a:r>
              <a:rPr lang="en-US" altLang="en-US" sz="26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Rwanda QMFM Uses</a:t>
            </a:r>
          </a:p>
          <a:p>
            <a:pPr lvl="3">
              <a:lnSpc>
                <a:spcPct val="150000"/>
              </a:lnSpc>
            </a:pPr>
            <a:endParaRPr lang="en-US" altLang="en-US" sz="26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>
              <a:lnSpc>
                <a:spcPct val="150000"/>
              </a:lnSpc>
            </a:pPr>
            <a:endParaRPr lang="en-US" altLang="en-US" sz="26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>
              <a:lnSpc>
                <a:spcPct val="150000"/>
              </a:lnSpc>
            </a:pPr>
            <a:endParaRPr lang="en-US" altLang="en-US" sz="26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>
              <a:lnSpc>
                <a:spcPct val="150000"/>
              </a:lnSpc>
            </a:pPr>
            <a:endParaRPr lang="en-US" altLang="en-US" sz="26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>
              <a:lnSpc>
                <a:spcPct val="150000"/>
              </a:lnSpc>
            </a:pPr>
            <a:endParaRPr lang="en-US" altLang="en-US" sz="26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>
              <a:lnSpc>
                <a:spcPct val="150000"/>
              </a:lnSpc>
            </a:pPr>
            <a:endParaRPr lang="en-US" altLang="en-US" sz="26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>
              <a:lnSpc>
                <a:spcPct val="150000"/>
              </a:lnSpc>
            </a:pPr>
            <a:endParaRPr lang="en-US" altLang="en-US" sz="26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>
              <a:lnSpc>
                <a:spcPct val="150000"/>
              </a:lnSpc>
            </a:pPr>
            <a:endParaRPr lang="en-US" altLang="en-US" sz="26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3607" lvl="3" indent="0">
              <a:lnSpc>
                <a:spcPct val="150000"/>
              </a:lnSpc>
              <a:buNone/>
            </a:pPr>
            <a:endParaRPr lang="en-US" altLang="en-US" sz="26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>
              <a:lnSpc>
                <a:spcPct val="150000"/>
              </a:lnSpc>
            </a:pPr>
            <a:endParaRPr lang="en-US" altLang="en-US" sz="26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>
              <a:lnSpc>
                <a:spcPct val="150000"/>
              </a:lnSpc>
            </a:pPr>
            <a:endParaRPr lang="en-US" altLang="en-US" sz="26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56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94751" lvl="2" indent="0">
              <a:buNone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4"/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94751" lvl="2" indent="0">
              <a:buNone/>
            </a:pPr>
            <a:endParaRPr lang="en-US" altLang="en-US" sz="26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15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1A43A-F09B-4F92-89FE-674C691BAD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1056" y="1047750"/>
            <a:ext cx="10049793" cy="542766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  <a:p>
            <a:r>
              <a:rPr lang="en-US" altLang="en-US" sz="2000" b="1" dirty="0"/>
              <a:t>QMFM: </a:t>
            </a:r>
            <a:r>
              <a:rPr lang="en-US" altLang="en-US" sz="2000" dirty="0"/>
              <a:t>	Quarterly Macro-Fiscal Model</a:t>
            </a:r>
          </a:p>
          <a:p>
            <a:r>
              <a:rPr lang="en-US" altLang="en-US" sz="2000" b="1" dirty="0"/>
              <a:t>FPAS</a:t>
            </a:r>
            <a:r>
              <a:rPr lang="en-US" altLang="en-US" sz="2000" dirty="0"/>
              <a:t>: 	</a:t>
            </a:r>
            <a:r>
              <a:rPr lang="en-GB" altLang="en-US" sz="2000" dirty="0"/>
              <a:t>Forecasting and Policy Analysis Systems</a:t>
            </a:r>
            <a:endParaRPr lang="en-US" altLang="en-US" sz="2000" dirty="0"/>
          </a:p>
          <a:p>
            <a:r>
              <a:rPr lang="en-US" altLang="en-US" sz="2000" b="1" dirty="0"/>
              <a:t>CPI</a:t>
            </a:r>
            <a:r>
              <a:rPr lang="en-US" altLang="en-US" sz="2000" dirty="0"/>
              <a:t>:   	Consumer price Index</a:t>
            </a:r>
          </a:p>
          <a:p>
            <a:r>
              <a:rPr lang="en-US" sz="2000" b="1" dirty="0"/>
              <a:t>UIP</a:t>
            </a:r>
            <a:r>
              <a:rPr lang="en-US" sz="2000" dirty="0"/>
              <a:t>: 		Uncovered Interest Parity</a:t>
            </a:r>
          </a:p>
          <a:p>
            <a:r>
              <a:rPr lang="en-US" sz="2000" b="1" dirty="0"/>
              <a:t>FX</a:t>
            </a:r>
            <a:r>
              <a:rPr lang="en-US" sz="2000" dirty="0"/>
              <a:t>: 		foreign Exchange Rate</a:t>
            </a:r>
          </a:p>
          <a:p>
            <a:r>
              <a:rPr lang="en-GB" sz="2000" b="1" dirty="0"/>
              <a:t>intMF</a:t>
            </a:r>
            <a:r>
              <a:rPr lang="en-US" sz="2000" dirty="0"/>
              <a:t>: 	Integrate Macro Framework</a:t>
            </a:r>
          </a:p>
          <a:p>
            <a:r>
              <a:rPr lang="en-US" sz="2000" b="1" dirty="0"/>
              <a:t>BOP</a:t>
            </a:r>
            <a:r>
              <a:rPr lang="en-US" sz="2000" dirty="0"/>
              <a:t>:		 Balance of Payment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sz="2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6EFF0B9-7A7B-430F-BD49-B1454B695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75" y="168275"/>
            <a:ext cx="8884923" cy="612775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terms </a:t>
            </a:r>
          </a:p>
        </p:txBody>
      </p:sp>
    </p:spTree>
    <p:extLst>
      <p:ext uri="{BB962C8B-B14F-4D97-AF65-F5344CB8AC3E}">
        <p14:creationId xmlns:p14="http://schemas.microsoft.com/office/powerpoint/2010/main" val="3925138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90B28-DEE7-4F3B-BFD9-622FD842E3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B3B5BF1-36F4-440D-932D-C7907D6A98BA}" type="slidenum">
              <a:rPr lang="en-GB" smtClean="0">
                <a:solidFill>
                  <a:srgbClr val="FFFFFF"/>
                </a:solidFill>
              </a:rPr>
              <a:pPr>
                <a:defRPr/>
              </a:pPr>
              <a:t>4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6EFF0B9-7A7B-430F-BD49-B1454B695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38" y="168275"/>
            <a:ext cx="8884923" cy="612775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properties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C3124E-7E5E-4A63-B4BD-EFCF510552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1057" y="1340776"/>
            <a:ext cx="9764284" cy="44885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Semi-structural ”FPAS-type” gap model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Five main blocks: </a:t>
            </a:r>
            <a:r>
              <a:rPr lang="en-US" sz="2800" b="1" dirty="0"/>
              <a:t>demand </a:t>
            </a:r>
            <a:r>
              <a:rPr lang="en-US" sz="2800" dirty="0"/>
              <a:t>(output), </a:t>
            </a:r>
            <a:r>
              <a:rPr lang="en-US" sz="2800" b="1" dirty="0"/>
              <a:t>prices </a:t>
            </a:r>
            <a:r>
              <a:rPr lang="en-US" sz="2800" dirty="0"/>
              <a:t>(CPI), </a:t>
            </a:r>
            <a:r>
              <a:rPr lang="en-US" sz="2800" b="1" dirty="0"/>
              <a:t>monetary policy</a:t>
            </a:r>
            <a:r>
              <a:rPr lang="en-US" sz="2800" dirty="0"/>
              <a:t>(Policy Interest rate), </a:t>
            </a:r>
            <a:r>
              <a:rPr lang="en-US" sz="2800" b="1" dirty="0"/>
              <a:t>exchange rate</a:t>
            </a:r>
            <a:r>
              <a:rPr lang="en-US" sz="2800" dirty="0"/>
              <a:t>, </a:t>
            </a:r>
            <a:r>
              <a:rPr lang="en-US" sz="2800" b="1" dirty="0"/>
              <a:t>fiscal policy </a:t>
            </a:r>
            <a:r>
              <a:rPr lang="en-US" sz="2800" dirty="0"/>
              <a:t>(Budget deficit)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Auxiliary block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Modeling demand components separately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Four price indicators: core, food, energy, headline CPI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Hybrid UIP with FX targeting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Taylor rule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Deficit targeting with automatic stabilizer effect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20360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90B28-DEE7-4F3B-BFD9-622FD842E3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B3B5BF1-36F4-440D-932D-C7907D6A98BA}" type="slidenum">
              <a:rPr lang="en-GB" smtClean="0">
                <a:solidFill>
                  <a:srgbClr val="FFFFFF"/>
                </a:solidFill>
              </a:rPr>
              <a:pPr>
                <a:defRPr/>
              </a:pPr>
              <a:t>5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6EFF0B9-7A7B-430F-BD49-B1454B695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75" y="168275"/>
            <a:ext cx="8884923" cy="612775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altLang="en-US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C3124E-7E5E-4A63-B4BD-EFCF510552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5447" y="1211423"/>
            <a:ext cx="9764284" cy="4974299"/>
          </a:xfrm>
        </p:spPr>
        <p:txBody>
          <a:bodyPr/>
          <a:lstStyle/>
          <a:p>
            <a:r>
              <a:rPr lang="en-GB" sz="2400" dirty="0"/>
              <a:t>Both the real exchange rate and the real interest rate are</a:t>
            </a:r>
          </a:p>
          <a:p>
            <a:pPr marL="0" indent="0">
              <a:buNone/>
            </a:pPr>
            <a:r>
              <a:rPr lang="en-GB" sz="2400" dirty="0"/>
              <a:t>defined in terms of foreign CPI and domestic core inflation</a:t>
            </a:r>
          </a:p>
          <a:p>
            <a:r>
              <a:rPr lang="en-GB" sz="2400" dirty="0"/>
              <a:t>Relative prices of domestic CPI components are with respect to</a:t>
            </a:r>
          </a:p>
          <a:p>
            <a:pPr marL="0" indent="0">
              <a:buNone/>
            </a:pPr>
            <a:r>
              <a:rPr lang="en-GB" sz="2400" dirty="0"/>
              <a:t>overall CPI</a:t>
            </a:r>
          </a:p>
          <a:p>
            <a:r>
              <a:rPr lang="en-GB" sz="2400" dirty="0"/>
              <a:t>The inflation target is for overall CPI</a:t>
            </a:r>
          </a:p>
          <a:p>
            <a:r>
              <a:rPr lang="en-GB" sz="2400" dirty="0"/>
              <a:t>Foreign variables are described by the simplest possible</a:t>
            </a:r>
          </a:p>
          <a:p>
            <a:pPr marL="0" indent="0">
              <a:buNone/>
            </a:pPr>
            <a:r>
              <a:rPr lang="en-GB" sz="2400" dirty="0"/>
              <a:t>equations (not listed here)</a:t>
            </a:r>
          </a:p>
          <a:p>
            <a:r>
              <a:rPr lang="en-GB" sz="2400" dirty="0"/>
              <a:t>All levels are in 100 ∗ log units, so a difference between two</a:t>
            </a:r>
          </a:p>
          <a:p>
            <a:pPr marL="0" indent="0">
              <a:buNone/>
            </a:pPr>
            <a:r>
              <a:rPr lang="en-GB" sz="2400" dirty="0"/>
              <a:t>periods gives percentage change</a:t>
            </a:r>
          </a:p>
          <a:p>
            <a:r>
              <a:rPr lang="en-GB" sz="2400" dirty="0"/>
              <a:t>The frequency is quarterly</a:t>
            </a:r>
          </a:p>
          <a:p>
            <a:r>
              <a:rPr lang="en-GB" sz="2400" dirty="0"/>
              <a:t>All interest rates and quarterly growth rates are annualized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82385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90B28-DEE7-4F3B-BFD9-622FD842E3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B3B5BF1-36F4-440D-932D-C7907D6A98BA}" type="slidenum">
              <a:rPr lang="en-GB" smtClean="0">
                <a:solidFill>
                  <a:srgbClr val="FFFFFF"/>
                </a:solidFill>
              </a:rPr>
              <a:pPr>
                <a:defRPr/>
              </a:pPr>
              <a:t>6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6EFF0B9-7A7B-430F-BD49-B1454B695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75" y="168275"/>
            <a:ext cx="8884923" cy="612775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B</a:t>
            </a:r>
            <a:r>
              <a:rPr lang="en-US" sz="3200" b="1" dirty="0">
                <a:solidFill>
                  <a:schemeClr val="bg1"/>
                </a:solidFill>
              </a:rPr>
              <a:t>locks/ Main Equations</a:t>
            </a:r>
            <a:endParaRPr lang="en-US" alt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C3124E-7E5E-4A63-B4BD-EFCF510552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4254" y="1151792"/>
            <a:ext cx="10032023" cy="4378569"/>
          </a:xfrm>
        </p:spPr>
        <p:txBody>
          <a:bodyPr/>
          <a:lstStyle/>
          <a:p>
            <a:r>
              <a:rPr lang="en-US" sz="2400" u="sng" dirty="0"/>
              <a:t>Real GDP (Demand)</a:t>
            </a:r>
          </a:p>
          <a:p>
            <a:pPr marL="0" indent="0">
              <a:buNone/>
            </a:pPr>
            <a:r>
              <a:rPr lang="en-GB" sz="1400" dirty="0">
                <a:latin typeface="Menlo"/>
              </a:rPr>
              <a:t>Private consumption gap, private investment gap, government demand, Export, and Import </a:t>
            </a:r>
            <a:endParaRPr lang="en-GB" sz="1400" i="0" dirty="0">
              <a:effectLst/>
              <a:latin typeface="Menlo"/>
            </a:endParaRPr>
          </a:p>
          <a:p>
            <a:r>
              <a:rPr lang="en-US" sz="2400" u="sng" dirty="0"/>
              <a:t>Philips Curve (CPI)</a:t>
            </a:r>
          </a:p>
          <a:p>
            <a:pPr marL="0" indent="0">
              <a:buNone/>
            </a:pPr>
            <a:r>
              <a:rPr lang="en-GB" sz="1400" i="0" dirty="0">
                <a:effectLst/>
                <a:latin typeface="Menlo"/>
              </a:rPr>
              <a:t>CPI core, CPI food, and CPI energy</a:t>
            </a:r>
          </a:p>
          <a:p>
            <a:r>
              <a:rPr lang="en-US" sz="2400" u="sng" dirty="0"/>
              <a:t>Policy interest rate</a:t>
            </a:r>
          </a:p>
          <a:p>
            <a:pPr marL="0" indent="0">
              <a:buNone/>
            </a:pPr>
            <a:r>
              <a:rPr lang="en-US" sz="2400" b="1" dirty="0"/>
              <a:t> </a:t>
            </a:r>
            <a:r>
              <a:rPr lang="en-US" sz="1400" dirty="0"/>
              <a:t>output gap inflation deviation, equilibrium RIR, inflation target</a:t>
            </a:r>
            <a:endParaRPr lang="en-GB" sz="1400" i="0" dirty="0">
              <a:effectLst/>
              <a:latin typeface="Menlo"/>
            </a:endParaRPr>
          </a:p>
          <a:p>
            <a:r>
              <a:rPr lang="en-US" sz="2400" u="sng" dirty="0"/>
              <a:t>Exchange rate (UIP)</a:t>
            </a:r>
          </a:p>
          <a:p>
            <a:pPr marL="0" indent="0">
              <a:buNone/>
            </a:pPr>
            <a:r>
              <a:rPr lang="en-GB" sz="1400" i="0" dirty="0">
                <a:effectLst/>
                <a:latin typeface="Menlo"/>
              </a:rPr>
              <a:t>interest rate, equilibrium RER and inflation target</a:t>
            </a:r>
            <a:endParaRPr lang="pt-BR" sz="1400" i="0" dirty="0">
              <a:effectLst/>
              <a:latin typeface="Menlo"/>
            </a:endParaRPr>
          </a:p>
          <a:p>
            <a:r>
              <a:rPr lang="en-US" sz="2400" u="sng" dirty="0"/>
              <a:t>Fiscal policy</a:t>
            </a:r>
          </a:p>
          <a:p>
            <a:pPr marL="0" indent="0">
              <a:buNone/>
            </a:pPr>
            <a:r>
              <a:rPr lang="en-GB" sz="1800" i="0" dirty="0">
                <a:effectLst/>
                <a:latin typeface="Menlo"/>
              </a:rPr>
              <a:t>Fiscal deficit (structural, discretional, and cyclical), debt, and interests</a:t>
            </a:r>
          </a:p>
          <a:p>
            <a:r>
              <a:rPr lang="en-GB" sz="2400" b="0" i="0" dirty="0">
                <a:effectLst/>
                <a:latin typeface="Menlo"/>
              </a:rPr>
              <a:t>Auxiliary block contains Money demand and reserve money, BOP, and private financing flows</a:t>
            </a:r>
          </a:p>
        </p:txBody>
      </p:sp>
    </p:spTree>
    <p:extLst>
      <p:ext uri="{BB962C8B-B14F-4D97-AF65-F5344CB8AC3E}">
        <p14:creationId xmlns:p14="http://schemas.microsoft.com/office/powerpoint/2010/main" val="2886094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1A43A-F09B-4F92-89FE-674C691BAD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4258" y="1047749"/>
            <a:ext cx="9764284" cy="5641975"/>
          </a:xfrm>
        </p:spPr>
        <p:txBody>
          <a:bodyPr/>
          <a:lstStyle/>
          <a:p>
            <a:pPr marL="322791" indent="-285750" algn="just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800" dirty="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QMFM is a gap model; </a:t>
            </a:r>
            <a:r>
              <a:rPr lang="en-GB" sz="2800" dirty="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Real variables are decomposed into the sum of a gap and a trend component </a:t>
            </a:r>
            <a:r>
              <a:rPr lang="en-GB" sz="2800" dirty="0">
                <a:latin typeface="Segoe UI" panose="020B0502040204020203" pitchFamily="34" charset="0"/>
                <a:ea typeface="Calibri" panose="020F0502020204030204" pitchFamily="34" charset="0"/>
              </a:rPr>
              <a:t>t</a:t>
            </a:r>
            <a:r>
              <a:rPr lang="en-GB" sz="2800" dirty="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he model describes the behaviour of the gap component, interpreted to capture short/medium term demand effects.</a:t>
            </a:r>
          </a:p>
          <a:p>
            <a:pPr marL="322791" indent="-285750" algn="just"/>
            <a:r>
              <a:rPr lang="en-GB" sz="2800" dirty="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Model specification/</a:t>
            </a:r>
            <a:r>
              <a:rPr lang="en-GB" sz="2800" dirty="0">
                <a:latin typeface="Segoe UI" panose="020B0502040204020203" pitchFamily="34" charset="0"/>
                <a:ea typeface="Calibri" panose="020F0502020204030204" pitchFamily="34" charset="0"/>
              </a:rPr>
              <a:t>Formulate equations in </a:t>
            </a:r>
            <a:r>
              <a:rPr lang="en-GB" sz="2800" b="1" dirty="0">
                <a:latin typeface="Segoe UI" panose="020B0502040204020203" pitchFamily="34" charset="0"/>
                <a:ea typeface="Calibri" panose="020F0502020204030204" pitchFamily="34" charset="0"/>
              </a:rPr>
              <a:t>MATLAB</a:t>
            </a:r>
          </a:p>
          <a:p>
            <a:pPr marL="322791" indent="-285750" algn="just"/>
            <a:r>
              <a:rPr lang="en-GB" sz="2800" dirty="0">
                <a:latin typeface="Segoe UI" panose="020B0502040204020203" pitchFamily="34" charset="0"/>
                <a:ea typeface="Calibri" panose="020F0502020204030204" pitchFamily="34" charset="0"/>
              </a:rPr>
              <a:t>Model filtration (set long-term trends)</a:t>
            </a:r>
          </a:p>
          <a:p>
            <a:pPr marL="322791" indent="-285750" algn="just"/>
            <a:r>
              <a:rPr lang="en-GB" sz="2800" dirty="0">
                <a:latin typeface="Segoe UI" panose="020B0502040204020203" pitchFamily="34" charset="0"/>
                <a:ea typeface="Calibri" panose="020F0502020204030204" pitchFamily="34" charset="0"/>
              </a:rPr>
              <a:t>Model calibration (set coefficients, steady state, and standard deviations from economic intuition)</a:t>
            </a:r>
          </a:p>
          <a:p>
            <a:pPr marL="322791" indent="-285750" algn="just"/>
            <a:r>
              <a:rPr lang="en-GB" sz="2800" dirty="0">
                <a:latin typeface="Segoe UI" panose="020B0502040204020203" pitchFamily="34" charset="0"/>
                <a:ea typeface="Calibri" panose="020F0502020204030204" pitchFamily="34" charset="0"/>
              </a:rPr>
              <a:t>Forecast and scenarios comparison</a:t>
            </a:r>
          </a:p>
          <a:p>
            <a:pPr marL="322791" indent="-285750" algn="just"/>
            <a:endParaRPr lang="en-GB" sz="2800" dirty="0">
              <a:latin typeface="Segoe UI" panose="020B0502040204020203" pitchFamily="34" charset="0"/>
              <a:ea typeface="Calibri" panose="020F0502020204030204" pitchFamily="34" charset="0"/>
            </a:endParaRPr>
          </a:p>
          <a:p>
            <a:pPr marL="322791" indent="-285750" algn="just"/>
            <a:endParaRPr lang="en-GB" sz="2800" dirty="0">
              <a:latin typeface="Segoe UI" panose="020B0502040204020203" pitchFamily="34" charset="0"/>
              <a:ea typeface="Calibri" panose="020F0502020204030204" pitchFamily="34" charset="0"/>
            </a:endParaRPr>
          </a:p>
          <a:p>
            <a:pPr marL="322791" indent="-285750" algn="just"/>
            <a:endParaRPr lang="en-GB" sz="2800" dirty="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  <a:p>
            <a:pPr marL="37041" indent="0" algn="just"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90B28-DEE7-4F3B-BFD9-622FD842E3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B3B5BF1-36F4-440D-932D-C7907D6A98BA}" type="slidenum">
              <a:rPr lang="en-GB" smtClean="0">
                <a:solidFill>
                  <a:srgbClr val="FFFFFF"/>
                </a:solidFill>
              </a:rPr>
              <a:pPr>
                <a:defRPr/>
              </a:pPr>
              <a:t>7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6EFF0B9-7A7B-430F-BD49-B1454B695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75" y="168275"/>
            <a:ext cx="8884923" cy="612775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Functioning</a:t>
            </a:r>
          </a:p>
        </p:txBody>
      </p:sp>
    </p:spTree>
    <p:extLst>
      <p:ext uri="{BB962C8B-B14F-4D97-AF65-F5344CB8AC3E}">
        <p14:creationId xmlns:p14="http://schemas.microsoft.com/office/powerpoint/2010/main" val="4182231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90B28-DEE7-4F3B-BFD9-622FD842E3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B3B5BF1-36F4-440D-932D-C7907D6A98BA}" type="slidenum">
              <a:rPr lang="en-GB" smtClean="0">
                <a:solidFill>
                  <a:srgbClr val="FFFFFF"/>
                </a:solidFill>
              </a:rPr>
              <a:pPr>
                <a:defRPr/>
              </a:pPr>
              <a:t>8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6EFF0B9-7A7B-430F-BD49-B1454B695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75" y="168275"/>
            <a:ext cx="8884923" cy="612775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Application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C3124E-7E5E-4A63-B4BD-EFCF510552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1057" y="1340775"/>
            <a:ext cx="9764284" cy="4974299"/>
          </a:xfrm>
        </p:spPr>
        <p:txBody>
          <a:bodyPr/>
          <a:lstStyle/>
          <a:p>
            <a:pPr algn="just"/>
            <a:r>
              <a:rPr lang="en-GB" sz="2400" dirty="0"/>
              <a:t> The QMFM exercise complements short-term Now/Forecasts for GDP (using correlations between GDP and leading indicators) and medium-term (5 years) annual projections with the intMF.</a:t>
            </a:r>
          </a:p>
          <a:p>
            <a:pPr algn="just"/>
            <a:r>
              <a:rPr lang="en-GB" sz="2400" dirty="0"/>
              <a:t>The modelling infrastructure is designed to facilitate forecast and scenario creation, as well as model calibration and assessment.</a:t>
            </a:r>
          </a:p>
          <a:p>
            <a:pPr algn="just"/>
            <a:r>
              <a:rPr lang="en-GB" sz="2400" dirty="0"/>
              <a:t>A key feature is the ability to effortlessly create comparison reports; we can compare different model parameterizations and forecast scenarios</a:t>
            </a:r>
          </a:p>
          <a:p>
            <a:pPr algn="just"/>
            <a:r>
              <a:rPr lang="en-GB" sz="2400" dirty="0"/>
              <a:t>The results include, among others, equation decompositions, impulse responses, variance decompositions, forecast performance analysis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01470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3975" y="167884"/>
            <a:ext cx="8194874" cy="720080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Rwanda QMFM Uses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01162" y="1028700"/>
            <a:ext cx="9479137" cy="5446717"/>
          </a:xfrm>
        </p:spPr>
        <p:txBody>
          <a:bodyPr/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0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just"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Rwanda’s QMFM model can be used to: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Quarterly forecasts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GDP, core and headline CPI inflation, aggregate demands, fiscal deficit and debt, exchange and interest rates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(near-term forecast)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capture the effects of exogenous shocks and possible policy responses, such a world food and energy price increases, world interest rates, domestic supply and demand shocks, and shifts in aid and capital flows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Model fiscal policy scenarios</a:t>
            </a:r>
          </a:p>
          <a:p>
            <a:pPr marL="0" indent="0" algn="just">
              <a:spcAft>
                <a:spcPts val="600"/>
              </a:spcAft>
              <a:buNone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spcAft>
                <a:spcPts val="600"/>
              </a:spcAft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2721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ppLayoutTitl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4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8_Leadership Retreat 2013 v3">
  <a:themeElements>
    <a:clrScheme name="MINICOM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MINICOM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txDef>
      <a:spPr>
        <a:solidFill>
          <a:srgbClr val="FFCCFF"/>
        </a:solidFill>
      </a:spPr>
      <a:bodyPr wrap="square" rtlCol="0">
        <a:spAutoFit/>
      </a:bodyPr>
      <a:lstStyle>
        <a:defPPr>
          <a:defRPr sz="1600" dirty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Leadership Retreat 2013 v3</Template>
  <TotalTime>33641</TotalTime>
  <Words>576</Words>
  <Application>Microsoft Office PowerPoint</Application>
  <PresentationFormat>Custom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4" baseType="lpstr">
      <vt:lpstr>Arial</vt:lpstr>
      <vt:lpstr>Bookman Old Style</vt:lpstr>
      <vt:lpstr>Calibri</vt:lpstr>
      <vt:lpstr>Cambria</vt:lpstr>
      <vt:lpstr>Gill Sans MT</vt:lpstr>
      <vt:lpstr>Lucida Grande</vt:lpstr>
      <vt:lpstr>Menlo</vt:lpstr>
      <vt:lpstr>Segoe UI</vt:lpstr>
      <vt:lpstr>Symbol</vt:lpstr>
      <vt:lpstr>Trebuchet MS</vt:lpstr>
      <vt:lpstr>Wingdings</vt:lpstr>
      <vt:lpstr>Wingdings 2</vt:lpstr>
      <vt:lpstr>Wingdings 3</vt:lpstr>
      <vt:lpstr>4_Origin</vt:lpstr>
      <vt:lpstr>8_Leadership Retreat 2013 v3</vt:lpstr>
      <vt:lpstr>PowerPoint Presentation</vt:lpstr>
      <vt:lpstr>Outline</vt:lpstr>
      <vt:lpstr>Key terms </vt:lpstr>
      <vt:lpstr>General properties</vt:lpstr>
      <vt:lpstr>Cont’</vt:lpstr>
      <vt:lpstr>Blocks/ Main Equations</vt:lpstr>
      <vt:lpstr>Model Functioning</vt:lpstr>
      <vt:lpstr>Model Application</vt:lpstr>
      <vt:lpstr>Rwanda QMFM Uses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Leonard RUGWABIZA M, Economic Advisor</dc:creator>
  <cp:lastModifiedBy>Elie SEBAGABO</cp:lastModifiedBy>
  <cp:revision>1796</cp:revision>
  <cp:lastPrinted>2017-05-16T09:23:31Z</cp:lastPrinted>
  <dcterms:created xsi:type="dcterms:W3CDTF">2013-02-22T16:06:20Z</dcterms:created>
  <dcterms:modified xsi:type="dcterms:W3CDTF">2022-06-08T08:51:48Z</dcterms:modified>
</cp:coreProperties>
</file>