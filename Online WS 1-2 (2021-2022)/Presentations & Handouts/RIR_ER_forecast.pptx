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16" r:id="rId1"/>
  </p:sldMasterIdLst>
  <p:notesMasterIdLst>
    <p:notesMasterId r:id="rId8"/>
  </p:notesMasterIdLst>
  <p:handoutMasterIdLst>
    <p:handoutMasterId r:id="rId9"/>
  </p:handoutMasterIdLst>
  <p:sldIdLst>
    <p:sldId id="399" r:id="rId2"/>
    <p:sldId id="509" r:id="rId3"/>
    <p:sldId id="512" r:id="rId4"/>
    <p:sldId id="510" r:id="rId5"/>
    <p:sldId id="513" r:id="rId6"/>
    <p:sldId id="508" r:id="rId7"/>
  </p:sldIdLst>
  <p:sldSz cx="12192000" cy="6858000"/>
  <p:notesSz cx="6669088" cy="97758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9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C0A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619" autoAdjust="0"/>
    <p:restoredTop sz="90171" autoAdjust="0"/>
  </p:normalViewPr>
  <p:slideViewPr>
    <p:cSldViewPr>
      <p:cViewPr varScale="1">
        <p:scale>
          <a:sx n="57" d="100"/>
          <a:sy n="57" d="100"/>
        </p:scale>
        <p:origin x="456" y="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5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196" y="-102"/>
      </p:cViewPr>
      <p:guideLst>
        <p:guide orient="horz" pos="3079"/>
        <p:guide pos="210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3"/>
            <a:ext cx="2890542" cy="488961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7041" y="3"/>
            <a:ext cx="2890542" cy="488961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952391-E811-40BD-BF31-152F5CC3E0D7}" type="datetime1">
              <a:rPr lang="en-US"/>
              <a:pPr/>
              <a:t>2/10/2023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285187"/>
            <a:ext cx="2890542" cy="488961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7041" y="9285187"/>
            <a:ext cx="2890542" cy="488961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8EE828-0B52-48BD-AC30-C13AE1823DC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595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3"/>
            <a:ext cx="2890542" cy="488961"/>
          </a:xfrm>
          <a:prstGeom prst="rect">
            <a:avLst/>
          </a:prstGeom>
        </p:spPr>
        <p:txBody>
          <a:bodyPr vert="horz" wrap="square" lIns="92830" tIns="46415" rIns="92830" bIns="46415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041" y="3"/>
            <a:ext cx="2890542" cy="488961"/>
          </a:xfrm>
          <a:prstGeom prst="rect">
            <a:avLst/>
          </a:prstGeom>
        </p:spPr>
        <p:txBody>
          <a:bodyPr vert="horz" wrap="square" lIns="92830" tIns="46415" rIns="92830" bIns="4641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91EC5310-AD28-478C-9D1F-55544C92CB9A}" type="datetime1">
              <a:rPr lang="en-US"/>
              <a:pPr/>
              <a:t>2/10/2023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8" y="733425"/>
            <a:ext cx="6513512" cy="366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2830" tIns="46415" rIns="92830" bIns="46415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7514" y="4644275"/>
            <a:ext cx="5334063" cy="4398952"/>
          </a:xfrm>
          <a:prstGeom prst="rect">
            <a:avLst/>
          </a:prstGeom>
        </p:spPr>
        <p:txBody>
          <a:bodyPr vert="horz" wrap="square" lIns="92830" tIns="46415" rIns="92830" bIns="4641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4" y="9285187"/>
            <a:ext cx="2890542" cy="488961"/>
          </a:xfrm>
          <a:prstGeom prst="rect">
            <a:avLst/>
          </a:prstGeom>
        </p:spPr>
        <p:txBody>
          <a:bodyPr vert="horz" wrap="square" lIns="92830" tIns="46415" rIns="92830" bIns="46415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041" y="9285187"/>
            <a:ext cx="2890542" cy="488961"/>
          </a:xfrm>
          <a:prstGeom prst="rect">
            <a:avLst/>
          </a:prstGeom>
        </p:spPr>
        <p:txBody>
          <a:bodyPr vert="horz" wrap="square" lIns="92830" tIns="46415" rIns="92830" bIns="46415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21D82EB7-C704-4A63-B645-1186AD9BB91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0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0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7788" y="733425"/>
            <a:ext cx="6513512" cy="36655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6762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dirty="0">
                <a:solidFill>
                  <a:srgbClr val="FF0000"/>
                </a:solidFill>
                <a:latin typeface="+mn-lt"/>
                <a:ea typeface="Calibri" panose="020F0502020204030204" pitchFamily="34" charset="0"/>
              </a:rPr>
              <a:t>RIR, level is calculated as the forward average over 4 quarters plus a time-varying lending premium (+8% points above the IB rate)</a:t>
            </a:r>
            <a:r>
              <a:rPr lang="en-US" sz="1200" b="1" dirty="0">
                <a:solidFill>
                  <a:srgbClr val="FF0000"/>
                </a:solidFill>
                <a:latin typeface="+mn-lt"/>
                <a:ea typeface="Calibri" panose="020F0502020204030204" pitchFamily="34" charset="0"/>
              </a:rPr>
              <a:t>. RIR trend drives final demand in the long-run. 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08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7788" y="733425"/>
            <a:ext cx="6513512" cy="36655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3424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454400" y="1371600"/>
            <a:ext cx="833120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454400" y="1371600"/>
            <a:ext cx="30480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3860800" y="1371600"/>
            <a:ext cx="792480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Rwanda CAADP Post Compact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 flipV="1">
            <a:off x="304800" y="1350964"/>
            <a:ext cx="29464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3860800" y="6248400"/>
            <a:ext cx="7823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  <a:buFont typeface="Symbol" charset="2"/>
              <a:buNone/>
            </a:pPr>
            <a:endParaRPr lang="en-US" sz="1000" dirty="0">
              <a:solidFill>
                <a:schemeClr val="bg2"/>
              </a:solidFill>
              <a:latin typeface="Bookman Old Style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454400" y="4191000"/>
            <a:ext cx="30480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450167" y="4191000"/>
            <a:ext cx="8343900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860800" y="4267200"/>
            <a:ext cx="782319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60800" y="4724400"/>
            <a:ext cx="7823199" cy="457200"/>
          </a:xfrm>
        </p:spPr>
        <p:txBody>
          <a:bodyPr/>
          <a:lstStyle>
            <a:lvl1pPr marL="0" indent="0" algn="r">
              <a:buNone/>
              <a:defRPr sz="20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625601" y="1066800"/>
            <a:ext cx="10240433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838200"/>
          </a:xfrm>
          <a:prstGeom prst="rect">
            <a:avLst/>
          </a:prstGeom>
        </p:spPr>
        <p:txBody>
          <a:bodyPr anchor="b" anchorCtr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347200" y="6416676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latin typeface="Gill Sans MT" charset="0"/>
              </a:defRPr>
            </a:lvl1pPr>
          </a:lstStyle>
          <a:p>
            <a:fld id="{D97AE203-F84D-4A7F-B161-8561326BE07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en-GB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970CC022-FA3D-4B6F-94CC-171F6923194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0C3105CC-1B2D-4903-971E-6A5C773A19C5}" type="datetime1">
              <a:rPr lang="en-US"/>
              <a:pPr/>
              <a:t>2/10/2023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D18-9295-5C12-B7F8-D8E37640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3A11-90E3-6BC7-796C-FBF7B4348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7D45-0C98-9643-133E-7CF04135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9336-2E43-44A0-ADE1-7669CAFC9F7E}" type="datetimeFigureOut">
              <a:rPr lang="x-none" smtClean="0"/>
              <a:t>2/10/2023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CEDC-4AD8-AC4F-ED12-34EC3D3D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55A3-94B7-8CEE-EB38-2E387C05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78F0-BBE9-411C-9D0D-17F9871AB4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1388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03200" y="1219200"/>
            <a:ext cx="113792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203201" y="6629400"/>
            <a:ext cx="11741151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1028" name="Picture 1" descr="armoiri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 flipH="1" flipV="1">
            <a:off x="203200" y="152400"/>
            <a:ext cx="10160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charset="2"/>
        <a:buChar char=""/>
        <a:defRPr sz="2000" kern="120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23A900"/>
        </a:buClr>
        <a:buSzPct val="70000"/>
        <a:buFont typeface="Wingdings" charset="2"/>
        <a:buChar char="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"/>
        <a:defRPr sz="16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905000" y="914400"/>
            <a:ext cx="8458200" cy="1077218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endParaRPr lang="en-US" sz="2800" b="1" dirty="0">
              <a:solidFill>
                <a:schemeClr val="accent6">
                  <a:lumMod val="50000"/>
                </a:schemeClr>
              </a:solidFill>
              <a:latin typeface="Bookman Old Style" pitchFamily="18" charset="0"/>
              <a:cs typeface="Arial" pitchFamily="34" charset="0"/>
            </a:endParaRPr>
          </a:p>
          <a:p>
            <a:pPr algn="ctr">
              <a:defRPr/>
            </a:pPr>
            <a:r>
              <a:rPr lang="en-GB" sz="36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QMFM Forecast Presentation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705100" y="3810000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23 December 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D461C-AF99-CA87-9913-64F386934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82514"/>
            <a:ext cx="10218420" cy="708086"/>
          </a:xfrm>
        </p:spPr>
        <p:txBody>
          <a:bodyPr/>
          <a:lstStyle/>
          <a:p>
            <a:pPr algn="ctr"/>
            <a:r>
              <a:rPr lang="en-GB" sz="2000" b="1" dirty="0">
                <a:latin typeface="Gill Sans MT" panose="020B0502020104020203" pitchFamily="34" charset="0"/>
              </a:rPr>
              <a:t>3. Monetary policy instruments (money markets rates) outlook </a:t>
            </a:r>
            <a:br>
              <a:rPr lang="en-GB" sz="2000" b="1" dirty="0">
                <a:latin typeface="Gill Sans MT" panose="020B0502020104020203" pitchFamily="34" charset="0"/>
              </a:rPr>
            </a:br>
            <a:r>
              <a:rPr lang="en-GB" sz="2000" b="1" dirty="0">
                <a:latin typeface="Gill Sans MT" panose="020B0502020104020203" pitchFamily="34" charset="0"/>
              </a:rPr>
              <a:t>3.1 </a:t>
            </a:r>
            <a:r>
              <a:rPr lang="en-GB" sz="1800" b="1" dirty="0">
                <a:solidFill>
                  <a:srgbClr val="2F5496"/>
                </a:solidFill>
                <a:effectLst/>
                <a:ea typeface="Calibri" panose="020F0502020204030204" pitchFamily="34" charset="0"/>
              </a:rPr>
              <a:t>Policy interest rate </a:t>
            </a:r>
            <a:r>
              <a:rPr lang="en-GB" sz="1800" dirty="0">
                <a:solidFill>
                  <a:srgbClr val="2F5496"/>
                </a:solidFill>
                <a:effectLst/>
                <a:ea typeface="Calibri" panose="020F0502020204030204" pitchFamily="34" charset="0"/>
              </a:rPr>
              <a:t>(model uses IB rate)</a:t>
            </a: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7A3D9E-5E50-9D64-5D9E-4B663735A6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611E60-F71A-4903-AD11-FFB5CB786CCA}"/>
              </a:ext>
            </a:extLst>
          </p:cNvPr>
          <p:cNvSpPr txBox="1"/>
          <p:nvPr/>
        </p:nvSpPr>
        <p:spPr>
          <a:xfrm>
            <a:off x="685800" y="4648200"/>
            <a:ext cx="11201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GB" sz="1600" b="1" dirty="0">
                <a:latin typeface="+mn-lt"/>
              </a:rPr>
              <a:t>The Central Bank Rate (CBR) policy rate aims to influence the interbank (IB) market rate (</a:t>
            </a:r>
            <a:r>
              <a:rPr lang="en-US" sz="1600" b="1" dirty="0">
                <a:latin typeface="+mn-lt"/>
              </a:rPr>
              <a:t>IB rate steered to policy target to minimize inflation and output pressures)</a:t>
            </a:r>
            <a:r>
              <a:rPr lang="en-GB" sz="1600" b="1" dirty="0">
                <a:latin typeface="+mn-lt"/>
              </a:rPr>
              <a:t>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GB" sz="1600" b="1" dirty="0">
                <a:latin typeface="+mn-lt"/>
              </a:rPr>
              <a:t>In pre-Covid 2017-19, IB rate was below its trend level. During 2020-21, despite negative inflation deviation and output gaps, rates were reduced little and can only be “explained” by positive shocks.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GB" sz="1600" b="1" dirty="0">
                <a:latin typeface="+mn-lt"/>
              </a:rPr>
              <a:t>During 2022, policy rates were raised between 4.5 to 6% (6.5 % in </a:t>
            </a:r>
            <a:r>
              <a:rPr lang="en-US" sz="1600" b="1" dirty="0">
                <a:latin typeface="+mn-lt"/>
              </a:rPr>
              <a:t>Nov 2022</a:t>
            </a:r>
            <a:r>
              <a:rPr lang="en-GB" sz="1600" b="1" dirty="0">
                <a:latin typeface="+mn-lt"/>
              </a:rPr>
              <a:t>) as a response to hiking inflation (</a:t>
            </a:r>
            <a:r>
              <a:rPr lang="en-US" sz="1600" b="1" dirty="0">
                <a:latin typeface="+mn-lt"/>
              </a:rPr>
              <a:t>tuned 6% to 6.5% for Q4 2022 and Q1 2023, respectively).</a:t>
            </a:r>
            <a:endParaRPr lang="en-GB" sz="1600" b="1" dirty="0">
              <a:latin typeface="+mn-lt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1600" b="1" dirty="0">
                <a:latin typeface="+mn-lt"/>
              </a:rPr>
              <a:t>After 2022, the combined effect of recent shocks-induced inflation surge (</a:t>
            </a:r>
            <a:r>
              <a:rPr lang="en-GB" sz="1600" b="1" dirty="0">
                <a:latin typeface="+mn-lt"/>
              </a:rPr>
              <a:t>expected to subside in 2023-24), and expected inflation {4Qo ahead} falls will contribute to a moderate </a:t>
            </a:r>
            <a:r>
              <a:rPr lang="en-US" sz="1600" b="1" dirty="0">
                <a:latin typeface="+mn-lt"/>
              </a:rPr>
              <a:t>interest rate around its 6.5 % trend</a:t>
            </a:r>
            <a:endParaRPr lang="en-A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64392F-FEFC-3C39-D782-75DD3A3F9388}"/>
              </a:ext>
            </a:extLst>
          </p:cNvPr>
          <p:cNvSpPr txBox="1"/>
          <p:nvPr/>
        </p:nvSpPr>
        <p:spPr>
          <a:xfrm>
            <a:off x="685800" y="1051351"/>
            <a:ext cx="51130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FF0000"/>
                </a:solidFill>
              </a:rPr>
              <a:t> </a:t>
            </a:r>
            <a:r>
              <a:rPr lang="en-GB" sz="1400" b="1" dirty="0"/>
              <a:t>Interbank (IB) rate and Trend</a:t>
            </a:r>
            <a:endParaRPr lang="en-AE" sz="14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74E30E4-950D-DF2E-6FEC-852546502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6850"/>
            <a:ext cx="5181600" cy="32575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8094144-FEDF-0289-0BAA-2B732008DB3D}"/>
              </a:ext>
            </a:extLst>
          </p:cNvPr>
          <p:cNvSpPr txBox="1"/>
          <p:nvPr/>
        </p:nvSpPr>
        <p:spPr>
          <a:xfrm>
            <a:off x="6705600" y="1051351"/>
            <a:ext cx="5113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Interbank (IB) rate drivers (policy rule)</a:t>
            </a:r>
            <a:endParaRPr lang="en-AE" sz="1400" b="1" dirty="0"/>
          </a:p>
          <a:p>
            <a:endParaRPr lang="en-US" sz="1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86CABF4-E6DA-54BE-7056-BC208C917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320" y="1466850"/>
            <a:ext cx="595630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573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D461C-AF99-CA87-9913-64F386934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282514"/>
            <a:ext cx="7696200" cy="631886"/>
          </a:xfrm>
        </p:spPr>
        <p:txBody>
          <a:bodyPr/>
          <a:lstStyle/>
          <a:p>
            <a:r>
              <a:rPr lang="en-GB" sz="2000" b="1" dirty="0">
                <a:latin typeface="Gill Sans MT" panose="020B0502020104020203" pitchFamily="34" charset="0"/>
              </a:rPr>
              <a:t>3.2 </a:t>
            </a:r>
            <a:r>
              <a:rPr lang="en-GB" sz="1800" b="1" dirty="0">
                <a:solidFill>
                  <a:srgbClr val="2F5496"/>
                </a:solidFill>
                <a:ea typeface="Calibri" panose="020F0502020204030204" pitchFamily="34" charset="0"/>
              </a:rPr>
              <a:t>Real policy interest rate (RIR, using IB rate) and lending rate </a:t>
            </a:r>
            <a:endParaRPr lang="en-US" sz="1800" b="1" dirty="0">
              <a:solidFill>
                <a:srgbClr val="2F5496"/>
              </a:solidFill>
              <a:ea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7A3D9E-5E50-9D64-5D9E-4B663735A6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851579-49D5-CBB5-34BB-E39DDA531F52}"/>
              </a:ext>
            </a:extLst>
          </p:cNvPr>
          <p:cNvSpPr txBox="1"/>
          <p:nvPr/>
        </p:nvSpPr>
        <p:spPr>
          <a:xfrm>
            <a:off x="609600" y="4751963"/>
            <a:ext cx="1118235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GB" sz="1600" b="1" dirty="0">
                <a:latin typeface="+mn-lt"/>
                <a:ea typeface="Calibri" panose="020F0502020204030204" pitchFamily="34" charset="0"/>
              </a:rPr>
              <a:t>The movement in the RIR (as affected by NBR policies against inflation—changes in IB rate) is transmitted to the RIR for private demand.</a:t>
            </a:r>
            <a:endParaRPr lang="en-US" sz="1600" b="1" dirty="0">
              <a:solidFill>
                <a:srgbClr val="FF0000"/>
              </a:solidFill>
              <a:latin typeface="+mn-lt"/>
              <a:ea typeface="Calibri" panose="020F050202020403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1600" b="1" dirty="0">
                <a:latin typeface="+mn-lt"/>
                <a:ea typeface="Calibri" panose="020F0502020204030204" pitchFamily="34" charset="0"/>
              </a:rPr>
              <a:t>In the forecast, t</a:t>
            </a:r>
            <a:r>
              <a:rPr lang="en-GB" sz="1600" b="1" dirty="0">
                <a:latin typeface="+mn-lt"/>
                <a:ea typeface="Calibri" panose="020F0502020204030204" pitchFamily="34" charset="0"/>
              </a:rPr>
              <a:t>he policy rate and RIR are expected to rise back to their trend levels in 2023-24 and, with the average lending rate following, exert upward pressure on private demand.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GB" sz="1600" b="1" dirty="0">
                <a:latin typeface="+mn-lt"/>
                <a:ea typeface="Calibri" panose="020F0502020204030204" pitchFamily="34" charset="0"/>
              </a:rPr>
              <a:t>Onward after 2024, the model interest rate </a:t>
            </a:r>
            <a:r>
              <a:rPr lang="en-US" sz="1600" b="1" dirty="0">
                <a:latin typeface="+mn-lt"/>
                <a:ea typeface="Calibri" panose="020F0502020204030204" pitchFamily="34" charset="0"/>
              </a:rPr>
              <a:t>moves up close to IB trend (determined by trend foreign RIR (0%), country risk premium (2%), and inflation target (4.5%).</a:t>
            </a:r>
          </a:p>
          <a:p>
            <a:pPr algn="just"/>
            <a:endParaRPr lang="en-US" sz="1600" b="1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231B95-E85A-18F5-DFCF-0BE67797A8EA}"/>
              </a:ext>
            </a:extLst>
          </p:cNvPr>
          <p:cNvSpPr txBox="1"/>
          <p:nvPr/>
        </p:nvSpPr>
        <p:spPr>
          <a:xfrm>
            <a:off x="6477001" y="1185746"/>
            <a:ext cx="53149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RIR (IB rate) components, %</a:t>
            </a:r>
            <a:endParaRPr lang="en-AE" sz="1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A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DE52CD-32E5-598F-CB99-E5EADEFC6FFC}"/>
              </a:ext>
            </a:extLst>
          </p:cNvPr>
          <p:cNvSpPr txBox="1"/>
          <p:nvPr/>
        </p:nvSpPr>
        <p:spPr>
          <a:xfrm>
            <a:off x="1183640" y="1219200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</a:rPr>
              <a:t>RIR (IB rate) and trend, %</a:t>
            </a:r>
            <a:endParaRPr lang="en-AE" dirty="0">
              <a:latin typeface="+mn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7FA010-D100-D7C9-2351-B2E6C7B73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1567131"/>
            <a:ext cx="5562600" cy="31525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D1D9D5D-5871-3A31-0846-7D2D9DBDA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588532"/>
            <a:ext cx="5181600" cy="313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404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27DA4-7B04-D000-E9A2-C9D935C93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228600"/>
            <a:ext cx="7696200" cy="762000"/>
          </a:xfrm>
        </p:spPr>
        <p:txBody>
          <a:bodyPr/>
          <a:lstStyle/>
          <a:p>
            <a:pPr indent="457200">
              <a:lnSpc>
                <a:spcPct val="107000"/>
              </a:lnSpc>
            </a:pPr>
            <a:r>
              <a:rPr lang="en-GB" sz="2400" b="1" dirty="0">
                <a:latin typeface="Gill Sans MT" panose="020B0502020104020203" pitchFamily="34" charset="0"/>
              </a:rPr>
              <a:t>3.3 Real and nominal exchange rates (ER &amp; RER)</a:t>
            </a:r>
            <a:br>
              <a:rPr lang="en-GB" sz="2400" b="1" dirty="0">
                <a:latin typeface="Gill Sans MT" panose="020B0502020104020203" pitchFamily="34" charset="0"/>
              </a:rPr>
            </a:br>
            <a:r>
              <a:rPr lang="en-US" sz="1200" i="1" dirty="0">
                <a:solidFill>
                  <a:srgbClr val="2F5496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ER is set (“tuned”) for Q4 2022 and Q1 2023 based on NBR projection.</a:t>
            </a:r>
            <a:endParaRPr lang="en-AE" sz="1200" b="1" i="1" dirty="0">
              <a:latin typeface="Gill Sans MT" panose="020B05020201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E4796B-67B9-6335-87FB-4E74BE7CE4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3D784C-48F6-FD5F-B431-21779ECBFA83}"/>
              </a:ext>
            </a:extLst>
          </p:cNvPr>
          <p:cNvSpPr txBox="1"/>
          <p:nvPr/>
        </p:nvSpPr>
        <p:spPr>
          <a:xfrm>
            <a:off x="6248400" y="4069023"/>
            <a:ext cx="53340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b="1" dirty="0">
                <a:latin typeface="+mn-lt"/>
              </a:rPr>
              <a:t>After a sharp decline since mid-2021 (a real appreciation, driven by the surge in CPI core),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b="1" dirty="0">
                <a:latin typeface="+mn-lt"/>
              </a:rPr>
              <a:t>RER is forecasted to gradually rise back to its (zero) trend level during 2023, with a positive impact on demand (net exports)</a:t>
            </a:r>
            <a:endParaRPr lang="en-US" sz="1400" b="1" dirty="0"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>
                <a:latin typeface="+mn-lt"/>
              </a:rPr>
              <a:t>RER depends on nominal exchange rate volatility (along with inflation) driven by its shocks and positive exchange rate target.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>
                <a:latin typeface="+mn-lt"/>
              </a:rPr>
              <a:t>Forecast RER gradually converging to zero depreciation target after 2023-24 ---reflecting a favorable positive impact on final demand (i.e., NE)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/>
          </a:p>
        </p:txBody>
      </p:sp>
      <p:pic>
        <p:nvPicPr>
          <p:cNvPr id="4" name="Picture 3" descr="Chart, histogram&#10;&#10;Description automatically generated">
            <a:extLst>
              <a:ext uri="{FF2B5EF4-FFF2-40B4-BE49-F238E27FC236}">
                <a16:creationId xmlns:a16="http://schemas.microsoft.com/office/drawing/2014/main" id="{7430DD00-CDF0-A6A0-7A4C-39D7CFE84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391979"/>
            <a:ext cx="5334000" cy="2590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81CDB8-148B-F274-01E0-269F5F91C8BC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447800"/>
            <a:ext cx="5334000" cy="2590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4E9B3C-570B-89CE-7D36-8B8CD623D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038600"/>
            <a:ext cx="5334001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968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4EED9-CBB1-EE91-3038-6C7FEDA64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3.4 Real policy rates vs. Final demand summary</a:t>
            </a:r>
            <a:endParaRPr lang="en-A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DFE1AB-566B-84E0-11B3-DF3D9204B9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61A70-5620-A72D-97D8-4EA8896A0C8F}"/>
              </a:ext>
            </a:extLst>
          </p:cNvPr>
          <p:cNvSpPr txBox="1"/>
          <p:nvPr/>
        </p:nvSpPr>
        <p:spPr>
          <a:xfrm>
            <a:off x="990600" y="1524000"/>
            <a:ext cx="10820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2F5496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The real interest, </a:t>
            </a:r>
            <a:r>
              <a:rPr lang="en-US" b="1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RIR</a:t>
            </a:r>
            <a:r>
              <a:rPr lang="en-US" b="1" dirty="0">
                <a:solidFill>
                  <a:srgbClr val="2F5496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(Interbank rate): </a:t>
            </a:r>
            <a:endParaRPr lang="en-US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The RIR forecast rises (albeit from a low</a:t>
            </a:r>
            <a:r>
              <a:rPr lang="en-US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negative level) and </a:t>
            </a:r>
            <a:r>
              <a:rPr lang="en-US" i="1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exerts </a:t>
            </a:r>
            <a:r>
              <a:rPr lang="en-US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 weak upward pressure on final demand(i.e.,</a:t>
            </a:r>
            <a:r>
              <a:rPr lang="en-US" i="1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private demand)</a:t>
            </a:r>
            <a:r>
              <a:rPr lang="en-US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en-US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rgbClr val="2F5496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The real exchange rate, RER 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RER </a:t>
            </a:r>
            <a:r>
              <a:rPr lang="en-US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is forecasted to rise from a low, negative level and </a:t>
            </a:r>
            <a:r>
              <a:rPr lang="en-US" i="1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exert </a:t>
            </a:r>
            <a:r>
              <a:rPr lang="en-US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weaker</a:t>
            </a:r>
            <a:r>
              <a:rPr lang="en-US" i="1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downward pressure on final demand</a:t>
            </a:r>
            <a:r>
              <a:rPr lang="en-US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 Both drivers of private demand are influenced by the NBR for output stabilization reasons while steering them to the trend and steady-state levels (determined outside the model).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Both return gradually to their steady states of RIR of 2% and RER depreciation rate of 0%, resp.</a:t>
            </a:r>
            <a:endParaRPr lang="en-AE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732401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1143001"/>
            <a:ext cx="8458200" cy="4078039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endParaRPr lang="en-US" sz="3300" b="1" dirty="0">
              <a:solidFill>
                <a:schemeClr val="accent6">
                  <a:lumMod val="50000"/>
                </a:schemeClr>
              </a:solidFill>
              <a:latin typeface="Bookman Old Style" pitchFamily="18" charset="0"/>
              <a:cs typeface="Arial" pitchFamily="34" charset="0"/>
            </a:endParaRPr>
          </a:p>
          <a:p>
            <a:pPr algn="ctr">
              <a:defRPr/>
            </a:pPr>
            <a:endParaRPr lang="en-GB" sz="40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THANK YOU</a:t>
            </a:r>
          </a:p>
          <a:p>
            <a:pPr algn="ctr">
              <a:defRPr/>
            </a:pPr>
            <a:endParaRPr lang="en-GB" sz="3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endParaRPr lang="en-US" sz="3600" b="1" dirty="0">
              <a:latin typeface="Calibri" pitchFamily="34" charset="0"/>
              <a:cs typeface="Arial" pitchFamily="34" charset="0"/>
            </a:endParaRPr>
          </a:p>
          <a:p>
            <a:pPr algn="ctr">
              <a:defRPr/>
            </a:pPr>
            <a:endParaRPr lang="en-US" sz="4000" b="1" dirty="0">
              <a:solidFill>
                <a:schemeClr val="accent2">
                  <a:lumMod val="50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pPr algn="r">
              <a:defRPr/>
            </a:pPr>
            <a:endParaRPr lang="en-GB" i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endParaRPr lang="en-US" sz="2200" b="1" dirty="0">
              <a:latin typeface="Calibri" pitchFamily="34" charset="0"/>
              <a:cs typeface="Arial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2223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25587</TotalTime>
  <Words>623</Words>
  <Application>Microsoft Office PowerPoint</Application>
  <PresentationFormat>Widescreen</PresentationFormat>
  <Paragraphs>44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Bookman Old Style</vt:lpstr>
      <vt:lpstr>Calibri</vt:lpstr>
      <vt:lpstr>Gill Sans MT</vt:lpstr>
      <vt:lpstr>Symbol</vt:lpstr>
      <vt:lpstr>Times New Roman</vt:lpstr>
      <vt:lpstr>Wingdings</vt:lpstr>
      <vt:lpstr>Wingdings 3</vt:lpstr>
      <vt:lpstr>2_Origin</vt:lpstr>
      <vt:lpstr>PowerPoint Presentation</vt:lpstr>
      <vt:lpstr>3. Monetary policy instruments (money markets rates) outlook  3.1 Policy interest rate (model uses IB rate)</vt:lpstr>
      <vt:lpstr>3.2 Real policy interest rate (RIR, using IB rate) and lending rate </vt:lpstr>
      <vt:lpstr>3.3 Real and nominal exchange rates (ER &amp; RER) ER is set (“tuned”) for Q4 2022 and Q1 2023 based on NBR projection.</vt:lpstr>
      <vt:lpstr>3.4 Real policy rates vs. Final demand 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Presentation</dc:title>
  <dc:creator>leorugwa</dc:creator>
  <cp:lastModifiedBy>Elie SEBAGABO</cp:lastModifiedBy>
  <cp:revision>1052</cp:revision>
  <cp:lastPrinted>2016-05-02T15:08:06Z</cp:lastPrinted>
  <dcterms:created xsi:type="dcterms:W3CDTF">2011-04-18T20:01:25Z</dcterms:created>
  <dcterms:modified xsi:type="dcterms:W3CDTF">2023-02-10T14:11:55Z</dcterms:modified>
</cp:coreProperties>
</file>