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16" r:id="rId1"/>
  </p:sldMasterIdLst>
  <p:notesMasterIdLst>
    <p:notesMasterId r:id="rId15"/>
  </p:notesMasterIdLst>
  <p:handoutMasterIdLst>
    <p:handoutMasterId r:id="rId16"/>
  </p:handoutMasterIdLst>
  <p:sldIdLst>
    <p:sldId id="399" r:id="rId2"/>
    <p:sldId id="524" r:id="rId3"/>
    <p:sldId id="539" r:id="rId4"/>
    <p:sldId id="560" r:id="rId5"/>
    <p:sldId id="529" r:id="rId6"/>
    <p:sldId id="540" r:id="rId7"/>
    <p:sldId id="554" r:id="rId8"/>
    <p:sldId id="555" r:id="rId9"/>
    <p:sldId id="556" r:id="rId10"/>
    <p:sldId id="557" r:id="rId11"/>
    <p:sldId id="558" r:id="rId12"/>
    <p:sldId id="559" r:id="rId13"/>
    <p:sldId id="508" r:id="rId14"/>
  </p:sldIdLst>
  <p:sldSz cx="9144000" cy="6858000" type="screen4x3"/>
  <p:notesSz cx="6669088" cy="97758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79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C0A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619" autoAdjust="0"/>
    <p:restoredTop sz="93979" autoAdjust="0"/>
  </p:normalViewPr>
  <p:slideViewPr>
    <p:cSldViewPr>
      <p:cViewPr>
        <p:scale>
          <a:sx n="94" d="100"/>
          <a:sy n="94" d="100"/>
        </p:scale>
        <p:origin x="-56" y="-7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5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196" y="-102"/>
      </p:cViewPr>
      <p:guideLst>
        <p:guide orient="horz" pos="3079"/>
        <p:guide pos="210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3"/>
            <a:ext cx="2890542" cy="488961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7041" y="3"/>
            <a:ext cx="2890542" cy="488961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952391-E811-40BD-BF31-152F5CC3E0D7}" type="datetime1">
              <a:rPr lang="en-US"/>
              <a:pPr/>
              <a:t>11/8/2023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285187"/>
            <a:ext cx="2890542" cy="488961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7041" y="9285187"/>
            <a:ext cx="2890542" cy="488961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C8EE828-0B52-48BD-AC30-C13AE1823DC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5950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3"/>
            <a:ext cx="2890542" cy="488961"/>
          </a:xfrm>
          <a:prstGeom prst="rect">
            <a:avLst/>
          </a:prstGeom>
        </p:spPr>
        <p:txBody>
          <a:bodyPr vert="horz" wrap="square" lIns="92830" tIns="46415" rIns="92830" bIns="46415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041" y="3"/>
            <a:ext cx="2890542" cy="488961"/>
          </a:xfrm>
          <a:prstGeom prst="rect">
            <a:avLst/>
          </a:prstGeom>
        </p:spPr>
        <p:txBody>
          <a:bodyPr vert="horz" wrap="square" lIns="92830" tIns="46415" rIns="92830" bIns="4641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91EC5310-AD28-478C-9D1F-55544C92CB9A}" type="datetime1">
              <a:rPr lang="en-US"/>
              <a:pPr/>
              <a:t>11/8/2023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92175" y="733425"/>
            <a:ext cx="4884738" cy="3665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2830" tIns="46415" rIns="92830" bIns="46415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7514" y="4644275"/>
            <a:ext cx="5334063" cy="4398952"/>
          </a:xfrm>
          <a:prstGeom prst="rect">
            <a:avLst/>
          </a:prstGeom>
        </p:spPr>
        <p:txBody>
          <a:bodyPr vert="horz" wrap="square" lIns="92830" tIns="46415" rIns="92830" bIns="4641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4" y="9285187"/>
            <a:ext cx="2890542" cy="488961"/>
          </a:xfrm>
          <a:prstGeom prst="rect">
            <a:avLst/>
          </a:prstGeom>
        </p:spPr>
        <p:txBody>
          <a:bodyPr vert="horz" wrap="square" lIns="92830" tIns="46415" rIns="92830" bIns="46415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041" y="9285187"/>
            <a:ext cx="2890542" cy="488961"/>
          </a:xfrm>
          <a:prstGeom prst="rect">
            <a:avLst/>
          </a:prstGeom>
        </p:spPr>
        <p:txBody>
          <a:bodyPr vert="horz" wrap="square" lIns="92830" tIns="46415" rIns="92830" bIns="46415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21D82EB7-C704-4A63-B645-1186AD9BB91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5015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0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6762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F12C5-7BCF-4478-B47F-0DDFD5592BEE}" type="slidenum">
              <a:rPr lang="en-US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329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F12C5-7BCF-4478-B47F-0DDFD5592BEE}" type="slidenum">
              <a:rPr lang="en-US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167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F12C5-7BCF-4478-B47F-0DDFD5592BEE}" type="slidenum">
              <a:rPr lang="en-US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074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F12C5-7BCF-4478-B47F-0DDFD5592BEE}" type="slidenum">
              <a:rPr lang="en-US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8763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F12C5-7BCF-4478-B47F-0DDFD5592BEE}" type="slidenum">
              <a:rPr lang="en-US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9529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F12C5-7BCF-4478-B47F-0DDFD5592BEE}" type="slidenum">
              <a:rPr lang="en-US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828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F12C5-7BCF-4478-B47F-0DDFD5592BEE}" type="slidenum">
              <a:rPr lang="en-US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6916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F12C5-7BCF-4478-B47F-0DDFD5592BEE}" type="slidenum">
              <a:rPr lang="en-US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901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F12C5-7BCF-4478-B47F-0DDFD5592BEE}" type="slidenum">
              <a:rPr lang="en-US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1284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F12C5-7BCF-4478-B47F-0DDFD5592BEE}" type="slidenum">
              <a:rPr lang="en-US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0087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12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3424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590800" y="1371600"/>
            <a:ext cx="6248400" cy="236220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2590800" y="1371600"/>
            <a:ext cx="228600" cy="23622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2895600" y="1371600"/>
            <a:ext cx="5943600" cy="2362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>
                <a:latin typeface="Gill Sans MT" charset="0"/>
                <a:cs typeface="Times New Roman" charset="0"/>
              </a:rPr>
              <a:t>Rwanda CAADP Post Compact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>
                <a:latin typeface="Gill Sans MT" charset="0"/>
                <a:cs typeface="Times New Roman" charset="0"/>
              </a:rPr>
              <a:t>High-Level Stakeholder Meeting</a:t>
            </a:r>
          </a:p>
        </p:txBody>
      </p:sp>
      <p:pic>
        <p:nvPicPr>
          <p:cNvPr id="10" name="Picture 1" descr="armoiri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 rot="10800000" flipH="1" flipV="1">
            <a:off x="228600" y="1350963"/>
            <a:ext cx="2209800" cy="238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ubtitle 8"/>
          <p:cNvSpPr txBox="1">
            <a:spLocks/>
          </p:cNvSpPr>
          <p:nvPr userDrawn="1"/>
        </p:nvSpPr>
        <p:spPr>
          <a:xfrm>
            <a:off x="2895600" y="6248400"/>
            <a:ext cx="58674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r">
              <a:spcBef>
                <a:spcPts val="600"/>
              </a:spcBef>
              <a:buClr>
                <a:schemeClr val="accent1"/>
              </a:buClr>
              <a:buSzPct val="76000"/>
              <a:buFont typeface="Symbol" charset="2"/>
              <a:buNone/>
            </a:pPr>
            <a:endParaRPr lang="en-US" sz="1000">
              <a:solidFill>
                <a:schemeClr val="bg2"/>
              </a:solidFill>
              <a:latin typeface="Bookman Old Style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2590800" y="4191000"/>
            <a:ext cx="228600" cy="990600"/>
          </a:xfrm>
          <a:prstGeom prst="rect">
            <a:avLst/>
          </a:prstGeom>
          <a:solidFill>
            <a:schemeClr val="accent3"/>
          </a:solidFill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2587625" y="4191000"/>
            <a:ext cx="6257925" cy="990600"/>
          </a:xfrm>
          <a:prstGeom prst="rect">
            <a:avLst/>
          </a:prstGeom>
          <a:noFill/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895600" y="4267200"/>
            <a:ext cx="5867399" cy="4572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r">
              <a:defRPr sz="24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895600" y="4724400"/>
            <a:ext cx="5867399" cy="457200"/>
          </a:xfrm>
        </p:spPr>
        <p:txBody>
          <a:bodyPr/>
          <a:lstStyle>
            <a:lvl1pPr marL="0" indent="0" algn="r">
              <a:buNone/>
              <a:defRPr sz="20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raight Connector 2"/>
          <p:cNvSpPr>
            <a:spLocks noChangeShapeType="1"/>
          </p:cNvSpPr>
          <p:nvPr userDrawn="1"/>
        </p:nvSpPr>
        <p:spPr bwMode="auto">
          <a:xfrm>
            <a:off x="1219200" y="1066800"/>
            <a:ext cx="7680325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28600"/>
            <a:ext cx="7696200" cy="838200"/>
          </a:xfrm>
          <a:prstGeom prst="rect">
            <a:avLst/>
          </a:prstGeom>
        </p:spPr>
        <p:txBody>
          <a:bodyPr anchor="b" anchorCtr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7010400" y="6416675"/>
            <a:ext cx="19812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/>
                </a:solidFill>
                <a:latin typeface="Gill Sans MT" charset="0"/>
              </a:defRPr>
            </a:lvl1pPr>
          </a:lstStyle>
          <a:p>
            <a:fld id="{D97AE203-F84D-4A7F-B161-8561326BE07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endParaRPr lang="en-GB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970CC022-FA3D-4B6F-94CC-171F6923194E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0C3105CC-1B2D-4903-971E-6A5C773A19C5}" type="datetime1">
              <a:rPr lang="en-US"/>
              <a:pPr/>
              <a:t>11/8/2023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7D18-9295-5C12-B7F8-D8E376409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3A11-90E3-6BC7-796C-FBF7B4348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E7D45-0C98-9643-133E-7CF04135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9336-2E43-44A0-ADE1-7669CAFC9F7E}" type="datetimeFigureOut">
              <a:rPr lang="x-none" smtClean="0"/>
              <a:t>11/8/2023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FCEDC-4AD8-AC4F-ED12-34EC3D3D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55A3-94B7-8CEE-EB38-2E387C05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78F0-BBE9-411C-9D0D-17F9871AB4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51388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152400" y="1219200"/>
            <a:ext cx="85344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152400" y="6629400"/>
            <a:ext cx="8805863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pic>
        <p:nvPicPr>
          <p:cNvPr id="1028" name="Picture 1" descr="armoiri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0800000" flipH="1" flipV="1">
            <a:off x="152400" y="152400"/>
            <a:ext cx="762000" cy="8207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ＭＳ Ｐゴシック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charset="2"/>
        <a:buChar char=""/>
        <a:defRPr sz="2000" kern="1200">
          <a:solidFill>
            <a:schemeClr val="tx2"/>
          </a:solidFill>
          <a:latin typeface="+mn-lt"/>
          <a:ea typeface="ＭＳ Ｐゴシック" charset="-128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23A900"/>
        </a:buClr>
        <a:buSzPct val="70000"/>
        <a:buFont typeface="Wingdings" charset="2"/>
        <a:buChar char="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"/>
        <a:defRPr sz="16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0" y="4916488"/>
            <a:ext cx="184150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900" dirty="0"/>
              <a:t/>
            </a:r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609600" y="1676400"/>
            <a:ext cx="8229600" cy="584775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3200" b="1" i="0" dirty="0">
                <a:solidFill>
                  <a:srgbClr val="002060"/>
                </a:solidFill>
                <a:latin typeface="+mn-lt"/>
              </a:rPr>
              <a:t>Quarterly Macro-Fiscal Model  (QMFM)</a:t>
            </a:r>
            <a:endParaRPr lang="en-US" sz="3200" b="1" dirty="0">
              <a:solidFill>
                <a:schemeClr val="accent6">
                  <a:lumMod val="50000"/>
                </a:schemeClr>
              </a:solidFill>
              <a:latin typeface="+mn-lt"/>
              <a:cs typeface="Arial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838200" y="3048000"/>
            <a:ext cx="7543800" cy="1588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81000" y="3429000"/>
            <a:ext cx="84582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>
                <a:solidFill>
                  <a:srgbClr val="002060"/>
                </a:solidFill>
              </a:rPr>
              <a:t>Prepared by Modelling Team, Macro DG.</a:t>
            </a:r>
          </a:p>
          <a:p>
            <a:endParaRPr lang="en-GB" sz="4800" dirty="0">
              <a:solidFill>
                <a:srgbClr val="002060"/>
              </a:solidFill>
            </a:endParaRPr>
          </a:p>
          <a:p>
            <a:r>
              <a:rPr lang="en-GB" sz="2800" dirty="0">
                <a:solidFill>
                  <a:srgbClr val="002060"/>
                </a:solidFill>
              </a:rPr>
              <a:t>                             May 24,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 bwMode="auto">
          <a:xfrm>
            <a:off x="914400" y="76200"/>
            <a:ext cx="7924800" cy="8382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compatLnSpc="1">
            <a:prstTxWarp prst="textNoShape">
              <a:avLst/>
            </a:prstTxWarp>
          </a:bodyPr>
          <a:lstStyle/>
          <a:p>
            <a:pPr algn="ctr"/>
            <a:r>
              <a:rPr lang="en-GB" sz="3200" b="1" i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1. Key model features</a:t>
            </a:r>
            <a:endParaRPr lang="en-US" sz="32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981845" y="6529449"/>
            <a:ext cx="1981200" cy="365125"/>
          </a:xfrm>
        </p:spPr>
        <p:txBody>
          <a:bodyPr/>
          <a:lstStyle/>
          <a:p>
            <a:fld id="{48A2F751-F4AC-4430-BFB5-B231CAE7FF06}" type="slidenum">
              <a:rPr lang="en-US" b="1">
                <a:solidFill>
                  <a:schemeClr val="tx1"/>
                </a:solidFill>
                <a:latin typeface="Arial Black" charset="0"/>
              </a:rPr>
              <a:pPr/>
              <a:t>1</a:t>
            </a:fld>
            <a:endParaRPr lang="en-US" b="1" dirty="0">
              <a:solidFill>
                <a:schemeClr val="tx1"/>
              </a:solidFill>
              <a:latin typeface="Arial Black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9600" y="1143000"/>
            <a:ext cx="8077200" cy="5858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The model is based on the </a:t>
            </a:r>
            <a:r>
              <a:rPr lang="en-US" sz="18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standard FPAS approach as used by many CB and some MoF</a:t>
            </a:r>
            <a:r>
              <a:rPr lang="en-US" sz="18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with the four main blocks, and some additional features common to many recent FPAS.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demand curve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determining output gap, including the effect of fiscal policies on macro indicators;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Phillips curves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(core, food, and energy, as per official CPI components), with trends in relative prices;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hybrid ER rule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driven by (i) domestic - foreign interest rate differentials (UIP); and (ii) target ER driven by trend RER rate change and domestic 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─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foreign inflation differential;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(modified Taylor) interest rate rule,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responding to expected inflation deviation and the output gap, and allowing for a response to a deviation of the ER change from targeted ER change;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31618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 bwMode="auto">
          <a:xfrm>
            <a:off x="914400" y="76200"/>
            <a:ext cx="7924800" cy="8382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compatLnSpc="1">
            <a:prstTxWarp prst="textNoShape">
              <a:avLst/>
            </a:prstTxWarp>
          </a:bodyPr>
          <a:lstStyle/>
          <a:p>
            <a:pPr algn="ctr"/>
            <a:r>
              <a:rPr lang="en-US" sz="3200" b="1" dirty="0">
                <a:solidFill>
                  <a:schemeClr val="accent4">
                    <a:lumMod val="75000"/>
                  </a:schemeClr>
                </a:solidFill>
                <a:ea typeface="+mn-ea"/>
                <a:cs typeface="+mn-cs"/>
              </a:rPr>
              <a:t>Novel features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981845" y="6529449"/>
            <a:ext cx="1981200" cy="365125"/>
          </a:xfrm>
        </p:spPr>
        <p:txBody>
          <a:bodyPr/>
          <a:lstStyle/>
          <a:p>
            <a:fld id="{48A2F751-F4AC-4430-BFB5-B231CAE7FF06}" type="slidenum">
              <a:rPr lang="en-US" b="1">
                <a:solidFill>
                  <a:schemeClr val="tx1"/>
                </a:solidFill>
                <a:latin typeface="Arial Black" charset="0"/>
              </a:rPr>
              <a:pPr/>
              <a:t>2</a:t>
            </a:fld>
            <a:endParaRPr lang="en-US" b="1" dirty="0">
              <a:solidFill>
                <a:schemeClr val="tx1"/>
              </a:solidFill>
              <a:latin typeface="Arial Black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0C78E4-E00C-09ED-D437-AF1B912213B9}"/>
              </a:ext>
            </a:extLst>
          </p:cNvPr>
          <p:cNvSpPr txBox="1"/>
          <p:nvPr/>
        </p:nvSpPr>
        <p:spPr>
          <a:xfrm>
            <a:off x="0" y="1295400"/>
            <a:ext cx="9144000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final demand (FD) components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in output; 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--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(private) Consumption, Investment, Government demand, Export, and Import gaps (the latter from FD import shares)—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modified IS block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incorporating fiscal variables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—structural, cyclical and discretionary components in govt revenue and expenditure—allowing simulating fiscal policies and facilitating coordination with monetary policies—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fiscal block with partially endogenous fiscal policies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tracing financing of govt deficit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(grants, domestic/foreign borrowing), debt stocks and interest payments (for target sustainable debt/GDP)—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financing/debt auxiliary variables</a:t>
            </a:r>
            <a:endParaRPr lang="en-AE" sz="1800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incorporating monetary and BOP equations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(money demand, net public borrowing, private capital flows,..) which do not feedback into main model—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financial flow auxiliary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deriving key macro variables in levels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for comparison with other projection models (esp. </a:t>
            </a:r>
            <a:r>
              <a:rPr lang="en-US" sz="18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intMF</a:t>
            </a:r>
            <a:r>
              <a:rPr lang="en-US" sz="18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).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QMFM database is drawn from intMF, its source files, and </a:t>
            </a:r>
            <a:r>
              <a:rPr lang="en-US" sz="18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WEOGAS/GEE</a:t>
            </a:r>
            <a:r>
              <a:rPr lang="en-US" sz="18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as used for intMF projections</a:t>
            </a:r>
            <a:endParaRPr lang="en-US" sz="1800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2880">
              <a:spcAft>
                <a:spcPts val="600"/>
              </a:spcAft>
            </a:pP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imposes consistency on macro-data between NA, BOP, and Fiscal (ex. resource balance, govt financing flows, govt consumption,…) and fiscal and govt debt data</a:t>
            </a:r>
            <a:endParaRPr lang="en-A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specific other features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distinguishing a lending rate premium above the IB rate; having non-linearity because most fiscal variables are in percent of GDP.</a:t>
            </a:r>
            <a:endParaRPr lang="en-US" sz="1800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2474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Standard 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914400"/>
            <a:ext cx="7696200" cy="4874527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680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 bwMode="auto">
          <a:xfrm>
            <a:off x="914400" y="76200"/>
            <a:ext cx="7924800" cy="8382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compatLnSpc="1">
            <a:prstTxWarp prst="textNoShape">
              <a:avLst/>
            </a:prstTxWarp>
          </a:bodyPr>
          <a:lstStyle/>
          <a:p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ea typeface="+mn-ea"/>
                <a:cs typeface="+mn-cs"/>
              </a:rPr>
              <a:t>2. Main relationships and transmission mechanisms in QMFM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981845" y="6529449"/>
            <a:ext cx="1981200" cy="365125"/>
          </a:xfrm>
        </p:spPr>
        <p:txBody>
          <a:bodyPr/>
          <a:lstStyle/>
          <a:p>
            <a:fld id="{48A2F751-F4AC-4430-BFB5-B231CAE7FF06}" type="slidenum">
              <a:rPr lang="en-US" b="1">
                <a:solidFill>
                  <a:schemeClr val="tx1"/>
                </a:solidFill>
                <a:latin typeface="Arial Black" charset="0"/>
              </a:rPr>
              <a:pPr/>
              <a:t>4</a:t>
            </a:fld>
            <a:endParaRPr lang="en-US" b="1" dirty="0">
              <a:solidFill>
                <a:schemeClr val="tx1"/>
              </a:solidFill>
              <a:latin typeface="Arial Black" charset="0"/>
            </a:endParaRPr>
          </a:p>
        </p:txBody>
      </p:sp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28CA58E6-6BDA-9B78-9D69-9AE440910B6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163093"/>
            <a:ext cx="8886845" cy="55425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7114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 bwMode="auto">
          <a:xfrm>
            <a:off x="914400" y="76200"/>
            <a:ext cx="7924800" cy="8382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compatLnSpc="1">
            <a:prstTxWarp prst="textNoShape">
              <a:avLst/>
            </a:prstTxWarp>
          </a:bodyPr>
          <a:lstStyle/>
          <a:p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ea typeface="+mn-ea"/>
                <a:cs typeface="+mn-cs"/>
              </a:rPr>
              <a:t>Fiscal transmission mechanisms 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981845" y="6529449"/>
            <a:ext cx="1981200" cy="365125"/>
          </a:xfrm>
        </p:spPr>
        <p:txBody>
          <a:bodyPr/>
          <a:lstStyle/>
          <a:p>
            <a:fld id="{48A2F751-F4AC-4430-BFB5-B231CAE7FF06}" type="slidenum">
              <a:rPr lang="en-US" b="1">
                <a:solidFill>
                  <a:schemeClr val="tx1"/>
                </a:solidFill>
                <a:latin typeface="Arial Black" charset="0"/>
              </a:rPr>
              <a:pPr/>
              <a:t>5</a:t>
            </a:fld>
            <a:endParaRPr lang="en-US" b="1" dirty="0">
              <a:solidFill>
                <a:schemeClr val="tx1"/>
              </a:solidFill>
              <a:latin typeface="Arial Black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1E2740-95A0-F534-28EA-AFB7C913FD88}"/>
              </a:ext>
            </a:extLst>
          </p:cNvPr>
          <p:cNvSpPr txBox="1"/>
          <p:nvPr/>
        </p:nvSpPr>
        <p:spPr>
          <a:xfrm>
            <a:off x="381000" y="1295400"/>
            <a:ext cx="8458200" cy="5647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Gill Sans MT" panose="020B0502020104020203" pitchFamily="34" charset="0"/>
              </a:rPr>
              <a:t>In addition to standard interest, </a:t>
            </a:r>
            <a:r>
              <a:rPr lang="en-US" sz="2000" b="1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exchange rates and expectations channe</a:t>
            </a:r>
            <a:r>
              <a:rPr lang="en-US" sz="2000" b="1" dirty="0">
                <a:latin typeface="Gill Sans MT" panose="020B0502020104020203" pitchFamily="34" charset="0"/>
                <a:ea typeface="Calibri" panose="020F0502020204030204" pitchFamily="34" charset="0"/>
              </a:rPr>
              <a:t>ls;</a:t>
            </a: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0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irectly: 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government demand for G&amp;S affects output </a:t>
            </a:r>
            <a:r>
              <a:rPr lang="en-US" sz="20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directly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one of the aggregate demands determining output (modified IS curve)</a:t>
            </a:r>
            <a:endParaRPr lang="en-AE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ndirectly: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discretionary deficit (from govt demand for G&amp;S, transfers/subsidies, and non/tax revenue) </a:t>
            </a:r>
            <a:r>
              <a:rPr lang="en-GB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indirectly co-determines fiscal impulse which affects private consumption and investment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latter two discretionary deficit components affect disposable income and hence demand; the first component affects agents’ optimism and hence demand</a:t>
            </a:r>
            <a:endParaRPr lang="en-A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change in the structural deficit is the other determinant of the fiscal impulse</a:t>
            </a: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cyclical deficit 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counteracts the business cycle by raising govt demand for G&amp;S and raising incomes through transfers/subsidies and lower effective govt revenue collection in a downturn (and v.v. in an upturn). </a:t>
            </a:r>
            <a:endParaRPr lang="en-AE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55449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 bwMode="auto">
          <a:xfrm>
            <a:off x="914400" y="76200"/>
            <a:ext cx="7924800" cy="8382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compatLnSpc="1">
            <a:prstTxWarp prst="textNoShape">
              <a:avLst/>
            </a:prstTxWarp>
          </a:bodyPr>
          <a:lstStyle/>
          <a:p>
            <a:pPr algn="ctr"/>
            <a:r>
              <a:rPr lang="en-GB" sz="3200" b="1" dirty="0">
                <a:solidFill>
                  <a:schemeClr val="accent4">
                    <a:lumMod val="75000"/>
                  </a:schemeClr>
                </a:solidFill>
                <a:cs typeface="+mn-cs"/>
              </a:rPr>
              <a:t>2. Model blocks</a:t>
            </a:r>
            <a:r>
              <a:rPr lang="en-GB" sz="40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endParaRPr lang="en-US" sz="32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981845" y="6529449"/>
            <a:ext cx="1981200" cy="365125"/>
          </a:xfrm>
        </p:spPr>
        <p:txBody>
          <a:bodyPr/>
          <a:lstStyle/>
          <a:p>
            <a:fld id="{48A2F751-F4AC-4430-BFB5-B231CAE7FF06}" type="slidenum">
              <a:rPr lang="en-US" b="1">
                <a:solidFill>
                  <a:schemeClr val="tx1"/>
                </a:solidFill>
                <a:latin typeface="Arial Black" charset="0"/>
              </a:rPr>
              <a:pPr/>
              <a:t>6</a:t>
            </a:fld>
            <a:endParaRPr lang="en-US" b="1" dirty="0">
              <a:solidFill>
                <a:schemeClr val="tx1"/>
              </a:solidFill>
              <a:latin typeface="Arial Black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05307D-4FB7-DCDC-5E39-4BB0E7A7F6DF}"/>
              </a:ext>
            </a:extLst>
          </p:cNvPr>
          <p:cNvSpPr txBox="1"/>
          <p:nvPr/>
        </p:nvSpPr>
        <p:spPr>
          <a:xfrm>
            <a:off x="397565" y="1284884"/>
            <a:ext cx="4022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i="1" dirty="0">
                <a:solidFill>
                  <a:srgbClr val="002060"/>
                </a:solidFill>
              </a:rPr>
              <a:t>Fiscal policy </a:t>
            </a:r>
            <a:endParaRPr lang="en-AE" sz="2400" b="1" i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E5DD1F-AD97-6268-8D04-4F6A94D5F9EE}"/>
              </a:ext>
            </a:extLst>
          </p:cNvPr>
          <p:cNvSpPr txBox="1"/>
          <p:nvPr/>
        </p:nvSpPr>
        <p:spPr>
          <a:xfrm>
            <a:off x="180956" y="1981200"/>
            <a:ext cx="8782090" cy="491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latin typeface="+mn-lt"/>
              </a:rPr>
              <a:t>Deficit</a:t>
            </a:r>
            <a:r>
              <a:rPr lang="en-GB" sz="1800" dirty="0"/>
              <a:t> </a:t>
            </a:r>
          </a:p>
          <a:p>
            <a:r>
              <a:rPr lang="en-GB" sz="1800" b="1" dirty="0"/>
              <a:t>def</a:t>
            </a:r>
            <a:r>
              <a:rPr lang="en-GB" sz="1800" dirty="0"/>
              <a:t> = </a:t>
            </a:r>
            <a:r>
              <a:rPr lang="en-GB" sz="1800" dirty="0" err="1"/>
              <a:t>def_str</a:t>
            </a:r>
            <a:r>
              <a:rPr lang="en-GB" sz="1800" dirty="0"/>
              <a:t> + </a:t>
            </a:r>
            <a:r>
              <a:rPr lang="en-GB" sz="1800" dirty="0" err="1"/>
              <a:t>def_cyc</a:t>
            </a:r>
            <a:r>
              <a:rPr lang="en-GB" sz="1800" dirty="0"/>
              <a:t> + </a:t>
            </a:r>
            <a:r>
              <a:rPr lang="en-GB" sz="1800" dirty="0" err="1"/>
              <a:t>def_discr</a:t>
            </a:r>
            <a:endParaRPr lang="en-GB" sz="1800" dirty="0"/>
          </a:p>
          <a:p>
            <a:endParaRPr lang="en-GB" sz="1800" dirty="0"/>
          </a:p>
          <a:p>
            <a:r>
              <a:rPr lang="en-GB" sz="1800" i="1" dirty="0">
                <a:latin typeface="Gill Sans MT" panose="020B0502020104020203" pitchFamily="34" charset="0"/>
              </a:rPr>
              <a:t>Structural</a:t>
            </a:r>
            <a:r>
              <a:rPr lang="en-GB" sz="1800" i="1" dirty="0"/>
              <a:t> </a:t>
            </a:r>
          </a:p>
          <a:p>
            <a:r>
              <a:rPr lang="en-GB" sz="1800" dirty="0" err="1"/>
              <a:t>def_str</a:t>
            </a:r>
            <a:r>
              <a:rPr lang="en-GB" sz="1800" dirty="0"/>
              <a:t> = d4</a:t>
            </a:r>
            <a:r>
              <a:rPr lang="en-GB" sz="1800" dirty="0">
                <a:solidFill>
                  <a:srgbClr val="C00000"/>
                </a:solidFill>
              </a:rPr>
              <a:t>⟨0.95</a:t>
            </a:r>
            <a:r>
              <a:rPr lang="en-GB" sz="1800" dirty="0"/>
              <a:t>⟩ * </a:t>
            </a:r>
            <a:r>
              <a:rPr lang="en-GB" sz="1800" dirty="0" err="1"/>
              <a:t>def_str</a:t>
            </a:r>
            <a:r>
              <a:rPr lang="en-GB" sz="1800" dirty="0"/>
              <a:t>{-1} + (1 - d4</a:t>
            </a:r>
            <a:r>
              <a:rPr lang="en-GB" sz="1800" dirty="0">
                <a:solidFill>
                  <a:srgbClr val="C00000"/>
                </a:solidFill>
              </a:rPr>
              <a:t>⟨0.95⟩) </a:t>
            </a:r>
            <a:r>
              <a:rPr lang="en-GB" sz="1800" dirty="0"/>
              <a:t>* (ss_bor_str⟨6⟩ + ss_grants</a:t>
            </a:r>
            <a:r>
              <a:rPr lang="en-GB" sz="1800" dirty="0">
                <a:solidFill>
                  <a:srgbClr val="C00000"/>
                </a:solidFill>
              </a:rPr>
              <a:t>⟨5⟩) </a:t>
            </a:r>
            <a:r>
              <a:rPr lang="en-GB" sz="1800" dirty="0"/>
              <a:t>+ d6</a:t>
            </a:r>
            <a:r>
              <a:rPr lang="en-GB" sz="1800" dirty="0">
                <a:solidFill>
                  <a:srgbClr val="C00000"/>
                </a:solidFill>
              </a:rPr>
              <a:t>⟨0.02</a:t>
            </a:r>
            <a:r>
              <a:rPr lang="en-GB" sz="1800" dirty="0"/>
              <a:t>⟩ * (</a:t>
            </a:r>
            <a:r>
              <a:rPr lang="en-GB" sz="1800" dirty="0" err="1"/>
              <a:t>dl_gdem_tnd</a:t>
            </a:r>
            <a:r>
              <a:rPr lang="en-GB" sz="1800" dirty="0"/>
              <a:t> - </a:t>
            </a:r>
            <a:r>
              <a:rPr lang="en-GB" sz="1800" dirty="0" err="1"/>
              <a:t>dl_y_tnd</a:t>
            </a:r>
            <a:r>
              <a:rPr lang="en-GB" sz="1800" dirty="0"/>
              <a:t>) + </a:t>
            </a:r>
            <a:r>
              <a:rPr lang="en-GB" sz="1800" dirty="0" err="1"/>
              <a:t>shock_def_str</a:t>
            </a:r>
            <a:r>
              <a:rPr lang="en-GB" sz="1800" dirty="0">
                <a:solidFill>
                  <a:srgbClr val="C00000"/>
                </a:solidFill>
              </a:rPr>
              <a:t>⟨</a:t>
            </a:r>
            <a:r>
              <a:rPr lang="el-GR" sz="1800" dirty="0">
                <a:solidFill>
                  <a:srgbClr val="C00000"/>
                </a:solidFill>
              </a:rPr>
              <a:t>σ= 0.3⟩</a:t>
            </a:r>
            <a:endParaRPr lang="en-GB" sz="1800" dirty="0">
              <a:solidFill>
                <a:srgbClr val="C00000"/>
              </a:solidFill>
            </a:endParaRPr>
          </a:p>
          <a:p>
            <a:endParaRPr lang="en-GB" sz="1800" dirty="0">
              <a:solidFill>
                <a:srgbClr val="C00000"/>
              </a:solidFill>
            </a:endParaRPr>
          </a:p>
          <a:p>
            <a:r>
              <a:rPr lang="en-GB" sz="1800" i="1" dirty="0">
                <a:latin typeface="+mn-lt"/>
              </a:rPr>
              <a:t>Cyclical</a:t>
            </a:r>
          </a:p>
          <a:p>
            <a:r>
              <a:rPr lang="es-ES" sz="1800" dirty="0" err="1"/>
              <a:t>def_cyc</a:t>
            </a:r>
            <a:r>
              <a:rPr lang="es-ES" sz="1800" dirty="0"/>
              <a:t> = - d1</a:t>
            </a:r>
            <a:r>
              <a:rPr lang="es-ES" sz="1800" dirty="0">
                <a:solidFill>
                  <a:srgbClr val="C00000"/>
                </a:solidFill>
              </a:rPr>
              <a:t>⟨0.3⟩ </a:t>
            </a:r>
            <a:r>
              <a:rPr lang="es-ES" sz="1800" dirty="0"/>
              <a:t>* </a:t>
            </a:r>
            <a:r>
              <a:rPr lang="es-ES" sz="1800" dirty="0" err="1"/>
              <a:t>l_y_gap</a:t>
            </a:r>
            <a:r>
              <a:rPr lang="es-ES" sz="1800" dirty="0"/>
              <a:t>;</a:t>
            </a:r>
          </a:p>
          <a:p>
            <a:endParaRPr lang="en-GB" sz="1800" dirty="0"/>
          </a:p>
          <a:p>
            <a:pPr>
              <a:lnSpc>
                <a:spcPct val="130000"/>
              </a:lnSpc>
            </a:pPr>
            <a:r>
              <a:rPr lang="en-GB" sz="1800" i="1" dirty="0">
                <a:latin typeface="Gill Sans MT" panose="020B0502020104020203" pitchFamily="34" charset="0"/>
              </a:rPr>
              <a:t>Discretional</a:t>
            </a:r>
          </a:p>
          <a:p>
            <a:r>
              <a:rPr lang="en-GB" sz="1800" dirty="0" err="1"/>
              <a:t>def_discr</a:t>
            </a:r>
            <a:r>
              <a:rPr lang="en-GB" sz="1800" dirty="0"/>
              <a:t> = </a:t>
            </a:r>
            <a:r>
              <a:rPr lang="en-GB" sz="1800" dirty="0">
                <a:solidFill>
                  <a:srgbClr val="C00000"/>
                </a:solidFill>
              </a:rPr>
              <a:t>d2⟨0⟩ </a:t>
            </a:r>
            <a:r>
              <a:rPr lang="en-GB" sz="1800" dirty="0"/>
              <a:t>* </a:t>
            </a:r>
            <a:r>
              <a:rPr lang="en-GB" sz="1800" dirty="0" err="1"/>
              <a:t>def_discr</a:t>
            </a:r>
            <a:r>
              <a:rPr lang="en-GB" sz="1800" dirty="0"/>
              <a:t>{-1} + </a:t>
            </a:r>
            <a:r>
              <a:rPr lang="en-GB" sz="1800" dirty="0">
                <a:solidFill>
                  <a:srgbClr val="C00000"/>
                </a:solidFill>
              </a:rPr>
              <a:t>d5⟨1⟩ </a:t>
            </a:r>
            <a:r>
              <a:rPr lang="en-GB" sz="1800" dirty="0"/>
              <a:t>* w_y_gdem</a:t>
            </a:r>
            <a:r>
              <a:rPr lang="en-GB" sz="1800" dirty="0">
                <a:solidFill>
                  <a:srgbClr val="C00000"/>
                </a:solidFill>
              </a:rPr>
              <a:t>⟨0.23⟩ </a:t>
            </a:r>
            <a:r>
              <a:rPr lang="en-GB" sz="1800" dirty="0"/>
              <a:t>* </a:t>
            </a:r>
            <a:r>
              <a:rPr lang="en-GB" sz="1800" dirty="0" err="1"/>
              <a:t>l_gdem_gap</a:t>
            </a:r>
            <a:r>
              <a:rPr lang="en-GB" sz="1800" dirty="0"/>
              <a:t> + </a:t>
            </a:r>
            <a:r>
              <a:rPr lang="en-GB" sz="1800" dirty="0" err="1"/>
              <a:t>shock_def_discr</a:t>
            </a:r>
            <a:r>
              <a:rPr lang="en-GB" sz="1800" dirty="0">
                <a:solidFill>
                  <a:srgbClr val="C00000"/>
                </a:solidFill>
              </a:rPr>
              <a:t>⟨</a:t>
            </a:r>
            <a:r>
              <a:rPr lang="el-GR" sz="1800" dirty="0">
                <a:solidFill>
                  <a:srgbClr val="C00000"/>
                </a:solidFill>
              </a:rPr>
              <a:t>σ= 3⟩</a:t>
            </a:r>
            <a:endParaRPr lang="en-GB" sz="1800" dirty="0">
              <a:solidFill>
                <a:srgbClr val="C00000"/>
              </a:solidFill>
            </a:endParaRPr>
          </a:p>
          <a:p>
            <a:endParaRPr lang="en-GB" sz="1800" dirty="0"/>
          </a:p>
          <a:p>
            <a:r>
              <a:rPr lang="en-GB" sz="1800" b="1" i="1" dirty="0">
                <a:latin typeface="+mn-lt"/>
              </a:rPr>
              <a:t>Fiscal impulse (</a:t>
            </a:r>
            <a:r>
              <a:rPr lang="en-GB" sz="1800" b="1" i="1" dirty="0" err="1">
                <a:latin typeface="+mn-lt"/>
              </a:rPr>
              <a:t>discr+str</a:t>
            </a:r>
            <a:r>
              <a:rPr lang="en-GB" sz="1800" b="1" i="1" dirty="0">
                <a:latin typeface="+mn-lt"/>
              </a:rPr>
              <a:t>)</a:t>
            </a:r>
          </a:p>
          <a:p>
            <a:r>
              <a:rPr lang="en-GB" sz="1800" dirty="0" err="1"/>
              <a:t>fisc_imp</a:t>
            </a:r>
            <a:r>
              <a:rPr lang="en-GB" sz="1800" dirty="0"/>
              <a:t> =  </a:t>
            </a:r>
            <a:r>
              <a:rPr lang="en-GB" sz="1800" dirty="0" err="1"/>
              <a:t>def_discr</a:t>
            </a:r>
            <a:r>
              <a:rPr lang="en-GB" sz="1800" dirty="0"/>
              <a:t> +  (</a:t>
            </a:r>
            <a:r>
              <a:rPr lang="en-GB" sz="1800" dirty="0" err="1"/>
              <a:t>def_str</a:t>
            </a:r>
            <a:r>
              <a:rPr lang="en-GB" sz="1800" dirty="0"/>
              <a:t> - </a:t>
            </a:r>
            <a:r>
              <a:rPr lang="en-GB" sz="1800" dirty="0" err="1"/>
              <a:t>def_str</a:t>
            </a:r>
            <a:r>
              <a:rPr lang="en-GB" sz="1800" dirty="0"/>
              <a:t>{-1})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80382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 bwMode="auto">
          <a:xfrm>
            <a:off x="914400" y="76200"/>
            <a:ext cx="7924800" cy="8382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compatLnSpc="1">
            <a:prstTxWarp prst="textNoShape">
              <a:avLst/>
            </a:prstTxWarp>
          </a:bodyPr>
          <a:lstStyle/>
          <a:p>
            <a:pPr algn="ctr"/>
            <a:r>
              <a:rPr lang="en-GB" sz="3200" b="1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Final Demand</a:t>
            </a:r>
            <a:endParaRPr lang="en-US" sz="32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981845" y="6529449"/>
            <a:ext cx="1981200" cy="365125"/>
          </a:xfrm>
        </p:spPr>
        <p:txBody>
          <a:bodyPr/>
          <a:lstStyle/>
          <a:p>
            <a:fld id="{48A2F751-F4AC-4430-BFB5-B231CAE7FF06}" type="slidenum">
              <a:rPr lang="en-US" b="1">
                <a:solidFill>
                  <a:schemeClr val="tx1"/>
                </a:solidFill>
                <a:latin typeface="Arial Black" charset="0"/>
              </a:rPr>
              <a:pPr/>
              <a:t>7</a:t>
            </a:fld>
            <a:endParaRPr lang="en-US" b="1" dirty="0">
              <a:solidFill>
                <a:schemeClr val="tx1"/>
              </a:solidFill>
              <a:latin typeface="Arial Black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B52D57-3780-8C92-8AA9-E130FF32F553}"/>
              </a:ext>
            </a:extLst>
          </p:cNvPr>
          <p:cNvSpPr txBox="1"/>
          <p:nvPr/>
        </p:nvSpPr>
        <p:spPr>
          <a:xfrm>
            <a:off x="304800" y="1219200"/>
            <a:ext cx="865824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+mn-lt"/>
              </a:rPr>
              <a:t>Agg. Output gap</a:t>
            </a:r>
          </a:p>
          <a:p>
            <a:r>
              <a:rPr lang="en-GB" sz="1400" b="1" dirty="0"/>
              <a:t>l_y_gap </a:t>
            </a:r>
            <a:r>
              <a:rPr lang="en-GB" sz="1400" dirty="0"/>
              <a:t>=  </a:t>
            </a:r>
            <a:r>
              <a:rPr lang="en-GB" sz="1400" dirty="0" err="1"/>
              <a:t>w_y_cons</a:t>
            </a:r>
            <a:r>
              <a:rPr lang="en-GB" sz="1400" dirty="0"/>
              <a:t> </a:t>
            </a:r>
            <a:r>
              <a:rPr lang="en-GB" sz="1400" dirty="0">
                <a:solidFill>
                  <a:srgbClr val="C00000"/>
                </a:solidFill>
              </a:rPr>
              <a:t>⟨ 0 .78 ⟩ </a:t>
            </a:r>
            <a:r>
              <a:rPr lang="en-GB" sz="1400" dirty="0"/>
              <a:t>* </a:t>
            </a:r>
            <a:r>
              <a:rPr lang="en-GB" sz="1400" dirty="0" err="1"/>
              <a:t>l_cons_gap</a:t>
            </a:r>
            <a:r>
              <a:rPr lang="en-GB" sz="1400" dirty="0"/>
              <a:t> + </a:t>
            </a:r>
            <a:r>
              <a:rPr lang="en-GB" sz="1400" dirty="0" err="1"/>
              <a:t>w_y_inv</a:t>
            </a:r>
            <a:r>
              <a:rPr lang="en-GB" sz="1400" dirty="0"/>
              <a:t> </a:t>
            </a:r>
            <a:r>
              <a:rPr lang="en-GB" sz="1400" dirty="0">
                <a:solidFill>
                  <a:srgbClr val="C00000"/>
                </a:solidFill>
              </a:rPr>
              <a:t>⟨ 0 .13 </a:t>
            </a:r>
            <a:r>
              <a:rPr lang="en-GB" sz="1400" dirty="0"/>
              <a:t>⟩ * </a:t>
            </a:r>
            <a:r>
              <a:rPr lang="en-GB" sz="1400" dirty="0" err="1"/>
              <a:t>l_inv_gap</a:t>
            </a:r>
            <a:r>
              <a:rPr lang="en-GB" sz="1400" dirty="0"/>
              <a:t> + </a:t>
            </a:r>
            <a:r>
              <a:rPr lang="en-GB" sz="1400" dirty="0" err="1"/>
              <a:t>w_y_gdem</a:t>
            </a:r>
            <a:r>
              <a:rPr lang="en-GB" sz="1400" dirty="0"/>
              <a:t> </a:t>
            </a:r>
            <a:r>
              <a:rPr lang="en-GB" sz="1400" dirty="0">
                <a:solidFill>
                  <a:srgbClr val="C00000"/>
                </a:solidFill>
              </a:rPr>
              <a:t>⟨ 0 .23 ⟩ </a:t>
            </a:r>
            <a:r>
              <a:rPr lang="en-GB" sz="1400" dirty="0"/>
              <a:t>* </a:t>
            </a:r>
            <a:r>
              <a:rPr lang="en-GB" sz="1400" dirty="0" err="1"/>
              <a:t>l_gdem_gap</a:t>
            </a:r>
            <a:r>
              <a:rPr lang="en-GB" sz="1400" dirty="0"/>
              <a:t> + </a:t>
            </a:r>
            <a:r>
              <a:rPr lang="en-GB" sz="1400" dirty="0" err="1"/>
              <a:t>w_y_exp</a:t>
            </a:r>
            <a:r>
              <a:rPr lang="en-GB" sz="1400" dirty="0"/>
              <a:t> </a:t>
            </a:r>
            <a:r>
              <a:rPr lang="en-GB" sz="1400" dirty="0">
                <a:solidFill>
                  <a:srgbClr val="C00000"/>
                </a:solidFill>
              </a:rPr>
              <a:t>⟨ 0 .21 ⟩ </a:t>
            </a:r>
            <a:r>
              <a:rPr lang="en-GB" sz="1400" dirty="0"/>
              <a:t>* </a:t>
            </a:r>
            <a:r>
              <a:rPr lang="en-GB" sz="1400" dirty="0" err="1"/>
              <a:t>l_exp_gap</a:t>
            </a:r>
            <a:r>
              <a:rPr lang="en-GB" sz="1400" dirty="0"/>
              <a:t> - </a:t>
            </a:r>
            <a:r>
              <a:rPr lang="en-GB" sz="1400" dirty="0" err="1"/>
              <a:t>w_y_imp</a:t>
            </a:r>
            <a:r>
              <a:rPr lang="en-GB" sz="1400" dirty="0"/>
              <a:t> </a:t>
            </a:r>
            <a:r>
              <a:rPr lang="en-GB" sz="1400" dirty="0">
                <a:solidFill>
                  <a:srgbClr val="C00000"/>
                </a:solidFill>
              </a:rPr>
              <a:t>⟨ 0 .35 ⟩ </a:t>
            </a:r>
            <a:r>
              <a:rPr lang="en-GB" sz="1400" dirty="0"/>
              <a:t>* </a:t>
            </a:r>
            <a:r>
              <a:rPr lang="en-GB" sz="1400" dirty="0" err="1"/>
              <a:t>l_imp_gap</a:t>
            </a:r>
            <a:r>
              <a:rPr lang="en-GB" sz="1400" dirty="0"/>
              <a:t> + </a:t>
            </a:r>
            <a:r>
              <a:rPr lang="en-GB" sz="1400" dirty="0" err="1"/>
              <a:t>shock_l_y_gap</a:t>
            </a:r>
            <a:r>
              <a:rPr lang="en-GB" sz="1400" dirty="0"/>
              <a:t> </a:t>
            </a:r>
            <a:r>
              <a:rPr lang="en-GB" sz="1400" dirty="0">
                <a:solidFill>
                  <a:srgbClr val="C00000"/>
                </a:solidFill>
              </a:rPr>
              <a:t>⟨ </a:t>
            </a:r>
            <a:r>
              <a:rPr lang="el-GR" sz="1400" dirty="0">
                <a:solidFill>
                  <a:srgbClr val="C00000"/>
                </a:solidFill>
              </a:rPr>
              <a:t>σ= 0 .0001 ⟩</a:t>
            </a:r>
            <a:endParaRPr lang="en-GB" sz="1400" dirty="0">
              <a:solidFill>
                <a:srgbClr val="C00000"/>
              </a:solidFill>
            </a:endParaRPr>
          </a:p>
          <a:p>
            <a:endParaRPr lang="en-GB" sz="1400" dirty="0">
              <a:solidFill>
                <a:srgbClr val="C00000"/>
              </a:solidFill>
            </a:endParaRPr>
          </a:p>
          <a:p>
            <a:r>
              <a:rPr lang="en-GB" sz="1400" b="1" dirty="0">
                <a:latin typeface="+mn-lt"/>
              </a:rPr>
              <a:t>Consumption</a:t>
            </a:r>
          </a:p>
          <a:p>
            <a:r>
              <a:rPr lang="en-GB" sz="1400" dirty="0" err="1"/>
              <a:t>l_cons_gap</a:t>
            </a:r>
            <a:r>
              <a:rPr lang="en-GB" sz="1400" dirty="0"/>
              <a:t> = a1_cons </a:t>
            </a:r>
            <a:r>
              <a:rPr lang="en-GB" sz="1400" dirty="0">
                <a:solidFill>
                  <a:srgbClr val="C00000"/>
                </a:solidFill>
              </a:rPr>
              <a:t>⟨0.65⟩ </a:t>
            </a:r>
            <a:r>
              <a:rPr lang="en-GB" sz="1400" dirty="0"/>
              <a:t>* </a:t>
            </a:r>
            <a:r>
              <a:rPr lang="en-GB" sz="1400" dirty="0" err="1"/>
              <a:t>l_cons_gap</a:t>
            </a:r>
            <a:r>
              <a:rPr lang="en-GB" sz="1400" dirty="0"/>
              <a:t>{-1}  + a2_cons</a:t>
            </a:r>
            <a:r>
              <a:rPr lang="en-GB" sz="1400" dirty="0">
                <a:solidFill>
                  <a:srgbClr val="C00000"/>
                </a:solidFill>
              </a:rPr>
              <a:t>⟨0</a:t>
            </a:r>
            <a:r>
              <a:rPr lang="en-GB" sz="1400" dirty="0"/>
              <a:t>⟩ * </a:t>
            </a:r>
            <a:r>
              <a:rPr lang="en-GB" sz="1400" dirty="0" err="1"/>
              <a:t>e_l_cons_gap</a:t>
            </a:r>
            <a:r>
              <a:rPr lang="en-GB" sz="1400" dirty="0"/>
              <a:t> + a3_cons⟨</a:t>
            </a:r>
            <a:r>
              <a:rPr lang="en-GB" sz="1400" dirty="0">
                <a:solidFill>
                  <a:srgbClr val="C00000"/>
                </a:solidFill>
              </a:rPr>
              <a:t>0.1⟩ </a:t>
            </a:r>
            <a:r>
              <a:rPr lang="en-GB" sz="1400" dirty="0"/>
              <a:t>* </a:t>
            </a:r>
            <a:r>
              <a:rPr lang="en-GB" sz="1400" dirty="0" err="1"/>
              <a:t>rmci_cons</a:t>
            </a:r>
            <a:r>
              <a:rPr lang="en-GB" sz="1400" dirty="0"/>
              <a:t>  + a4_cons</a:t>
            </a:r>
            <a:r>
              <a:rPr lang="en-GB" sz="1400" dirty="0">
                <a:solidFill>
                  <a:srgbClr val="C00000"/>
                </a:solidFill>
              </a:rPr>
              <a:t>⟨0.2</a:t>
            </a:r>
            <a:r>
              <a:rPr lang="en-GB" sz="1400" dirty="0"/>
              <a:t>⟩ * l_y_gap + a5_cons</a:t>
            </a:r>
            <a:r>
              <a:rPr lang="en-GB" sz="1400" dirty="0">
                <a:solidFill>
                  <a:srgbClr val="C00000"/>
                </a:solidFill>
              </a:rPr>
              <a:t>⟨0.25</a:t>
            </a:r>
            <a:r>
              <a:rPr lang="en-GB" sz="1400" dirty="0"/>
              <a:t>⟩ * </a:t>
            </a:r>
            <a:r>
              <a:rPr lang="en-GB" sz="1400" dirty="0" err="1"/>
              <a:t>fisc_imp</a:t>
            </a:r>
            <a:r>
              <a:rPr lang="en-GB" sz="1400" dirty="0"/>
              <a:t> + </a:t>
            </a:r>
            <a:r>
              <a:rPr lang="en-GB" sz="1400" dirty="0" err="1"/>
              <a:t>shock_l_cons_gap</a:t>
            </a:r>
            <a:r>
              <a:rPr lang="en-GB" sz="1400" dirty="0">
                <a:solidFill>
                  <a:srgbClr val="C00000"/>
                </a:solidFill>
              </a:rPr>
              <a:t>⟨</a:t>
            </a:r>
            <a:r>
              <a:rPr lang="el-GR" sz="1400" dirty="0">
                <a:solidFill>
                  <a:srgbClr val="C00000"/>
                </a:solidFill>
              </a:rPr>
              <a:t>σ= 2.5⟩</a:t>
            </a:r>
            <a:endParaRPr lang="en-GB" sz="1400" dirty="0">
              <a:solidFill>
                <a:srgbClr val="C00000"/>
              </a:solidFill>
            </a:endParaRPr>
          </a:p>
          <a:p>
            <a:r>
              <a:rPr lang="pt-BR" sz="1400" i="1" dirty="0"/>
              <a:t>rmci_cons = a6_cons </a:t>
            </a:r>
            <a:r>
              <a:rPr lang="pt-BR" sz="1400" i="1" dirty="0">
                <a:solidFill>
                  <a:srgbClr val="C00000"/>
                </a:solidFill>
              </a:rPr>
              <a:t>⟨ 1 ⟩ </a:t>
            </a:r>
            <a:r>
              <a:rPr lang="pt-BR" sz="1400" i="1" dirty="0"/>
              <a:t>* r4_gap + (1 - a6_cons ⟨ 1 ⟩) * - l_z_gap</a:t>
            </a:r>
          </a:p>
          <a:p>
            <a:endParaRPr lang="en-GB" sz="1400" i="1" dirty="0">
              <a:solidFill>
                <a:srgbClr val="C00000"/>
              </a:solidFill>
            </a:endParaRPr>
          </a:p>
          <a:p>
            <a:r>
              <a:rPr lang="en-GB" sz="1400" b="1" dirty="0">
                <a:latin typeface="+mn-lt"/>
              </a:rPr>
              <a:t>Investment </a:t>
            </a:r>
          </a:p>
          <a:p>
            <a:r>
              <a:rPr lang="en-GB" sz="1400" dirty="0" err="1"/>
              <a:t>l_inv_gap</a:t>
            </a:r>
            <a:r>
              <a:rPr lang="en-GB" sz="1400" dirty="0"/>
              <a:t> = a1_inv </a:t>
            </a:r>
            <a:r>
              <a:rPr lang="en-GB" sz="1400" dirty="0">
                <a:solidFill>
                  <a:srgbClr val="C00000"/>
                </a:solidFill>
              </a:rPr>
              <a:t>⟨ 0 .65 </a:t>
            </a:r>
            <a:r>
              <a:rPr lang="en-GB" sz="1400" dirty="0"/>
              <a:t>⟩ * </a:t>
            </a:r>
            <a:r>
              <a:rPr lang="en-GB" sz="1400" dirty="0" err="1"/>
              <a:t>l_inv_gap</a:t>
            </a:r>
            <a:r>
              <a:rPr lang="en-GB" sz="1400" dirty="0"/>
              <a:t> {-1} + a2_inv </a:t>
            </a:r>
            <a:r>
              <a:rPr lang="en-GB" sz="1400" dirty="0">
                <a:solidFill>
                  <a:srgbClr val="C00000"/>
                </a:solidFill>
              </a:rPr>
              <a:t>⟨ 0 ⟩ </a:t>
            </a:r>
            <a:r>
              <a:rPr lang="en-GB" sz="1400" dirty="0"/>
              <a:t>* </a:t>
            </a:r>
            <a:r>
              <a:rPr lang="en-GB" sz="1400" dirty="0" err="1"/>
              <a:t>e_l_inv_gap</a:t>
            </a:r>
            <a:r>
              <a:rPr lang="en-GB" sz="1400" dirty="0"/>
              <a:t>  - a3_inv </a:t>
            </a:r>
            <a:r>
              <a:rPr lang="en-GB" sz="1400" dirty="0">
                <a:solidFill>
                  <a:srgbClr val="C00000"/>
                </a:solidFill>
              </a:rPr>
              <a:t>⟨ 0 . 1 ⟩ </a:t>
            </a:r>
            <a:r>
              <a:rPr lang="en-GB" sz="1400" dirty="0"/>
              <a:t>* </a:t>
            </a:r>
            <a:r>
              <a:rPr lang="en-GB" sz="1400" dirty="0" err="1"/>
              <a:t>rmci_inv</a:t>
            </a:r>
            <a:r>
              <a:rPr lang="en-GB" sz="1400" dirty="0"/>
              <a:t> + a4_inv </a:t>
            </a:r>
            <a:r>
              <a:rPr lang="en-GB" sz="1400" dirty="0">
                <a:solidFill>
                  <a:srgbClr val="C00000"/>
                </a:solidFill>
              </a:rPr>
              <a:t>⟨ 0 . 2 ⟩ </a:t>
            </a:r>
            <a:r>
              <a:rPr lang="en-GB" sz="1400" dirty="0"/>
              <a:t>* l_y_gap  + a5_inv </a:t>
            </a:r>
            <a:r>
              <a:rPr lang="en-GB" sz="1400" dirty="0">
                <a:solidFill>
                  <a:srgbClr val="C00000"/>
                </a:solidFill>
              </a:rPr>
              <a:t>⟨ 0 .15 ⟩ </a:t>
            </a:r>
            <a:r>
              <a:rPr lang="en-GB" sz="1400" dirty="0"/>
              <a:t>* </a:t>
            </a:r>
            <a:r>
              <a:rPr lang="en-GB" sz="1400" dirty="0" err="1"/>
              <a:t>fisc_imp</a:t>
            </a:r>
            <a:r>
              <a:rPr lang="en-GB" sz="1400" dirty="0"/>
              <a:t> + </a:t>
            </a:r>
            <a:r>
              <a:rPr lang="en-GB" sz="1400" dirty="0" err="1"/>
              <a:t>shock_l_inv_gap</a:t>
            </a:r>
            <a:r>
              <a:rPr lang="en-GB" sz="1400" dirty="0"/>
              <a:t> </a:t>
            </a:r>
            <a:r>
              <a:rPr lang="en-GB" sz="1400" dirty="0">
                <a:solidFill>
                  <a:srgbClr val="C00000"/>
                </a:solidFill>
              </a:rPr>
              <a:t>⟨ </a:t>
            </a:r>
            <a:r>
              <a:rPr lang="el-GR" sz="1400" dirty="0">
                <a:solidFill>
                  <a:srgbClr val="C00000"/>
                </a:solidFill>
              </a:rPr>
              <a:t>σ= 6 ⟩ </a:t>
            </a:r>
            <a:r>
              <a:rPr lang="en-GB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rmci</a:t>
            </a:r>
            <a:endParaRPr lang="en-GB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GB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GB" sz="1400" b="1" dirty="0">
                <a:latin typeface="+mn-lt"/>
              </a:rPr>
              <a:t>Export </a:t>
            </a:r>
          </a:p>
          <a:p>
            <a:r>
              <a:rPr lang="en-GB" sz="1400" b="1" dirty="0" err="1"/>
              <a:t>l_exp_gap</a:t>
            </a:r>
            <a:r>
              <a:rPr lang="en-GB" sz="1400" b="1" dirty="0"/>
              <a:t> </a:t>
            </a:r>
            <a:r>
              <a:rPr lang="en-GB" sz="1400" dirty="0"/>
              <a:t>= a1_exp </a:t>
            </a:r>
            <a:r>
              <a:rPr lang="en-GB" sz="1400" dirty="0">
                <a:solidFill>
                  <a:srgbClr val="C00000"/>
                </a:solidFill>
              </a:rPr>
              <a:t>⟨ 0 .65 </a:t>
            </a:r>
            <a:r>
              <a:rPr lang="en-GB" sz="1400" dirty="0"/>
              <a:t>⟩ * </a:t>
            </a:r>
            <a:r>
              <a:rPr lang="en-GB" sz="1400" dirty="0" err="1"/>
              <a:t>l_exp_gap</a:t>
            </a:r>
            <a:r>
              <a:rPr lang="en-GB" sz="1400" dirty="0"/>
              <a:t>{-1} + a2_exp </a:t>
            </a:r>
            <a:r>
              <a:rPr lang="en-GB" sz="1400" dirty="0">
                <a:solidFill>
                  <a:srgbClr val="C00000"/>
                </a:solidFill>
              </a:rPr>
              <a:t>⟨ 0 ⟩ </a:t>
            </a:r>
            <a:r>
              <a:rPr lang="en-GB" sz="1400" dirty="0"/>
              <a:t>* </a:t>
            </a:r>
            <a:r>
              <a:rPr lang="en-GB" sz="1400" dirty="0" err="1"/>
              <a:t>e_l_exp_gap</a:t>
            </a:r>
            <a:r>
              <a:rPr lang="en-GB" sz="1400" dirty="0"/>
              <a:t> - a3_exp </a:t>
            </a:r>
            <a:r>
              <a:rPr lang="en-GB" sz="1400" dirty="0">
                <a:solidFill>
                  <a:srgbClr val="C00000"/>
                </a:solidFill>
              </a:rPr>
              <a:t>⟨ 0 . 2 ⟩ </a:t>
            </a:r>
            <a:r>
              <a:rPr lang="en-GB" sz="1400" dirty="0"/>
              <a:t>* </a:t>
            </a:r>
            <a:r>
              <a:rPr lang="en-GB" sz="1400" dirty="0" err="1"/>
              <a:t>rmci_exp</a:t>
            </a:r>
            <a:r>
              <a:rPr lang="en-GB" sz="1400" dirty="0"/>
              <a:t> + a5_exp </a:t>
            </a:r>
            <a:r>
              <a:rPr lang="en-GB" sz="1400" dirty="0">
                <a:solidFill>
                  <a:srgbClr val="C00000"/>
                </a:solidFill>
              </a:rPr>
              <a:t>⟨ 0 . 3 ⟩ </a:t>
            </a:r>
            <a:r>
              <a:rPr lang="en-GB" sz="1400" dirty="0"/>
              <a:t>* </a:t>
            </a:r>
            <a:r>
              <a:rPr lang="en-GB" sz="1400" dirty="0" err="1"/>
              <a:t>l_ystar_gap</a:t>
            </a:r>
            <a:r>
              <a:rPr lang="en-GB" sz="1400" dirty="0"/>
              <a:t> + </a:t>
            </a:r>
            <a:r>
              <a:rPr lang="en-GB" sz="1400" dirty="0" err="1"/>
              <a:t>shock_l_exp_gap</a:t>
            </a:r>
            <a:r>
              <a:rPr lang="en-GB" sz="1400" dirty="0"/>
              <a:t> </a:t>
            </a:r>
            <a:r>
              <a:rPr lang="en-GB" sz="1400" dirty="0">
                <a:solidFill>
                  <a:srgbClr val="C00000"/>
                </a:solidFill>
              </a:rPr>
              <a:t>⟨ </a:t>
            </a:r>
            <a:r>
              <a:rPr lang="el-GR" sz="1400" dirty="0">
                <a:solidFill>
                  <a:srgbClr val="C00000"/>
                </a:solidFill>
              </a:rPr>
              <a:t>σ= 6 ⟩</a:t>
            </a:r>
            <a:endParaRPr lang="en-GB" sz="1400" dirty="0">
              <a:solidFill>
                <a:srgbClr val="C00000"/>
              </a:solidFill>
            </a:endParaRPr>
          </a:p>
          <a:p>
            <a:endParaRPr lang="en-GB" sz="1400" dirty="0">
              <a:solidFill>
                <a:srgbClr val="C00000"/>
              </a:solidFill>
            </a:endParaRPr>
          </a:p>
          <a:p>
            <a:r>
              <a:rPr lang="en-GB" sz="1400" b="1" dirty="0">
                <a:latin typeface="+mn-lt"/>
              </a:rPr>
              <a:t>Import </a:t>
            </a:r>
          </a:p>
          <a:p>
            <a:r>
              <a:rPr lang="en-GB" sz="1400" dirty="0" err="1"/>
              <a:t>l_imp_gap</a:t>
            </a:r>
            <a:r>
              <a:rPr lang="en-GB" sz="1400" dirty="0"/>
              <a:t> =  </a:t>
            </a:r>
            <a:r>
              <a:rPr lang="en-GB" sz="1400" dirty="0" err="1"/>
              <a:t>w_imp_cons</a:t>
            </a:r>
            <a:r>
              <a:rPr lang="en-GB" sz="1400" dirty="0"/>
              <a:t> </a:t>
            </a:r>
            <a:r>
              <a:rPr lang="en-GB" sz="1400" dirty="0">
                <a:solidFill>
                  <a:srgbClr val="C00000"/>
                </a:solidFill>
              </a:rPr>
              <a:t>⟨0 .445714⟩ </a:t>
            </a:r>
            <a:r>
              <a:rPr lang="en-GB" sz="1400" dirty="0"/>
              <a:t>* </a:t>
            </a:r>
            <a:r>
              <a:rPr lang="en-GB" sz="1400" dirty="0" err="1"/>
              <a:t>l_cons_gap</a:t>
            </a:r>
            <a:r>
              <a:rPr lang="en-GB" sz="1400" dirty="0"/>
              <a:t> + </a:t>
            </a:r>
            <a:r>
              <a:rPr lang="en-GB" sz="1400" dirty="0" err="1"/>
              <a:t>w_imp_inv</a:t>
            </a:r>
            <a:r>
              <a:rPr lang="en-GB" sz="1400" dirty="0"/>
              <a:t> </a:t>
            </a:r>
            <a:r>
              <a:rPr lang="en-GB" sz="1400" dirty="0">
                <a:solidFill>
                  <a:srgbClr val="C00000"/>
                </a:solidFill>
              </a:rPr>
              <a:t>⟨0 .156⟩ </a:t>
            </a:r>
            <a:r>
              <a:rPr lang="en-GB" sz="1400" dirty="0"/>
              <a:t>* </a:t>
            </a:r>
            <a:r>
              <a:rPr lang="en-GB" sz="1400" dirty="0" err="1"/>
              <a:t>l_inv_gap</a:t>
            </a:r>
            <a:r>
              <a:rPr lang="en-GB" sz="1400" dirty="0"/>
              <a:t>  + </a:t>
            </a:r>
            <a:r>
              <a:rPr lang="en-GB" sz="1400" dirty="0" err="1"/>
              <a:t>w_imp_gdem</a:t>
            </a:r>
            <a:r>
              <a:rPr lang="en-GB" sz="1400" dirty="0"/>
              <a:t> </a:t>
            </a:r>
            <a:r>
              <a:rPr lang="en-GB" sz="1400" dirty="0">
                <a:solidFill>
                  <a:srgbClr val="C00000"/>
                </a:solidFill>
              </a:rPr>
              <a:t>⟨0 .276</a:t>
            </a:r>
            <a:r>
              <a:rPr lang="en-GB" sz="1400" dirty="0"/>
              <a:t>⟩ * l_gdem_gap  + </a:t>
            </a:r>
            <a:r>
              <a:rPr lang="en-GB" sz="1400" dirty="0" err="1"/>
              <a:t>w_imp_exp</a:t>
            </a:r>
            <a:r>
              <a:rPr lang="en-GB" sz="1400" dirty="0"/>
              <a:t> </a:t>
            </a:r>
            <a:r>
              <a:rPr lang="en-GB" sz="1400" dirty="0">
                <a:solidFill>
                  <a:srgbClr val="C00000"/>
                </a:solidFill>
              </a:rPr>
              <a:t>⟨ 0 .122286⟩ </a:t>
            </a:r>
            <a:r>
              <a:rPr lang="en-GB" sz="1400" dirty="0"/>
              <a:t>* </a:t>
            </a:r>
            <a:r>
              <a:rPr lang="en-GB" sz="1400" dirty="0" err="1"/>
              <a:t>l_exp_gap</a:t>
            </a:r>
            <a:r>
              <a:rPr lang="en-GB" sz="1400" dirty="0"/>
              <a:t> - a1_imp </a:t>
            </a:r>
            <a:r>
              <a:rPr lang="en-GB" sz="1400" dirty="0">
                <a:solidFill>
                  <a:srgbClr val="C00000"/>
                </a:solidFill>
              </a:rPr>
              <a:t>⟨ 0 . 3⟩ </a:t>
            </a:r>
            <a:r>
              <a:rPr lang="en-GB" sz="1400" dirty="0"/>
              <a:t>* l_z_gap  + </a:t>
            </a:r>
            <a:r>
              <a:rPr lang="en-GB" sz="1400" dirty="0" err="1"/>
              <a:t>shock_l_imp_gap</a:t>
            </a:r>
            <a:r>
              <a:rPr lang="en-GB" sz="1400" dirty="0"/>
              <a:t> </a:t>
            </a:r>
            <a:r>
              <a:rPr lang="en-GB" sz="1400" dirty="0">
                <a:solidFill>
                  <a:srgbClr val="C00000"/>
                </a:solidFill>
              </a:rPr>
              <a:t>⟨ </a:t>
            </a:r>
            <a:r>
              <a:rPr lang="el-GR" sz="1400" dirty="0">
                <a:solidFill>
                  <a:srgbClr val="C00000"/>
                </a:solidFill>
              </a:rPr>
              <a:t>σ= 0 . 5 ⟩ </a:t>
            </a:r>
            <a:r>
              <a:rPr lang="el-GR" sz="1400" dirty="0"/>
              <a:t>; </a:t>
            </a:r>
            <a:endParaRPr lang="en-GB" sz="1400" dirty="0"/>
          </a:p>
          <a:p>
            <a:endParaRPr lang="en-GB" sz="1400" dirty="0"/>
          </a:p>
          <a:p>
            <a:r>
              <a:rPr lang="en-GB" sz="1400" b="1" dirty="0"/>
              <a:t>Govt demand</a:t>
            </a:r>
          </a:p>
          <a:p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l_gdem_gap =  a1_gdem </a:t>
            </a:r>
            <a:r>
              <a:rPr lang="en-GB" sz="1400" dirty="0">
                <a:solidFill>
                  <a:srgbClr val="C00000"/>
                </a:solidFill>
              </a:rPr>
              <a:t>⟨ 0.65⟩</a:t>
            </a: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* l_gdem_gap{-1} + </a:t>
            </a:r>
            <a:r>
              <a:rPr lang="en-GB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shock_l_gdem_gap</a:t>
            </a:r>
            <a:r>
              <a:rPr lang="el-GR" sz="1400" dirty="0"/>
              <a:t> </a:t>
            </a:r>
            <a:r>
              <a:rPr lang="el-GR" sz="1400" dirty="0">
                <a:solidFill>
                  <a:srgbClr val="C00000"/>
                </a:solidFill>
              </a:rPr>
              <a:t>⟨ σ= 6 ⟩</a:t>
            </a:r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;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6749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 bwMode="auto">
          <a:xfrm>
            <a:off x="914400" y="76200"/>
            <a:ext cx="7924800" cy="8382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compatLnSpc="1">
            <a:prstTxWarp prst="textNoShape">
              <a:avLst/>
            </a:prstTxWarp>
          </a:bodyPr>
          <a:lstStyle/>
          <a:p>
            <a:pPr algn="ctr"/>
            <a:r>
              <a:rPr lang="en-GB" sz="3200" b="1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Prices</a:t>
            </a:r>
            <a:endParaRPr lang="en-US" sz="32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981845" y="6529449"/>
            <a:ext cx="1981200" cy="365125"/>
          </a:xfrm>
        </p:spPr>
        <p:txBody>
          <a:bodyPr/>
          <a:lstStyle/>
          <a:p>
            <a:fld id="{48A2F751-F4AC-4430-BFB5-B231CAE7FF06}" type="slidenum">
              <a:rPr lang="en-US" b="1">
                <a:solidFill>
                  <a:schemeClr val="tx1"/>
                </a:solidFill>
                <a:latin typeface="Arial Black" charset="0"/>
              </a:rPr>
              <a:pPr/>
              <a:t>8</a:t>
            </a:fld>
            <a:endParaRPr lang="en-US" b="1" dirty="0">
              <a:solidFill>
                <a:schemeClr val="tx1"/>
              </a:solidFill>
              <a:latin typeface="Arial Black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33BE98-3E10-9944-64DA-8E6C1B4EA91F}"/>
              </a:ext>
            </a:extLst>
          </p:cNvPr>
          <p:cNvSpPr txBox="1"/>
          <p:nvPr/>
        </p:nvSpPr>
        <p:spPr>
          <a:xfrm>
            <a:off x="381000" y="1295400"/>
            <a:ext cx="8582045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1" dirty="0">
                <a:latin typeface="+mn-lt"/>
              </a:rPr>
              <a:t>Headline</a:t>
            </a:r>
            <a:r>
              <a:rPr lang="en-GB" sz="1600" b="1" dirty="0"/>
              <a:t> </a:t>
            </a:r>
          </a:p>
          <a:p>
            <a:pPr>
              <a:lnSpc>
                <a:spcPct val="100000"/>
              </a:lnSpc>
            </a:pPr>
            <a:endParaRPr lang="en-GB" sz="1600" b="1" dirty="0"/>
          </a:p>
          <a:p>
            <a:r>
              <a:rPr lang="en-GB" sz="1600" b="1" dirty="0"/>
              <a:t>l_cpi </a:t>
            </a:r>
            <a:r>
              <a:rPr lang="en-GB" sz="1600" dirty="0"/>
              <a:t>= w_core</a:t>
            </a:r>
            <a:r>
              <a:rPr lang="en-GB" sz="1600" dirty="0">
                <a:solidFill>
                  <a:srgbClr val="C00000"/>
                </a:solidFill>
              </a:rPr>
              <a:t>⟨0.7747⟩ </a:t>
            </a:r>
            <a:r>
              <a:rPr lang="en-GB" sz="1600" dirty="0"/>
              <a:t>* l_cpi_core + w_food</a:t>
            </a:r>
            <a:r>
              <a:rPr lang="en-GB" sz="1600" dirty="0">
                <a:solidFill>
                  <a:srgbClr val="C00000"/>
                </a:solidFill>
              </a:rPr>
              <a:t>⟨0.1577⟩ </a:t>
            </a:r>
            <a:r>
              <a:rPr lang="en-GB" sz="1600" dirty="0"/>
              <a:t>* l_cpi_food + w_ener</a:t>
            </a:r>
            <a:r>
              <a:rPr lang="en-GB" sz="1600" dirty="0">
                <a:solidFill>
                  <a:srgbClr val="C00000"/>
                </a:solidFill>
              </a:rPr>
              <a:t>⟨0.0676⟩ </a:t>
            </a:r>
            <a:r>
              <a:rPr lang="en-GB" sz="1600" dirty="0"/>
              <a:t>* l_cpi_ener + shock_l_cpi</a:t>
            </a:r>
            <a:r>
              <a:rPr lang="en-GB" sz="1600" dirty="0">
                <a:solidFill>
                  <a:srgbClr val="C00000"/>
                </a:solidFill>
              </a:rPr>
              <a:t>⟨</a:t>
            </a:r>
            <a:r>
              <a:rPr lang="el-GR" sz="1600" dirty="0">
                <a:solidFill>
                  <a:srgbClr val="C00000"/>
                </a:solidFill>
              </a:rPr>
              <a:t>σ= 0.0001⟩</a:t>
            </a:r>
            <a:endParaRPr lang="en-GB" sz="1600" dirty="0">
              <a:solidFill>
                <a:srgbClr val="C00000"/>
              </a:solidFill>
            </a:endParaRPr>
          </a:p>
          <a:p>
            <a:endParaRPr lang="en-GB" sz="1600" dirty="0">
              <a:solidFill>
                <a:srgbClr val="C00000"/>
              </a:solidFill>
            </a:endParaRPr>
          </a:p>
          <a:p>
            <a:r>
              <a:rPr lang="en-AE" sz="1800" b="1" dirty="0">
                <a:latin typeface="+mn-lt"/>
              </a:rPr>
              <a:t>Core </a:t>
            </a:r>
          </a:p>
          <a:p>
            <a:r>
              <a:rPr lang="en-GB" sz="1600" dirty="0"/>
              <a:t>dl_cpi_core = b1</a:t>
            </a:r>
            <a:r>
              <a:rPr lang="en-GB" sz="1600" dirty="0">
                <a:solidFill>
                  <a:srgbClr val="C00000"/>
                </a:solidFill>
              </a:rPr>
              <a:t>⟨0.45</a:t>
            </a:r>
            <a:r>
              <a:rPr lang="en-GB" sz="1600" dirty="0"/>
              <a:t>⟩ * dl_cpi_core{-1}  + (1 - b1</a:t>
            </a:r>
            <a:r>
              <a:rPr lang="en-GB" sz="1600" dirty="0">
                <a:solidFill>
                  <a:srgbClr val="C00000"/>
                </a:solidFill>
              </a:rPr>
              <a:t>⟨0.45⟩ </a:t>
            </a:r>
            <a:r>
              <a:rPr lang="en-GB" sz="1600" dirty="0"/>
              <a:t>- b3</a:t>
            </a:r>
            <a:r>
              <a:rPr lang="en-GB" sz="1600" dirty="0">
                <a:solidFill>
                  <a:srgbClr val="C00000"/>
                </a:solidFill>
              </a:rPr>
              <a:t>⟨0.05⟩) </a:t>
            </a:r>
            <a:r>
              <a:rPr lang="en-GB" sz="1600" dirty="0"/>
              <a:t>* (e_dl_cpi_core) + b3</a:t>
            </a:r>
            <a:r>
              <a:rPr lang="en-GB" sz="1600" dirty="0">
                <a:solidFill>
                  <a:srgbClr val="C00000"/>
                </a:solidFill>
              </a:rPr>
              <a:t>⟨0.05⟩ </a:t>
            </a:r>
            <a:r>
              <a:rPr lang="en-GB" sz="1600" dirty="0"/>
              <a:t>* dl_cpi_core_direct + b2</a:t>
            </a:r>
            <a:r>
              <a:rPr lang="en-GB" sz="1600" dirty="0">
                <a:solidFill>
                  <a:srgbClr val="C00000"/>
                </a:solidFill>
              </a:rPr>
              <a:t>⟨0.2⟩ </a:t>
            </a:r>
            <a:r>
              <a:rPr lang="en-GB" sz="1600" dirty="0"/>
              <a:t>* rmc  + shock_dl_cpi_core</a:t>
            </a:r>
            <a:r>
              <a:rPr lang="en-GB" sz="1600" dirty="0">
                <a:solidFill>
                  <a:srgbClr val="C00000"/>
                </a:solidFill>
              </a:rPr>
              <a:t>⟨</a:t>
            </a:r>
            <a:r>
              <a:rPr lang="el-GR" sz="1600" dirty="0">
                <a:solidFill>
                  <a:srgbClr val="C00000"/>
                </a:solidFill>
              </a:rPr>
              <a:t>σ= 2⟩</a:t>
            </a:r>
            <a:endParaRPr lang="en-GB" sz="1600" dirty="0">
              <a:solidFill>
                <a:srgbClr val="C00000"/>
              </a:solidFill>
            </a:endParaRPr>
          </a:p>
          <a:p>
            <a:endParaRPr lang="en-GB" sz="1600" dirty="0">
              <a:solidFill>
                <a:srgbClr val="C00000"/>
              </a:solidFill>
            </a:endParaRPr>
          </a:p>
          <a:p>
            <a:pPr>
              <a:lnSpc>
                <a:spcPct val="120000"/>
              </a:lnSpc>
            </a:pPr>
            <a:r>
              <a:rPr lang="en-GB" sz="1800" b="1" dirty="0">
                <a:latin typeface="+mn-lt"/>
              </a:rPr>
              <a:t>Food</a:t>
            </a:r>
          </a:p>
          <a:p>
            <a:pPr>
              <a:lnSpc>
                <a:spcPct val="120000"/>
              </a:lnSpc>
            </a:pPr>
            <a:r>
              <a:rPr lang="en-GB" sz="1600" dirty="0" err="1"/>
              <a:t>dl_cpi_food</a:t>
            </a:r>
            <a:r>
              <a:rPr lang="en-GB" sz="1600" dirty="0"/>
              <a:t> = bf1</a:t>
            </a:r>
            <a:r>
              <a:rPr lang="en-GB" sz="1600" dirty="0">
                <a:solidFill>
                  <a:srgbClr val="C00000"/>
                </a:solidFill>
              </a:rPr>
              <a:t>⟨0.35⟩ </a:t>
            </a:r>
            <a:r>
              <a:rPr lang="en-GB" sz="1600" dirty="0"/>
              <a:t>* </a:t>
            </a:r>
            <a:r>
              <a:rPr lang="en-GB" sz="1600" dirty="0" err="1"/>
              <a:t>dl_cpi_food</a:t>
            </a:r>
            <a:r>
              <a:rPr lang="en-GB" sz="1600" dirty="0"/>
              <a:t>{-1} + (1 - bf1</a:t>
            </a:r>
            <a:r>
              <a:rPr lang="en-GB" sz="1600" dirty="0">
                <a:solidFill>
                  <a:srgbClr val="C00000"/>
                </a:solidFill>
              </a:rPr>
              <a:t>⟨0.35⟩ </a:t>
            </a:r>
            <a:r>
              <a:rPr lang="en-GB" sz="1600" dirty="0"/>
              <a:t>- bf3</a:t>
            </a:r>
            <a:r>
              <a:rPr lang="en-GB" sz="1600" dirty="0">
                <a:solidFill>
                  <a:srgbClr val="C00000"/>
                </a:solidFill>
              </a:rPr>
              <a:t>⟨0.1⟩) </a:t>
            </a:r>
            <a:r>
              <a:rPr lang="en-GB" sz="1600" dirty="0"/>
              <a:t>* (</a:t>
            </a:r>
            <a:r>
              <a:rPr lang="en-GB" sz="1600" dirty="0" err="1"/>
              <a:t>e_dl_cpi_food</a:t>
            </a:r>
            <a:r>
              <a:rPr lang="en-GB" sz="1600" dirty="0"/>
              <a:t>) + bf3</a:t>
            </a:r>
            <a:r>
              <a:rPr lang="en-GB" sz="1600" dirty="0">
                <a:solidFill>
                  <a:srgbClr val="C00000"/>
                </a:solidFill>
              </a:rPr>
              <a:t>⟨0.1⟩ </a:t>
            </a:r>
            <a:r>
              <a:rPr lang="en-GB" sz="1600" dirty="0"/>
              <a:t>* </a:t>
            </a:r>
            <a:r>
              <a:rPr lang="en-GB" sz="1600" dirty="0" err="1"/>
              <a:t>dl_cpi_food_direct</a:t>
            </a:r>
            <a:r>
              <a:rPr lang="en-GB" sz="1600" dirty="0"/>
              <a:t> + bf2</a:t>
            </a:r>
            <a:r>
              <a:rPr lang="en-GB" sz="1600" dirty="0">
                <a:solidFill>
                  <a:srgbClr val="C00000"/>
                </a:solidFill>
              </a:rPr>
              <a:t>⟨0.1⟩ </a:t>
            </a:r>
            <a:r>
              <a:rPr lang="en-GB" sz="1600" dirty="0"/>
              <a:t>* (</a:t>
            </a:r>
            <a:r>
              <a:rPr lang="en-GB" sz="1600" dirty="0" err="1"/>
              <a:t>l_rp_foodstar_gap</a:t>
            </a:r>
            <a:r>
              <a:rPr lang="en-GB" sz="1600" dirty="0"/>
              <a:t> + l_z_gap + </a:t>
            </a:r>
            <a:r>
              <a:rPr lang="en-GB" sz="1600" dirty="0" err="1"/>
              <a:t>l_rp_cpi_core_gap</a:t>
            </a:r>
            <a:r>
              <a:rPr lang="en-GB" sz="1600" dirty="0"/>
              <a:t> - </a:t>
            </a:r>
            <a:r>
              <a:rPr lang="en-GB" sz="1600" dirty="0" err="1"/>
              <a:t>l_rp_cpi_food_gap</a:t>
            </a:r>
            <a:r>
              <a:rPr lang="en-GB" sz="1600" dirty="0"/>
              <a:t>) - bf4</a:t>
            </a:r>
            <a:r>
              <a:rPr lang="en-GB" sz="1600" dirty="0">
                <a:solidFill>
                  <a:srgbClr val="C00000"/>
                </a:solidFill>
              </a:rPr>
              <a:t>⟨1.5⟩ </a:t>
            </a:r>
            <a:r>
              <a:rPr lang="en-GB" sz="1600" dirty="0"/>
              <a:t>* </a:t>
            </a:r>
            <a:r>
              <a:rPr lang="en-GB" sz="1600" dirty="0" err="1"/>
              <a:t>l_y_agr_gap</a:t>
            </a:r>
            <a:r>
              <a:rPr lang="en-GB" sz="1600" dirty="0"/>
              <a:t> + </a:t>
            </a:r>
            <a:r>
              <a:rPr lang="en-GB" sz="1600" dirty="0" err="1"/>
              <a:t>shock_dl_cpi_food</a:t>
            </a:r>
            <a:r>
              <a:rPr lang="en-GB" sz="1600" dirty="0">
                <a:solidFill>
                  <a:srgbClr val="C00000"/>
                </a:solidFill>
              </a:rPr>
              <a:t>⟨</a:t>
            </a:r>
            <a:r>
              <a:rPr lang="el-GR" sz="1600" dirty="0">
                <a:solidFill>
                  <a:srgbClr val="C00000"/>
                </a:solidFill>
              </a:rPr>
              <a:t>σ= 9⟩</a:t>
            </a:r>
            <a:endParaRPr lang="en-GB" sz="1600" dirty="0">
              <a:solidFill>
                <a:srgbClr val="C00000"/>
              </a:solidFill>
            </a:endParaRPr>
          </a:p>
          <a:p>
            <a:pPr>
              <a:lnSpc>
                <a:spcPct val="120000"/>
              </a:lnSpc>
            </a:pPr>
            <a:endParaRPr lang="en-GB" sz="1600" dirty="0">
              <a:solidFill>
                <a:srgbClr val="C00000"/>
              </a:solidFill>
            </a:endParaRPr>
          </a:p>
          <a:p>
            <a:pPr>
              <a:lnSpc>
                <a:spcPct val="120000"/>
              </a:lnSpc>
            </a:pPr>
            <a:r>
              <a:rPr lang="en-GB" sz="1800" b="1" dirty="0">
                <a:latin typeface="+mn-lt"/>
              </a:rPr>
              <a:t>Energy </a:t>
            </a:r>
          </a:p>
          <a:p>
            <a:r>
              <a:rPr lang="en-GB" sz="1600" dirty="0" err="1"/>
              <a:t>dl_cpi_ener</a:t>
            </a:r>
            <a:r>
              <a:rPr lang="en-GB" sz="1600" dirty="0"/>
              <a:t> =  be1</a:t>
            </a:r>
            <a:r>
              <a:rPr lang="en-GB" sz="1600" dirty="0">
                <a:solidFill>
                  <a:srgbClr val="C00000"/>
                </a:solidFill>
              </a:rPr>
              <a:t>⟨0.25⟩ </a:t>
            </a:r>
            <a:r>
              <a:rPr lang="en-GB" sz="1600" dirty="0"/>
              <a:t>* </a:t>
            </a:r>
            <a:r>
              <a:rPr lang="en-GB" sz="1600" dirty="0" err="1"/>
              <a:t>dl_cpi_ener</a:t>
            </a:r>
            <a:r>
              <a:rPr lang="en-GB" sz="1600" dirty="0"/>
              <a:t>{-1} + (1 - be1</a:t>
            </a:r>
            <a:r>
              <a:rPr lang="en-GB" sz="1600" dirty="0">
                <a:solidFill>
                  <a:srgbClr val="C00000"/>
                </a:solidFill>
              </a:rPr>
              <a:t>⟨0.25⟩ </a:t>
            </a:r>
            <a:r>
              <a:rPr lang="en-GB" sz="1600" dirty="0"/>
              <a:t>- be3</a:t>
            </a:r>
            <a:r>
              <a:rPr lang="en-GB" sz="1600" dirty="0">
                <a:solidFill>
                  <a:srgbClr val="C00000"/>
                </a:solidFill>
              </a:rPr>
              <a:t>⟨0.02⟩) </a:t>
            </a:r>
            <a:r>
              <a:rPr lang="en-GB" sz="1600" dirty="0"/>
              <a:t>* (</a:t>
            </a:r>
            <a:r>
              <a:rPr lang="en-GB" sz="1600" dirty="0" err="1"/>
              <a:t>e_dl_cpi_ener</a:t>
            </a:r>
            <a:r>
              <a:rPr lang="en-GB" sz="1600" dirty="0"/>
              <a:t>) + be3</a:t>
            </a:r>
            <a:r>
              <a:rPr lang="en-GB" sz="1600" dirty="0">
                <a:solidFill>
                  <a:srgbClr val="C00000"/>
                </a:solidFill>
              </a:rPr>
              <a:t>⟨0.02</a:t>
            </a:r>
            <a:r>
              <a:rPr lang="en-GB" sz="1600" dirty="0"/>
              <a:t>⟩ * </a:t>
            </a:r>
            <a:r>
              <a:rPr lang="en-GB" sz="1600" dirty="0" err="1"/>
              <a:t>dl_cpi_ener_direct</a:t>
            </a:r>
            <a:r>
              <a:rPr lang="en-GB" sz="1600" dirty="0"/>
              <a:t> + be2</a:t>
            </a:r>
            <a:r>
              <a:rPr lang="en-GB" sz="1600" dirty="0">
                <a:solidFill>
                  <a:srgbClr val="C00000"/>
                </a:solidFill>
              </a:rPr>
              <a:t>⟨0.04⟩ </a:t>
            </a:r>
            <a:r>
              <a:rPr lang="en-GB" sz="1600" dirty="0"/>
              <a:t>* (</a:t>
            </a:r>
            <a:r>
              <a:rPr lang="en-GB" sz="1600" dirty="0" err="1"/>
              <a:t>l_rp_enerstar_gap</a:t>
            </a:r>
            <a:r>
              <a:rPr lang="en-GB" sz="1600" dirty="0"/>
              <a:t> + l_z_gap + </a:t>
            </a:r>
            <a:r>
              <a:rPr lang="en-GB" sz="1600" dirty="0" err="1"/>
              <a:t>l_rp_cpi_core_gap</a:t>
            </a:r>
            <a:r>
              <a:rPr lang="en-GB" sz="1600" dirty="0"/>
              <a:t> - </a:t>
            </a:r>
            <a:r>
              <a:rPr lang="en-GB" sz="1600" dirty="0" err="1"/>
              <a:t>l_rp_cpi_ener_gap</a:t>
            </a:r>
            <a:r>
              <a:rPr lang="en-GB" sz="1600" dirty="0"/>
              <a:t>) + </a:t>
            </a:r>
            <a:r>
              <a:rPr lang="en-GB" sz="1600" dirty="0" err="1"/>
              <a:t>shock_dl_cpi_ener</a:t>
            </a:r>
            <a:r>
              <a:rPr lang="en-GB" sz="1600" dirty="0">
                <a:solidFill>
                  <a:srgbClr val="C00000"/>
                </a:solidFill>
              </a:rPr>
              <a:t>⟨</a:t>
            </a:r>
            <a:r>
              <a:rPr lang="el-GR" sz="1600" dirty="0">
                <a:solidFill>
                  <a:srgbClr val="C00000"/>
                </a:solidFill>
              </a:rPr>
              <a:t>σ= 7.1⟩;</a:t>
            </a:r>
            <a:endParaRPr lang="en-GB" sz="1600" dirty="0">
              <a:solidFill>
                <a:srgbClr val="C00000"/>
              </a:solidFill>
            </a:endParaRP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908718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 bwMode="auto">
          <a:xfrm>
            <a:off x="914400" y="76200"/>
            <a:ext cx="7924800" cy="8382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compatLnSpc="1">
            <a:prstTxWarp prst="textNoShape">
              <a:avLst/>
            </a:prstTxWarp>
          </a:bodyPr>
          <a:lstStyle/>
          <a:p>
            <a:pPr algn="ctr"/>
            <a:r>
              <a:rPr lang="en-GB" sz="3200" b="1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Monetary Policy rule</a:t>
            </a:r>
            <a:endParaRPr lang="en-US" sz="32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981845" y="6529449"/>
            <a:ext cx="1981200" cy="365125"/>
          </a:xfrm>
        </p:spPr>
        <p:txBody>
          <a:bodyPr/>
          <a:lstStyle/>
          <a:p>
            <a:fld id="{48A2F751-F4AC-4430-BFB5-B231CAE7FF06}" type="slidenum">
              <a:rPr lang="en-US" b="1">
                <a:solidFill>
                  <a:schemeClr val="tx1"/>
                </a:solidFill>
                <a:latin typeface="Arial Black" charset="0"/>
              </a:rPr>
              <a:pPr/>
              <a:t>9</a:t>
            </a:fld>
            <a:endParaRPr lang="en-US" b="1" dirty="0">
              <a:solidFill>
                <a:schemeClr val="tx1"/>
              </a:solidFill>
              <a:latin typeface="Arial Black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8DFC50-392E-94B7-345A-E2B775F2D50F}"/>
              </a:ext>
            </a:extLst>
          </p:cNvPr>
          <p:cNvSpPr txBox="1"/>
          <p:nvPr/>
        </p:nvSpPr>
        <p:spPr>
          <a:xfrm>
            <a:off x="228600" y="1219200"/>
            <a:ext cx="873444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+mn-lt"/>
              </a:rPr>
              <a:t>Interest rate (Inter - bank rate)</a:t>
            </a:r>
          </a:p>
          <a:p>
            <a:endParaRPr lang="en-GB" sz="2000" b="1" dirty="0"/>
          </a:p>
          <a:p>
            <a:r>
              <a:rPr lang="en-GB" sz="2000" b="1" dirty="0"/>
              <a:t>i </a:t>
            </a:r>
            <a:r>
              <a:rPr lang="en-GB" sz="2000" dirty="0"/>
              <a:t>= c1</a:t>
            </a:r>
            <a:r>
              <a:rPr lang="en-GB" sz="2000" dirty="0">
                <a:solidFill>
                  <a:srgbClr val="C00000"/>
                </a:solidFill>
              </a:rPr>
              <a:t>⟨0.8⟩ </a:t>
            </a:r>
            <a:r>
              <a:rPr lang="en-GB" sz="2000" dirty="0"/>
              <a:t>* i{-1} + (1 - c1</a:t>
            </a:r>
            <a:r>
              <a:rPr lang="en-GB" sz="2000" dirty="0">
                <a:solidFill>
                  <a:srgbClr val="C00000"/>
                </a:solidFill>
              </a:rPr>
              <a:t>⟨0.8</a:t>
            </a:r>
            <a:r>
              <a:rPr lang="en-GB" sz="2000" dirty="0"/>
              <a:t>⟩) *  + </a:t>
            </a:r>
            <a:r>
              <a:rPr lang="en-GB" sz="2000" dirty="0" err="1"/>
              <a:t>i_tnd</a:t>
            </a:r>
            <a:r>
              <a:rPr lang="en-GB" sz="2000" dirty="0"/>
              <a:t> + c2</a:t>
            </a:r>
            <a:r>
              <a:rPr lang="en-GB" sz="2000" dirty="0">
                <a:solidFill>
                  <a:srgbClr val="C00000"/>
                </a:solidFill>
              </a:rPr>
              <a:t>⟨0.5⟩ </a:t>
            </a:r>
            <a:r>
              <a:rPr lang="en-GB" sz="2000" dirty="0"/>
              <a:t>* d4l_cpi_dev + c3</a:t>
            </a:r>
            <a:r>
              <a:rPr lang="en-GB" sz="2000" dirty="0">
                <a:solidFill>
                  <a:srgbClr val="C00000"/>
                </a:solidFill>
              </a:rPr>
              <a:t>⟨0.5⟩ </a:t>
            </a:r>
            <a:r>
              <a:rPr lang="en-GB" sz="2000" dirty="0"/>
              <a:t>* l_y_gap + c4</a:t>
            </a:r>
            <a:r>
              <a:rPr lang="en-GB" sz="2000" dirty="0">
                <a:solidFill>
                  <a:srgbClr val="C00000"/>
                </a:solidFill>
              </a:rPr>
              <a:t>⟨0⟩ </a:t>
            </a:r>
            <a:r>
              <a:rPr lang="en-GB" sz="2000" dirty="0"/>
              <a:t>* (dl_s - </a:t>
            </a:r>
            <a:r>
              <a:rPr lang="en-GB" sz="2000" dirty="0" err="1"/>
              <a:t>dl_s_tar</a:t>
            </a:r>
            <a:r>
              <a:rPr lang="en-GB" sz="2000" dirty="0"/>
              <a:t>) + </a:t>
            </a:r>
            <a:r>
              <a:rPr lang="en-GB" sz="2000" dirty="0" err="1"/>
              <a:t>shock_i</a:t>
            </a:r>
            <a:r>
              <a:rPr lang="en-GB" sz="2000" dirty="0">
                <a:solidFill>
                  <a:srgbClr val="C00000"/>
                </a:solidFill>
              </a:rPr>
              <a:t>⟨</a:t>
            </a:r>
            <a:r>
              <a:rPr lang="el-GR" sz="2000" dirty="0">
                <a:solidFill>
                  <a:srgbClr val="C00000"/>
                </a:solidFill>
              </a:rPr>
              <a:t>σ= 1⟩;</a:t>
            </a:r>
            <a:endParaRPr lang="en-GB" sz="2000" dirty="0">
              <a:solidFill>
                <a:srgbClr val="C00000"/>
              </a:solidFill>
            </a:endParaRPr>
          </a:p>
          <a:p>
            <a:endParaRPr lang="en-GB" sz="2000" i="1" dirty="0"/>
          </a:p>
          <a:p>
            <a:r>
              <a:rPr lang="en-GB" sz="2000" i="1" dirty="0">
                <a:latin typeface="Gill Sans MT" panose="020B0502020104020203" pitchFamily="34" charset="0"/>
              </a:rPr>
              <a:t>Neutral level</a:t>
            </a:r>
          </a:p>
          <a:p>
            <a:r>
              <a:rPr lang="en-GB" sz="2000" dirty="0" err="1"/>
              <a:t>i_tnd</a:t>
            </a:r>
            <a:r>
              <a:rPr lang="en-GB" sz="2000" dirty="0"/>
              <a:t> = </a:t>
            </a:r>
            <a:r>
              <a:rPr lang="en-GB" sz="2000" dirty="0" err="1"/>
              <a:t>r_tnd</a:t>
            </a:r>
            <a:r>
              <a:rPr lang="en-GB" sz="2000" dirty="0"/>
              <a:t> + d4l_cpi_tar + </a:t>
            </a:r>
            <a:r>
              <a:rPr lang="en-GB" sz="2000" dirty="0" err="1"/>
              <a:t>dl_rp_cpi_core_tnd</a:t>
            </a:r>
            <a:endParaRPr lang="en-GB" sz="2000" dirty="0"/>
          </a:p>
          <a:p>
            <a:r>
              <a:rPr lang="sv-SE" sz="2000" dirty="0"/>
              <a:t>d4l_cpi_dev = d4l_cpi{+4} - d4l_cpi_tar</a:t>
            </a:r>
          </a:p>
          <a:p>
            <a:endParaRPr lang="sv-SE" sz="2000" dirty="0"/>
          </a:p>
          <a:p>
            <a:r>
              <a:rPr lang="en-AE" sz="2000" i="1" dirty="0">
                <a:latin typeface="Gill Sans MT" panose="020B0502020104020203" pitchFamily="34" charset="0"/>
              </a:rPr>
              <a:t>Real interest rate trend</a:t>
            </a:r>
          </a:p>
          <a:p>
            <a:r>
              <a:rPr lang="pt-BR" sz="2000" dirty="0"/>
              <a:t>r_tnd = rstar_tnd + prem + e_dl_z_tnd;</a:t>
            </a:r>
          </a:p>
          <a:p>
            <a:endParaRPr lang="en-AE" sz="2000" i="1" dirty="0"/>
          </a:p>
          <a:p>
            <a:r>
              <a:rPr lang="en-AE" sz="2000" i="1" dirty="0">
                <a:latin typeface="Gill Sans MT" panose="020B0502020104020203" pitchFamily="34" charset="0"/>
              </a:rPr>
              <a:t>Real interest rate –real lending rate gap</a:t>
            </a:r>
          </a:p>
          <a:p>
            <a:r>
              <a:rPr lang="pt-BR" sz="2000" dirty="0"/>
              <a:t>r4_gap = (r_gap + r_gap{+1} + r_gap{+2} + r_gap{+3}) / 4 + prem_d_gap</a:t>
            </a:r>
            <a:endParaRPr lang="en-AE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14613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 bwMode="auto">
          <a:xfrm>
            <a:off x="914400" y="76200"/>
            <a:ext cx="7924800" cy="8382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compatLnSpc="1">
            <a:prstTxWarp prst="textNoShape">
              <a:avLst/>
            </a:prstTxWarp>
          </a:bodyPr>
          <a:lstStyle/>
          <a:p>
            <a:pPr algn="ctr"/>
            <a:r>
              <a:rPr lang="en-GB" sz="3200" b="1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Exchange rate </a:t>
            </a:r>
            <a:endParaRPr lang="en-US" sz="32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981845" y="6529449"/>
            <a:ext cx="1981200" cy="365125"/>
          </a:xfrm>
        </p:spPr>
        <p:txBody>
          <a:bodyPr/>
          <a:lstStyle/>
          <a:p>
            <a:fld id="{48A2F751-F4AC-4430-BFB5-B231CAE7FF06}" type="slidenum">
              <a:rPr lang="en-US" b="1">
                <a:solidFill>
                  <a:schemeClr val="tx1"/>
                </a:solidFill>
                <a:latin typeface="Arial Black" charset="0"/>
              </a:rPr>
              <a:pPr/>
              <a:t>10</a:t>
            </a:fld>
            <a:endParaRPr lang="en-US" b="1" dirty="0">
              <a:solidFill>
                <a:schemeClr val="tx1"/>
              </a:solidFill>
              <a:latin typeface="Arial Black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8878F3-0DED-51FE-684C-839D8A878145}"/>
              </a:ext>
            </a:extLst>
          </p:cNvPr>
          <p:cNvSpPr txBox="1"/>
          <p:nvPr/>
        </p:nvSpPr>
        <p:spPr>
          <a:xfrm>
            <a:off x="191115" y="1143000"/>
            <a:ext cx="8582045" cy="605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+mn-lt"/>
              </a:rPr>
              <a:t>Nominal exchange rate</a:t>
            </a:r>
          </a:p>
          <a:p>
            <a:endParaRPr lang="en-GB" sz="2000" b="1" dirty="0"/>
          </a:p>
          <a:p>
            <a:r>
              <a:rPr lang="pt-BR" sz="1800" dirty="0">
                <a:latin typeface="Menlo"/>
              </a:rPr>
              <a:t>l_s =  </a:t>
            </a:r>
            <a:r>
              <a:rPr lang="pt-BR" sz="1800" dirty="0">
                <a:solidFill>
                  <a:srgbClr val="C00000"/>
                </a:solidFill>
                <a:latin typeface="Menlo"/>
              </a:rPr>
              <a:t>e1⟨0.2⟩ </a:t>
            </a:r>
            <a:r>
              <a:rPr lang="pt-BR" sz="1800" dirty="0">
                <a:latin typeface="Menlo"/>
              </a:rPr>
              <a:t>* (e_l_s - (i - istar - prem)/4) + (1 - </a:t>
            </a:r>
            <a:r>
              <a:rPr lang="pt-BR" sz="1800" dirty="0">
                <a:solidFill>
                  <a:srgbClr val="C00000"/>
                </a:solidFill>
                <a:latin typeface="Menlo"/>
              </a:rPr>
              <a:t>e1⟨0.2⟩</a:t>
            </a:r>
            <a:r>
              <a:rPr lang="pt-BR" sz="1800" dirty="0">
                <a:latin typeface="Menlo"/>
              </a:rPr>
              <a:t>) * (l_s{-1} + dl_s_tar/4) + shock_l_s </a:t>
            </a:r>
            <a:r>
              <a:rPr lang="pt-BR" sz="1800" dirty="0">
                <a:solidFill>
                  <a:srgbClr val="C00000"/>
                </a:solidFill>
                <a:latin typeface="Menlo"/>
              </a:rPr>
              <a:t>⟨σ= 0.35</a:t>
            </a:r>
            <a:r>
              <a:rPr lang="pt-BR" sz="1800" dirty="0">
                <a:latin typeface="Menlo"/>
              </a:rPr>
              <a:t>⟩</a:t>
            </a:r>
          </a:p>
          <a:p>
            <a:endParaRPr lang="pt-BR" sz="1800" i="1" dirty="0"/>
          </a:p>
          <a:p>
            <a:pPr>
              <a:lnSpc>
                <a:spcPct val="100000"/>
              </a:lnSpc>
            </a:pPr>
            <a:r>
              <a:rPr lang="pt-BR" sz="1800" i="1" dirty="0">
                <a:latin typeface="Gill Sans MT" panose="020B0502020104020203" pitchFamily="34" charset="0"/>
              </a:rPr>
              <a:t>Expectation </a:t>
            </a:r>
          </a:p>
          <a:p>
            <a:r>
              <a:rPr lang="en-GB" sz="1800" dirty="0" err="1">
                <a:latin typeface="Menlo"/>
              </a:rPr>
              <a:t>e_l_s</a:t>
            </a:r>
            <a:r>
              <a:rPr lang="en-GB" sz="1800" dirty="0">
                <a:latin typeface="Menlo"/>
              </a:rPr>
              <a:t> =  </a:t>
            </a:r>
            <a:r>
              <a:rPr lang="en-GB" sz="1800" dirty="0">
                <a:solidFill>
                  <a:srgbClr val="C00000"/>
                </a:solidFill>
                <a:latin typeface="Menlo"/>
              </a:rPr>
              <a:t>e2⟨0.2</a:t>
            </a:r>
            <a:r>
              <a:rPr lang="en-GB" sz="1800" dirty="0">
                <a:latin typeface="Menlo"/>
              </a:rPr>
              <a:t>⟩ * </a:t>
            </a:r>
            <a:r>
              <a:rPr lang="en-GB" sz="1800" dirty="0" err="1">
                <a:latin typeface="Menlo"/>
              </a:rPr>
              <a:t>l_s</a:t>
            </a:r>
            <a:r>
              <a:rPr lang="en-GB" sz="1800" dirty="0">
                <a:latin typeface="Menlo"/>
              </a:rPr>
              <a:t>{+1} + (1 - </a:t>
            </a:r>
            <a:r>
              <a:rPr lang="en-GB" sz="1800" dirty="0">
                <a:solidFill>
                  <a:srgbClr val="C00000"/>
                </a:solidFill>
                <a:latin typeface="Menlo"/>
              </a:rPr>
              <a:t>e2⟨0.2⟩) </a:t>
            </a:r>
            <a:r>
              <a:rPr lang="en-GB" sz="1800" dirty="0">
                <a:latin typeface="Menlo"/>
              </a:rPr>
              <a:t>* (</a:t>
            </a:r>
            <a:r>
              <a:rPr lang="en-GB" sz="1800" dirty="0" err="1">
                <a:latin typeface="Menlo"/>
              </a:rPr>
              <a:t>l_s</a:t>
            </a:r>
            <a:r>
              <a:rPr lang="en-GB" sz="1800" dirty="0">
                <a:latin typeface="Menlo"/>
              </a:rPr>
              <a:t>{-1} + 2 * (dl_z_tnd + d4l_cpi_tar + </a:t>
            </a:r>
            <a:r>
              <a:rPr lang="en-GB" sz="1800" dirty="0" err="1">
                <a:latin typeface="Menlo"/>
              </a:rPr>
              <a:t>dl_rp_cpi_core_tnd</a:t>
            </a:r>
            <a:r>
              <a:rPr lang="en-GB" sz="1800" dirty="0">
                <a:latin typeface="Menlo"/>
              </a:rPr>
              <a:t> - ss_dl_cpistar</a:t>
            </a:r>
            <a:r>
              <a:rPr lang="en-GB" sz="1800" dirty="0">
                <a:solidFill>
                  <a:srgbClr val="C00000"/>
                </a:solidFill>
                <a:latin typeface="Menlo"/>
              </a:rPr>
              <a:t>⟨1.98026</a:t>
            </a:r>
            <a:r>
              <a:rPr lang="en-GB" sz="1800" dirty="0">
                <a:latin typeface="Menlo"/>
              </a:rPr>
              <a:t>⟩)/4)</a:t>
            </a:r>
          </a:p>
          <a:p>
            <a:endParaRPr lang="en-GB" sz="1800" dirty="0">
              <a:latin typeface="Menlo"/>
            </a:endParaRPr>
          </a:p>
          <a:p>
            <a:pPr>
              <a:lnSpc>
                <a:spcPct val="120000"/>
              </a:lnSpc>
            </a:pPr>
            <a:r>
              <a:rPr lang="en-GB" sz="1800" i="1" dirty="0">
                <a:latin typeface="Gill Sans MT" panose="020B0502020104020203" pitchFamily="34" charset="0"/>
              </a:rPr>
              <a:t>Exch. Target </a:t>
            </a:r>
          </a:p>
          <a:p>
            <a:r>
              <a:rPr lang="en-GB" sz="1800" dirty="0" err="1">
                <a:latin typeface="Menlo"/>
              </a:rPr>
              <a:t>dl_s_tar</a:t>
            </a:r>
            <a:r>
              <a:rPr lang="en-GB" sz="1800" dirty="0">
                <a:latin typeface="Menlo"/>
              </a:rPr>
              <a:t> = </a:t>
            </a:r>
            <a:r>
              <a:rPr lang="en-GB" sz="1800" dirty="0">
                <a:solidFill>
                  <a:srgbClr val="C00000"/>
                </a:solidFill>
                <a:latin typeface="Menlo"/>
              </a:rPr>
              <a:t>e4⟨0⟩</a:t>
            </a:r>
            <a:r>
              <a:rPr lang="en-GB" sz="1800" dirty="0">
                <a:latin typeface="Menlo"/>
              </a:rPr>
              <a:t> * </a:t>
            </a:r>
            <a:r>
              <a:rPr lang="en-GB" sz="1800" dirty="0" err="1">
                <a:latin typeface="Menlo"/>
              </a:rPr>
              <a:t>dl_s_tar</a:t>
            </a:r>
            <a:r>
              <a:rPr lang="en-GB" sz="1800" dirty="0">
                <a:latin typeface="Menlo"/>
              </a:rPr>
              <a:t>{-1} + (1 - </a:t>
            </a:r>
            <a:r>
              <a:rPr lang="en-GB" sz="1800" dirty="0">
                <a:solidFill>
                  <a:srgbClr val="C00000"/>
                </a:solidFill>
                <a:latin typeface="Menlo"/>
              </a:rPr>
              <a:t>e4⟨0⟩</a:t>
            </a:r>
            <a:r>
              <a:rPr lang="en-GB" sz="1800" dirty="0">
                <a:latin typeface="Menlo"/>
              </a:rPr>
              <a:t>) * ( dl_z_tnd + d4l_cpi_tar + </a:t>
            </a:r>
            <a:r>
              <a:rPr lang="en-GB" sz="1800" dirty="0" err="1">
                <a:latin typeface="Menlo"/>
              </a:rPr>
              <a:t>dl_rp_cpi_core_tnd</a:t>
            </a:r>
            <a:r>
              <a:rPr lang="en-GB" sz="1800" dirty="0">
                <a:latin typeface="Menlo"/>
              </a:rPr>
              <a:t> - ss_dl_cpistar⟨</a:t>
            </a:r>
            <a:r>
              <a:rPr lang="en-GB" sz="1800" dirty="0">
                <a:solidFill>
                  <a:srgbClr val="C00000"/>
                </a:solidFill>
                <a:latin typeface="Menlo"/>
              </a:rPr>
              <a:t>1.98026⟩</a:t>
            </a:r>
            <a:r>
              <a:rPr lang="en-GB" sz="1800" dirty="0">
                <a:latin typeface="Menlo"/>
              </a:rPr>
              <a:t> - e5</a:t>
            </a:r>
            <a:r>
              <a:rPr lang="en-GB" sz="1800" dirty="0">
                <a:solidFill>
                  <a:srgbClr val="C00000"/>
                </a:solidFill>
                <a:latin typeface="Menlo"/>
              </a:rPr>
              <a:t>⟨0.3⟩ </a:t>
            </a:r>
            <a:r>
              <a:rPr lang="en-GB" sz="1800" dirty="0">
                <a:latin typeface="Menlo"/>
              </a:rPr>
              <a:t>* d4l_cpi_dev - </a:t>
            </a:r>
            <a:r>
              <a:rPr lang="en-GB" sz="1800" dirty="0">
                <a:solidFill>
                  <a:srgbClr val="C00000"/>
                </a:solidFill>
                <a:latin typeface="Menlo"/>
              </a:rPr>
              <a:t>e6⟨0.85</a:t>
            </a:r>
            <a:r>
              <a:rPr lang="en-GB" sz="1800" dirty="0">
                <a:latin typeface="Menlo"/>
              </a:rPr>
              <a:t>⟩ * l_z_gap ) + </a:t>
            </a:r>
            <a:r>
              <a:rPr lang="en-GB" sz="1800" dirty="0" err="1">
                <a:latin typeface="Menlo"/>
              </a:rPr>
              <a:t>shock_dl_s_tar</a:t>
            </a:r>
            <a:r>
              <a:rPr lang="en-GB" sz="1800" dirty="0">
                <a:solidFill>
                  <a:srgbClr val="C00000"/>
                </a:solidFill>
                <a:latin typeface="Menlo"/>
              </a:rPr>
              <a:t>⟨</a:t>
            </a:r>
            <a:r>
              <a:rPr lang="el-GR" sz="1800" dirty="0">
                <a:solidFill>
                  <a:srgbClr val="C00000"/>
                </a:solidFill>
                <a:latin typeface="Menlo"/>
              </a:rPr>
              <a:t>σ= 0.3⟩</a:t>
            </a:r>
            <a:endParaRPr lang="en-GB" sz="1800" dirty="0">
              <a:solidFill>
                <a:srgbClr val="C00000"/>
              </a:solidFill>
              <a:latin typeface="Menlo"/>
            </a:endParaRPr>
          </a:p>
          <a:p>
            <a:endParaRPr lang="en-GB" sz="1800" dirty="0">
              <a:solidFill>
                <a:srgbClr val="C00000"/>
              </a:solidFill>
            </a:endParaRPr>
          </a:p>
          <a:p>
            <a:r>
              <a:rPr lang="en-GB" sz="1800" i="1" dirty="0">
                <a:latin typeface="Gill Sans MT" panose="020B0502020104020203" pitchFamily="34" charset="0"/>
              </a:rPr>
              <a:t>Real exchange rate </a:t>
            </a:r>
          </a:p>
          <a:p>
            <a:r>
              <a:rPr lang="pt-BR" sz="1800" dirty="0"/>
              <a:t>l_z = l_s + l_cpistar - l_cpi_core</a:t>
            </a:r>
          </a:p>
          <a:p>
            <a:endParaRPr lang="pt-BR" sz="1800" dirty="0"/>
          </a:p>
          <a:p>
            <a:r>
              <a:rPr lang="pt-BR" sz="1800" dirty="0">
                <a:latin typeface="+mn-lt"/>
              </a:rPr>
              <a:t>Real exhange rate trend</a:t>
            </a:r>
          </a:p>
          <a:p>
            <a:r>
              <a:rPr lang="pl-PL" sz="1800" i="0" dirty="0">
                <a:effectLst/>
                <a:latin typeface="Menlo"/>
              </a:rPr>
              <a:t>dl_z_tnd = r_z * dl_z_tnd{-1} + (1 - r_z) * ss_dl_z_tnd + shock_dl_z_tnd</a:t>
            </a:r>
          </a:p>
          <a:p>
            <a:endParaRPr lang="pt-BR" sz="1800" dirty="0">
              <a:latin typeface="+mn-lt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5908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 bwMode="auto">
          <a:xfrm>
            <a:off x="914400" y="76200"/>
            <a:ext cx="7924800" cy="8382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compatLnSpc="1">
            <a:prstTxWarp prst="textNoShape">
              <a:avLst/>
            </a:prstTxWarp>
          </a:bodyPr>
          <a:lstStyle/>
          <a:p>
            <a:pPr algn="ctr"/>
            <a:r>
              <a:rPr lang="en-GB" sz="3200" b="1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Exogenous block</a:t>
            </a:r>
            <a:endParaRPr lang="en-US" sz="32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981845" y="6529449"/>
            <a:ext cx="1981200" cy="365125"/>
          </a:xfrm>
        </p:spPr>
        <p:txBody>
          <a:bodyPr/>
          <a:lstStyle/>
          <a:p>
            <a:fld id="{48A2F751-F4AC-4430-BFB5-B231CAE7FF06}" type="slidenum">
              <a:rPr lang="en-US" b="1">
                <a:solidFill>
                  <a:schemeClr val="tx1"/>
                </a:solidFill>
                <a:latin typeface="Arial Black" charset="0"/>
              </a:rPr>
              <a:pPr/>
              <a:t>11</a:t>
            </a:fld>
            <a:endParaRPr lang="en-US" b="1" dirty="0">
              <a:solidFill>
                <a:schemeClr val="tx1"/>
              </a:solidFill>
              <a:latin typeface="Arial Black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FB6440-5056-447F-E8B9-AAFDFC7E74F5}"/>
              </a:ext>
            </a:extLst>
          </p:cNvPr>
          <p:cNvSpPr txBox="1"/>
          <p:nvPr/>
        </p:nvSpPr>
        <p:spPr>
          <a:xfrm>
            <a:off x="152400" y="1295400"/>
            <a:ext cx="8810645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b="1" dirty="0">
                <a:latin typeface="+mn-lt"/>
              </a:rPr>
              <a:t>I</a:t>
            </a:r>
            <a:r>
              <a:rPr lang="en-GB" sz="1500" b="1" dirty="0">
                <a:latin typeface="+mn-lt"/>
                <a:ea typeface="+mn-ea"/>
                <a:cs typeface="+mn-cs"/>
              </a:rPr>
              <a:t>nternational and trading partners</a:t>
            </a:r>
          </a:p>
          <a:p>
            <a:pPr>
              <a:lnSpc>
                <a:spcPct val="140000"/>
              </a:lnSpc>
            </a:pPr>
            <a:r>
              <a:rPr lang="en-GB" sz="1500" i="1" dirty="0">
                <a:latin typeface="Gill Sans MT" panose="020B0502020104020203" pitchFamily="34" charset="0"/>
              </a:rPr>
              <a:t>Output gap</a:t>
            </a:r>
          </a:p>
          <a:p>
            <a:pPr>
              <a:lnSpc>
                <a:spcPct val="150000"/>
              </a:lnSpc>
            </a:pPr>
            <a:r>
              <a:rPr lang="en-GB" sz="1500" dirty="0" err="1"/>
              <a:t>l_ystar_gap</a:t>
            </a:r>
            <a:r>
              <a:rPr lang="en-GB" sz="1500" dirty="0"/>
              <a:t> = r_ystar⟨0.94⟩ * </a:t>
            </a:r>
            <a:r>
              <a:rPr lang="en-GB" sz="1500" dirty="0" err="1"/>
              <a:t>l_ystar_gap</a:t>
            </a:r>
            <a:r>
              <a:rPr lang="en-GB" sz="1500" dirty="0"/>
              <a:t>{-1} + </a:t>
            </a:r>
            <a:r>
              <a:rPr lang="en-GB" sz="1500" dirty="0" err="1"/>
              <a:t>shock_l_ystar_gap</a:t>
            </a:r>
            <a:r>
              <a:rPr lang="en-GB" sz="1500" dirty="0"/>
              <a:t>⟨</a:t>
            </a:r>
            <a:r>
              <a:rPr lang="el-GR" sz="1500" dirty="0"/>
              <a:t>σ= 0.25⟩; </a:t>
            </a:r>
            <a:endParaRPr lang="en-GB" sz="1500" dirty="0"/>
          </a:p>
          <a:p>
            <a:pPr>
              <a:lnSpc>
                <a:spcPct val="140000"/>
              </a:lnSpc>
            </a:pPr>
            <a:r>
              <a:rPr lang="en-GB" sz="1500" i="1" dirty="0">
                <a:latin typeface="Gill Sans MT" panose="020B0502020104020203" pitchFamily="34" charset="0"/>
              </a:rPr>
              <a:t>Inflation</a:t>
            </a:r>
          </a:p>
          <a:p>
            <a:pPr>
              <a:lnSpc>
                <a:spcPct val="150000"/>
              </a:lnSpc>
            </a:pPr>
            <a:r>
              <a:rPr lang="en-GB" sz="1500" dirty="0"/>
              <a:t>dl_cpistar = r_cpistar⟨0.8⟩ * dl_cpistar{-1} + (1 - r_cpistar⟨0.8⟩) * ss_dl_cpistar⟨1.98026⟩ + </a:t>
            </a:r>
            <a:r>
              <a:rPr lang="en-GB" sz="1500" dirty="0" err="1"/>
              <a:t>shock_dl_cpistar</a:t>
            </a:r>
            <a:r>
              <a:rPr lang="en-GB" sz="1500" dirty="0"/>
              <a:t> ⟨</a:t>
            </a:r>
            <a:r>
              <a:rPr lang="el-GR" sz="1500" dirty="0"/>
              <a:t>σ= 3.8⟩; </a:t>
            </a:r>
            <a:endParaRPr lang="en-GB" sz="1500" dirty="0"/>
          </a:p>
          <a:p>
            <a:pPr>
              <a:lnSpc>
                <a:spcPct val="140000"/>
              </a:lnSpc>
            </a:pPr>
            <a:r>
              <a:rPr lang="en-GB" sz="1500" i="1" dirty="0">
                <a:latin typeface="Gill Sans MT" panose="020B0502020104020203" pitchFamily="34" charset="0"/>
              </a:rPr>
              <a:t>Interest rate</a:t>
            </a:r>
          </a:p>
          <a:p>
            <a:pPr>
              <a:lnSpc>
                <a:spcPct val="150000"/>
              </a:lnSpc>
            </a:pPr>
            <a:r>
              <a:rPr lang="el-GR" sz="1500" dirty="0"/>
              <a:t> </a:t>
            </a:r>
            <a:r>
              <a:rPr lang="en-GB" sz="1500" dirty="0" err="1"/>
              <a:t>istar</a:t>
            </a:r>
            <a:r>
              <a:rPr lang="en-GB" sz="1500" dirty="0"/>
              <a:t> = r_istar⟨0.8⟩ * </a:t>
            </a:r>
            <a:r>
              <a:rPr lang="en-GB" sz="1500" dirty="0" err="1"/>
              <a:t>istar</a:t>
            </a:r>
            <a:r>
              <a:rPr lang="en-GB" sz="1500" dirty="0"/>
              <a:t>{-1} + (1 - r_istar⟨0.8⟩) * (ss_rstar_tnd⟨0⟩ + ss_dl_cpistar⟨1.98026⟩) + </a:t>
            </a:r>
            <a:r>
              <a:rPr lang="en-GB" sz="1500" dirty="0" err="1"/>
              <a:t>shock_istar</a:t>
            </a:r>
            <a:r>
              <a:rPr lang="en-GB" sz="1500" dirty="0"/>
              <a:t> ⟨</a:t>
            </a:r>
            <a:r>
              <a:rPr lang="el-GR" sz="1500" dirty="0"/>
              <a:t>σ= 0.45⟩; </a:t>
            </a:r>
            <a:endParaRPr lang="en-GB" sz="1500" dirty="0"/>
          </a:p>
          <a:p>
            <a:pPr>
              <a:lnSpc>
                <a:spcPct val="140000"/>
              </a:lnSpc>
            </a:pPr>
            <a:r>
              <a:rPr lang="en-GB" sz="1500" i="1" dirty="0">
                <a:latin typeface="Gill Sans MT" panose="020B0502020104020203" pitchFamily="34" charset="0"/>
              </a:rPr>
              <a:t>Real interest rate trend</a:t>
            </a:r>
          </a:p>
          <a:p>
            <a:pPr>
              <a:lnSpc>
                <a:spcPct val="150000"/>
              </a:lnSpc>
            </a:pPr>
            <a:r>
              <a:rPr lang="en-GB" sz="1500" dirty="0" err="1"/>
              <a:t>rstar_tnd</a:t>
            </a:r>
            <a:r>
              <a:rPr lang="en-GB" sz="1500" dirty="0"/>
              <a:t> = r_rstar_tnd⟨0.9⟩ * </a:t>
            </a:r>
            <a:r>
              <a:rPr lang="en-GB" sz="1500" dirty="0" err="1"/>
              <a:t>rstar_tnd</a:t>
            </a:r>
            <a:r>
              <a:rPr lang="en-GB" sz="1500" dirty="0"/>
              <a:t>{-1} + (1 - r_rstar_tnd⟨0.9⟩) * ss_rstar_tnd⟨0⟩ + </a:t>
            </a:r>
            <a:r>
              <a:rPr lang="en-GB" sz="1500" dirty="0" err="1"/>
              <a:t>shock_rstar_tnd</a:t>
            </a:r>
            <a:r>
              <a:rPr lang="en-GB" sz="1500" dirty="0"/>
              <a:t> ⟨</a:t>
            </a:r>
            <a:r>
              <a:rPr lang="el-GR" sz="1500" dirty="0"/>
              <a:t>σ= 0.5⟩; </a:t>
            </a:r>
            <a:endParaRPr lang="en-GB" sz="1500" dirty="0"/>
          </a:p>
          <a:p>
            <a:pPr>
              <a:lnSpc>
                <a:spcPct val="150000"/>
              </a:lnSpc>
            </a:pPr>
            <a:r>
              <a:rPr lang="en-GB" sz="1500" b="1" i="1" dirty="0">
                <a:latin typeface="+mn-lt"/>
              </a:rPr>
              <a:t>Relative Food and energy prices </a:t>
            </a:r>
          </a:p>
          <a:p>
            <a:r>
              <a:rPr lang="en-GB" sz="1500" dirty="0" err="1"/>
              <a:t>l_rp_foodstar_gap</a:t>
            </a:r>
            <a:r>
              <a:rPr lang="en-GB" sz="1500" dirty="0"/>
              <a:t> = r_rp_foodstar_gap⟨0.62⟩ * </a:t>
            </a:r>
            <a:r>
              <a:rPr lang="en-GB" sz="1500" dirty="0" err="1"/>
              <a:t>l_rp_foodstar_gap</a:t>
            </a:r>
            <a:r>
              <a:rPr lang="en-GB" sz="1500" dirty="0"/>
              <a:t>{-1} + </a:t>
            </a:r>
            <a:r>
              <a:rPr lang="en-GB" sz="1500" dirty="0" err="1"/>
              <a:t>shock_l_rp_foodstar_gap</a:t>
            </a:r>
            <a:r>
              <a:rPr lang="en-GB" sz="1500" dirty="0"/>
              <a:t>⟨</a:t>
            </a:r>
            <a:r>
              <a:rPr lang="el-GR" sz="1500" dirty="0"/>
              <a:t>σ= 5.3⟩; </a:t>
            </a:r>
            <a:endParaRPr lang="en-GB" sz="1500" dirty="0"/>
          </a:p>
          <a:p>
            <a:r>
              <a:rPr lang="en-GB" sz="1500" dirty="0" err="1"/>
              <a:t>l_rp_enerstar_gap</a:t>
            </a:r>
            <a:r>
              <a:rPr lang="en-GB" sz="1500" dirty="0"/>
              <a:t> = r_rp_enerstar_gap⟨0.73⟩ * </a:t>
            </a:r>
            <a:r>
              <a:rPr lang="en-GB" sz="1500" dirty="0" err="1"/>
              <a:t>l_rp_enerstar_gap</a:t>
            </a:r>
            <a:r>
              <a:rPr lang="en-GB" sz="1500" dirty="0"/>
              <a:t>{-1} + </a:t>
            </a:r>
            <a:r>
              <a:rPr lang="en-GB" sz="1500" dirty="0" err="1"/>
              <a:t>shock_l_rp_enerstar_gap</a:t>
            </a:r>
            <a:r>
              <a:rPr lang="en-GB" sz="1500" dirty="0"/>
              <a:t>⟨</a:t>
            </a:r>
            <a:r>
              <a:rPr lang="el-GR" sz="1500" dirty="0"/>
              <a:t>σ= 13.9⟩</a:t>
            </a:r>
            <a:endParaRPr lang="en-GB" sz="1500" dirty="0"/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986641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0" y="4916488"/>
            <a:ext cx="184150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900" dirty="0"/>
              <a:t/>
            </a:r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228600" y="1143000"/>
            <a:ext cx="8458200" cy="4078039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endParaRPr lang="en-US" sz="3300" b="1" dirty="0">
              <a:solidFill>
                <a:schemeClr val="accent6">
                  <a:lumMod val="50000"/>
                </a:schemeClr>
              </a:solidFill>
              <a:latin typeface="Bookman Old Style" pitchFamily="18" charset="0"/>
              <a:cs typeface="Arial" pitchFamily="34" charset="0"/>
            </a:endParaRPr>
          </a:p>
          <a:p>
            <a:pPr algn="ctr">
              <a:defRPr/>
            </a:pPr>
            <a:endParaRPr lang="en-GB" sz="40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r>
              <a:rPr lang="en-GB" sz="32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THANK YOU</a:t>
            </a:r>
          </a:p>
          <a:p>
            <a:pPr algn="ctr">
              <a:defRPr/>
            </a:pPr>
            <a:endParaRPr lang="en-GB" sz="32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endParaRPr lang="en-US" sz="3600" b="1" dirty="0">
              <a:latin typeface="Calibri" pitchFamily="34" charset="0"/>
              <a:cs typeface="Arial" pitchFamily="34" charset="0"/>
            </a:endParaRPr>
          </a:p>
          <a:p>
            <a:pPr algn="ctr">
              <a:defRPr/>
            </a:pPr>
            <a:endParaRPr lang="en-US" sz="4000" b="1" dirty="0">
              <a:solidFill>
                <a:schemeClr val="accent2">
                  <a:lumMod val="50000"/>
                </a:schemeClr>
              </a:solidFill>
              <a:latin typeface="Calibri" pitchFamily="34" charset="0"/>
              <a:cs typeface="Arial" pitchFamily="34" charset="0"/>
            </a:endParaRPr>
          </a:p>
          <a:p>
            <a:pPr algn="r">
              <a:defRPr/>
            </a:pPr>
            <a:endParaRPr lang="en-GB" sz="2400" i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defRPr/>
            </a:pPr>
            <a:endParaRPr lang="en-US" sz="2200" b="1" dirty="0">
              <a:latin typeface="Calibri" pitchFamily="34" charset="0"/>
              <a:cs typeface="Arial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838200" y="3048000"/>
            <a:ext cx="7543800" cy="1588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2223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2_Origin">
  <a:themeElements>
    <a:clrScheme name="SPU colour scheme">
      <a:dk1>
        <a:sysClr val="windowText" lastClr="000000"/>
      </a:dk1>
      <a:lt1>
        <a:srgbClr val="FFFFFF"/>
      </a:lt1>
      <a:dk2>
        <a:srgbClr val="464653"/>
      </a:dk2>
      <a:lt2>
        <a:srgbClr val="DDE9EC"/>
      </a:lt2>
      <a:accent1>
        <a:srgbClr val="00B0F0"/>
      </a:accent1>
      <a:accent2>
        <a:srgbClr val="29C000"/>
      </a:accent2>
      <a:accent3>
        <a:srgbClr val="FFFF00"/>
      </a:accent3>
      <a:accent4>
        <a:srgbClr val="192EF7"/>
      </a:accent4>
      <a:accent5>
        <a:srgbClr val="F6C120"/>
      </a:accent5>
      <a:accent6>
        <a:srgbClr val="638BAD"/>
      </a:accent6>
      <a:hlink>
        <a:srgbClr val="518592"/>
      </a:hlink>
      <a:folHlink>
        <a:srgbClr val="7F7F7F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26633</TotalTime>
  <Words>1528</Words>
  <Application>Microsoft Office PowerPoint</Application>
  <PresentationFormat>On-screen Show (4:3)</PresentationFormat>
  <Paragraphs>149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ＭＳ Ｐゴシック</vt:lpstr>
      <vt:lpstr>Arial</vt:lpstr>
      <vt:lpstr>Arial Black</vt:lpstr>
      <vt:lpstr>Bookman Old Style</vt:lpstr>
      <vt:lpstr>Calibri</vt:lpstr>
      <vt:lpstr>Gill Sans MT</vt:lpstr>
      <vt:lpstr>Menlo</vt:lpstr>
      <vt:lpstr>Symbol</vt:lpstr>
      <vt:lpstr>Times New Roman</vt:lpstr>
      <vt:lpstr>Wingdings</vt:lpstr>
      <vt:lpstr>Wingdings 3</vt:lpstr>
      <vt:lpstr>2_Origin</vt:lpstr>
      <vt:lpstr>PowerPoint Presentation</vt:lpstr>
      <vt:lpstr>1. Key model features</vt:lpstr>
      <vt:lpstr>Novel features</vt:lpstr>
      <vt:lpstr>Standard </vt:lpstr>
      <vt:lpstr>2. Main relationships and transmission mechanisms in QMFM</vt:lpstr>
      <vt:lpstr>Fiscal transmission mechanisms </vt:lpstr>
      <vt:lpstr>2. Model blocks </vt:lpstr>
      <vt:lpstr>Final Demand</vt:lpstr>
      <vt:lpstr>Prices</vt:lpstr>
      <vt:lpstr>Monetary Policy rule</vt:lpstr>
      <vt:lpstr>Exchange rate </vt:lpstr>
      <vt:lpstr>Exogenous block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Presentation</dc:title>
  <dc:creator>leorugwa</dc:creator>
  <cp:lastModifiedBy>Evariste MANIRUMVA</cp:lastModifiedBy>
  <cp:revision>1046</cp:revision>
  <cp:lastPrinted>2016-05-02T15:08:06Z</cp:lastPrinted>
  <dcterms:created xsi:type="dcterms:W3CDTF">2011-04-18T20:01:25Z</dcterms:created>
  <dcterms:modified xsi:type="dcterms:W3CDTF">2023-11-10T18:01:43Z</dcterms:modified>
</cp:coreProperties>
</file>