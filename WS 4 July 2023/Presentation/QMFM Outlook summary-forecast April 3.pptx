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6" r:id="rId1"/>
  </p:sldMasterIdLst>
  <p:notesMasterIdLst>
    <p:notesMasterId r:id="rId25"/>
  </p:notesMasterIdLst>
  <p:handoutMasterIdLst>
    <p:handoutMasterId r:id="rId26"/>
  </p:handoutMasterIdLst>
  <p:sldIdLst>
    <p:sldId id="399" r:id="rId2"/>
    <p:sldId id="511" r:id="rId3"/>
    <p:sldId id="512" r:id="rId4"/>
    <p:sldId id="516" r:id="rId5"/>
    <p:sldId id="524" r:id="rId6"/>
    <p:sldId id="513" r:id="rId7"/>
    <p:sldId id="515" r:id="rId8"/>
    <p:sldId id="514" r:id="rId9"/>
    <p:sldId id="517" r:id="rId10"/>
    <p:sldId id="400" r:id="rId11"/>
    <p:sldId id="401" r:id="rId12"/>
    <p:sldId id="525" r:id="rId13"/>
    <p:sldId id="526" r:id="rId14"/>
    <p:sldId id="527" r:id="rId15"/>
    <p:sldId id="528" r:id="rId16"/>
    <p:sldId id="530" r:id="rId17"/>
    <p:sldId id="532" r:id="rId18"/>
    <p:sldId id="521" r:id="rId19"/>
    <p:sldId id="523" r:id="rId20"/>
    <p:sldId id="536" r:id="rId21"/>
    <p:sldId id="535" r:id="rId22"/>
    <p:sldId id="531" r:id="rId23"/>
    <p:sldId id="534" r:id="rId24"/>
  </p:sldIdLst>
  <p:sldSz cx="12192000" cy="6858000"/>
  <p:notesSz cx="7102475" cy="938847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mn-cs"/>
      </a:defRPr>
    </a:lvl1pPr>
    <a:lvl2pPr marL="457200" algn="l" rtl="0" fontAlgn="base">
      <a:spcBef>
        <a:spcPct val="0"/>
      </a:spcBef>
      <a:spcAft>
        <a:spcPct val="0"/>
      </a:spcAft>
      <a:defRPr sz="2400" kern="1200">
        <a:solidFill>
          <a:schemeClr val="tx1"/>
        </a:solidFill>
        <a:latin typeface="Arial" charset="0"/>
        <a:ea typeface="ＭＳ Ｐゴシック" charset="-128"/>
        <a:cs typeface="+mn-cs"/>
      </a:defRPr>
    </a:lvl2pPr>
    <a:lvl3pPr marL="914400" algn="l" rtl="0" fontAlgn="base">
      <a:spcBef>
        <a:spcPct val="0"/>
      </a:spcBef>
      <a:spcAft>
        <a:spcPct val="0"/>
      </a:spcAft>
      <a:defRPr sz="2400" kern="1200">
        <a:solidFill>
          <a:schemeClr val="tx1"/>
        </a:solidFill>
        <a:latin typeface="Arial" charset="0"/>
        <a:ea typeface="ＭＳ Ｐゴシック" charset="-128"/>
        <a:cs typeface="+mn-cs"/>
      </a:defRPr>
    </a:lvl3pPr>
    <a:lvl4pPr marL="1371600" algn="l" rtl="0" fontAlgn="base">
      <a:spcBef>
        <a:spcPct val="0"/>
      </a:spcBef>
      <a:spcAft>
        <a:spcPct val="0"/>
      </a:spcAft>
      <a:defRPr sz="2400" kern="1200">
        <a:solidFill>
          <a:schemeClr val="tx1"/>
        </a:solidFill>
        <a:latin typeface="Arial" charset="0"/>
        <a:ea typeface="ＭＳ Ｐゴシック" charset="-128"/>
        <a:cs typeface="+mn-cs"/>
      </a:defRPr>
    </a:lvl4pPr>
    <a:lvl5pPr marL="1828800" algn="l" rtl="0" fontAlgn="base">
      <a:spcBef>
        <a:spcPct val="0"/>
      </a:spcBef>
      <a:spcAft>
        <a:spcPct val="0"/>
      </a:spcAft>
      <a:defRPr sz="2400" kern="1200">
        <a:solidFill>
          <a:schemeClr val="tx1"/>
        </a:solidFill>
        <a:latin typeface="Arial" charset="0"/>
        <a:ea typeface="ＭＳ Ｐゴシック" charset="-128"/>
        <a:cs typeface="+mn-cs"/>
      </a:defRPr>
    </a:lvl5pPr>
    <a:lvl6pPr marL="2286000" algn="l" defTabSz="914400" rtl="0" eaLnBrk="1" latinLnBrk="0" hangingPunct="1">
      <a:defRPr sz="2400" kern="1200">
        <a:solidFill>
          <a:schemeClr val="tx1"/>
        </a:solidFill>
        <a:latin typeface="Arial" charset="0"/>
        <a:ea typeface="ＭＳ Ｐゴシック" charset="-128"/>
        <a:cs typeface="+mn-cs"/>
      </a:defRPr>
    </a:lvl6pPr>
    <a:lvl7pPr marL="2743200" algn="l" defTabSz="914400" rtl="0" eaLnBrk="1" latinLnBrk="0" hangingPunct="1">
      <a:defRPr sz="2400" kern="1200">
        <a:solidFill>
          <a:schemeClr val="tx1"/>
        </a:solidFill>
        <a:latin typeface="Arial" charset="0"/>
        <a:ea typeface="ＭＳ Ｐゴシック" charset="-128"/>
        <a:cs typeface="+mn-cs"/>
      </a:defRPr>
    </a:lvl7pPr>
    <a:lvl8pPr marL="3200400" algn="l" defTabSz="914400" rtl="0" eaLnBrk="1" latinLnBrk="0" hangingPunct="1">
      <a:defRPr sz="2400" kern="1200">
        <a:solidFill>
          <a:schemeClr val="tx1"/>
        </a:solidFill>
        <a:latin typeface="Arial" charset="0"/>
        <a:ea typeface="ＭＳ Ｐゴシック" charset="-128"/>
        <a:cs typeface="+mn-cs"/>
      </a:defRPr>
    </a:lvl8pPr>
    <a:lvl9pPr marL="3657600" algn="l" defTabSz="914400" rtl="0" eaLnBrk="1" latinLnBrk="0" hangingPunct="1">
      <a:defRPr sz="2400"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Default Section" id="{4EFA106F-A1D2-4A8C-B134-8F2A12C21D33}">
          <p14:sldIdLst>
            <p14:sldId id="399"/>
            <p14:sldId id="511"/>
            <p14:sldId id="512"/>
            <p14:sldId id="516"/>
            <p14:sldId id="524"/>
            <p14:sldId id="513"/>
            <p14:sldId id="515"/>
            <p14:sldId id="514"/>
            <p14:sldId id="517"/>
            <p14:sldId id="400"/>
            <p14:sldId id="401"/>
            <p14:sldId id="525"/>
            <p14:sldId id="526"/>
            <p14:sldId id="527"/>
            <p14:sldId id="528"/>
            <p14:sldId id="530"/>
            <p14:sldId id="532"/>
            <p14:sldId id="521"/>
            <p14:sldId id="523"/>
            <p14:sldId id="536"/>
            <p14:sldId id="535"/>
            <p14:sldId id="531"/>
            <p14:sldId id="53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58"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78AC8B-25A4-2FA1-255B-A2BA7B6FF7E8}" name="Manirumva, Evariste" initials="ME" userId="S::emanirumva@icipe.org::fbb618da-2b8a-4a66-b30b-f0e53196d74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C0A"/>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93" autoAdjust="0"/>
    <p:restoredTop sz="94189" autoAdjust="0"/>
  </p:normalViewPr>
  <p:slideViewPr>
    <p:cSldViewPr>
      <p:cViewPr varScale="1">
        <p:scale>
          <a:sx n="92" d="100"/>
          <a:sy n="92" d="100"/>
        </p:scale>
        <p:origin x="356" y="60"/>
      </p:cViewPr>
      <p:guideLst>
        <p:guide orient="horz" pos="2160"/>
        <p:guide pos="3840"/>
      </p:guideLst>
    </p:cSldViewPr>
  </p:slideViewPr>
  <p:outlineViewPr>
    <p:cViewPr>
      <p:scale>
        <a:sx n="33" d="100"/>
        <a:sy n="33" d="100"/>
      </p:scale>
      <p:origin x="0" y="558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6" d="100"/>
          <a:sy n="76" d="100"/>
        </p:scale>
        <p:origin x="-2196" y="-102"/>
      </p:cViewPr>
      <p:guideLst>
        <p:guide orient="horz" pos="2958"/>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078382" cy="469587"/>
          </a:xfrm>
          <a:prstGeom prst="rect">
            <a:avLst/>
          </a:prstGeom>
        </p:spPr>
        <p:txBody>
          <a:bodyPr vert="horz" wrap="square" lIns="91432" tIns="45716" rIns="91432" bIns="45716" numCol="1" anchor="t" anchorCtr="0" compatLnSpc="1">
            <a:prstTxWarp prst="textNoShape">
              <a:avLst/>
            </a:prstTxWarp>
          </a:bodyPr>
          <a:lstStyle>
            <a:lvl1pPr>
              <a:defRPr sz="1200"/>
            </a:lvl1pPr>
          </a:lstStyle>
          <a:p>
            <a:endParaRPr lang="en-US" dirty="0"/>
          </a:p>
        </p:txBody>
      </p:sp>
      <p:sp>
        <p:nvSpPr>
          <p:cNvPr id="3" name="Date Placeholder 2"/>
          <p:cNvSpPr>
            <a:spLocks noGrp="1"/>
          </p:cNvSpPr>
          <p:nvPr>
            <p:ph type="dt" sz="quarter" idx="1"/>
          </p:nvPr>
        </p:nvSpPr>
        <p:spPr>
          <a:xfrm>
            <a:off x="4022490" y="4"/>
            <a:ext cx="3078382" cy="469587"/>
          </a:xfrm>
          <a:prstGeom prst="rect">
            <a:avLst/>
          </a:prstGeom>
        </p:spPr>
        <p:txBody>
          <a:bodyPr vert="horz" wrap="square" lIns="91432" tIns="45716" rIns="91432" bIns="45716" numCol="1" anchor="t" anchorCtr="0" compatLnSpc="1">
            <a:prstTxWarp prst="textNoShape">
              <a:avLst/>
            </a:prstTxWarp>
          </a:bodyPr>
          <a:lstStyle>
            <a:lvl1pPr algn="r">
              <a:defRPr sz="1200"/>
            </a:lvl1pPr>
          </a:lstStyle>
          <a:p>
            <a:fld id="{EC952391-E811-40BD-BF31-152F5CC3E0D7}" type="datetime1">
              <a:rPr lang="en-US"/>
              <a:pPr/>
              <a:t>4/3/2023</a:t>
            </a:fld>
            <a:endParaRPr lang="en-US" dirty="0"/>
          </a:p>
        </p:txBody>
      </p:sp>
      <p:sp>
        <p:nvSpPr>
          <p:cNvPr id="4" name="Footer Placeholder 3"/>
          <p:cNvSpPr>
            <a:spLocks noGrp="1"/>
          </p:cNvSpPr>
          <p:nvPr>
            <p:ph type="ftr" sz="quarter" idx="2"/>
          </p:nvPr>
        </p:nvSpPr>
        <p:spPr>
          <a:xfrm>
            <a:off x="5" y="8917279"/>
            <a:ext cx="3078382" cy="469587"/>
          </a:xfrm>
          <a:prstGeom prst="rect">
            <a:avLst/>
          </a:prstGeom>
        </p:spPr>
        <p:txBody>
          <a:bodyPr vert="horz" wrap="square" lIns="91432" tIns="45716" rIns="91432" bIns="45716" numCol="1" anchor="b" anchorCtr="0" compatLnSpc="1">
            <a:prstTxWarp prst="textNoShape">
              <a:avLst/>
            </a:prstTxWarp>
          </a:bodyPr>
          <a:lstStyle>
            <a:lvl1pPr>
              <a:defRPr sz="1200"/>
            </a:lvl1pPr>
          </a:lstStyle>
          <a:p>
            <a:endParaRPr lang="en-US" dirty="0"/>
          </a:p>
        </p:txBody>
      </p:sp>
      <p:sp>
        <p:nvSpPr>
          <p:cNvPr id="5" name="Slide Number Placeholder 4"/>
          <p:cNvSpPr>
            <a:spLocks noGrp="1"/>
          </p:cNvSpPr>
          <p:nvPr>
            <p:ph type="sldNum" sz="quarter" idx="3"/>
          </p:nvPr>
        </p:nvSpPr>
        <p:spPr>
          <a:xfrm>
            <a:off x="4022490" y="8917279"/>
            <a:ext cx="3078382" cy="469587"/>
          </a:xfrm>
          <a:prstGeom prst="rect">
            <a:avLst/>
          </a:prstGeom>
        </p:spPr>
        <p:txBody>
          <a:bodyPr vert="horz" wrap="square" lIns="91432" tIns="45716" rIns="91432" bIns="45716" numCol="1" anchor="b" anchorCtr="0" compatLnSpc="1">
            <a:prstTxWarp prst="textNoShape">
              <a:avLst/>
            </a:prstTxWarp>
          </a:bodyPr>
          <a:lstStyle>
            <a:lvl1pPr algn="r">
              <a:defRPr sz="1200"/>
            </a:lvl1pPr>
          </a:lstStyle>
          <a:p>
            <a:fld id="{5C8EE828-0B52-48BD-AC30-C13AE1823DC9}" type="slidenum">
              <a:rPr lang="en-US"/>
              <a:pPr/>
              <a:t>‹#›</a:t>
            </a:fld>
            <a:endParaRPr lang="en-US" dirty="0"/>
          </a:p>
        </p:txBody>
      </p:sp>
    </p:spTree>
    <p:extLst>
      <p:ext uri="{BB962C8B-B14F-4D97-AF65-F5344CB8AC3E}">
        <p14:creationId xmlns:p14="http://schemas.microsoft.com/office/powerpoint/2010/main" val="39525950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078382" cy="469587"/>
          </a:xfrm>
          <a:prstGeom prst="rect">
            <a:avLst/>
          </a:prstGeom>
        </p:spPr>
        <p:txBody>
          <a:bodyPr vert="horz" wrap="square" lIns="92822" tIns="46412" rIns="92822" bIns="46412" numCol="1" anchor="t" anchorCtr="0" compatLnSpc="1">
            <a:prstTxWarp prst="textNoShape">
              <a:avLst/>
            </a:prstTxWarp>
          </a:bodyPr>
          <a:lstStyle>
            <a:lvl1pPr>
              <a:defRPr sz="1200">
                <a:latin typeface="Calibri" charset="0"/>
              </a:defRPr>
            </a:lvl1pPr>
          </a:lstStyle>
          <a:p>
            <a:endParaRPr lang="en-US" dirty="0"/>
          </a:p>
        </p:txBody>
      </p:sp>
      <p:sp>
        <p:nvSpPr>
          <p:cNvPr id="3" name="Date Placeholder 2"/>
          <p:cNvSpPr>
            <a:spLocks noGrp="1"/>
          </p:cNvSpPr>
          <p:nvPr>
            <p:ph type="dt" idx="1"/>
          </p:nvPr>
        </p:nvSpPr>
        <p:spPr>
          <a:xfrm>
            <a:off x="4022490" y="4"/>
            <a:ext cx="3078382" cy="469587"/>
          </a:xfrm>
          <a:prstGeom prst="rect">
            <a:avLst/>
          </a:prstGeom>
        </p:spPr>
        <p:txBody>
          <a:bodyPr vert="horz" wrap="square" lIns="92822" tIns="46412" rIns="92822" bIns="46412" numCol="1" anchor="t" anchorCtr="0" compatLnSpc="1">
            <a:prstTxWarp prst="textNoShape">
              <a:avLst/>
            </a:prstTxWarp>
          </a:bodyPr>
          <a:lstStyle>
            <a:lvl1pPr algn="r">
              <a:defRPr sz="1200">
                <a:latin typeface="Calibri" charset="0"/>
              </a:defRPr>
            </a:lvl1pPr>
          </a:lstStyle>
          <a:p>
            <a:fld id="{91EC5310-AD28-478C-9D1F-55544C92CB9A}" type="datetime1">
              <a:rPr lang="en-US"/>
              <a:pPr/>
              <a:t>4/3/2023</a:t>
            </a:fld>
            <a:endParaRPr lang="en-US" dirty="0"/>
          </a:p>
        </p:txBody>
      </p:sp>
      <p:sp>
        <p:nvSpPr>
          <p:cNvPr id="4" name="Slide Image Placeholder 3"/>
          <p:cNvSpPr>
            <a:spLocks noGrp="1" noRot="1" noChangeAspect="1"/>
          </p:cNvSpPr>
          <p:nvPr>
            <p:ph type="sldImg" idx="2"/>
          </p:nvPr>
        </p:nvSpPr>
        <p:spPr>
          <a:xfrm>
            <a:off x="422275" y="704850"/>
            <a:ext cx="6257925" cy="3519488"/>
          </a:xfrm>
          <a:prstGeom prst="rect">
            <a:avLst/>
          </a:prstGeom>
          <a:noFill/>
          <a:ln w="12700">
            <a:solidFill>
              <a:prstClr val="black"/>
            </a:solidFill>
          </a:ln>
        </p:spPr>
        <p:txBody>
          <a:bodyPr vert="horz" wrap="square" lIns="92822" tIns="46412" rIns="92822" bIns="46412" numCol="1" anchor="ctr" anchorCtr="0" compatLnSpc="1">
            <a:prstTxWarp prst="textNoShape">
              <a:avLst/>
            </a:prstTxWarp>
          </a:bodyPr>
          <a:lstStyle/>
          <a:p>
            <a:pPr lvl="0"/>
            <a:endParaRPr lang="en-US" dirty="0"/>
          </a:p>
        </p:txBody>
      </p:sp>
      <p:sp>
        <p:nvSpPr>
          <p:cNvPr id="5" name="Notes Placeholder 4"/>
          <p:cNvSpPr>
            <a:spLocks noGrp="1"/>
          </p:cNvSpPr>
          <p:nvPr>
            <p:ph type="body" sz="quarter" idx="3"/>
          </p:nvPr>
        </p:nvSpPr>
        <p:spPr>
          <a:xfrm>
            <a:off x="710893" y="4460255"/>
            <a:ext cx="5680694" cy="4224651"/>
          </a:xfrm>
          <a:prstGeom prst="rect">
            <a:avLst/>
          </a:prstGeom>
        </p:spPr>
        <p:txBody>
          <a:bodyPr vert="horz" wrap="square" lIns="92822" tIns="46412" rIns="92822" bIns="46412"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5" y="8917279"/>
            <a:ext cx="3078382" cy="469587"/>
          </a:xfrm>
          <a:prstGeom prst="rect">
            <a:avLst/>
          </a:prstGeom>
        </p:spPr>
        <p:txBody>
          <a:bodyPr vert="horz" wrap="square" lIns="92822" tIns="46412" rIns="92822" bIns="46412" numCol="1" anchor="b" anchorCtr="0" compatLnSpc="1">
            <a:prstTxWarp prst="textNoShape">
              <a:avLst/>
            </a:prstTxWarp>
          </a:bodyPr>
          <a:lstStyle>
            <a:lvl1pPr>
              <a:defRPr sz="1200">
                <a:latin typeface="Calibri" charset="0"/>
              </a:defRPr>
            </a:lvl1pPr>
          </a:lstStyle>
          <a:p>
            <a:endParaRPr lang="en-US" dirty="0"/>
          </a:p>
        </p:txBody>
      </p:sp>
      <p:sp>
        <p:nvSpPr>
          <p:cNvPr id="7" name="Slide Number Placeholder 6"/>
          <p:cNvSpPr>
            <a:spLocks noGrp="1"/>
          </p:cNvSpPr>
          <p:nvPr>
            <p:ph type="sldNum" sz="quarter" idx="5"/>
          </p:nvPr>
        </p:nvSpPr>
        <p:spPr>
          <a:xfrm>
            <a:off x="4022490" y="8917279"/>
            <a:ext cx="3078382" cy="469587"/>
          </a:xfrm>
          <a:prstGeom prst="rect">
            <a:avLst/>
          </a:prstGeom>
        </p:spPr>
        <p:txBody>
          <a:bodyPr vert="horz" wrap="square" lIns="92822" tIns="46412" rIns="92822" bIns="46412" numCol="1" anchor="b" anchorCtr="0" compatLnSpc="1">
            <a:prstTxWarp prst="textNoShape">
              <a:avLst/>
            </a:prstTxWarp>
          </a:bodyPr>
          <a:lstStyle>
            <a:lvl1pPr algn="r">
              <a:defRPr sz="1200">
                <a:latin typeface="Calibri" charset="0"/>
              </a:defRPr>
            </a:lvl1pPr>
          </a:lstStyle>
          <a:p>
            <a:fld id="{21D82EB7-C704-4A63-B645-1186AD9BB91E}" type="slidenum">
              <a:rPr lang="en-US"/>
              <a:pPr/>
              <a:t>‹#›</a:t>
            </a:fld>
            <a:endParaRPr lang="en-US" dirty="0"/>
          </a:p>
        </p:txBody>
      </p:sp>
    </p:spTree>
    <p:extLst>
      <p:ext uri="{BB962C8B-B14F-4D97-AF65-F5344CB8AC3E}">
        <p14:creationId xmlns:p14="http://schemas.microsoft.com/office/powerpoint/2010/main" val="27825015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0</a:t>
            </a:fld>
            <a:endParaRPr lang="en-GB" dirty="0"/>
          </a:p>
        </p:txBody>
      </p:sp>
      <p:sp>
        <p:nvSpPr>
          <p:cNvPr id="19459" name="Rectangle 2"/>
          <p:cNvSpPr>
            <a:spLocks noGrp="1" noRot="1" noChangeAspect="1" noChangeArrowheads="1" noTextEdit="1"/>
          </p:cNvSpPr>
          <p:nvPr>
            <p:ph type="sldImg"/>
          </p:nvPr>
        </p:nvSpPr>
        <p:spPr bwMode="auto">
          <a:xfrm>
            <a:off x="422275" y="704850"/>
            <a:ext cx="6257925" cy="3519488"/>
          </a:xfrm>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2526762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QMFM model is originated or derived from a canonical-new Keynesian reduced form model (log-linearized equations of a micro-founded model)</a:t>
            </a:r>
            <a:endParaRPr lang="en-AE"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a:t>
            </a:fld>
            <a:endParaRPr lang="en-US" dirty="0"/>
          </a:p>
        </p:txBody>
      </p:sp>
    </p:spTree>
    <p:extLst>
      <p:ext uri="{BB962C8B-B14F-4D97-AF65-F5344CB8AC3E}">
        <p14:creationId xmlns:p14="http://schemas.microsoft.com/office/powerpoint/2010/main" val="2135263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Output gap and Fiscal Impulse in last Chart</a:t>
            </a:r>
          </a:p>
        </p:txBody>
      </p:sp>
      <p:sp>
        <p:nvSpPr>
          <p:cNvPr id="4" name="Slide Number Placeholder 3"/>
          <p:cNvSpPr>
            <a:spLocks noGrp="1"/>
          </p:cNvSpPr>
          <p:nvPr>
            <p:ph type="sldNum" sz="quarter" idx="5"/>
          </p:nvPr>
        </p:nvSpPr>
        <p:spPr/>
        <p:txBody>
          <a:bodyPr/>
          <a:lstStyle/>
          <a:p>
            <a:fld id="{21D82EB7-C704-4A63-B645-1186AD9BB91E}" type="slidenum">
              <a:rPr lang="en-US" smtClean="0"/>
              <a:pPr/>
              <a:t>8</a:t>
            </a:fld>
            <a:endParaRPr lang="en-US" dirty="0"/>
          </a:p>
        </p:txBody>
      </p:sp>
    </p:spTree>
    <p:extLst>
      <p:ext uri="{BB962C8B-B14F-4D97-AF65-F5344CB8AC3E}">
        <p14:creationId xmlns:p14="http://schemas.microsoft.com/office/powerpoint/2010/main" val="961504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9</a:t>
            </a:fld>
            <a:endParaRPr lang="en-US" dirty="0"/>
          </a:p>
        </p:txBody>
      </p:sp>
    </p:spTree>
    <p:extLst>
      <p:ext uri="{BB962C8B-B14F-4D97-AF65-F5344CB8AC3E}">
        <p14:creationId xmlns:p14="http://schemas.microsoft.com/office/powerpoint/2010/main" val="1979636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16</a:t>
            </a:fld>
            <a:endParaRPr lang="en-US" dirty="0"/>
          </a:p>
        </p:txBody>
      </p:sp>
    </p:spTree>
    <p:extLst>
      <p:ext uri="{BB962C8B-B14F-4D97-AF65-F5344CB8AC3E}">
        <p14:creationId xmlns:p14="http://schemas.microsoft.com/office/powerpoint/2010/main" val="110355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325">
              <a:defRPr/>
            </a:pPr>
            <a:r>
              <a:rPr lang="en-US" dirty="0">
                <a:ea typeface="Calibri" panose="020F0502020204030204" pitchFamily="34" charset="0"/>
                <a:cs typeface="Times New Roman" panose="02020603050405020304" pitchFamily="18" charset="0"/>
              </a:rPr>
              <a:t>Both RIR and RER return gradually to their steady states of RIR of 2.5% and RER depreciation rate of 0%</a:t>
            </a:r>
          </a:p>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17</a:t>
            </a:fld>
            <a:endParaRPr lang="en-US" dirty="0"/>
          </a:p>
        </p:txBody>
      </p:sp>
    </p:spTree>
    <p:extLst>
      <p:ext uri="{BB962C8B-B14F-4D97-AF65-F5344CB8AC3E}">
        <p14:creationId xmlns:p14="http://schemas.microsoft.com/office/powerpoint/2010/main" val="2281835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20</a:t>
            </a:fld>
            <a:endParaRPr lang="en-US" dirty="0"/>
          </a:p>
        </p:txBody>
      </p:sp>
    </p:spTree>
    <p:extLst>
      <p:ext uri="{BB962C8B-B14F-4D97-AF65-F5344CB8AC3E}">
        <p14:creationId xmlns:p14="http://schemas.microsoft.com/office/powerpoint/2010/main" val="2629663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21</a:t>
            </a:fld>
            <a:endParaRPr lang="en-US" dirty="0"/>
          </a:p>
        </p:txBody>
      </p:sp>
    </p:spTree>
    <p:extLst>
      <p:ext uri="{BB962C8B-B14F-4D97-AF65-F5344CB8AC3E}">
        <p14:creationId xmlns:p14="http://schemas.microsoft.com/office/powerpoint/2010/main" val="3155706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illustration of fiscal impulse in relation to output/gap</a:t>
            </a:r>
          </a:p>
        </p:txBody>
      </p:sp>
      <p:sp>
        <p:nvSpPr>
          <p:cNvPr id="4" name="Slide Number Placeholder 3"/>
          <p:cNvSpPr>
            <a:spLocks noGrp="1"/>
          </p:cNvSpPr>
          <p:nvPr>
            <p:ph type="sldNum" sz="quarter" idx="5"/>
          </p:nvPr>
        </p:nvSpPr>
        <p:spPr/>
        <p:txBody>
          <a:bodyPr/>
          <a:lstStyle/>
          <a:p>
            <a:fld id="{21D82EB7-C704-4A63-B645-1186AD9BB91E}" type="slidenum">
              <a:rPr lang="en-US" smtClean="0"/>
              <a:pPr/>
              <a:t>22</a:t>
            </a:fld>
            <a:endParaRPr lang="en-US" dirty="0"/>
          </a:p>
        </p:txBody>
      </p:sp>
    </p:spTree>
    <p:extLst>
      <p:ext uri="{BB962C8B-B14F-4D97-AF65-F5344CB8AC3E}">
        <p14:creationId xmlns:p14="http://schemas.microsoft.com/office/powerpoint/2010/main" val="14357981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9464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4/3/2023</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4/3/2023</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16513884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1016000" cy="820738"/>
          </a:xfrm>
          <a:prstGeom prst="rect">
            <a:avLst/>
          </a:prstGeom>
          <a:noFill/>
          <a:ln w="9525">
            <a:solidFill>
              <a:schemeClr val="bg1"/>
            </a:solidFill>
            <a:miter lim="800000"/>
            <a:headEnd/>
            <a:tailEnd/>
          </a:ln>
        </p:spPr>
      </p:pic>
    </p:spTree>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tmp"/></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9.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tmp"/><Relationship Id="rId7" Type="http://schemas.openxmlformats.org/officeDocument/2006/relationships/image" Target="../media/image35.tmp"/><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4.tmp"/><Relationship Id="rId5" Type="http://schemas.openxmlformats.org/officeDocument/2006/relationships/image" Target="../media/image33.tmp"/><Relationship Id="rId4" Type="http://schemas.openxmlformats.org/officeDocument/2006/relationships/image" Target="../media/image32.tmp"/></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905000" y="914400"/>
            <a:ext cx="8458200" cy="1754326"/>
          </a:xfrm>
          <a:prstGeom prst="rect">
            <a:avLst/>
          </a:prstGeom>
          <a:noFill/>
          <a:ln w="28575">
            <a:noFill/>
          </a:ln>
        </p:spPr>
        <p:txBody>
          <a:bodyPr>
            <a:spAutoFit/>
          </a:bodyPr>
          <a:lstStyle/>
          <a:p>
            <a:pPr algn="ctr">
              <a:defRPr/>
            </a:pPr>
            <a:r>
              <a:rPr lang="en-GB" sz="3600" b="1" dirty="0">
                <a:solidFill>
                  <a:schemeClr val="accent4">
                    <a:lumMod val="75000"/>
                  </a:schemeClr>
                </a:solidFill>
                <a:latin typeface="+mn-lt"/>
              </a:rPr>
              <a:t>Quarterly Macro-Fiscal Outlook</a:t>
            </a:r>
          </a:p>
          <a:p>
            <a:pPr algn="ctr">
              <a:defRPr/>
            </a:pPr>
            <a:endParaRPr lang="en-GB" sz="3600" b="1" dirty="0">
              <a:solidFill>
                <a:schemeClr val="accent4">
                  <a:lumMod val="75000"/>
                </a:schemeClr>
              </a:solidFill>
              <a:latin typeface="+mn-lt"/>
            </a:endParaRPr>
          </a:p>
          <a:p>
            <a:pPr algn="ctr">
              <a:defRPr/>
            </a:pPr>
            <a:r>
              <a:rPr lang="en-GB" sz="3600" b="1" dirty="0">
                <a:solidFill>
                  <a:schemeClr val="accent4">
                    <a:lumMod val="75000"/>
                  </a:schemeClr>
                </a:solidFill>
                <a:latin typeface="+mn-lt"/>
              </a:rPr>
              <a:t>Summary: Forecast 2023-26</a:t>
            </a:r>
          </a:p>
        </p:txBody>
      </p:sp>
      <p:cxnSp>
        <p:nvCxnSpPr>
          <p:cNvPr id="7" name="Straight Connector 6"/>
          <p:cNvCxnSpPr/>
          <p:nvPr/>
        </p:nvCxnSpPr>
        <p:spPr>
          <a:xfrm rot="10800000">
            <a:off x="2362200" y="3048000"/>
            <a:ext cx="7543800" cy="1588"/>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2705100" y="3810000"/>
            <a:ext cx="6858000" cy="523220"/>
          </a:xfrm>
          <a:prstGeom prst="rect">
            <a:avLst/>
          </a:prstGeom>
          <a:noFill/>
        </p:spPr>
        <p:txBody>
          <a:bodyPr wrap="square" rtlCol="0">
            <a:spAutoFit/>
          </a:bodyPr>
          <a:lstStyle/>
          <a:p>
            <a:pPr algn="ctr"/>
            <a:r>
              <a:rPr lang="en-US" sz="2800" dirty="0">
                <a:solidFill>
                  <a:schemeClr val="accent2">
                    <a:lumMod val="75000"/>
                  </a:schemeClr>
                </a:solidFill>
                <a:latin typeface="+mn-lt"/>
              </a:rPr>
              <a:t>March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92075"/>
            <a:ext cx="10261600" cy="838200"/>
          </a:xfrm>
        </p:spPr>
        <p:txBody>
          <a:bodyPr/>
          <a:lstStyle/>
          <a:p>
            <a:r>
              <a:rPr lang="en-GB" b="1" dirty="0"/>
              <a:t>Background—objectives</a:t>
            </a:r>
            <a:endParaRPr lang="en-AE" b="1" dirty="0"/>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1</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609600" y="1143000"/>
            <a:ext cx="10896600" cy="54102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spcAft>
                <a:spcPts val="600"/>
              </a:spcAft>
              <a:buFont typeface="Wingdings" panose="05000000000000000000" pitchFamily="2" charset="2"/>
              <a:buChar char="§"/>
            </a:pPr>
            <a:r>
              <a:rPr lang="en-GB" sz="2600" dirty="0"/>
              <a:t>Provide forecast for 16 quarters ahead of key macro variables (output, inflation, final demands, ...) as influenced by fiscal, monetary and exchange rate policies, including in response to shocks and new developments</a:t>
            </a:r>
          </a:p>
          <a:p>
            <a:pPr algn="just">
              <a:spcAft>
                <a:spcPts val="600"/>
              </a:spcAft>
              <a:buFont typeface="Wingdings" panose="05000000000000000000" pitchFamily="2" charset="2"/>
              <a:buChar char="§"/>
            </a:pPr>
            <a:r>
              <a:rPr lang="en-GB" sz="2600" dirty="0"/>
              <a:t>Provide alternative (policy) scenarios around Baseline/judgemental forecast</a:t>
            </a:r>
          </a:p>
          <a:p>
            <a:pPr algn="just">
              <a:spcAft>
                <a:spcPts val="600"/>
              </a:spcAft>
              <a:buFont typeface="Wingdings" panose="05000000000000000000" pitchFamily="2" charset="2"/>
              <a:buChar char="§"/>
            </a:pPr>
            <a:r>
              <a:rPr lang="en-GB" sz="2600" dirty="0"/>
              <a:t>Complement other projections, like by MINECOFIN Macroeconomic framework, Now/forecasting and by NBR and other institutions</a:t>
            </a:r>
          </a:p>
          <a:p>
            <a:pPr algn="just">
              <a:spcAft>
                <a:spcPts val="600"/>
              </a:spcAft>
              <a:buFont typeface="Wingdings" panose="05000000000000000000" pitchFamily="2" charset="2"/>
              <a:buChar char="§"/>
            </a:pPr>
            <a:r>
              <a:rPr lang="en-GB" sz="2600" dirty="0"/>
              <a:t>Using forecast tool, Quarterly Macro Fiscal Model,  so-called “gap” model:</a:t>
            </a:r>
          </a:p>
          <a:p>
            <a:pPr lvl="2" algn="just">
              <a:spcAft>
                <a:spcPts val="600"/>
              </a:spcAft>
              <a:buFont typeface="Wingdings" panose="05000000000000000000" pitchFamily="2" charset="2"/>
              <a:buChar char="Ø"/>
            </a:pPr>
            <a:r>
              <a:rPr lang="en-GB" dirty="0"/>
              <a:t>tracing macro variables in deviation from trends</a:t>
            </a:r>
          </a:p>
          <a:p>
            <a:pPr lvl="2" algn="just">
              <a:spcAft>
                <a:spcPts val="600"/>
              </a:spcAft>
              <a:buFont typeface="Wingdings" panose="05000000000000000000" pitchFamily="2" charset="2"/>
              <a:buChar char="Ø"/>
            </a:pPr>
            <a:r>
              <a:rPr lang="en-GB" dirty="0"/>
              <a:t>after shocks and policy responses, variables return to their trends</a:t>
            </a:r>
          </a:p>
          <a:p>
            <a:pPr lvl="2" algn="just">
              <a:spcAft>
                <a:spcPts val="600"/>
              </a:spcAft>
              <a:buFont typeface="Wingdings" panose="05000000000000000000" pitchFamily="2" charset="2"/>
              <a:buChar char="Ø"/>
            </a:pPr>
            <a:r>
              <a:rPr lang="en-GB" dirty="0"/>
              <a:t>trends converge to steady states (outside model), e.g. potential output growth, real interest and exchange rates, sustainable deficit, target inflation….</a:t>
            </a:r>
          </a:p>
        </p:txBody>
      </p:sp>
    </p:spTree>
    <p:extLst>
      <p:ext uri="{BB962C8B-B14F-4D97-AF65-F5344CB8AC3E}">
        <p14:creationId xmlns:p14="http://schemas.microsoft.com/office/powerpoint/2010/main" val="2166175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609600"/>
          </a:xfrm>
        </p:spPr>
        <p:txBody>
          <a:bodyPr/>
          <a:lstStyle/>
          <a:p>
            <a:r>
              <a:rPr lang="en-GB" b="1" dirty="0"/>
              <a:t>Forecast assumptions</a:t>
            </a:r>
            <a:endParaRPr lang="en-AE" b="1" dirty="0"/>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2</a:t>
            </a:fld>
            <a:endParaRPr lang="en-US" dirty="0"/>
          </a:p>
        </p:txBody>
      </p:sp>
      <p:sp>
        <p:nvSpPr>
          <p:cNvPr id="4" name="Content Placeholder 2">
            <a:extLst>
              <a:ext uri="{FF2B5EF4-FFF2-40B4-BE49-F238E27FC236}">
                <a16:creationId xmlns:a16="http://schemas.microsoft.com/office/drawing/2014/main" id="{C77357A2-BC7F-DEA1-E1F9-C481EA57A693}"/>
              </a:ext>
            </a:extLst>
          </p:cNvPr>
          <p:cNvSpPr txBox="1">
            <a:spLocks/>
          </p:cNvSpPr>
          <p:nvPr/>
        </p:nvSpPr>
        <p:spPr>
          <a:xfrm>
            <a:off x="838200" y="1371600"/>
            <a:ext cx="10972800" cy="5045076"/>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Font typeface="Wingdings" panose="05000000000000000000" pitchFamily="2" charset="2"/>
              <a:buNone/>
            </a:pPr>
            <a:r>
              <a:rPr lang="en-GB" sz="2600" dirty="0"/>
              <a:t>The forecasts are conditional on exogenous and judgemental assumptions:</a:t>
            </a:r>
          </a:p>
          <a:p>
            <a:pPr algn="just">
              <a:spcAft>
                <a:spcPts val="600"/>
              </a:spcAft>
              <a:buFont typeface="Wingdings" panose="05000000000000000000" pitchFamily="2" charset="2"/>
              <a:buChar char="§"/>
            </a:pPr>
            <a:r>
              <a:rPr lang="en-GB" sz="2600" dirty="0"/>
              <a:t>external environment (foreign prices, demand, food/oil prices, interest rates, ..)</a:t>
            </a:r>
          </a:p>
          <a:p>
            <a:pPr algn="just">
              <a:spcAft>
                <a:spcPts val="600"/>
              </a:spcAft>
              <a:buFont typeface="Wingdings" panose="05000000000000000000" pitchFamily="2" charset="2"/>
              <a:buChar char="§"/>
            </a:pPr>
            <a:r>
              <a:rPr lang="en-GB" sz="2600" dirty="0"/>
              <a:t>domestic trends distilled from historic data (quarterly 2006-22) </a:t>
            </a:r>
          </a:p>
          <a:p>
            <a:pPr algn="just">
              <a:spcAft>
                <a:spcPts val="600"/>
              </a:spcAft>
              <a:buFont typeface="Wingdings" panose="05000000000000000000" pitchFamily="2" charset="2"/>
              <a:buChar char="§"/>
            </a:pPr>
            <a:r>
              <a:rPr lang="en-GB" sz="2600" dirty="0"/>
              <a:t>near-term forecasts (now/forecast GDP, latest CPI,…) and known or expected domestic policies (e.g.  fiscal stance, next quarter’s interest rate,…)</a:t>
            </a:r>
          </a:p>
          <a:p>
            <a:pPr algn="just">
              <a:spcAft>
                <a:spcPts val="600"/>
              </a:spcAft>
              <a:buFont typeface="Wingdings" panose="05000000000000000000" pitchFamily="2" charset="2"/>
              <a:buChar char="§"/>
            </a:pPr>
            <a:r>
              <a:rPr lang="en-GB" sz="2600" dirty="0"/>
              <a:t>dis/continuation of recently observed domestic shocks (e.g. in agriculture, food prices and in core-CPI)</a:t>
            </a:r>
          </a:p>
          <a:p>
            <a:pPr marL="0" indent="0" algn="just">
              <a:buNone/>
            </a:pPr>
            <a:endParaRPr lang="en-AE" dirty="0"/>
          </a:p>
        </p:txBody>
      </p:sp>
    </p:spTree>
    <p:extLst>
      <p:ext uri="{BB962C8B-B14F-4D97-AF65-F5344CB8AC3E}">
        <p14:creationId xmlns:p14="http://schemas.microsoft.com/office/powerpoint/2010/main" val="255769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685800"/>
          </a:xfrm>
        </p:spPr>
        <p:txBody>
          <a:bodyPr/>
          <a:lstStyle/>
          <a:p>
            <a:r>
              <a:rPr lang="en-GB" b="1" dirty="0"/>
              <a:t>External environment </a:t>
            </a:r>
            <a:endParaRPr lang="en-AE" b="1" dirty="0"/>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3</a:t>
            </a:fld>
            <a:endParaRPr lang="en-US" dirty="0"/>
          </a:p>
        </p:txBody>
      </p:sp>
      <p:sp>
        <p:nvSpPr>
          <p:cNvPr id="4" name="Content Placeholder 2">
            <a:extLst>
              <a:ext uri="{FF2B5EF4-FFF2-40B4-BE49-F238E27FC236}">
                <a16:creationId xmlns:a16="http://schemas.microsoft.com/office/drawing/2014/main" id="{C77357A2-BC7F-DEA1-E1F9-C481EA57A693}"/>
              </a:ext>
            </a:extLst>
          </p:cNvPr>
          <p:cNvSpPr txBox="1">
            <a:spLocks/>
          </p:cNvSpPr>
          <p:nvPr/>
        </p:nvSpPr>
        <p:spPr>
          <a:xfrm>
            <a:off x="4800600" y="4150758"/>
            <a:ext cx="3124199" cy="190565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4320" indent="-285750" algn="just">
              <a:spcBef>
                <a:spcPts val="300"/>
              </a:spcBef>
              <a:spcAft>
                <a:spcPts val="400"/>
              </a:spcAft>
              <a:buFont typeface="Arial" panose="020B0604020202020204" pitchFamily="34" charset="0"/>
              <a:buChar char="•"/>
            </a:pPr>
            <a:r>
              <a:rPr lang="en-GB" sz="1800" dirty="0"/>
              <a:t>World real interest rates are projected to increase from negative in the past decade to positive in near term, and 2-2.5% in MT</a:t>
            </a:r>
          </a:p>
        </p:txBody>
      </p:sp>
      <p:pic>
        <p:nvPicPr>
          <p:cNvPr id="7" name="Picture 6" descr="Chart, line chart&#10;&#10;Description automatically generated">
            <a:extLst>
              <a:ext uri="{FF2B5EF4-FFF2-40B4-BE49-F238E27FC236}">
                <a16:creationId xmlns:a16="http://schemas.microsoft.com/office/drawing/2014/main" id="{0D3816F1-012E-3147-640F-AB15DAE3FE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9754" y="1519537"/>
            <a:ext cx="3095045" cy="2286000"/>
          </a:xfrm>
          <a:prstGeom prst="rect">
            <a:avLst/>
          </a:prstGeom>
          <a:effectLst>
            <a:glow rad="127000">
              <a:schemeClr val="accent5">
                <a:lumMod val="20000"/>
                <a:lumOff val="80000"/>
              </a:schemeClr>
            </a:glow>
          </a:effectLst>
        </p:spPr>
      </p:pic>
      <p:sp>
        <p:nvSpPr>
          <p:cNvPr id="13" name="TextBox 12">
            <a:extLst>
              <a:ext uri="{FF2B5EF4-FFF2-40B4-BE49-F238E27FC236}">
                <a16:creationId xmlns:a16="http://schemas.microsoft.com/office/drawing/2014/main" id="{825E27BE-9404-C370-027C-CC987668662F}"/>
              </a:ext>
            </a:extLst>
          </p:cNvPr>
          <p:cNvSpPr txBox="1"/>
          <p:nvPr/>
        </p:nvSpPr>
        <p:spPr>
          <a:xfrm>
            <a:off x="914400" y="4038600"/>
            <a:ext cx="3352800" cy="2121093"/>
          </a:xfrm>
          <a:prstGeom prst="rect">
            <a:avLst/>
          </a:prstGeom>
          <a:noFill/>
        </p:spPr>
        <p:txBody>
          <a:bodyPr wrap="square" rtlCol="0">
            <a:spAutoFit/>
          </a:bodyPr>
          <a:lstStyle/>
          <a:p>
            <a:pPr marL="274320" indent="-285750" algn="just">
              <a:spcBef>
                <a:spcPts val="300"/>
              </a:spcBef>
              <a:spcAft>
                <a:spcPts val="400"/>
              </a:spcAft>
              <a:buFont typeface="Arial" panose="020B0604020202020204" pitchFamily="34" charset="0"/>
              <a:buChar char="•"/>
            </a:pPr>
            <a:r>
              <a:rPr lang="en-GB" sz="1800" dirty="0">
                <a:latin typeface="+mn-lt"/>
              </a:rPr>
              <a:t>World economy slowing down as interest rates are raised in response to inflation</a:t>
            </a:r>
          </a:p>
          <a:p>
            <a:pPr marL="274320" indent="-285750" algn="just">
              <a:spcBef>
                <a:spcPts val="300"/>
              </a:spcBef>
              <a:spcAft>
                <a:spcPts val="400"/>
              </a:spcAft>
              <a:buFont typeface="Arial" panose="020B0604020202020204" pitchFamily="34" charset="0"/>
              <a:buChar char="•"/>
            </a:pPr>
            <a:r>
              <a:rPr lang="en-GB" sz="1800" dirty="0">
                <a:latin typeface="+mn-lt"/>
              </a:rPr>
              <a:t>Rwanda still enjoys recovery in trading partner demand relative to Covid-years, at 3% p.y., well above trend</a:t>
            </a:r>
          </a:p>
        </p:txBody>
      </p:sp>
      <p:sp>
        <p:nvSpPr>
          <p:cNvPr id="15" name="TextBox 14">
            <a:extLst>
              <a:ext uri="{FF2B5EF4-FFF2-40B4-BE49-F238E27FC236}">
                <a16:creationId xmlns:a16="http://schemas.microsoft.com/office/drawing/2014/main" id="{EDB14C2A-2CC5-2CF7-555D-E64A5656523F}"/>
              </a:ext>
            </a:extLst>
          </p:cNvPr>
          <p:cNvSpPr txBox="1"/>
          <p:nvPr/>
        </p:nvSpPr>
        <p:spPr>
          <a:xfrm>
            <a:off x="8458200" y="4150758"/>
            <a:ext cx="2819400" cy="1844095"/>
          </a:xfrm>
          <a:prstGeom prst="rect">
            <a:avLst/>
          </a:prstGeom>
          <a:noFill/>
        </p:spPr>
        <p:txBody>
          <a:bodyPr wrap="square" rtlCol="0">
            <a:spAutoFit/>
          </a:bodyPr>
          <a:lstStyle/>
          <a:p>
            <a:pPr marL="274320" indent="-285750" algn="just" eaLnBrk="0" hangingPunct="0">
              <a:spcBef>
                <a:spcPts val="300"/>
              </a:spcBef>
              <a:spcAft>
                <a:spcPts val="400"/>
              </a:spcAft>
              <a:buClr>
                <a:schemeClr val="accent1"/>
              </a:buClr>
              <a:buSzPct val="76000"/>
              <a:buFont typeface="Arial" panose="020B0604020202020204" pitchFamily="34" charset="0"/>
              <a:buChar char="•"/>
            </a:pPr>
            <a:r>
              <a:rPr lang="en-GB" sz="1800" dirty="0">
                <a:latin typeface="+mn-lt"/>
              </a:rPr>
              <a:t>Trading partners’ CPI (in US$) was subdued at 1.5% py in past 5-7 years</a:t>
            </a:r>
          </a:p>
          <a:p>
            <a:pPr marL="274320" indent="-285750" algn="just" eaLnBrk="0" hangingPunct="0">
              <a:spcBef>
                <a:spcPts val="300"/>
              </a:spcBef>
              <a:spcAft>
                <a:spcPts val="400"/>
              </a:spcAft>
              <a:buClr>
                <a:schemeClr val="accent1"/>
              </a:buClr>
              <a:buSzPct val="76000"/>
              <a:buFont typeface="Arial" panose="020B0604020202020204" pitchFamily="34" charset="0"/>
              <a:buChar char="•"/>
            </a:pPr>
            <a:r>
              <a:rPr lang="en-GB" sz="1800" dirty="0">
                <a:latin typeface="+mn-lt"/>
              </a:rPr>
              <a:t>Projected to return to more normal level of 3% in coming years</a:t>
            </a:r>
            <a:endParaRPr lang="en-AE" sz="1800" dirty="0">
              <a:latin typeface="+mn-lt"/>
            </a:endParaRPr>
          </a:p>
        </p:txBody>
      </p:sp>
      <p:pic>
        <p:nvPicPr>
          <p:cNvPr id="16" name="Picture 15" descr="Chart, line chart&#10;&#10;Description automatically generated">
            <a:extLst>
              <a:ext uri="{FF2B5EF4-FFF2-40B4-BE49-F238E27FC236}">
                <a16:creationId xmlns:a16="http://schemas.microsoft.com/office/drawing/2014/main" id="{1BAABEE4-1924-CB6D-8E54-7A24F0228F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0600" y="1516836"/>
            <a:ext cx="3200400" cy="2369364"/>
          </a:xfrm>
          <a:prstGeom prst="rect">
            <a:avLst/>
          </a:prstGeom>
          <a:effectLst>
            <a:glow rad="127000">
              <a:schemeClr val="accent5">
                <a:lumMod val="20000"/>
                <a:lumOff val="80000"/>
              </a:schemeClr>
            </a:glow>
          </a:effectLst>
        </p:spPr>
      </p:pic>
      <p:pic>
        <p:nvPicPr>
          <p:cNvPr id="8" name="Picture 7">
            <a:extLst>
              <a:ext uri="{FF2B5EF4-FFF2-40B4-BE49-F238E27FC236}">
                <a16:creationId xmlns:a16="http://schemas.microsoft.com/office/drawing/2014/main" id="{0537FC3D-CB21-FF02-89C6-9E38EE94F8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2999" y="1516836"/>
            <a:ext cx="3095045" cy="2286000"/>
          </a:xfrm>
          <a:prstGeom prst="rect">
            <a:avLst/>
          </a:prstGeom>
          <a:effectLst>
            <a:glow rad="127000">
              <a:schemeClr val="accent5">
                <a:lumMod val="20000"/>
                <a:lumOff val="80000"/>
              </a:schemeClr>
            </a:glow>
          </a:effectLst>
        </p:spPr>
      </p:pic>
    </p:spTree>
    <p:extLst>
      <p:ext uri="{BB962C8B-B14F-4D97-AF65-F5344CB8AC3E}">
        <p14:creationId xmlns:p14="http://schemas.microsoft.com/office/powerpoint/2010/main" val="1227849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706020"/>
          </a:xfrm>
        </p:spPr>
        <p:txBody>
          <a:bodyPr/>
          <a:lstStyle/>
          <a:p>
            <a:r>
              <a:rPr lang="en-GB" b="1" dirty="0"/>
              <a:t>Domestic environment </a:t>
            </a:r>
            <a:endParaRPr lang="en-AE" b="1" dirty="0"/>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4</a:t>
            </a:fld>
            <a:endParaRPr lang="en-US" dirty="0"/>
          </a:p>
        </p:txBody>
      </p:sp>
      <p:sp>
        <p:nvSpPr>
          <p:cNvPr id="8" name="TextBox 7">
            <a:extLst>
              <a:ext uri="{FF2B5EF4-FFF2-40B4-BE49-F238E27FC236}">
                <a16:creationId xmlns:a16="http://schemas.microsoft.com/office/drawing/2014/main" id="{D4C16519-51F5-5EFF-CB74-11E7C7EAA74B}"/>
              </a:ext>
            </a:extLst>
          </p:cNvPr>
          <p:cNvSpPr txBox="1"/>
          <p:nvPr/>
        </p:nvSpPr>
        <p:spPr>
          <a:xfrm>
            <a:off x="304800" y="1828800"/>
            <a:ext cx="11684000" cy="4478149"/>
          </a:xfrm>
          <a:prstGeom prst="rect">
            <a:avLst/>
          </a:prstGeom>
          <a:noFill/>
        </p:spPr>
        <p:txBody>
          <a:bodyPr wrap="square">
            <a:spAutoFit/>
          </a:bodyPr>
          <a:lstStyle/>
          <a:p>
            <a:pPr algn="just">
              <a:spcAft>
                <a:spcPts val="600"/>
              </a:spcAft>
            </a:pPr>
            <a:r>
              <a:rPr lang="en-GB" sz="2400" dirty="0"/>
              <a:t>Current fiscal, monetary and exchange rate policies:</a:t>
            </a:r>
          </a:p>
          <a:p>
            <a:pPr marL="342900" indent="-342900" algn="just">
              <a:spcBef>
                <a:spcPts val="600"/>
              </a:spcBef>
              <a:spcAft>
                <a:spcPts val="600"/>
              </a:spcAft>
              <a:buFont typeface="Wingdings" panose="05000000000000000000" pitchFamily="2" charset="2"/>
              <a:buChar char="§"/>
            </a:pPr>
            <a:r>
              <a:rPr lang="en-GB" sz="2400" dirty="0"/>
              <a:t>Fiscal consolidation with 2022/23 Budget with phasing out of Covid and Ukraine-crisis related spending, and reduction in fiscal deficit and fiscal impulse</a:t>
            </a:r>
          </a:p>
          <a:p>
            <a:pPr marL="342900" indent="-342900" algn="just">
              <a:spcBef>
                <a:spcPts val="600"/>
              </a:spcBef>
              <a:spcAft>
                <a:spcPts val="600"/>
              </a:spcAft>
              <a:buFont typeface="Wingdings" panose="05000000000000000000" pitchFamily="2" charset="2"/>
              <a:buChar char="§"/>
            </a:pPr>
            <a:r>
              <a:rPr lang="en-GB" dirty="0"/>
              <a:t>Maintenance of current level of policy interest rate (interbank rate)</a:t>
            </a:r>
          </a:p>
          <a:p>
            <a:pPr marL="342900" indent="-342900" algn="just">
              <a:spcBef>
                <a:spcPts val="600"/>
              </a:spcBef>
              <a:spcAft>
                <a:spcPts val="600"/>
              </a:spcAft>
              <a:buFont typeface="Wingdings" panose="05000000000000000000" pitchFamily="2" charset="2"/>
              <a:buChar char="§"/>
            </a:pPr>
            <a:r>
              <a:rPr lang="en-GB" dirty="0"/>
              <a:t>Somewhat faster exchange rate depreciation in 2023 (than 2022), targeted in PCI</a:t>
            </a:r>
          </a:p>
          <a:p>
            <a:pPr marL="342900" indent="-342900" algn="just">
              <a:spcBef>
                <a:spcPts val="600"/>
              </a:spcBef>
              <a:spcAft>
                <a:spcPts val="600"/>
              </a:spcAft>
              <a:buFont typeface="Wingdings" panose="05000000000000000000" pitchFamily="2" charset="2"/>
              <a:buChar char="§"/>
            </a:pPr>
            <a:r>
              <a:rPr lang="en-GB" dirty="0"/>
              <a:t>Expected return to normal of agricultural harvests and domestic food prices</a:t>
            </a:r>
          </a:p>
          <a:p>
            <a:pPr marL="342900" indent="-342900" algn="just">
              <a:buFont typeface="Wingdings" panose="05000000000000000000" pitchFamily="2" charset="2"/>
              <a:buChar char="§"/>
            </a:pPr>
            <a:endParaRPr lang="en-GB" sz="2400" dirty="0"/>
          </a:p>
          <a:p>
            <a:pPr algn="just">
              <a:buFont typeface="Wingdings" panose="05000000000000000000" pitchFamily="2" charset="2"/>
              <a:buChar char="§"/>
            </a:pPr>
            <a:endParaRPr lang="en-GB" dirty="0"/>
          </a:p>
          <a:p>
            <a:pPr algn="just">
              <a:buFont typeface="Wingdings" panose="05000000000000000000" pitchFamily="2" charset="2"/>
              <a:buChar char="§"/>
            </a:pPr>
            <a:endParaRPr lang="en-GB" sz="2400" dirty="0"/>
          </a:p>
          <a:p>
            <a:pPr algn="just">
              <a:buFont typeface="Wingdings" panose="05000000000000000000" pitchFamily="2" charset="2"/>
              <a:buChar char="§"/>
            </a:pPr>
            <a:endParaRPr lang="en-GB" sz="2400" dirty="0"/>
          </a:p>
        </p:txBody>
      </p:sp>
    </p:spTree>
    <p:extLst>
      <p:ext uri="{BB962C8B-B14F-4D97-AF65-F5344CB8AC3E}">
        <p14:creationId xmlns:p14="http://schemas.microsoft.com/office/powerpoint/2010/main" val="3552405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5B51-9F35-563B-B454-D804ED60B1A0}"/>
              </a:ext>
            </a:extLst>
          </p:cNvPr>
          <p:cNvSpPr>
            <a:spLocks noGrp="1"/>
          </p:cNvSpPr>
          <p:nvPr>
            <p:ph type="title"/>
          </p:nvPr>
        </p:nvSpPr>
        <p:spPr>
          <a:xfrm>
            <a:off x="1600200" y="153531"/>
            <a:ext cx="10261600" cy="684669"/>
          </a:xfrm>
        </p:spPr>
        <p:txBody>
          <a:bodyPr/>
          <a:lstStyle/>
          <a:p>
            <a:r>
              <a:rPr lang="en-GB" b="1" dirty="0"/>
              <a:t>Output (real GDP) growth</a:t>
            </a:r>
            <a:endParaRPr lang="en-AE" b="1" dirty="0"/>
          </a:p>
        </p:txBody>
      </p:sp>
      <p:sp>
        <p:nvSpPr>
          <p:cNvPr id="3" name="Slide Number Placeholder 2">
            <a:extLst>
              <a:ext uri="{FF2B5EF4-FFF2-40B4-BE49-F238E27FC236}">
                <a16:creationId xmlns:a16="http://schemas.microsoft.com/office/drawing/2014/main" id="{66C60EEB-4D2C-ABC6-3CBF-810371A48CF9}"/>
              </a:ext>
            </a:extLst>
          </p:cNvPr>
          <p:cNvSpPr>
            <a:spLocks noGrp="1"/>
          </p:cNvSpPr>
          <p:nvPr>
            <p:ph type="sldNum" sz="quarter" idx="10"/>
          </p:nvPr>
        </p:nvSpPr>
        <p:spPr/>
        <p:txBody>
          <a:bodyPr/>
          <a:lstStyle/>
          <a:p>
            <a:fld id="{D97AE203-F84D-4A7F-B161-8561326BE072}" type="slidenum">
              <a:rPr lang="en-US" smtClean="0"/>
              <a:pPr/>
              <a:t>5</a:t>
            </a:fld>
            <a:endParaRPr lang="en-US" dirty="0"/>
          </a:p>
        </p:txBody>
      </p:sp>
      <p:sp>
        <p:nvSpPr>
          <p:cNvPr id="6" name="Content Placeholder 2">
            <a:extLst>
              <a:ext uri="{FF2B5EF4-FFF2-40B4-BE49-F238E27FC236}">
                <a16:creationId xmlns:a16="http://schemas.microsoft.com/office/drawing/2014/main" id="{6DB21F50-4750-8FFC-95EB-0C9188E69407}"/>
              </a:ext>
            </a:extLst>
          </p:cNvPr>
          <p:cNvSpPr txBox="1">
            <a:spLocks/>
          </p:cNvSpPr>
          <p:nvPr/>
        </p:nvSpPr>
        <p:spPr>
          <a:xfrm>
            <a:off x="228600" y="1591467"/>
            <a:ext cx="4876800" cy="4935419"/>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GB" sz="2000" b="1" dirty="0">
                <a:solidFill>
                  <a:srgbClr val="00B0F0"/>
                </a:solidFill>
              </a:rPr>
              <a:t>Output growth: </a:t>
            </a:r>
            <a:r>
              <a:rPr lang="en-GB" sz="2000" dirty="0"/>
              <a:t>to rise a bit above trend in 2023-24, completing post-Covid recovery</a:t>
            </a:r>
          </a:p>
          <a:p>
            <a:pPr marL="0" indent="0">
              <a:buNone/>
            </a:pPr>
            <a:endParaRPr lang="en-GB" sz="2000" dirty="0"/>
          </a:p>
          <a:p>
            <a:pPr marL="0" indent="0">
              <a:buNone/>
            </a:pPr>
            <a:r>
              <a:rPr lang="en-GB" sz="2000" dirty="0">
                <a:solidFill>
                  <a:srgbClr val="00B0F0"/>
                </a:solidFill>
              </a:rPr>
              <a:t>Driven by</a:t>
            </a:r>
            <a:r>
              <a:rPr lang="en-GB" sz="2000" dirty="0"/>
              <a:t>:</a:t>
            </a:r>
          </a:p>
          <a:p>
            <a:pPr>
              <a:buFont typeface="Wingdings" panose="05000000000000000000" pitchFamily="2" charset="2"/>
              <a:buChar char="§"/>
            </a:pPr>
            <a:r>
              <a:rPr lang="en-GB" sz="2000" dirty="0"/>
              <a:t>consumption recovering from Covid shocks, helped by below-trend RIR</a:t>
            </a:r>
          </a:p>
          <a:p>
            <a:pPr>
              <a:buFont typeface="Wingdings" panose="05000000000000000000" pitchFamily="2" charset="2"/>
              <a:buChar char="§"/>
            </a:pPr>
            <a:r>
              <a:rPr lang="en-GB" sz="2000" dirty="0"/>
              <a:t>exports recovering from Covid shocks though hampered by still below-trend RER</a:t>
            </a:r>
          </a:p>
          <a:p>
            <a:pPr>
              <a:buFont typeface="Wingdings" panose="05000000000000000000" pitchFamily="2" charset="2"/>
              <a:buChar char="§"/>
            </a:pPr>
            <a:r>
              <a:rPr lang="en-GB" sz="2000" dirty="0"/>
              <a:t>government spending to soften Covid- and Ukraine-crises impact ends with FY 2022/23 (see </a:t>
            </a:r>
            <a:r>
              <a:rPr lang="en-GB" sz="2000" dirty="0">
                <a:solidFill>
                  <a:schemeClr val="accent2">
                    <a:lumMod val="50000"/>
                  </a:schemeClr>
                </a:solidFill>
              </a:rPr>
              <a:t>Fiscal Impulse </a:t>
            </a:r>
            <a:r>
              <a:rPr lang="en-GB" sz="2000" dirty="0"/>
              <a:t>below)</a:t>
            </a:r>
          </a:p>
          <a:p>
            <a:pPr>
              <a:buFont typeface="Wingdings" panose="05000000000000000000" pitchFamily="2" charset="2"/>
              <a:buChar char="§"/>
            </a:pPr>
            <a:r>
              <a:rPr lang="en-GB" sz="2000" dirty="0"/>
              <a:t>return to trend of 7.5% p.y. from 2025</a:t>
            </a:r>
          </a:p>
          <a:p>
            <a:pPr algn="just">
              <a:buFont typeface="Wingdings" panose="05000000000000000000" pitchFamily="2" charset="2"/>
              <a:buChar char="q"/>
            </a:pPr>
            <a:endParaRPr lang="en-AE" sz="2000" dirty="0"/>
          </a:p>
        </p:txBody>
      </p:sp>
      <p:pic>
        <p:nvPicPr>
          <p:cNvPr id="11" name="Picture 10">
            <a:extLst>
              <a:ext uri="{FF2B5EF4-FFF2-40B4-BE49-F238E27FC236}">
                <a16:creationId xmlns:a16="http://schemas.microsoft.com/office/drawing/2014/main" id="{85BC6493-1F9A-865A-E4AC-843EA69F4D73}"/>
              </a:ext>
            </a:extLst>
          </p:cNvPr>
          <p:cNvPicPr>
            <a:picLocks noChangeAspect="1"/>
          </p:cNvPicPr>
          <p:nvPr/>
        </p:nvPicPr>
        <p:blipFill>
          <a:blip r:embed="rId2"/>
          <a:stretch>
            <a:fillRect/>
          </a:stretch>
        </p:blipFill>
        <p:spPr>
          <a:xfrm>
            <a:off x="5105400" y="1270218"/>
            <a:ext cx="6324600" cy="5256669"/>
          </a:xfrm>
          <a:prstGeom prst="rect">
            <a:avLst/>
          </a:prstGeom>
        </p:spPr>
      </p:pic>
    </p:spTree>
    <p:extLst>
      <p:ext uri="{BB962C8B-B14F-4D97-AF65-F5344CB8AC3E}">
        <p14:creationId xmlns:p14="http://schemas.microsoft.com/office/powerpoint/2010/main" val="900768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600200" y="228600"/>
            <a:ext cx="10058400" cy="762000"/>
          </a:xfrm>
        </p:spPr>
        <p:txBody>
          <a:bodyPr/>
          <a:lstStyle/>
          <a:p>
            <a:r>
              <a:rPr lang="en-GB" b="1" dirty="0"/>
              <a:t>Output gap: </a:t>
            </a:r>
            <a:r>
              <a:rPr lang="en-GB" dirty="0"/>
              <a:t>GDP estimated to be below potential </a:t>
            </a:r>
            <a:r>
              <a:rPr lang="en-GB" sz="2000" dirty="0"/>
              <a:t>(-4% end-2022)</a:t>
            </a:r>
            <a:endParaRPr lang="en-AE" sz="2000" dirty="0"/>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6</a:t>
            </a:fld>
            <a:endParaRPr lang="en-US" dirty="0"/>
          </a:p>
        </p:txBody>
      </p:sp>
      <p:pic>
        <p:nvPicPr>
          <p:cNvPr id="5" name="Picture 4">
            <a:extLst>
              <a:ext uri="{FF2B5EF4-FFF2-40B4-BE49-F238E27FC236}">
                <a16:creationId xmlns:a16="http://schemas.microsoft.com/office/drawing/2014/main" id="{FED34615-4C2A-84AF-8CE1-31233F2AC37D}"/>
              </a:ext>
            </a:extLst>
          </p:cNvPr>
          <p:cNvPicPr>
            <a:picLocks noChangeAspect="1"/>
          </p:cNvPicPr>
          <p:nvPr/>
        </p:nvPicPr>
        <p:blipFill>
          <a:blip r:embed="rId2"/>
          <a:stretch>
            <a:fillRect/>
          </a:stretch>
        </p:blipFill>
        <p:spPr>
          <a:xfrm>
            <a:off x="5181600" y="1295400"/>
            <a:ext cx="6629400" cy="5306110"/>
          </a:xfrm>
          <a:prstGeom prst="rect">
            <a:avLst/>
          </a:prstGeom>
        </p:spPr>
      </p:pic>
      <p:sp>
        <p:nvSpPr>
          <p:cNvPr id="6" name="Content Placeholder 2">
            <a:extLst>
              <a:ext uri="{FF2B5EF4-FFF2-40B4-BE49-F238E27FC236}">
                <a16:creationId xmlns:a16="http://schemas.microsoft.com/office/drawing/2014/main" id="{6CE53A78-6149-73BC-44A9-99D9F5188F33}"/>
              </a:ext>
            </a:extLst>
          </p:cNvPr>
          <p:cNvSpPr txBox="1">
            <a:spLocks/>
          </p:cNvSpPr>
          <p:nvPr/>
        </p:nvSpPr>
        <p:spPr>
          <a:xfrm>
            <a:off x="533400" y="1295400"/>
            <a:ext cx="4648200" cy="4351338"/>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2000" b="1" dirty="0">
                <a:solidFill>
                  <a:schemeClr val="accent1"/>
                </a:solidFill>
              </a:rPr>
              <a:t>Output gap: </a:t>
            </a:r>
            <a:r>
              <a:rPr lang="en-GB" sz="2000" dirty="0"/>
              <a:t>GDP is forecast to return to its potential level, i.e. GDP if growth had continued at pre-Covid trend rate. </a:t>
            </a:r>
          </a:p>
          <a:p>
            <a:pPr marL="0" indent="0" algn="just">
              <a:buNone/>
            </a:pPr>
            <a:endParaRPr lang="en-GB" sz="2000" dirty="0"/>
          </a:p>
          <a:p>
            <a:pPr marL="0" indent="0" algn="just">
              <a:buNone/>
            </a:pPr>
            <a:r>
              <a:rPr lang="en-GB" sz="2000" dirty="0">
                <a:solidFill>
                  <a:srgbClr val="00B0F0"/>
                </a:solidFill>
              </a:rPr>
              <a:t>Driven by</a:t>
            </a:r>
            <a:r>
              <a:rPr lang="en-GB" sz="2000" dirty="0"/>
              <a:t>:</a:t>
            </a:r>
          </a:p>
          <a:p>
            <a:pPr>
              <a:buFont typeface="Wingdings" panose="05000000000000000000" pitchFamily="2" charset="2"/>
              <a:buChar char="§"/>
            </a:pPr>
            <a:r>
              <a:rPr lang="en-GB" sz="2000" dirty="0"/>
              <a:t>disappearing Covid down-pull from consumption and exports, which are forecast to return to normal</a:t>
            </a:r>
          </a:p>
          <a:p>
            <a:pPr>
              <a:buFont typeface="Wingdings" panose="05000000000000000000" pitchFamily="2" charset="2"/>
              <a:buChar char="§"/>
            </a:pPr>
            <a:r>
              <a:rPr lang="en-GB" sz="2000" dirty="0"/>
              <a:t>exports recovering from Covid-related shocks and helped by increasing RER</a:t>
            </a:r>
          </a:p>
          <a:p>
            <a:pPr>
              <a:buFont typeface="Wingdings" panose="05000000000000000000" pitchFamily="2" charset="2"/>
              <a:buChar char="§"/>
            </a:pPr>
            <a:r>
              <a:rPr lang="en-GB" sz="2000" dirty="0"/>
              <a:t>high government demand and slump in imports in Covid years stop pulling output up </a:t>
            </a:r>
          </a:p>
          <a:p>
            <a:pPr>
              <a:buFont typeface="Wingdings" panose="05000000000000000000" pitchFamily="2" charset="2"/>
              <a:buChar char="§"/>
            </a:pPr>
            <a:endParaRPr lang="en-GB" sz="2000" dirty="0"/>
          </a:p>
        </p:txBody>
      </p:sp>
    </p:spTree>
    <p:extLst>
      <p:ext uri="{BB962C8B-B14F-4D97-AF65-F5344CB8AC3E}">
        <p14:creationId xmlns:p14="http://schemas.microsoft.com/office/powerpoint/2010/main" val="1781778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E215E-A221-5C2E-C78F-32828EC4B1F8}"/>
              </a:ext>
            </a:extLst>
          </p:cNvPr>
          <p:cNvSpPr>
            <a:spLocks noGrp="1"/>
          </p:cNvSpPr>
          <p:nvPr>
            <p:ph type="title"/>
          </p:nvPr>
        </p:nvSpPr>
        <p:spPr>
          <a:xfrm>
            <a:off x="1625600" y="228600"/>
            <a:ext cx="10490200" cy="685800"/>
          </a:xfrm>
        </p:spPr>
        <p:txBody>
          <a:bodyPr/>
          <a:lstStyle/>
          <a:p>
            <a:r>
              <a:rPr lang="en-GB" b="1" dirty="0"/>
              <a:t>Private consumption </a:t>
            </a:r>
            <a:r>
              <a:rPr lang="en-GB" dirty="0"/>
              <a:t>growth and gap </a:t>
            </a:r>
            <a:r>
              <a:rPr lang="en-GB" sz="2000" dirty="0"/>
              <a:t>(similar for investment, exports, imports)</a:t>
            </a:r>
            <a:endParaRPr lang="en-AE" sz="2000" dirty="0"/>
          </a:p>
        </p:txBody>
      </p:sp>
      <p:sp>
        <p:nvSpPr>
          <p:cNvPr id="3" name="Slide Number Placeholder 2">
            <a:extLst>
              <a:ext uri="{FF2B5EF4-FFF2-40B4-BE49-F238E27FC236}">
                <a16:creationId xmlns:a16="http://schemas.microsoft.com/office/drawing/2014/main" id="{D8C77F28-182D-EA72-A954-E1C43EFFCEA3}"/>
              </a:ext>
            </a:extLst>
          </p:cNvPr>
          <p:cNvSpPr>
            <a:spLocks noGrp="1"/>
          </p:cNvSpPr>
          <p:nvPr>
            <p:ph type="sldNum" sz="quarter" idx="10"/>
          </p:nvPr>
        </p:nvSpPr>
        <p:spPr/>
        <p:txBody>
          <a:bodyPr/>
          <a:lstStyle/>
          <a:p>
            <a:fld id="{D97AE203-F84D-4A7F-B161-8561326BE072}" type="slidenum">
              <a:rPr lang="en-US" smtClean="0"/>
              <a:pPr/>
              <a:t>7</a:t>
            </a:fld>
            <a:endParaRPr lang="en-US" dirty="0"/>
          </a:p>
        </p:txBody>
      </p:sp>
      <p:sp>
        <p:nvSpPr>
          <p:cNvPr id="4" name="Content Placeholder 2">
            <a:extLst>
              <a:ext uri="{FF2B5EF4-FFF2-40B4-BE49-F238E27FC236}">
                <a16:creationId xmlns:a16="http://schemas.microsoft.com/office/drawing/2014/main" id="{D58DA28E-0F28-523A-7B3F-93FC9CDE1E03}"/>
              </a:ext>
            </a:extLst>
          </p:cNvPr>
          <p:cNvSpPr txBox="1">
            <a:spLocks/>
          </p:cNvSpPr>
          <p:nvPr/>
        </p:nvSpPr>
        <p:spPr>
          <a:xfrm>
            <a:off x="5791200" y="1066800"/>
            <a:ext cx="6324600" cy="18288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2000" b="1" dirty="0">
                <a:solidFill>
                  <a:schemeClr val="accent1"/>
                </a:solidFill>
              </a:rPr>
              <a:t>Consumption gap:  </a:t>
            </a:r>
            <a:r>
              <a:rPr lang="en-GB" sz="2000" b="1" dirty="0"/>
              <a:t> </a:t>
            </a:r>
            <a:endParaRPr lang="en-GB" sz="2000" b="1" dirty="0">
              <a:solidFill>
                <a:schemeClr val="accent1"/>
              </a:solidFill>
            </a:endParaRPr>
          </a:p>
          <a:p>
            <a:pPr algn="just">
              <a:buFont typeface="Wingdings" panose="05000000000000000000" pitchFamily="2" charset="2"/>
              <a:buChar char="§"/>
            </a:pPr>
            <a:r>
              <a:rPr lang="en-GB" sz="1800" dirty="0"/>
              <a:t>key driver of 2020-21 negative output gap (</a:t>
            </a:r>
            <a:r>
              <a:rPr lang="en-GB" sz="1800" u="sng" dirty="0"/>
              <a:t>+</a:t>
            </a:r>
            <a:r>
              <a:rPr lang="en-GB" sz="1800" dirty="0"/>
              <a:t> 75% of GDP)</a:t>
            </a:r>
          </a:p>
          <a:p>
            <a:pPr algn="just">
              <a:buFont typeface="Wingdings" panose="05000000000000000000" pitchFamily="2" charset="2"/>
              <a:buChar char="§"/>
            </a:pPr>
            <a:r>
              <a:rPr lang="en-GB" sz="1800" dirty="0"/>
              <a:t>Covid negative shocks (persistence) forecast to end in 2023</a:t>
            </a:r>
          </a:p>
          <a:p>
            <a:pPr algn="just">
              <a:buFont typeface="Wingdings" panose="05000000000000000000" pitchFamily="2" charset="2"/>
              <a:buChar char="§"/>
            </a:pPr>
            <a:r>
              <a:rPr lang="en-GB" sz="1800" dirty="0"/>
              <a:t>fiscal impulse helped offset somewhat negative Covid consumption shocks but it is ending in 2023</a:t>
            </a:r>
          </a:p>
          <a:p>
            <a:pPr algn="just">
              <a:buFont typeface="Wingdings" panose="05000000000000000000" pitchFamily="2" charset="2"/>
              <a:buChar char="q"/>
            </a:pPr>
            <a:endParaRPr lang="en-GB" sz="1400" b="1" dirty="0"/>
          </a:p>
          <a:p>
            <a:pPr marL="0" indent="0" algn="just">
              <a:buNone/>
            </a:pPr>
            <a:endParaRPr lang="en-AE" sz="1400" b="1" dirty="0"/>
          </a:p>
        </p:txBody>
      </p:sp>
      <p:sp>
        <p:nvSpPr>
          <p:cNvPr id="7" name="Content Placeholder 2">
            <a:extLst>
              <a:ext uri="{FF2B5EF4-FFF2-40B4-BE49-F238E27FC236}">
                <a16:creationId xmlns:a16="http://schemas.microsoft.com/office/drawing/2014/main" id="{9C5FF67D-3E27-1BC9-9FF6-68A4F623CC18}"/>
              </a:ext>
            </a:extLst>
          </p:cNvPr>
          <p:cNvSpPr txBox="1">
            <a:spLocks/>
          </p:cNvSpPr>
          <p:nvPr/>
        </p:nvSpPr>
        <p:spPr>
          <a:xfrm>
            <a:off x="1143000" y="4876800"/>
            <a:ext cx="4419600" cy="1580366"/>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Font typeface="Wingdings" panose="05000000000000000000" pitchFamily="2" charset="2"/>
              <a:buChar char="q"/>
            </a:pPr>
            <a:endParaRPr lang="en-AE" sz="1400" b="1" dirty="0"/>
          </a:p>
        </p:txBody>
      </p:sp>
      <p:pic>
        <p:nvPicPr>
          <p:cNvPr id="17" name="Picture 16">
            <a:extLst>
              <a:ext uri="{FF2B5EF4-FFF2-40B4-BE49-F238E27FC236}">
                <a16:creationId xmlns:a16="http://schemas.microsoft.com/office/drawing/2014/main" id="{525DA8B3-FF2A-9E36-5F7B-1335F56D7A4F}"/>
              </a:ext>
            </a:extLst>
          </p:cNvPr>
          <p:cNvPicPr>
            <a:picLocks noChangeAspect="1"/>
          </p:cNvPicPr>
          <p:nvPr/>
        </p:nvPicPr>
        <p:blipFill>
          <a:blip r:embed="rId2"/>
          <a:stretch>
            <a:fillRect/>
          </a:stretch>
        </p:blipFill>
        <p:spPr>
          <a:xfrm>
            <a:off x="6019800" y="3047998"/>
            <a:ext cx="6096000" cy="3810001"/>
          </a:xfrm>
          <a:prstGeom prst="rect">
            <a:avLst/>
          </a:prstGeom>
        </p:spPr>
      </p:pic>
      <p:pic>
        <p:nvPicPr>
          <p:cNvPr id="5" name="Picture 4" descr="Chart, line chart&#10;&#10;Description automatically generated">
            <a:extLst>
              <a:ext uri="{FF2B5EF4-FFF2-40B4-BE49-F238E27FC236}">
                <a16:creationId xmlns:a16="http://schemas.microsoft.com/office/drawing/2014/main" id="{D43942AC-3D1E-4B15-3C74-CDAA0FE276E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09600" y="1295400"/>
            <a:ext cx="4648200" cy="3581400"/>
          </a:xfrm>
          <a:prstGeom prst="rect">
            <a:avLst/>
          </a:prstGeom>
        </p:spPr>
      </p:pic>
      <p:sp>
        <p:nvSpPr>
          <p:cNvPr id="9" name="TextBox 8">
            <a:extLst>
              <a:ext uri="{FF2B5EF4-FFF2-40B4-BE49-F238E27FC236}">
                <a16:creationId xmlns:a16="http://schemas.microsoft.com/office/drawing/2014/main" id="{92C4DA25-5C9F-F1F8-8B9C-3CE84D7513B0}"/>
              </a:ext>
            </a:extLst>
          </p:cNvPr>
          <p:cNvSpPr txBox="1"/>
          <p:nvPr/>
        </p:nvSpPr>
        <p:spPr>
          <a:xfrm rot="10800000" flipV="1">
            <a:off x="381000" y="5060332"/>
            <a:ext cx="5334000" cy="1496948"/>
          </a:xfrm>
          <a:prstGeom prst="rect">
            <a:avLst/>
          </a:prstGeom>
          <a:noFill/>
        </p:spPr>
        <p:txBody>
          <a:bodyPr wrap="square">
            <a:spAutoFit/>
          </a:bodyPr>
          <a:lstStyle/>
          <a:p>
            <a:pPr marL="0" marR="0">
              <a:lnSpc>
                <a:spcPct val="107000"/>
              </a:lnSpc>
              <a:spcBef>
                <a:spcPts val="0"/>
              </a:spcBef>
              <a:spcAft>
                <a:spcPts val="800"/>
              </a:spcAft>
            </a:pPr>
            <a:r>
              <a:rPr lang="en-GB" sz="2000" b="1" dirty="0">
                <a:solidFill>
                  <a:srgbClr val="00B0F0"/>
                </a:solidFill>
                <a:effectLst/>
                <a:latin typeface="Gill Sans MT" panose="020B0502020104020203" pitchFamily="34" charset="0"/>
                <a:ea typeface="Calibri" panose="020F0502020204030204" pitchFamily="34" charset="0"/>
                <a:cs typeface="Times New Roman" panose="02020603050405020304" pitchFamily="18" charset="0"/>
              </a:rPr>
              <a:t>Consumption growth</a:t>
            </a:r>
            <a:r>
              <a:rPr lang="en-GB" sz="2000" b="1" dirty="0">
                <a:effectLst/>
                <a:latin typeface="Gill Sans MT" panose="020B0502020104020203" pitchFamily="34" charset="0"/>
                <a:ea typeface="Calibri" panose="020F0502020204030204" pitchFamily="34" charset="0"/>
                <a:cs typeface="Times New Roman" panose="02020603050405020304" pitchFamily="18" charset="0"/>
              </a:rPr>
              <a:t>:</a:t>
            </a:r>
            <a:endParaRPr lang="en-US" sz="2000" dirty="0">
              <a:effectLst/>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GB" sz="1800" dirty="0">
                <a:latin typeface="Gill Sans MT" panose="020B0502020104020203" pitchFamily="34" charset="0"/>
                <a:ea typeface="Calibri" panose="020F0502020204030204" pitchFamily="34" charset="0"/>
                <a:cs typeface="Times New Roman" panose="02020603050405020304" pitchFamily="18" charset="0"/>
              </a:rPr>
              <a:t>c</a:t>
            </a:r>
            <a:r>
              <a:rPr lang="en-GB" sz="1800" dirty="0">
                <a:effectLst/>
                <a:latin typeface="Gill Sans MT" panose="020B0502020104020203" pitchFamily="34" charset="0"/>
                <a:ea typeface="Calibri" panose="020F0502020204030204" pitchFamily="34" charset="0"/>
                <a:cs typeface="Times New Roman" panose="02020603050405020304" pitchFamily="18" charset="0"/>
              </a:rPr>
              <a:t>ontinued recovery from Covid, with higher than trend growth in 2023-24</a:t>
            </a:r>
            <a:endParaRPr lang="en-US" sz="1800" dirty="0">
              <a:effectLst/>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GB" sz="1800" dirty="0">
                <a:latin typeface="Gill Sans MT" panose="020B0502020104020203" pitchFamily="34" charset="0"/>
                <a:ea typeface="Calibri" panose="020F0502020204030204" pitchFamily="34" charset="0"/>
                <a:cs typeface="Times New Roman" panose="02020603050405020304" pitchFamily="18" charset="0"/>
              </a:rPr>
              <a:t>r</a:t>
            </a:r>
            <a:r>
              <a:rPr lang="en-GB" sz="1800" dirty="0">
                <a:effectLst/>
                <a:latin typeface="Gill Sans MT" panose="020B0502020104020203" pitchFamily="34" charset="0"/>
                <a:ea typeface="Calibri" panose="020F0502020204030204" pitchFamily="34" charset="0"/>
                <a:cs typeface="Times New Roman" panose="02020603050405020304" pitchFamily="18" charset="0"/>
              </a:rPr>
              <a:t>eturns to its trend growth from 2025</a:t>
            </a:r>
            <a:endParaRPr lang="en-US" sz="1800" dirty="0">
              <a:effectLst/>
              <a:latin typeface="Gill Sans MT" panose="020B0502020104020203"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43637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625600" y="228600"/>
            <a:ext cx="10261600" cy="750514"/>
          </a:xfrm>
        </p:spPr>
        <p:txBody>
          <a:bodyPr/>
          <a:lstStyle/>
          <a:p>
            <a:r>
              <a:rPr lang="en-GB" b="1" dirty="0"/>
              <a:t>Government </a:t>
            </a:r>
            <a:r>
              <a:rPr lang="en-GB" dirty="0"/>
              <a:t>demand for G&amp;S and fiscal impulse</a:t>
            </a:r>
            <a:endParaRPr lang="en-AE" dirty="0"/>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8</a:t>
            </a:fld>
            <a:endParaRPr lang="en-US" dirty="0"/>
          </a:p>
        </p:txBody>
      </p:sp>
      <p:pic>
        <p:nvPicPr>
          <p:cNvPr id="9" name="Picture 8">
            <a:extLst>
              <a:ext uri="{FF2B5EF4-FFF2-40B4-BE49-F238E27FC236}">
                <a16:creationId xmlns:a16="http://schemas.microsoft.com/office/drawing/2014/main" id="{CFF25CC5-C94A-0411-826E-999B8FDB02B5}"/>
              </a:ext>
            </a:extLst>
          </p:cNvPr>
          <p:cNvPicPr>
            <a:picLocks noChangeAspect="1"/>
          </p:cNvPicPr>
          <p:nvPr/>
        </p:nvPicPr>
        <p:blipFill>
          <a:blip r:embed="rId3"/>
          <a:stretch>
            <a:fillRect/>
          </a:stretch>
        </p:blipFill>
        <p:spPr>
          <a:xfrm>
            <a:off x="5867400" y="3048000"/>
            <a:ext cx="6248400" cy="3809999"/>
          </a:xfrm>
          <a:prstGeom prst="rect">
            <a:avLst/>
          </a:prstGeom>
        </p:spPr>
      </p:pic>
      <p:sp>
        <p:nvSpPr>
          <p:cNvPr id="10" name="Content Placeholder 2">
            <a:extLst>
              <a:ext uri="{FF2B5EF4-FFF2-40B4-BE49-F238E27FC236}">
                <a16:creationId xmlns:a16="http://schemas.microsoft.com/office/drawing/2014/main" id="{01FBA286-B9C2-0395-5CDE-596191958C6F}"/>
              </a:ext>
            </a:extLst>
          </p:cNvPr>
          <p:cNvSpPr txBox="1">
            <a:spLocks/>
          </p:cNvSpPr>
          <p:nvPr/>
        </p:nvSpPr>
        <p:spPr>
          <a:xfrm>
            <a:off x="76200" y="4919165"/>
            <a:ext cx="5664200" cy="1938833"/>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800" b="1" dirty="0">
                <a:solidFill>
                  <a:schemeClr val="accent1"/>
                </a:solidFill>
              </a:rPr>
              <a:t>Government demand for G&amp;S </a:t>
            </a:r>
            <a:r>
              <a:rPr lang="en-GB" sz="1800" dirty="0"/>
              <a:t>(</a:t>
            </a:r>
            <a:r>
              <a:rPr lang="en-GB" sz="1800" u="sng" dirty="0"/>
              <a:t>+</a:t>
            </a:r>
            <a:r>
              <a:rPr lang="en-GB" sz="1800" dirty="0"/>
              <a:t> 23% of GDP): </a:t>
            </a:r>
          </a:p>
          <a:p>
            <a:pPr algn="just">
              <a:buFont typeface="Wingdings" panose="05000000000000000000" pitchFamily="2" charset="2"/>
              <a:buChar char="§"/>
            </a:pPr>
            <a:r>
              <a:rPr lang="en-GB" sz="1600" dirty="0"/>
              <a:t>mainly exogenous (discretionary spending)</a:t>
            </a:r>
          </a:p>
          <a:p>
            <a:pPr algn="just">
              <a:buFont typeface="Wingdings" panose="05000000000000000000" pitchFamily="2" charset="2"/>
              <a:buChar char="§"/>
            </a:pPr>
            <a:r>
              <a:rPr lang="en-GB" sz="1600" dirty="0"/>
              <a:t>higher government demand under Covid directly offset negative output gap</a:t>
            </a:r>
          </a:p>
          <a:p>
            <a:pPr algn="just">
              <a:buFont typeface="Wingdings" panose="05000000000000000000" pitchFamily="2" charset="2"/>
              <a:buChar char="§"/>
            </a:pPr>
            <a:r>
              <a:rPr lang="en-GB" sz="1600" dirty="0"/>
              <a:t>offsetting effect ends as crisis-related spending ends in 2023</a:t>
            </a:r>
          </a:p>
          <a:p>
            <a:pPr algn="just">
              <a:buFont typeface="Wingdings" panose="05000000000000000000" pitchFamily="2" charset="2"/>
              <a:buChar char="§"/>
            </a:pPr>
            <a:endParaRPr lang="en-GB" sz="1600" dirty="0"/>
          </a:p>
        </p:txBody>
      </p:sp>
      <p:pic>
        <p:nvPicPr>
          <p:cNvPr id="12" name="Picture 11">
            <a:extLst>
              <a:ext uri="{FF2B5EF4-FFF2-40B4-BE49-F238E27FC236}">
                <a16:creationId xmlns:a16="http://schemas.microsoft.com/office/drawing/2014/main" id="{E535578E-5487-73CE-80CE-A266F59392BE}"/>
              </a:ext>
            </a:extLst>
          </p:cNvPr>
          <p:cNvPicPr>
            <a:picLocks noChangeAspect="1"/>
          </p:cNvPicPr>
          <p:nvPr/>
        </p:nvPicPr>
        <p:blipFill>
          <a:blip r:embed="rId4"/>
          <a:stretch>
            <a:fillRect/>
          </a:stretch>
        </p:blipFill>
        <p:spPr>
          <a:xfrm>
            <a:off x="397586" y="1142999"/>
            <a:ext cx="4860214" cy="3612282"/>
          </a:xfrm>
          <a:prstGeom prst="rect">
            <a:avLst/>
          </a:prstGeom>
        </p:spPr>
      </p:pic>
      <p:sp>
        <p:nvSpPr>
          <p:cNvPr id="7" name="Content Placeholder 2">
            <a:extLst>
              <a:ext uri="{FF2B5EF4-FFF2-40B4-BE49-F238E27FC236}">
                <a16:creationId xmlns:a16="http://schemas.microsoft.com/office/drawing/2014/main" id="{12AAF6A8-A1FC-08FD-607D-366D8C204D63}"/>
              </a:ext>
            </a:extLst>
          </p:cNvPr>
          <p:cNvSpPr txBox="1">
            <a:spLocks/>
          </p:cNvSpPr>
          <p:nvPr/>
        </p:nvSpPr>
        <p:spPr>
          <a:xfrm>
            <a:off x="5486400" y="1066800"/>
            <a:ext cx="6629400" cy="1905001"/>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800" b="1" dirty="0">
                <a:solidFill>
                  <a:schemeClr val="accent1"/>
                </a:solidFill>
              </a:rPr>
              <a:t>Fiscal impulse: </a:t>
            </a:r>
            <a:endParaRPr lang="en-GB" sz="1800" b="1" dirty="0"/>
          </a:p>
          <a:p>
            <a:pPr algn="just">
              <a:buFont typeface="Wingdings" panose="05000000000000000000" pitchFamily="2" charset="2"/>
              <a:buChar char="§"/>
            </a:pPr>
            <a:r>
              <a:rPr lang="en-GB" sz="1600" dirty="0"/>
              <a:t>discretionary deficit plus change in structural deficit (% GDP); mainly reflects discretionary spending (demand for G&amp;S and transfers etc.)</a:t>
            </a:r>
          </a:p>
          <a:p>
            <a:pPr algn="just">
              <a:buFont typeface="Wingdings" panose="05000000000000000000" pitchFamily="2" charset="2"/>
              <a:buChar char="§"/>
            </a:pPr>
            <a:r>
              <a:rPr lang="en-GB" sz="1600" dirty="0"/>
              <a:t>affects output directly (via demand for G&amp;S) and indirectly via private consumption and investment; combined……during</a:t>
            </a:r>
          </a:p>
          <a:p>
            <a:pPr algn="just">
              <a:buFont typeface="Wingdings" panose="05000000000000000000" pitchFamily="2" charset="2"/>
              <a:buChar char="§"/>
            </a:pPr>
            <a:r>
              <a:rPr lang="en-GB" sz="1600" dirty="0"/>
              <a:t>Covid years: 2¼% of GDP fiscal impulse</a:t>
            </a:r>
            <a:r>
              <a:rPr lang="en-GB" sz="1600" dirty="0">
                <a:sym typeface="Wingdings" panose="05000000000000000000" pitchFamily="2" charset="2"/>
              </a:rPr>
              <a:t> 2% of GDP output effect</a:t>
            </a:r>
            <a:endParaRPr lang="en-GB" sz="1600" dirty="0"/>
          </a:p>
          <a:p>
            <a:pPr algn="just">
              <a:buFont typeface="Wingdings" panose="05000000000000000000" pitchFamily="2" charset="2"/>
              <a:buChar char="§"/>
            </a:pPr>
            <a:endParaRPr lang="en-GB" sz="1600" dirty="0"/>
          </a:p>
          <a:p>
            <a:pPr algn="just">
              <a:buFont typeface="Wingdings" panose="05000000000000000000" pitchFamily="2" charset="2"/>
              <a:buChar char="§"/>
            </a:pPr>
            <a:endParaRPr lang="en-GB" sz="1600" dirty="0"/>
          </a:p>
        </p:txBody>
      </p:sp>
    </p:spTree>
    <p:extLst>
      <p:ext uri="{BB962C8B-B14F-4D97-AF65-F5344CB8AC3E}">
        <p14:creationId xmlns:p14="http://schemas.microsoft.com/office/powerpoint/2010/main" val="4142611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A88DC-3DF3-0DDD-98BC-0D18EBCDB251}"/>
              </a:ext>
            </a:extLst>
          </p:cNvPr>
          <p:cNvSpPr>
            <a:spLocks noGrp="1"/>
          </p:cNvSpPr>
          <p:nvPr>
            <p:ph type="title"/>
          </p:nvPr>
        </p:nvSpPr>
        <p:spPr>
          <a:xfrm>
            <a:off x="1600200" y="207818"/>
            <a:ext cx="10261600" cy="609600"/>
          </a:xfrm>
        </p:spPr>
        <p:txBody>
          <a:bodyPr/>
          <a:lstStyle/>
          <a:p>
            <a:r>
              <a:rPr lang="en-US" b="1" dirty="0"/>
              <a:t>Inflation outlook </a:t>
            </a:r>
            <a:r>
              <a:rPr lang="en-US" dirty="0"/>
              <a:t>(overview)</a:t>
            </a:r>
          </a:p>
        </p:txBody>
      </p:sp>
      <p:sp>
        <p:nvSpPr>
          <p:cNvPr id="11" name="TextBox 10">
            <a:extLst>
              <a:ext uri="{FF2B5EF4-FFF2-40B4-BE49-F238E27FC236}">
                <a16:creationId xmlns:a16="http://schemas.microsoft.com/office/drawing/2014/main" id="{0FF341B1-8569-6382-12CE-9A6DEAC1A2CB}"/>
              </a:ext>
            </a:extLst>
          </p:cNvPr>
          <p:cNvSpPr txBox="1"/>
          <p:nvPr/>
        </p:nvSpPr>
        <p:spPr>
          <a:xfrm>
            <a:off x="7848605" y="1129844"/>
            <a:ext cx="4343395" cy="1754326"/>
          </a:xfrm>
          <a:prstGeom prst="rect">
            <a:avLst/>
          </a:prstGeom>
          <a:noFill/>
        </p:spPr>
        <p:txBody>
          <a:bodyPr wrap="square" rtlCol="0">
            <a:spAutoFit/>
          </a:bodyPr>
          <a:lstStyle/>
          <a:p>
            <a:pPr marL="285750" indent="-285750">
              <a:buFont typeface="Wingdings" panose="05000000000000000000" pitchFamily="2" charset="2"/>
              <a:buChar char="§"/>
            </a:pPr>
            <a:r>
              <a:rPr lang="en-GB" sz="1800" dirty="0">
                <a:latin typeface="Gill Sans MT" panose="020B0502020104020203" pitchFamily="34" charset="0"/>
                <a:ea typeface="Calibri" panose="020F0502020204030204" pitchFamily="34" charset="0"/>
              </a:rPr>
              <a:t>q-on-q annualized inflation is forecast to decline gradually in 2023 after peak in Q2 2022</a:t>
            </a:r>
          </a:p>
          <a:p>
            <a:pPr marL="285750" indent="-285750">
              <a:buFont typeface="Wingdings" panose="05000000000000000000" pitchFamily="2" charset="2"/>
              <a:buChar char="§"/>
            </a:pPr>
            <a:r>
              <a:rPr lang="en-GB" sz="1800" dirty="0">
                <a:latin typeface="Gill Sans MT" panose="020B0502020104020203" pitchFamily="34" charset="0"/>
                <a:ea typeface="Calibri" panose="020F0502020204030204" pitchFamily="34" charset="0"/>
              </a:rPr>
              <a:t>predicated on recent shocks abating and inflation expectations being countered by NBR action and fiscal restraint</a:t>
            </a:r>
            <a:endParaRPr lang="en-US" sz="1800" dirty="0">
              <a:latin typeface="Gill Sans MT" panose="020B0502020104020203" pitchFamily="34" charset="0"/>
            </a:endParaRPr>
          </a:p>
        </p:txBody>
      </p:sp>
      <p:pic>
        <p:nvPicPr>
          <p:cNvPr id="12" name="Picture 11">
            <a:extLst>
              <a:ext uri="{FF2B5EF4-FFF2-40B4-BE49-F238E27FC236}">
                <a16:creationId xmlns:a16="http://schemas.microsoft.com/office/drawing/2014/main" id="{B9021665-516E-8131-121F-B087D7A53DD4}"/>
              </a:ext>
            </a:extLst>
          </p:cNvPr>
          <p:cNvPicPr>
            <a:picLocks noChangeAspect="1"/>
          </p:cNvPicPr>
          <p:nvPr/>
        </p:nvPicPr>
        <p:blipFill>
          <a:blip r:embed="rId3"/>
          <a:stretch>
            <a:fillRect/>
          </a:stretch>
        </p:blipFill>
        <p:spPr>
          <a:xfrm>
            <a:off x="6172200" y="3152962"/>
            <a:ext cx="5867400" cy="3447675"/>
          </a:xfrm>
          <a:prstGeom prst="rect">
            <a:avLst/>
          </a:prstGeom>
        </p:spPr>
      </p:pic>
      <p:sp>
        <p:nvSpPr>
          <p:cNvPr id="13" name="TextBox 12">
            <a:extLst>
              <a:ext uri="{FF2B5EF4-FFF2-40B4-BE49-F238E27FC236}">
                <a16:creationId xmlns:a16="http://schemas.microsoft.com/office/drawing/2014/main" id="{39201358-B5C8-53BA-0F80-856B6C8536EC}"/>
              </a:ext>
            </a:extLst>
          </p:cNvPr>
          <p:cNvSpPr txBox="1"/>
          <p:nvPr/>
        </p:nvSpPr>
        <p:spPr>
          <a:xfrm>
            <a:off x="2438400" y="4876800"/>
            <a:ext cx="609462" cy="461665"/>
          </a:xfrm>
          <a:prstGeom prst="rect">
            <a:avLst/>
          </a:prstGeom>
          <a:noFill/>
        </p:spPr>
        <p:txBody>
          <a:bodyPr wrap="none" rtlCol="0">
            <a:spAutoFit/>
          </a:bodyPr>
          <a:lstStyle/>
          <a:p>
            <a:r>
              <a:rPr lang="en-US" dirty="0"/>
              <a:t>     </a:t>
            </a:r>
          </a:p>
        </p:txBody>
      </p:sp>
      <p:pic>
        <p:nvPicPr>
          <p:cNvPr id="14" name="Picture 13" descr="Table&#10;&#10;Description automatically generated">
            <a:extLst>
              <a:ext uri="{FF2B5EF4-FFF2-40B4-BE49-F238E27FC236}">
                <a16:creationId xmlns:a16="http://schemas.microsoft.com/office/drawing/2014/main" id="{3036586D-AB96-EF1B-68B7-846D438BBA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1" y="914401"/>
            <a:ext cx="7086599" cy="2234982"/>
          </a:xfrm>
          <a:prstGeom prst="rect">
            <a:avLst/>
          </a:prstGeom>
          <a:effectLst>
            <a:glow rad="127000">
              <a:schemeClr val="accent5">
                <a:lumMod val="20000"/>
                <a:lumOff val="80000"/>
              </a:schemeClr>
            </a:glow>
          </a:effectLst>
        </p:spPr>
      </p:pic>
      <p:sp>
        <p:nvSpPr>
          <p:cNvPr id="15" name="TextBox 14">
            <a:extLst>
              <a:ext uri="{FF2B5EF4-FFF2-40B4-BE49-F238E27FC236}">
                <a16:creationId xmlns:a16="http://schemas.microsoft.com/office/drawing/2014/main" id="{F5230547-2FD4-A2EA-FD07-BDD7EA5A3B52}"/>
              </a:ext>
            </a:extLst>
          </p:cNvPr>
          <p:cNvSpPr txBox="1"/>
          <p:nvPr/>
        </p:nvSpPr>
        <p:spPr>
          <a:xfrm rot="10800000" flipV="1">
            <a:off x="76200" y="3714442"/>
            <a:ext cx="6019796" cy="1477328"/>
          </a:xfrm>
          <a:prstGeom prst="rect">
            <a:avLst/>
          </a:prstGeom>
          <a:noFill/>
        </p:spPr>
        <p:txBody>
          <a:bodyPr wrap="square" rtlCol="0">
            <a:spAutoFit/>
          </a:bodyPr>
          <a:lstStyle/>
          <a:p>
            <a:r>
              <a:rPr lang="en-GB" sz="1800" b="1" dirty="0">
                <a:solidFill>
                  <a:srgbClr val="00B0F0"/>
                </a:solidFill>
                <a:latin typeface="Gill Sans MT" panose="020B0502020104020203" pitchFamily="34" charset="0"/>
                <a:ea typeface="Calibri" panose="020F0502020204030204" pitchFamily="34" charset="0"/>
              </a:rPr>
              <a:t>Headline CPI components</a:t>
            </a:r>
          </a:p>
          <a:p>
            <a:pPr marL="285750" indent="-285750">
              <a:buFont typeface="Wingdings" panose="05000000000000000000" pitchFamily="2" charset="2"/>
              <a:buChar char="§"/>
            </a:pPr>
            <a:r>
              <a:rPr lang="en-GB" sz="1800" dirty="0">
                <a:latin typeface="Gill Sans MT" panose="020B0502020104020203" pitchFamily="34" charset="0"/>
                <a:ea typeface="Calibri" panose="020F0502020204030204" pitchFamily="34" charset="0"/>
              </a:rPr>
              <a:t>decline in q-on-q inflation translates into a lesser drop in y-on-y inflation estimated to peak in Q4 2022,</a:t>
            </a:r>
          </a:p>
          <a:p>
            <a:pPr marL="285750" indent="-285750">
              <a:buFont typeface="Wingdings" panose="05000000000000000000" pitchFamily="2" charset="2"/>
              <a:buChar char="§"/>
            </a:pPr>
            <a:r>
              <a:rPr lang="en-GB" sz="1800" dirty="0">
                <a:latin typeface="Gill Sans MT" panose="020B0502020104020203" pitchFamily="34" charset="0"/>
                <a:ea typeface="Calibri" panose="020F0502020204030204" pitchFamily="34" charset="0"/>
              </a:rPr>
              <a:t>Y-on-y inflation dropping to below 5% in early 2024</a:t>
            </a:r>
          </a:p>
          <a:p>
            <a:pPr marL="285750" indent="-285750">
              <a:buFont typeface="Wingdings" panose="05000000000000000000" pitchFamily="2" charset="2"/>
              <a:buChar char="§"/>
            </a:pPr>
            <a:r>
              <a:rPr lang="en-US" sz="1800" dirty="0">
                <a:latin typeface="Gill Sans MT" panose="020B0502020104020203" pitchFamily="34" charset="0"/>
              </a:rPr>
              <a:t>all components drop, drop in food prices contributes most</a:t>
            </a:r>
          </a:p>
        </p:txBody>
      </p:sp>
      <p:pic>
        <p:nvPicPr>
          <p:cNvPr id="16" name="Picture 15">
            <a:extLst>
              <a:ext uri="{FF2B5EF4-FFF2-40B4-BE49-F238E27FC236}">
                <a16:creationId xmlns:a16="http://schemas.microsoft.com/office/drawing/2014/main" id="{BA3C76E3-3D64-307D-D3A8-DC75F2368F81}"/>
              </a:ext>
            </a:extLst>
          </p:cNvPr>
          <p:cNvPicPr>
            <a:picLocks noChangeAspect="1"/>
          </p:cNvPicPr>
          <p:nvPr/>
        </p:nvPicPr>
        <p:blipFill>
          <a:blip r:embed="rId5"/>
          <a:stretch>
            <a:fillRect/>
          </a:stretch>
        </p:blipFill>
        <p:spPr>
          <a:xfrm>
            <a:off x="0" y="5410199"/>
            <a:ext cx="6095996" cy="1090623"/>
          </a:xfrm>
          <a:prstGeom prst="rect">
            <a:avLst/>
          </a:prstGeom>
          <a:effectLst>
            <a:glow rad="127000">
              <a:schemeClr val="accent5">
                <a:lumMod val="20000"/>
                <a:lumOff val="80000"/>
              </a:schemeClr>
            </a:glow>
          </a:effectLst>
        </p:spPr>
      </p:pic>
    </p:spTree>
    <p:extLst>
      <p:ext uri="{BB962C8B-B14F-4D97-AF65-F5344CB8AC3E}">
        <p14:creationId xmlns:p14="http://schemas.microsoft.com/office/powerpoint/2010/main" val="3002641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00200" y="233106"/>
            <a:ext cx="10261600" cy="681294"/>
          </a:xfrm>
        </p:spPr>
        <p:txBody>
          <a:bodyPr/>
          <a:lstStyle/>
          <a:p>
            <a:r>
              <a:rPr lang="en-US" b="1" dirty="0"/>
              <a:t>Food inflation </a:t>
            </a:r>
            <a:r>
              <a:rPr lang="en-US" dirty="0"/>
              <a:t>(q-on-q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10</a:t>
            </a:fld>
            <a:endParaRPr lang="en-US" dirty="0"/>
          </a:p>
        </p:txBody>
      </p:sp>
      <p:pic>
        <p:nvPicPr>
          <p:cNvPr id="12" name="Picture 11">
            <a:extLst>
              <a:ext uri="{FF2B5EF4-FFF2-40B4-BE49-F238E27FC236}">
                <a16:creationId xmlns:a16="http://schemas.microsoft.com/office/drawing/2014/main" id="{8886866E-73C8-4B5C-0A2A-CDEB2741F1CD}"/>
              </a:ext>
            </a:extLst>
          </p:cNvPr>
          <p:cNvPicPr>
            <a:picLocks noChangeAspect="1"/>
          </p:cNvPicPr>
          <p:nvPr/>
        </p:nvPicPr>
        <p:blipFill>
          <a:blip r:embed="rId2"/>
          <a:stretch>
            <a:fillRect/>
          </a:stretch>
        </p:blipFill>
        <p:spPr>
          <a:xfrm>
            <a:off x="76200" y="1219200"/>
            <a:ext cx="6096000" cy="4038600"/>
          </a:xfrm>
          <a:prstGeom prst="rect">
            <a:avLst/>
          </a:prstGeom>
        </p:spPr>
      </p:pic>
      <p:pic>
        <p:nvPicPr>
          <p:cNvPr id="14" name="Picture 13">
            <a:extLst>
              <a:ext uri="{FF2B5EF4-FFF2-40B4-BE49-F238E27FC236}">
                <a16:creationId xmlns:a16="http://schemas.microsoft.com/office/drawing/2014/main" id="{10B37E99-CCA3-74F8-DA77-F08626EA3AFC}"/>
              </a:ext>
            </a:extLst>
          </p:cNvPr>
          <p:cNvPicPr>
            <a:picLocks noChangeAspect="1"/>
          </p:cNvPicPr>
          <p:nvPr/>
        </p:nvPicPr>
        <p:blipFill>
          <a:blip r:embed="rId3"/>
          <a:stretch>
            <a:fillRect/>
          </a:stretch>
        </p:blipFill>
        <p:spPr>
          <a:xfrm>
            <a:off x="6248400" y="2507398"/>
            <a:ext cx="5867400" cy="4082860"/>
          </a:xfrm>
          <a:prstGeom prst="rect">
            <a:avLst/>
          </a:prstGeom>
        </p:spPr>
      </p:pic>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5347474"/>
            <a:ext cx="6019800" cy="1403205"/>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CPI food decreasing from peak in 2022 Q3; main drivers:</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agricultural output is forecast to normalize</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imported food prices projected to continue declining </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small offsetting effect of lessening RER overvaluation (faster depr.)</a:t>
            </a:r>
          </a:p>
        </p:txBody>
      </p:sp>
      <p:sp>
        <p:nvSpPr>
          <p:cNvPr id="5" name="TextBox 4">
            <a:extLst>
              <a:ext uri="{FF2B5EF4-FFF2-40B4-BE49-F238E27FC236}">
                <a16:creationId xmlns:a16="http://schemas.microsoft.com/office/drawing/2014/main" id="{F2705685-DBBA-E6CC-D544-60AF0A780343}"/>
              </a:ext>
            </a:extLst>
          </p:cNvPr>
          <p:cNvSpPr txBox="1"/>
          <p:nvPr/>
        </p:nvSpPr>
        <p:spPr>
          <a:xfrm>
            <a:off x="6477000" y="1295401"/>
            <a:ext cx="5717023" cy="1033873"/>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Direct effect of foreign prices and ER on food CPI</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foreign food prices continue declining for most of 2023-26</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ER depreciation raises RWF prices but net direct effect is small</a:t>
            </a:r>
          </a:p>
        </p:txBody>
      </p:sp>
    </p:spTree>
    <p:extLst>
      <p:ext uri="{BB962C8B-B14F-4D97-AF65-F5344CB8AC3E}">
        <p14:creationId xmlns:p14="http://schemas.microsoft.com/office/powerpoint/2010/main" val="4044215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25600" y="228600"/>
            <a:ext cx="10261600" cy="754702"/>
          </a:xfrm>
        </p:spPr>
        <p:txBody>
          <a:bodyPr/>
          <a:lstStyle/>
          <a:p>
            <a:r>
              <a:rPr lang="en-US" b="1" dirty="0"/>
              <a:t>Energy inflation </a:t>
            </a:r>
            <a:r>
              <a:rPr lang="en-US" dirty="0"/>
              <a:t>(q-on-q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11</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83126" y="5283476"/>
            <a:ext cx="6012867" cy="1033873"/>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CPI energy decreasing from peak in 2022 Q2; main drivers:</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imported energy prices projected to continue declining </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small offsetting effect of lessening RER overvaluation (faster depr.)</a:t>
            </a:r>
          </a:p>
        </p:txBody>
      </p:sp>
      <p:sp>
        <p:nvSpPr>
          <p:cNvPr id="5" name="TextBox 4">
            <a:extLst>
              <a:ext uri="{FF2B5EF4-FFF2-40B4-BE49-F238E27FC236}">
                <a16:creationId xmlns:a16="http://schemas.microsoft.com/office/drawing/2014/main" id="{F2705685-DBBA-E6CC-D544-60AF0A780343}"/>
              </a:ext>
            </a:extLst>
          </p:cNvPr>
          <p:cNvSpPr txBox="1"/>
          <p:nvPr/>
        </p:nvSpPr>
        <p:spPr>
          <a:xfrm>
            <a:off x="6172200" y="1066800"/>
            <a:ext cx="5943600" cy="1033873"/>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Direct effect foreign import prices and ER on energy CPI:</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foreign energy prices continue declining for most of 2023-26</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ER depreciation raises RWF prices, but net direct effect is small</a:t>
            </a:r>
          </a:p>
        </p:txBody>
      </p:sp>
      <p:pic>
        <p:nvPicPr>
          <p:cNvPr id="6" name="Picture 5">
            <a:extLst>
              <a:ext uri="{FF2B5EF4-FFF2-40B4-BE49-F238E27FC236}">
                <a16:creationId xmlns:a16="http://schemas.microsoft.com/office/drawing/2014/main" id="{CADD3215-D98D-09FB-ED44-C8AA8F66F8BB}"/>
              </a:ext>
            </a:extLst>
          </p:cNvPr>
          <p:cNvPicPr>
            <a:picLocks noChangeAspect="1"/>
          </p:cNvPicPr>
          <p:nvPr/>
        </p:nvPicPr>
        <p:blipFill>
          <a:blip r:embed="rId2"/>
          <a:stretch>
            <a:fillRect/>
          </a:stretch>
        </p:blipFill>
        <p:spPr>
          <a:xfrm>
            <a:off x="228600" y="1273810"/>
            <a:ext cx="5486400" cy="3907790"/>
          </a:xfrm>
          <a:prstGeom prst="rect">
            <a:avLst/>
          </a:prstGeom>
        </p:spPr>
      </p:pic>
      <p:pic>
        <p:nvPicPr>
          <p:cNvPr id="8" name="Picture 7" descr="Chart, bar chart&#10;&#10;Description automatically generated">
            <a:extLst>
              <a:ext uri="{FF2B5EF4-FFF2-40B4-BE49-F238E27FC236}">
                <a16:creationId xmlns:a16="http://schemas.microsoft.com/office/drawing/2014/main" id="{995E4A05-303E-5DF2-F0CA-A8BB5839072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172200" y="2186388"/>
            <a:ext cx="5816600" cy="4495801"/>
          </a:xfrm>
          <a:prstGeom prst="rect">
            <a:avLst/>
          </a:prstGeom>
        </p:spPr>
      </p:pic>
    </p:spTree>
    <p:extLst>
      <p:ext uri="{BB962C8B-B14F-4D97-AF65-F5344CB8AC3E}">
        <p14:creationId xmlns:p14="http://schemas.microsoft.com/office/powerpoint/2010/main" val="2095371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25600" y="228600"/>
            <a:ext cx="10261600" cy="762000"/>
          </a:xfrm>
        </p:spPr>
        <p:txBody>
          <a:bodyPr/>
          <a:lstStyle/>
          <a:p>
            <a:r>
              <a:rPr lang="en-US" b="1" dirty="0"/>
              <a:t>Core inflation </a:t>
            </a:r>
            <a:r>
              <a:rPr lang="en-US" dirty="0"/>
              <a:t>(q-on-q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12</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152399" y="5001316"/>
            <a:ext cx="5486400" cy="1077218"/>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CPI core  from peak 2022 Q2;  main drivers:</a:t>
            </a:r>
          </a:p>
          <a:p>
            <a:pPr marL="285750" indent="-285750">
              <a:buFont typeface="Wingdings" panose="05000000000000000000" pitchFamily="2" charset="2"/>
              <a:buChar char="§"/>
            </a:pPr>
            <a:r>
              <a:rPr lang="en-US" sz="1600" dirty="0">
                <a:latin typeface="Gill Sans MT" panose="020B0502020104020203" pitchFamily="34" charset="0"/>
              </a:rPr>
              <a:t>down-pull effect from remaining output gap disappearing</a:t>
            </a:r>
          </a:p>
          <a:p>
            <a:pPr marL="285750" indent="-285750">
              <a:buFont typeface="Wingdings" panose="05000000000000000000" pitchFamily="2" charset="2"/>
              <a:buChar char="§"/>
            </a:pPr>
            <a:r>
              <a:rPr lang="en-US" sz="1600" dirty="0">
                <a:latin typeface="Gill Sans MT" panose="020B0502020104020203" pitchFamily="34" charset="0"/>
              </a:rPr>
              <a:t>strong effect of expectations and persistence</a:t>
            </a:r>
          </a:p>
          <a:p>
            <a:pPr marL="285750" indent="-285750">
              <a:buFont typeface="Wingdings" panose="05000000000000000000" pitchFamily="2" charset="2"/>
              <a:buChar char="§"/>
            </a:pPr>
            <a:r>
              <a:rPr lang="en-US" sz="1600" dirty="0">
                <a:latin typeface="Gill Sans MT" panose="020B0502020104020203" pitchFamily="34" charset="0"/>
              </a:rPr>
              <a:t>no direct effect of import prices as constant in RWF terms</a:t>
            </a:r>
          </a:p>
        </p:txBody>
      </p:sp>
      <p:sp>
        <p:nvSpPr>
          <p:cNvPr id="5" name="TextBox 4">
            <a:extLst>
              <a:ext uri="{FF2B5EF4-FFF2-40B4-BE49-F238E27FC236}">
                <a16:creationId xmlns:a16="http://schemas.microsoft.com/office/drawing/2014/main" id="{F2705685-DBBA-E6CC-D544-60AF0A780343}"/>
              </a:ext>
            </a:extLst>
          </p:cNvPr>
          <p:cNvSpPr txBox="1"/>
          <p:nvPr/>
        </p:nvSpPr>
        <p:spPr>
          <a:xfrm>
            <a:off x="6019800" y="1219200"/>
            <a:ext cx="6096000" cy="830997"/>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Direct effect foreign import prices and ER on CPI core:</a:t>
            </a:r>
          </a:p>
          <a:p>
            <a:pPr marL="285750" indent="-285750">
              <a:buFont typeface="Wingdings" panose="05000000000000000000" pitchFamily="2" charset="2"/>
              <a:buChar char="§"/>
            </a:pPr>
            <a:r>
              <a:rPr lang="en-US" sz="1600" dirty="0">
                <a:latin typeface="Gill Sans MT" panose="020B0502020104020203" pitchFamily="34" charset="0"/>
              </a:rPr>
              <a:t>foreign prices continue declining for most of 2023-26</a:t>
            </a:r>
          </a:p>
          <a:p>
            <a:pPr marL="285750" indent="-285750">
              <a:buFont typeface="Wingdings" panose="05000000000000000000" pitchFamily="2" charset="2"/>
              <a:buChar char="§"/>
            </a:pPr>
            <a:r>
              <a:rPr lang="en-US" sz="1600" dirty="0">
                <a:latin typeface="Gill Sans MT" panose="020B0502020104020203" pitchFamily="34" charset="0"/>
              </a:rPr>
              <a:t>ER depreciation raises RWF prices, but net direct effect is small</a:t>
            </a:r>
          </a:p>
        </p:txBody>
      </p:sp>
      <p:pic>
        <p:nvPicPr>
          <p:cNvPr id="8" name="Picture 7">
            <a:extLst>
              <a:ext uri="{FF2B5EF4-FFF2-40B4-BE49-F238E27FC236}">
                <a16:creationId xmlns:a16="http://schemas.microsoft.com/office/drawing/2014/main" id="{826D725A-5883-2124-C1C4-C8C9E4F363D5}"/>
              </a:ext>
            </a:extLst>
          </p:cNvPr>
          <p:cNvPicPr>
            <a:picLocks noChangeAspect="1"/>
          </p:cNvPicPr>
          <p:nvPr/>
        </p:nvPicPr>
        <p:blipFill>
          <a:blip r:embed="rId2"/>
          <a:stretch>
            <a:fillRect/>
          </a:stretch>
        </p:blipFill>
        <p:spPr>
          <a:xfrm>
            <a:off x="304800" y="1219200"/>
            <a:ext cx="5333999" cy="3726406"/>
          </a:xfrm>
          <a:prstGeom prst="rect">
            <a:avLst/>
          </a:prstGeom>
        </p:spPr>
      </p:pic>
      <p:pic>
        <p:nvPicPr>
          <p:cNvPr id="9" name="Picture 8" descr="Chart, histogram&#10;&#10;Description automatically generated">
            <a:extLst>
              <a:ext uri="{FF2B5EF4-FFF2-40B4-BE49-F238E27FC236}">
                <a16:creationId xmlns:a16="http://schemas.microsoft.com/office/drawing/2014/main" id="{17D5D6F4-A53B-CAFE-023A-620FA22EC37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943600" y="2209799"/>
            <a:ext cx="5867400" cy="4572001"/>
          </a:xfrm>
          <a:prstGeom prst="rect">
            <a:avLst/>
          </a:prstGeom>
        </p:spPr>
      </p:pic>
    </p:spTree>
    <p:extLst>
      <p:ext uri="{BB962C8B-B14F-4D97-AF65-F5344CB8AC3E}">
        <p14:creationId xmlns:p14="http://schemas.microsoft.com/office/powerpoint/2010/main" val="2641084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706418" y="228600"/>
            <a:ext cx="10261600" cy="672015"/>
          </a:xfrm>
        </p:spPr>
        <p:txBody>
          <a:bodyPr/>
          <a:lstStyle/>
          <a:p>
            <a:r>
              <a:rPr lang="en-US" b="1" dirty="0"/>
              <a:t>Policy interest rate </a:t>
            </a:r>
            <a:r>
              <a:rPr lang="en-US" dirty="0"/>
              <a:t>(interbank rate, IB)</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13</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4755096"/>
            <a:ext cx="5562599" cy="1569660"/>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Policy rate (IB) influenced by NBR with its CBR:</a:t>
            </a:r>
          </a:p>
          <a:p>
            <a:pPr marL="285750" indent="-285750">
              <a:buFont typeface="Wingdings" panose="05000000000000000000" pitchFamily="2" charset="2"/>
              <a:buChar char="§"/>
            </a:pPr>
            <a:r>
              <a:rPr lang="en-US" sz="1600" dirty="0">
                <a:latin typeface="Gill Sans MT" panose="020B0502020104020203" pitchFamily="34" charset="0"/>
              </a:rPr>
              <a:t>IB followed closely the 2% points CBR increases in 2022</a:t>
            </a:r>
          </a:p>
          <a:p>
            <a:pPr marL="285750" indent="-285750">
              <a:buFont typeface="Wingdings" panose="05000000000000000000" pitchFamily="2" charset="2"/>
              <a:buChar char="§"/>
            </a:pPr>
            <a:r>
              <a:rPr lang="en-US" sz="1600" dirty="0">
                <a:latin typeface="Gill Sans MT" panose="020B0502020104020203" pitchFamily="34" charset="0"/>
              </a:rPr>
              <a:t>IB forecast to increase in 2023 Q1 to combat inflation,</a:t>
            </a:r>
          </a:p>
          <a:p>
            <a:r>
              <a:rPr lang="en-US" sz="1600" dirty="0">
                <a:latin typeface="Gill Sans MT" panose="020B0502020104020203" pitchFamily="34" charset="0"/>
              </a:rPr>
              <a:t>   then to decrease to pull output to potential level (still gap)</a:t>
            </a:r>
          </a:p>
          <a:p>
            <a:pPr marL="285750" indent="-285750">
              <a:buFont typeface="Wingdings" panose="05000000000000000000" pitchFamily="2" charset="2"/>
              <a:buChar char="§"/>
            </a:pPr>
            <a:r>
              <a:rPr lang="en-US" sz="1600" dirty="0">
                <a:latin typeface="Gill Sans MT" panose="020B0502020104020203" pitchFamily="34" charset="0"/>
              </a:rPr>
              <a:t>from 2024, increase to trend driven by ‘neutral’ rate of </a:t>
            </a:r>
            <a:r>
              <a:rPr lang="en-US" sz="1600" u="sng" dirty="0">
                <a:latin typeface="Gill Sans MT" panose="020B0502020104020203" pitchFamily="34" charset="0"/>
              </a:rPr>
              <a:t>+</a:t>
            </a:r>
            <a:r>
              <a:rPr lang="en-US" sz="1600" dirty="0">
                <a:latin typeface="Gill Sans MT" panose="020B0502020104020203" pitchFamily="34" charset="0"/>
              </a:rPr>
              <a:t>7%</a:t>
            </a:r>
          </a:p>
          <a:p>
            <a:pPr marL="285750" indent="-285750">
              <a:buFont typeface="Wingdings" panose="05000000000000000000" pitchFamily="2" charset="2"/>
              <a:buChar char="§"/>
            </a:pPr>
            <a:r>
              <a:rPr lang="en-US" sz="1600" dirty="0">
                <a:latin typeface="Gill Sans MT" panose="020B0502020104020203" pitchFamily="34" charset="0"/>
              </a:rPr>
              <a:t>increased policy rate should raise RIR and stem demand</a:t>
            </a:r>
          </a:p>
        </p:txBody>
      </p:sp>
      <p:sp>
        <p:nvSpPr>
          <p:cNvPr id="5" name="TextBox 4">
            <a:extLst>
              <a:ext uri="{FF2B5EF4-FFF2-40B4-BE49-F238E27FC236}">
                <a16:creationId xmlns:a16="http://schemas.microsoft.com/office/drawing/2014/main" id="{F2705685-DBBA-E6CC-D544-60AF0A780343}"/>
              </a:ext>
            </a:extLst>
          </p:cNvPr>
          <p:cNvSpPr txBox="1"/>
          <p:nvPr/>
        </p:nvSpPr>
        <p:spPr>
          <a:xfrm>
            <a:off x="5410200" y="1234550"/>
            <a:ext cx="6705601" cy="1077218"/>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Policy rate (IB) is driven by Taylor rule:</a:t>
            </a:r>
          </a:p>
          <a:p>
            <a:pPr marL="285750" indent="-285750">
              <a:buFont typeface="Wingdings" panose="05000000000000000000" pitchFamily="2" charset="2"/>
              <a:buChar char="§"/>
            </a:pPr>
            <a:r>
              <a:rPr lang="en-US" sz="1600" dirty="0">
                <a:latin typeface="Gill Sans MT" panose="020B0502020104020203" pitchFamily="34" charset="0"/>
              </a:rPr>
              <a:t>responding to both inflation deviation (from 5% target) and output gap</a:t>
            </a:r>
          </a:p>
          <a:p>
            <a:pPr marL="285750" indent="-285750">
              <a:buFont typeface="Wingdings" panose="05000000000000000000" pitchFamily="2" charset="2"/>
              <a:buChar char="§"/>
            </a:pPr>
            <a:r>
              <a:rPr lang="en-US" sz="1600" dirty="0">
                <a:latin typeface="Gill Sans MT" panose="020B0502020104020203" pitchFamily="34" charset="0"/>
              </a:rPr>
              <a:t>gradual interest rate changes (lagged effect)</a:t>
            </a:r>
          </a:p>
          <a:p>
            <a:pPr marL="285750" indent="-285750">
              <a:buFont typeface="Wingdings" panose="05000000000000000000" pitchFamily="2" charset="2"/>
              <a:buChar char="§"/>
            </a:pPr>
            <a:r>
              <a:rPr lang="en-US" sz="1600" dirty="0">
                <a:latin typeface="Gill Sans MT" panose="020B0502020104020203" pitchFamily="34" charset="0"/>
              </a:rPr>
              <a:t>pulled to ‘neutral’ rate of </a:t>
            </a:r>
            <a:r>
              <a:rPr lang="en-US" sz="1600" u="sng" dirty="0">
                <a:latin typeface="Gill Sans MT" panose="020B0502020104020203" pitchFamily="34" charset="0"/>
              </a:rPr>
              <a:t>+</a:t>
            </a:r>
            <a:r>
              <a:rPr lang="en-US" sz="1600" dirty="0">
                <a:latin typeface="Gill Sans MT" panose="020B0502020104020203" pitchFamily="34" charset="0"/>
              </a:rPr>
              <a:t>7% (foreign real rate, country risk, core inflation)</a:t>
            </a:r>
          </a:p>
        </p:txBody>
      </p:sp>
      <p:pic>
        <p:nvPicPr>
          <p:cNvPr id="9" name="Picture 8" descr="Chart, histogram&#10;&#10;Description automatically generated">
            <a:extLst>
              <a:ext uri="{FF2B5EF4-FFF2-40B4-BE49-F238E27FC236}">
                <a16:creationId xmlns:a16="http://schemas.microsoft.com/office/drawing/2014/main" id="{BA775903-1048-EEED-2576-C16B5A66DB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0200" y="2438400"/>
            <a:ext cx="6629401" cy="4343401"/>
          </a:xfrm>
          <a:prstGeom prst="rect">
            <a:avLst/>
          </a:prstGeom>
        </p:spPr>
      </p:pic>
      <p:pic>
        <p:nvPicPr>
          <p:cNvPr id="8" name="Picture 7">
            <a:extLst>
              <a:ext uri="{FF2B5EF4-FFF2-40B4-BE49-F238E27FC236}">
                <a16:creationId xmlns:a16="http://schemas.microsoft.com/office/drawing/2014/main" id="{F532757F-18DE-0363-1CD4-958C135DAB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143000"/>
            <a:ext cx="4876800" cy="3505200"/>
          </a:xfrm>
          <a:prstGeom prst="rect">
            <a:avLst/>
          </a:prstGeom>
        </p:spPr>
      </p:pic>
    </p:spTree>
    <p:extLst>
      <p:ext uri="{BB962C8B-B14F-4D97-AF65-F5344CB8AC3E}">
        <p14:creationId xmlns:p14="http://schemas.microsoft.com/office/powerpoint/2010/main" val="3810915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25600" y="228600"/>
            <a:ext cx="10261600" cy="685800"/>
          </a:xfrm>
        </p:spPr>
        <p:txBody>
          <a:bodyPr/>
          <a:lstStyle/>
          <a:p>
            <a:r>
              <a:rPr lang="en-US" b="1" dirty="0"/>
              <a:t>Real interest rate </a:t>
            </a:r>
            <a:r>
              <a:rPr lang="en-US" dirty="0"/>
              <a:t>(RIR) (policy and lending rates)</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14</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152399" y="4755097"/>
            <a:ext cx="5334001" cy="1569660"/>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RIR policy rate (IB) (~ core-inflation one Q ahead)</a:t>
            </a:r>
          </a:p>
          <a:p>
            <a:pPr marL="285750" indent="-285750">
              <a:buFont typeface="Wingdings" panose="05000000000000000000" pitchFamily="2" charset="2"/>
              <a:buChar char="§"/>
            </a:pPr>
            <a:r>
              <a:rPr lang="en-US" sz="1600" dirty="0">
                <a:latin typeface="Gill Sans MT" panose="020B0502020104020203" pitchFamily="34" charset="0"/>
              </a:rPr>
              <a:t>forecast to continue rising and turn positive by mid-2023</a:t>
            </a:r>
          </a:p>
          <a:p>
            <a:pPr marL="285750" indent="-285750">
              <a:buFont typeface="Wingdings" panose="05000000000000000000" pitchFamily="2" charset="2"/>
              <a:buChar char="§"/>
            </a:pPr>
            <a:r>
              <a:rPr lang="en-US" sz="1600" dirty="0">
                <a:latin typeface="Gill Sans MT" panose="020B0502020104020203" pitchFamily="34" charset="0"/>
              </a:rPr>
              <a:t>thus, correcting sharply below-trend levels since late 2021</a:t>
            </a:r>
          </a:p>
          <a:p>
            <a:pPr marL="285750" indent="-285750">
              <a:buFont typeface="Wingdings" panose="05000000000000000000" pitchFamily="2" charset="2"/>
              <a:buChar char="§"/>
            </a:pPr>
            <a:r>
              <a:rPr lang="en-US" sz="1600" dirty="0">
                <a:latin typeface="Gill Sans MT" panose="020B0502020104020203" pitchFamily="34" charset="0"/>
              </a:rPr>
              <a:t>from 2024, return toward trend and ‘neutral’ rate of 2.5%</a:t>
            </a:r>
          </a:p>
          <a:p>
            <a:pPr marL="285750" indent="-285750">
              <a:buFont typeface="Wingdings" panose="05000000000000000000" pitchFamily="2" charset="2"/>
              <a:buChar char="§"/>
            </a:pPr>
            <a:r>
              <a:rPr lang="en-US" sz="1600" dirty="0">
                <a:latin typeface="Gill Sans MT" panose="020B0502020104020203" pitchFamily="34" charset="0"/>
              </a:rPr>
              <a:t>real lending rate (including </a:t>
            </a:r>
            <a:r>
              <a:rPr lang="en-US" sz="1600" u="sng" dirty="0">
                <a:latin typeface="Gill Sans MT" panose="020B0502020104020203" pitchFamily="34" charset="0"/>
              </a:rPr>
              <a:t>+</a:t>
            </a:r>
            <a:r>
              <a:rPr lang="en-US" sz="1600" dirty="0">
                <a:latin typeface="Gill Sans MT" panose="020B0502020104020203" pitchFamily="34" charset="0"/>
              </a:rPr>
              <a:t>8% premium) also back to trend. ending the pull-up effect on private demand</a:t>
            </a:r>
          </a:p>
        </p:txBody>
      </p:sp>
      <p:sp>
        <p:nvSpPr>
          <p:cNvPr id="5" name="TextBox 4">
            <a:extLst>
              <a:ext uri="{FF2B5EF4-FFF2-40B4-BE49-F238E27FC236}">
                <a16:creationId xmlns:a16="http://schemas.microsoft.com/office/drawing/2014/main" id="{F2705685-DBBA-E6CC-D544-60AF0A780343}"/>
              </a:ext>
            </a:extLst>
          </p:cNvPr>
          <p:cNvSpPr txBox="1"/>
          <p:nvPr/>
        </p:nvSpPr>
        <p:spPr>
          <a:xfrm>
            <a:off x="5943600" y="1234550"/>
            <a:ext cx="6248400" cy="830997"/>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RIR policy rate (IB) components:</a:t>
            </a:r>
          </a:p>
          <a:p>
            <a:pPr marL="285750" indent="-285750">
              <a:buFont typeface="Wingdings" panose="05000000000000000000" pitchFamily="2" charset="2"/>
              <a:buChar char="§"/>
            </a:pPr>
            <a:r>
              <a:rPr lang="en-US" sz="1600" dirty="0">
                <a:latin typeface="Gill Sans MT" panose="020B0502020104020203" pitchFamily="34" charset="0"/>
              </a:rPr>
              <a:t>after sharp drop in RIR (IB) due to inflation surge in 2022, RIR starts rising from mid-2022 as policy rate increases and inflation declines</a:t>
            </a:r>
          </a:p>
        </p:txBody>
      </p:sp>
      <p:pic>
        <p:nvPicPr>
          <p:cNvPr id="7" name="Picture 6">
            <a:extLst>
              <a:ext uri="{FF2B5EF4-FFF2-40B4-BE49-F238E27FC236}">
                <a16:creationId xmlns:a16="http://schemas.microsoft.com/office/drawing/2014/main" id="{F5BB17DB-6C44-912D-A3EF-4CD07F090B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398" y="1234550"/>
            <a:ext cx="4953002" cy="3520546"/>
          </a:xfrm>
          <a:prstGeom prst="rect">
            <a:avLst/>
          </a:prstGeom>
          <a:effectLst>
            <a:glow rad="127000">
              <a:schemeClr val="bg1"/>
            </a:glow>
          </a:effectLst>
        </p:spPr>
      </p:pic>
      <p:pic>
        <p:nvPicPr>
          <p:cNvPr id="11" name="Picture 10">
            <a:extLst>
              <a:ext uri="{FF2B5EF4-FFF2-40B4-BE49-F238E27FC236}">
                <a16:creationId xmlns:a16="http://schemas.microsoft.com/office/drawing/2014/main" id="{5354F553-73BA-EB65-4CED-F73B7A66AE90}"/>
              </a:ext>
            </a:extLst>
          </p:cNvPr>
          <p:cNvPicPr>
            <a:picLocks noChangeAspect="1"/>
          </p:cNvPicPr>
          <p:nvPr/>
        </p:nvPicPr>
        <p:blipFill>
          <a:blip r:embed="rId3"/>
          <a:stretch>
            <a:fillRect/>
          </a:stretch>
        </p:blipFill>
        <p:spPr>
          <a:xfrm>
            <a:off x="5943600" y="2167180"/>
            <a:ext cx="5638800" cy="4614621"/>
          </a:xfrm>
          <a:prstGeom prst="rect">
            <a:avLst/>
          </a:prstGeom>
        </p:spPr>
      </p:pic>
    </p:spTree>
    <p:extLst>
      <p:ext uri="{BB962C8B-B14F-4D97-AF65-F5344CB8AC3E}">
        <p14:creationId xmlns:p14="http://schemas.microsoft.com/office/powerpoint/2010/main" val="2529152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530927" y="228600"/>
            <a:ext cx="10457873" cy="762000"/>
          </a:xfrm>
        </p:spPr>
        <p:txBody>
          <a:bodyPr/>
          <a:lstStyle/>
          <a:p>
            <a:r>
              <a:rPr lang="en-US" b="1" dirty="0"/>
              <a:t>Nominal exchange rate </a:t>
            </a:r>
            <a:r>
              <a:rPr lang="en-US" dirty="0"/>
              <a:t>(ER)</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15</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15498" y="4642787"/>
            <a:ext cx="5089902" cy="1815882"/>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ER policy reflected in forecast:</a:t>
            </a:r>
          </a:p>
          <a:p>
            <a:pPr marL="285750" indent="-285750">
              <a:buFont typeface="Wingdings" panose="05000000000000000000" pitchFamily="2" charset="2"/>
              <a:buChar char="§"/>
            </a:pPr>
            <a:r>
              <a:rPr lang="en-US" sz="1600" dirty="0">
                <a:latin typeface="Gill Sans MT" panose="020B0502020104020203" pitchFamily="34" charset="0"/>
              </a:rPr>
              <a:t>reflects NBR’s flexible ER policy, hybrid rule:</a:t>
            </a:r>
          </a:p>
          <a:p>
            <a:pPr marL="285750" indent="-285750">
              <a:buFont typeface="Arial" panose="020B0604020202020204" pitchFamily="34" charset="0"/>
              <a:buChar char="•"/>
            </a:pPr>
            <a:r>
              <a:rPr lang="en-US" sz="1600" dirty="0">
                <a:latin typeface="Gill Sans MT" panose="020B0502020104020203" pitchFamily="34" charset="0"/>
              </a:rPr>
              <a:t>ER steered toward target ER so that RER gradually falls in line with its target or trend depreciation rate</a:t>
            </a:r>
          </a:p>
          <a:p>
            <a:pPr marL="285750" indent="-285750">
              <a:buFont typeface="Arial" panose="020B0604020202020204" pitchFamily="34" charset="0"/>
              <a:buChar char="•"/>
            </a:pPr>
            <a:r>
              <a:rPr lang="en-US" sz="1600" dirty="0">
                <a:latin typeface="Gill Sans MT" panose="020B0502020104020203" pitchFamily="34" charset="0"/>
              </a:rPr>
              <a:t>some response to domestic-foreign interest differentials</a:t>
            </a:r>
          </a:p>
          <a:p>
            <a:pPr marL="285750" indent="-285750">
              <a:buFont typeface="Wingdings" panose="05000000000000000000" pitchFamily="2" charset="2"/>
              <a:buChar char="§"/>
            </a:pPr>
            <a:r>
              <a:rPr lang="en-US" sz="1600" dirty="0">
                <a:latin typeface="Gill Sans MT" panose="020B0502020104020203" pitchFamily="34" charset="0"/>
              </a:rPr>
              <a:t>in 2023, ER forecast to move faster to target </a:t>
            </a:r>
          </a:p>
          <a:p>
            <a:pPr marL="285750" indent="-285750">
              <a:buFont typeface="Wingdings" panose="05000000000000000000" pitchFamily="2" charset="2"/>
              <a:buChar char="§"/>
            </a:pPr>
            <a:r>
              <a:rPr lang="en-US" sz="1600" dirty="0">
                <a:latin typeface="Gill Sans MT" panose="020B0502020104020203" pitchFamily="34" charset="0"/>
              </a:rPr>
              <a:t>trend depreciation rate converges to </a:t>
            </a:r>
            <a:r>
              <a:rPr lang="en-US" sz="1600" u="sng" dirty="0">
                <a:latin typeface="Gill Sans MT" panose="020B0502020104020203" pitchFamily="34" charset="0"/>
              </a:rPr>
              <a:t>+</a:t>
            </a:r>
            <a:r>
              <a:rPr lang="en-US" sz="1600" dirty="0">
                <a:latin typeface="Gill Sans MT" panose="020B0502020104020203" pitchFamily="34" charset="0"/>
              </a:rPr>
              <a:t>2% </a:t>
            </a:r>
            <a:r>
              <a:rPr lang="en-US" sz="1600" dirty="0" err="1">
                <a:latin typeface="Gill Sans MT" panose="020B0502020104020203" pitchFamily="34" charset="0"/>
              </a:rPr>
              <a:t>p.y</a:t>
            </a:r>
            <a:r>
              <a:rPr lang="en-US" sz="1600" dirty="0">
                <a:latin typeface="Gill Sans MT" panose="020B0502020104020203" pitchFamily="34" charset="0"/>
              </a:rPr>
              <a:t>.</a:t>
            </a:r>
          </a:p>
        </p:txBody>
      </p:sp>
      <p:sp>
        <p:nvSpPr>
          <p:cNvPr id="5" name="TextBox 4">
            <a:extLst>
              <a:ext uri="{FF2B5EF4-FFF2-40B4-BE49-F238E27FC236}">
                <a16:creationId xmlns:a16="http://schemas.microsoft.com/office/drawing/2014/main" id="{F2705685-DBBA-E6CC-D544-60AF0A780343}"/>
              </a:ext>
            </a:extLst>
          </p:cNvPr>
          <p:cNvSpPr txBox="1"/>
          <p:nvPr/>
        </p:nvSpPr>
        <p:spPr>
          <a:xfrm>
            <a:off x="5486400" y="1234550"/>
            <a:ext cx="6705600" cy="1077218"/>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Exchange rate policy “rule” </a:t>
            </a:r>
            <a:endParaRPr lang="en-GB" sz="1600" dirty="0">
              <a:solidFill>
                <a:srgbClr val="FF0000"/>
              </a:solidFill>
              <a:latin typeface="Gill Sans MT" panose="020B0502020104020203" pitchFamily="34" charset="0"/>
              <a:ea typeface="Calibri" panose="020F0502020204030204" pitchFamily="34" charset="0"/>
            </a:endParaRPr>
          </a:p>
          <a:p>
            <a:pPr marL="285750" indent="-285750">
              <a:buFont typeface="Wingdings" panose="05000000000000000000" pitchFamily="2" charset="2"/>
              <a:buChar char="§"/>
            </a:pPr>
            <a:r>
              <a:rPr lang="en-US" sz="1600" dirty="0">
                <a:latin typeface="Gill Sans MT" panose="020B0502020104020203" pitchFamily="34" charset="0"/>
              </a:rPr>
              <a:t>mainly driven by ER target, expectations, and somewhat by domestic-foreign interest rate differentials</a:t>
            </a:r>
          </a:p>
          <a:p>
            <a:pPr marL="285750" indent="-285750">
              <a:buFont typeface="Wingdings" panose="05000000000000000000" pitchFamily="2" charset="2"/>
              <a:buChar char="§"/>
            </a:pPr>
            <a:r>
              <a:rPr lang="en-US" sz="1600" dirty="0">
                <a:latin typeface="Gill Sans MT" panose="020B0502020104020203" pitchFamily="34" charset="0"/>
              </a:rPr>
              <a:t>ER target driven by trend RER depr. rate (0%) and inflation differential (2%)</a:t>
            </a:r>
          </a:p>
        </p:txBody>
      </p:sp>
      <p:pic>
        <p:nvPicPr>
          <p:cNvPr id="9" name="Picture 8">
            <a:extLst>
              <a:ext uri="{FF2B5EF4-FFF2-40B4-BE49-F238E27FC236}">
                <a16:creationId xmlns:a16="http://schemas.microsoft.com/office/drawing/2014/main" id="{A073BFBE-6432-849F-570D-B9F29256B9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1143000"/>
            <a:ext cx="4533900" cy="3400425"/>
          </a:xfrm>
          <a:prstGeom prst="rect">
            <a:avLst/>
          </a:prstGeom>
        </p:spPr>
      </p:pic>
      <p:pic>
        <p:nvPicPr>
          <p:cNvPr id="6" name="Picture 5" descr="Chart, histogram&#10;&#10;Description automatically generated">
            <a:extLst>
              <a:ext uri="{FF2B5EF4-FFF2-40B4-BE49-F238E27FC236}">
                <a16:creationId xmlns:a16="http://schemas.microsoft.com/office/drawing/2014/main" id="{3B89EAEC-2DDE-A495-35CD-6DC2C822F63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410200" y="2438401"/>
            <a:ext cx="6705600" cy="4343400"/>
          </a:xfrm>
          <a:prstGeom prst="rect">
            <a:avLst/>
          </a:prstGeom>
        </p:spPr>
      </p:pic>
    </p:spTree>
    <p:extLst>
      <p:ext uri="{BB962C8B-B14F-4D97-AF65-F5344CB8AC3E}">
        <p14:creationId xmlns:p14="http://schemas.microsoft.com/office/powerpoint/2010/main" val="1187365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530927" y="228600"/>
            <a:ext cx="10457873" cy="762000"/>
          </a:xfrm>
        </p:spPr>
        <p:txBody>
          <a:bodyPr/>
          <a:lstStyle/>
          <a:p>
            <a:r>
              <a:rPr lang="en-US" b="1" dirty="0"/>
              <a:t>Real exchange rate </a:t>
            </a:r>
            <a:r>
              <a:rPr lang="en-US" dirty="0"/>
              <a:t>(RER, q-on-q change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16</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0" y="4765899"/>
            <a:ext cx="5943600" cy="1569660"/>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RER results from ER, CPI_core and foreign CPI</a:t>
            </a:r>
          </a:p>
          <a:p>
            <a:pPr marL="285750" indent="-285750">
              <a:buFont typeface="Wingdings" panose="05000000000000000000" pitchFamily="2" charset="2"/>
              <a:buChar char="§"/>
            </a:pPr>
            <a:r>
              <a:rPr lang="en-US" sz="1600" dirty="0">
                <a:latin typeface="Gill Sans MT" panose="020B0502020104020203" pitchFamily="34" charset="0"/>
              </a:rPr>
              <a:t>forecast to switch from real appreciation in 2022 and early 2023 to real depreciation from mid-2023</a:t>
            </a:r>
          </a:p>
          <a:p>
            <a:pPr marL="285750" indent="-285750">
              <a:buFont typeface="Wingdings" panose="05000000000000000000" pitchFamily="2" charset="2"/>
              <a:buChar char="§"/>
            </a:pPr>
            <a:r>
              <a:rPr lang="en-US" sz="1600" dirty="0">
                <a:latin typeface="Gill Sans MT" panose="020B0502020104020203" pitchFamily="34" charset="0"/>
              </a:rPr>
              <a:t>returning toward trend RER depreciation rate (0%) thereafter</a:t>
            </a:r>
          </a:p>
          <a:p>
            <a:pPr marL="285750" indent="-285750">
              <a:buFont typeface="Wingdings" panose="05000000000000000000" pitchFamily="2" charset="2"/>
              <a:buChar char="§"/>
            </a:pPr>
            <a:r>
              <a:rPr lang="en-US" sz="1600" dirty="0">
                <a:latin typeface="Gill Sans MT" panose="020B0502020104020203" pitchFamily="34" charset="0"/>
              </a:rPr>
              <a:t>pull-down effect on demand from RER appreciation in most of 2022 should reverse from 2023 onward as RER returns to trend</a:t>
            </a:r>
          </a:p>
        </p:txBody>
      </p:sp>
      <p:sp>
        <p:nvSpPr>
          <p:cNvPr id="5" name="TextBox 4">
            <a:extLst>
              <a:ext uri="{FF2B5EF4-FFF2-40B4-BE49-F238E27FC236}">
                <a16:creationId xmlns:a16="http://schemas.microsoft.com/office/drawing/2014/main" id="{F2705685-DBBA-E6CC-D544-60AF0A780343}"/>
              </a:ext>
            </a:extLst>
          </p:cNvPr>
          <p:cNvSpPr txBox="1"/>
          <p:nvPr/>
        </p:nvSpPr>
        <p:spPr>
          <a:xfrm>
            <a:off x="5867401" y="1108299"/>
            <a:ext cx="6019800" cy="1077218"/>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RER components</a:t>
            </a:r>
          </a:p>
          <a:p>
            <a:pPr marL="285750" indent="-285750">
              <a:buFont typeface="Wingdings" panose="05000000000000000000" pitchFamily="2" charset="2"/>
              <a:buChar char="§"/>
            </a:pPr>
            <a:r>
              <a:rPr lang="en-US" sz="1600" dirty="0">
                <a:latin typeface="Gill Sans MT" panose="020B0502020104020203" pitchFamily="34" charset="0"/>
              </a:rPr>
              <a:t>after sharp decline in RER since Q3 2021 as core inflation surged, </a:t>
            </a:r>
          </a:p>
          <a:p>
            <a:pPr marL="285750" indent="-285750">
              <a:buFont typeface="Wingdings" panose="05000000000000000000" pitchFamily="2" charset="2"/>
              <a:buChar char="§"/>
            </a:pPr>
            <a:r>
              <a:rPr lang="en-US" sz="1600" dirty="0">
                <a:latin typeface="Gill Sans MT" panose="020B0502020104020203" pitchFamily="34" charset="0"/>
              </a:rPr>
              <a:t>RER is forecast to increase from Q2 2023 on for several quarters </a:t>
            </a:r>
          </a:p>
          <a:p>
            <a:pPr marL="285750" indent="-285750">
              <a:buFont typeface="Wingdings" panose="05000000000000000000" pitchFamily="2" charset="2"/>
              <a:buChar char="§"/>
            </a:pPr>
            <a:r>
              <a:rPr lang="en-US" sz="1600" dirty="0">
                <a:latin typeface="Gill Sans MT" panose="020B0502020104020203" pitchFamily="34" charset="0"/>
              </a:rPr>
              <a:t>before returning to its trend (0%)</a:t>
            </a:r>
          </a:p>
        </p:txBody>
      </p:sp>
      <p:pic>
        <p:nvPicPr>
          <p:cNvPr id="7" name="Picture 6" descr="Chart, line chart&#10;&#10;Description automatically generated">
            <a:extLst>
              <a:ext uri="{FF2B5EF4-FFF2-40B4-BE49-F238E27FC236}">
                <a16:creationId xmlns:a16="http://schemas.microsoft.com/office/drawing/2014/main" id="{8D9459A9-270F-2E70-D72E-A82B76AC66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353312"/>
            <a:ext cx="3810000" cy="3294888"/>
          </a:xfrm>
          <a:prstGeom prst="rect">
            <a:avLst/>
          </a:prstGeom>
        </p:spPr>
      </p:pic>
      <p:pic>
        <p:nvPicPr>
          <p:cNvPr id="11" name="Picture 10">
            <a:extLst>
              <a:ext uri="{FF2B5EF4-FFF2-40B4-BE49-F238E27FC236}">
                <a16:creationId xmlns:a16="http://schemas.microsoft.com/office/drawing/2014/main" id="{0201887F-BD08-454E-F567-E78C48DCAB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5000" y="2286000"/>
            <a:ext cx="6435670" cy="4572000"/>
          </a:xfrm>
          <a:prstGeom prst="rect">
            <a:avLst/>
          </a:prstGeom>
        </p:spPr>
      </p:pic>
    </p:spTree>
    <p:extLst>
      <p:ext uri="{BB962C8B-B14F-4D97-AF65-F5344CB8AC3E}">
        <p14:creationId xmlns:p14="http://schemas.microsoft.com/office/powerpoint/2010/main" val="3153044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4EED9-CBB1-EE91-3038-6C7FEDA64FC0}"/>
              </a:ext>
            </a:extLst>
          </p:cNvPr>
          <p:cNvSpPr>
            <a:spLocks noGrp="1"/>
          </p:cNvSpPr>
          <p:nvPr>
            <p:ph type="title"/>
          </p:nvPr>
        </p:nvSpPr>
        <p:spPr>
          <a:xfrm>
            <a:off x="1625600" y="228600"/>
            <a:ext cx="10261600" cy="685800"/>
          </a:xfrm>
        </p:spPr>
        <p:txBody>
          <a:bodyPr anchor="b" anchorCtr="0"/>
          <a:lstStyle/>
          <a:p>
            <a:r>
              <a:rPr lang="en-GB" b="1" dirty="0">
                <a:latin typeface="Gill Sans MT" panose="020B0502020104020203" pitchFamily="34" charset="0"/>
              </a:rPr>
              <a:t>Overall Policy stance and Forecast outlook</a:t>
            </a:r>
            <a:endParaRPr lang="en-AE" b="1" dirty="0">
              <a:latin typeface="Gill Sans MT" panose="020B0502020104020203" pitchFamily="34" charset="0"/>
            </a:endParaRPr>
          </a:p>
        </p:txBody>
      </p:sp>
      <p:sp>
        <p:nvSpPr>
          <p:cNvPr id="3" name="Slide Number Placeholder 2">
            <a:extLst>
              <a:ext uri="{FF2B5EF4-FFF2-40B4-BE49-F238E27FC236}">
                <a16:creationId xmlns:a16="http://schemas.microsoft.com/office/drawing/2014/main" id="{11DFE1AB-566B-84E0-11B3-DF3D9204B9A2}"/>
              </a:ext>
            </a:extLst>
          </p:cNvPr>
          <p:cNvSpPr>
            <a:spLocks noGrp="1"/>
          </p:cNvSpPr>
          <p:nvPr>
            <p:ph type="sldNum" sz="quarter" idx="10"/>
          </p:nvPr>
        </p:nvSpPr>
        <p:spPr/>
        <p:txBody>
          <a:bodyPr/>
          <a:lstStyle/>
          <a:p>
            <a:fld id="{D97AE203-F84D-4A7F-B161-8561326BE072}" type="slidenum">
              <a:rPr lang="en-US" smtClean="0"/>
              <a:pPr/>
              <a:t>17</a:t>
            </a:fld>
            <a:endParaRPr lang="en-US" dirty="0"/>
          </a:p>
        </p:txBody>
      </p:sp>
      <p:sp>
        <p:nvSpPr>
          <p:cNvPr id="4" name="TextBox 3">
            <a:extLst>
              <a:ext uri="{FF2B5EF4-FFF2-40B4-BE49-F238E27FC236}">
                <a16:creationId xmlns:a16="http://schemas.microsoft.com/office/drawing/2014/main" id="{82A61A70-5620-A72D-97D8-4EA8896A0C8F}"/>
              </a:ext>
            </a:extLst>
          </p:cNvPr>
          <p:cNvSpPr txBox="1"/>
          <p:nvPr/>
        </p:nvSpPr>
        <p:spPr>
          <a:xfrm>
            <a:off x="203200" y="1371600"/>
            <a:ext cx="11785600" cy="5355312"/>
          </a:xfrm>
          <a:prstGeom prst="rect">
            <a:avLst/>
          </a:prstGeom>
          <a:noFill/>
        </p:spPr>
        <p:txBody>
          <a:bodyPr wrap="square" rtlCol="0">
            <a:spAutoFit/>
          </a:bodyPr>
          <a:lstStyle/>
          <a:p>
            <a:pPr algn="just"/>
            <a:r>
              <a:rPr lang="en-US" b="1" dirty="0">
                <a:solidFill>
                  <a:srgbClr val="2F5496"/>
                </a:solidFill>
                <a:latin typeface="+mn-lt"/>
                <a:ea typeface="Calibri" panose="020F0502020204030204" pitchFamily="34" charset="0"/>
                <a:cs typeface="Times New Roman" panose="02020603050405020304" pitchFamily="18" charset="0"/>
              </a:rPr>
              <a:t>Policy stance </a:t>
            </a:r>
            <a:r>
              <a:rPr lang="en-US" b="1" dirty="0">
                <a:solidFill>
                  <a:srgbClr val="002060"/>
                </a:solidFill>
                <a:latin typeface="+mn-lt"/>
                <a:ea typeface="Calibri" panose="020F0502020204030204" pitchFamily="34" charset="0"/>
                <a:cs typeface="Times New Roman" panose="02020603050405020304" pitchFamily="18" charset="0"/>
              </a:rPr>
              <a:t>underlying the forecast</a:t>
            </a:r>
            <a:endParaRPr lang="en-US" dirty="0">
              <a:solidFill>
                <a:srgbClr val="002060"/>
              </a:solidFill>
              <a:effectLst/>
              <a:latin typeface="+mn-lt"/>
              <a:ea typeface="Calibri" panose="020F0502020204030204" pitchFamily="34" charset="0"/>
              <a:cs typeface="Times New Roman" panose="02020603050405020304" pitchFamily="18" charset="0"/>
            </a:endParaRPr>
          </a:p>
          <a:p>
            <a:pPr marL="285750" indent="-285750">
              <a:spcAft>
                <a:spcPts val="600"/>
              </a:spcAft>
              <a:buFont typeface="Arial" panose="020B0604020202020204" pitchFamily="34" charset="0"/>
              <a:buChar char="•"/>
            </a:pPr>
            <a:r>
              <a:rPr lang="en-US" sz="2000" dirty="0">
                <a:effectLst/>
                <a:latin typeface="+mn-lt"/>
                <a:ea typeface="Calibri" panose="020F0502020204030204" pitchFamily="34" charset="0"/>
              </a:rPr>
              <a:t>maintenance of recently increased policy interest rate (tuned for 2023Q1) </a:t>
            </a:r>
          </a:p>
          <a:p>
            <a:pPr marL="285750" indent="-285750">
              <a:spcAft>
                <a:spcPts val="600"/>
              </a:spcAft>
              <a:buFont typeface="Arial" panose="020B0604020202020204" pitchFamily="34" charset="0"/>
              <a:buChar char="•"/>
            </a:pPr>
            <a:r>
              <a:rPr lang="en-US" sz="2000" dirty="0">
                <a:effectLst/>
                <a:latin typeface="+mn-lt"/>
                <a:ea typeface="Calibri" panose="020F0502020204030204" pitchFamily="34" charset="0"/>
              </a:rPr>
              <a:t>somewhat faster rate of exchange rate depreciation in 2023 (tuned for 2023Q1)</a:t>
            </a:r>
          </a:p>
          <a:p>
            <a:pPr marL="285750" indent="-285750">
              <a:spcAft>
                <a:spcPts val="600"/>
              </a:spcAft>
              <a:buFont typeface="Arial" panose="020B0604020202020204" pitchFamily="34" charset="0"/>
              <a:buChar char="•"/>
            </a:pPr>
            <a:r>
              <a:rPr lang="en-US" sz="2000" dirty="0">
                <a:latin typeface="+mn-lt"/>
                <a:ea typeface="Calibri" panose="020F0502020204030204" pitchFamily="34" charset="0"/>
              </a:rPr>
              <a:t>reduction</a:t>
            </a:r>
            <a:r>
              <a:rPr lang="en-US" sz="2000" dirty="0">
                <a:effectLst/>
                <a:latin typeface="+mn-lt"/>
                <a:ea typeface="Calibri" panose="020F0502020204030204" pitchFamily="34" charset="0"/>
              </a:rPr>
              <a:t> fiscal deficit (before grants) to 12.1% of GDP in 2022/23 (tuned), then to 11% of GDP (sustainable)</a:t>
            </a:r>
          </a:p>
          <a:p>
            <a:pPr marL="285750" indent="-285750">
              <a:spcAft>
                <a:spcPts val="600"/>
              </a:spcAft>
              <a:buFont typeface="Arial" panose="020B0604020202020204" pitchFamily="34" charset="0"/>
              <a:buChar char="•"/>
            </a:pPr>
            <a:r>
              <a:rPr lang="en-US" sz="2000" dirty="0">
                <a:effectLst/>
                <a:latin typeface="+mn-lt"/>
                <a:ea typeface="Calibri" panose="020F0502020204030204" pitchFamily="34" charset="0"/>
              </a:rPr>
              <a:t> favorable fiscal impulse—over 2% of GDP on average </a:t>
            </a:r>
            <a:r>
              <a:rPr lang="en-US" sz="2000" dirty="0">
                <a:latin typeface="+mn-lt"/>
                <a:ea typeface="Calibri" panose="020F0502020204030204" pitchFamily="34" charset="0"/>
              </a:rPr>
              <a:t>in 2020-2022</a:t>
            </a:r>
            <a:r>
              <a:rPr lang="en-US" sz="2000" dirty="0">
                <a:effectLst/>
                <a:latin typeface="+mn-lt"/>
                <a:ea typeface="Calibri" panose="020F0502020204030204" pitchFamily="34" charset="0"/>
              </a:rPr>
              <a:t>—is ending</a:t>
            </a:r>
            <a:endParaRPr lang="en-US" sz="2000" dirty="0">
              <a:effectLst/>
              <a:latin typeface="+mn-lt"/>
              <a:ea typeface="Calibri" panose="020F0502020204030204" pitchFamily="34" charset="0"/>
              <a:cs typeface="Times New Roman" panose="02020603050405020304" pitchFamily="18" charset="0"/>
            </a:endParaRPr>
          </a:p>
          <a:p>
            <a:pPr>
              <a:spcAft>
                <a:spcPts val="600"/>
              </a:spcAft>
            </a:pPr>
            <a:r>
              <a:rPr lang="en-US" b="1" dirty="0">
                <a:solidFill>
                  <a:srgbClr val="2F5496"/>
                </a:solidFill>
                <a:latin typeface="+mn-lt"/>
                <a:ea typeface="Calibri" panose="020F0502020204030204" pitchFamily="34" charset="0"/>
                <a:cs typeface="Times New Roman" panose="02020603050405020304" pitchFamily="18" charset="0"/>
              </a:rPr>
              <a:t>Forecast of key macro indicators</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RIR</a:t>
            </a:r>
            <a:r>
              <a:rPr lang="en-US" sz="2000" dirty="0">
                <a:effectLst/>
                <a:latin typeface="+mn-lt"/>
                <a:ea typeface="Calibri" panose="020F0502020204030204" pitchFamily="34" charset="0"/>
                <a:cs typeface="Times New Roman" panose="02020603050405020304" pitchFamily="18" charset="0"/>
              </a:rPr>
              <a:t> forecast to rise (albeit from a low</a:t>
            </a:r>
            <a:r>
              <a:rPr lang="en-US" sz="2000" dirty="0">
                <a:latin typeface="+mn-lt"/>
                <a:ea typeface="Calibri" panose="020F0502020204030204" pitchFamily="34" charset="0"/>
                <a:cs typeface="Times New Roman" panose="02020603050405020304" pitchFamily="18" charset="0"/>
              </a:rPr>
              <a:t> </a:t>
            </a:r>
            <a:r>
              <a:rPr lang="en-US" sz="2000" dirty="0">
                <a:effectLst/>
                <a:latin typeface="+mn-lt"/>
                <a:ea typeface="Calibri" panose="020F0502020204030204" pitchFamily="34" charset="0"/>
                <a:cs typeface="Times New Roman" panose="02020603050405020304" pitchFamily="18" charset="0"/>
              </a:rPr>
              <a:t>negative level) and exert less </a:t>
            </a:r>
            <a:r>
              <a:rPr lang="en-US" sz="2000" dirty="0">
                <a:latin typeface="+mn-lt"/>
                <a:ea typeface="Calibri" panose="020F0502020204030204" pitchFamily="34" charset="0"/>
                <a:cs typeface="Times New Roman" panose="02020603050405020304" pitchFamily="18" charset="0"/>
              </a:rPr>
              <a:t>upward pressure on private demand</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RER</a:t>
            </a:r>
            <a:r>
              <a:rPr lang="en-US" sz="2000" dirty="0">
                <a:latin typeface="+mn-lt"/>
                <a:ea typeface="Calibri" panose="020F0502020204030204" pitchFamily="34" charset="0"/>
                <a:cs typeface="Times New Roman" panose="02020603050405020304" pitchFamily="18" charset="0"/>
              </a:rPr>
              <a:t> </a:t>
            </a:r>
            <a:r>
              <a:rPr lang="en-US" sz="2000" dirty="0">
                <a:effectLst/>
                <a:latin typeface="+mn-lt"/>
                <a:ea typeface="Calibri" panose="020F0502020204030204" pitchFamily="34" charset="0"/>
                <a:cs typeface="Times New Roman" panose="02020603050405020304" pitchFamily="18" charset="0"/>
              </a:rPr>
              <a:t>forecasted to rise from low, negative level and exert less downward pressure on private demand</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Headline inflation </a:t>
            </a:r>
            <a:r>
              <a:rPr lang="en-US" sz="2000" dirty="0">
                <a:latin typeface="+mn-lt"/>
                <a:ea typeface="Calibri" panose="020F0502020204030204" pitchFamily="34" charset="0"/>
                <a:cs typeface="Times New Roman" panose="02020603050405020304" pitchFamily="18" charset="0"/>
              </a:rPr>
              <a:t>(estimated peak in Q4 2022) forecast to decline gradually in 2023 as food and energy prices forecast to continue falling from their peaks in 2d half of 2022; and to be close to 5% target from 2024</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GDP growth </a:t>
            </a:r>
            <a:r>
              <a:rPr lang="en-US" sz="2000" dirty="0">
                <a:latin typeface="+mn-lt"/>
                <a:ea typeface="Calibri" panose="020F0502020204030204" pitchFamily="34" charset="0"/>
                <a:cs typeface="Times New Roman" panose="02020603050405020304" pitchFamily="18" charset="0"/>
              </a:rPr>
              <a:t>forecast to pick up to average 8.5% in 2023-24 before returning to its trend of 7.5% annually</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Output back to potential </a:t>
            </a:r>
            <a:r>
              <a:rPr lang="en-US" sz="2000" dirty="0">
                <a:latin typeface="+mn-lt"/>
                <a:ea typeface="Calibri" panose="020F0502020204030204" pitchFamily="34" charset="0"/>
                <a:cs typeface="Times New Roman" panose="02020603050405020304" pitchFamily="18" charset="0"/>
              </a:rPr>
              <a:t>as low (</a:t>
            </a:r>
            <a:r>
              <a:rPr lang="en-GB" sz="2000" dirty="0">
                <a:effectLst/>
                <a:latin typeface="+mn-lt"/>
                <a:ea typeface="Calibri" panose="020F0502020204030204" pitchFamily="34" charset="0"/>
              </a:rPr>
              <a:t>albeit rising) RIR, rising (of albeit still low) RER, and modest (albeit declining) fiscal impulse keep demand up</a:t>
            </a:r>
            <a:endParaRPr lang="en-US" sz="2000" dirty="0">
              <a:latin typeface="+mn-lt"/>
              <a:ea typeface="Calibri" panose="020F0502020204030204" pitchFamily="34" charset="0"/>
              <a:cs typeface="Times New Roman" panose="02020603050405020304" pitchFamily="18" charset="0"/>
            </a:endParaRPr>
          </a:p>
          <a:p>
            <a:pPr>
              <a:spcAft>
                <a:spcPts val="600"/>
              </a:spcAft>
            </a:pPr>
            <a:r>
              <a:rPr lang="en-AE" b="1" dirty="0">
                <a:solidFill>
                  <a:srgbClr val="2F5496"/>
                </a:solidFill>
                <a:latin typeface="+mn-lt"/>
                <a:ea typeface="Calibri" panose="020F0502020204030204" pitchFamily="34" charset="0"/>
                <a:cs typeface="Times New Roman" panose="02020603050405020304" pitchFamily="18" charset="0"/>
              </a:rPr>
              <a:t>Recommendations/take aways </a:t>
            </a:r>
            <a:r>
              <a:rPr lang="en-AE" sz="2000" dirty="0">
                <a:solidFill>
                  <a:srgbClr val="2F5496"/>
                </a:solidFill>
                <a:latin typeface="+mn-lt"/>
                <a:ea typeface="Calibri" panose="020F0502020204030204" pitchFamily="34" charset="0"/>
                <a:cs typeface="Times New Roman" panose="02020603050405020304" pitchFamily="18" charset="0"/>
              </a:rPr>
              <a:t>pm</a:t>
            </a:r>
            <a:endParaRPr lang="en-AE" sz="2000" dirty="0"/>
          </a:p>
        </p:txBody>
      </p:sp>
    </p:spTree>
    <p:extLst>
      <p:ext uri="{BB962C8B-B14F-4D97-AF65-F5344CB8AC3E}">
        <p14:creationId xmlns:p14="http://schemas.microsoft.com/office/powerpoint/2010/main" val="2732401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304800"/>
            <a:ext cx="9728200" cy="533400"/>
          </a:xfrm>
        </p:spPr>
        <p:txBody>
          <a:bodyPr/>
          <a:lstStyle/>
          <a:p>
            <a:r>
              <a:rPr lang="en-GB" b="1" dirty="0">
                <a:latin typeface="Gill Sans MT" panose="020B0502020104020203" pitchFamily="34" charset="0"/>
              </a:rPr>
              <a:t>Comparison with Macro Framework</a:t>
            </a:r>
            <a:endParaRPr lang="en-AE"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18</a:t>
            </a:fld>
            <a:endParaRPr lang="en-US" dirty="0"/>
          </a:p>
        </p:txBody>
      </p:sp>
      <p:pic>
        <p:nvPicPr>
          <p:cNvPr id="9" name="Picture 8">
            <a:extLst>
              <a:ext uri="{FF2B5EF4-FFF2-40B4-BE49-F238E27FC236}">
                <a16:creationId xmlns:a16="http://schemas.microsoft.com/office/drawing/2014/main" id="{71576E93-8B4C-7CFB-6D52-EFB1054FA495}"/>
              </a:ext>
            </a:extLst>
          </p:cNvPr>
          <p:cNvPicPr>
            <a:picLocks noChangeAspect="1"/>
          </p:cNvPicPr>
          <p:nvPr/>
        </p:nvPicPr>
        <p:blipFill>
          <a:blip r:embed="rId2"/>
          <a:stretch>
            <a:fillRect/>
          </a:stretch>
        </p:blipFill>
        <p:spPr>
          <a:xfrm>
            <a:off x="0" y="914400"/>
            <a:ext cx="12192000" cy="5943600"/>
          </a:xfrm>
          <a:prstGeom prst="rect">
            <a:avLst/>
          </a:prstGeom>
        </p:spPr>
      </p:pic>
    </p:spTree>
    <p:extLst>
      <p:ext uri="{BB962C8B-B14F-4D97-AF65-F5344CB8AC3E}">
        <p14:creationId xmlns:p14="http://schemas.microsoft.com/office/powerpoint/2010/main" val="559247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304800"/>
            <a:ext cx="9728200" cy="533400"/>
          </a:xfrm>
        </p:spPr>
        <p:txBody>
          <a:bodyPr/>
          <a:lstStyle/>
          <a:p>
            <a:r>
              <a:rPr lang="en-GB" b="1" dirty="0">
                <a:latin typeface="Gill Sans MT" panose="020B0502020104020203" pitchFamily="34" charset="0"/>
              </a:rPr>
              <a:t>Comparison with Macro Framework (MF)</a:t>
            </a:r>
            <a:endParaRPr lang="en-AE"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19</a:t>
            </a:fld>
            <a:endParaRPr lang="en-US" dirty="0"/>
          </a:p>
        </p:txBody>
      </p:sp>
      <p:sp>
        <p:nvSpPr>
          <p:cNvPr id="6" name="TextBox 5">
            <a:extLst>
              <a:ext uri="{FF2B5EF4-FFF2-40B4-BE49-F238E27FC236}">
                <a16:creationId xmlns:a16="http://schemas.microsoft.com/office/drawing/2014/main" id="{56EC216E-2E2A-24C6-3CD9-FC63942760AD}"/>
              </a:ext>
            </a:extLst>
          </p:cNvPr>
          <p:cNvSpPr txBox="1"/>
          <p:nvPr/>
        </p:nvSpPr>
        <p:spPr>
          <a:xfrm>
            <a:off x="381000" y="1371600"/>
            <a:ext cx="11607800" cy="5170646"/>
          </a:xfrm>
          <a:prstGeom prst="rect">
            <a:avLst/>
          </a:prstGeom>
          <a:noFill/>
        </p:spPr>
        <p:txBody>
          <a:bodyPr wrap="square">
            <a:spAutoFit/>
          </a:bodyPr>
          <a:lstStyle/>
          <a:p>
            <a:pPr algn="just"/>
            <a:r>
              <a:rPr lang="en-US" b="1" dirty="0">
                <a:solidFill>
                  <a:srgbClr val="002060"/>
                </a:solidFill>
                <a:latin typeface="+mn-lt"/>
                <a:ea typeface="Calibri" panose="020F0502020204030204" pitchFamily="34" charset="0"/>
                <a:cs typeface="Times New Roman" panose="02020603050405020304" pitchFamily="18" charset="0"/>
              </a:rPr>
              <a:t>Illustrative comparison with Nov. 2022 projection (PCI)</a:t>
            </a:r>
          </a:p>
          <a:p>
            <a:pPr algn="just">
              <a:lnSpc>
                <a:spcPct val="200000"/>
              </a:lnSpc>
            </a:pPr>
            <a:r>
              <a:rPr lang="en-US" dirty="0">
                <a:latin typeface="+mn-lt"/>
                <a:ea typeface="Calibri" panose="020F0502020204030204" pitchFamily="34" charset="0"/>
              </a:rPr>
              <a:t>compared to MF,  the annualized QMFM result has:</a:t>
            </a:r>
          </a:p>
          <a:p>
            <a:pPr marL="285750" indent="-285750">
              <a:spcAft>
                <a:spcPts val="600"/>
              </a:spcAft>
              <a:buFont typeface="Arial" panose="020B0604020202020204" pitchFamily="34" charset="0"/>
              <a:buChar char="•"/>
            </a:pPr>
            <a:r>
              <a:rPr lang="en-US" sz="2400" dirty="0">
                <a:effectLst/>
                <a:latin typeface="+mn-lt"/>
                <a:ea typeface="Calibri" panose="020F0502020204030204" pitchFamily="34" charset="0"/>
              </a:rPr>
              <a:t>lower volatility in final demand components, especially for consumption, investment and imports (MF needs consumption-savings checks)</a:t>
            </a:r>
          </a:p>
          <a:p>
            <a:pPr marL="285750" indent="-285750">
              <a:lnSpc>
                <a:spcPct val="150000"/>
              </a:lnSpc>
              <a:spcAft>
                <a:spcPts val="600"/>
              </a:spcAft>
              <a:buFont typeface="Arial" panose="020B0604020202020204" pitchFamily="34" charset="0"/>
              <a:buChar char="•"/>
            </a:pPr>
            <a:r>
              <a:rPr lang="en-US" dirty="0">
                <a:latin typeface="+mn-lt"/>
                <a:ea typeface="Calibri" panose="020F0502020204030204" pitchFamily="34" charset="0"/>
              </a:rPr>
              <a:t>higher average CPI inflation in 2023, more accurate as QMFM traces inflation by quarter</a:t>
            </a:r>
          </a:p>
          <a:p>
            <a:pPr marL="285750" indent="-285750">
              <a:spcAft>
                <a:spcPts val="600"/>
              </a:spcAft>
              <a:buFont typeface="Arial" panose="020B0604020202020204" pitchFamily="34" charset="0"/>
              <a:buChar char="•"/>
            </a:pPr>
            <a:r>
              <a:rPr lang="en-US" dirty="0">
                <a:latin typeface="+mn-lt"/>
                <a:ea typeface="Calibri" panose="020F0502020204030204" pitchFamily="34" charset="0"/>
              </a:rPr>
              <a:t>lower ER depreciation from 2024, as it forecast zero RER depreciation in medium term</a:t>
            </a:r>
          </a:p>
          <a:p>
            <a:pPr>
              <a:spcAft>
                <a:spcPts val="600"/>
              </a:spcAft>
            </a:pPr>
            <a:r>
              <a:rPr lang="en-US" dirty="0">
                <a:latin typeface="+mn-lt"/>
                <a:ea typeface="Calibri" panose="020F0502020204030204" pitchFamily="34" charset="0"/>
              </a:rPr>
              <a:t>    (MF has real depreciations each year in 2024-26)</a:t>
            </a:r>
          </a:p>
          <a:p>
            <a:pPr marL="285750" indent="-285750">
              <a:lnSpc>
                <a:spcPct val="150000"/>
              </a:lnSpc>
              <a:spcAft>
                <a:spcPts val="600"/>
              </a:spcAft>
              <a:buFont typeface="Arial" panose="020B0604020202020204" pitchFamily="34" charset="0"/>
              <a:buChar char="•"/>
            </a:pPr>
            <a:r>
              <a:rPr lang="en-US" dirty="0">
                <a:latin typeface="+mn-lt"/>
                <a:ea typeface="Calibri" panose="020F0502020204030204" pitchFamily="34" charset="0"/>
              </a:rPr>
              <a:t>higher fiscal deficits, return to sustainable level, while PCI reduces deficit much below that</a:t>
            </a:r>
          </a:p>
          <a:p>
            <a:pPr marL="285750" indent="-285750">
              <a:lnSpc>
                <a:spcPct val="150000"/>
              </a:lnSpc>
              <a:spcAft>
                <a:spcPts val="600"/>
              </a:spcAft>
              <a:buFont typeface="Arial" panose="020B0604020202020204" pitchFamily="34" charset="0"/>
              <a:buChar char="•"/>
            </a:pPr>
            <a:r>
              <a:rPr lang="en-US" sz="2400" dirty="0">
                <a:effectLst/>
                <a:latin typeface="+mn-lt"/>
                <a:ea typeface="Calibri" panose="020F0502020204030204" pitchFamily="34" charset="0"/>
              </a:rPr>
              <a:t>correctly reproduced historic data  </a:t>
            </a:r>
          </a:p>
          <a:p>
            <a:pPr marL="285750" indent="-285750">
              <a:spcAft>
                <a:spcPts val="600"/>
              </a:spcAft>
              <a:buFont typeface="Arial" panose="020B0604020202020204" pitchFamily="34" charset="0"/>
              <a:buChar char="•"/>
            </a:pPr>
            <a:endParaRPr lang="en-US" dirty="0"/>
          </a:p>
        </p:txBody>
      </p:sp>
    </p:spTree>
    <p:extLst>
      <p:ext uri="{BB962C8B-B14F-4D97-AF65-F5344CB8AC3E}">
        <p14:creationId xmlns:p14="http://schemas.microsoft.com/office/powerpoint/2010/main" val="274363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530927" y="228600"/>
            <a:ext cx="10457873" cy="762000"/>
          </a:xfrm>
        </p:spPr>
        <p:txBody>
          <a:bodyPr/>
          <a:lstStyle/>
          <a:p>
            <a:r>
              <a:rPr lang="en-GB" b="1" dirty="0">
                <a:latin typeface="Gill Sans MT" panose="020B0502020104020203" pitchFamily="34" charset="0"/>
              </a:rPr>
              <a:t>Alternative scenario: higher foreign food/oil prices </a:t>
            </a:r>
            <a:r>
              <a:rPr lang="en-GB" sz="2000" dirty="0">
                <a:latin typeface="Gill Sans MT" panose="020B0502020104020203" pitchFamily="34" charset="0"/>
              </a:rPr>
              <a:t>(2023-24)</a:t>
            </a:r>
            <a:endParaRPr lang="en-US" dirty="0"/>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20</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4033655"/>
            <a:ext cx="6095999" cy="2554545"/>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Higher-than-WEO foreign food and oil prices in 2023-24</a:t>
            </a:r>
          </a:p>
          <a:p>
            <a:pPr marL="285750" indent="-285750">
              <a:buFont typeface="Wingdings" panose="05000000000000000000" pitchFamily="2" charset="2"/>
              <a:buChar char="§"/>
            </a:pPr>
            <a:r>
              <a:rPr lang="en-US" sz="1600" dirty="0">
                <a:latin typeface="Gill Sans MT" panose="020B0502020104020203" pitchFamily="34" charset="0"/>
              </a:rPr>
              <a:t>foreign food and oil prices on average 25% higher than BL</a:t>
            </a:r>
          </a:p>
          <a:p>
            <a:pPr marL="285750" indent="-285750">
              <a:buFont typeface="Wingdings" panose="05000000000000000000" pitchFamily="2" charset="2"/>
              <a:buChar char="§"/>
            </a:pPr>
            <a:r>
              <a:rPr lang="en-US" sz="1600" dirty="0">
                <a:latin typeface="Gill Sans MT" panose="020B0502020104020203" pitchFamily="34" charset="0"/>
              </a:rPr>
              <a:t>with peak around end-2023, return to WEO levels from 2025</a:t>
            </a:r>
          </a:p>
          <a:p>
            <a:pPr marL="285750" indent="-285750">
              <a:buFont typeface="Wingdings" panose="05000000000000000000" pitchFamily="2" charset="2"/>
              <a:buChar char="§"/>
            </a:pPr>
            <a:r>
              <a:rPr lang="en-US" sz="1600" dirty="0">
                <a:latin typeface="Gill Sans MT" panose="020B0502020104020203" pitchFamily="34" charset="0"/>
              </a:rPr>
              <a:t>no change in fiscal policy</a:t>
            </a:r>
          </a:p>
          <a:p>
            <a:pPr marL="285750" indent="-285750">
              <a:buFont typeface="Wingdings" panose="05000000000000000000" pitchFamily="2" charset="2"/>
              <a:buChar char="§"/>
            </a:pPr>
            <a:r>
              <a:rPr lang="en-US" sz="1600" dirty="0">
                <a:latin typeface="Gill Sans MT" panose="020B0502020104020203" pitchFamily="34" charset="0"/>
              </a:rPr>
              <a:t> </a:t>
            </a:r>
          </a:p>
          <a:p>
            <a:r>
              <a:rPr lang="en-GB" sz="1600" b="1" dirty="0">
                <a:solidFill>
                  <a:srgbClr val="00B0F0"/>
                </a:solidFill>
                <a:latin typeface="Gill Sans MT" panose="020B0502020104020203" pitchFamily="34" charset="0"/>
                <a:ea typeface="Calibri" panose="020F0502020204030204" pitchFamily="34" charset="0"/>
              </a:rPr>
              <a:t>Results in higher headline CPI, little or no effect on output</a:t>
            </a:r>
          </a:p>
          <a:p>
            <a:pPr marL="285750" indent="-285750">
              <a:buFont typeface="Wingdings" panose="05000000000000000000" pitchFamily="2" charset="2"/>
              <a:buChar char="§"/>
            </a:pPr>
            <a:r>
              <a:rPr lang="en-US" sz="1600" dirty="0">
                <a:latin typeface="Gill Sans MT" panose="020B0502020104020203" pitchFamily="34" charset="0"/>
              </a:rPr>
              <a:t>headline CPI temporarily higher, reflecting food/oil import shares</a:t>
            </a:r>
          </a:p>
          <a:p>
            <a:pPr marL="285750" indent="-285750">
              <a:buFont typeface="Wingdings" panose="05000000000000000000" pitchFamily="2" charset="2"/>
              <a:buChar char="§"/>
            </a:pPr>
            <a:r>
              <a:rPr lang="en-US" sz="1600" dirty="0">
                <a:latin typeface="Gill Sans MT" panose="020B0502020104020203" pitchFamily="34" charset="0"/>
              </a:rPr>
              <a:t>small response policy rate, reversed fast as expected inflation drops</a:t>
            </a:r>
          </a:p>
          <a:p>
            <a:pPr marL="285750" indent="-285750">
              <a:buFont typeface="Wingdings" panose="05000000000000000000" pitchFamily="2" charset="2"/>
              <a:buChar char="§"/>
            </a:pPr>
            <a:r>
              <a:rPr lang="en-US" sz="1600" dirty="0">
                <a:latin typeface="Gill Sans MT" panose="020B0502020104020203" pitchFamily="34" charset="0"/>
              </a:rPr>
              <a:t>small positive effect on demand of lower RIR</a:t>
            </a:r>
          </a:p>
          <a:p>
            <a:pPr marL="285750" indent="-285750">
              <a:buFont typeface="Wingdings" panose="05000000000000000000" pitchFamily="2" charset="2"/>
              <a:buChar char="§"/>
            </a:pPr>
            <a:r>
              <a:rPr lang="en-US" sz="1600" dirty="0">
                <a:latin typeface="Gill Sans MT" panose="020B0502020104020203" pitchFamily="34" charset="0"/>
              </a:rPr>
              <a:t>but mostly offset by negative effect of slightly more appreciated RER</a:t>
            </a:r>
          </a:p>
        </p:txBody>
      </p:sp>
      <p:pic>
        <p:nvPicPr>
          <p:cNvPr id="6" name="Picture 5" descr="Chart, line chart&#10;&#10;Description automatically generated">
            <a:extLst>
              <a:ext uri="{FF2B5EF4-FFF2-40B4-BE49-F238E27FC236}">
                <a16:creationId xmlns:a16="http://schemas.microsoft.com/office/drawing/2014/main" id="{B580BD2F-649E-60FA-633D-03324DE6B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461146"/>
            <a:ext cx="2636649" cy="2501255"/>
          </a:xfrm>
          <a:prstGeom prst="rect">
            <a:avLst/>
          </a:prstGeom>
        </p:spPr>
      </p:pic>
      <p:pic>
        <p:nvPicPr>
          <p:cNvPr id="8" name="Picture 7" descr="Chart, line chart&#10;&#10;Description automatically generated">
            <a:extLst>
              <a:ext uri="{FF2B5EF4-FFF2-40B4-BE49-F238E27FC236}">
                <a16:creationId xmlns:a16="http://schemas.microsoft.com/office/drawing/2014/main" id="{889A9DE6-9BFC-6A53-38AD-C47A142574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51353" y="1461146"/>
            <a:ext cx="2643324" cy="2501256"/>
          </a:xfrm>
          <a:prstGeom prst="rect">
            <a:avLst/>
          </a:prstGeom>
        </p:spPr>
      </p:pic>
      <p:pic>
        <p:nvPicPr>
          <p:cNvPr id="10" name="Picture 9" descr="Chart, line chart&#10;&#10;Description automatically generated">
            <a:extLst>
              <a:ext uri="{FF2B5EF4-FFF2-40B4-BE49-F238E27FC236}">
                <a16:creationId xmlns:a16="http://schemas.microsoft.com/office/drawing/2014/main" id="{F6EB5B70-CE75-4FDF-6C04-C834BE64FB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199" y="1371601"/>
            <a:ext cx="2741474" cy="2856419"/>
          </a:xfrm>
          <a:prstGeom prst="rect">
            <a:avLst/>
          </a:prstGeom>
        </p:spPr>
      </p:pic>
      <p:pic>
        <p:nvPicPr>
          <p:cNvPr id="15" name="Picture 14" descr="Chart, line chart&#10;&#10;Description automatically generated">
            <a:extLst>
              <a:ext uri="{FF2B5EF4-FFF2-40B4-BE49-F238E27FC236}">
                <a16:creationId xmlns:a16="http://schemas.microsoft.com/office/drawing/2014/main" id="{02925C9B-2BDC-4C9B-9C7D-72DD591BE9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77828" y="1600200"/>
            <a:ext cx="2655454" cy="2627820"/>
          </a:xfrm>
          <a:prstGeom prst="rect">
            <a:avLst/>
          </a:prstGeom>
        </p:spPr>
      </p:pic>
      <p:pic>
        <p:nvPicPr>
          <p:cNvPr id="18" name="Picture 17" descr="Chart, line chart&#10;&#10;Description automatically generated">
            <a:extLst>
              <a:ext uri="{FF2B5EF4-FFF2-40B4-BE49-F238E27FC236}">
                <a16:creationId xmlns:a16="http://schemas.microsoft.com/office/drawing/2014/main" id="{52BB3907-ABDC-4994-C0FA-C0740D7B47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4397275"/>
            <a:ext cx="2895600" cy="2308325"/>
          </a:xfrm>
          <a:prstGeom prst="rect">
            <a:avLst/>
          </a:prstGeom>
        </p:spPr>
      </p:pic>
      <p:pic>
        <p:nvPicPr>
          <p:cNvPr id="19" name="Picture 18" descr="Chart, line chart&#10;&#10;Description automatically generated">
            <a:extLst>
              <a:ext uri="{FF2B5EF4-FFF2-40B4-BE49-F238E27FC236}">
                <a16:creationId xmlns:a16="http://schemas.microsoft.com/office/drawing/2014/main" id="{DA0C3106-E3A5-B8F3-5DA5-36C26B5C43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80716" y="4413645"/>
            <a:ext cx="2708084" cy="2308325"/>
          </a:xfrm>
          <a:prstGeom prst="rect">
            <a:avLst/>
          </a:prstGeom>
        </p:spPr>
      </p:pic>
    </p:spTree>
    <p:extLst>
      <p:ext uri="{BB962C8B-B14F-4D97-AF65-F5344CB8AC3E}">
        <p14:creationId xmlns:p14="http://schemas.microsoft.com/office/powerpoint/2010/main" val="3327543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0"/>
            <a:ext cx="9880600" cy="609600"/>
          </a:xfrm>
        </p:spPr>
        <p:txBody>
          <a:bodyPr/>
          <a:lstStyle/>
          <a:p>
            <a:r>
              <a:rPr lang="en-US" b="1" dirty="0"/>
              <a:t>QMFM: main relationships and transmission mechanisms </a:t>
            </a:r>
            <a:endParaRPr lang="en-AE" b="1"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21</a:t>
            </a:fld>
            <a:endParaRPr lang="en-US" dirty="0"/>
          </a:p>
        </p:txBody>
      </p:sp>
      <p:pic>
        <p:nvPicPr>
          <p:cNvPr id="4" name="Picture 3">
            <a:extLst>
              <a:ext uri="{FF2B5EF4-FFF2-40B4-BE49-F238E27FC236}">
                <a16:creationId xmlns:a16="http://schemas.microsoft.com/office/drawing/2014/main" id="{435B370B-B524-55B7-8DFA-989DF55857A6}"/>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609599"/>
            <a:ext cx="12192000" cy="6539345"/>
          </a:xfrm>
          <a:prstGeom prst="rect">
            <a:avLst/>
          </a:prstGeom>
          <a:noFill/>
          <a:ln>
            <a:noFill/>
          </a:ln>
        </p:spPr>
      </p:pic>
    </p:spTree>
    <p:extLst>
      <p:ext uri="{BB962C8B-B14F-4D97-AF65-F5344CB8AC3E}">
        <p14:creationId xmlns:p14="http://schemas.microsoft.com/office/powerpoint/2010/main" val="3674558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22</a:t>
            </a:fld>
            <a:endParaRPr lang="en-US" dirty="0"/>
          </a:p>
        </p:txBody>
      </p:sp>
      <p:pic>
        <p:nvPicPr>
          <p:cNvPr id="5" name="Picture 4">
            <a:extLst>
              <a:ext uri="{FF2B5EF4-FFF2-40B4-BE49-F238E27FC236}">
                <a16:creationId xmlns:a16="http://schemas.microsoft.com/office/drawing/2014/main" id="{68355A93-F1E9-0330-94B0-8472B78C00F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533401"/>
            <a:ext cx="10820400" cy="6324600"/>
          </a:xfrm>
          <a:prstGeom prst="rect">
            <a:avLst/>
          </a:prstGeom>
          <a:noFill/>
          <a:ln>
            <a:noFill/>
          </a:ln>
        </p:spPr>
      </p:pic>
    </p:spTree>
    <p:extLst>
      <p:ext uri="{BB962C8B-B14F-4D97-AF65-F5344CB8AC3E}">
        <p14:creationId xmlns:p14="http://schemas.microsoft.com/office/powerpoint/2010/main" val="14958497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31369</TotalTime>
  <Words>2032</Words>
  <Application>Microsoft Office PowerPoint</Application>
  <PresentationFormat>Widescreen</PresentationFormat>
  <Paragraphs>203</Paragraphs>
  <Slides>23</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Bookman Old Style</vt:lpstr>
      <vt:lpstr>Calibri</vt:lpstr>
      <vt:lpstr>Gill Sans MT</vt:lpstr>
      <vt:lpstr>Symbol</vt:lpstr>
      <vt:lpstr>Wingdings</vt:lpstr>
      <vt:lpstr>Wingdings 3</vt:lpstr>
      <vt:lpstr>2_Origin</vt:lpstr>
      <vt:lpstr>PowerPoint Presentation</vt:lpstr>
      <vt:lpstr>Background—objectives</vt:lpstr>
      <vt:lpstr>Forecast assumptions</vt:lpstr>
      <vt:lpstr>External environment </vt:lpstr>
      <vt:lpstr>Domestic environment </vt:lpstr>
      <vt:lpstr>Output (real GDP) growth</vt:lpstr>
      <vt:lpstr>Output gap: GDP estimated to be below potential (-4% end-2022)</vt:lpstr>
      <vt:lpstr>Private consumption growth and gap (similar for investment, exports, imports)</vt:lpstr>
      <vt:lpstr>Government demand for G&amp;S and fiscal impulse</vt:lpstr>
      <vt:lpstr>Inflation outlook (overview)</vt:lpstr>
      <vt:lpstr>Food inflation (q-on-q annualized)</vt:lpstr>
      <vt:lpstr>Energy inflation (q-on-q annualized)</vt:lpstr>
      <vt:lpstr>Core inflation (q-on-q annualized)</vt:lpstr>
      <vt:lpstr>Policy interest rate (interbank rate, IB)</vt:lpstr>
      <vt:lpstr>Real interest rate (RIR) (policy and lending rates)</vt:lpstr>
      <vt:lpstr>Nominal exchange rate (ER)</vt:lpstr>
      <vt:lpstr>Real exchange rate (RER, q-on-q change annualized)</vt:lpstr>
      <vt:lpstr>Overall Policy stance and Forecast outlook</vt:lpstr>
      <vt:lpstr>Comparison with Macro Framework</vt:lpstr>
      <vt:lpstr>Comparison with Macro Framework (MF)</vt:lpstr>
      <vt:lpstr>Alternative scenario: higher foreign food/oil prices (2023-24)</vt:lpstr>
      <vt:lpstr>QMFM: main relationships and transmission mechanisms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Presentation</dc:title>
  <dc:creator>leorugwa</dc:creator>
  <cp:lastModifiedBy>arend Kouwenaar</cp:lastModifiedBy>
  <cp:revision>1112</cp:revision>
  <cp:lastPrinted>2023-04-02T18:42:36Z</cp:lastPrinted>
  <dcterms:created xsi:type="dcterms:W3CDTF">2011-04-18T20:01:25Z</dcterms:created>
  <dcterms:modified xsi:type="dcterms:W3CDTF">2023-04-03T16:31:26Z</dcterms:modified>
</cp:coreProperties>
</file>