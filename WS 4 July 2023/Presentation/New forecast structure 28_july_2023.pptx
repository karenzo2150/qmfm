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222_538B5E42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214_BBEFA551.xml" ContentType="application/vnd.ms-powerpoint.comments+xml"/>
  <Override PartName="/ppt/notesSlides/notesSlide7.xml" ContentType="application/vnd.openxmlformats-officedocument.presentationml.notesSlide+xml"/>
  <Override PartName="/ppt/comments/modernComment_207_F6EB3C92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21B_228A889D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8"/>
  </p:notesMasterIdLst>
  <p:sldIdLst>
    <p:sldId id="256" r:id="rId3"/>
    <p:sldId id="257" r:id="rId4"/>
    <p:sldId id="262" r:id="rId5"/>
    <p:sldId id="264" r:id="rId6"/>
    <p:sldId id="265" r:id="rId7"/>
    <p:sldId id="258" r:id="rId8"/>
    <p:sldId id="266" r:id="rId9"/>
    <p:sldId id="545" r:id="rId10"/>
    <p:sldId id="259" r:id="rId11"/>
    <p:sldId id="267" r:id="rId12"/>
    <p:sldId id="516" r:id="rId13"/>
    <p:sldId id="272" r:id="rId14"/>
    <p:sldId id="544" r:id="rId15"/>
    <p:sldId id="268" r:id="rId16"/>
    <p:sldId id="269" r:id="rId17"/>
    <p:sldId id="260" r:id="rId18"/>
    <p:sldId id="514" r:id="rId19"/>
    <p:sldId id="542" r:id="rId20"/>
    <p:sldId id="546" r:id="rId21"/>
    <p:sldId id="526" r:id="rId22"/>
    <p:sldId id="401" r:id="rId23"/>
    <p:sldId id="525" r:id="rId24"/>
    <p:sldId id="527" r:id="rId25"/>
    <p:sldId id="528" r:id="rId26"/>
    <p:sldId id="530" r:id="rId27"/>
    <p:sldId id="532" r:id="rId28"/>
    <p:sldId id="261" r:id="rId29"/>
    <p:sldId id="519" r:id="rId30"/>
    <p:sldId id="541" r:id="rId31"/>
    <p:sldId id="513" r:id="rId32"/>
    <p:sldId id="518" r:id="rId33"/>
    <p:sldId id="539" r:id="rId34"/>
    <p:sldId id="517" r:id="rId35"/>
    <p:sldId id="270" r:id="rId36"/>
    <p:sldId id="27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8/10/relationships/authors" Target="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comments/modernComment_21B_228A88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1C7AF3B-2DDC-4DF4-A734-609BF55CF1EE}" authorId="{FE78AC8B-25A4-2FA1-255B-A2BA7B6FF7E8}" created="2023-05-25T19:07:19.7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79504285" sldId="539"/>
      <ac:picMk id="4" creationId="{ADEADC66-E94E-C464-55BD-BD7E61F8CE2B}"/>
    </ac:deMkLst>
    <p188:replyLst>
      <p188:reply id="{4D09DFC4-F94F-41BA-985E-93F7ED157CCF}" authorId="{D56D2716-681C-0ED8-9BD4-37117C3B4FB8}" created="2023-05-31T09:43:27.295">
        <p188:txBody>
          <a:bodyPr/>
          <a:lstStyle/>
          <a:p>
            <a:r>
              <a:rPr lang="en-US"/>
              <a:t>The LHS is useless, repeats RHS chart; re-place by Q-on-Q table</a:t>
            </a:r>
          </a:p>
        </p188:txBody>
      </p188:reply>
      <p188:reply id="{6A005F12-E710-4D2D-9B05-4834C2CB0923}" authorId="{D5143AD7-E749-5E1E-371D-A585C0C727CD}" created="2023-05-31T12:29:52.018">
        <p188:txBody>
          <a:bodyPr/>
          <a:lstStyle/>
          <a:p>
            <a:r>
              <a:rPr lang="en-US"/>
              <a:t>Here on LHS is chart of Q_o_Q</a:t>
            </a:r>
          </a:p>
        </p188:txBody>
      </p188:reply>
    </p188:replyLst>
    <p188:txBody>
      <a:bodyPr/>
      <a:lstStyle/>
      <a:p>
        <a:r>
          <a:rPr lang="en-AE"/>
          <a:t>SI adjusted subject to the review---tables replaced for consistency in the file
</a:t>
        </a:r>
      </a:p>
    </p188:txBody>
  </p188:cm>
</p188:cmLst>
</file>

<file path=ppt/comments/modernComment_207_F6EB3C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FC8906-ED91-4002-8172-60477C2A1DF9}" authorId="{D5143AD7-E749-5E1E-371D-A585C0C727CD}" created="2023-07-28T12:00:11.57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42611602" sldId="519"/>
      <ac:picMk id="11" creationId="{7A95814C-9E87-B6FA-02F5-38EFDCDDD701}"/>
    </ac:deMkLst>
    <p188:txBody>
      <a:bodyPr/>
      <a:lstStyle/>
      <a:p>
        <a:r>
          <a:rPr lang="en-US"/>
          <a:t>Chart should  only contain line not contributions </a:t>
        </a:r>
      </a:p>
    </p188:txBody>
  </p188:cm>
</p188:cmLst>
</file>

<file path=ppt/comments/modernComment_214_BBEFA5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D26E63-461F-44B8-9838-1F29A4295B25}" authorId="{D5143AD7-E749-5E1E-371D-A585C0C727CD}" created="2023-07-28T12:42:15.8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153044817" sldId="532"/>
      <ac:picMk id="6" creationId="{3583D265-9501-AA28-6E62-9D04CEC83870}"/>
    </ac:deMkLst>
    <p188:txBody>
      <a:bodyPr/>
      <a:lstStyle/>
      <a:p>
        <a:r>
          <a:rPr lang="en-US"/>
          <a:t>Actual Vs Trend instead of growth</a:t>
        </a:r>
      </a:p>
    </p188:txBody>
  </p188:cm>
</p188:cmLst>
</file>

<file path=ppt/comments/modernComment_222_538B5E4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D125458-8E49-4F9A-9D40-AD1E4CD88DE3}" authorId="{FE78AC8B-25A4-2FA1-255B-A2BA7B6FF7E8}" created="2023-05-25T19:07:19.7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79504285" sldId="539"/>
      <ac:picMk id="4" creationId="{ADEADC66-E94E-C464-55BD-BD7E61F8CE2B}"/>
    </ac:deMkLst>
    <p188:replyLst>
      <p188:reply id="{4D09DFC4-F94F-41BA-985E-93F7ED157CCF}" authorId="{D56D2716-681C-0ED8-9BD4-37117C3B4FB8}" created="2023-05-31T09:43:27.295">
        <p188:txBody>
          <a:bodyPr/>
          <a:lstStyle/>
          <a:p>
            <a:r>
              <a:rPr lang="en-US"/>
              <a:t>The LHS is useless, repeats RHS chart; re-place by Q-on-Q table</a:t>
            </a:r>
          </a:p>
        </p188:txBody>
      </p188:reply>
      <p188:reply id="{6A005F12-E710-4D2D-9B05-4834C2CB0923}" authorId="{D5143AD7-E749-5E1E-371D-A585C0C727CD}" created="2023-05-31T12:29:52.018">
        <p188:txBody>
          <a:bodyPr/>
          <a:lstStyle/>
          <a:p>
            <a:r>
              <a:rPr lang="en-US"/>
              <a:t>Here on LHS is chart of Q_o_Q</a:t>
            </a:r>
          </a:p>
        </p188:txBody>
      </p188:reply>
    </p188:replyLst>
    <p188:txBody>
      <a:bodyPr/>
      <a:lstStyle/>
      <a:p>
        <a:r>
          <a:rPr lang="en-AE"/>
          <a:t>SI adjusted subject to the review---tables replaced for consistency in the file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36A18-56D0-4BE4-8644-2A73F641F35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8F6B-473D-4785-A7AD-D48EC84D9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19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503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1482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503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as % change, chart has d4log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820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0360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355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more aggregate models, “fiscal impulse” comprises both direct effect of govt spending on G&amp;S and the indirect effect via private consumption and investment (affected by transfers/subsidies and reduced effective revenue collection)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2158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as % change, chart has d4log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9636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9A6D-836A-C318-6626-852D4AE9D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A12DB-F000-F776-CB27-D9DFC5946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1C9C0-A037-6B3B-B6FC-F9EF1673E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FC-544E-41B9-AC2D-E9D5C2116D44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DEB9F-341C-61DE-896C-273F0A3B8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0C05E-0594-7A2A-927E-B6CFB012B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2B11-776A-4AE0-BE5A-88C2F63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24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4D46E-3344-FFCA-1401-2137534B4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0A65C-B2FB-8BF3-6734-C6B63C47A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1F80-F019-A9FF-FDA9-EC4C6E36E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FC-544E-41B9-AC2D-E9D5C2116D44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B5386-C94C-52C8-4FFB-8A16868A6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F7E26-774A-4AD0-19C3-3E2BC39F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2B11-776A-4AE0-BE5A-88C2F63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53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AD272-9754-6B53-3ED6-051370CD4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2FB38-1820-B76C-4F36-3E7B10700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3A346-D2AD-65DF-CD9F-3AFE05B22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FC-544E-41B9-AC2D-E9D5C2116D44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21F25-C9B8-AABF-A1E8-0E33AB17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91258-26CF-D9B7-4602-1A842E88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2B11-776A-4AE0-BE5A-88C2F63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03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CD34-6BE4-7B3A-B722-92C39CFC5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0F6D0-E62E-8EF4-B7A7-48CA38B809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4D3CC-D934-2AEA-6B2E-8156BE31D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02574-CFFA-2284-F1CC-F516D2244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FC-544E-41B9-AC2D-E9D5C2116D44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9128D-1DCC-5CA1-26DC-6FE9D76F6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E00FC-2C85-5A4A-57FB-BFFF2725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2B11-776A-4AE0-BE5A-88C2F63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60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2BF60-D997-A043-1EFE-BDE8CD0C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2BB6A-1BBF-0FFE-C0FB-650A89BBE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21FDC-78B8-A8F4-A771-1C33A2611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7421C4-14C2-2CBB-5976-0E3A3870C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265A65-99C0-64D1-0A35-5C447E3DB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8B54C4-6BF3-AD24-53CF-C82342110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FC-544E-41B9-AC2D-E9D5C2116D44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AE9B91-1910-EAE5-59E1-6A558CD7F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35A20A-6570-2E04-E7F3-E012E303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2B11-776A-4AE0-BE5A-88C2F63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0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1FBEC-9380-F728-58F9-2FC9F7AAD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4E7E42-CF74-8E47-CFAB-CF28D5CA9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FC-544E-41B9-AC2D-E9D5C2116D44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B7FE9C-AC8C-7A08-7EFD-EE9A7EECC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48D36-30C5-B5A5-1BCA-9D0FB26A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2B11-776A-4AE0-BE5A-88C2F63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41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E3281-6A78-7679-6D29-D0127F548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FC-544E-41B9-AC2D-E9D5C2116D44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C9203-5AB1-17B1-EA3B-49A2E44B4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1A24C-2189-6267-C2DF-5E4ABA012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2B11-776A-4AE0-BE5A-88C2F63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47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4F399-3D77-E7B3-DB39-B166B094A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8133A-C8C1-1EB1-58C2-3DF00293A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47D38-225E-9C64-7A2E-4B6C6AAF7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02E98-BAC0-BD60-842A-B6B133FC4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FC-544E-41B9-AC2D-E9D5C2116D44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8E5FD-21A8-7229-73B7-708DE328A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0E797-88A1-3B71-AA41-D5ACE8A62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2B11-776A-4AE0-BE5A-88C2F63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5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FD7B2-1DD9-BA75-5F9B-46F2B9EE1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3F460-47A9-4EC9-FAA6-2B1013FBAB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F9EB8-A1EA-443A-54E5-B3B533A34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8E06E-E17C-4BD8-13AE-2FEB9B1F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FC-544E-41B9-AC2D-E9D5C2116D44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F3E42-E641-369A-2ABA-F8FA89123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D4A59-87E2-BC85-D750-3528CB24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2B11-776A-4AE0-BE5A-88C2F63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82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414EB-3D95-3A9F-33B4-FE8E4303C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2CEAC-A258-1721-303B-E99BED0E5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5191E-9BCE-E434-C2DF-E8FBF15B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FC-544E-41B9-AC2D-E9D5C2116D44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68455-7058-A384-0994-D27059A76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55FC8-8482-4DF2-2914-E6D064A2E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2B11-776A-4AE0-BE5A-88C2F63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3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4CB8EB-9C50-4C00-1845-241C55B13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3E90A-EB7F-EA0F-58AD-847FBD9CD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341F2-5AF0-A1E6-C632-600348599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FC-544E-41B9-AC2D-E9D5C2116D44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D54BB-42A5-386D-8B7F-E484E63F4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682C7-024E-7E52-8171-2D8798C7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2B11-776A-4AE0-BE5A-88C2F63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915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966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228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7/28/2023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30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7/28/2023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86158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DC1FDE-6968-EB18-3E24-BA7A6561C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31046-786F-B430-2895-0AF623925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C6CCB-6143-9228-19C3-4E9130588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2E9FC-544E-41B9-AC2D-E9D5C2116D44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1072C-9EC8-6D30-9407-839C468E4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AD859-6417-67C9-1C68-C9A3455CB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B2B11-776A-4AE0-BE5A-88C2F63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2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1277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tm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tmp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22_538B5E4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14_BBEFA55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07_F6EB3C9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tm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1B_228A889D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2943A-A7F0-E3C6-B43E-3D8284F31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New Forecast Presentation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8AE00-D6E3-98C7-AC57-0B1EDBBB3C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July 2023</a:t>
            </a:r>
          </a:p>
        </p:txBody>
      </p:sp>
    </p:spTree>
    <p:extLst>
      <p:ext uri="{BB962C8B-B14F-4D97-AF65-F5344CB8AC3E}">
        <p14:creationId xmlns:p14="http://schemas.microsoft.com/office/powerpoint/2010/main" val="1461832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14AE-6484-2BAA-7EE9-65CAD6CD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399C1-5502-5554-D566-A529FB786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85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A3545-E069-88AB-4993-796D1E754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E08C11E-3890-45F2-7A2D-21E14D4325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3223476"/>
              </p:ext>
            </p:extLst>
          </p:nvPr>
        </p:nvGraphicFramePr>
        <p:xfrm>
          <a:off x="709684" y="1825624"/>
          <a:ext cx="10644111" cy="460919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49495">
                  <a:extLst>
                    <a:ext uri="{9D8B030D-6E8A-4147-A177-3AD203B41FA5}">
                      <a16:colId xmlns:a16="http://schemas.microsoft.com/office/drawing/2014/main" val="611099264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2938006370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2252811925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676371499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2781505743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651133372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1581365573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1996087931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1874698754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1295274920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15504116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745418431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3181914698"/>
                    </a:ext>
                  </a:extLst>
                </a:gridCol>
              </a:tblGrid>
              <a:tr h="6584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2020 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2021q1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2022 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2023q1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265024"/>
                  </a:ext>
                </a:extLst>
              </a:tr>
              <a:tr h="658457">
                <a:tc>
                  <a:txBody>
                    <a:bodyPr/>
                    <a:lstStyle/>
                    <a:p>
                      <a:r>
                        <a:rPr lang="en-US" dirty="0"/>
                        <a:t>GDP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898281"/>
                  </a:ext>
                </a:extLst>
              </a:tr>
              <a:tr h="658457">
                <a:tc>
                  <a:txBody>
                    <a:bodyPr/>
                    <a:lstStyle/>
                    <a:p>
                      <a:r>
                        <a:rPr lang="en-US" dirty="0"/>
                        <a:t>CPI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248581"/>
                  </a:ext>
                </a:extLst>
              </a:tr>
              <a:tr h="658457">
                <a:tc>
                  <a:txBody>
                    <a:bodyPr/>
                    <a:lstStyle/>
                    <a:p>
                      <a:r>
                        <a:rPr lang="en-US" dirty="0"/>
                        <a:t>Deficit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906633"/>
                  </a:ext>
                </a:extLst>
              </a:tr>
              <a:tr h="658457">
                <a:tc>
                  <a:txBody>
                    <a:bodyPr/>
                    <a:lstStyle/>
                    <a:p>
                      <a:r>
                        <a:rPr lang="en-US" dirty="0"/>
                        <a:t>Exchange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522823"/>
                  </a:ext>
                </a:extLst>
              </a:tr>
              <a:tr h="658457">
                <a:tc>
                  <a:txBody>
                    <a:bodyPr/>
                    <a:lstStyle/>
                    <a:p>
                      <a:r>
                        <a:rPr lang="en-US" dirty="0"/>
                        <a:t>Interest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499509"/>
                  </a:ext>
                </a:extLst>
              </a:tr>
              <a:tr h="658457">
                <a:tc>
                  <a:txBody>
                    <a:bodyPr/>
                    <a:lstStyle/>
                    <a:p>
                      <a:r>
                        <a:rPr lang="en-US" dirty="0"/>
                        <a:t>Oil price, etc..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595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080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A3545-E069-88AB-4993-796D1E754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E08C11E-3890-45F2-7A2D-21E14D43256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9684" y="1825624"/>
          <a:ext cx="10644111" cy="395074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49495">
                  <a:extLst>
                    <a:ext uri="{9D8B030D-6E8A-4147-A177-3AD203B41FA5}">
                      <a16:colId xmlns:a16="http://schemas.microsoft.com/office/drawing/2014/main" val="611099264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2938006370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2252811925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676371499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2781505743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651133372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1581365573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1996087931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1874698754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1295274920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15504116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745418431"/>
                    </a:ext>
                  </a:extLst>
                </a:gridCol>
                <a:gridCol w="766218">
                  <a:extLst>
                    <a:ext uri="{9D8B030D-6E8A-4147-A177-3AD203B41FA5}">
                      <a16:colId xmlns:a16="http://schemas.microsoft.com/office/drawing/2014/main" val="3181914698"/>
                    </a:ext>
                  </a:extLst>
                </a:gridCol>
              </a:tblGrid>
              <a:tr h="6584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2020 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2021q1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2022 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2023q1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265024"/>
                  </a:ext>
                </a:extLst>
              </a:tr>
              <a:tr h="658457">
                <a:tc>
                  <a:txBody>
                    <a:bodyPr/>
                    <a:lstStyle/>
                    <a:p>
                      <a:r>
                        <a:rPr lang="en-US" dirty="0"/>
                        <a:t>GDP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898281"/>
                  </a:ext>
                </a:extLst>
              </a:tr>
              <a:tr h="658457">
                <a:tc>
                  <a:txBody>
                    <a:bodyPr/>
                    <a:lstStyle/>
                    <a:p>
                      <a:r>
                        <a:rPr lang="en-US" dirty="0"/>
                        <a:t>CPI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248581"/>
                  </a:ext>
                </a:extLst>
              </a:tr>
              <a:tr h="658457">
                <a:tc>
                  <a:txBody>
                    <a:bodyPr/>
                    <a:lstStyle/>
                    <a:p>
                      <a:r>
                        <a:rPr lang="en-US" dirty="0"/>
                        <a:t>Deficit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906633"/>
                  </a:ext>
                </a:extLst>
              </a:tr>
              <a:tr h="658457">
                <a:tc>
                  <a:txBody>
                    <a:bodyPr/>
                    <a:lstStyle/>
                    <a:p>
                      <a:r>
                        <a:rPr lang="en-US" dirty="0"/>
                        <a:t>Exchange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522823"/>
                  </a:ext>
                </a:extLst>
              </a:tr>
              <a:tr h="658457">
                <a:tc>
                  <a:txBody>
                    <a:bodyPr/>
                    <a:lstStyle/>
                    <a:p>
                      <a:r>
                        <a:rPr lang="en-US" dirty="0"/>
                        <a:t>Interest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499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8016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98A9-6288-BDC5-8CE7-AA3E3C8B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to forecast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6261D-1D80-5DFE-4547-8E5B4287E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Forecast Vs Outcomes and story</a:t>
            </a:r>
          </a:p>
        </p:txBody>
      </p:sp>
    </p:spTree>
    <p:extLst>
      <p:ext uri="{BB962C8B-B14F-4D97-AF65-F5344CB8AC3E}">
        <p14:creationId xmlns:p14="http://schemas.microsoft.com/office/powerpoint/2010/main" val="2710265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4B584-B511-6C44-BCEE-58B82B343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stance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B1542-F504-0690-F524-04F65F8E9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30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FBBD9-D4EA-75CB-FD35-EA4488433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of cyclical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8D07C-4850-EB57-0A2F-E1D2734F5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Demand overheated or subdued</a:t>
            </a:r>
          </a:p>
          <a:p>
            <a:r>
              <a:rPr lang="en-US" dirty="0"/>
              <a:t>Exchange rate overvalued or undervalued</a:t>
            </a:r>
          </a:p>
          <a:p>
            <a:r>
              <a:rPr lang="en-US" dirty="0"/>
              <a:t>Monetary policy loose or tight</a:t>
            </a:r>
          </a:p>
          <a:p>
            <a:r>
              <a:rPr lang="en-US" dirty="0"/>
              <a:t>Inflation is above or below the target (reason: either demand or supply shocks)</a:t>
            </a:r>
          </a:p>
          <a:p>
            <a:r>
              <a:rPr lang="en-US" dirty="0"/>
              <a:t>Expansionary or contractionary fiscal policy</a:t>
            </a:r>
          </a:p>
        </p:txBody>
      </p:sp>
    </p:spTree>
    <p:extLst>
      <p:ext uri="{BB962C8B-B14F-4D97-AF65-F5344CB8AC3E}">
        <p14:creationId xmlns:p14="http://schemas.microsoft.com/office/powerpoint/2010/main" val="1644719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04800"/>
            <a:ext cx="10820400" cy="609600"/>
          </a:xfrm>
        </p:spPr>
        <p:txBody>
          <a:bodyPr/>
          <a:lstStyle/>
          <a:p>
            <a:r>
              <a:rPr lang="en-GB" b="1" dirty="0"/>
              <a:t>Fiscal policies: </a:t>
            </a:r>
            <a:r>
              <a:rPr lang="en-GB" dirty="0"/>
              <a:t>deficit and its components </a:t>
            </a:r>
            <a:r>
              <a:rPr lang="en-GB" sz="2400" dirty="0"/>
              <a:t>(discretionary, cyclical, structural) </a:t>
            </a:r>
            <a:r>
              <a:rPr lang="en-GB" sz="2400" dirty="0">
                <a:solidFill>
                  <a:srgbClr val="FF0000"/>
                </a:solidFill>
              </a:rPr>
              <a:t>only history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D4CEA-2ADC-E661-DA3B-389EDBD6B758}"/>
              </a:ext>
            </a:extLst>
          </p:cNvPr>
          <p:cNvSpPr txBox="1"/>
          <p:nvPr/>
        </p:nvSpPr>
        <p:spPr>
          <a:xfrm>
            <a:off x="203199" y="1543110"/>
            <a:ext cx="5623731" cy="78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discretionary (demand, other) spending reductions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losses in (non-tax), revenue, gradually offset 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05036-6D7E-A32A-15CB-82518DCD289F}"/>
              </a:ext>
            </a:extLst>
          </p:cNvPr>
          <p:cNvSpPr txBox="1"/>
          <p:nvPr/>
        </p:nvSpPr>
        <p:spPr>
          <a:xfrm>
            <a:off x="76200" y="1143000"/>
            <a:ext cx="1203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Deficit discretionary &amp; cyclical components forecast (w. near-term program), phasing out gradually </a:t>
            </a:r>
            <a:endParaRPr kumimoji="0" lang="en-GB" sz="2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ＭＳ Ｐゴシック" charset="-128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267FD6-822B-4717-981E-AA043E001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99" y="2417132"/>
            <a:ext cx="5511801" cy="45062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BAC221-FB52-5041-C4C5-7C76524092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889" y="1524000"/>
            <a:ext cx="5623731" cy="457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84EF88-3A08-DE80-8057-BE1893902D41}"/>
              </a:ext>
            </a:extLst>
          </p:cNvPr>
          <p:cNvSpPr txBox="1"/>
          <p:nvPr/>
        </p:nvSpPr>
        <p:spPr>
          <a:xfrm>
            <a:off x="6248400" y="6094677"/>
            <a:ext cx="5867399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Cyclical deficit components phase out as output gap to zero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0686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BD8BC-5A3B-B35C-B9A1-53FA119A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 assumptions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02F80-580B-C8C7-0AD9-D7E391911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07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4A55C-39F7-AD95-C97E-73044761C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environment/variables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E778F-78A4-2CA2-BA89-2756FFB95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 interest rates</a:t>
            </a:r>
          </a:p>
          <a:p>
            <a:r>
              <a:rPr lang="en-US" dirty="0"/>
              <a:t>Oil price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10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b="1" dirty="0"/>
              <a:t>External environment 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4800600" y="4150758"/>
            <a:ext cx="3124199" cy="190565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>
                <a:srgbClr val="00B0F0"/>
              </a:buClr>
              <a:buSzPct val="76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World real interest rates are projected to increase from negative in the past decade to close to zero in the near term.</a:t>
            </a: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0D3816F1-012E-3147-640F-AB15DAE3F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754" y="1519537"/>
            <a:ext cx="3095045" cy="2286000"/>
          </a:xfrm>
          <a:prstGeom prst="rect">
            <a:avLst/>
          </a:prstGeom>
          <a:effectLst>
            <a:glow rad="127000">
              <a:schemeClr val="accent5">
                <a:lumMod val="20000"/>
                <a:lumOff val="80000"/>
              </a:schemeClr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5E27BE-9404-C370-027C-CC987668662F}"/>
              </a:ext>
            </a:extLst>
          </p:cNvPr>
          <p:cNvSpPr txBox="1"/>
          <p:nvPr/>
        </p:nvSpPr>
        <p:spPr>
          <a:xfrm>
            <a:off x="914400" y="4038600"/>
            <a:ext cx="3352800" cy="2121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marR="0" lvl="0" indent="-28575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World economy slowing down as interest rates are raised in response to inflation</a:t>
            </a:r>
          </a:p>
          <a:p>
            <a:pPr marL="274320" marR="0" lvl="0" indent="-28575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Rwanda still enjoys recovery in trading partner demand relative to Covid-years, at 3% p.y., well above trend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14C2A-2CC5-2CF7-555D-E64A5656523F}"/>
              </a:ext>
            </a:extLst>
          </p:cNvPr>
          <p:cNvSpPr txBox="1"/>
          <p:nvPr/>
        </p:nvSpPr>
        <p:spPr>
          <a:xfrm>
            <a:off x="8458200" y="4150758"/>
            <a:ext cx="2819400" cy="1844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>
                <a:srgbClr val="00B0F0"/>
              </a:buClr>
              <a:buSzPct val="76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Trading partners’ CPI (in US$) was subdued at 1.5% py in past 5-7 years</a:t>
            </a:r>
          </a:p>
          <a:p>
            <a:pPr marL="27432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>
                <a:srgbClr val="00B0F0"/>
              </a:buClr>
              <a:buSzPct val="76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Projected to return to more normal level of 3% in coming years</a:t>
            </a:r>
            <a:endParaRPr kumimoji="0" lang="en-A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</p:txBody>
      </p:sp>
      <p:pic>
        <p:nvPicPr>
          <p:cNvPr id="16" name="Picture 15" descr="Chart, line chart&#10;&#10;Description automatically generated">
            <a:extLst>
              <a:ext uri="{FF2B5EF4-FFF2-40B4-BE49-F238E27FC236}">
                <a16:creationId xmlns:a16="http://schemas.microsoft.com/office/drawing/2014/main" id="{1BAABEE4-1924-CB6D-8E54-7A24F0228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1516836"/>
            <a:ext cx="3200400" cy="2369364"/>
          </a:xfrm>
          <a:prstGeom prst="rect">
            <a:avLst/>
          </a:prstGeom>
          <a:effectLst>
            <a:glow rad="127000">
              <a:schemeClr val="accent5">
                <a:lumMod val="20000"/>
                <a:lumOff val="80000"/>
              </a:schemeClr>
            </a:glo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37FC3D-CB21-FF02-89C6-9E38EE94F8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9" y="1516836"/>
            <a:ext cx="3095045" cy="2286000"/>
          </a:xfrm>
          <a:prstGeom prst="rect">
            <a:avLst/>
          </a:prstGeom>
          <a:effectLst>
            <a:glow rad="127000">
              <a:schemeClr val="accent5">
                <a:lumMod val="20000"/>
                <a:lumOff val="8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227849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3389-1055-3B86-A2C8-A1CE3D4A3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Fiscal assumptions(NTF, Medium, and long-term)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3E876-7D83-6493-A701-76BC358BA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  <a:ea typeface="Calibri" panose="020F0502020204030204" pitchFamily="34" charset="0"/>
              </a:rPr>
              <a:t>reduction</a:t>
            </a:r>
            <a:r>
              <a:rPr lang="en-US" sz="2800" dirty="0">
                <a:effectLst/>
                <a:latin typeface="+mn-lt"/>
                <a:ea typeface="Calibri" panose="020F0502020204030204" pitchFamily="34" charset="0"/>
              </a:rPr>
              <a:t> fiscal deficit (before grants) to 12.1% of GDP in 2022/23 (tuned), then to 11% of GDP (sustainable)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+mn-lt"/>
                <a:ea typeface="Calibri" panose="020F0502020204030204" pitchFamily="34" charset="0"/>
              </a:rPr>
              <a:t> favorable fiscal impulse—over 2% of GDP on average </a:t>
            </a:r>
            <a:r>
              <a:rPr lang="en-US" sz="2800" dirty="0">
                <a:latin typeface="+mn-lt"/>
                <a:ea typeface="Calibri" panose="020F0502020204030204" pitchFamily="34" charset="0"/>
              </a:rPr>
              <a:t>in 2020-2022</a:t>
            </a:r>
            <a:r>
              <a:rPr lang="en-US" sz="2800" dirty="0">
                <a:effectLst/>
                <a:latin typeface="+mn-lt"/>
                <a:ea typeface="Calibri" panose="020F0502020204030204" pitchFamily="34" charset="0"/>
              </a:rPr>
              <a:t>—is ending</a:t>
            </a:r>
          </a:p>
          <a:p>
            <a:pPr marL="285750" indent="-285750">
              <a:spcAft>
                <a:spcPts val="600"/>
              </a:spcAft>
            </a:pPr>
            <a:r>
              <a:rPr lang="en-GB" sz="2800" dirty="0"/>
              <a:t>Fiscal consolidation with the 2022/23 Budget with phasing out of Covid and Ukraine-crisis-related spending, and reduction in fiscal deficit and fiscal impulse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074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04800"/>
            <a:ext cx="10591800" cy="609600"/>
          </a:xfrm>
        </p:spPr>
        <p:txBody>
          <a:bodyPr/>
          <a:lstStyle/>
          <a:p>
            <a:r>
              <a:rPr lang="en-GB" b="1" dirty="0"/>
              <a:t>Fiscal policies: </a:t>
            </a:r>
            <a:r>
              <a:rPr lang="en-GB" dirty="0"/>
              <a:t>deficit and its components (revenue, spending)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D4CEA-2ADC-E661-DA3B-389EDBD6B758}"/>
              </a:ext>
            </a:extLst>
          </p:cNvPr>
          <p:cNvSpPr txBox="1"/>
          <p:nvPr/>
        </p:nvSpPr>
        <p:spPr>
          <a:xfrm>
            <a:off x="228600" y="1934096"/>
            <a:ext cx="5638800" cy="4660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Deficit (components) tuned with near-term program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large spending cuts compared to Covid and even pre-Covid for four years from 2023/24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also, to offset temporary revenue shortfalls of around 1% of GDP levels in 2023/24-2024/25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deficits dips well below sustainable level for several years, thus helping reduce debt/GDP accumulated during Covid (esp. IMF)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sustainable deficit: from grants (</a:t>
            </a: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+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4.5% of GDP) and net borrowing consistent with debt/GDP of 75% (65% in NPV, 10% domestic, 15% grant element, 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05036-6D7E-A32A-15CB-82518DCD289F}"/>
              </a:ext>
            </a:extLst>
          </p:cNvPr>
          <p:cNvSpPr txBox="1"/>
          <p:nvPr/>
        </p:nvSpPr>
        <p:spPr>
          <a:xfrm>
            <a:off x="228600" y="1143000"/>
            <a:ext cx="1188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Deficit (excl. grants) forecast to tighten </a:t>
            </a:r>
            <a:r>
              <a:rPr kumimoji="0" lang="en-GB" sz="2000" b="1" i="0" u="sng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+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2% points of GDP below pre-Covid and sustainable level from 2022/23, as program fast-tracks debt/GDP reduction, then return to sustainable level by 2030</a:t>
            </a:r>
            <a:endParaRPr kumimoji="0" lang="en-GB" sz="2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ＭＳ Ｐゴシック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E6C035-6C4C-9A3D-B4A5-092C80A27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850886"/>
            <a:ext cx="6200614" cy="456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655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AF502-1530-92E3-5FE3-A10A1E9E7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Domestic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72C62-E825-90B8-BDDF-9613C7776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Fiscal policy ( near term, medium and long-term)</a:t>
            </a:r>
          </a:p>
          <a:p>
            <a:r>
              <a:rPr lang="en-US" dirty="0"/>
              <a:t>Trends </a:t>
            </a:r>
          </a:p>
          <a:p>
            <a:pPr lvl="1"/>
            <a:r>
              <a:rPr lang="en-US" dirty="0"/>
              <a:t>GDP components</a:t>
            </a:r>
          </a:p>
          <a:p>
            <a:pPr lvl="1"/>
            <a:r>
              <a:rPr lang="en-US" dirty="0"/>
              <a:t>Exchange rates target</a:t>
            </a:r>
          </a:p>
          <a:p>
            <a:pPr lvl="1"/>
            <a:r>
              <a:rPr lang="en-US" dirty="0"/>
              <a:t>Real interest rate ( incl. premium)</a:t>
            </a:r>
          </a:p>
          <a:p>
            <a:pPr lvl="1"/>
            <a:r>
              <a:rPr lang="en-US" dirty="0"/>
              <a:t>Inflation target</a:t>
            </a:r>
          </a:p>
          <a:p>
            <a:pPr algn="just">
              <a:spcAft>
                <a:spcPts val="600"/>
              </a:spcAft>
            </a:pPr>
            <a:r>
              <a:rPr lang="en-GB" sz="2800" dirty="0"/>
              <a:t>Current fiscal, monetary, and exchange rate policies: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Maintenance of current level of policy interest rate (interbank rate)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Somewhat faster exchange rate depreciation in 2023 (than 2022), targeted in PCI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Expected return to normal of agricultural harvests and domestic food prices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36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C7B71-3EEF-13E1-9CAC-020143290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Near term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33B13-5947-0FD4-BB93-42F0A5CD8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GDP Nowcast</a:t>
            </a:r>
          </a:p>
          <a:p>
            <a:r>
              <a:rPr lang="en-US" dirty="0"/>
              <a:t>Inflation NTF</a:t>
            </a:r>
          </a:p>
          <a:p>
            <a:r>
              <a:rPr lang="en-US" dirty="0"/>
              <a:t>Interest rates and exchange rate NTF</a:t>
            </a:r>
          </a:p>
          <a:p>
            <a:pPr marL="742950" lvl="1" indent="-285750">
              <a:spcAft>
                <a:spcPts val="600"/>
              </a:spcAft>
            </a:pPr>
            <a:r>
              <a:rPr lang="en-US" sz="2000" dirty="0">
                <a:effectLst/>
                <a:latin typeface="+mn-lt"/>
                <a:ea typeface="Calibri" panose="020F0502020204030204" pitchFamily="34" charset="0"/>
              </a:rPr>
              <a:t>maintenance of recently increased policy interest rate (tuned for 2023Q1) </a:t>
            </a:r>
          </a:p>
          <a:p>
            <a:pPr marL="742950" lvl="1" indent="-285750">
              <a:spcAft>
                <a:spcPts val="600"/>
              </a:spcAft>
            </a:pPr>
            <a:r>
              <a:rPr lang="en-US" sz="2000" dirty="0">
                <a:effectLst/>
                <a:latin typeface="+mn-lt"/>
                <a:ea typeface="Calibri" panose="020F0502020204030204" pitchFamily="34" charset="0"/>
              </a:rPr>
              <a:t>somewhat faster rate of exchange rate depreciation in 2023 (tuned for 2023Q1)</a:t>
            </a:r>
            <a:endParaRPr lang="en-US" dirty="0"/>
          </a:p>
          <a:p>
            <a:r>
              <a:rPr lang="en-US" dirty="0"/>
              <a:t>Fiscal NTF</a:t>
            </a:r>
          </a:p>
        </p:txBody>
      </p:sp>
    </p:spTree>
    <p:extLst>
      <p:ext uri="{BB962C8B-B14F-4D97-AF65-F5344CB8AC3E}">
        <p14:creationId xmlns:p14="http://schemas.microsoft.com/office/powerpoint/2010/main" val="3036097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3F72-D8E4-EAC5-B8B5-0219DB92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 story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EB2C2-ED3F-6EBB-9E0C-7577D6A21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27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490200" cy="685800"/>
          </a:xfrm>
        </p:spPr>
        <p:txBody>
          <a:bodyPr/>
          <a:lstStyle/>
          <a:p>
            <a:r>
              <a:rPr lang="en-GB" b="1" dirty="0"/>
              <a:t>Forecast—private consumption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791200" y="1066800"/>
            <a:ext cx="63246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Consumption gap: 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key driver of 2020-21 negative output gap (~ 75% of GDP)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Covid negative shocks (persistence) forecast to end in 2023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fiscal impulse helped offset somewhat negative Covid consumption shocks but it is ending in 2023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endParaRPr kumimoji="0" lang="en-AE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5FF67D-3E27-1BC9-9FF6-68A4F623CC18}"/>
              </a:ext>
            </a:extLst>
          </p:cNvPr>
          <p:cNvSpPr txBox="1">
            <a:spLocks/>
          </p:cNvSpPr>
          <p:nvPr/>
        </p:nvSpPr>
        <p:spPr>
          <a:xfrm>
            <a:off x="201305" y="1315234"/>
            <a:ext cx="4419600" cy="1580366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q"/>
              <a:tabLst/>
              <a:defRPr/>
            </a:pPr>
            <a:endParaRPr kumimoji="0" lang="en-AE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24B118-97F9-2D00-B56C-06A743D8C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8702" y="1056716"/>
            <a:ext cx="5588000" cy="367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37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04800"/>
            <a:ext cx="10820400" cy="609600"/>
          </a:xfrm>
        </p:spPr>
        <p:txBody>
          <a:bodyPr/>
          <a:lstStyle/>
          <a:p>
            <a:r>
              <a:rPr lang="en-GB" b="1" dirty="0"/>
              <a:t>Fiscal policies: </a:t>
            </a:r>
            <a:r>
              <a:rPr lang="en-GB" dirty="0"/>
              <a:t>deficit and its components </a:t>
            </a:r>
            <a:r>
              <a:rPr lang="en-GB" sz="2400" dirty="0"/>
              <a:t>(discretionary, cyclical, structural)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D4CEA-2ADC-E661-DA3B-389EDBD6B758}"/>
              </a:ext>
            </a:extLst>
          </p:cNvPr>
          <p:cNvSpPr txBox="1"/>
          <p:nvPr/>
        </p:nvSpPr>
        <p:spPr>
          <a:xfrm>
            <a:off x="203199" y="1543110"/>
            <a:ext cx="5623731" cy="78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discretionary (demand, other) spending reductions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losses in (non-tax), revenue, gradually offset 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05036-6D7E-A32A-15CB-82518DCD289F}"/>
              </a:ext>
            </a:extLst>
          </p:cNvPr>
          <p:cNvSpPr txBox="1"/>
          <p:nvPr/>
        </p:nvSpPr>
        <p:spPr>
          <a:xfrm>
            <a:off x="76200" y="1143000"/>
            <a:ext cx="1203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Deficit discretionary &amp; cyclical components forecast (w. near-term program), phasing out gradually </a:t>
            </a:r>
            <a:endParaRPr kumimoji="0" lang="en-GB" sz="2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ＭＳ Ｐゴシック" charset="-128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267FD6-822B-4717-981E-AA043E001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99" y="2417132"/>
            <a:ext cx="5511801" cy="45062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BAC221-FB52-5041-C4C5-7C76524092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889" y="1524000"/>
            <a:ext cx="5623731" cy="457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84EF88-3A08-DE80-8057-BE1893902D41}"/>
              </a:ext>
            </a:extLst>
          </p:cNvPr>
          <p:cNvSpPr txBox="1"/>
          <p:nvPr/>
        </p:nvSpPr>
        <p:spPr>
          <a:xfrm>
            <a:off x="6248400" y="6094677"/>
            <a:ext cx="5867399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Cyclical deficit components phase out as output gap to zero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2285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88DC-3DF3-0DDD-98BC-0D18EBCD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07818"/>
            <a:ext cx="10261600" cy="6096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Inflation outlook </a:t>
            </a:r>
            <a:r>
              <a:rPr lang="en-US" dirty="0"/>
              <a:t>(overview) </a:t>
            </a:r>
            <a:r>
              <a:rPr lang="en-US" dirty="0">
                <a:solidFill>
                  <a:srgbClr val="FF0000"/>
                </a:solidFill>
              </a:rPr>
              <a:t>focus on Q on Q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F341B1-8569-6382-12CE-9A6DEAC1A2CB}"/>
              </a:ext>
            </a:extLst>
          </p:cNvPr>
          <p:cNvSpPr txBox="1"/>
          <p:nvPr/>
        </p:nvSpPr>
        <p:spPr>
          <a:xfrm>
            <a:off x="5638800" y="1129844"/>
            <a:ext cx="6553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q-on-q annualized inflation is forecast to decline gradually in 2023 after peak in Q2 2022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predicated on recent shocks abating and inflation expectations being countered by NBR action and fiscal restraint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ＭＳ Ｐゴシック" charset="-128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201358-B5C8-53BA-0F80-856B6C8536EC}"/>
              </a:ext>
            </a:extLst>
          </p:cNvPr>
          <p:cNvSpPr txBox="1"/>
          <p:nvPr/>
        </p:nvSpPr>
        <p:spPr>
          <a:xfrm>
            <a:off x="2438400" y="4876800"/>
            <a:ext cx="609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   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230547-2FD4-A2EA-FD07-BDD7EA5A3B52}"/>
              </a:ext>
            </a:extLst>
          </p:cNvPr>
          <p:cNvSpPr txBox="1"/>
          <p:nvPr/>
        </p:nvSpPr>
        <p:spPr>
          <a:xfrm rot="10800000" flipV="1">
            <a:off x="114305" y="4254415"/>
            <a:ext cx="52958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Headline CPI components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decline in q-on-q inflation translates into a lesser drop in y-on-y inflation estimated to peak in Q4 2022,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Y-on-y inflation dropping to target of  5% in end of 2023(2023Q4)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all components drop, drop in food prices contributes most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1487C8-65B7-E277-AF5B-B47ADDB54B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30" y="1129844"/>
            <a:ext cx="5162034" cy="31512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ED2779-0EE9-790F-B3FB-E2FB0C5A8D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066" y="2322916"/>
            <a:ext cx="6137733" cy="410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6425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620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Core inflation </a:t>
            </a:r>
            <a:r>
              <a:rPr lang="en-US" dirty="0"/>
              <a:t>(q-on-q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2399" y="5001316"/>
            <a:ext cx="5486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CPI core  from peak 2022 Q4;  main drivers: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down-pull effect from remaining output gap disappearing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strong effect of expectations and persistence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no direct effect of import prices as constant in RWF terms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6019800" y="1219200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Direct effect foreign import prices and ER on CPI core: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foreign prices continue declining for most of 2023-26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ER depreciation raises RWF prices, but net direct effect is small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144837-B4B7-A234-1CAB-9C1C0CF50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104900"/>
            <a:ext cx="5486401" cy="37821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4001D8-57F6-BCEB-CE12-AF6442304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614" y="2160529"/>
            <a:ext cx="6162261" cy="414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084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3106"/>
            <a:ext cx="10261600" cy="681294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Food inflation </a:t>
            </a:r>
            <a:r>
              <a:rPr lang="en-US" dirty="0"/>
              <a:t>(q-on-q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5221689"/>
            <a:ext cx="6019800" cy="140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CPI food decreasing from peak in 2022 Q4; main drivers: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agricultural output is forecast to normalize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imported food prices projected to continue declining 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small offsetting effect of lessening RER overvaluation (faster depr.)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6477000" y="1295401"/>
            <a:ext cx="5717023" cy="10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Direct effect of foreign prices and ER on food CPI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foreign food prices continue declining for most of 2023-26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ER depreciation raises RWF prices but net direct effect is small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E4C541-8B2F-9A0C-B01E-CEB896094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6" y="1218074"/>
            <a:ext cx="5943599" cy="3962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BCFC4E-EC57-AD08-2824-4642FC3FE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329274"/>
            <a:ext cx="5867400" cy="408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15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54702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Energy inflation </a:t>
            </a:r>
            <a:r>
              <a:rPr lang="en-US" dirty="0"/>
              <a:t>(q-on-q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2399" y="5462951"/>
            <a:ext cx="5943600" cy="10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CPI energy decreasing from peak in 2022 Q4; main drivers: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imported energy prices projected to continue declining 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small offsetting effect of lessening RER overvaluation (faster depr.)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6172200" y="1066800"/>
            <a:ext cx="5943600" cy="10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Direct effect foreign import prices and ER on energy CPI: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foreign energy prices continue declining for most of 2023-26</a:t>
            </a: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ER depreciation raises RWF prices, but net direct effect is small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B1E5A0-0812-B8C8-60D7-D7A675CC4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101251"/>
            <a:ext cx="5943601" cy="42437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820990-83DC-B956-2C96-089655EE9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689" y="2184171"/>
            <a:ext cx="5943602" cy="413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714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418" y="228600"/>
            <a:ext cx="10261600" cy="672015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Policy interest rate </a:t>
            </a:r>
            <a:r>
              <a:rPr lang="en-US" dirty="0"/>
              <a:t>(interbank rate, IB)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199" y="4508875"/>
            <a:ext cx="52831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Policy rate (IB) influenced by NBR with its CBR: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IB followed closely the 2% points CBR increases in 2022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IB forecast a little tight (aver 6.6 %) in 2023 to control inflation, then to decrease (loose) to ~5 % to improve demand (still gap) in 2024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from 2024, increase back to trend driven by a ‘neutral’ rate of ~7%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increased policy rate should raise RIR and stem demand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410200" y="1234550"/>
            <a:ext cx="67056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Policy rate (IB) driven by  rule: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responding to both inflation deviation (from 5% target) and the output gap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gradual interest rate changes (lagged effect)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pulled to ‘neutral’ rate of 7% (foreign real rate, country risk, core inflation)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somewhat historical policy rate shocks since 2022-23—fading in forecast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38E459-315E-7E8E-FF55-E8A410B82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234551"/>
            <a:ext cx="4800599" cy="3185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86877D-653C-2ABB-FED3-710BDF6C3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117" y="2743200"/>
            <a:ext cx="6534082" cy="37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15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Real interest rate </a:t>
            </a:r>
            <a:r>
              <a:rPr lang="en-US" dirty="0"/>
              <a:t>(RIR) (policy and lending rates)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2398" y="4508876"/>
            <a:ext cx="54864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RIR policy rate (IB) (~ core-inflation one Q ahead)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RIR is tight-- continue rising and turn positive by mid-2023-end 2024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thus, correcting sharply below-trend levels since late 2021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 post-2024 –RIR gets loose again, returns toward trend and ‘neutral’ rate of 2.5%.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real lending rate (including 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~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8% premium) also back to trend. ending the pull-up effect on private demand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943600" y="1234550"/>
            <a:ext cx="6248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RIR policy rate (IB) components: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After a tight RIR (IB) due to ease in expected inflation and constant  in late 2022-23 and RIR is loose post-2024 following as IB rate stabilizes and inflation surges again.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EDAF04-C0EE-6F27-17A3-B29958E0B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97" y="1234551"/>
            <a:ext cx="5410200" cy="3185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ECEA59-7406-29B2-8008-140166F67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485" y="2438400"/>
            <a:ext cx="6116316" cy="397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52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Nominal exchange rate </a:t>
            </a:r>
            <a:r>
              <a:rPr lang="en-US" dirty="0"/>
              <a:t>(ER)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498" y="4519676"/>
            <a:ext cx="508990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ER policy reflected in forecast: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reflects NBR’s flexible ER policy, and hybrid rule: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ER steered toward target ER so that RER gradually falls in line with its target or trend depreciation rate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some response to domestic-foreign interest differentials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A temporal overvaluation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in 2023, before ER steered back to target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trend depreciation rate converges to 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% p.y.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486400" y="1234550"/>
            <a:ext cx="670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Exchange rate policy “rule” 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MT" panose="020B0502020104020203" pitchFamily="34" charset="0"/>
              <a:ea typeface="Calibri" panose="020F0502020204030204" pitchFamily="34" charset="0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mainly driven by nominal ER target, expectations, and somewhat by domestic-foreign interest rate differentials.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ER target driven by trend RER depr. rate (0%) and inflation differential (2%)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56A8E1-5DF8-32EC-5444-F4E233721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49" y="1234551"/>
            <a:ext cx="4800598" cy="3032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219298-36DB-6A98-5359-F42D4F03A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2425325"/>
            <a:ext cx="6431282" cy="402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5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Real exchange rate </a:t>
            </a:r>
            <a:r>
              <a:rPr lang="en-US" dirty="0"/>
              <a:t>(RER, q-on-q change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0" y="4765899"/>
            <a:ext cx="5943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RER results from ER, CPI_core and foreign CPI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forecast to switch from real appreciation in 2022 and early 2023 to real depreciation from mid-2023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returning toward trend RER depreciation rate (0%) thereafter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pull-down effect on demand from RER appreciation in most of 2022 should reverse from 2023 onward as RER returns to trend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867401" y="1108299"/>
            <a:ext cx="6019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RER components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after sharp decline in RER since Q3 2021 as core inflation surged,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RER is forecast to increase from Q2 2023 on for several quarters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before returning to its trend (0%)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83D265-9501-AA28-6E62-9D04CEC83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7" y="1219200"/>
            <a:ext cx="4724403" cy="3423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8C0236-EC49-5EA7-37FA-0053643CE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1" y="2477576"/>
            <a:ext cx="5791202" cy="365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0448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5C835-E3DD-B2E1-978A-3C047C364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3B5E3-78B1-230D-248A-F7D895512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34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287000" cy="750514"/>
          </a:xfrm>
        </p:spPr>
        <p:txBody>
          <a:bodyPr/>
          <a:lstStyle/>
          <a:p>
            <a:r>
              <a:rPr lang="en-GB" b="1" dirty="0"/>
              <a:t>Forecast: govt demand for G&amp;S effects</a:t>
            </a:r>
            <a:endParaRPr lang="en-AE" sz="20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156274" y="4050939"/>
            <a:ext cx="6092126" cy="2654661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Government demand for G&amp;S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(≈23% of GDP): 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mainly exogenous (discretionary spending)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some anti-cyclical spending (e.g. transfers) kicks in under downturn, esp. in Covid episode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under Covid, high govt demand offset negative output gap, with positive impact estimated at 1½ % of GDP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from 2022/23, sharp tightening in govt demand with </a:t>
            </a: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reverse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, i.e. negative impact on output gap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CCAC2-6233-0EF9-ABEA-F7674370836D}"/>
              </a:ext>
            </a:extLst>
          </p:cNvPr>
          <p:cNvSpPr txBox="1"/>
          <p:nvPr/>
        </p:nvSpPr>
        <p:spPr>
          <a:xfrm>
            <a:off x="156275" y="1307068"/>
            <a:ext cx="11654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Fiscal policies (“fiscal stance”) affect output in the short-run via several channels captured in the model:</a:t>
            </a:r>
            <a:endParaRPr kumimoji="0" lang="en-GB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ＭＳ Ｐゴシック" charset="-128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95814C-9E87-B6FA-02F5-38EFDCDDD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292" y="1779897"/>
            <a:ext cx="5711125" cy="511444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DCE5C-B184-5784-80FB-8F6265A85C30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8534BF-B928-4B83-1DE1-1D0A45F9F56F}"/>
              </a:ext>
            </a:extLst>
          </p:cNvPr>
          <p:cNvSpPr txBox="1"/>
          <p:nvPr/>
        </p:nvSpPr>
        <p:spPr>
          <a:xfrm>
            <a:off x="308674" y="1752601"/>
            <a:ext cx="6092126" cy="2197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 govt demand for G&amp;S affects final demand and output </a:t>
            </a: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directly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 discretionary deficit plus change in structural deficit (defined as “fiscal impulse”) affect private demand and output </a:t>
            </a: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indirectly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cyclical deficit—automatic higher spending and lower revenue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 in downturn (and vice versa)—affects output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26116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287000" cy="750514"/>
          </a:xfrm>
        </p:spPr>
        <p:txBody>
          <a:bodyPr/>
          <a:lstStyle/>
          <a:p>
            <a:r>
              <a:rPr lang="en-GB" b="1" dirty="0"/>
              <a:t>Fiscal policies (ii): fiscal impulse on private dd</a:t>
            </a:r>
            <a:endParaRPr lang="en-AE" sz="20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AF6A8-A1FC-08FD-607D-366D8C204D63}"/>
              </a:ext>
            </a:extLst>
          </p:cNvPr>
          <p:cNvSpPr txBox="1">
            <a:spLocks/>
          </p:cNvSpPr>
          <p:nvPr/>
        </p:nvSpPr>
        <p:spPr>
          <a:xfrm>
            <a:off x="76200" y="1447800"/>
            <a:ext cx="4953000" cy="4993415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Fiscal impulse: 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had large positive fiscal impulse in only a few quarters during 2020-22, and relatively small on average over the period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affects private consumption and investment via income effect and “confidence factor”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the fiscal impulse effect on private demand and hence output during Covid years is estimated at about ½% of GDP</a:t>
            </a: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lang="en-GB" sz="1800" dirty="0">
                <a:solidFill>
                  <a:srgbClr val="FF0000"/>
                </a:solidFill>
                <a:latin typeface="Gill Sans MT"/>
              </a:rPr>
              <a:t>Add story for forecast: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273050" marR="0" lvl="0" indent="-2730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DE6C8C-160B-5E4A-56ED-2AD299F94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447801"/>
            <a:ext cx="56388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3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5B51-9F35-563B-B454-D804ED60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3531"/>
            <a:ext cx="10261600" cy="684669"/>
          </a:xfrm>
        </p:spPr>
        <p:txBody>
          <a:bodyPr/>
          <a:lstStyle/>
          <a:p>
            <a:r>
              <a:rPr lang="en-GB" b="1" dirty="0"/>
              <a:t>Forecast—Output (real GDP) growth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60EEB-4D2C-ABC6-3CBF-810371A48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B21F50-4750-8FFC-95EB-0C9188E69407}"/>
              </a:ext>
            </a:extLst>
          </p:cNvPr>
          <p:cNvSpPr txBox="1">
            <a:spLocks/>
          </p:cNvSpPr>
          <p:nvPr/>
        </p:nvSpPr>
        <p:spPr>
          <a:xfrm>
            <a:off x="228600" y="1591467"/>
            <a:ext cx="4876800" cy="4935419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Output growth: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to rise a bit above trend in 2023-24, completing post-Covid recovery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Driven by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consumption recovering from Covid shocks, helped by below-trend RIR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exports recovering from Covid shocks though hampered by still below-trend RER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government spending to soften Covid- and Ukraine-crises impact ends with FY 2022/23 (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see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srgbClr val="29C000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Fiscal Impulse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below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return to trend of 7.5% p.y. from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B8512-E1DD-10B3-6515-A9CE1A80F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1481258"/>
            <a:ext cx="67564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68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A389-0C6C-0933-804A-5C8DCF29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F1D7B2-3F44-DEA8-40E5-A0336D8DFD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CA83FD-3968-8868-B521-262C5280C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53862"/>
            <a:ext cx="4419600" cy="36810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9E3FBE-35B1-A720-856A-ABD1401D2091}"/>
              </a:ext>
            </a:extLst>
          </p:cNvPr>
          <p:cNvSpPr txBox="1"/>
          <p:nvPr/>
        </p:nvSpPr>
        <p:spPr>
          <a:xfrm rot="10800000" flipV="1">
            <a:off x="381000" y="5060332"/>
            <a:ext cx="5334000" cy="149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growth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"/>
              <a:tabLst>
                <a:tab pos="457200" algn="l"/>
              </a:tabLst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continued recovery from Covid, with higher than trend growth in 2023-24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"/>
              <a:tabLst>
                <a:tab pos="457200" algn="l"/>
              </a:tabLst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returns to its trend growth from 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5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88DC-3DF3-0DDD-98BC-0D18EBCD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07818"/>
            <a:ext cx="10261600" cy="6096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Inflation outlook </a:t>
            </a:r>
            <a:r>
              <a:rPr lang="en-US" dirty="0"/>
              <a:t>(overview) </a:t>
            </a:r>
            <a:r>
              <a:rPr lang="en-US" dirty="0">
                <a:solidFill>
                  <a:srgbClr val="FF0000"/>
                </a:solidFill>
              </a:rPr>
              <a:t>table Y on 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F341B1-8569-6382-12CE-9A6DEAC1A2CB}"/>
              </a:ext>
            </a:extLst>
          </p:cNvPr>
          <p:cNvSpPr txBox="1"/>
          <p:nvPr/>
        </p:nvSpPr>
        <p:spPr>
          <a:xfrm>
            <a:off x="5638800" y="1129844"/>
            <a:ext cx="6553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q-on-q annualized inflation is forecast to decline gradually in 2023 after peak in Q2 2022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predicated on recent shocks abating and inflation expectations being countered by NBR action and fiscal restraint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ＭＳ Ｐゴシック" charset="-128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201358-B5C8-53BA-0F80-856B6C8536EC}"/>
              </a:ext>
            </a:extLst>
          </p:cNvPr>
          <p:cNvSpPr txBox="1"/>
          <p:nvPr/>
        </p:nvSpPr>
        <p:spPr>
          <a:xfrm>
            <a:off x="2438400" y="4876800"/>
            <a:ext cx="609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   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230547-2FD4-A2EA-FD07-BDD7EA5A3B52}"/>
              </a:ext>
            </a:extLst>
          </p:cNvPr>
          <p:cNvSpPr txBox="1"/>
          <p:nvPr/>
        </p:nvSpPr>
        <p:spPr>
          <a:xfrm rot="10800000" flipV="1">
            <a:off x="114305" y="4254415"/>
            <a:ext cx="52958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Headline CPI components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decline in q-on-q inflation translates into a lesser drop in y-on-y inflation estimated to peak in Q4 2022,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Calibri" panose="020F0502020204030204" pitchFamily="34" charset="0"/>
                <a:cs typeface="+mn-cs"/>
              </a:rPr>
              <a:t>Y-on-y inflation dropping to target of  5% in end of 2023(2023Q4)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n-cs"/>
              </a:rPr>
              <a:t>all components drop, drop in food prices contributes most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1487C8-65B7-E277-AF5B-B47ADDB54B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30" y="1129844"/>
            <a:ext cx="5162034" cy="31512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ED2779-0EE9-790F-B3FB-E2FB0C5A8D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066" y="2322916"/>
            <a:ext cx="6137733" cy="410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5042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9EE7D-B3E6-0DAD-69C3-02BC4F22E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39008-614A-68B3-58CF-BABCCB943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0094586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3E0FE-BA09-797D-3756-09BFE168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9AE32-BD1D-0BBA-6599-BF768AC68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Duplication of incoming data with forecast period</a:t>
            </a:r>
          </a:p>
        </p:txBody>
      </p:sp>
    </p:spTree>
    <p:extLst>
      <p:ext uri="{BB962C8B-B14F-4D97-AF65-F5344CB8AC3E}">
        <p14:creationId xmlns:p14="http://schemas.microsoft.com/office/powerpoint/2010/main" val="11300587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66B2-44E3-D154-9FCC-BD105F68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3E67E-D703-7C1E-712B-DA6EDCFF7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Forecast of key macro indicators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RIR</a:t>
            </a:r>
            <a:r>
              <a:rPr lang="en-US" sz="2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forecast to rise (albeit from a low</a:t>
            </a:r>
            <a:r>
              <a:rPr lang="en-US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negative level) and exert less </a:t>
            </a:r>
            <a:r>
              <a:rPr lang="en-US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upward pressure on private demand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RER</a:t>
            </a:r>
            <a:r>
              <a:rPr lang="en-US" sz="28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forecasted to rise from low, negative level and exert less downward pressure on private demand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Headline inflation </a:t>
            </a:r>
            <a:r>
              <a:rPr lang="en-US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(estimated peak in Q4 2022) forecast to decline gradually in 2023 as food and energy prices are forecast to continue falling from their peaks in 2d half of 2022; and to be close to 5% target from 2024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GDP growth </a:t>
            </a:r>
            <a:r>
              <a:rPr lang="en-US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forecast to pick up to average 8.5% in 2023-24 before returning to its trend of 7.5% annually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Output back to potential </a:t>
            </a:r>
            <a:r>
              <a:rPr lang="en-US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as low (</a:t>
            </a:r>
            <a:r>
              <a:rPr lang="en-GB" sz="2800" dirty="0">
                <a:effectLst/>
                <a:latin typeface="+mn-lt"/>
                <a:ea typeface="Calibri" panose="020F0502020204030204" pitchFamily="34" charset="0"/>
              </a:rPr>
              <a:t>albeit rising) RIR, rising (of albeit still low) RER, and modest (albeit declining) fiscal impulse keep demand up</a:t>
            </a:r>
            <a:endParaRPr lang="en-US" sz="28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75355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2218</Words>
  <Application>Microsoft Office PowerPoint</Application>
  <PresentationFormat>Widescreen</PresentationFormat>
  <Paragraphs>246</Paragraphs>
  <Slides>35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Bookman Old Style</vt:lpstr>
      <vt:lpstr>Calibri</vt:lpstr>
      <vt:lpstr>Calibri Light</vt:lpstr>
      <vt:lpstr>Gill Sans MT</vt:lpstr>
      <vt:lpstr>Symbol</vt:lpstr>
      <vt:lpstr>Wingdings</vt:lpstr>
      <vt:lpstr>Wingdings 3</vt:lpstr>
      <vt:lpstr>Office Theme</vt:lpstr>
      <vt:lpstr>2_Origin</vt:lpstr>
      <vt:lpstr>New Forecast Presentation Structure</vt:lpstr>
      <vt:lpstr>Incoming data</vt:lpstr>
      <vt:lpstr>PowerPoint Presentation</vt:lpstr>
      <vt:lpstr>PowerPoint Presentation</vt:lpstr>
      <vt:lpstr>Comparison to forecast</vt:lpstr>
      <vt:lpstr>Current stance </vt:lpstr>
      <vt:lpstr>Description of cyclical position</vt:lpstr>
      <vt:lpstr>Fiscal policies: deficit and its components (discretionary, cyclical, structural) only history</vt:lpstr>
      <vt:lpstr>Forecast assumptions</vt:lpstr>
      <vt:lpstr>External environment/variables</vt:lpstr>
      <vt:lpstr>External environment </vt:lpstr>
      <vt:lpstr>Fiscal assumptions(NTF, Medium, and long-term)</vt:lpstr>
      <vt:lpstr>Fiscal policies: deficit and its components (revenue, spending)</vt:lpstr>
      <vt:lpstr>Domestic assumptions</vt:lpstr>
      <vt:lpstr>Near term assumptions</vt:lpstr>
      <vt:lpstr>Forecast story</vt:lpstr>
      <vt:lpstr>Forecast—private consumption</vt:lpstr>
      <vt:lpstr>Fiscal policies: deficit and its components (discretionary, cyclical, structural)</vt:lpstr>
      <vt:lpstr>Forecast—Inflation outlook (overview) focus on Q on Q</vt:lpstr>
      <vt:lpstr>Forecast—Core inflation (q-on-q annualized)</vt:lpstr>
      <vt:lpstr>Forecast—Food inflation (q-on-q annualized)</vt:lpstr>
      <vt:lpstr>Forecast—Energy inflation (q-on-q annualized)</vt:lpstr>
      <vt:lpstr>Forecast—Policy interest rate (interbank rate, IB)</vt:lpstr>
      <vt:lpstr>Forecast—Real interest rate (RIR) (policy and lending rates)</vt:lpstr>
      <vt:lpstr>Forecast—Nominal exchange rate (ER)</vt:lpstr>
      <vt:lpstr>Forecast—Real exchange rate (RER, q-on-q change annualized)</vt:lpstr>
      <vt:lpstr>Forecast summary</vt:lpstr>
      <vt:lpstr>Forecast: govt demand for G&amp;S effects</vt:lpstr>
      <vt:lpstr>Fiscal policies (ii): fiscal impulse on private dd</vt:lpstr>
      <vt:lpstr>Forecast—Output (real GDP) growth</vt:lpstr>
      <vt:lpstr>PowerPoint Presentation</vt:lpstr>
      <vt:lpstr>Forecast—Inflation outlook (overview) table Y on 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2023-07-28T09:56:56Z</dcterms:created>
  <dcterms:modified xsi:type="dcterms:W3CDTF">2023-07-28T13:03:23Z</dcterms:modified>
</cp:coreProperties>
</file>