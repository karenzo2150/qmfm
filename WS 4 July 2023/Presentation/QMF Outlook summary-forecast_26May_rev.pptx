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205_F6EB3C92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21B_228A889D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16" r:id="rId1"/>
  </p:sldMasterIdLst>
  <p:notesMasterIdLst>
    <p:notesMasterId r:id="rId21"/>
  </p:notesMasterIdLst>
  <p:handoutMasterIdLst>
    <p:handoutMasterId r:id="rId22"/>
  </p:handoutMasterIdLst>
  <p:sldIdLst>
    <p:sldId id="540" r:id="rId2"/>
    <p:sldId id="511" r:id="rId3"/>
    <p:sldId id="512" r:id="rId4"/>
    <p:sldId id="516" r:id="rId5"/>
    <p:sldId id="524" r:id="rId6"/>
    <p:sldId id="513" r:id="rId7"/>
    <p:sldId id="515" r:id="rId8"/>
    <p:sldId id="514" r:id="rId9"/>
    <p:sldId id="517" r:id="rId10"/>
    <p:sldId id="538" r:id="rId11"/>
    <p:sldId id="539" r:id="rId12"/>
    <p:sldId id="526" r:id="rId13"/>
    <p:sldId id="401" r:id="rId14"/>
    <p:sldId id="525" r:id="rId15"/>
    <p:sldId id="527" r:id="rId16"/>
    <p:sldId id="528" r:id="rId17"/>
    <p:sldId id="530" r:id="rId18"/>
    <p:sldId id="532" r:id="rId19"/>
    <p:sldId id="521" r:id="rId20"/>
  </p:sldIdLst>
  <p:sldSz cx="12192000" cy="6858000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FA106F-A1D2-4A8C-B134-8F2A12C21D33}">
          <p14:sldIdLst>
            <p14:sldId id="540"/>
            <p14:sldId id="511"/>
            <p14:sldId id="512"/>
            <p14:sldId id="516"/>
            <p14:sldId id="524"/>
            <p14:sldId id="513"/>
            <p14:sldId id="515"/>
            <p14:sldId id="514"/>
            <p14:sldId id="517"/>
            <p14:sldId id="538"/>
            <p14:sldId id="539"/>
            <p14:sldId id="526"/>
            <p14:sldId id="401"/>
            <p14:sldId id="525"/>
            <p14:sldId id="527"/>
            <p14:sldId id="528"/>
            <p14:sldId id="530"/>
            <p14:sldId id="532"/>
            <p14:sldId id="52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8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E78AC8B-25A4-2FA1-255B-A2BA7B6FF7E8}" name="Manirumva, Evariste" initials="ME" userId="S::emanirumva@icipe.org::fbb618da-2b8a-4a66-b30b-f0e53196d74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C0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93" autoAdjust="0"/>
    <p:restoredTop sz="93447" autoAdjust="0"/>
  </p:normalViewPr>
  <p:slideViewPr>
    <p:cSldViewPr>
      <p:cViewPr>
        <p:scale>
          <a:sx n="63" d="100"/>
          <a:sy n="63" d="100"/>
        </p:scale>
        <p:origin x="492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5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96" y="-102"/>
      </p:cViewPr>
      <p:guideLst>
        <p:guide orient="horz" pos="2958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comments/modernComment_21B_228A889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1C7AF3B-2DDC-4DF4-A734-609BF55CF1EE}" authorId="{FE78AC8B-25A4-2FA1-255B-A2BA7B6FF7E8}" created="2023-05-25T19:07:19.70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79504285" sldId="539"/>
      <ac:picMk id="4" creationId="{ADEADC66-E94E-C464-55BD-BD7E61F8CE2B}"/>
    </ac:deMkLst>
    <p188:txBody>
      <a:bodyPr/>
      <a:lstStyle/>
      <a:p>
        <a:r>
          <a:rPr lang="en-AE"/>
          <a:t>SI adjusted subject to the review---tables replaced for consistency in the file
</a:t>
        </a:r>
      </a:p>
    </p188:txBody>
  </p188:cm>
</p188:cmLst>
</file>

<file path=ppt/comments/modernComment_205_F6EB3C9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958449-F4BA-4453-B5EC-119B31E8DE30}" authorId="{FE78AC8B-25A4-2FA1-255B-A2BA7B6FF7E8}" created="2023-05-25T19:03:12.95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42611602" sldId="517"/>
      <ac:spMk id="7" creationId="{12AAF6A8-A1FC-08FD-607D-366D8C204D63}"/>
      <ac:txMk cp="257" len="71">
        <ac:context len="331" hash="2486637044"/>
      </ac:txMk>
    </ac:txMkLst>
    <p188:pos x="6632294" y="1692799"/>
    <p188:txBody>
      <a:bodyPr/>
      <a:lstStyle/>
      <a:p>
        <a:r>
          <a:rPr lang="en-AE"/>
          <a:t>2 % effect on out t.b.c by ZR tomorow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" y="4"/>
            <a:ext cx="3078382" cy="469587"/>
          </a:xfrm>
          <a:prstGeom prst="rect">
            <a:avLst/>
          </a:prstGeom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90" y="4"/>
            <a:ext cx="3078382" cy="469587"/>
          </a:xfrm>
          <a:prstGeom prst="rect">
            <a:avLst/>
          </a:prstGeom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52391-E811-40BD-BF31-152F5CC3E0D7}" type="datetime1">
              <a:rPr lang="en-US"/>
              <a:pPr/>
              <a:t>5/25/2023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5" y="8917279"/>
            <a:ext cx="3078382" cy="469587"/>
          </a:xfrm>
          <a:prstGeom prst="rect">
            <a:avLst/>
          </a:prstGeom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90" y="8917279"/>
            <a:ext cx="3078382" cy="469587"/>
          </a:xfrm>
          <a:prstGeom prst="rect">
            <a:avLst/>
          </a:prstGeom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8EE828-0B52-48BD-AC30-C13AE1823DC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95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" y="4"/>
            <a:ext cx="3078382" cy="469587"/>
          </a:xfrm>
          <a:prstGeom prst="rect">
            <a:avLst/>
          </a:prstGeom>
        </p:spPr>
        <p:txBody>
          <a:bodyPr vert="horz" wrap="square" lIns="92822" tIns="46412" rIns="92822" bIns="4641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90" y="4"/>
            <a:ext cx="3078382" cy="469587"/>
          </a:xfrm>
          <a:prstGeom prst="rect">
            <a:avLst/>
          </a:prstGeom>
        </p:spPr>
        <p:txBody>
          <a:bodyPr vert="horz" wrap="square" lIns="92822" tIns="46412" rIns="92822" bIns="4641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1EC5310-AD28-478C-9D1F-55544C92CB9A}" type="datetime1">
              <a:rPr lang="en-US"/>
              <a:pPr/>
              <a:t>5/25/2023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2822" tIns="46412" rIns="92822" bIns="46412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3" y="4460255"/>
            <a:ext cx="5680694" cy="4224651"/>
          </a:xfrm>
          <a:prstGeom prst="rect">
            <a:avLst/>
          </a:prstGeom>
        </p:spPr>
        <p:txBody>
          <a:bodyPr vert="horz" wrap="square" lIns="92822" tIns="46412" rIns="92822" bIns="46412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5" y="8917279"/>
            <a:ext cx="3078382" cy="469587"/>
          </a:xfrm>
          <a:prstGeom prst="rect">
            <a:avLst/>
          </a:prstGeom>
        </p:spPr>
        <p:txBody>
          <a:bodyPr vert="horz" wrap="square" lIns="92822" tIns="46412" rIns="92822" bIns="4641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90" y="8917279"/>
            <a:ext cx="3078382" cy="469587"/>
          </a:xfrm>
          <a:prstGeom prst="rect">
            <a:avLst/>
          </a:prstGeom>
        </p:spPr>
        <p:txBody>
          <a:bodyPr vert="horz" wrap="square" lIns="92822" tIns="46412" rIns="92822" bIns="4641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1D82EB7-C704-4A63-B645-1186AD9BB91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0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22275" y="704850"/>
            <a:ext cx="6257925" cy="35194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76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QMFM model is originated or derived from a canonical-new Keynesian reduced form model (log-linearized equations of a micro-founded model)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263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04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illustration of fiscal impulse in relation to output/gap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93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as % change, chart has d4log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636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55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325">
              <a:defRPr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Both RIR and RER return gradually to their steady states of RIR of 2.5% and RER depreciation rate of 0%. (</a:t>
            </a:r>
            <a:r>
              <a:rPr lang="en-US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or is it 2% </a:t>
            </a:r>
            <a:r>
              <a:rPr lang="en-US" dirty="0" err="1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ie</a:t>
            </a:r>
            <a:r>
              <a:rPr lang="en-US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rstar</a:t>
            </a:r>
            <a:r>
              <a:rPr lang="en-US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0%+country premium 2% CHECK). Should </a:t>
            </a:r>
            <a:r>
              <a:rPr lang="en-US" dirty="0" err="1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rstar_ss</a:t>
            </a:r>
            <a:r>
              <a:rPr lang="en-US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be raised to 0.5%?)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835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9464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5/25/2023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5/25/2023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38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10160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05_F6EB3C9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1B_228A889D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mp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905000" y="914400"/>
            <a:ext cx="8458200" cy="1754326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600" b="1" dirty="0">
                <a:solidFill>
                  <a:srgbClr val="002060"/>
                </a:solidFill>
                <a:latin typeface="+mn-lt"/>
              </a:rPr>
              <a:t>Quarterly Macro-Fiscal Outlook</a:t>
            </a:r>
          </a:p>
          <a:p>
            <a:pPr algn="ctr">
              <a:defRPr/>
            </a:pPr>
            <a:endParaRPr lang="en-GB" sz="3600" b="1" dirty="0">
              <a:solidFill>
                <a:srgbClr val="002060"/>
              </a:solidFill>
              <a:latin typeface="+mn-lt"/>
            </a:endParaRPr>
          </a:p>
          <a:p>
            <a:pPr algn="ctr">
              <a:defRPr/>
            </a:pPr>
            <a:r>
              <a:rPr lang="en-GB" sz="3600" b="1" dirty="0">
                <a:solidFill>
                  <a:srgbClr val="002060"/>
                </a:solidFill>
                <a:latin typeface="+mn-lt"/>
              </a:rPr>
              <a:t>Summary Forecast 2023-26 Report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705100" y="6019800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+mn-lt"/>
              </a:rPr>
              <a:t>March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GB" b="1" dirty="0"/>
              <a:t>Background—objectives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143000"/>
            <a:ext cx="10896600" cy="54102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600" dirty="0"/>
              <a:t>Medium-term (16 Q) forecast for key macro variables (output, inflation, final demands, ...) based on fiscal, monetary, and exchange rate policies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600" dirty="0"/>
              <a:t>Propose policy implications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600" dirty="0"/>
              <a:t>Input/complement to other projections and reports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600" dirty="0"/>
              <a:t>Quarterly Macro Fiscal Model,  forecasting tool so-called “gap” model:</a:t>
            </a:r>
          </a:p>
          <a:p>
            <a:pPr lvl="2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dirty="0"/>
              <a:t>Tracing macro variables in deviation from potential levels or targets</a:t>
            </a:r>
          </a:p>
          <a:p>
            <a:pPr lvl="2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400" dirty="0"/>
              <a:t>Domestic trends and gaps distilled from historic data (quarterly 2006-22) </a:t>
            </a:r>
            <a:endParaRPr lang="en-GB" dirty="0"/>
          </a:p>
          <a:p>
            <a:pPr lvl="2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dirty="0"/>
              <a:t>Trends converge to steady states (outside model), e.g. potential output growth, real interest and exchange rates, sustainable deficit, and target inflation….</a:t>
            </a:r>
          </a:p>
        </p:txBody>
      </p:sp>
    </p:spTree>
    <p:extLst>
      <p:ext uri="{BB962C8B-B14F-4D97-AF65-F5344CB8AC3E}">
        <p14:creationId xmlns:p14="http://schemas.microsoft.com/office/powerpoint/2010/main" val="216617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09600"/>
          </a:xfrm>
        </p:spPr>
        <p:txBody>
          <a:bodyPr/>
          <a:lstStyle/>
          <a:p>
            <a:r>
              <a:rPr lang="en-GB" b="1" dirty="0"/>
              <a:t>Forecast assumptions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7357A2-BC7F-DEA1-E1F9-C481EA57A693}"/>
              </a:ext>
            </a:extLst>
          </p:cNvPr>
          <p:cNvSpPr txBox="1">
            <a:spLocks/>
          </p:cNvSpPr>
          <p:nvPr/>
        </p:nvSpPr>
        <p:spPr>
          <a:xfrm>
            <a:off x="838200" y="1371600"/>
            <a:ext cx="10972800" cy="5045076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GB" sz="2600" dirty="0"/>
              <a:t>The forecasts are conditional on exogenous and judgemental assumptions: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800" dirty="0"/>
              <a:t>after shocks and policy responses, variables return to their trends</a:t>
            </a:r>
            <a:endParaRPr lang="en-GB" sz="2600" dirty="0"/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600" dirty="0"/>
              <a:t>given the external environment (foreign prices, demand, food/oil prices, interest rates, …)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600" dirty="0"/>
              <a:t>near-term forecasts (now/forecast GDP, latest CPI, …) and known or expected domestic policies (e.g.  fiscal and interest rate stance, …)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600" dirty="0"/>
              <a:t>dis/continuation of recently observed domestic shocks (e.g. in agriculture, food prices and core prices)</a:t>
            </a:r>
          </a:p>
          <a:p>
            <a:pPr marL="0" indent="0" algn="just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55769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/>
          <a:lstStyle/>
          <a:p>
            <a:r>
              <a:rPr lang="en-GB" b="1" dirty="0"/>
              <a:t>External environment 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7357A2-BC7F-DEA1-E1F9-C481EA57A693}"/>
              </a:ext>
            </a:extLst>
          </p:cNvPr>
          <p:cNvSpPr txBox="1">
            <a:spLocks/>
          </p:cNvSpPr>
          <p:nvPr/>
        </p:nvSpPr>
        <p:spPr>
          <a:xfrm>
            <a:off x="4800600" y="4150758"/>
            <a:ext cx="3124199" cy="190565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800" dirty="0"/>
              <a:t>World real interest rates are projected to increase from negative in the past decade to close to zero in the near term.</a:t>
            </a: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0D3816F1-012E-3147-640F-AB15DAE3F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754" y="1519537"/>
            <a:ext cx="3095045" cy="2286000"/>
          </a:xfrm>
          <a:prstGeom prst="rect">
            <a:avLst/>
          </a:prstGeom>
          <a:effectLst>
            <a:glow rad="127000">
              <a:schemeClr val="accent5">
                <a:lumMod val="20000"/>
                <a:lumOff val="80000"/>
              </a:schemeClr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5E27BE-9404-C370-027C-CC987668662F}"/>
              </a:ext>
            </a:extLst>
          </p:cNvPr>
          <p:cNvSpPr txBox="1"/>
          <p:nvPr/>
        </p:nvSpPr>
        <p:spPr>
          <a:xfrm>
            <a:off x="914400" y="4038600"/>
            <a:ext cx="3352800" cy="2121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World economy slowing down as interest rates are raised in response to inflation</a:t>
            </a:r>
          </a:p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Rwanda still enjoys recovery in trading partner demand relative to Covid-years, at 3% p.y., well above trend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14C2A-2CC5-2CF7-555D-E64A5656523F}"/>
              </a:ext>
            </a:extLst>
          </p:cNvPr>
          <p:cNvSpPr txBox="1"/>
          <p:nvPr/>
        </p:nvSpPr>
        <p:spPr>
          <a:xfrm>
            <a:off x="8458200" y="4150758"/>
            <a:ext cx="2819400" cy="1844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85750" algn="just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Trading partners’ CPI (in US$) was subdued at 1.5% py in past 5-7 years</a:t>
            </a:r>
          </a:p>
          <a:p>
            <a:pPr marL="274320" indent="-285750" algn="just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Projected to return to more normal level of 3% in coming years</a:t>
            </a:r>
            <a:endParaRPr lang="en-AE" sz="1800" dirty="0">
              <a:latin typeface="+mn-lt"/>
            </a:endParaRPr>
          </a:p>
        </p:txBody>
      </p:sp>
      <p:pic>
        <p:nvPicPr>
          <p:cNvPr id="16" name="Picture 15" descr="Chart, line chart&#10;&#10;Description automatically generated">
            <a:extLst>
              <a:ext uri="{FF2B5EF4-FFF2-40B4-BE49-F238E27FC236}">
                <a16:creationId xmlns:a16="http://schemas.microsoft.com/office/drawing/2014/main" id="{1BAABEE4-1924-CB6D-8E54-7A24F0228F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1516836"/>
            <a:ext cx="3200400" cy="2369364"/>
          </a:xfrm>
          <a:prstGeom prst="rect">
            <a:avLst/>
          </a:prstGeom>
          <a:effectLst>
            <a:glow rad="127000">
              <a:schemeClr val="accent5">
                <a:lumMod val="20000"/>
                <a:lumOff val="80000"/>
              </a:schemeClr>
            </a:glo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37FC3D-CB21-FF02-89C6-9E38EE94F8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9" y="1516836"/>
            <a:ext cx="3095045" cy="2286000"/>
          </a:xfrm>
          <a:prstGeom prst="rect">
            <a:avLst/>
          </a:prstGeom>
          <a:effectLst>
            <a:glow rad="127000">
              <a:schemeClr val="accent5">
                <a:lumMod val="20000"/>
                <a:lumOff val="8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227849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b="1" dirty="0"/>
              <a:t>Domestic environment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16519-51F5-5EFF-CB74-11E7C7EAA74B}"/>
              </a:ext>
            </a:extLst>
          </p:cNvPr>
          <p:cNvSpPr txBox="1"/>
          <p:nvPr/>
        </p:nvSpPr>
        <p:spPr>
          <a:xfrm>
            <a:off x="304800" y="1828800"/>
            <a:ext cx="11684000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GB" sz="2400" dirty="0"/>
              <a:t>Current fiscal, monetary, and exchange rate policies: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Fiscal consolidation with the 2022/23 Budget with phasing out of Covid and Ukraine-crisis-related spending, and reduction in fiscal deficit and fiscal impulse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Maintenance of current level of policy interest rate (interbank rate)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Somewhat faster exchange rate depreciation in 2023 (than 2022), targeted in PCI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Expected return to normal of agricultural harvests and domestic food prices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GB" sz="2400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52405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25B51-9F35-563B-B454-D804ED60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3531"/>
            <a:ext cx="10261600" cy="684669"/>
          </a:xfrm>
        </p:spPr>
        <p:txBody>
          <a:bodyPr/>
          <a:lstStyle/>
          <a:p>
            <a:r>
              <a:rPr lang="en-GB" b="1" dirty="0"/>
              <a:t>Forecast—Output (real GDP) growth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C60EEB-4D2C-ABC6-3CBF-810371A48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B21F50-4750-8FFC-95EB-0C9188E69407}"/>
              </a:ext>
            </a:extLst>
          </p:cNvPr>
          <p:cNvSpPr txBox="1">
            <a:spLocks/>
          </p:cNvSpPr>
          <p:nvPr/>
        </p:nvSpPr>
        <p:spPr>
          <a:xfrm>
            <a:off x="228600" y="1591467"/>
            <a:ext cx="4876800" cy="4935419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>
                <a:solidFill>
                  <a:srgbClr val="00B0F0"/>
                </a:solidFill>
              </a:rPr>
              <a:t>Output growth: </a:t>
            </a:r>
            <a:r>
              <a:rPr lang="en-GB" sz="2000" dirty="0"/>
              <a:t>to rise a bit above trend in 2023-24, completing post-Covid recovery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>
                <a:solidFill>
                  <a:srgbClr val="00B0F0"/>
                </a:solidFill>
              </a:rPr>
              <a:t>Driven by</a:t>
            </a:r>
            <a:r>
              <a:rPr lang="en-GB" sz="2000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consumption recovering from Covid shocks, helped by below-trend RIR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exports recovering from Covid shocks though hampered by still below-trend RER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government spending to soften Covid- and Ukraine-crises impact ends with FY 2022/23 (</a:t>
            </a:r>
            <a:r>
              <a:rPr lang="en-GB" sz="2000" i="1" dirty="0"/>
              <a:t>see </a:t>
            </a:r>
            <a:r>
              <a:rPr lang="en-GB" sz="2000" i="1" dirty="0">
                <a:solidFill>
                  <a:schemeClr val="accent2">
                    <a:lumMod val="50000"/>
                  </a:schemeClr>
                </a:solidFill>
              </a:rPr>
              <a:t>Fiscal Impulse </a:t>
            </a:r>
            <a:r>
              <a:rPr lang="en-GB" sz="2000" i="1" dirty="0"/>
              <a:t>below</a:t>
            </a:r>
            <a:r>
              <a:rPr lang="en-GB" sz="2000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return to trend of 7.5% p.y. from 2025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AE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BC6493-1F9A-865A-E4AC-843EA69F4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1270218"/>
            <a:ext cx="6324600" cy="525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68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058400" cy="762000"/>
          </a:xfrm>
        </p:spPr>
        <p:txBody>
          <a:bodyPr/>
          <a:lstStyle/>
          <a:p>
            <a:r>
              <a:rPr lang="en-GB" b="1" dirty="0"/>
              <a:t>Forecast—Cyclical final demand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D34615-4C2A-84AF-8CE1-31233F2AC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295400"/>
            <a:ext cx="6629400" cy="530611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E53A78-6149-73BC-44A9-99D9F5188F33}"/>
              </a:ext>
            </a:extLst>
          </p:cNvPr>
          <p:cNvSpPr txBox="1">
            <a:spLocks/>
          </p:cNvSpPr>
          <p:nvPr/>
        </p:nvSpPr>
        <p:spPr>
          <a:xfrm>
            <a:off x="533400" y="1295400"/>
            <a:ext cx="4648200" cy="5121276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400" dirty="0"/>
              <a:t>GDP estimated to be below potential </a:t>
            </a:r>
            <a:r>
              <a:rPr lang="en-GB" sz="1600" b="1" dirty="0"/>
              <a:t>(-4% end-2022)</a:t>
            </a:r>
            <a:endParaRPr lang="en-GB" sz="2000" b="1" dirty="0">
              <a:solidFill>
                <a:schemeClr val="accent1"/>
              </a:solidFill>
            </a:endParaRPr>
          </a:p>
          <a:p>
            <a:pPr marL="0" indent="0" algn="just">
              <a:buNone/>
            </a:pPr>
            <a:r>
              <a:rPr lang="en-GB" sz="2000" b="1" dirty="0">
                <a:solidFill>
                  <a:schemeClr val="accent1"/>
                </a:solidFill>
              </a:rPr>
              <a:t>Output gap (</a:t>
            </a:r>
            <a:r>
              <a:rPr lang="en-GB" sz="2000" dirty="0"/>
              <a:t>GDP) to return to its potential level, i.e. GDP if growth had continued at pre-Covid trend rate. </a:t>
            </a:r>
          </a:p>
          <a:p>
            <a:pPr marL="0" indent="0" algn="just">
              <a:buNone/>
            </a:pPr>
            <a:r>
              <a:rPr lang="en-GB" sz="2000" dirty="0">
                <a:solidFill>
                  <a:srgbClr val="00B0F0"/>
                </a:solidFill>
              </a:rPr>
              <a:t>Driven by</a:t>
            </a:r>
            <a:r>
              <a:rPr lang="en-GB" sz="2000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disappearing Covid down-pull from consumption and exports, which are forecast to return to normal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exports recovering from Covid-related shocks and helped by increasing RER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high government demand and a slump in imports in Covid years stop pulling output up 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81778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490200" cy="685800"/>
          </a:xfrm>
        </p:spPr>
        <p:txBody>
          <a:bodyPr/>
          <a:lstStyle/>
          <a:p>
            <a:r>
              <a:rPr lang="en-GB" b="1" dirty="0"/>
              <a:t>Demand components: private consumption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791200" y="1066800"/>
            <a:ext cx="63246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000" b="1" dirty="0">
                <a:solidFill>
                  <a:schemeClr val="accent1"/>
                </a:solidFill>
              </a:rPr>
              <a:t>Consumption gap:  </a:t>
            </a:r>
            <a:r>
              <a:rPr lang="en-GB" sz="2000" b="1" dirty="0"/>
              <a:t> </a:t>
            </a:r>
            <a:endParaRPr lang="en-GB" sz="2000" b="1" dirty="0">
              <a:solidFill>
                <a:schemeClr val="accent1"/>
              </a:solidFill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key driver of 2020-21 negative output gap (~ 75% of GDP)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Covid negative shocks (persistence) forecast to end in 2023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fiscal impulse helped offset somewhat negative Covid consumption shocks but it is ending in 2023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GB" sz="1400" b="1" dirty="0"/>
          </a:p>
          <a:p>
            <a:pPr marL="0" indent="0" algn="just">
              <a:buNone/>
            </a:pPr>
            <a:endParaRPr lang="en-AE" sz="1400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5FF67D-3E27-1BC9-9FF6-68A4F623CC18}"/>
              </a:ext>
            </a:extLst>
          </p:cNvPr>
          <p:cNvSpPr txBox="1">
            <a:spLocks/>
          </p:cNvSpPr>
          <p:nvPr/>
        </p:nvSpPr>
        <p:spPr>
          <a:xfrm>
            <a:off x="1143000" y="4876800"/>
            <a:ext cx="4419600" cy="1580366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q"/>
            </a:pPr>
            <a:endParaRPr lang="en-AE" sz="14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25DA8B3-FF2A-9E36-5F7B-1335F56D7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047998"/>
            <a:ext cx="6096000" cy="3810001"/>
          </a:xfrm>
          <a:prstGeom prst="rect">
            <a:avLst/>
          </a:prstGeom>
        </p:spPr>
      </p:pic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D43942AC-3D1E-4B15-3C74-CDAA0FE276E4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95400"/>
            <a:ext cx="4648200" cy="3581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C4DA25-5C9F-F1F8-8B9C-3CE84D7513B0}"/>
              </a:ext>
            </a:extLst>
          </p:cNvPr>
          <p:cNvSpPr txBox="1"/>
          <p:nvPr/>
        </p:nvSpPr>
        <p:spPr>
          <a:xfrm rot="10800000" flipV="1">
            <a:off x="381000" y="5060332"/>
            <a:ext cx="5334000" cy="149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000" b="1" dirty="0">
                <a:solidFill>
                  <a:srgbClr val="00B0F0"/>
                </a:solidFill>
                <a:effectLst/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Consumption growth</a:t>
            </a:r>
            <a:r>
              <a:rPr lang="en-GB" sz="2000" b="1" dirty="0">
                <a:effectLst/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en-GB" sz="18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GB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ontinued recovery from Covid, with higher than trend growth in 2023-24</a:t>
            </a:r>
            <a:endParaRPr lang="en-US" sz="1800" dirty="0">
              <a:effectLst/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en-GB" sz="18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GB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eturns to its trend growth from 2025</a:t>
            </a:r>
            <a:endParaRPr lang="en-US" sz="1800" dirty="0">
              <a:effectLst/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637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10591800" cy="750514"/>
          </a:xfrm>
        </p:spPr>
        <p:txBody>
          <a:bodyPr/>
          <a:lstStyle/>
          <a:p>
            <a:r>
              <a:rPr lang="en-GB" b="1" dirty="0"/>
              <a:t>Forecast— Government demand and Fiscal impulse</a:t>
            </a:r>
            <a:endParaRPr lang="en-AE" sz="20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F25CC5-C94A-0411-826E-999B8FDB0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3048000"/>
            <a:ext cx="6248400" cy="380999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FBA286-B9C2-0395-5CDE-596191958C6F}"/>
              </a:ext>
            </a:extLst>
          </p:cNvPr>
          <p:cNvSpPr txBox="1">
            <a:spLocks/>
          </p:cNvSpPr>
          <p:nvPr/>
        </p:nvSpPr>
        <p:spPr>
          <a:xfrm>
            <a:off x="76200" y="4919165"/>
            <a:ext cx="5664200" cy="1938833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1800" b="1" dirty="0">
                <a:solidFill>
                  <a:schemeClr val="accent1"/>
                </a:solidFill>
              </a:rPr>
              <a:t>Government demand for G&amp;S </a:t>
            </a:r>
            <a:r>
              <a:rPr lang="en-GB" sz="1800" dirty="0"/>
              <a:t>(</a:t>
            </a:r>
            <a:r>
              <a:rPr lang="en-GB" sz="1800" u="sng" dirty="0"/>
              <a:t>~ </a:t>
            </a:r>
            <a:r>
              <a:rPr lang="en-GB" sz="1800" dirty="0"/>
              <a:t>23% of GDP):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600" dirty="0"/>
              <a:t>Mainly exogenous (discretionary spending)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600" dirty="0"/>
              <a:t>Higher government demand under Covid directly offset the negative output gap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600" dirty="0"/>
              <a:t>offsetting effect ends as crisis-related spending ends in 2023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35578E-5487-73CE-80CE-A266F59392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586" y="1142999"/>
            <a:ext cx="4860214" cy="361228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AAF6A8-A1FC-08FD-607D-366D8C204D63}"/>
              </a:ext>
            </a:extLst>
          </p:cNvPr>
          <p:cNvSpPr txBox="1">
            <a:spLocks/>
          </p:cNvSpPr>
          <p:nvPr/>
        </p:nvSpPr>
        <p:spPr>
          <a:xfrm>
            <a:off x="5486400" y="1142998"/>
            <a:ext cx="6629400" cy="1828803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1600" b="1" dirty="0">
                <a:solidFill>
                  <a:schemeClr val="accent1"/>
                </a:solidFill>
              </a:rPr>
              <a:t>Fiscal impulse: </a:t>
            </a:r>
            <a:endParaRPr lang="en-GB" sz="1600" b="1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600" dirty="0"/>
              <a:t>discretionary deficit plus change in structural deficit (% GDP); mainly reflects discretionary spending (demand for G&amp;S and transfers etc.)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600" dirty="0"/>
              <a:t>affects output directly (via demand for G&amp;S) and indirectly via private consumption and investment.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600" dirty="0"/>
              <a:t>During Covid years: 2¼% of GDP fiscal impulse </a:t>
            </a:r>
            <a:r>
              <a:rPr lang="en-GB" sz="1600" dirty="0">
                <a:sym typeface="Wingdings" panose="05000000000000000000" pitchFamily="2" charset="2"/>
              </a:rPr>
              <a:t> 2% of GDP output effect</a:t>
            </a:r>
            <a:endParaRPr lang="en-GB" sz="1600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1426116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CAD2-6D14-9D72-E8A6-67BC40D34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Forecast— </a:t>
            </a:r>
            <a:r>
              <a:rPr lang="en-GB" dirty="0"/>
              <a:t>Fiscal policy</a:t>
            </a:r>
            <a:endParaRPr lang="en-AE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355A93-F1E9-0330-94B0-8472B78C00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19200"/>
            <a:ext cx="7010400" cy="496388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AD4CEA-2ADC-E661-DA3B-389EDBD6B758}"/>
              </a:ext>
            </a:extLst>
          </p:cNvPr>
          <p:cNvSpPr txBox="1"/>
          <p:nvPr/>
        </p:nvSpPr>
        <p:spPr>
          <a:xfrm>
            <a:off x="8001000" y="1447800"/>
            <a:ext cx="3505200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Discretionally govt demand (G&amp;S) affects output </a:t>
            </a:r>
            <a:r>
              <a:rPr lang="en-GB" sz="1800" i="1" dirty="0"/>
              <a:t>directly</a:t>
            </a:r>
            <a:r>
              <a:rPr lang="en-GB" sz="1800" dirty="0"/>
              <a:t> (after imports)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During COVID, govt demand of 2 % of GDP on average increased output by almost 1.5 % of GDP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“Fiscal impulse % GDP” affected output </a:t>
            </a:r>
            <a:r>
              <a:rPr lang="en-GB" sz="1800" i="1" dirty="0"/>
              <a:t>indirectly </a:t>
            </a:r>
            <a:r>
              <a:rPr lang="en-GB" sz="1800" dirty="0"/>
              <a:t>via private demand by almost ½ % of GDP</a:t>
            </a:r>
            <a:endParaRPr lang="en-GB" sz="1800" i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6969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A88DC-3DF3-0DDD-98BC-0D18EBCD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07818"/>
            <a:ext cx="10261600" cy="609600"/>
          </a:xfrm>
        </p:spPr>
        <p:txBody>
          <a:bodyPr/>
          <a:lstStyle/>
          <a:p>
            <a:r>
              <a:rPr lang="en-GB" b="1" dirty="0"/>
              <a:t>Forecast— </a:t>
            </a:r>
            <a:r>
              <a:rPr lang="en-US" b="1" dirty="0"/>
              <a:t>Inflation outlook </a:t>
            </a:r>
            <a:r>
              <a:rPr lang="en-US" dirty="0"/>
              <a:t>(overview)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F341B1-8569-6382-12CE-9A6DEAC1A2CB}"/>
              </a:ext>
            </a:extLst>
          </p:cNvPr>
          <p:cNvSpPr txBox="1"/>
          <p:nvPr/>
        </p:nvSpPr>
        <p:spPr>
          <a:xfrm>
            <a:off x="5638800" y="1129844"/>
            <a:ext cx="6553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800" dirty="0">
                <a:latin typeface="Gill Sans MT" panose="020B0502020104020203" pitchFamily="34" charset="0"/>
                <a:ea typeface="Calibri" panose="020F0502020204030204" pitchFamily="34" charset="0"/>
              </a:rPr>
              <a:t>q-on-q annualized inflation is forecast to decline gradually in 2023 after peak in Q2 2022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800" dirty="0">
                <a:latin typeface="Gill Sans MT" panose="020B0502020104020203" pitchFamily="34" charset="0"/>
                <a:ea typeface="Calibri" panose="020F0502020204030204" pitchFamily="34" charset="0"/>
              </a:rPr>
              <a:t>predicated on recent shocks abating and inflation expectations being countered by NBR action and fiscal restraint</a:t>
            </a:r>
            <a:endParaRPr lang="en-US" sz="1800" dirty="0">
              <a:latin typeface="Gill Sans MT" panose="020B05020201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021665-516E-8131-121F-B087D7A53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6896" y="2507835"/>
            <a:ext cx="6324605" cy="36394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9201358-B5C8-53BA-0F80-856B6C8536EC}"/>
              </a:ext>
            </a:extLst>
          </p:cNvPr>
          <p:cNvSpPr txBox="1"/>
          <p:nvPr/>
        </p:nvSpPr>
        <p:spPr>
          <a:xfrm>
            <a:off x="2438400" y="4876800"/>
            <a:ext cx="609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230547-2FD4-A2EA-FD07-BDD7EA5A3B52}"/>
              </a:ext>
            </a:extLst>
          </p:cNvPr>
          <p:cNvSpPr txBox="1"/>
          <p:nvPr/>
        </p:nvSpPr>
        <p:spPr>
          <a:xfrm rot="10800000" flipV="1">
            <a:off x="114305" y="4392914"/>
            <a:ext cx="52958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Headline CPI components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800" dirty="0">
                <a:latin typeface="Gill Sans MT" panose="020B0502020104020203" pitchFamily="34" charset="0"/>
                <a:ea typeface="Calibri" panose="020F0502020204030204" pitchFamily="34" charset="0"/>
              </a:rPr>
              <a:t>decline in q-on-q inflation translates into a lesser drop in y-on-y inflation estimated to peak in Q4 2022,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800" dirty="0">
                <a:latin typeface="Gill Sans MT" panose="020B0502020104020203" pitchFamily="34" charset="0"/>
                <a:ea typeface="Calibri" panose="020F0502020204030204" pitchFamily="34" charset="0"/>
              </a:rPr>
              <a:t>Y-on-y inflation dropping to below 5% in early 2024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Gill Sans MT" panose="020B0502020104020203" pitchFamily="34" charset="0"/>
              </a:rPr>
              <a:t>all components drop, drop in food prices contributes most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EADC66-E94E-C464-55BD-BD7E61F8CE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129844"/>
            <a:ext cx="4572000" cy="328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5042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62000"/>
          </a:xfrm>
        </p:spPr>
        <p:txBody>
          <a:bodyPr/>
          <a:lstStyle/>
          <a:p>
            <a:r>
              <a:rPr lang="en-GB" b="1" dirty="0"/>
              <a:t>Forecast— </a:t>
            </a:r>
            <a:r>
              <a:rPr lang="en-US" b="1" dirty="0"/>
              <a:t>Core inflation </a:t>
            </a:r>
            <a:r>
              <a:rPr lang="en-US" dirty="0"/>
              <a:t>(q-on-q annualized)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152399" y="5001316"/>
            <a:ext cx="5486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CPI core  from peak 2022 Q2;  main drivers: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down-pull effect from remaining output gap disappearing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strong effect of expectations and persistence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no direct effect of import prices as constant in RWF terms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6019800" y="1219200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Direct effect foreign import prices and ER on CPI core: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foreign prices continue declining for most of 2023-26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ER depreciation raises RWF prices, but net direct effect is small</a:t>
            </a:r>
          </a:p>
        </p:txBody>
      </p:sp>
      <p:pic>
        <p:nvPicPr>
          <p:cNvPr id="9" name="Picture 8" descr="Chart, histogram&#10;&#10;Description automatically generated">
            <a:extLst>
              <a:ext uri="{FF2B5EF4-FFF2-40B4-BE49-F238E27FC236}">
                <a16:creationId xmlns:a16="http://schemas.microsoft.com/office/drawing/2014/main" id="{17D5D6F4-A53B-CAFE-023A-620FA22EC37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2209799"/>
            <a:ext cx="5867400" cy="4572001"/>
          </a:xfrm>
          <a:prstGeom prst="rect">
            <a:avLst/>
          </a:prstGeom>
        </p:spPr>
      </p:pic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A0C5C350-FFA7-DC49-311B-33C4B45FC9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143000"/>
            <a:ext cx="5257800" cy="385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084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3106"/>
            <a:ext cx="10261600" cy="681294"/>
          </a:xfrm>
        </p:spPr>
        <p:txBody>
          <a:bodyPr/>
          <a:lstStyle/>
          <a:p>
            <a:r>
              <a:rPr lang="en-GB" b="1" dirty="0"/>
              <a:t>Forecast— </a:t>
            </a:r>
            <a:r>
              <a:rPr lang="en-US" b="1" dirty="0"/>
              <a:t>Food inflation </a:t>
            </a:r>
            <a:r>
              <a:rPr lang="en-US" dirty="0"/>
              <a:t>(q-on-q annualized)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86866E-73C8-4B5C-0A2A-CDEB2741F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219200"/>
            <a:ext cx="6096000" cy="4038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0B37E99-CCA3-74F8-DA77-F08626EA3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507398"/>
            <a:ext cx="5867400" cy="40828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5347474"/>
            <a:ext cx="6019800" cy="140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CPI food decreasing from peak in 2022 Q3; main drivers: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agricultural output is forecast to normalize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imported food prices projected to continue declining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small offsetting effect of lessening RER overvaluation (faster depr.)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6477000" y="1295401"/>
            <a:ext cx="5717023" cy="10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Direct effect of foreign prices and ER on food CPI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foreign food prices continue declining for most of 2023-26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ER depreciation raises RWF prices but net direct effect is small</a:t>
            </a:r>
          </a:p>
        </p:txBody>
      </p:sp>
    </p:spTree>
    <p:extLst>
      <p:ext uri="{BB962C8B-B14F-4D97-AF65-F5344CB8AC3E}">
        <p14:creationId xmlns:p14="http://schemas.microsoft.com/office/powerpoint/2010/main" val="4044215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54702"/>
          </a:xfrm>
        </p:spPr>
        <p:txBody>
          <a:bodyPr/>
          <a:lstStyle/>
          <a:p>
            <a:r>
              <a:rPr lang="en-GB" b="1" dirty="0"/>
              <a:t>Forecast— </a:t>
            </a:r>
            <a:r>
              <a:rPr lang="en-US" b="1" dirty="0"/>
              <a:t>Energy inflation </a:t>
            </a:r>
            <a:r>
              <a:rPr lang="en-US" dirty="0"/>
              <a:t>(q-on-q annualized)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152399" y="5462951"/>
            <a:ext cx="5943600" cy="10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CPI energy decreasing from peak in 2022 Q2; main drivers: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imported energy prices projected to continue declining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small offsetting effect of lessening RER overvaluation (faster depr.)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6172200" y="1066800"/>
            <a:ext cx="5943600" cy="10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Direct effect foreign import prices and ER on energy CPI: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foreign energy prices continue declining for most of 2023-26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ER depreciation raises RWF prices, but net direct effect is small</a:t>
            </a:r>
          </a:p>
        </p:txBody>
      </p:sp>
      <p:pic>
        <p:nvPicPr>
          <p:cNvPr id="8" name="Picture 7" descr="Chart, bar chart&#10;&#10;Description automatically generated">
            <a:extLst>
              <a:ext uri="{FF2B5EF4-FFF2-40B4-BE49-F238E27FC236}">
                <a16:creationId xmlns:a16="http://schemas.microsoft.com/office/drawing/2014/main" id="{995E4A05-303E-5DF2-F0CA-A8BB58390722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186388"/>
            <a:ext cx="5816600" cy="4495801"/>
          </a:xfrm>
          <a:prstGeom prst="rect">
            <a:avLst/>
          </a:prstGeom>
        </p:spPr>
      </p:pic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9097E0F0-FE45-95DE-DEEB-5B63FEB44A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" y="1219200"/>
            <a:ext cx="59436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71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418" y="228600"/>
            <a:ext cx="10261600" cy="672015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Policy interest rate </a:t>
            </a:r>
            <a:r>
              <a:rPr lang="en-US" dirty="0"/>
              <a:t>(interbank rate, IB)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4755096"/>
            <a:ext cx="55625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Policy rate (IB) influenced by NBR with its CBR: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IB followed closely the 2% points CBR increases in 2022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IB forecast to increase in 2023 Q1 to combat inflation,</a:t>
            </a:r>
          </a:p>
          <a:p>
            <a:r>
              <a:rPr lang="en-US" sz="1600" dirty="0">
                <a:latin typeface="Gill Sans MT" panose="020B0502020104020203" pitchFamily="34" charset="0"/>
              </a:rPr>
              <a:t>   then to decrease to pull output to potential level (still gap)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from 2024, increase to trend driven by ‘neutral’ rate of </a:t>
            </a:r>
            <a:r>
              <a:rPr lang="en-US" sz="1600" u="sng" dirty="0">
                <a:latin typeface="Gill Sans MT" panose="020B0502020104020203" pitchFamily="34" charset="0"/>
              </a:rPr>
              <a:t>+</a:t>
            </a:r>
            <a:r>
              <a:rPr lang="en-US" sz="1600" dirty="0">
                <a:latin typeface="Gill Sans MT" panose="020B0502020104020203" pitchFamily="34" charset="0"/>
              </a:rPr>
              <a:t>7%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increased policy rate should raise RIR and stem demand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5410200" y="1234550"/>
            <a:ext cx="67056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Policy rate (IB) driven by  rule: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responding to both inflation deviation (from 5% target) and output gap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gradual interest rate changes (lagged effect)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pulled to ‘neutral’ rate of 7% (foreign real rate, country risk, core inflation)</a:t>
            </a:r>
          </a:p>
        </p:txBody>
      </p:sp>
      <p:pic>
        <p:nvPicPr>
          <p:cNvPr id="9" name="Picture 8" descr="Chart, histogram&#10;&#10;Description automatically generated">
            <a:extLst>
              <a:ext uri="{FF2B5EF4-FFF2-40B4-BE49-F238E27FC236}">
                <a16:creationId xmlns:a16="http://schemas.microsoft.com/office/drawing/2014/main" id="{BA775903-1048-EEED-2576-C16B5A66DB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2438400"/>
            <a:ext cx="6629401" cy="43434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32757F-18DE-0363-1CD4-958C135DAB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43000"/>
            <a:ext cx="48768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15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/>
          <a:lstStyle/>
          <a:p>
            <a:r>
              <a:rPr lang="en-GB" b="1" dirty="0"/>
              <a:t>Forecast— </a:t>
            </a:r>
            <a:r>
              <a:rPr lang="en-US" b="1" dirty="0"/>
              <a:t>Real interest rate </a:t>
            </a:r>
            <a:r>
              <a:rPr lang="en-US" dirty="0"/>
              <a:t>(RIR) (policy and lending rates)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152399" y="4755097"/>
            <a:ext cx="53340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RIR policy rate (IB) (~ core-inflation one Q ahead)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forecast to continue rising and turn positive by mid-2023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thus, correcting sharply below-trend levels since late 2021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from 2024, return toward trend and ‘neutral’ rate of 2.5%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real lending rate (including </a:t>
            </a:r>
            <a:r>
              <a:rPr lang="en-US" sz="1600" u="sng" dirty="0">
                <a:latin typeface="Gill Sans MT" panose="020B0502020104020203" pitchFamily="34" charset="0"/>
              </a:rPr>
              <a:t>~ </a:t>
            </a:r>
            <a:r>
              <a:rPr lang="en-US" sz="1600" dirty="0">
                <a:latin typeface="Gill Sans MT" panose="020B0502020104020203" pitchFamily="34" charset="0"/>
              </a:rPr>
              <a:t>8% premium) also back to trend. ending the pull-up effect on private demand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5943600" y="1234550"/>
            <a:ext cx="624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RIR policy rate (IB) components: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after sharp drop in RIR (IB) due to inflation surge in 2022, RIR starts rising from mid-2022 as policy rate increases and inflation declines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BB17DB-6C44-912D-A3EF-4CD07F090B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8" y="1234550"/>
            <a:ext cx="4953002" cy="3520546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54F553-73BA-EB65-4CED-F73B7A66A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67180"/>
            <a:ext cx="5638800" cy="461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52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/>
              <a:t>Forecast— </a:t>
            </a:r>
            <a:r>
              <a:rPr lang="en-US" b="1" dirty="0"/>
              <a:t>Nominal exchange rate </a:t>
            </a:r>
            <a:r>
              <a:rPr lang="en-US" dirty="0"/>
              <a:t>(ER)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15498" y="4642787"/>
            <a:ext cx="50899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ER policy reflected in forecast: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reflects NBR’s flexible ER policy, hybrid rule: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0"/>
              </a:rPr>
              <a:t>ER steered toward target ER so that RER gradually falls in line with its target or trend depreciation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0"/>
              </a:rPr>
              <a:t>some response to domestic-foreign interest differentials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in 2023, ER forecast to move faster to target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trend depreciation rate converges to </a:t>
            </a:r>
            <a:r>
              <a:rPr lang="en-US" sz="1600" u="sng" dirty="0">
                <a:latin typeface="Gill Sans MT" panose="020B0502020104020203" pitchFamily="34" charset="0"/>
              </a:rPr>
              <a:t>3</a:t>
            </a:r>
            <a:r>
              <a:rPr lang="en-US" sz="1600" dirty="0">
                <a:latin typeface="Gill Sans MT" panose="020B0502020104020203" pitchFamily="34" charset="0"/>
              </a:rPr>
              <a:t>% </a:t>
            </a:r>
            <a:r>
              <a:rPr lang="en-US" sz="1600" dirty="0" err="1">
                <a:latin typeface="Gill Sans MT" panose="020B0502020104020203" pitchFamily="34" charset="0"/>
              </a:rPr>
              <a:t>p.y</a:t>
            </a:r>
            <a:r>
              <a:rPr lang="en-US" sz="1600" dirty="0">
                <a:latin typeface="Gill Sans MT" panose="020B0502020104020203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5486400" y="1234550"/>
            <a:ext cx="670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Exchange rate policy “rule” </a:t>
            </a:r>
            <a:endParaRPr lang="en-GB" sz="1600" dirty="0">
              <a:solidFill>
                <a:srgbClr val="FF0000"/>
              </a:solidFill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mainly driven by ER target, expectations, and somewhat by domestic-foreign interest rate differentials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ER target driven by trend RER depr. rate (0%) and inflation differential (2%)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73BFBE-6432-849F-570D-B9F29256B9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43000"/>
            <a:ext cx="4533900" cy="3400425"/>
          </a:xfrm>
          <a:prstGeom prst="rect">
            <a:avLst/>
          </a:prstGeom>
        </p:spPr>
      </p:pic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3B89EAEC-2DDE-A495-35CD-6DC2C822F637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2438401"/>
            <a:ext cx="67056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65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/>
              <a:t>Forecast— </a:t>
            </a:r>
            <a:r>
              <a:rPr lang="en-US" b="1" dirty="0"/>
              <a:t>Real exchange rate </a:t>
            </a:r>
            <a:r>
              <a:rPr lang="en-US" dirty="0"/>
              <a:t>(RER, q-on-q change annualized)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0" y="4765899"/>
            <a:ext cx="5943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RER results from ER, CPI_core and foreign CPI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forecast to switch from real appreciation in 2022 and early 2023 to real depreciation from mid-2023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returning toward trend RER depreciation rate (0%) thereafter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pull-down effect on demand from RER appreciation in most of 2022 should reverse from 2023 onward as RER returns to trend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5867401" y="1108299"/>
            <a:ext cx="6019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RER components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after sharp decline in RER since Q3 2021 as core inflation surged,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RER is forecast to increase from Q2 2023 on for several quarters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before returning to its trend (0%)</a:t>
            </a: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8D9459A9-270F-2E70-D72E-A82B76AC6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353312"/>
            <a:ext cx="3810000" cy="32948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01887F-BD08-454E-F567-E78C48DCAB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286000"/>
            <a:ext cx="643567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044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4EED9-CBB1-EE91-3038-6C7FEDA6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 anchor="b" anchorCtr="0"/>
          <a:lstStyle/>
          <a:p>
            <a:r>
              <a:rPr lang="en-GB" b="1" dirty="0">
                <a:latin typeface="Gill Sans MT" panose="020B0502020104020203" pitchFamily="34" charset="0"/>
              </a:rPr>
              <a:t>Overall Policy stance and Forecast outlook</a:t>
            </a:r>
            <a:endParaRPr lang="en-AE" b="1" dirty="0">
              <a:latin typeface="Gill Sans MT" panose="020B05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DFE1AB-566B-84E0-11B3-DF3D9204B9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61A70-5620-A72D-97D8-4EA8896A0C8F}"/>
              </a:ext>
            </a:extLst>
          </p:cNvPr>
          <p:cNvSpPr txBox="1"/>
          <p:nvPr/>
        </p:nvSpPr>
        <p:spPr>
          <a:xfrm>
            <a:off x="203200" y="1371600"/>
            <a:ext cx="117856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Policy stance underlying the forecast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+mn-lt"/>
                <a:ea typeface="Calibri" panose="020F0502020204030204" pitchFamily="34" charset="0"/>
              </a:rPr>
              <a:t>maintenance of recently increased policy interest rate (tuned for 2023Q1)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+mn-lt"/>
                <a:ea typeface="Calibri" panose="020F0502020204030204" pitchFamily="34" charset="0"/>
              </a:rPr>
              <a:t>somewhat faster rate of exchange rate depreciation in 2023 (tuned for 2023Q1)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Calibri" panose="020F0502020204030204" pitchFamily="34" charset="0"/>
              </a:rPr>
              <a:t>reduction</a:t>
            </a:r>
            <a:r>
              <a:rPr lang="en-US" sz="2000" dirty="0">
                <a:effectLst/>
                <a:latin typeface="+mn-lt"/>
                <a:ea typeface="Calibri" panose="020F0502020204030204" pitchFamily="34" charset="0"/>
              </a:rPr>
              <a:t> fiscal deficit (before grants) to 12.1% of GDP in 2022/23 (tuned), then to 11% of GDP (sustainable)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+mn-lt"/>
                <a:ea typeface="Calibri" panose="020F0502020204030204" pitchFamily="34" charset="0"/>
              </a:rPr>
              <a:t> favorable fiscal impulse—over 2% of GDP on average </a:t>
            </a:r>
            <a:r>
              <a:rPr lang="en-US" sz="2000" dirty="0">
                <a:latin typeface="+mn-lt"/>
                <a:ea typeface="Calibri" panose="020F0502020204030204" pitchFamily="34" charset="0"/>
              </a:rPr>
              <a:t>in 2020-2022</a:t>
            </a:r>
            <a:r>
              <a:rPr lang="en-US" sz="2000" dirty="0">
                <a:effectLst/>
                <a:latin typeface="+mn-lt"/>
                <a:ea typeface="Calibri" panose="020F0502020204030204" pitchFamily="34" charset="0"/>
              </a:rPr>
              <a:t>—is ending</a:t>
            </a:r>
            <a:endParaRPr lang="en-US" sz="2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Forecast of key macro indicators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RIR</a:t>
            </a:r>
            <a:r>
              <a:rPr lang="en-US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forecast to rise (albeit from a low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negative level) and exert less 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upward pressure on private demand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RER</a:t>
            </a:r>
            <a:r>
              <a:rPr lang="en-US" sz="2000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forecasted to rise from low, negative level and exert less downward pressure on private demand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Headline inflation 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(estimated peak in Q4 2022) forecast to decline gradually in 2023 as food and energy prices are forecast to continue falling from their peaks in 2d half of 2022; and to be close to 5% target from 2024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GDP growth 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forecast to pick up to average 8.5% in 2023-24 before returning to its trend of 7.5% annually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Output back to potential 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as low (</a:t>
            </a:r>
            <a:r>
              <a:rPr lang="en-GB" sz="2000" dirty="0">
                <a:effectLst/>
                <a:latin typeface="+mn-lt"/>
                <a:ea typeface="Calibri" panose="020F0502020204030204" pitchFamily="34" charset="0"/>
              </a:rPr>
              <a:t>albeit rising) RIR, rising (of albeit still low) RER, and modest (albeit declining) fiscal impulse keep demand up</a:t>
            </a:r>
            <a:endParaRPr lang="en-US" sz="2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4017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33047</TotalTime>
  <Words>1872</Words>
  <Application>Microsoft Office PowerPoint</Application>
  <PresentationFormat>Widescreen</PresentationFormat>
  <Paragraphs>179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Bookman Old Style</vt:lpstr>
      <vt:lpstr>Calibri</vt:lpstr>
      <vt:lpstr>Gill Sans MT</vt:lpstr>
      <vt:lpstr>Symbol</vt:lpstr>
      <vt:lpstr>Wingdings</vt:lpstr>
      <vt:lpstr>Wingdings 3</vt:lpstr>
      <vt:lpstr>2_Origin</vt:lpstr>
      <vt:lpstr>PowerPoint Presentation</vt:lpstr>
      <vt:lpstr>Background—objectives</vt:lpstr>
      <vt:lpstr>Forecast assumptions</vt:lpstr>
      <vt:lpstr>External environment </vt:lpstr>
      <vt:lpstr>Domestic environment</vt:lpstr>
      <vt:lpstr>Forecast—Output (real GDP) growth</vt:lpstr>
      <vt:lpstr>Forecast—Cyclical final demand</vt:lpstr>
      <vt:lpstr>Demand components: private consumption</vt:lpstr>
      <vt:lpstr>Forecast— Government demand and Fiscal impulse</vt:lpstr>
      <vt:lpstr>Forecast— Fiscal policy</vt:lpstr>
      <vt:lpstr>Forecast— Inflation outlook (overview)</vt:lpstr>
      <vt:lpstr>Forecast— Core inflation (q-on-q annualized)</vt:lpstr>
      <vt:lpstr>Forecast— Food inflation (q-on-q annualized)</vt:lpstr>
      <vt:lpstr>Forecast— Energy inflation (q-on-q annualized)</vt:lpstr>
      <vt:lpstr>Forecast—Policy interest rate (interbank rate, IB)</vt:lpstr>
      <vt:lpstr>Forecast— Real interest rate (RIR) (policy and lending rates)</vt:lpstr>
      <vt:lpstr>Forecast— Nominal exchange rate (ER)</vt:lpstr>
      <vt:lpstr>Forecast— Real exchange rate (RER, q-on-q change annualized)</vt:lpstr>
      <vt:lpstr>Overall Policy stance and Forecast outlook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Presentation</dc:title>
  <dc:creator>leorugwa</dc:creator>
  <cp:lastModifiedBy>Manirumva, Evariste</cp:lastModifiedBy>
  <cp:revision>1157</cp:revision>
  <cp:lastPrinted>2023-04-03T19:38:09Z</cp:lastPrinted>
  <dcterms:created xsi:type="dcterms:W3CDTF">2011-04-18T20:01:25Z</dcterms:created>
  <dcterms:modified xsi:type="dcterms:W3CDTF">2023-05-26T11:40:07Z</dcterms:modified>
</cp:coreProperties>
</file>