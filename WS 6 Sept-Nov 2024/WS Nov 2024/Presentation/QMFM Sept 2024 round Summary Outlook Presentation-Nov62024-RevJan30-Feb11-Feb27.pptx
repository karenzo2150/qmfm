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bookmarkIdSeed="3">
  <p:sldMasterIdLst>
    <p:sldMasterId id="2147483716" r:id="rId1"/>
    <p:sldMasterId id="2147483910" r:id="rId2"/>
    <p:sldMasterId id="2147483922" r:id="rId3"/>
  </p:sldMasterIdLst>
  <p:notesMasterIdLst>
    <p:notesMasterId r:id="rId35"/>
  </p:notesMasterIdLst>
  <p:handoutMasterIdLst>
    <p:handoutMasterId r:id="rId36"/>
  </p:handoutMasterIdLst>
  <p:sldIdLst>
    <p:sldId id="566" r:id="rId4"/>
    <p:sldId id="547" r:id="rId5"/>
    <p:sldId id="593" r:id="rId6"/>
    <p:sldId id="594" r:id="rId7"/>
    <p:sldId id="584" r:id="rId8"/>
    <p:sldId id="595" r:id="rId9"/>
    <p:sldId id="567" r:id="rId10"/>
    <p:sldId id="587" r:id="rId11"/>
    <p:sldId id="511" r:id="rId12"/>
    <p:sldId id="583" r:id="rId13"/>
    <p:sldId id="588" r:id="rId14"/>
    <p:sldId id="260" r:id="rId15"/>
    <p:sldId id="600" r:id="rId16"/>
    <p:sldId id="273" r:id="rId17"/>
    <p:sldId id="591" r:id="rId18"/>
    <p:sldId id="563" r:id="rId19"/>
    <p:sldId id="576" r:id="rId20"/>
    <p:sldId id="592" r:id="rId21"/>
    <p:sldId id="589" r:id="rId22"/>
    <p:sldId id="573" r:id="rId23"/>
    <p:sldId id="598" r:id="rId24"/>
    <p:sldId id="586" r:id="rId25"/>
    <p:sldId id="565" r:id="rId26"/>
    <p:sldId id="585" r:id="rId27"/>
    <p:sldId id="581" r:id="rId28"/>
    <p:sldId id="597" r:id="rId29"/>
    <p:sldId id="599" r:id="rId30"/>
    <p:sldId id="545" r:id="rId31"/>
    <p:sldId id="569" r:id="rId32"/>
    <p:sldId id="535" r:id="rId33"/>
    <p:sldId id="531" r:id="rId34"/>
  </p:sldIdLst>
  <p:sldSz cx="12192000" cy="6858000"/>
  <p:notesSz cx="7102475" cy="93884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EFA106F-A1D2-4A8C-B134-8F2A12C21D33}">
          <p14:sldIdLst>
            <p14:sldId id="566"/>
            <p14:sldId id="547"/>
            <p14:sldId id="593"/>
            <p14:sldId id="594"/>
            <p14:sldId id="584"/>
            <p14:sldId id="595"/>
            <p14:sldId id="567"/>
            <p14:sldId id="587"/>
            <p14:sldId id="511"/>
            <p14:sldId id="583"/>
            <p14:sldId id="588"/>
            <p14:sldId id="260"/>
            <p14:sldId id="600"/>
            <p14:sldId id="273"/>
            <p14:sldId id="591"/>
            <p14:sldId id="563"/>
            <p14:sldId id="576"/>
            <p14:sldId id="592"/>
            <p14:sldId id="589"/>
            <p14:sldId id="573"/>
            <p14:sldId id="598"/>
            <p14:sldId id="586"/>
            <p14:sldId id="565"/>
            <p14:sldId id="585"/>
            <p14:sldId id="581"/>
            <p14:sldId id="597"/>
            <p14:sldId id="599"/>
            <p14:sldId id="545"/>
            <p14:sldId id="569"/>
            <p14:sldId id="535"/>
            <p14:sldId id="5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6D2716-681C-0ED8-9BD4-37117C3B4FB8}" name="arend Kouwenaar" initials="aK" userId="adbbcea973320f35" providerId="Windows Live"/>
  <p188:author id="{FE78AC8B-25A4-2FA1-255B-A2BA7B6FF7E8}" name="Manirumva, Evariste" initials="ME" userId="S::emanirumva@icipe.org::fbb618da-2b8a-4a66-b30b-f0e53196d74f" providerId="AD"/>
  <p188:author id="{D5143AD7-E749-5E1E-371D-A585C0C727CD}" name="User" initials="U" userId="User"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variste MANIRUMVA" initials="EM" lastIdx="4" clrIdx="0">
    <p:extLst>
      <p:ext uri="{19B8F6BF-5375-455C-9EA6-DF929625EA0E}">
        <p15:presenceInfo xmlns:p15="http://schemas.microsoft.com/office/powerpoint/2012/main" userId="S-1-5-21-367653040-3284563744-1480659140-551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C0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5788" autoAdjust="0"/>
  </p:normalViewPr>
  <p:slideViewPr>
    <p:cSldViewPr>
      <p:cViewPr>
        <p:scale>
          <a:sx n="102" d="100"/>
          <a:sy n="102" d="100"/>
        </p:scale>
        <p:origin x="29" y="29"/>
      </p:cViewPr>
      <p:guideLst>
        <p:guide orient="horz" pos="2160"/>
        <p:guide pos="3840"/>
      </p:guideLst>
    </p:cSldViewPr>
  </p:slideViewPr>
  <p:outlineViewPr>
    <p:cViewPr>
      <p:scale>
        <a:sx n="33" d="100"/>
        <a:sy n="33" d="100"/>
      </p:scale>
      <p:origin x="0" y="558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2196" y="-102"/>
      </p:cViewPr>
      <p:guideLst>
        <p:guide orient="horz" pos="2957"/>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microsoft.com/office/2018/10/relationships/authors" Targe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1433" tIns="45717" rIns="91433" bIns="45717" numCol="1" anchor="t" anchorCtr="0" compatLnSpc="1">
            <a:prstTxWarp prst="textNoShape">
              <a:avLst/>
            </a:prstTxWarp>
          </a:bodyPr>
          <a:lstStyle>
            <a:lvl1pPr>
              <a:defRPr sz="1200"/>
            </a:lvl1pPr>
          </a:lstStyle>
          <a:p>
            <a:endParaRPr lang="en-US" dirty="0"/>
          </a:p>
        </p:txBody>
      </p:sp>
      <p:sp>
        <p:nvSpPr>
          <p:cNvPr id="3" name="Date Placeholder 2"/>
          <p:cNvSpPr>
            <a:spLocks noGrp="1"/>
          </p:cNvSpPr>
          <p:nvPr>
            <p:ph type="dt" sz="quarter" idx="1"/>
          </p:nvPr>
        </p:nvSpPr>
        <p:spPr>
          <a:xfrm>
            <a:off x="4022491" y="5"/>
            <a:ext cx="3078382" cy="469587"/>
          </a:xfrm>
          <a:prstGeom prst="rect">
            <a:avLst/>
          </a:prstGeom>
        </p:spPr>
        <p:txBody>
          <a:bodyPr vert="horz" wrap="square" lIns="91433" tIns="45717" rIns="91433" bIns="45717" numCol="1" anchor="t" anchorCtr="0" compatLnSpc="1">
            <a:prstTxWarp prst="textNoShape">
              <a:avLst/>
            </a:prstTxWarp>
          </a:bodyPr>
          <a:lstStyle>
            <a:lvl1pPr algn="r">
              <a:defRPr sz="1200"/>
            </a:lvl1pPr>
          </a:lstStyle>
          <a:p>
            <a:fld id="{EC952391-E811-40BD-BF31-152F5CC3E0D7}" type="datetime1">
              <a:rPr lang="en-US"/>
              <a:pPr/>
              <a:t>2/27/2025</a:t>
            </a:fld>
            <a:endParaRPr lang="en-US" dirty="0"/>
          </a:p>
        </p:txBody>
      </p:sp>
      <p:sp>
        <p:nvSpPr>
          <p:cNvPr id="4" name="Footer Placeholder 3"/>
          <p:cNvSpPr>
            <a:spLocks noGrp="1"/>
          </p:cNvSpPr>
          <p:nvPr>
            <p:ph type="ftr" sz="quarter" idx="2"/>
          </p:nvPr>
        </p:nvSpPr>
        <p:spPr>
          <a:xfrm>
            <a:off x="7" y="8917280"/>
            <a:ext cx="3078382" cy="469587"/>
          </a:xfrm>
          <a:prstGeom prst="rect">
            <a:avLst/>
          </a:prstGeom>
        </p:spPr>
        <p:txBody>
          <a:bodyPr vert="horz" wrap="square" lIns="91433" tIns="45717" rIns="91433" bIns="45717" numCol="1" anchor="b" anchorCtr="0" compatLnSpc="1">
            <a:prstTxWarp prst="textNoShape">
              <a:avLst/>
            </a:prstTxWarp>
          </a:bodyPr>
          <a:lstStyle>
            <a:lvl1pPr>
              <a:defRPr sz="1200"/>
            </a:lvl1pPr>
          </a:lstStyle>
          <a:p>
            <a:endParaRPr lang="en-US" dirty="0"/>
          </a:p>
        </p:txBody>
      </p:sp>
      <p:sp>
        <p:nvSpPr>
          <p:cNvPr id="5" name="Slide Number Placeholder 4"/>
          <p:cNvSpPr>
            <a:spLocks noGrp="1"/>
          </p:cNvSpPr>
          <p:nvPr>
            <p:ph type="sldNum" sz="quarter" idx="3"/>
          </p:nvPr>
        </p:nvSpPr>
        <p:spPr>
          <a:xfrm>
            <a:off x="4022491" y="8917280"/>
            <a:ext cx="3078382" cy="469587"/>
          </a:xfrm>
          <a:prstGeom prst="rect">
            <a:avLst/>
          </a:prstGeom>
        </p:spPr>
        <p:txBody>
          <a:bodyPr vert="horz" wrap="square" lIns="91433" tIns="45717" rIns="91433" bIns="45717" numCol="1" anchor="b" anchorCtr="0" compatLnSpc="1">
            <a:prstTxWarp prst="textNoShape">
              <a:avLst/>
            </a:prstTxWarp>
          </a:bodyPr>
          <a:lstStyle>
            <a:lvl1pPr algn="r">
              <a:defRPr sz="1200"/>
            </a:lvl1pPr>
          </a:lstStyle>
          <a:p>
            <a:fld id="{5C8EE828-0B52-48BD-AC30-C13AE1823DC9}" type="slidenum">
              <a:rPr lang="en-US"/>
              <a:pPr/>
              <a:t>‹#›</a:t>
            </a:fld>
            <a:endParaRPr lang="en-US" dirty="0"/>
          </a:p>
        </p:txBody>
      </p:sp>
    </p:spTree>
    <p:extLst>
      <p:ext uri="{BB962C8B-B14F-4D97-AF65-F5344CB8AC3E}">
        <p14:creationId xmlns:p14="http://schemas.microsoft.com/office/powerpoint/2010/main" val="3952595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2823" tIns="46413" rIns="92823" bIns="46413" numCol="1" anchor="t" anchorCtr="0" compatLnSpc="1">
            <a:prstTxWarp prst="textNoShape">
              <a:avLst/>
            </a:prstTxWarp>
          </a:bodyPr>
          <a:lstStyle>
            <a:lvl1pPr>
              <a:defRPr sz="1200">
                <a:latin typeface="Calibri" charset="0"/>
              </a:defRPr>
            </a:lvl1pPr>
          </a:lstStyle>
          <a:p>
            <a:endParaRPr lang="en-US" dirty="0"/>
          </a:p>
        </p:txBody>
      </p:sp>
      <p:sp>
        <p:nvSpPr>
          <p:cNvPr id="3" name="Date Placeholder 2"/>
          <p:cNvSpPr>
            <a:spLocks noGrp="1"/>
          </p:cNvSpPr>
          <p:nvPr>
            <p:ph type="dt" idx="1"/>
          </p:nvPr>
        </p:nvSpPr>
        <p:spPr>
          <a:xfrm>
            <a:off x="4022491" y="5"/>
            <a:ext cx="3078382" cy="469587"/>
          </a:xfrm>
          <a:prstGeom prst="rect">
            <a:avLst/>
          </a:prstGeom>
        </p:spPr>
        <p:txBody>
          <a:bodyPr vert="horz" wrap="square" lIns="92823" tIns="46413" rIns="92823" bIns="46413" numCol="1" anchor="t" anchorCtr="0" compatLnSpc="1">
            <a:prstTxWarp prst="textNoShape">
              <a:avLst/>
            </a:prstTxWarp>
          </a:bodyPr>
          <a:lstStyle>
            <a:lvl1pPr algn="r">
              <a:defRPr sz="1200">
                <a:latin typeface="Calibri" charset="0"/>
              </a:defRPr>
            </a:lvl1pPr>
          </a:lstStyle>
          <a:p>
            <a:fld id="{91EC5310-AD28-478C-9D1F-55544C92CB9A}" type="datetime1">
              <a:rPr lang="en-US"/>
              <a:pPr/>
              <a:t>2/27/2025</a:t>
            </a:fld>
            <a:endParaRPr lang="en-US" dirty="0"/>
          </a:p>
        </p:txBody>
      </p:sp>
      <p:sp>
        <p:nvSpPr>
          <p:cNvPr id="4" name="Slide Image Placeholder 3"/>
          <p:cNvSpPr>
            <a:spLocks noGrp="1" noRot="1" noChangeAspect="1"/>
          </p:cNvSpPr>
          <p:nvPr>
            <p:ph type="sldImg" idx="2"/>
          </p:nvPr>
        </p:nvSpPr>
        <p:spPr>
          <a:xfrm>
            <a:off x="420688" y="704850"/>
            <a:ext cx="6261100" cy="3521075"/>
          </a:xfrm>
          <a:prstGeom prst="rect">
            <a:avLst/>
          </a:prstGeom>
          <a:noFill/>
          <a:ln w="12700">
            <a:solidFill>
              <a:prstClr val="black"/>
            </a:solidFill>
          </a:ln>
        </p:spPr>
        <p:txBody>
          <a:bodyPr vert="horz" wrap="square" lIns="92823" tIns="46413" rIns="92823" bIns="46413" numCol="1" anchor="ctr" anchorCtr="0" compatLnSpc="1">
            <a:prstTxWarp prst="textNoShape">
              <a:avLst/>
            </a:prstTxWarp>
          </a:bodyPr>
          <a:lstStyle/>
          <a:p>
            <a:pPr lvl="0"/>
            <a:endParaRPr lang="en-US" dirty="0"/>
          </a:p>
        </p:txBody>
      </p:sp>
      <p:sp>
        <p:nvSpPr>
          <p:cNvPr id="5" name="Notes Placeholder 4"/>
          <p:cNvSpPr>
            <a:spLocks noGrp="1"/>
          </p:cNvSpPr>
          <p:nvPr>
            <p:ph type="body" sz="quarter" idx="3"/>
          </p:nvPr>
        </p:nvSpPr>
        <p:spPr>
          <a:xfrm>
            <a:off x="710893" y="4460256"/>
            <a:ext cx="5680694" cy="4224651"/>
          </a:xfrm>
          <a:prstGeom prst="rect">
            <a:avLst/>
          </a:prstGeom>
        </p:spPr>
        <p:txBody>
          <a:bodyPr vert="horz" wrap="square" lIns="92823" tIns="46413" rIns="92823" bIns="46413"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917280"/>
            <a:ext cx="3078382" cy="469587"/>
          </a:xfrm>
          <a:prstGeom prst="rect">
            <a:avLst/>
          </a:prstGeom>
        </p:spPr>
        <p:txBody>
          <a:bodyPr vert="horz" wrap="square" lIns="92823" tIns="46413" rIns="92823" bIns="46413" numCol="1" anchor="b" anchorCtr="0" compatLnSpc="1">
            <a:prstTxWarp prst="textNoShape">
              <a:avLst/>
            </a:prstTxWarp>
          </a:bodyPr>
          <a:lstStyle>
            <a:lvl1pPr>
              <a:defRPr sz="1200">
                <a:latin typeface="Calibri" charset="0"/>
              </a:defRPr>
            </a:lvl1pPr>
          </a:lstStyle>
          <a:p>
            <a:endParaRPr lang="en-US" dirty="0"/>
          </a:p>
        </p:txBody>
      </p:sp>
      <p:sp>
        <p:nvSpPr>
          <p:cNvPr id="7" name="Slide Number Placeholder 6"/>
          <p:cNvSpPr>
            <a:spLocks noGrp="1"/>
          </p:cNvSpPr>
          <p:nvPr>
            <p:ph type="sldNum" sz="quarter" idx="5"/>
          </p:nvPr>
        </p:nvSpPr>
        <p:spPr>
          <a:xfrm>
            <a:off x="4022491" y="8917280"/>
            <a:ext cx="3078382" cy="469587"/>
          </a:xfrm>
          <a:prstGeom prst="rect">
            <a:avLst/>
          </a:prstGeom>
        </p:spPr>
        <p:txBody>
          <a:bodyPr vert="horz" wrap="square" lIns="92823" tIns="46413" rIns="92823" bIns="46413" numCol="1" anchor="b" anchorCtr="0" compatLnSpc="1">
            <a:prstTxWarp prst="textNoShape">
              <a:avLst/>
            </a:prstTxWarp>
          </a:bodyPr>
          <a:lstStyle>
            <a:lvl1pPr algn="r">
              <a:defRPr sz="1200">
                <a:latin typeface="Calibri" charset="0"/>
              </a:defRPr>
            </a:lvl1pPr>
          </a:lstStyle>
          <a:p>
            <a:fld id="{21D82EB7-C704-4A63-B645-1186AD9BB91E}" type="slidenum">
              <a:rPr lang="en-US"/>
              <a:pPr/>
              <a:t>‹#›</a:t>
            </a:fld>
            <a:endParaRPr lang="en-US" dirty="0"/>
          </a:p>
        </p:txBody>
      </p:sp>
    </p:spTree>
    <p:extLst>
      <p:ext uri="{BB962C8B-B14F-4D97-AF65-F5344CB8AC3E}">
        <p14:creationId xmlns:p14="http://schemas.microsoft.com/office/powerpoint/2010/main" val="27825015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0</a:t>
            </a:fld>
            <a:endParaRPr lang="en-GB" dirty="0"/>
          </a:p>
        </p:txBody>
      </p:sp>
      <p:sp>
        <p:nvSpPr>
          <p:cNvPr id="19459" name="Rectangle 2"/>
          <p:cNvSpPr>
            <a:spLocks noGrp="1" noRot="1" noChangeAspect="1" noChangeArrowheads="1" noTextEdit="1"/>
          </p:cNvSpPr>
          <p:nvPr>
            <p:ph type="sldImg"/>
          </p:nvPr>
        </p:nvSpPr>
        <p:spPr bwMode="auto">
          <a:xfrm>
            <a:off x="420688" y="704850"/>
            <a:ext cx="6261100" cy="3521075"/>
          </a:xfrm>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252676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a:t>
            </a:fld>
            <a:endParaRPr lang="en-US" dirty="0"/>
          </a:p>
        </p:txBody>
      </p:sp>
    </p:spTree>
    <p:extLst>
      <p:ext uri="{BB962C8B-B14F-4D97-AF65-F5344CB8AC3E}">
        <p14:creationId xmlns:p14="http://schemas.microsoft.com/office/powerpoint/2010/main" val="2648278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783BB-1414-C279-F950-988665617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2C1AD-D963-60D9-FC97-938A36710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63AC0-3AE0-42E1-7D17-04592A3B66B2}"/>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576F94D-A96F-1875-E58B-64A03AEC0E66}"/>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713594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501077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5FFA-F2B7-3365-95C3-12B676326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29277-5966-A8A8-5D70-5638B53F1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544AE-56FD-6F3F-CD78-201681CE5C76}"/>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07EF9E3-4C15-B044-4A94-0F8887FFDCFB}"/>
              </a:ext>
            </a:extLst>
          </p:cNvPr>
          <p:cNvSpPr>
            <a:spLocks noGrp="1"/>
          </p:cNvSpPr>
          <p:nvPr>
            <p:ph type="sldNum" sz="quarter" idx="5"/>
          </p:nvPr>
        </p:nvSpPr>
        <p:spPr/>
        <p:txBody>
          <a:bodyPr/>
          <a:lstStyle/>
          <a:p>
            <a:fld id="{21D82EB7-C704-4A63-B645-1186AD9BB91E}" type="slidenum">
              <a:rPr lang="en-US" smtClean="0"/>
              <a:pPr/>
              <a:t>4</a:t>
            </a:fld>
            <a:endParaRPr lang="en-US" dirty="0"/>
          </a:p>
        </p:txBody>
      </p:sp>
    </p:spTree>
    <p:extLst>
      <p:ext uri="{BB962C8B-B14F-4D97-AF65-F5344CB8AC3E}">
        <p14:creationId xmlns:p14="http://schemas.microsoft.com/office/powerpoint/2010/main" val="223509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5FFA-F2B7-3365-95C3-12B676326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29277-5966-A8A8-5D70-5638B53F1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544AE-56FD-6F3F-CD78-201681CE5C76}"/>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A07EF9E3-4C15-B044-4A94-0F8887FFDCF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2235095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E6F34-62E9-BFDF-5319-04580F714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83404-F4F8-F304-93BC-30882AE53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4553C-4909-3BE1-B278-5310641DA3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C19405-B1FF-32C9-D218-6FB5EA68CC47}"/>
              </a:ext>
            </a:extLst>
          </p:cNvPr>
          <p:cNvSpPr>
            <a:spLocks noGrp="1"/>
          </p:cNvSpPr>
          <p:nvPr>
            <p:ph type="sldNum" sz="quarter" idx="5"/>
          </p:nvPr>
        </p:nvSpPr>
        <p:spPr/>
        <p:txBody>
          <a:bodyPr/>
          <a:lstStyle/>
          <a:p>
            <a:fld id="{21D82EB7-C704-4A63-B645-1186AD9BB91E}" type="slidenum">
              <a:rPr lang="en-US" smtClean="0"/>
              <a:pPr/>
              <a:t>14</a:t>
            </a:fld>
            <a:endParaRPr lang="en-US" dirty="0"/>
          </a:p>
        </p:txBody>
      </p:sp>
    </p:spTree>
    <p:extLst>
      <p:ext uri="{BB962C8B-B14F-4D97-AF65-F5344CB8AC3E}">
        <p14:creationId xmlns:p14="http://schemas.microsoft.com/office/powerpoint/2010/main" val="945059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15</a:t>
            </a:fld>
            <a:endParaRPr lang="en-US" dirty="0"/>
          </a:p>
        </p:txBody>
      </p:sp>
    </p:spTree>
    <p:extLst>
      <p:ext uri="{BB962C8B-B14F-4D97-AF65-F5344CB8AC3E}">
        <p14:creationId xmlns:p14="http://schemas.microsoft.com/office/powerpoint/2010/main" val="3347808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16</a:t>
            </a:fld>
            <a:endParaRPr lang="en-US" dirty="0"/>
          </a:p>
        </p:txBody>
      </p:sp>
    </p:spTree>
    <p:extLst>
      <p:ext uri="{BB962C8B-B14F-4D97-AF65-F5344CB8AC3E}">
        <p14:creationId xmlns:p14="http://schemas.microsoft.com/office/powerpoint/2010/main" val="2053513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6CB14-89C7-9CB8-C814-D47ADE2D9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DC31A-3F96-A69F-83B8-8EEA86913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40A86-4F13-05C0-D66A-E26104579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D61931-DE70-E8A5-794D-003FAC9A29B5}"/>
              </a:ext>
            </a:extLst>
          </p:cNvPr>
          <p:cNvSpPr>
            <a:spLocks noGrp="1"/>
          </p:cNvSpPr>
          <p:nvPr>
            <p:ph type="sldNum" sz="quarter" idx="5"/>
          </p:nvPr>
        </p:nvSpPr>
        <p:spPr/>
        <p:txBody>
          <a:bodyPr/>
          <a:lstStyle/>
          <a:p>
            <a:fld id="{21D82EB7-C704-4A63-B645-1186AD9BB91E}" type="slidenum">
              <a:rPr lang="en-US" smtClean="0"/>
              <a:pPr/>
              <a:t>17</a:t>
            </a:fld>
            <a:endParaRPr lang="en-US" dirty="0"/>
          </a:p>
        </p:txBody>
      </p:sp>
    </p:spTree>
    <p:extLst>
      <p:ext uri="{BB962C8B-B14F-4D97-AF65-F5344CB8AC3E}">
        <p14:creationId xmlns:p14="http://schemas.microsoft.com/office/powerpoint/2010/main" val="2995084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Output gap and Fiscal Impulse in last Chart</a:t>
            </a:r>
          </a:p>
        </p:txBody>
      </p:sp>
      <p:sp>
        <p:nvSpPr>
          <p:cNvPr id="4" name="Slide Number Placeholder 3"/>
          <p:cNvSpPr>
            <a:spLocks noGrp="1"/>
          </p:cNvSpPr>
          <p:nvPr>
            <p:ph type="sldNum" sz="quarter" idx="5"/>
          </p:nvPr>
        </p:nvSpPr>
        <p:spPr/>
        <p:txBody>
          <a:bodyPr/>
          <a:lstStyle/>
          <a:p>
            <a:fld id="{21D82EB7-C704-4A63-B645-1186AD9BB91E}" type="slidenum">
              <a:rPr lang="en-US" smtClean="0"/>
              <a:pPr/>
              <a:t>19</a:t>
            </a:fld>
            <a:endParaRPr lang="en-US" dirty="0"/>
          </a:p>
        </p:txBody>
      </p:sp>
    </p:spTree>
    <p:extLst>
      <p:ext uri="{BB962C8B-B14F-4D97-AF65-F5344CB8AC3E}">
        <p14:creationId xmlns:p14="http://schemas.microsoft.com/office/powerpoint/2010/main" val="961504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D348-D783-9781-2D90-3C28E68E1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14999-5FCD-E785-316D-375917301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740BB-CFFB-590F-8AC5-3F3757387F4B}"/>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0EBCD557-4BB0-94B5-1A10-FDDB8459690F}"/>
              </a:ext>
            </a:extLst>
          </p:cNvPr>
          <p:cNvSpPr>
            <a:spLocks noGrp="1"/>
          </p:cNvSpPr>
          <p:nvPr>
            <p:ph type="sldNum" sz="quarter" idx="5"/>
          </p:nvPr>
        </p:nvSpPr>
        <p:spPr/>
        <p:txBody>
          <a:bodyPr/>
          <a:lstStyle/>
          <a:p>
            <a:fld id="{21D82EB7-C704-4A63-B645-1186AD9BB91E}" type="slidenum">
              <a:rPr lang="en-US" smtClean="0"/>
              <a:pPr/>
              <a:t>20</a:t>
            </a:fld>
            <a:endParaRPr lang="en-US" dirty="0"/>
          </a:p>
        </p:txBody>
      </p:sp>
    </p:spTree>
    <p:extLst>
      <p:ext uri="{BB962C8B-B14F-4D97-AF65-F5344CB8AC3E}">
        <p14:creationId xmlns:p14="http://schemas.microsoft.com/office/powerpoint/2010/main" val="3569083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7E109-D787-D4AD-0E8E-BE98CA1D2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8DB73-BD56-4FFD-447F-9E08B33D5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A956D-3852-3CD3-403D-6C8EC57B62A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F2BBAA10-F97B-3D25-F64A-5B360FC834F6}"/>
              </a:ext>
            </a:extLst>
          </p:cNvPr>
          <p:cNvSpPr>
            <a:spLocks noGrp="1"/>
          </p:cNvSpPr>
          <p:nvPr>
            <p:ph type="sldNum" sz="quarter" idx="5"/>
          </p:nvPr>
        </p:nvSpPr>
        <p:spPr/>
        <p:txBody>
          <a:bodyPr/>
          <a:lstStyle/>
          <a:p>
            <a:fld id="{21D82EB7-C704-4A63-B645-1186AD9BB91E}" type="slidenum">
              <a:rPr lang="en-US" smtClean="0"/>
              <a:pPr/>
              <a:t>21</a:t>
            </a:fld>
            <a:endParaRPr lang="en-US" dirty="0"/>
          </a:p>
        </p:txBody>
      </p:sp>
    </p:spTree>
    <p:extLst>
      <p:ext uri="{BB962C8B-B14F-4D97-AF65-F5344CB8AC3E}">
        <p14:creationId xmlns:p14="http://schemas.microsoft.com/office/powerpoint/2010/main" val="2555464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22</a:t>
            </a:fld>
            <a:endParaRPr lang="en-US" dirty="0"/>
          </a:p>
        </p:txBody>
      </p:sp>
    </p:spTree>
    <p:extLst>
      <p:ext uri="{BB962C8B-B14F-4D97-AF65-F5344CB8AC3E}">
        <p14:creationId xmlns:p14="http://schemas.microsoft.com/office/powerpoint/2010/main" val="1794977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4E48-EDF1-C7BC-7CC0-16E83AD9E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96129-5D31-1D46-33A4-1B9DE4243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21146-F106-A1A2-588A-C198D885258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E6EB3C65-343F-BB1E-892A-25FDCA06CBF5}"/>
              </a:ext>
            </a:extLst>
          </p:cNvPr>
          <p:cNvSpPr>
            <a:spLocks noGrp="1"/>
          </p:cNvSpPr>
          <p:nvPr>
            <p:ph type="sldNum" sz="quarter" idx="5"/>
          </p:nvPr>
        </p:nvSpPr>
        <p:spPr/>
        <p:txBody>
          <a:bodyPr/>
          <a:lstStyle/>
          <a:p>
            <a:fld id="{21D82EB7-C704-4A63-B645-1186AD9BB91E}" type="slidenum">
              <a:rPr lang="en-US" smtClean="0"/>
              <a:pPr/>
              <a:t>23</a:t>
            </a:fld>
            <a:endParaRPr lang="en-US" dirty="0"/>
          </a:p>
        </p:txBody>
      </p:sp>
    </p:spTree>
    <p:extLst>
      <p:ext uri="{BB962C8B-B14F-4D97-AF65-F5344CB8AC3E}">
        <p14:creationId xmlns:p14="http://schemas.microsoft.com/office/powerpoint/2010/main" val="2902854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FA519-7EFD-EEC6-631F-83AF3D4F5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84A19-EE79-200D-37D6-029BC60CB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F5874-FC01-A421-202B-CB03321EE531}"/>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EFCDDFA4-3E87-2E7E-8AC0-A4ACEB5D0EDC}"/>
              </a:ext>
            </a:extLst>
          </p:cNvPr>
          <p:cNvSpPr>
            <a:spLocks noGrp="1"/>
          </p:cNvSpPr>
          <p:nvPr>
            <p:ph type="sldNum" sz="quarter" idx="5"/>
          </p:nvPr>
        </p:nvSpPr>
        <p:spPr/>
        <p:txBody>
          <a:bodyPr/>
          <a:lstStyle/>
          <a:p>
            <a:fld id="{21D82EB7-C704-4A63-B645-1186AD9BB91E}" type="slidenum">
              <a:rPr lang="en-US" smtClean="0"/>
              <a:pPr/>
              <a:t>24</a:t>
            </a:fld>
            <a:endParaRPr lang="en-US" dirty="0"/>
          </a:p>
        </p:txBody>
      </p:sp>
    </p:spTree>
    <p:extLst>
      <p:ext uri="{BB962C8B-B14F-4D97-AF65-F5344CB8AC3E}">
        <p14:creationId xmlns:p14="http://schemas.microsoft.com/office/powerpoint/2010/main" val="862177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EC59E-05B9-D6A3-3F43-14BAB4262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303A8-1973-2B75-1023-EECCA94E7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3AACC-F410-C6B2-EE22-CE1F75E408C1}"/>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78C70157-6736-0F79-FD5C-E0616443B1A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3715758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DC360-F110-44E2-0F62-1B6609B26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A62F6-F11B-DC9C-46D8-9BD345FCE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62046-753C-3DA0-FCAD-F1B2232736B5}"/>
              </a:ext>
            </a:extLst>
          </p:cNvPr>
          <p:cNvSpPr>
            <a:spLocks noGrp="1"/>
          </p:cNvSpPr>
          <p:nvPr>
            <p:ph type="body" idx="1"/>
          </p:nvPr>
        </p:nvSpPr>
        <p:spPr/>
        <p:txBody>
          <a:bodyPr/>
          <a:lstStyle/>
          <a:p>
            <a:r>
              <a:rPr lang="en-US" dirty="0"/>
              <a:t>See Output gap and Fiscal Impulse in last Chart</a:t>
            </a:r>
          </a:p>
        </p:txBody>
      </p:sp>
      <p:sp>
        <p:nvSpPr>
          <p:cNvPr id="4" name="Slide Number Placeholder 3">
            <a:extLst>
              <a:ext uri="{FF2B5EF4-FFF2-40B4-BE49-F238E27FC236}">
                <a16:creationId xmlns:a16="http://schemas.microsoft.com/office/drawing/2014/main" id="{9FCAE7E3-A275-A5A2-4373-3BF1E1FC3C1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D82EB7-C704-4A63-B645-1186AD9BB91E}" type="slidenum">
              <a:rPr kumimoji="0" 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318749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27</a:t>
            </a:fld>
            <a:endParaRPr lang="en-GB" dirty="0"/>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3557640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effectLst/>
                <a:latin typeface="Calibri" panose="020F0502020204030204" pitchFamily="34" charset="0"/>
                <a:ea typeface="Calibri" panose="020F0502020204030204" pitchFamily="34" charset="0"/>
                <a:cs typeface="Times New Roman" panose="02020603050405020304" pitchFamily="18" charset="0"/>
              </a:rPr>
              <a:t>MINECOFIN can have a different assessment of  path and impact of monetary and ER policies than NBR, just as NBR can have a different assessment of path and impact of fiscal policies.</a:t>
            </a:r>
            <a:endParaRPr lang="en-RW"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28</a:t>
            </a:fld>
            <a:endParaRPr lang="en-US" dirty="0"/>
          </a:p>
        </p:txBody>
      </p:sp>
    </p:spTree>
    <p:extLst>
      <p:ext uri="{BB962C8B-B14F-4D97-AF65-F5344CB8AC3E}">
        <p14:creationId xmlns:p14="http://schemas.microsoft.com/office/powerpoint/2010/main" val="1731534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29</a:t>
            </a:fld>
            <a:endParaRPr lang="en-US" dirty="0"/>
          </a:p>
        </p:txBody>
      </p:sp>
    </p:spTree>
    <p:extLst>
      <p:ext uri="{BB962C8B-B14F-4D97-AF65-F5344CB8AC3E}">
        <p14:creationId xmlns:p14="http://schemas.microsoft.com/office/powerpoint/2010/main" val="26296630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30</a:t>
            </a:fld>
            <a:endParaRPr lang="en-US" dirty="0"/>
          </a:p>
        </p:txBody>
      </p:sp>
    </p:spTree>
    <p:extLst>
      <p:ext uri="{BB962C8B-B14F-4D97-AF65-F5344CB8AC3E}">
        <p14:creationId xmlns:p14="http://schemas.microsoft.com/office/powerpoint/2010/main" val="31557069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2860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2/27/2025</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27/02/2025</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1651388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298E8-D6C5-21AA-6BC8-21DF08C0AD54}"/>
              </a:ext>
            </a:extLst>
          </p:cNvPr>
          <p:cNvSpPr>
            <a:spLocks noGrp="1"/>
          </p:cNvSpPr>
          <p:nvPr>
            <p:ph type="ctrTitle"/>
          </p:nvPr>
        </p:nvSpPr>
        <p:spPr>
          <a:xfrm>
            <a:off x="1524000" y="1122363"/>
            <a:ext cx="9144000" cy="2387600"/>
          </a:xfrm>
        </p:spPr>
        <p:txBody>
          <a:bodyPr anchor="b"/>
          <a:lstStyle>
            <a:lvl1pPr algn="ctr">
              <a:defRPr sz="6000" b="1">
                <a:latin typeface="Bahnschrift" panose="020B0502040204020203"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E85780B-3089-D83A-54E2-D7AF8145D3CD}"/>
              </a:ext>
            </a:extLst>
          </p:cNvPr>
          <p:cNvSpPr>
            <a:spLocks noGrp="1"/>
          </p:cNvSpPr>
          <p:nvPr>
            <p:ph type="subTitle" idx="1"/>
          </p:nvPr>
        </p:nvSpPr>
        <p:spPr>
          <a:xfrm>
            <a:off x="1524000" y="3602038"/>
            <a:ext cx="9144000" cy="1655762"/>
          </a:xfrm>
        </p:spPr>
        <p:txBody>
          <a:bodyPr/>
          <a:lstStyle>
            <a:lvl1pPr marL="0" indent="0" algn="ctr">
              <a:buNone/>
              <a:defRPr sz="2400" b="1">
                <a:latin typeface="Bahnschrif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C5AB25-69E8-BE36-9F9F-8E82A54BFA4F}"/>
              </a:ext>
            </a:extLst>
          </p:cNvPr>
          <p:cNvSpPr>
            <a:spLocks noGrp="1"/>
          </p:cNvSpPr>
          <p:nvPr>
            <p:ph type="dt" sz="half" idx="10"/>
          </p:nvPr>
        </p:nvSpPr>
        <p:spPr/>
        <p:txBody>
          <a:bodyPr/>
          <a:lstStyle>
            <a:lvl1pPr>
              <a:defRPr>
                <a:latin typeface="Bahnschrift Light SemiCondensed" panose="020B0502040204020203" pitchFamily="34" charset="0"/>
              </a:defRPr>
            </a:lvl1pPr>
          </a:lstStyle>
          <a:p>
            <a:fld id="{25418435-C720-449D-B816-40E688690315}" type="datetimeFigureOut">
              <a:rPr lang="en-US" smtClean="0"/>
              <a:pPr/>
              <a:t>2/27/2025</a:t>
            </a:fld>
            <a:endParaRPr lang="en-US" dirty="0"/>
          </a:p>
        </p:txBody>
      </p:sp>
      <p:sp>
        <p:nvSpPr>
          <p:cNvPr id="5" name="Footer Placeholder 4">
            <a:extLst>
              <a:ext uri="{FF2B5EF4-FFF2-40B4-BE49-F238E27FC236}">
                <a16:creationId xmlns:a16="http://schemas.microsoft.com/office/drawing/2014/main" id="{32C6AB43-0058-B846-7D8B-BD965EE8F8C2}"/>
              </a:ext>
            </a:extLst>
          </p:cNvPr>
          <p:cNvSpPr>
            <a:spLocks noGrp="1"/>
          </p:cNvSpPr>
          <p:nvPr>
            <p:ph type="ftr" sz="quarter" idx="11"/>
          </p:nvPr>
        </p:nvSpPr>
        <p:spPr/>
        <p:txBody>
          <a:bodyPr/>
          <a:lstStyle>
            <a:lvl1pPr>
              <a:defRPr>
                <a:latin typeface="Bahnschrift Light SemiCondensed" panose="020B0502040204020203" pitchFamily="34" charset="0"/>
              </a:defRPr>
            </a:lvl1pPr>
          </a:lstStyle>
          <a:p>
            <a:endParaRPr lang="en-US"/>
          </a:p>
        </p:txBody>
      </p:sp>
      <p:sp>
        <p:nvSpPr>
          <p:cNvPr id="6" name="Slide Number Placeholder 5">
            <a:extLst>
              <a:ext uri="{FF2B5EF4-FFF2-40B4-BE49-F238E27FC236}">
                <a16:creationId xmlns:a16="http://schemas.microsoft.com/office/drawing/2014/main" id="{1BC63B95-7EC7-BF39-7295-153EB3F8A6A0}"/>
              </a:ext>
            </a:extLst>
          </p:cNvPr>
          <p:cNvSpPr>
            <a:spLocks noGrp="1"/>
          </p:cNvSpPr>
          <p:nvPr>
            <p:ph type="sldNum" sz="quarter" idx="12"/>
          </p:nvPr>
        </p:nvSpPr>
        <p:spPr/>
        <p:txBody>
          <a:bodyPr/>
          <a:lstStyle>
            <a:lvl1pPr>
              <a:defRPr>
                <a:latin typeface="Bahnschrift Light SemiCondensed" panose="020B0502040204020203" pitchFamily="34" charset="0"/>
              </a:defRPr>
            </a:lvl1pPr>
          </a:lstStyle>
          <a:p>
            <a:fld id="{D41F6BB1-3072-477A-8416-723305CEF715}" type="slidenum">
              <a:rPr lang="en-US" smtClean="0"/>
              <a:pPr/>
              <a:t>‹#›</a:t>
            </a:fld>
            <a:endParaRPr lang="en-US"/>
          </a:p>
        </p:txBody>
      </p:sp>
    </p:spTree>
    <p:extLst>
      <p:ext uri="{BB962C8B-B14F-4D97-AF65-F5344CB8AC3E}">
        <p14:creationId xmlns:p14="http://schemas.microsoft.com/office/powerpoint/2010/main" val="25607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7609A-5DC2-9CB5-20EE-ABD5D60EC8A1}"/>
              </a:ext>
            </a:extLst>
          </p:cNvPr>
          <p:cNvSpPr>
            <a:spLocks noGrp="1"/>
          </p:cNvSpPr>
          <p:nvPr>
            <p:ph type="title"/>
          </p:nvPr>
        </p:nvSpPr>
        <p:spPr>
          <a:xfrm>
            <a:off x="838200" y="1095375"/>
            <a:ext cx="10515600" cy="476250"/>
          </a:xfrm>
        </p:spPr>
        <p:txBody>
          <a:bodyPr vert="horz" lIns="91440" tIns="45720" rIns="91440" bIns="45720" rtlCol="0" anchor="b">
            <a:normAutofit/>
          </a:bodyPr>
          <a:lstStyle>
            <a:lvl1pPr>
              <a:defRPr lang="en-US" sz="2800" b="1">
                <a:latin typeface="Bahnschrift" panose="020B0502040204020203" pitchFamily="34" charset="0"/>
              </a:defRPr>
            </a:lvl1pPr>
          </a:lstStyle>
          <a:p>
            <a:pPr lvl="0" algn="ctr"/>
            <a:r>
              <a:rPr lang="en-US" dirty="0"/>
              <a:t>Click to edit Master title style</a:t>
            </a:r>
          </a:p>
        </p:txBody>
      </p:sp>
      <p:sp>
        <p:nvSpPr>
          <p:cNvPr id="3" name="Content Placeholder 2">
            <a:extLst>
              <a:ext uri="{FF2B5EF4-FFF2-40B4-BE49-F238E27FC236}">
                <a16:creationId xmlns:a16="http://schemas.microsoft.com/office/drawing/2014/main" id="{F896BFCD-640D-4D35-1B02-56A84116DC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D1611B-7B3B-ACE5-6E5A-8CD703555989}"/>
              </a:ext>
            </a:extLst>
          </p:cNvPr>
          <p:cNvSpPr>
            <a:spLocks noGrp="1"/>
          </p:cNvSpPr>
          <p:nvPr>
            <p:ph type="dt" sz="half" idx="10"/>
          </p:nvPr>
        </p:nvSpPr>
        <p:spPr/>
        <p:txBody>
          <a:bodyPr vert="horz" lIns="91440" tIns="45720" rIns="91440" bIns="45720" rtlCol="0" anchor="ctr"/>
          <a:lstStyle>
            <a:lvl1pPr>
              <a:defRPr lang="en-US" smtClean="0">
                <a:latin typeface="Bahnschrift Light SemiCondensed" panose="020B0502040204020203" pitchFamily="34" charset="0"/>
              </a:defRPr>
            </a:lvl1pPr>
          </a:lstStyle>
          <a:p>
            <a:fld id="{25418435-C720-449D-B816-40E688690315}" type="datetimeFigureOut">
              <a:rPr lang="en-US" smtClean="0"/>
              <a:pPr/>
              <a:t>2/27/2025</a:t>
            </a:fld>
            <a:endParaRPr lang="en-US"/>
          </a:p>
        </p:txBody>
      </p:sp>
      <p:sp>
        <p:nvSpPr>
          <p:cNvPr id="5" name="Footer Placeholder 4">
            <a:extLst>
              <a:ext uri="{FF2B5EF4-FFF2-40B4-BE49-F238E27FC236}">
                <a16:creationId xmlns:a16="http://schemas.microsoft.com/office/drawing/2014/main" id="{F926548F-B783-DAD5-5269-FA453BE4472C}"/>
              </a:ext>
            </a:extLst>
          </p:cNvPr>
          <p:cNvSpPr>
            <a:spLocks noGrp="1"/>
          </p:cNvSpPr>
          <p:nvPr>
            <p:ph type="ftr" sz="quarter" idx="11"/>
          </p:nvPr>
        </p:nvSpPr>
        <p:spPr/>
        <p:txBody>
          <a:bodyPr vert="horz" lIns="91440" tIns="45720" rIns="91440" bIns="45720" rtlCol="0" anchor="ctr"/>
          <a:lstStyle>
            <a:lvl1pPr>
              <a:defRPr lang="en-US">
                <a:latin typeface="Bahnschrift Light SemiCondensed" panose="020B0502040204020203" pitchFamily="34" charset="0"/>
              </a:defRPr>
            </a:lvl1pPr>
          </a:lstStyle>
          <a:p>
            <a:pPr algn="l"/>
            <a:endParaRPr lang="en-US"/>
          </a:p>
        </p:txBody>
      </p:sp>
      <p:sp>
        <p:nvSpPr>
          <p:cNvPr id="6" name="Slide Number Placeholder 5">
            <a:extLst>
              <a:ext uri="{FF2B5EF4-FFF2-40B4-BE49-F238E27FC236}">
                <a16:creationId xmlns:a16="http://schemas.microsoft.com/office/drawing/2014/main" id="{933390A1-7BD7-E7F2-EED6-F2A9B632472A}"/>
              </a:ext>
            </a:extLst>
          </p:cNvPr>
          <p:cNvSpPr>
            <a:spLocks noGrp="1"/>
          </p:cNvSpPr>
          <p:nvPr>
            <p:ph type="sldNum" sz="quarter" idx="12"/>
          </p:nvPr>
        </p:nvSpPr>
        <p:spPr/>
        <p:txBody>
          <a:bodyPr vert="horz" lIns="91440" tIns="45720" rIns="91440" bIns="45720" rtlCol="0" anchor="ctr"/>
          <a:lstStyle>
            <a:lvl1pPr>
              <a:defRPr lang="en-US" smtClean="0">
                <a:latin typeface="Bahnschrift Light SemiCondensed" panose="020B0502040204020203" pitchFamily="34" charset="0"/>
              </a:defRPr>
            </a:lvl1pPr>
          </a:lstStyle>
          <a:p>
            <a:pPr algn="l"/>
            <a:fld id="{D41F6BB1-3072-477A-8416-723305CEF715}" type="slidenum">
              <a:rPr lang="en-US" smtClean="0"/>
              <a:pPr algn="l"/>
              <a:t>‹#›</a:t>
            </a:fld>
            <a:endParaRPr lang="en-US"/>
          </a:p>
        </p:txBody>
      </p:sp>
    </p:spTree>
    <p:extLst>
      <p:ext uri="{BB962C8B-B14F-4D97-AF65-F5344CB8AC3E}">
        <p14:creationId xmlns:p14="http://schemas.microsoft.com/office/powerpoint/2010/main" val="77500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BF8A-5B37-336F-B6B2-B255D23A04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F538C5-2BF2-AE48-0938-56AA906E64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4438EF-68A1-4184-B926-F258578F87DD}"/>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5" name="Footer Placeholder 4">
            <a:extLst>
              <a:ext uri="{FF2B5EF4-FFF2-40B4-BE49-F238E27FC236}">
                <a16:creationId xmlns:a16="http://schemas.microsoft.com/office/drawing/2014/main" id="{DB781467-5B20-5F9E-690B-B5351E684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F832C8-BAC3-494D-16F0-328212F4E37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3455692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21A09-B7F0-1551-9732-0DFEFB2A84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12C291-3262-A69D-0162-C169D140BA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58485C-FD72-1F85-A330-8D6B8A6782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283A49-8C7E-3F0C-D5D7-5330E5B820F5}"/>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6" name="Footer Placeholder 5">
            <a:extLst>
              <a:ext uri="{FF2B5EF4-FFF2-40B4-BE49-F238E27FC236}">
                <a16:creationId xmlns:a16="http://schemas.microsoft.com/office/drawing/2014/main" id="{A3341E6A-AA54-BF30-D3B0-F183CCC3E2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3531B-F130-758A-E17A-215477147D00}"/>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317731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B23D-AF5A-D2C0-6EA5-ED0269F5FB47}"/>
              </a:ext>
            </a:extLst>
          </p:cNvPr>
          <p:cNvSpPr>
            <a:spLocks noGrp="1"/>
          </p:cNvSpPr>
          <p:nvPr>
            <p:ph type="title"/>
          </p:nvPr>
        </p:nvSpPr>
        <p:spPr>
          <a:xfrm>
            <a:off x="839788" y="1057275"/>
            <a:ext cx="10515600" cy="63341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80E48-4C2D-2B2B-964F-88262B8CE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71081B-AED5-9BDD-42C4-183B4313DC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E1A8D6-6096-F19A-F31F-B24A328AC4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9B0B60-C100-5272-3B52-242A1B3EB9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E16AFD-2884-82F2-85EF-60CC69B8E122}"/>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8" name="Footer Placeholder 7">
            <a:extLst>
              <a:ext uri="{FF2B5EF4-FFF2-40B4-BE49-F238E27FC236}">
                <a16:creationId xmlns:a16="http://schemas.microsoft.com/office/drawing/2014/main" id="{C234FFB9-BD63-4954-B342-92FD028A59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32F79E-888C-E739-A807-CE92E9197996}"/>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2829811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8639-7441-C5CC-B004-72F862B447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9DB76E-A99C-A9A2-2A56-1D3A33518B8B}"/>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4" name="Footer Placeholder 3">
            <a:extLst>
              <a:ext uri="{FF2B5EF4-FFF2-40B4-BE49-F238E27FC236}">
                <a16:creationId xmlns:a16="http://schemas.microsoft.com/office/drawing/2014/main" id="{F286794B-D66C-A3A8-3D89-528001E4DA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0B1946-7B3C-5D6F-B6B3-05EE80FA990F}"/>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867134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858EE5-A6D5-1B17-A565-CBFA0FC3321B}"/>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3" name="Footer Placeholder 2">
            <a:extLst>
              <a:ext uri="{FF2B5EF4-FFF2-40B4-BE49-F238E27FC236}">
                <a16:creationId xmlns:a16="http://schemas.microsoft.com/office/drawing/2014/main" id="{FF9E5286-4134-96A7-49A6-630AF0CC9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81CF4D-9210-9221-642A-76149DAF0ECC}"/>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554695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1A6AA-CD9E-662B-9853-A78C07070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7866B5-138B-4FC4-80BF-CF269BE1DD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FFFF8B-6BE8-4754-6044-CCFD98D79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6657F-A1BA-23CB-479C-060203EEA054}"/>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6" name="Footer Placeholder 5">
            <a:extLst>
              <a:ext uri="{FF2B5EF4-FFF2-40B4-BE49-F238E27FC236}">
                <a16:creationId xmlns:a16="http://schemas.microsoft.com/office/drawing/2014/main" id="{D9059696-456E-34AA-C8A0-DEB94CCC1D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04C4FD-86B3-9465-413E-F37F528F4648}"/>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2613166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6B08-FF37-9363-2A10-C9CF5D43F502}"/>
              </a:ext>
            </a:extLst>
          </p:cNvPr>
          <p:cNvSpPr>
            <a:spLocks noGrp="1"/>
          </p:cNvSpPr>
          <p:nvPr>
            <p:ph type="title"/>
          </p:nvPr>
        </p:nvSpPr>
        <p:spPr>
          <a:xfrm>
            <a:off x="839788" y="1104900"/>
            <a:ext cx="3932237" cy="9525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B8619786-B2A6-AFFE-64E5-9EB2E5304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F88F3A-AB52-C920-020A-F635704A6B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31871-5148-4F43-11B6-3AD6D342048E}"/>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6" name="Footer Placeholder 5">
            <a:extLst>
              <a:ext uri="{FF2B5EF4-FFF2-40B4-BE49-F238E27FC236}">
                <a16:creationId xmlns:a16="http://schemas.microsoft.com/office/drawing/2014/main" id="{D7040A6C-BDA2-7098-2430-EDC3EC90A6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45EE63-100B-37C2-85F8-2BF65D08F12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672465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5FCC2-5904-491E-581A-36BFCBA980A1}"/>
              </a:ext>
            </a:extLst>
          </p:cNvPr>
          <p:cNvSpPr>
            <a:spLocks noGrp="1"/>
          </p:cNvSpPr>
          <p:nvPr>
            <p:ph type="title"/>
          </p:nvPr>
        </p:nvSpPr>
        <p:spPr>
          <a:xfrm>
            <a:off x="838200" y="1089600"/>
            <a:ext cx="10515600" cy="646331"/>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81C980-0C3C-A426-947B-B2E8E1478D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C87D3-0BF2-4993-432B-703A2C0E4636}"/>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5" name="Footer Placeholder 4">
            <a:extLst>
              <a:ext uri="{FF2B5EF4-FFF2-40B4-BE49-F238E27FC236}">
                <a16:creationId xmlns:a16="http://schemas.microsoft.com/office/drawing/2014/main" id="{E8B6A88F-A729-F1E9-BA06-6AD8DCBBB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F75B78-BAD5-7D9B-358B-F0AEB5DB4392}"/>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8008085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D1F69C-82E3-CB06-9B7F-8825185427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AB3F83-AAE6-EEDF-B93F-6457BDBE63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C7A31A-66D8-8628-1499-FA3DFD08423E}"/>
              </a:ext>
            </a:extLst>
          </p:cNvPr>
          <p:cNvSpPr>
            <a:spLocks noGrp="1"/>
          </p:cNvSpPr>
          <p:nvPr>
            <p:ph type="dt" sz="half" idx="10"/>
          </p:nvPr>
        </p:nvSpPr>
        <p:spPr/>
        <p:txBody>
          <a:bodyPr/>
          <a:lstStyle/>
          <a:p>
            <a:fld id="{25418435-C720-449D-B816-40E688690315}" type="datetimeFigureOut">
              <a:rPr lang="en-US" smtClean="0"/>
              <a:t>2/27/2025</a:t>
            </a:fld>
            <a:endParaRPr lang="en-US"/>
          </a:p>
        </p:txBody>
      </p:sp>
      <p:sp>
        <p:nvSpPr>
          <p:cNvPr id="5" name="Footer Placeholder 4">
            <a:extLst>
              <a:ext uri="{FF2B5EF4-FFF2-40B4-BE49-F238E27FC236}">
                <a16:creationId xmlns:a16="http://schemas.microsoft.com/office/drawing/2014/main" id="{845069D6-F949-7E42-3D3C-2F7AAD7AC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3BCEC-62AB-2A95-67F1-87161F1C4986}"/>
              </a:ext>
            </a:extLst>
          </p:cNvPr>
          <p:cNvSpPr>
            <a:spLocks noGrp="1"/>
          </p:cNvSpPr>
          <p:nvPr>
            <p:ph type="sldNum" sz="quarter" idx="12"/>
          </p:nvPr>
        </p:nvSpPr>
        <p:spPr/>
        <p:txBody>
          <a:bodyPr/>
          <a:lstStyle/>
          <a:p>
            <a:fld id="{D41F6BB1-3072-477A-8416-723305CEF715}" type="slidenum">
              <a:rPr lang="en-US" smtClean="0"/>
              <a:t>‹#›</a:t>
            </a:fld>
            <a:endParaRPr lang="en-US"/>
          </a:p>
        </p:txBody>
      </p:sp>
    </p:spTree>
    <p:extLst>
      <p:ext uri="{BB962C8B-B14F-4D97-AF65-F5344CB8AC3E}">
        <p14:creationId xmlns:p14="http://schemas.microsoft.com/office/powerpoint/2010/main" val="1121918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9464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extLst>
      <p:ext uri="{BB962C8B-B14F-4D97-AF65-F5344CB8AC3E}">
        <p14:creationId xmlns:p14="http://schemas.microsoft.com/office/powerpoint/2010/main" val="2337576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extLst>
      <p:ext uri="{BB962C8B-B14F-4D97-AF65-F5344CB8AC3E}">
        <p14:creationId xmlns:p14="http://schemas.microsoft.com/office/powerpoint/2010/main" val="414132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2/27/2025</a:t>
            </a:fld>
            <a:endParaRPr lang="en-GB" dirty="0"/>
          </a:p>
        </p:txBody>
      </p:sp>
    </p:spTree>
    <p:extLst>
      <p:ext uri="{BB962C8B-B14F-4D97-AF65-F5344CB8AC3E}">
        <p14:creationId xmlns:p14="http://schemas.microsoft.com/office/powerpoint/2010/main" val="864831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27/02/2025</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25205971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theme" Target="../theme/theme3.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863600" cy="820738"/>
          </a:xfrm>
          <a:prstGeom prst="rect">
            <a:avLst/>
          </a:prstGeom>
          <a:noFill/>
          <a:ln w="9525">
            <a:solidFill>
              <a:schemeClr val="bg1"/>
            </a:solidFill>
            <a:miter lim="800000"/>
            <a:headEnd/>
            <a:tailEnd/>
          </a:ln>
        </p:spPr>
      </p:pic>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BF5A59-B018-E644-7607-2B768C0054FF}"/>
              </a:ext>
            </a:extLst>
          </p:cNvPr>
          <p:cNvSpPr>
            <a:spLocks noGrp="1"/>
          </p:cNvSpPr>
          <p:nvPr>
            <p:ph type="title"/>
          </p:nvPr>
        </p:nvSpPr>
        <p:spPr>
          <a:xfrm>
            <a:off x="838200" y="946659"/>
            <a:ext cx="10515600" cy="523220"/>
          </a:xfrm>
          <a:prstGeom prst="rect">
            <a:avLst/>
          </a:prstGeom>
        </p:spPr>
        <p:txBody>
          <a:bodyPr vert="horz" lIns="91440" tIns="45720" rIns="91440" bIns="45720" rtlCol="0" anchor="b">
            <a:normAutofit/>
          </a:bodyPr>
          <a:lstStyle/>
          <a:p>
            <a:pPr lvl="0" algn="ctr"/>
            <a:r>
              <a:rPr lang="en-US" dirty="0"/>
              <a:t>Click to edit Master title style</a:t>
            </a:r>
          </a:p>
        </p:txBody>
      </p:sp>
      <p:sp>
        <p:nvSpPr>
          <p:cNvPr id="3" name="Text Placeholder 2">
            <a:extLst>
              <a:ext uri="{FF2B5EF4-FFF2-40B4-BE49-F238E27FC236}">
                <a16:creationId xmlns:a16="http://schemas.microsoft.com/office/drawing/2014/main" id="{4DDB2F0B-9D89-A110-3EF3-4D5470AC3AC6}"/>
              </a:ext>
            </a:extLst>
          </p:cNvPr>
          <p:cNvSpPr>
            <a:spLocks noGrp="1"/>
          </p:cNvSpPr>
          <p:nvPr>
            <p:ph type="body" idx="1"/>
          </p:nvPr>
        </p:nvSpPr>
        <p:spPr>
          <a:xfrm>
            <a:off x="838200" y="1548397"/>
            <a:ext cx="10515600" cy="46285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20E6DB9-30EE-BD7A-21FA-9CEA5DE842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Bahnschrift Light SemiCondensed" panose="020B0502040204020203" pitchFamily="34" charset="0"/>
              </a:defRPr>
            </a:lvl1pPr>
          </a:lstStyle>
          <a:p>
            <a:fld id="{25418435-C720-449D-B816-40E688690315}" type="datetimeFigureOut">
              <a:rPr lang="en-US" smtClean="0"/>
              <a:pPr/>
              <a:t>2/27/2025</a:t>
            </a:fld>
            <a:endParaRPr lang="en-US"/>
          </a:p>
        </p:txBody>
      </p:sp>
      <p:sp>
        <p:nvSpPr>
          <p:cNvPr id="5" name="Footer Placeholder 4">
            <a:extLst>
              <a:ext uri="{FF2B5EF4-FFF2-40B4-BE49-F238E27FC236}">
                <a16:creationId xmlns:a16="http://schemas.microsoft.com/office/drawing/2014/main" id="{52BBC8C5-01D9-BD5B-4B6F-E0D27B6DF3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Bahnschrift Light SemiCondensed" panose="020B0502040204020203" pitchFamily="34" charset="0"/>
              </a:defRPr>
            </a:lvl1pPr>
          </a:lstStyle>
          <a:p>
            <a:endParaRPr lang="en-US" dirty="0"/>
          </a:p>
        </p:txBody>
      </p:sp>
      <p:sp>
        <p:nvSpPr>
          <p:cNvPr id="6" name="Slide Number Placeholder 5">
            <a:extLst>
              <a:ext uri="{FF2B5EF4-FFF2-40B4-BE49-F238E27FC236}">
                <a16:creationId xmlns:a16="http://schemas.microsoft.com/office/drawing/2014/main" id="{37262C13-4287-8CA5-6198-EE3FEDF66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Bahnschrift Light SemiCondensed" panose="020B0502040204020203" pitchFamily="34" charset="0"/>
              </a:defRPr>
            </a:lvl1pPr>
          </a:lstStyle>
          <a:p>
            <a:fld id="{D41F6BB1-3072-477A-8416-723305CEF715}" type="slidenum">
              <a:rPr lang="en-US" smtClean="0"/>
              <a:pPr/>
              <a:t>‹#›</a:t>
            </a:fld>
            <a:endParaRPr lang="en-US"/>
          </a:p>
        </p:txBody>
      </p:sp>
      <p:sp>
        <p:nvSpPr>
          <p:cNvPr id="7" name="TextBox 6">
            <a:extLst>
              <a:ext uri="{FF2B5EF4-FFF2-40B4-BE49-F238E27FC236}">
                <a16:creationId xmlns:a16="http://schemas.microsoft.com/office/drawing/2014/main" id="{0DEE7FC1-0F67-52EB-4B9B-BA1536A1B871}"/>
              </a:ext>
            </a:extLst>
          </p:cNvPr>
          <p:cNvSpPr txBox="1"/>
          <p:nvPr userDrawn="1"/>
        </p:nvSpPr>
        <p:spPr>
          <a:xfrm>
            <a:off x="6792685" y="266439"/>
            <a:ext cx="4561113" cy="523220"/>
          </a:xfrm>
          <a:prstGeom prst="rect">
            <a:avLst/>
          </a:prstGeom>
          <a:noFill/>
        </p:spPr>
        <p:txBody>
          <a:bodyPr wrap="square" rtlCol="0">
            <a:spAutoFit/>
          </a:bodyPr>
          <a:lstStyle/>
          <a:p>
            <a:pPr algn="ctr"/>
            <a:r>
              <a:rPr lang="en-US" sz="2800" b="1" dirty="0">
                <a:solidFill>
                  <a:schemeClr val="tx1">
                    <a:alpha val="26000"/>
                  </a:schemeClr>
                </a:solidFill>
                <a:latin typeface="Bahnschrift Light Condensed" panose="020B0502040204020203" pitchFamily="34" charset="0"/>
              </a:rPr>
              <a:t>Quarterly </a:t>
            </a:r>
            <a:r>
              <a:rPr lang="en-US" sz="2800" b="1" dirty="0" err="1">
                <a:solidFill>
                  <a:schemeClr val="tx1">
                    <a:alpha val="26000"/>
                  </a:schemeClr>
                </a:solidFill>
                <a:latin typeface="Bahnschrift Light Condensed" panose="020B0502040204020203" pitchFamily="34" charset="0"/>
              </a:rPr>
              <a:t>MacroFiscal</a:t>
            </a:r>
            <a:r>
              <a:rPr lang="en-US" sz="2800" b="1" dirty="0">
                <a:solidFill>
                  <a:schemeClr val="tx1">
                    <a:alpha val="26000"/>
                  </a:schemeClr>
                </a:solidFill>
                <a:latin typeface="Bahnschrift Light Condensed" panose="020B0502040204020203" pitchFamily="34" charset="0"/>
              </a:rPr>
              <a:t> Model (QMFM)</a:t>
            </a:r>
          </a:p>
        </p:txBody>
      </p:sp>
      <p:pic>
        <p:nvPicPr>
          <p:cNvPr id="9" name="Picture 8">
            <a:extLst>
              <a:ext uri="{FF2B5EF4-FFF2-40B4-BE49-F238E27FC236}">
                <a16:creationId xmlns:a16="http://schemas.microsoft.com/office/drawing/2014/main" id="{96685403-7BBD-6A57-0C45-F6343FBA9BF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8200" y="98440"/>
            <a:ext cx="685800" cy="752889"/>
          </a:xfrm>
          <a:prstGeom prst="rect">
            <a:avLst/>
          </a:prstGeom>
        </p:spPr>
      </p:pic>
      <p:sp>
        <p:nvSpPr>
          <p:cNvPr id="8" name="TextBox 7">
            <a:extLst>
              <a:ext uri="{FF2B5EF4-FFF2-40B4-BE49-F238E27FC236}">
                <a16:creationId xmlns:a16="http://schemas.microsoft.com/office/drawing/2014/main" id="{9C3D7134-32AC-814F-E326-42F953FCCD1D}"/>
              </a:ext>
            </a:extLst>
          </p:cNvPr>
          <p:cNvSpPr txBox="1"/>
          <p:nvPr userDrawn="1"/>
        </p:nvSpPr>
        <p:spPr>
          <a:xfrm>
            <a:off x="1524000" y="182497"/>
            <a:ext cx="2057400" cy="584775"/>
          </a:xfrm>
          <a:prstGeom prst="rect">
            <a:avLst/>
          </a:prstGeom>
          <a:noFill/>
        </p:spPr>
        <p:txBody>
          <a:bodyPr wrap="square" rtlCol="0">
            <a:spAutoFit/>
          </a:bodyPr>
          <a:lstStyle/>
          <a:p>
            <a:pPr algn="l"/>
            <a:r>
              <a:rPr lang="en-US" sz="1600" b="1" dirty="0">
                <a:solidFill>
                  <a:schemeClr val="tx1"/>
                </a:solidFill>
                <a:latin typeface="Bahnschrift Light Condensed" panose="020B0502040204020203" pitchFamily="34" charset="0"/>
              </a:rPr>
              <a:t>Ministry of Finance and Economic Planning</a:t>
            </a:r>
          </a:p>
        </p:txBody>
      </p:sp>
      <p:grpSp>
        <p:nvGrpSpPr>
          <p:cNvPr id="41" name="Group 40">
            <a:extLst>
              <a:ext uri="{FF2B5EF4-FFF2-40B4-BE49-F238E27FC236}">
                <a16:creationId xmlns:a16="http://schemas.microsoft.com/office/drawing/2014/main" id="{533E20EA-1628-2B2A-A3E8-BCC8040BE9AF}"/>
              </a:ext>
            </a:extLst>
          </p:cNvPr>
          <p:cNvGrpSpPr/>
          <p:nvPr userDrawn="1"/>
        </p:nvGrpSpPr>
        <p:grpSpPr>
          <a:xfrm>
            <a:off x="11716817" y="2140515"/>
            <a:ext cx="179811" cy="3721558"/>
            <a:chOff x="11773967" y="1367522"/>
            <a:chExt cx="179811" cy="3721558"/>
          </a:xfrm>
        </p:grpSpPr>
        <p:cxnSp>
          <p:nvCxnSpPr>
            <p:cNvPr id="16" name="Straight Connector 15">
              <a:extLst>
                <a:ext uri="{FF2B5EF4-FFF2-40B4-BE49-F238E27FC236}">
                  <a16:creationId xmlns:a16="http://schemas.microsoft.com/office/drawing/2014/main" id="{F0271194-5E18-B988-8451-55421FB11224}"/>
                </a:ext>
              </a:extLst>
            </p:cNvPr>
            <p:cNvCxnSpPr>
              <a:cxnSpLocks/>
            </p:cNvCxnSpPr>
            <p:nvPr userDrawn="1"/>
          </p:nvCxnSpPr>
          <p:spPr>
            <a:xfrm>
              <a:off x="11812555" y="4613219"/>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5CEEFD0-3B63-D760-590E-FCFA9EF35262}"/>
                </a:ext>
              </a:extLst>
            </p:cNvPr>
            <p:cNvCxnSpPr>
              <a:cxnSpLocks/>
            </p:cNvCxnSpPr>
            <p:nvPr userDrawn="1"/>
          </p:nvCxnSpPr>
          <p:spPr>
            <a:xfrm>
              <a:off x="11905862" y="4189445"/>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0EE86D6-C30B-8306-1F11-98F29A7A4442}"/>
                </a:ext>
              </a:extLst>
            </p:cNvPr>
            <p:cNvCxnSpPr>
              <a:cxnSpLocks/>
            </p:cNvCxnSpPr>
            <p:nvPr userDrawn="1"/>
          </p:nvCxnSpPr>
          <p:spPr>
            <a:xfrm>
              <a:off x="11812556" y="3786690"/>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4870C66-FBF3-3EFE-AA9D-6D111EA8A07F}"/>
                </a:ext>
              </a:extLst>
            </p:cNvPr>
            <p:cNvCxnSpPr>
              <a:cxnSpLocks/>
            </p:cNvCxnSpPr>
            <p:nvPr userDrawn="1"/>
          </p:nvCxnSpPr>
          <p:spPr>
            <a:xfrm>
              <a:off x="11915192" y="3384473"/>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CE828D8-2892-806A-A619-C3B9C0D89F02}"/>
                </a:ext>
              </a:extLst>
            </p:cNvPr>
            <p:cNvCxnSpPr>
              <a:cxnSpLocks/>
            </p:cNvCxnSpPr>
            <p:nvPr userDrawn="1"/>
          </p:nvCxnSpPr>
          <p:spPr>
            <a:xfrm>
              <a:off x="11812555" y="3020579"/>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9C24050-BCDF-F60D-273C-2253F9268913}"/>
                </a:ext>
              </a:extLst>
            </p:cNvPr>
            <p:cNvCxnSpPr>
              <a:cxnSpLocks/>
            </p:cNvCxnSpPr>
            <p:nvPr userDrawn="1"/>
          </p:nvCxnSpPr>
          <p:spPr>
            <a:xfrm>
              <a:off x="11905862" y="2577375"/>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64B3EA7-8B35-59B3-A7D4-5F95CA32EC55}"/>
                </a:ext>
              </a:extLst>
            </p:cNvPr>
            <p:cNvCxnSpPr>
              <a:cxnSpLocks/>
            </p:cNvCxnSpPr>
            <p:nvPr userDrawn="1"/>
          </p:nvCxnSpPr>
          <p:spPr>
            <a:xfrm>
              <a:off x="11812555" y="2194051"/>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9B42D6-2704-1195-5E76-9FEAD5D2232B}"/>
                </a:ext>
              </a:extLst>
            </p:cNvPr>
            <p:cNvCxnSpPr>
              <a:cxnSpLocks/>
            </p:cNvCxnSpPr>
            <p:nvPr userDrawn="1"/>
          </p:nvCxnSpPr>
          <p:spPr>
            <a:xfrm>
              <a:off x="11905862" y="1770277"/>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F1DE02-10B9-EC4A-03C2-28CCAF5D7486}"/>
                </a:ext>
              </a:extLst>
            </p:cNvPr>
            <p:cNvCxnSpPr>
              <a:cxnSpLocks/>
            </p:cNvCxnSpPr>
            <p:nvPr userDrawn="1"/>
          </p:nvCxnSpPr>
          <p:spPr>
            <a:xfrm>
              <a:off x="11812556" y="1367522"/>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7F5A9003-71C1-28DB-3369-068EC9328229}"/>
                </a:ext>
              </a:extLst>
            </p:cNvPr>
            <p:cNvSpPr/>
            <p:nvPr userDrawn="1"/>
          </p:nvSpPr>
          <p:spPr>
            <a:xfrm>
              <a:off x="11773968" y="1978831"/>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33D68EB-81BE-458F-BD7A-D624523A2772}"/>
                </a:ext>
              </a:extLst>
            </p:cNvPr>
            <p:cNvSpPr/>
            <p:nvPr userDrawn="1"/>
          </p:nvSpPr>
          <p:spPr>
            <a:xfrm>
              <a:off x="11876605" y="2373170"/>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CA9F18B-AF0C-5FB3-9F9B-C8A8829488AC}"/>
                </a:ext>
              </a:extLst>
            </p:cNvPr>
            <p:cNvSpPr/>
            <p:nvPr userDrawn="1"/>
          </p:nvSpPr>
          <p:spPr>
            <a:xfrm>
              <a:off x="11773967" y="2811651"/>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D11D928-D70D-DF9F-B57F-067D5DA97BDF}"/>
                </a:ext>
              </a:extLst>
            </p:cNvPr>
            <p:cNvSpPr/>
            <p:nvPr userDrawn="1"/>
          </p:nvSpPr>
          <p:spPr>
            <a:xfrm>
              <a:off x="11867275" y="3184646"/>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875CCBD-0B8E-F194-AD05-7B99DFCCDA11}"/>
                </a:ext>
              </a:extLst>
            </p:cNvPr>
            <p:cNvSpPr/>
            <p:nvPr userDrawn="1"/>
          </p:nvSpPr>
          <p:spPr>
            <a:xfrm>
              <a:off x="11773967" y="3611809"/>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67C7FE4-EF8A-A30B-8556-3BF9B116FEF7}"/>
                </a:ext>
              </a:extLst>
            </p:cNvPr>
            <p:cNvSpPr/>
            <p:nvPr userDrawn="1"/>
          </p:nvSpPr>
          <p:spPr>
            <a:xfrm>
              <a:off x="11876604" y="3980862"/>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272ED5B-ABBD-0FC1-E9C7-B05B0736DE9D}"/>
                </a:ext>
              </a:extLst>
            </p:cNvPr>
            <p:cNvSpPr/>
            <p:nvPr userDrawn="1"/>
          </p:nvSpPr>
          <p:spPr>
            <a:xfrm>
              <a:off x="11773967" y="439929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8F157A8-F470-DA23-16CF-4BE1AB262AD7}"/>
                </a:ext>
              </a:extLst>
            </p:cNvPr>
            <p:cNvSpPr/>
            <p:nvPr userDrawn="1"/>
          </p:nvSpPr>
          <p:spPr>
            <a:xfrm>
              <a:off x="11867274" y="478223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CE27AEA-9A4A-AABC-29C2-4990604BCA3F}"/>
                </a:ext>
              </a:extLst>
            </p:cNvPr>
            <p:cNvSpPr/>
            <p:nvPr userDrawn="1"/>
          </p:nvSpPr>
          <p:spPr>
            <a:xfrm>
              <a:off x="11876603" y="1566865"/>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60BFDD5D-E9D3-A18F-6C1A-8E36E735BE9F}"/>
              </a:ext>
            </a:extLst>
          </p:cNvPr>
          <p:cNvGrpSpPr/>
          <p:nvPr userDrawn="1"/>
        </p:nvGrpSpPr>
        <p:grpSpPr>
          <a:xfrm>
            <a:off x="277292" y="2140515"/>
            <a:ext cx="179811" cy="3721558"/>
            <a:chOff x="11773967" y="1367522"/>
            <a:chExt cx="179811" cy="3721558"/>
          </a:xfrm>
        </p:grpSpPr>
        <p:cxnSp>
          <p:nvCxnSpPr>
            <p:cNvPr id="43" name="Straight Connector 42">
              <a:extLst>
                <a:ext uri="{FF2B5EF4-FFF2-40B4-BE49-F238E27FC236}">
                  <a16:creationId xmlns:a16="http://schemas.microsoft.com/office/drawing/2014/main" id="{2E90D111-1D56-F61F-7AF8-02E148449B43}"/>
                </a:ext>
              </a:extLst>
            </p:cNvPr>
            <p:cNvCxnSpPr>
              <a:cxnSpLocks/>
            </p:cNvCxnSpPr>
            <p:nvPr userDrawn="1"/>
          </p:nvCxnSpPr>
          <p:spPr>
            <a:xfrm>
              <a:off x="11812555" y="4613219"/>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39BF5A0-A616-F9C1-4375-EBDCA6F2450A}"/>
                </a:ext>
              </a:extLst>
            </p:cNvPr>
            <p:cNvCxnSpPr>
              <a:cxnSpLocks/>
            </p:cNvCxnSpPr>
            <p:nvPr userDrawn="1"/>
          </p:nvCxnSpPr>
          <p:spPr>
            <a:xfrm>
              <a:off x="11905862" y="4189445"/>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B0F3FE-3FE9-DBB9-A1AA-5A5EDA61A82F}"/>
                </a:ext>
              </a:extLst>
            </p:cNvPr>
            <p:cNvCxnSpPr>
              <a:cxnSpLocks/>
            </p:cNvCxnSpPr>
            <p:nvPr userDrawn="1"/>
          </p:nvCxnSpPr>
          <p:spPr>
            <a:xfrm>
              <a:off x="11812556" y="3786690"/>
              <a:ext cx="0" cy="475861"/>
            </a:xfrm>
            <a:prstGeom prst="line">
              <a:avLst/>
            </a:prstGeom>
            <a:ln w="73025" cap="rnd">
              <a:solidFill>
                <a:srgbClr val="109351"/>
              </a:solidFill>
              <a:beve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B5E4C7E-E0C5-3A90-1B7E-250F0F9B79C1}"/>
                </a:ext>
              </a:extLst>
            </p:cNvPr>
            <p:cNvCxnSpPr>
              <a:cxnSpLocks/>
            </p:cNvCxnSpPr>
            <p:nvPr userDrawn="1"/>
          </p:nvCxnSpPr>
          <p:spPr>
            <a:xfrm>
              <a:off x="11915192" y="3384473"/>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759E9BC-C992-4034-E847-F368F47127BA}"/>
                </a:ext>
              </a:extLst>
            </p:cNvPr>
            <p:cNvCxnSpPr>
              <a:cxnSpLocks/>
            </p:cNvCxnSpPr>
            <p:nvPr userDrawn="1"/>
          </p:nvCxnSpPr>
          <p:spPr>
            <a:xfrm>
              <a:off x="11812555" y="3020579"/>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4E36CE0-2FDB-9EE1-7529-DDA254E48C2C}"/>
                </a:ext>
              </a:extLst>
            </p:cNvPr>
            <p:cNvCxnSpPr>
              <a:cxnSpLocks/>
            </p:cNvCxnSpPr>
            <p:nvPr userDrawn="1"/>
          </p:nvCxnSpPr>
          <p:spPr>
            <a:xfrm>
              <a:off x="11905862" y="2577375"/>
              <a:ext cx="0" cy="475861"/>
            </a:xfrm>
            <a:prstGeom prst="line">
              <a:avLst/>
            </a:prstGeom>
            <a:ln w="73025" cap="rnd">
              <a:solidFill>
                <a:srgbClr val="FAD644"/>
              </a:solidFill>
              <a:beve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13F9AD5-0323-288C-B4BC-00DEEB0143DE}"/>
                </a:ext>
              </a:extLst>
            </p:cNvPr>
            <p:cNvCxnSpPr>
              <a:cxnSpLocks/>
            </p:cNvCxnSpPr>
            <p:nvPr userDrawn="1"/>
          </p:nvCxnSpPr>
          <p:spPr>
            <a:xfrm>
              <a:off x="11812555" y="2194051"/>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C302256-9149-54B8-F58D-102A6CA5374F}"/>
                </a:ext>
              </a:extLst>
            </p:cNvPr>
            <p:cNvCxnSpPr>
              <a:cxnSpLocks/>
            </p:cNvCxnSpPr>
            <p:nvPr userDrawn="1"/>
          </p:nvCxnSpPr>
          <p:spPr>
            <a:xfrm>
              <a:off x="11905862" y="1770277"/>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40005EF-F712-1A4E-8CF7-4B101B9385EA}"/>
                </a:ext>
              </a:extLst>
            </p:cNvPr>
            <p:cNvCxnSpPr>
              <a:cxnSpLocks/>
            </p:cNvCxnSpPr>
            <p:nvPr userDrawn="1"/>
          </p:nvCxnSpPr>
          <p:spPr>
            <a:xfrm>
              <a:off x="11812556" y="1367522"/>
              <a:ext cx="0" cy="475861"/>
            </a:xfrm>
            <a:prstGeom prst="line">
              <a:avLst/>
            </a:prstGeom>
            <a:ln w="73025" cap="rnd">
              <a:solidFill>
                <a:srgbClr val="008BCC"/>
              </a:solidFill>
              <a:beve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E651667B-31CC-F91D-2150-789398A79EA0}"/>
                </a:ext>
              </a:extLst>
            </p:cNvPr>
            <p:cNvSpPr/>
            <p:nvPr userDrawn="1"/>
          </p:nvSpPr>
          <p:spPr>
            <a:xfrm>
              <a:off x="11773968" y="1978831"/>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DB018D8-2EF5-9A97-ECA6-3EAC02944669}"/>
                </a:ext>
              </a:extLst>
            </p:cNvPr>
            <p:cNvSpPr/>
            <p:nvPr userDrawn="1"/>
          </p:nvSpPr>
          <p:spPr>
            <a:xfrm>
              <a:off x="11876605" y="2373170"/>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E3E30C8-9AB4-DCDE-B2B4-CC8A62D3ED7B}"/>
                </a:ext>
              </a:extLst>
            </p:cNvPr>
            <p:cNvSpPr/>
            <p:nvPr userDrawn="1"/>
          </p:nvSpPr>
          <p:spPr>
            <a:xfrm>
              <a:off x="11773967" y="2811651"/>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2965E4C7-016D-3E91-47F9-34C38241BE40}"/>
                </a:ext>
              </a:extLst>
            </p:cNvPr>
            <p:cNvSpPr/>
            <p:nvPr userDrawn="1"/>
          </p:nvSpPr>
          <p:spPr>
            <a:xfrm>
              <a:off x="11867275" y="3184646"/>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A216DA0-7AB9-DC0F-EB9B-94A71B678E08}"/>
                </a:ext>
              </a:extLst>
            </p:cNvPr>
            <p:cNvSpPr/>
            <p:nvPr userDrawn="1"/>
          </p:nvSpPr>
          <p:spPr>
            <a:xfrm>
              <a:off x="11773967" y="3611809"/>
              <a:ext cx="77173" cy="77173"/>
            </a:xfrm>
            <a:prstGeom prst="ellipse">
              <a:avLst/>
            </a:prstGeom>
            <a:solidFill>
              <a:srgbClr val="FAD6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BEBC524A-0598-5970-3E3A-1A12BB314944}"/>
                </a:ext>
              </a:extLst>
            </p:cNvPr>
            <p:cNvSpPr/>
            <p:nvPr userDrawn="1"/>
          </p:nvSpPr>
          <p:spPr>
            <a:xfrm>
              <a:off x="11876604" y="3980862"/>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EED92E5C-0133-6F6E-3AC4-E3BF08B7133E}"/>
                </a:ext>
              </a:extLst>
            </p:cNvPr>
            <p:cNvSpPr/>
            <p:nvPr userDrawn="1"/>
          </p:nvSpPr>
          <p:spPr>
            <a:xfrm>
              <a:off x="11773967" y="439929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9B4C966B-D75E-287C-60AF-D1830CC3F6E1}"/>
                </a:ext>
              </a:extLst>
            </p:cNvPr>
            <p:cNvSpPr/>
            <p:nvPr userDrawn="1"/>
          </p:nvSpPr>
          <p:spPr>
            <a:xfrm>
              <a:off x="11867274" y="4782238"/>
              <a:ext cx="77173" cy="77173"/>
            </a:xfrm>
            <a:prstGeom prst="ellipse">
              <a:avLst/>
            </a:prstGeom>
            <a:solidFill>
              <a:srgbClr val="109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AEFA3F1-7B18-877A-99AD-CED79E0ECE78}"/>
                </a:ext>
              </a:extLst>
            </p:cNvPr>
            <p:cNvSpPr/>
            <p:nvPr userDrawn="1"/>
          </p:nvSpPr>
          <p:spPr>
            <a:xfrm>
              <a:off x="11876603" y="1566865"/>
              <a:ext cx="77173" cy="77173"/>
            </a:xfrm>
            <a:prstGeom prst="ellipse">
              <a:avLst/>
            </a:prstGeom>
            <a:solidFill>
              <a:srgbClr val="008B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 name="Oval 60">
            <a:extLst>
              <a:ext uri="{FF2B5EF4-FFF2-40B4-BE49-F238E27FC236}">
                <a16:creationId xmlns:a16="http://schemas.microsoft.com/office/drawing/2014/main" id="{E3985124-E079-0DEA-BC3A-5AE9D3FBCF84}"/>
              </a:ext>
            </a:extLst>
          </p:cNvPr>
          <p:cNvSpPr/>
          <p:nvPr userDrawn="1"/>
        </p:nvSpPr>
        <p:spPr>
          <a:xfrm>
            <a:off x="1606550"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2" name="Oval 61">
            <a:extLst>
              <a:ext uri="{FF2B5EF4-FFF2-40B4-BE49-F238E27FC236}">
                <a16:creationId xmlns:a16="http://schemas.microsoft.com/office/drawing/2014/main" id="{8BCDF17F-7678-886B-BDC1-7D46E0FDC526}"/>
              </a:ext>
            </a:extLst>
          </p:cNvPr>
          <p:cNvSpPr/>
          <p:nvPr userDrawn="1"/>
        </p:nvSpPr>
        <p:spPr>
          <a:xfrm>
            <a:off x="97790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3" name="Oval 62">
            <a:extLst>
              <a:ext uri="{FF2B5EF4-FFF2-40B4-BE49-F238E27FC236}">
                <a16:creationId xmlns:a16="http://schemas.microsoft.com/office/drawing/2014/main" id="{A3D20AC5-1E8E-5321-E43D-46B445C65B67}"/>
              </a:ext>
            </a:extLst>
          </p:cNvPr>
          <p:cNvSpPr/>
          <p:nvPr userDrawn="1"/>
        </p:nvSpPr>
        <p:spPr>
          <a:xfrm>
            <a:off x="34925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4" name="Oval 63">
            <a:extLst>
              <a:ext uri="{FF2B5EF4-FFF2-40B4-BE49-F238E27FC236}">
                <a16:creationId xmlns:a16="http://schemas.microsoft.com/office/drawing/2014/main" id="{FA80B877-F110-D95C-7DD0-FEBBD1B4BA64}"/>
              </a:ext>
            </a:extLst>
          </p:cNvPr>
          <p:cNvSpPr/>
          <p:nvPr userDrawn="1"/>
        </p:nvSpPr>
        <p:spPr>
          <a:xfrm>
            <a:off x="55880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5" name="Oval 64">
            <a:extLst>
              <a:ext uri="{FF2B5EF4-FFF2-40B4-BE49-F238E27FC236}">
                <a16:creationId xmlns:a16="http://schemas.microsoft.com/office/drawing/2014/main" id="{03F7BB24-25F0-4188-72B0-2D5ED9CFB76E}"/>
              </a:ext>
            </a:extLst>
          </p:cNvPr>
          <p:cNvSpPr/>
          <p:nvPr userDrawn="1"/>
        </p:nvSpPr>
        <p:spPr>
          <a:xfrm>
            <a:off x="768350" y="6617616"/>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6" name="Oval 65">
            <a:extLst>
              <a:ext uri="{FF2B5EF4-FFF2-40B4-BE49-F238E27FC236}">
                <a16:creationId xmlns:a16="http://schemas.microsoft.com/office/drawing/2014/main" id="{97DEBEE4-3529-6BF7-C1EE-1F06689DC266}"/>
              </a:ext>
            </a:extLst>
          </p:cNvPr>
          <p:cNvSpPr/>
          <p:nvPr userDrawn="1"/>
        </p:nvSpPr>
        <p:spPr>
          <a:xfrm>
            <a:off x="118745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7" name="Oval 66">
            <a:extLst>
              <a:ext uri="{FF2B5EF4-FFF2-40B4-BE49-F238E27FC236}">
                <a16:creationId xmlns:a16="http://schemas.microsoft.com/office/drawing/2014/main" id="{8631BAD7-ACD6-558C-7884-5F8B8158569B}"/>
              </a:ext>
            </a:extLst>
          </p:cNvPr>
          <p:cNvSpPr/>
          <p:nvPr userDrawn="1"/>
        </p:nvSpPr>
        <p:spPr>
          <a:xfrm>
            <a:off x="1397000" y="6617616"/>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8" name="Oval 67">
            <a:extLst>
              <a:ext uri="{FF2B5EF4-FFF2-40B4-BE49-F238E27FC236}">
                <a16:creationId xmlns:a16="http://schemas.microsoft.com/office/drawing/2014/main" id="{644534C1-CAD6-EE98-DA4C-80ABB36189FA}"/>
              </a:ext>
            </a:extLst>
          </p:cNvPr>
          <p:cNvSpPr/>
          <p:nvPr userDrawn="1"/>
        </p:nvSpPr>
        <p:spPr>
          <a:xfrm>
            <a:off x="1816100"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9" name="Oval 68">
            <a:extLst>
              <a:ext uri="{FF2B5EF4-FFF2-40B4-BE49-F238E27FC236}">
                <a16:creationId xmlns:a16="http://schemas.microsoft.com/office/drawing/2014/main" id="{6D273F5C-D33F-EF59-0554-6E5D0016BFBC}"/>
              </a:ext>
            </a:extLst>
          </p:cNvPr>
          <p:cNvSpPr/>
          <p:nvPr userDrawn="1"/>
        </p:nvSpPr>
        <p:spPr>
          <a:xfrm>
            <a:off x="2005561" y="6617616"/>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0" name="Oval 69">
            <a:extLst>
              <a:ext uri="{FF2B5EF4-FFF2-40B4-BE49-F238E27FC236}">
                <a16:creationId xmlns:a16="http://schemas.microsoft.com/office/drawing/2014/main" id="{47062037-C070-A95A-9CED-80046DEC4BEB}"/>
              </a:ext>
            </a:extLst>
          </p:cNvPr>
          <p:cNvSpPr/>
          <p:nvPr userDrawn="1"/>
        </p:nvSpPr>
        <p:spPr>
          <a:xfrm>
            <a:off x="1128395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1" name="Oval 70">
            <a:extLst>
              <a:ext uri="{FF2B5EF4-FFF2-40B4-BE49-F238E27FC236}">
                <a16:creationId xmlns:a16="http://schemas.microsoft.com/office/drawing/2014/main" id="{FA6AEF5D-0DD5-0B6D-960F-425B1836E1F8}"/>
              </a:ext>
            </a:extLst>
          </p:cNvPr>
          <p:cNvSpPr/>
          <p:nvPr userDrawn="1"/>
        </p:nvSpPr>
        <p:spPr>
          <a:xfrm>
            <a:off x="1149350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2" name="Oval 71">
            <a:extLst>
              <a:ext uri="{FF2B5EF4-FFF2-40B4-BE49-F238E27FC236}">
                <a16:creationId xmlns:a16="http://schemas.microsoft.com/office/drawing/2014/main" id="{BD6BA97C-413A-8ACF-FA70-F3C46173BD30}"/>
              </a:ext>
            </a:extLst>
          </p:cNvPr>
          <p:cNvSpPr/>
          <p:nvPr userDrawn="1"/>
        </p:nvSpPr>
        <p:spPr>
          <a:xfrm>
            <a:off x="11703050" y="109891"/>
            <a:ext cx="139700" cy="139700"/>
          </a:xfrm>
          <a:prstGeom prst="ellipse">
            <a:avLst/>
          </a:prstGeom>
          <a:solidFill>
            <a:srgbClr val="008BCC">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3" name="Oval 72">
            <a:extLst>
              <a:ext uri="{FF2B5EF4-FFF2-40B4-BE49-F238E27FC236}">
                <a16:creationId xmlns:a16="http://schemas.microsoft.com/office/drawing/2014/main" id="{E6513DCA-0540-607D-489B-ADAE97DD8FC5}"/>
              </a:ext>
            </a:extLst>
          </p:cNvPr>
          <p:cNvSpPr/>
          <p:nvPr userDrawn="1"/>
        </p:nvSpPr>
        <p:spPr>
          <a:xfrm>
            <a:off x="1065530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4" name="Oval 73">
            <a:extLst>
              <a:ext uri="{FF2B5EF4-FFF2-40B4-BE49-F238E27FC236}">
                <a16:creationId xmlns:a16="http://schemas.microsoft.com/office/drawing/2014/main" id="{EE5863C7-E4EF-A939-43D8-8A5F26090798}"/>
              </a:ext>
            </a:extLst>
          </p:cNvPr>
          <p:cNvSpPr/>
          <p:nvPr userDrawn="1"/>
        </p:nvSpPr>
        <p:spPr>
          <a:xfrm>
            <a:off x="1086485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5" name="Oval 74">
            <a:extLst>
              <a:ext uri="{FF2B5EF4-FFF2-40B4-BE49-F238E27FC236}">
                <a16:creationId xmlns:a16="http://schemas.microsoft.com/office/drawing/2014/main" id="{C52C00B1-AA56-6255-E25D-597D9F99820B}"/>
              </a:ext>
            </a:extLst>
          </p:cNvPr>
          <p:cNvSpPr/>
          <p:nvPr userDrawn="1"/>
        </p:nvSpPr>
        <p:spPr>
          <a:xfrm>
            <a:off x="11074400" y="109891"/>
            <a:ext cx="139700" cy="139700"/>
          </a:xfrm>
          <a:prstGeom prst="ellipse">
            <a:avLst/>
          </a:prstGeom>
          <a:solidFill>
            <a:srgbClr val="FAD20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Oval 75">
            <a:extLst>
              <a:ext uri="{FF2B5EF4-FFF2-40B4-BE49-F238E27FC236}">
                <a16:creationId xmlns:a16="http://schemas.microsoft.com/office/drawing/2014/main" id="{4CB4C63B-CD2A-B497-E58A-2767E6C01D10}"/>
              </a:ext>
            </a:extLst>
          </p:cNvPr>
          <p:cNvSpPr/>
          <p:nvPr userDrawn="1"/>
        </p:nvSpPr>
        <p:spPr>
          <a:xfrm>
            <a:off x="10046739"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7" name="Oval 76">
            <a:extLst>
              <a:ext uri="{FF2B5EF4-FFF2-40B4-BE49-F238E27FC236}">
                <a16:creationId xmlns:a16="http://schemas.microsoft.com/office/drawing/2014/main" id="{09A7A4A1-FD2B-1297-4853-FC278D1569B2}"/>
              </a:ext>
            </a:extLst>
          </p:cNvPr>
          <p:cNvSpPr/>
          <p:nvPr userDrawn="1"/>
        </p:nvSpPr>
        <p:spPr>
          <a:xfrm>
            <a:off x="10256289"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8" name="Oval 77">
            <a:extLst>
              <a:ext uri="{FF2B5EF4-FFF2-40B4-BE49-F238E27FC236}">
                <a16:creationId xmlns:a16="http://schemas.microsoft.com/office/drawing/2014/main" id="{28E970DA-C16D-69FE-3E8F-9761A3D62978}"/>
              </a:ext>
            </a:extLst>
          </p:cNvPr>
          <p:cNvSpPr/>
          <p:nvPr userDrawn="1"/>
        </p:nvSpPr>
        <p:spPr>
          <a:xfrm>
            <a:off x="10445750" y="109891"/>
            <a:ext cx="139700" cy="139700"/>
          </a:xfrm>
          <a:prstGeom prst="ellipse">
            <a:avLst/>
          </a:prstGeom>
          <a:solidFill>
            <a:srgbClr val="109351">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3312094651"/>
      </p:ext>
    </p:extLst>
  </p:cSld>
  <p:clrMap bg1="lt1" tx1="dk1" bg2="lt2" tx2="dk2" accent1="accent1" accent2="accent2" accent3="accent3" accent4="accent4" accent5="accent5" accent6="accent6" hlink="hlink" folHlink="folHlink"/>
  <p:sldLayoutIdLst>
    <p:sldLayoutId id="2147483911" r:id="rId1"/>
    <p:sldLayoutId id="2147483912" r:id="rId2"/>
    <p:sldLayoutId id="2147483913" r:id="rId3"/>
    <p:sldLayoutId id="2147483914" r:id="rId4"/>
    <p:sldLayoutId id="2147483915" r:id="rId5"/>
    <p:sldLayoutId id="2147483916" r:id="rId6"/>
    <p:sldLayoutId id="2147483917" r:id="rId7"/>
    <p:sldLayoutId id="2147483918" r:id="rId8"/>
    <p:sldLayoutId id="2147483919" r:id="rId9"/>
    <p:sldLayoutId id="2147483920" r:id="rId10"/>
    <p:sldLayoutId id="2147483921" r:id="rId11"/>
  </p:sldLayoutIdLst>
  <p:txStyles>
    <p:titleStyle>
      <a:lvl1pPr algn="l" defTabSz="914400" rtl="0" eaLnBrk="1" latinLnBrk="0" hangingPunct="1">
        <a:lnSpc>
          <a:spcPct val="90000"/>
        </a:lnSpc>
        <a:spcBef>
          <a:spcPct val="0"/>
        </a:spcBef>
        <a:buNone/>
        <a:defRPr lang="en-US" sz="3200" b="1" kern="1200" smtClean="0">
          <a:solidFill>
            <a:schemeClr val="tx1"/>
          </a:solidFill>
          <a:latin typeface="Bahnschrift" panose="020B05020402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1016000" cy="820738"/>
          </a:xfrm>
          <a:prstGeom prst="rect">
            <a:avLst/>
          </a:prstGeom>
          <a:noFill/>
          <a:ln w="9525">
            <a:solidFill>
              <a:schemeClr val="bg1"/>
            </a:solidFill>
            <a:miter lim="800000"/>
            <a:headEnd/>
            <a:tailEnd/>
          </a:ln>
        </p:spPr>
      </p:pic>
    </p:spTree>
    <p:extLst>
      <p:ext uri="{BB962C8B-B14F-4D97-AF65-F5344CB8AC3E}">
        <p14:creationId xmlns:p14="http://schemas.microsoft.com/office/powerpoint/2010/main" val="2157954755"/>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1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slides/_rels/slide1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1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31.emf"/></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tmp"/><Relationship Id="rId7" Type="http://schemas.openxmlformats.org/officeDocument/2006/relationships/image" Target="../media/image41.tmp"/><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tmp"/><Relationship Id="rId5" Type="http://schemas.openxmlformats.org/officeDocument/2006/relationships/image" Target="../media/image39.tmp"/><Relationship Id="rId4" Type="http://schemas.openxmlformats.org/officeDocument/2006/relationships/image" Target="../media/image38.tmp"/></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866900" y="3475772"/>
            <a:ext cx="8458200" cy="1482842"/>
          </a:xfrm>
          <a:prstGeom prst="rect">
            <a:avLst/>
          </a:prstGeom>
          <a:noFill/>
          <a:ln w="28575">
            <a:noFill/>
          </a:ln>
        </p:spPr>
        <p:txBody>
          <a:bodyPr>
            <a:spAutoFit/>
          </a:bodyPr>
          <a:lstStyle/>
          <a:p>
            <a:pPr algn="ctr">
              <a:lnSpc>
                <a:spcPct val="150000"/>
              </a:lnSpc>
              <a:defRPr/>
            </a:pPr>
            <a:r>
              <a:rPr lang="en-GB" sz="3200" b="1" dirty="0">
                <a:solidFill>
                  <a:srgbClr val="002060"/>
                </a:solidFill>
                <a:latin typeface="Bahnschrift" panose="020B0502040204020203" pitchFamily="34" charset="0"/>
              </a:rPr>
              <a:t>Quarterly Macro-Fiscal Outlook (QMFO)</a:t>
            </a:r>
          </a:p>
          <a:p>
            <a:pPr algn="ctr">
              <a:lnSpc>
                <a:spcPct val="150000"/>
              </a:lnSpc>
              <a:defRPr/>
            </a:pPr>
            <a:r>
              <a:rPr lang="en-GB" sz="3200" b="1" dirty="0">
                <a:solidFill>
                  <a:srgbClr val="002060"/>
                </a:solidFill>
                <a:latin typeface="Bahnschrift" panose="020B0502040204020203" pitchFamily="34" charset="0"/>
              </a:rPr>
              <a:t>Summary Outlook 2024-27</a:t>
            </a:r>
          </a:p>
        </p:txBody>
      </p:sp>
      <p:cxnSp>
        <p:nvCxnSpPr>
          <p:cNvPr id="7" name="Straight Connector 6"/>
          <p:cNvCxnSpPr/>
          <p:nvPr/>
        </p:nvCxnSpPr>
        <p:spPr>
          <a:xfrm rot="10800000">
            <a:off x="2362200" y="3048000"/>
            <a:ext cx="7543800" cy="15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048000" y="5715000"/>
            <a:ext cx="5867400" cy="523220"/>
          </a:xfrm>
          <a:prstGeom prst="rect">
            <a:avLst/>
          </a:prstGeom>
          <a:noFill/>
        </p:spPr>
        <p:txBody>
          <a:bodyPr wrap="square" rtlCol="0">
            <a:spAutoFit/>
          </a:bodyPr>
          <a:lstStyle/>
          <a:p>
            <a:pPr algn="ctr"/>
            <a:r>
              <a:rPr lang="en-US" sz="2800" dirty="0">
                <a:solidFill>
                  <a:schemeClr val="accent4">
                    <a:lumMod val="50000"/>
                  </a:schemeClr>
                </a:solidFill>
                <a:latin typeface="Bahnschrift Light" panose="020B0502040204020203" pitchFamily="34" charset="0"/>
              </a:rPr>
              <a:t>Nov 2024 Round</a:t>
            </a:r>
            <a:endParaRPr lang="en-US" sz="2800" dirty="0">
              <a:solidFill>
                <a:srgbClr val="FF0000"/>
              </a:solidFill>
              <a:latin typeface="Bahnschrift Light" panose="020B0502040204020203" pitchFamily="34" charset="0"/>
            </a:endParaRPr>
          </a:p>
        </p:txBody>
      </p:sp>
      <p:sp>
        <p:nvSpPr>
          <p:cNvPr id="3" name="TextBox 2">
            <a:extLst>
              <a:ext uri="{FF2B5EF4-FFF2-40B4-BE49-F238E27FC236}">
                <a16:creationId xmlns:a16="http://schemas.microsoft.com/office/drawing/2014/main" id="{E1578755-694B-F809-9288-A5B861F3FF33}"/>
              </a:ext>
            </a:extLst>
          </p:cNvPr>
          <p:cNvSpPr txBox="1"/>
          <p:nvPr/>
        </p:nvSpPr>
        <p:spPr>
          <a:xfrm>
            <a:off x="1524001" y="990600"/>
            <a:ext cx="8458200" cy="1077218"/>
          </a:xfrm>
          <a:prstGeom prst="rect">
            <a:avLst/>
          </a:prstGeom>
          <a:noFill/>
          <a:ln w="28575">
            <a:noFill/>
          </a:ln>
        </p:spPr>
        <p:txBody>
          <a:bodyPr>
            <a:spAutoFit/>
          </a:bodyPr>
          <a:lstStyle/>
          <a:p>
            <a:pPr algn="ctr">
              <a:defRPr/>
            </a:pPr>
            <a:r>
              <a:rPr lang="en-GB" sz="3200" b="1" dirty="0">
                <a:solidFill>
                  <a:schemeClr val="accent4">
                    <a:lumMod val="50000"/>
                  </a:schemeClr>
                </a:solidFill>
                <a:latin typeface="Bahnschrift" panose="020B0502040204020203" pitchFamily="34" charset="0"/>
              </a:rPr>
              <a:t>MINECOFIN Quarterly Macro-Fiscal Model (QMFM)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305857"/>
            <a:ext cx="10261600" cy="549274"/>
          </a:xfrm>
        </p:spPr>
        <p:txBody>
          <a:bodyPr/>
          <a:lstStyle/>
          <a:p>
            <a:r>
              <a:rPr lang="en-GB" sz="3200" b="1" dirty="0">
                <a:latin typeface="Bahnschrift" panose="020B0502040204020203" pitchFamily="34" charset="0"/>
              </a:rPr>
              <a:t>Outline/contents</a:t>
            </a:r>
            <a:endParaRPr lang="en-AE" sz="3200" b="1" dirty="0">
              <a:latin typeface="Bahnschrift" panose="020B0502040204020203" pitchFamily="34" charset="0"/>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1</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457200" y="1143000"/>
            <a:ext cx="108966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GB" sz="1600" dirty="0"/>
          </a:p>
        </p:txBody>
      </p:sp>
      <p:sp>
        <p:nvSpPr>
          <p:cNvPr id="6" name="TextBox 5">
            <a:extLst>
              <a:ext uri="{FF2B5EF4-FFF2-40B4-BE49-F238E27FC236}">
                <a16:creationId xmlns:a16="http://schemas.microsoft.com/office/drawing/2014/main" id="{D7294143-809D-C767-7D9E-2097A352781A}"/>
              </a:ext>
            </a:extLst>
          </p:cNvPr>
          <p:cNvSpPr txBox="1"/>
          <p:nvPr/>
        </p:nvSpPr>
        <p:spPr>
          <a:xfrm>
            <a:off x="685800" y="1219200"/>
            <a:ext cx="11328400" cy="6063198"/>
          </a:xfrm>
          <a:prstGeom prst="rect">
            <a:avLst/>
          </a:prstGeom>
          <a:noFill/>
        </p:spPr>
        <p:txBody>
          <a:bodyPr wrap="square">
            <a:spAutoFit/>
          </a:bodyPr>
          <a:lstStyle/>
          <a:p>
            <a:pPr marL="514350" indent="-514350">
              <a:lnSpc>
                <a:spcPct val="200000"/>
              </a:lnSpc>
              <a:buAutoNum type="romanUcPeriod"/>
            </a:pPr>
            <a:r>
              <a:rPr lang="en-US" b="1" dirty="0">
                <a:solidFill>
                  <a:schemeClr val="accent4">
                    <a:lumMod val="50000"/>
                  </a:schemeClr>
                </a:solidFill>
                <a:latin typeface="Bahnschrift" panose="020B0502040204020203" pitchFamily="34" charset="0"/>
              </a:rPr>
              <a:t>Glossary of key terms and acronyms</a:t>
            </a:r>
            <a:endParaRPr lang="en-GB" b="1" dirty="0">
              <a:solidFill>
                <a:schemeClr val="accent4">
                  <a:lumMod val="50000"/>
                </a:schemeClr>
              </a:solidFill>
              <a:latin typeface="Bahnschrift" panose="020B0502040204020203" pitchFamily="34" charset="0"/>
            </a:endParaRPr>
          </a:p>
          <a:p>
            <a:pPr marL="514350" indent="-514350">
              <a:lnSpc>
                <a:spcPct val="200000"/>
              </a:lnSpc>
              <a:buAutoNum type="romanUcPeriod"/>
            </a:pPr>
            <a:r>
              <a:rPr lang="en-US" b="1" dirty="0">
                <a:solidFill>
                  <a:schemeClr val="accent4">
                    <a:lumMod val="50000"/>
                  </a:schemeClr>
                </a:solidFill>
                <a:latin typeface="Bahnschrift" panose="020B0502040204020203" pitchFamily="34" charset="0"/>
              </a:rPr>
              <a:t>Recent macroeconomic developments</a:t>
            </a:r>
          </a:p>
          <a:p>
            <a:pPr marL="514350" indent="-514350">
              <a:lnSpc>
                <a:spcPct val="200000"/>
              </a:lnSpc>
              <a:buAutoNum type="romanUcPeriod"/>
            </a:pPr>
            <a:r>
              <a:rPr lang="en-US" b="1" dirty="0">
                <a:solidFill>
                  <a:schemeClr val="accent4">
                    <a:lumMod val="50000"/>
                  </a:schemeClr>
                </a:solidFill>
                <a:latin typeface="Bahnschrift" panose="020B0502040204020203" pitchFamily="34" charset="0"/>
              </a:rPr>
              <a:t>Macroeconomic forecast assumptions</a:t>
            </a:r>
          </a:p>
          <a:p>
            <a:pPr marL="514350" indent="-514350">
              <a:lnSpc>
                <a:spcPct val="200000"/>
              </a:lnSpc>
              <a:buAutoNum type="romanUcPeriod"/>
            </a:pPr>
            <a:r>
              <a:rPr lang="en-US" b="1" dirty="0">
                <a:solidFill>
                  <a:schemeClr val="accent4">
                    <a:lumMod val="50000"/>
                  </a:schemeClr>
                </a:solidFill>
                <a:latin typeface="Bahnschrift" panose="020B0502040204020203" pitchFamily="34" charset="0"/>
              </a:rPr>
              <a:t>Macroeconomic forecast/outlook</a:t>
            </a:r>
          </a:p>
          <a:p>
            <a:pPr marL="514350" indent="-514350">
              <a:lnSpc>
                <a:spcPct val="200000"/>
              </a:lnSpc>
              <a:buFontTx/>
              <a:buAutoNum type="romanUcPeriod"/>
            </a:pPr>
            <a:r>
              <a:rPr lang="en-GB" b="1" dirty="0">
                <a:solidFill>
                  <a:schemeClr val="accent4">
                    <a:lumMod val="50000"/>
                  </a:schemeClr>
                </a:solidFill>
                <a:latin typeface="Bahnschrift" panose="020B0502040204020203" pitchFamily="34" charset="0"/>
              </a:rPr>
              <a:t>Forecast evaluation (forecast comparison)</a:t>
            </a:r>
          </a:p>
          <a:p>
            <a:pPr marL="514350" indent="-514350">
              <a:lnSpc>
                <a:spcPct val="200000"/>
              </a:lnSpc>
              <a:buFontTx/>
              <a:buAutoNum type="romanUcPeriod"/>
            </a:pPr>
            <a:r>
              <a:rPr lang="en-US" b="1" dirty="0">
                <a:solidFill>
                  <a:schemeClr val="accent4">
                    <a:lumMod val="50000"/>
                  </a:schemeClr>
                </a:solidFill>
                <a:latin typeface="Bahnschrift" panose="020B0502040204020203" pitchFamily="34" charset="0"/>
              </a:rPr>
              <a:t>Model revision—Effect of recalibration</a:t>
            </a:r>
          </a:p>
          <a:p>
            <a:pPr marL="514350" indent="-514350">
              <a:lnSpc>
                <a:spcPct val="200000"/>
              </a:lnSpc>
              <a:buAutoNum type="romanUcPeriod"/>
            </a:pPr>
            <a:r>
              <a:rPr lang="en-US" sz="2000" b="1" dirty="0">
                <a:solidFill>
                  <a:schemeClr val="accent4">
                    <a:lumMod val="50000"/>
                  </a:schemeClr>
                </a:solidFill>
                <a:latin typeface="Bahnschrift" panose="020B0502040204020203" pitchFamily="34" charset="0"/>
                <a:cs typeface="+mj-cs"/>
              </a:rPr>
              <a:t>QMFM interrelation with the macro toolbox (nowcasting, MF)</a:t>
            </a:r>
          </a:p>
          <a:p>
            <a:pPr>
              <a:lnSpc>
                <a:spcPct val="200000"/>
              </a:lnSpc>
            </a:pPr>
            <a:endParaRPr lang="en-GB" sz="2000" b="1" dirty="0">
              <a:solidFill>
                <a:schemeClr val="accent4">
                  <a:lumMod val="50000"/>
                </a:schemeClr>
              </a:solidFill>
              <a:latin typeface="Bahnschrift" panose="020B0502040204020203" pitchFamily="34" charset="0"/>
            </a:endParaRPr>
          </a:p>
          <a:p>
            <a:pPr marL="514350" indent="-514350">
              <a:buAutoNum type="romanUcPeriod"/>
            </a:pPr>
            <a:endParaRPr lang="en-RW" sz="2000" b="1" dirty="0">
              <a:latin typeface="Bahnschrift Light" panose="020B0502040204020203" pitchFamily="34" charset="0"/>
            </a:endParaRPr>
          </a:p>
        </p:txBody>
      </p:sp>
    </p:spTree>
    <p:extLst>
      <p:ext uri="{BB962C8B-B14F-4D97-AF65-F5344CB8AC3E}">
        <p14:creationId xmlns:p14="http://schemas.microsoft.com/office/powerpoint/2010/main" val="2837343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E66D5-96F8-C776-06D5-E110B7CAB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CEE73-C74B-3B84-4080-A52B3299E858}"/>
              </a:ext>
            </a:extLst>
          </p:cNvPr>
          <p:cNvSpPr>
            <a:spLocks noGrp="1"/>
          </p:cNvSpPr>
          <p:nvPr>
            <p:ph type="title"/>
          </p:nvPr>
        </p:nvSpPr>
        <p:spPr>
          <a:xfrm>
            <a:off x="1676400" y="92075"/>
            <a:ext cx="10261600" cy="838200"/>
          </a:xfrm>
        </p:spPr>
        <p:txBody>
          <a:bodyPr/>
          <a:lstStyle/>
          <a:p>
            <a:pPr>
              <a:lnSpc>
                <a:spcPct val="200000"/>
              </a:lnSpc>
            </a:pPr>
            <a:r>
              <a:rPr lang="en-US" b="1" dirty="0">
                <a:solidFill>
                  <a:schemeClr val="accent4">
                    <a:lumMod val="50000"/>
                  </a:schemeClr>
                </a:solidFill>
                <a:latin typeface="Bahnschrift" panose="020B0502040204020203" pitchFamily="34" charset="0"/>
                <a:cs typeface="+mn-cs"/>
              </a:rPr>
              <a:t>Acronyms</a:t>
            </a:r>
            <a:endParaRPr lang="en-AE"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E255FB16-A2D7-AA50-F4D7-7329FBD673E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5" name="Content Placeholder 2">
            <a:extLst>
              <a:ext uri="{FF2B5EF4-FFF2-40B4-BE49-F238E27FC236}">
                <a16:creationId xmlns:a16="http://schemas.microsoft.com/office/drawing/2014/main" id="{FC154AE9-F001-8533-BC32-D910385AC87E}"/>
              </a:ext>
            </a:extLst>
          </p:cNvPr>
          <p:cNvSpPr txBox="1">
            <a:spLocks/>
          </p:cNvSpPr>
          <p:nvPr/>
        </p:nvSpPr>
        <p:spPr>
          <a:xfrm>
            <a:off x="381000" y="1143000"/>
            <a:ext cx="5334000" cy="53340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FPAS</a:t>
            </a:r>
            <a:r>
              <a:rPr kumimoji="0" lang="en-GB" sz="1600" b="0"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Forecasting and Policy Analysis System (FPAS)</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ER: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Exchange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RER: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Real Exchange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IB</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Interbank interest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RIR: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Real Interest Rate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NTF: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Neal Term Forecast</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MT and L</a:t>
            </a:r>
            <a:r>
              <a:rPr kumimoji="0" lang="en-GB" sz="1600" b="0"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T</a:t>
            </a: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Medium-Term</a:t>
            </a: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Long-Term</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YoY, %: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Year on Year Percentage Change</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GB"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G&amp;S: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goods and services (govt demand, exports, …)</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WEO: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World Economic Outlook (by IMF)</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GAS: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General Assumptions (in WEO)</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GEE: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General Economic Environment (in WEO)</a:t>
            </a: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r>
              <a:rPr kumimoji="0" lang="en-US" sz="1600" b="1" i="0" u="none" strike="noStrike" kern="1200" cap="none" spc="0" normalizeH="0" baseline="0" noProof="0" dirty="0">
                <a:ln>
                  <a:noFill/>
                </a:ln>
                <a:solidFill>
                  <a:srgbClr val="192EF7">
                    <a:lumMod val="50000"/>
                  </a:srgbClr>
                </a:solidFill>
                <a:effectLst/>
                <a:uLnTx/>
                <a:uFillTx/>
                <a:latin typeface="Bahnschrift Light" panose="020B0502040204020203" pitchFamily="34" charset="0"/>
                <a:ea typeface="ＭＳ Ｐゴシック" charset="-128"/>
                <a:cs typeface="+mn-cs"/>
              </a:rPr>
              <a:t>CBO</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Central Budget Office US</a:t>
            </a:r>
            <a:endPar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a:p>
            <a:pPr marL="273050" marR="0" lvl="0" indent="-273050" algn="l" defTabSz="914400" rtl="0" eaLnBrk="0" fontAlgn="base" latinLnBrk="0" hangingPunct="0">
              <a:lnSpc>
                <a:spcPct val="100000"/>
              </a:lnSpc>
              <a:spcBef>
                <a:spcPts val="600"/>
              </a:spcBef>
              <a:spcAft>
                <a:spcPts val="600"/>
              </a:spcAft>
              <a:buClr>
                <a:srgbClr val="00B0F0"/>
              </a:buClr>
              <a:buSzPct val="76000"/>
              <a:buFont typeface="Wingdings" panose="05000000000000000000" pitchFamily="2" charset="2"/>
              <a:buChar char="§"/>
              <a:tabLst/>
              <a:defRPr/>
            </a:pPr>
            <a:endParaRPr kumimoji="0" lang="en-GB" sz="18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
        <p:nvSpPr>
          <p:cNvPr id="4" name="Content Placeholder 2">
            <a:extLst>
              <a:ext uri="{FF2B5EF4-FFF2-40B4-BE49-F238E27FC236}">
                <a16:creationId xmlns:a16="http://schemas.microsoft.com/office/drawing/2014/main" id="{BE7C06F3-7D38-F318-7279-90BF1F4262B5}"/>
              </a:ext>
            </a:extLst>
          </p:cNvPr>
          <p:cNvSpPr txBox="1">
            <a:spLocks/>
          </p:cNvSpPr>
          <p:nvPr/>
        </p:nvSpPr>
        <p:spPr>
          <a:xfrm>
            <a:off x="5791200" y="1143000"/>
            <a:ext cx="5334000" cy="53340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l"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GB" sz="18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3241965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00200" y="152400"/>
            <a:ext cx="10287000" cy="457200"/>
          </a:xfrm>
        </p:spPr>
        <p:txBody>
          <a:bodyPr/>
          <a:lstStyle/>
          <a:p>
            <a:pPr>
              <a:lnSpc>
                <a:spcPct val="200000"/>
              </a:lnSpc>
            </a:pPr>
            <a:r>
              <a:rPr lang="en-US" sz="2400" b="1" dirty="0">
                <a:solidFill>
                  <a:schemeClr val="accent4">
                    <a:lumMod val="50000"/>
                  </a:schemeClr>
                </a:solidFill>
                <a:latin typeface="Bahnschrift" panose="020B0502040204020203" pitchFamily="34" charset="0"/>
                <a:cs typeface="+mn-cs"/>
              </a:rPr>
              <a:t>Glossary of key terms</a:t>
            </a:r>
            <a:endParaRPr lang="en-AE" sz="2400"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228600" y="1066800"/>
            <a:ext cx="11760200" cy="56388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Output gap &amp; final demand gaps (+/-):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output Y above/below potential or trend level Y*, i.e., output gap is log(Y/Y*) &gt;&lt; 0</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Real interest &amp; real exchange rate gaps</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RIR and RER above/below neutral or equilibrium levels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Decomposition of macro aggregates by main drivers</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coloured bars in charts show contribution of each</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deficit </a:t>
            </a:r>
            <a:r>
              <a:rPr kumimoji="0" lang="en-GB" sz="1400" b="1" i="0" u="none" strike="noStrike" kern="1200" cap="none" spc="0" normalizeH="0" baseline="0" noProof="0" dirty="0">
                <a:ln>
                  <a:noFill/>
                </a:ln>
                <a:solidFill>
                  <a:srgbClr val="002060"/>
                </a:solidFill>
                <a:effectLst/>
                <a:uLnTx/>
                <a:uFillTx/>
                <a:latin typeface="Bahnschrift SemiLight" panose="020B0502040204020203" pitchFamily="34" charset="0"/>
                <a:ea typeface="ＭＳ Ｐゴシック" charset="-128"/>
                <a:cs typeface="+mn-cs"/>
              </a:rPr>
              <a:t>relevant for demand impact</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deficit before grants = total expenditure -/- non/tax revenue</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Debt anchor &amp; sustainable deficit</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debt ratio to GDP target (with LT growth, inflation rates, etc.) drives sustainable debt-creating deficit.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stance expansionary/contractionary: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deficit, govt demand G&amp;S in % GDP above/below trend levels (“discretionary” deficit, demand &gt;&lt;0)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Fiscal impulse (on private demand):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mainly</a:t>
            </a:r>
            <a:r>
              <a:rPr kumimoji="0" lang="en-GB" sz="14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discretionary fiscal deficit affecting consumption &amp; investment   (via income, ‘optimism’)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More/less restrictive monetary policies</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(real) interest rates above/below neutral or trend levels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More/less restrictive exchange rate policies</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real exchange rate below/above equilibrium or trend level</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Role expectations</a:t>
            </a:r>
            <a:r>
              <a:rPr kumimoji="0" lang="en-GB" sz="1400" b="1" i="0" u="none" strike="noStrike" kern="1200" cap="none" spc="0" normalizeH="0" baseline="0" noProof="0" dirty="0">
                <a:ln>
                  <a:noFill/>
                </a:ln>
                <a:solidFill>
                  <a:srgbClr val="002060"/>
                </a:solidFill>
                <a:effectLst/>
                <a:uLnTx/>
                <a:uFillTx/>
                <a:latin typeface="Bahnschrift SemiLight" panose="020B0502040204020203" pitchFamily="34" charset="0"/>
                <a:ea typeface="ＭＳ Ｐゴシック" charset="-128"/>
                <a:cs typeface="+mn-cs"/>
              </a:rPr>
              <a:t>:</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agents today consider expected macro variables and policies in future (expected inflation, exchange rate, demand gaps,…)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Forward-looking</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one or four periods ahead behavioural expectations/speculations  {+1} or {+4 Q}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Persistence:</a:t>
            </a:r>
            <a:r>
              <a:rPr kumimoji="0" lang="en-GB" sz="1400" b="1"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lag or effect of previous/initial values or behaviours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Trend </a:t>
            </a:r>
            <a:r>
              <a:rPr kumimoji="0" lang="en-GB" sz="14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(unobserved):</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 trends of key macro variables are estimated; set steady state trends (to which variables converge in absence of shocks)</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Shock: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All other factors not captured by model equation or parameter specification </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kumimoji="0" lang="en-GB" sz="1400" b="1"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Decomposition </a:t>
            </a:r>
            <a:r>
              <a:rPr kumimoji="0" lang="en-GB" sz="1400" b="0" i="0" u="none" strike="noStrike" kern="1200" cap="none" spc="0" normalizeH="0" baseline="0" noProof="0" dirty="0">
                <a:ln>
                  <a:noFill/>
                </a:ln>
                <a:solidFill>
                  <a:srgbClr val="192EF7">
                    <a:lumMod val="50000"/>
                  </a:srgbClr>
                </a:solidFill>
                <a:effectLst/>
                <a:uLnTx/>
                <a:uFillTx/>
                <a:latin typeface="Bahnschrift SemiLight" panose="020B0502040204020203" pitchFamily="34" charset="0"/>
                <a:ea typeface="ＭＳ Ｐゴシック" charset="-128"/>
                <a:cs typeface="+mn-cs"/>
              </a:rPr>
              <a:t>(level, growth rate, % GDP): </a:t>
            </a:r>
            <a:r>
              <a:rPr kumimoji="0" lang="en-GB" sz="1400" b="0" i="0" u="none" strike="noStrike" kern="1200" cap="none" spc="0" normalizeH="0" baseline="0" noProof="0" dirty="0">
                <a:ln>
                  <a:noFill/>
                </a:ln>
                <a:solidFill>
                  <a:prstClr val="black"/>
                </a:solidFill>
                <a:effectLst/>
                <a:uLnTx/>
                <a:uFillTx/>
                <a:latin typeface="Bahnschrift SemiLight" panose="020B0502040204020203" pitchFamily="34" charset="0"/>
                <a:ea typeface="ＭＳ Ｐゴシック" charset="-128"/>
                <a:cs typeface="+mn-cs"/>
              </a:rPr>
              <a:t>e.g., output (gap) by final demands, GDP growth by components, deficit % of GDP by revenue, exp.</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r>
              <a:rPr lang="en-GB" sz="1400" b="1" dirty="0">
                <a:solidFill>
                  <a:srgbClr val="192EF7">
                    <a:lumMod val="50000"/>
                  </a:srgbClr>
                </a:solidFill>
                <a:latin typeface="Bahnschrift SemiLight" panose="020B0502040204020203" pitchFamily="34" charset="0"/>
              </a:rPr>
              <a:t>Overvaluation and undervaluation</a:t>
            </a:r>
          </a:p>
          <a:p>
            <a:pPr marL="273050" marR="0" lvl="0" indent="-273050" algn="l" defTabSz="914400" rtl="0" eaLnBrk="0" fontAlgn="base" latinLnBrk="0" hangingPunct="0">
              <a:lnSpc>
                <a:spcPct val="150000"/>
              </a:lnSpc>
              <a:spcBef>
                <a:spcPts val="0"/>
              </a:spcBef>
              <a:spcAft>
                <a:spcPts val="0"/>
              </a:spcAft>
              <a:buClr>
                <a:srgbClr val="00B0F0"/>
              </a:buClr>
              <a:buSzPct val="76000"/>
              <a:buFont typeface="Wingdings" panose="05000000000000000000" pitchFamily="2" charset="2"/>
              <a:buChar char="§"/>
              <a:tabLst/>
              <a:defRPr/>
            </a:pPr>
            <a:endPar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2669076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3451-F807-0A0F-1199-16CC6C89E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CA196-8B58-7376-E9BC-FCD9FA95F6F2}"/>
              </a:ext>
            </a:extLst>
          </p:cNvPr>
          <p:cNvSpPr>
            <a:spLocks noGrp="1"/>
          </p:cNvSpPr>
          <p:nvPr>
            <p:ph type="title"/>
          </p:nvPr>
        </p:nvSpPr>
        <p:spPr>
          <a:xfrm>
            <a:off x="1676400" y="92075"/>
            <a:ext cx="10261600" cy="838200"/>
          </a:xfrm>
        </p:spPr>
        <p:txBody>
          <a:bodyPr/>
          <a:lstStyle/>
          <a:p>
            <a:pPr>
              <a:lnSpc>
                <a:spcPct val="200000"/>
              </a:lnSpc>
            </a:pPr>
            <a:r>
              <a:rPr lang="en-GB" b="1" dirty="0">
                <a:solidFill>
                  <a:schemeClr val="accent4">
                    <a:lumMod val="50000"/>
                  </a:schemeClr>
                </a:solidFill>
                <a:latin typeface="Bahnschrift" panose="020B0502040204020203" pitchFamily="34" charset="0"/>
                <a:cs typeface="+mn-cs"/>
              </a:rPr>
              <a:t>II. Workings of underlying QMFM model</a:t>
            </a:r>
            <a:endParaRPr lang="en-AE" sz="2400"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0533F254-D5FE-83EA-AD15-7D09DFD77458}"/>
              </a:ext>
            </a:extLst>
          </p:cNvPr>
          <p:cNvSpPr>
            <a:spLocks noGrp="1"/>
          </p:cNvSpPr>
          <p:nvPr>
            <p:ph type="sldNum" sz="quarter" idx="10"/>
          </p:nvPr>
        </p:nvSpPr>
        <p:spPr/>
        <p:txBody>
          <a:bodyPr/>
          <a:lstStyle/>
          <a:p>
            <a:fld id="{D97AE203-F84D-4A7F-B161-8561326BE072}" type="slidenum">
              <a:rPr lang="en-US" smtClean="0"/>
              <a:pPr/>
              <a:t>4</a:t>
            </a:fld>
            <a:endParaRPr lang="en-US" dirty="0"/>
          </a:p>
        </p:txBody>
      </p:sp>
      <p:sp>
        <p:nvSpPr>
          <p:cNvPr id="5" name="Content Placeholder 2">
            <a:extLst>
              <a:ext uri="{FF2B5EF4-FFF2-40B4-BE49-F238E27FC236}">
                <a16:creationId xmlns:a16="http://schemas.microsoft.com/office/drawing/2014/main" id="{1B485FBB-CAC8-34BD-B1D2-7D0D58943C66}"/>
              </a:ext>
            </a:extLst>
          </p:cNvPr>
          <p:cNvSpPr txBox="1">
            <a:spLocks/>
          </p:cNvSpPr>
          <p:nvPr/>
        </p:nvSpPr>
        <p:spPr>
          <a:xfrm>
            <a:off x="381000" y="1143000"/>
            <a:ext cx="11557000" cy="54102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nSpc>
                <a:spcPct val="150000"/>
              </a:lnSpc>
              <a:spcBef>
                <a:spcPts val="0"/>
              </a:spcBef>
              <a:spcAft>
                <a:spcPts val="0"/>
              </a:spcAft>
              <a:buFont typeface="Wingdings" panose="05000000000000000000" pitchFamily="2" charset="2"/>
              <a:buChar char="§"/>
            </a:pPr>
            <a:r>
              <a:rPr lang="en-GB" sz="1600" b="1" dirty="0">
                <a:latin typeface="Bahnschrift Light" panose="020B0502040204020203" pitchFamily="34" charset="0"/>
                <a:ea typeface="+mn-ea"/>
              </a:rPr>
              <a:t>Macro model is New-Keynesian, ‘semi-structural gap’ of the Forecasting and Policy Analysis System (FPAS)</a:t>
            </a:r>
          </a:p>
          <a:p>
            <a:pPr>
              <a:lnSpc>
                <a:spcPct val="150000"/>
              </a:lnSpc>
              <a:spcBef>
                <a:spcPts val="0"/>
              </a:spcBef>
              <a:spcAft>
                <a:spcPts val="0"/>
              </a:spcAft>
              <a:buFont typeface="Wingdings" panose="05000000000000000000" pitchFamily="2" charset="2"/>
              <a:buChar char="§"/>
            </a:pPr>
            <a:r>
              <a:rPr lang="en-GB" sz="1600" i="1" dirty="0">
                <a:latin typeface="Bahnschrift Light" panose="020B0502040204020203" pitchFamily="34" charset="0"/>
              </a:rPr>
              <a:t>Provides forecast quarterly forecast for key macro variables </a:t>
            </a:r>
            <a:r>
              <a:rPr lang="en-GB" sz="1400" dirty="0">
                <a:latin typeface="Bahnschrift Light" panose="020B0502040204020203" pitchFamily="34" charset="0"/>
              </a:rPr>
              <a:t>(i.e., output gap, inflation, final demand components,..)</a:t>
            </a:r>
            <a:r>
              <a:rPr lang="en-GB" sz="1400" i="1" dirty="0">
                <a:latin typeface="Bahnschrift Light" panose="020B0502040204020203" pitchFamily="34" charset="0"/>
              </a:rPr>
              <a:t> </a:t>
            </a:r>
            <a:r>
              <a:rPr lang="en-GB" sz="1600" dirty="0">
                <a:latin typeface="Bahnschrift Light" panose="020B0502040204020203" pitchFamily="34" charset="0"/>
              </a:rPr>
              <a:t>as influenced by fiscal, monetary, and exchange rate policies (policy stances), incl. in response to shocks and new developments</a:t>
            </a:r>
          </a:p>
          <a:p>
            <a:pPr lvl="1">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emphasis on fiscal variables &amp; deficit components (revenue, govt spending &amp; structural, discretionary, cyclical components)</a:t>
            </a:r>
          </a:p>
          <a:p>
            <a:pPr lvl="1">
              <a:lnSpc>
                <a:spcPct val="150000"/>
              </a:lnSpc>
              <a:spcBef>
                <a:spcPts val="0"/>
              </a:spcBef>
              <a:spcAft>
                <a:spcPts val="0"/>
              </a:spcAft>
              <a:buFont typeface="Wingdings" panose="05000000000000000000" pitchFamily="2" charset="2"/>
              <a:buChar char="§"/>
            </a:pPr>
            <a:r>
              <a:rPr lang="en-US" sz="1600" dirty="0">
                <a:latin typeface="Bahnschrift Light" panose="020B0502040204020203" pitchFamily="34" charset="0"/>
              </a:rPr>
              <a:t>impact of fiscal and monetary policies inflation, and other macro aggregates on GDP (demand/output gap)</a:t>
            </a:r>
            <a:endParaRPr lang="en-GB" sz="1600" dirty="0">
              <a:latin typeface="Bahnschrift Light" panose="020B0502040204020203" pitchFamily="34" charset="0"/>
            </a:endParaRPr>
          </a:p>
          <a:p>
            <a:pPr lvl="1">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tracing key macro variables(levels) in deviation from trends, potential levels, or targets: </a:t>
            </a:r>
          </a:p>
          <a:p>
            <a:pPr>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Economic developments</a:t>
            </a:r>
          </a:p>
          <a:p>
            <a:pPr lvl="1">
              <a:lnSpc>
                <a:spcPct val="150000"/>
              </a:lnSpc>
              <a:spcBef>
                <a:spcPts val="0"/>
              </a:spcBef>
              <a:spcAft>
                <a:spcPts val="0"/>
              </a:spcAft>
              <a:buFont typeface="Wingdings" panose="05000000000000000000" pitchFamily="2" charset="2"/>
              <a:buChar char="§"/>
            </a:pPr>
            <a:r>
              <a:rPr lang="en-GB" sz="1200" dirty="0">
                <a:latin typeface="Bahnschrift Light" panose="020B0502040204020203" pitchFamily="34" charset="0"/>
              </a:rPr>
              <a:t> Analysis of observed data to examine the drivers of the patterns in macroeconomic variables.</a:t>
            </a:r>
          </a:p>
          <a:p>
            <a:pPr>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Estimation of unobserved variables (gaps and trend)—How model fits and explains the history/past developments</a:t>
            </a:r>
          </a:p>
          <a:p>
            <a:pPr lvl="1">
              <a:lnSpc>
                <a:spcPct val="150000"/>
              </a:lnSpc>
              <a:spcBef>
                <a:spcPts val="0"/>
              </a:spcBef>
              <a:spcAft>
                <a:spcPts val="0"/>
              </a:spcAft>
              <a:buFont typeface="Wingdings" panose="05000000000000000000" pitchFamily="2" charset="2"/>
              <a:buChar char="§"/>
            </a:pPr>
            <a:r>
              <a:rPr lang="en-GB" sz="1200" i="1" dirty="0">
                <a:latin typeface="Bahnschrift Light" panose="020B0502040204020203" pitchFamily="34" charset="0"/>
              </a:rPr>
              <a:t>Analysis of Initial conditions or recent developments to understand the drivers of the business cycle and trend</a:t>
            </a:r>
          </a:p>
          <a:p>
            <a:pPr>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Assumptions—i.e., policy stances, policy paths (deficit, interest rates, and ER), NTF,  and external/foreign position. </a:t>
            </a:r>
          </a:p>
          <a:p>
            <a:pPr lvl="1">
              <a:lnSpc>
                <a:spcPct val="150000"/>
              </a:lnSpc>
              <a:spcBef>
                <a:spcPts val="0"/>
              </a:spcBef>
              <a:spcAft>
                <a:spcPts val="0"/>
              </a:spcAft>
              <a:buFont typeface="Wingdings" panose="05000000000000000000" pitchFamily="2" charset="2"/>
              <a:buChar char="§"/>
            </a:pPr>
            <a:r>
              <a:rPr lang="en-US" sz="1200" i="1" dirty="0">
                <a:latin typeface="Bahnschrift Light" panose="020B0502040204020203" pitchFamily="34" charset="0"/>
              </a:rPr>
              <a:t>After shocks and policy responses have worked out, variables return to their trends/potential levels (subject to persistence) determined by their steady-state levels </a:t>
            </a:r>
            <a:r>
              <a:rPr lang="en-GB" sz="1100" dirty="0">
                <a:latin typeface="Bahnschrift Light" panose="020B0502040204020203" pitchFamily="34" charset="0"/>
              </a:rPr>
              <a:t>   </a:t>
            </a:r>
          </a:p>
          <a:p>
            <a:pPr>
              <a:lnSpc>
                <a:spcPct val="150000"/>
              </a:lnSpc>
              <a:spcBef>
                <a:spcPts val="0"/>
              </a:spcBef>
              <a:spcAft>
                <a:spcPts val="0"/>
              </a:spcAft>
              <a:buFont typeface="Wingdings" panose="05000000000000000000" pitchFamily="2" charset="2"/>
              <a:buChar char="§"/>
            </a:pPr>
            <a:r>
              <a:rPr lang="en-GB" sz="1600" dirty="0">
                <a:latin typeface="Bahnschrift Light" panose="020B0502040204020203" pitchFamily="34" charset="0"/>
              </a:rPr>
              <a:t>Forecast simulation as </a:t>
            </a:r>
            <a:r>
              <a:rPr lang="en-GB" sz="1400" dirty="0">
                <a:latin typeface="Bahnschrift Light" panose="020B0502040204020203" pitchFamily="34" charset="0"/>
              </a:rPr>
              <a:t>a function of initial condition, policy stance, NTF,  and LT policy assumptions</a:t>
            </a:r>
          </a:p>
          <a:p>
            <a:pPr lvl="1">
              <a:lnSpc>
                <a:spcPct val="150000"/>
              </a:lnSpc>
              <a:spcBef>
                <a:spcPts val="0"/>
              </a:spcBef>
              <a:spcAft>
                <a:spcPts val="0"/>
              </a:spcAft>
              <a:buFont typeface="Wingdings" panose="05000000000000000000" pitchFamily="2" charset="2"/>
              <a:buChar char="§"/>
            </a:pPr>
            <a:r>
              <a:rPr lang="en-GB" sz="1100" dirty="0">
                <a:latin typeface="Bahnschrift Light" panose="020B0502040204020203" pitchFamily="34" charset="0"/>
              </a:rPr>
              <a:t>Analysis of the forecast of gaps and trends in short-run</a:t>
            </a:r>
          </a:p>
        </p:txBody>
      </p:sp>
    </p:spTree>
    <p:extLst>
      <p:ext uri="{BB962C8B-B14F-4D97-AF65-F5344CB8AC3E}">
        <p14:creationId xmlns:p14="http://schemas.microsoft.com/office/powerpoint/2010/main" val="3262718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3451-F807-0A0F-1199-16CC6C89E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CA196-8B58-7376-E9BC-FCD9FA95F6F2}"/>
              </a:ext>
            </a:extLst>
          </p:cNvPr>
          <p:cNvSpPr>
            <a:spLocks noGrp="1"/>
          </p:cNvSpPr>
          <p:nvPr>
            <p:ph type="title"/>
          </p:nvPr>
        </p:nvSpPr>
        <p:spPr>
          <a:xfrm>
            <a:off x="1676400" y="92075"/>
            <a:ext cx="10261600" cy="838200"/>
          </a:xfrm>
        </p:spPr>
        <p:txBody>
          <a:bodyPr/>
          <a:lstStyle/>
          <a:p>
            <a:pPr>
              <a:lnSpc>
                <a:spcPct val="200000"/>
              </a:lnSpc>
            </a:pPr>
            <a:r>
              <a:rPr lang="en-GB" b="1" dirty="0">
                <a:solidFill>
                  <a:schemeClr val="accent4">
                    <a:lumMod val="50000"/>
                  </a:schemeClr>
                </a:solidFill>
                <a:latin typeface="Bahnschrift" panose="020B0502040204020203" pitchFamily="34" charset="0"/>
                <a:cs typeface="+mn-cs"/>
              </a:rPr>
              <a:t>I. Rationale of outlook &amp; underlying QMFM model</a:t>
            </a:r>
            <a:endParaRPr lang="en-AE"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0533F254-D5FE-83EA-AD15-7D09DFD77458}"/>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5" name="Content Placeholder 2">
            <a:extLst>
              <a:ext uri="{FF2B5EF4-FFF2-40B4-BE49-F238E27FC236}">
                <a16:creationId xmlns:a16="http://schemas.microsoft.com/office/drawing/2014/main" id="{1B485FBB-CAC8-34BD-B1D2-7D0D58943C66}"/>
              </a:ext>
            </a:extLst>
          </p:cNvPr>
          <p:cNvSpPr txBox="1">
            <a:spLocks/>
          </p:cNvSpPr>
          <p:nvPr/>
        </p:nvSpPr>
        <p:spPr>
          <a:xfrm>
            <a:off x="762000" y="1189038"/>
            <a:ext cx="11557000" cy="54102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Regular forecasts 16 quarters ahead for key macro aggregates </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(i.e., output, inflation, final demands, ..)</a:t>
            </a:r>
            <a:r>
              <a:rPr kumimoji="0" lang="en-GB" sz="14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as influenced by fiscal, monetary, and exchange rate policies, incl. in response to shocks and new developments (</a:t>
            </a: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scenario simulations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Emphasis on fiscal and financing/debt policies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and interaction with monetary and exchange rate policies,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facilitating </a:t>
            </a:r>
            <a:r>
              <a:rPr kumimoji="0" lang="en-US"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policy coordination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between MINECOFIN and NBR</a:t>
            </a:r>
            <a:endPar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Input for </a:t>
            </a:r>
            <a:r>
              <a:rPr kumimoji="0" lang="en-US"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validated macro-fiscal projections in intMF, </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underpinning MT budgets and IMF programs (checks on intMF)</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Underlying macro model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is New-Keynesian, ‘semi-structural, gap model, FPAS-type</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Uses analysis of </a:t>
            </a: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past observations, estimated trends </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to fit model to data; assesses initial condition for forecast</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Forecast premises</a:t>
            </a: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policy stance (fiscal deficit path, current policy interest rate, and ER), assumptions on external environment, other exogenous, and near-term forecasts for GDP and CPI, depending on other tools and judgment </a:t>
            </a:r>
          </a:p>
          <a:p>
            <a:pPr marL="273050" marR="0" lvl="0" indent="-273050" algn="l" defTabSz="914400" rtl="0" eaLnBrk="0" fontAlgn="base" latinLnBrk="0" hangingPunct="0">
              <a:lnSpc>
                <a:spcPct val="150000"/>
              </a:lnSpc>
              <a:spcBef>
                <a:spcPts val="600"/>
              </a:spcBef>
              <a:spcAft>
                <a:spcPts val="600"/>
              </a:spcAft>
              <a:buClr>
                <a:srgbClr val="00B0F0"/>
              </a:buClr>
              <a:buSzPct val="76000"/>
              <a:buFont typeface="Wingdings" panose="05000000000000000000" pitchFamily="2" charset="2"/>
              <a:buChar char="§"/>
              <a:tabLst/>
              <a:defRPr/>
            </a:pPr>
            <a:r>
              <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A</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fter shocks and policy responses have worked out, </a:t>
            </a:r>
            <a:r>
              <a:rPr kumimoji="0" lang="en-US"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variables return gradually to their trends</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determined by their </a:t>
            </a:r>
            <a:r>
              <a:rPr kumimoji="0" lang="en-US" sz="1600" b="0" i="1"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steady-state levels (outside model</a:t>
            </a:r>
            <a:r>
              <a:rPr kumimoji="0" lang="en-US"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rPr>
              <a:t>, e.g., potential output growth, equilibrium RER, RIR, CPI target, sustainable deficit).</a:t>
            </a:r>
            <a:endParaRPr kumimoji="0" lang="en-GB" sz="1600" b="0" i="0" u="none" strike="noStrike" kern="1200" cap="none" spc="0" normalizeH="0" baseline="0" noProof="0" dirty="0">
              <a:ln>
                <a:noFill/>
              </a:ln>
              <a:solidFill>
                <a:prstClr val="black"/>
              </a:solidFill>
              <a:effectLst/>
              <a:uLnTx/>
              <a:uFillTx/>
              <a:latin typeface="Bahnschrift Light" panose="020B0502040204020203" pitchFamily="34" charset="0"/>
              <a:ea typeface="ＭＳ Ｐゴシック" charset="-128"/>
              <a:cs typeface="+mn-cs"/>
            </a:endParaRPr>
          </a:p>
        </p:txBody>
      </p:sp>
    </p:spTree>
    <p:extLst>
      <p:ext uri="{BB962C8B-B14F-4D97-AF65-F5344CB8AC3E}">
        <p14:creationId xmlns:p14="http://schemas.microsoft.com/office/powerpoint/2010/main" val="2727824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C94FF-3715-83D7-A3A5-F73D7D616784}"/>
              </a:ext>
            </a:extLst>
          </p:cNvPr>
          <p:cNvSpPr>
            <a:spLocks noGrp="1"/>
          </p:cNvSpPr>
          <p:nvPr>
            <p:ph type="title"/>
          </p:nvPr>
        </p:nvSpPr>
        <p:spPr>
          <a:xfrm>
            <a:off x="1600200" y="228600"/>
            <a:ext cx="10210800" cy="762000"/>
          </a:xfrm>
          <a:ln>
            <a:noFill/>
          </a:ln>
        </p:spPr>
        <p:txBody>
          <a:bodyPr/>
          <a:lstStyle/>
          <a:p>
            <a:r>
              <a:rPr lang="en-US" b="1" dirty="0">
                <a:solidFill>
                  <a:schemeClr val="accent4">
                    <a:lumMod val="50000"/>
                  </a:schemeClr>
                </a:solidFill>
                <a:latin typeface="Bahnschrift" panose="020B0502040204020203" pitchFamily="34" charset="0"/>
                <a:cs typeface="+mn-cs"/>
              </a:rPr>
              <a:t>IV. Recent macroeconomic developments (2015-2023)</a:t>
            </a:r>
            <a:br>
              <a:rPr lang="en-US" sz="1600" b="1" dirty="0"/>
            </a:br>
            <a:r>
              <a:rPr lang="en-US" sz="2400" b="1" dirty="0">
                <a:solidFill>
                  <a:schemeClr val="accent4"/>
                </a:solidFill>
                <a:latin typeface="Bahnschrift" panose="020B0502040204020203" pitchFamily="34" charset="0"/>
              </a:rPr>
              <a:t>Final demand (GDP) and components</a:t>
            </a:r>
            <a:endParaRPr lang="en-RW" sz="20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FAFBB090-AFD0-7F99-80A5-8B5522B2B0EA}"/>
              </a:ext>
            </a:extLst>
          </p:cNvPr>
          <p:cNvSpPr>
            <a:spLocks noGrp="1"/>
          </p:cNvSpPr>
          <p:nvPr>
            <p:ph type="sldNum" sz="quarter" idx="10"/>
          </p:nvPr>
        </p:nvSpPr>
        <p:spPr/>
        <p:txBody>
          <a:bodyPr/>
          <a:lstStyle/>
          <a:p>
            <a:fld id="{D97AE203-F84D-4A7F-B161-8561326BE072}" type="slidenum">
              <a:rPr lang="en-US" smtClean="0"/>
              <a:pPr/>
              <a:t>6</a:t>
            </a:fld>
            <a:endParaRPr lang="en-US" dirty="0"/>
          </a:p>
        </p:txBody>
      </p:sp>
      <p:sp>
        <p:nvSpPr>
          <p:cNvPr id="15" name="Content Placeholder 2">
            <a:extLst>
              <a:ext uri="{FF2B5EF4-FFF2-40B4-BE49-F238E27FC236}">
                <a16:creationId xmlns:a16="http://schemas.microsoft.com/office/drawing/2014/main" id="{71DDEE4A-9C67-3AC4-5A2E-AC24191F73B5}"/>
              </a:ext>
            </a:extLst>
          </p:cNvPr>
          <p:cNvSpPr txBox="1">
            <a:spLocks/>
          </p:cNvSpPr>
          <p:nvPr/>
        </p:nvSpPr>
        <p:spPr>
          <a:xfrm>
            <a:off x="228601" y="1219200"/>
            <a:ext cx="5257799" cy="5257800"/>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lnSpc>
                <a:spcPct val="150000"/>
              </a:lnSpc>
              <a:spcAft>
                <a:spcPts val="600"/>
              </a:spcAft>
              <a:buNone/>
            </a:pPr>
            <a:r>
              <a:rPr lang="en-GB" sz="2000" b="1" dirty="0">
                <a:latin typeface="Bahnschrift Light" panose="020B0502040204020203" pitchFamily="34" charset="0"/>
              </a:rPr>
              <a:t>Real GDP,YY % (Top right chart):</a:t>
            </a:r>
          </a:p>
          <a:p>
            <a:pPr lvl="1" algn="just">
              <a:lnSpc>
                <a:spcPct val="150000"/>
              </a:lnSpc>
              <a:spcBef>
                <a:spcPts val="0"/>
              </a:spcBef>
              <a:spcAft>
                <a:spcPts val="600"/>
              </a:spcAft>
              <a:buFont typeface="Wingdings" panose="05000000000000000000" pitchFamily="2" charset="2"/>
              <a:buChar char="§"/>
            </a:pPr>
            <a:r>
              <a:rPr lang="en-GB" sz="1400" dirty="0">
                <a:latin typeface="Bahnschrift Light" panose="020B0502040204020203" pitchFamily="34" charset="0"/>
              </a:rPr>
              <a:t>Trend growth (2000-19) averaged 7.5%</a:t>
            </a:r>
          </a:p>
          <a:p>
            <a:pPr lvl="1" algn="just">
              <a:lnSpc>
                <a:spcPct val="150000"/>
              </a:lnSpc>
              <a:spcBef>
                <a:spcPts val="0"/>
              </a:spcBef>
              <a:spcAft>
                <a:spcPts val="600"/>
              </a:spcAft>
              <a:buFont typeface="Wingdings" panose="05000000000000000000" pitchFamily="2" charset="2"/>
              <a:buChar char="§"/>
            </a:pPr>
            <a:r>
              <a:rPr lang="en-GB" sz="1400" dirty="0">
                <a:solidFill>
                  <a:schemeClr val="tx1"/>
                </a:solidFill>
                <a:latin typeface="Bahnschrift Light" panose="020B0502040204020203" pitchFamily="34" charset="0"/>
              </a:rPr>
              <a:t>During COVID year 2020, GDP dropped 3.4% and was 12% below potential (had trend growth continued) </a:t>
            </a:r>
            <a:r>
              <a:rPr lang="en-GB" sz="1400" dirty="0">
                <a:latin typeface="Bahnschrift Light" panose="020B0502040204020203" pitchFamily="34" charset="0"/>
              </a:rPr>
              <a:t>due to drops in external and domestic demand and supply constraints </a:t>
            </a:r>
          </a:p>
          <a:p>
            <a:pPr lvl="1" algn="just">
              <a:lnSpc>
                <a:spcPct val="150000"/>
              </a:lnSpc>
              <a:spcBef>
                <a:spcPts val="0"/>
              </a:spcBef>
              <a:spcAft>
                <a:spcPts val="600"/>
              </a:spcAft>
              <a:buFont typeface="Wingdings" panose="05000000000000000000" pitchFamily="2" charset="2"/>
              <a:buChar char="§"/>
            </a:pPr>
            <a:r>
              <a:rPr lang="en-GB" sz="1400" dirty="0">
                <a:latin typeface="Bahnschrift Light" panose="020B0502040204020203" pitchFamily="34" charset="0"/>
              </a:rPr>
              <a:t>Expansionary fiscal policy mitigated COVID output drop and helped subsequent recovery</a:t>
            </a:r>
          </a:p>
          <a:p>
            <a:pPr lvl="1" algn="just">
              <a:lnSpc>
                <a:spcPct val="150000"/>
              </a:lnSpc>
              <a:spcBef>
                <a:spcPts val="0"/>
              </a:spcBef>
              <a:spcAft>
                <a:spcPts val="600"/>
              </a:spcAft>
              <a:buFont typeface="Wingdings" panose="05000000000000000000" pitchFamily="2" charset="2"/>
              <a:buChar char="§"/>
            </a:pPr>
            <a:r>
              <a:rPr lang="en-GB" sz="1400" dirty="0">
                <a:latin typeface="Bahnschrift Light" panose="020B0502040204020203" pitchFamily="34" charset="0"/>
              </a:rPr>
              <a:t>Global instability, esp. Ukraine-war </a:t>
            </a:r>
            <a:r>
              <a:rPr lang="en-RW" sz="1400" dirty="0">
                <a:latin typeface="Bahnschrift Light" panose="020B0502040204020203" pitchFamily="34" charset="0"/>
              </a:rPr>
              <a:t>slowed down the recovery from 2022Q1 onward</a:t>
            </a:r>
            <a:endParaRPr lang="en-US" sz="1400" dirty="0">
              <a:latin typeface="Bahnschrift Light" panose="020B0502040204020203" pitchFamily="34" charset="0"/>
            </a:endParaRPr>
          </a:p>
          <a:p>
            <a:pPr lvl="1" algn="just">
              <a:lnSpc>
                <a:spcPct val="150000"/>
              </a:lnSpc>
              <a:spcBef>
                <a:spcPts val="0"/>
              </a:spcBef>
              <a:spcAft>
                <a:spcPts val="0"/>
              </a:spcAft>
              <a:buFont typeface="Wingdings" panose="05000000000000000000" pitchFamily="2" charset="2"/>
              <a:buChar char="§"/>
            </a:pPr>
            <a:r>
              <a:rPr lang="en-GB" sz="1400" dirty="0">
                <a:latin typeface="Bahnschrift Light" panose="020B0502040204020203" pitchFamily="34" charset="0"/>
              </a:rPr>
              <a:t>Despite a strong bounce back in 2021, GDP estimated 6% below potential in late 2023</a:t>
            </a:r>
            <a:endParaRPr lang="en-US" sz="1400" dirty="0">
              <a:latin typeface="Bahnschrift Light" panose="020B0502040204020203" pitchFamily="34" charset="0"/>
            </a:endParaRPr>
          </a:p>
        </p:txBody>
      </p:sp>
      <p:pic>
        <p:nvPicPr>
          <p:cNvPr id="10" name="Picture 9">
            <a:extLst>
              <a:ext uri="{FF2B5EF4-FFF2-40B4-BE49-F238E27FC236}">
                <a16:creationId xmlns:a16="http://schemas.microsoft.com/office/drawing/2014/main" id="{C1E09202-2959-6F0B-0068-581CD4D9D59A}"/>
              </a:ext>
            </a:extLst>
          </p:cNvPr>
          <p:cNvPicPr>
            <a:picLocks noChangeAspect="1"/>
          </p:cNvPicPr>
          <p:nvPr/>
        </p:nvPicPr>
        <p:blipFill>
          <a:blip r:embed="rId2"/>
          <a:stretch>
            <a:fillRect/>
          </a:stretch>
        </p:blipFill>
        <p:spPr>
          <a:xfrm>
            <a:off x="8839199" y="4063562"/>
            <a:ext cx="3124200" cy="2378076"/>
          </a:xfrm>
          <a:prstGeom prst="rect">
            <a:avLst/>
          </a:prstGeom>
          <a:ln>
            <a:solidFill>
              <a:schemeClr val="accent4">
                <a:lumMod val="20000"/>
                <a:lumOff val="80000"/>
              </a:schemeClr>
            </a:solidFill>
          </a:ln>
        </p:spPr>
      </p:pic>
      <p:pic>
        <p:nvPicPr>
          <p:cNvPr id="12" name="Picture 11">
            <a:extLst>
              <a:ext uri="{FF2B5EF4-FFF2-40B4-BE49-F238E27FC236}">
                <a16:creationId xmlns:a16="http://schemas.microsoft.com/office/drawing/2014/main" id="{8770CEC8-E3F9-83D2-C9A4-5D76897D5800}"/>
              </a:ext>
            </a:extLst>
          </p:cNvPr>
          <p:cNvPicPr>
            <a:picLocks noChangeAspect="1"/>
          </p:cNvPicPr>
          <p:nvPr/>
        </p:nvPicPr>
        <p:blipFill>
          <a:blip r:embed="rId3"/>
          <a:stretch>
            <a:fillRect/>
          </a:stretch>
        </p:blipFill>
        <p:spPr>
          <a:xfrm>
            <a:off x="5562600" y="4063562"/>
            <a:ext cx="3200400" cy="2413438"/>
          </a:xfrm>
          <a:prstGeom prst="rect">
            <a:avLst/>
          </a:prstGeom>
          <a:ln>
            <a:solidFill>
              <a:schemeClr val="accent4">
                <a:lumMod val="20000"/>
                <a:lumOff val="80000"/>
              </a:schemeClr>
            </a:solidFill>
          </a:ln>
        </p:spPr>
      </p:pic>
      <p:pic>
        <p:nvPicPr>
          <p:cNvPr id="5" name="Picture 4">
            <a:extLst>
              <a:ext uri="{FF2B5EF4-FFF2-40B4-BE49-F238E27FC236}">
                <a16:creationId xmlns:a16="http://schemas.microsoft.com/office/drawing/2014/main" id="{39EEBD19-883A-3453-6D02-5FB7B12FA20A}"/>
              </a:ext>
            </a:extLst>
          </p:cNvPr>
          <p:cNvPicPr>
            <a:picLocks noChangeAspect="1"/>
          </p:cNvPicPr>
          <p:nvPr/>
        </p:nvPicPr>
        <p:blipFill>
          <a:blip r:embed="rId4"/>
          <a:stretch>
            <a:fillRect/>
          </a:stretch>
        </p:blipFill>
        <p:spPr>
          <a:xfrm>
            <a:off x="6324600" y="1219200"/>
            <a:ext cx="4648199" cy="2718147"/>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4278049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FDF4C-5E0B-46FF-2DC1-1F0D62F2E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D31CF-8231-22FA-9820-839850C2F98F}"/>
              </a:ext>
            </a:extLst>
          </p:cNvPr>
          <p:cNvSpPr>
            <a:spLocks noGrp="1"/>
          </p:cNvSpPr>
          <p:nvPr>
            <p:ph type="title"/>
          </p:nvPr>
        </p:nvSpPr>
        <p:spPr>
          <a:xfrm>
            <a:off x="1600200" y="228600"/>
            <a:ext cx="10210800" cy="762000"/>
          </a:xfrm>
          <a:ln>
            <a:noFill/>
          </a:ln>
        </p:spPr>
        <p:txBody>
          <a:bodyPr/>
          <a:lstStyle/>
          <a:p>
            <a:r>
              <a:rPr lang="en-US" b="1" dirty="0">
                <a:solidFill>
                  <a:schemeClr val="accent4">
                    <a:lumMod val="50000"/>
                  </a:schemeClr>
                </a:solidFill>
                <a:latin typeface="Bahnschrift" panose="020B0502040204020203" pitchFamily="34" charset="0"/>
                <a:cs typeface="+mn-cs"/>
              </a:rPr>
              <a:t>IV. Recent macroeconomic developments (2015-2023)</a:t>
            </a:r>
            <a:br>
              <a:rPr lang="en-US" sz="1600" b="1" dirty="0"/>
            </a:br>
            <a:r>
              <a:rPr lang="en-US" sz="2400" b="1" dirty="0">
                <a:solidFill>
                  <a:schemeClr val="accent4"/>
                </a:solidFill>
                <a:latin typeface="Bahnschrift" panose="020B0502040204020203" pitchFamily="34" charset="0"/>
              </a:rPr>
              <a:t>Final demand (GDP) and components</a:t>
            </a:r>
            <a:endParaRPr lang="en-RW" sz="20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DEF88047-806B-5D31-C65F-50243777FAC0}"/>
              </a:ext>
            </a:extLst>
          </p:cNvPr>
          <p:cNvSpPr>
            <a:spLocks noGrp="1"/>
          </p:cNvSpPr>
          <p:nvPr>
            <p:ph type="sldNum" sz="quarter" idx="10"/>
          </p:nvPr>
        </p:nvSpPr>
        <p:spPr/>
        <p:txBody>
          <a:bodyPr/>
          <a:lstStyle/>
          <a:p>
            <a:fld id="{D97AE203-F84D-4A7F-B161-8561326BE072}" type="slidenum">
              <a:rPr lang="en-US" smtClean="0"/>
              <a:pPr/>
              <a:t>7</a:t>
            </a:fld>
            <a:endParaRPr lang="en-US" dirty="0"/>
          </a:p>
        </p:txBody>
      </p:sp>
      <p:sp>
        <p:nvSpPr>
          <p:cNvPr id="18" name="TextBox 17">
            <a:extLst>
              <a:ext uri="{FF2B5EF4-FFF2-40B4-BE49-F238E27FC236}">
                <a16:creationId xmlns:a16="http://schemas.microsoft.com/office/drawing/2014/main" id="{A9B51905-B381-2286-37CA-179558F51EC5}"/>
              </a:ext>
            </a:extLst>
          </p:cNvPr>
          <p:cNvSpPr txBox="1"/>
          <p:nvPr/>
        </p:nvSpPr>
        <p:spPr>
          <a:xfrm>
            <a:off x="6571811" y="1219200"/>
            <a:ext cx="5315389" cy="5271571"/>
          </a:xfrm>
          <a:prstGeom prst="rect">
            <a:avLst/>
          </a:prstGeom>
          <a:noFill/>
          <a:ln>
            <a:solidFill>
              <a:schemeClr val="accent4">
                <a:lumMod val="20000"/>
                <a:lumOff val="80000"/>
              </a:schemeClr>
            </a:solidFill>
          </a:ln>
        </p:spPr>
        <p:txBody>
          <a:bodyPr wrap="square" rtlCol="0">
            <a:spAutoFit/>
          </a:bodyPr>
          <a:lstStyle/>
          <a:p>
            <a:pPr marL="0" lvl="1" algn="just" eaLnBrk="0" hangingPunct="0">
              <a:spcBef>
                <a:spcPts val="600"/>
              </a:spcBef>
              <a:spcAft>
                <a:spcPts val="600"/>
              </a:spcAft>
              <a:buClr>
                <a:schemeClr val="accent1"/>
              </a:buClr>
              <a:buSzPct val="76000"/>
            </a:pPr>
            <a:r>
              <a:rPr lang="en-US" sz="1400" b="1" dirty="0">
                <a:latin typeface="Bahnschrift Light" panose="020B0502040204020203" pitchFamily="34" charset="0"/>
              </a:rPr>
              <a:t>Real GDP Growth Drivers: Final demand components</a:t>
            </a:r>
            <a:endParaRPr lang="en-US" sz="14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 </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Down-turn:</a:t>
            </a:r>
            <a:endParaRPr lang="en-RW"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GDP </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drop mostly attributed to slow growth in real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consumption and investment and exports</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But a fall in imports and expansionary government demand helped mitigate the downpull on GDP;</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60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Immediate post-Covid (2021-22)</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Sharp  recover</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 good performance consumption, investment and increased government consumption</a:t>
            </a: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Somewhat expansionary government demand </a:t>
            </a:r>
            <a:endPar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Exports remained sluggish with a relatively higher imports</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a:lnSpc>
                <a:spcPct val="150000"/>
              </a:lnSpc>
              <a:spcBef>
                <a:spcPts val="60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Ukraine-war (2022-23)</a:t>
            </a: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S</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low down in </a:t>
            </a:r>
            <a:r>
              <a:rPr lang="en-US" sz="1200" b="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recovery</a:t>
            </a:r>
            <a:r>
              <a:rPr lang="en-US" sz="1200" b="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t>
            </a:r>
            <a:endParaRPr lang="en-RW" sz="1200" dirty="0">
              <a:effectLst/>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As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real consumption and other demand drop</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affected by high inflationary episode (jumps in international oil and food prices)</a:t>
            </a:r>
            <a:r>
              <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 </a:t>
            </a:r>
            <a:endParaRPr lang="en-US" sz="1200" dirty="0">
              <a:latin typeface="Bahnschrift Light" panose="020B0502040204020203" pitchFamily="34" charset="0"/>
              <a:ea typeface="Calibri" panose="020F0502020204030204" pitchFamily="34" charset="0"/>
              <a:cs typeface="Times New Roman" panose="02020603050405020304" pitchFamily="18" charset="0"/>
            </a:endParaRPr>
          </a:p>
          <a:p>
            <a:pPr indent="-171450">
              <a:lnSpc>
                <a:spcPct val="150000"/>
              </a:lnSpc>
              <a:spcBef>
                <a:spcPts val="600"/>
              </a:spcBef>
              <a:spcAft>
                <a:spcPts val="0"/>
              </a:spcAft>
              <a:buFont typeface="Arial" panose="020B0604020202020204" pitchFamily="34" charset="0"/>
              <a:buChar char="•"/>
            </a:pPr>
            <a:r>
              <a:rPr lang="en-US" sz="1200" dirty="0">
                <a:solidFill>
                  <a:srgbClr val="000000"/>
                </a:solidFill>
                <a:effectLst/>
                <a:latin typeface="Bahnschrift Light" panose="020B0502040204020203" pitchFamily="34" charset="0"/>
                <a:ea typeface="Calibri" panose="020F0502020204030204" pitchFamily="34" charset="0"/>
              </a:rPr>
              <a:t>Lower effect of govt demand as fiscal consolidation started (though in part thwarted by floods)</a:t>
            </a:r>
            <a:endParaRPr lang="en-RW" sz="1600" dirty="0">
              <a:latin typeface="Bahnschrift Light" panose="020B0502040204020203" pitchFamily="34" charset="0"/>
            </a:endParaRPr>
          </a:p>
        </p:txBody>
      </p:sp>
      <p:pic>
        <p:nvPicPr>
          <p:cNvPr id="8" name="Picture 7">
            <a:extLst>
              <a:ext uri="{FF2B5EF4-FFF2-40B4-BE49-F238E27FC236}">
                <a16:creationId xmlns:a16="http://schemas.microsoft.com/office/drawing/2014/main" id="{8DEA53CE-F23E-55B6-EDC0-53DF3E611A25}"/>
              </a:ext>
            </a:extLst>
          </p:cNvPr>
          <p:cNvPicPr>
            <a:picLocks noChangeAspect="1"/>
          </p:cNvPicPr>
          <p:nvPr/>
        </p:nvPicPr>
        <p:blipFill rotWithShape="1">
          <a:blip r:embed="rId2"/>
          <a:srcRect l="6105" r="6105"/>
          <a:stretch/>
        </p:blipFill>
        <p:spPr>
          <a:xfrm>
            <a:off x="304800" y="1219200"/>
            <a:ext cx="6096000" cy="5257800"/>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192262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524000" y="326683"/>
            <a:ext cx="10261600" cy="549275"/>
          </a:xfrm>
        </p:spPr>
        <p:txBody>
          <a:bodyPr/>
          <a:lstStyle/>
          <a:p>
            <a:r>
              <a:rPr lang="en-US" sz="2400" b="1" dirty="0">
                <a:solidFill>
                  <a:schemeClr val="accent4"/>
                </a:solidFill>
                <a:latin typeface="Bahnschrift" panose="020B0502040204020203" pitchFamily="34" charset="0"/>
              </a:rPr>
              <a:t>Inflation: Consumer Price Index (CPI)</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8</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US" b="1" dirty="0"/>
          </a:p>
          <a:p>
            <a:pPr marL="0" indent="0" algn="just">
              <a:spcAft>
                <a:spcPts val="600"/>
              </a:spcAft>
              <a:buNone/>
            </a:pPr>
            <a:endParaRPr lang="en-US" b="1" dirty="0"/>
          </a:p>
        </p:txBody>
      </p:sp>
      <p:sp>
        <p:nvSpPr>
          <p:cNvPr id="14" name="TextBox 13">
            <a:extLst>
              <a:ext uri="{FF2B5EF4-FFF2-40B4-BE49-F238E27FC236}">
                <a16:creationId xmlns:a16="http://schemas.microsoft.com/office/drawing/2014/main" id="{CF6BBD95-BE42-4C2A-645F-6CCE272F3517}"/>
              </a:ext>
            </a:extLst>
          </p:cNvPr>
          <p:cNvSpPr txBox="1"/>
          <p:nvPr/>
        </p:nvSpPr>
        <p:spPr>
          <a:xfrm>
            <a:off x="4648200" y="1196296"/>
            <a:ext cx="7311190" cy="4656018"/>
          </a:xfrm>
          <a:prstGeom prst="rect">
            <a:avLst/>
          </a:prstGeom>
          <a:noFill/>
          <a:ln>
            <a:solidFill>
              <a:schemeClr val="accent4">
                <a:lumMod val="20000"/>
                <a:lumOff val="80000"/>
              </a:schemeClr>
            </a:solidFill>
          </a:ln>
        </p:spPr>
        <p:txBody>
          <a:bodyPr wrap="square" rtlCol="0">
            <a:spAutoFit/>
          </a:bodyPr>
          <a:lstStyle/>
          <a:p>
            <a:pPr algn="just" eaLnBrk="0" hangingPunct="0">
              <a:lnSpc>
                <a:spcPct val="150000"/>
              </a:lnSpc>
              <a:spcBef>
                <a:spcPts val="600"/>
              </a:spcBef>
              <a:spcAft>
                <a:spcPts val="600"/>
              </a:spcAft>
              <a:buClr>
                <a:schemeClr val="accent1"/>
              </a:buClr>
              <a:buSzPct val="76000"/>
            </a:pPr>
            <a:r>
              <a:rPr lang="en-US" sz="1600" b="1" u="sng" dirty="0">
                <a:latin typeface="Bahnschrift Light" panose="020B0502040204020203" pitchFamily="34" charset="0"/>
              </a:rPr>
              <a:t>Headline CPI—drivers </a:t>
            </a:r>
            <a:endParaRPr lang="en-US" sz="1100" b="1" u="sng" dirty="0">
              <a:latin typeface="Bahnschrift Light" panose="020B0502040204020203" pitchFamily="34" charset="0"/>
              <a:ea typeface="Calibri" panose="020F0502020204030204" pitchFamily="34" charset="0"/>
              <a:cs typeface="Times New Roman" panose="02020603050405020304" pitchFamily="18" charset="0"/>
            </a:endParaRP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Covid years (2020-21)—</a:t>
            </a:r>
            <a:r>
              <a:rPr lang="en-US" sz="1200" b="1" dirty="0">
                <a:latin typeface="Bahnschrift Light" panose="020B0502040204020203" pitchFamily="34" charset="0"/>
                <a:ea typeface="Calibri" panose="020F0502020204030204" pitchFamily="34" charset="0"/>
                <a:cs typeface="Times New Roman" panose="02020603050405020304" pitchFamily="18" charset="0"/>
              </a:rPr>
              <a:t>A</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bove target:</a:t>
            </a: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Relatively slight above target during 2020 induced by higher COVID-related food and core prices (imports)</a:t>
            </a: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But less persisting towards 2021 as food pressures ease</a:t>
            </a:r>
          </a:p>
          <a:p>
            <a:pPr algn="just">
              <a:lnSpc>
                <a:spcPct val="150000"/>
              </a:lnSpc>
              <a:spcBef>
                <a:spcPts val="0"/>
              </a:spcBef>
              <a:spcAft>
                <a:spcPts val="0"/>
              </a:spcAft>
            </a:pPr>
            <a:r>
              <a:rPr lang="en-US" sz="1200" b="1" dirty="0">
                <a:solidFill>
                  <a:srgbClr val="0070C0"/>
                </a:solidFill>
                <a:effectLst/>
                <a:latin typeface="Bahnschrift Light" panose="020B0502040204020203" pitchFamily="34" charset="0"/>
                <a:ea typeface="Calibri" panose="020F0502020204030204" pitchFamily="34" charset="0"/>
                <a:cs typeface="Times New Roman" panose="02020603050405020304" pitchFamily="18" charset="0"/>
              </a:rPr>
              <a:t>Immediate post-Covid (2021-22)—</a:t>
            </a:r>
            <a:r>
              <a:rPr lang="en-US" sz="1200" b="1" dirty="0">
                <a:effectLst/>
                <a:latin typeface="Bahnschrift Light" panose="020B0502040204020203" pitchFamily="34" charset="0"/>
                <a:ea typeface="Calibri" panose="020F0502020204030204" pitchFamily="34" charset="0"/>
                <a:cs typeface="Times New Roman" panose="02020603050405020304" pitchFamily="18" charset="0"/>
              </a:rPr>
              <a:t>Lower inflation episode:</a:t>
            </a:r>
            <a:endParaRPr lang="en-US" sz="1200" b="1" dirty="0">
              <a:latin typeface="Bahnschrift Light" panose="020B0502040204020203" pitchFamily="34" charset="0"/>
              <a:ea typeface="Calibri" panose="020F0502020204030204" pitchFamily="34" charset="0"/>
              <a:cs typeface="Times New Roman" panose="02020603050405020304" pitchFamily="18" charset="0"/>
            </a:endParaRPr>
          </a:p>
          <a:p>
            <a:pPr marL="171450" indent="-171450" algn="just">
              <a:lnSpc>
                <a:spcPct val="150000"/>
              </a:lnSpc>
              <a:spcBef>
                <a:spcPts val="0"/>
              </a:spcBef>
              <a:spcAft>
                <a:spcPts val="0"/>
              </a:spcAft>
              <a:buFont typeface="Arial" panose="020B0604020202020204" pitchFamily="34" charset="0"/>
              <a:buChar char="•"/>
            </a:pPr>
            <a:r>
              <a:rPr lang="en-US" sz="1200" dirty="0">
                <a:latin typeface="Bahnschrift Light" panose="020B0502040204020203" pitchFamily="34" charset="0"/>
                <a:ea typeface="Calibri" panose="020F0502020204030204" pitchFamily="34" charset="0"/>
                <a:cs typeface="Times New Roman" panose="02020603050405020304" pitchFamily="18" charset="0"/>
              </a:rPr>
              <a:t>lower, driven by a still sluggish economy, good agricultural harvests, and less expensive imports </a:t>
            </a:r>
          </a:p>
          <a:p>
            <a:pPr marL="0" marR="0" lvl="0" indent="0" algn="l" defTabSz="914400" rtl="0" eaLnBrk="1" fontAlgn="base" latinLnBrk="0" hangingPunct="1">
              <a:lnSpc>
                <a:spcPct val="150000"/>
              </a:lnSpc>
              <a:spcBef>
                <a:spcPct val="0"/>
              </a:spcBef>
              <a:spcAft>
                <a:spcPts val="0"/>
              </a:spcAft>
              <a:buClrTx/>
              <a:buSzTx/>
              <a:buFontTx/>
              <a:buNone/>
              <a:tabLst/>
              <a:defRPr/>
            </a:pPr>
            <a:r>
              <a:rPr kumimoji="0" lang="en-US" sz="1200" b="1" i="0" u="none" strike="noStrike" kern="1200" cap="none" spc="0" normalizeH="0" baseline="0" noProof="0" dirty="0">
                <a:ln>
                  <a:noFill/>
                </a:ln>
                <a:solidFill>
                  <a:srgbClr val="0070C0"/>
                </a:solidFill>
                <a:effectLst/>
                <a:uLnTx/>
                <a:uFillTx/>
                <a:latin typeface="Bahnschrift Light" panose="020B0502040204020203" pitchFamily="34" charset="0"/>
                <a:ea typeface="Calibri" panose="020F0502020204030204" pitchFamily="34" charset="0"/>
                <a:cs typeface="Times New Roman" panose="02020603050405020304" pitchFamily="18" charset="0"/>
              </a:rPr>
              <a:t>Ukraine-war (2022-23)—</a:t>
            </a:r>
            <a:r>
              <a:rPr kumimoji="0" lang="en-US" sz="1200" b="1" i="0" u="none" strike="noStrike" kern="1200" cap="none" spc="0" normalizeH="0" baseline="0" noProof="0" dirty="0">
                <a:ln>
                  <a:noFill/>
                </a:ln>
                <a:effectLst/>
                <a:uLnTx/>
                <a:uFillTx/>
                <a:latin typeface="Bahnschrift Light" panose="020B0502040204020203" pitchFamily="34" charset="0"/>
                <a:ea typeface="Calibri" panose="020F0502020204030204" pitchFamily="34" charset="0"/>
                <a:cs typeface="Times New Roman" panose="02020603050405020304" pitchFamily="18" charset="0"/>
              </a:rPr>
              <a:t>Higher inflation episode</a:t>
            </a:r>
            <a:r>
              <a:rPr kumimoji="0" lang="en-US" sz="1200" b="1" i="0" u="none" strike="noStrike" kern="1200" cap="none" spc="0" normalizeH="0" baseline="0" noProof="0" dirty="0">
                <a:ln>
                  <a:noFill/>
                </a:ln>
                <a:solidFill>
                  <a:srgbClr val="0070C0"/>
                </a:solidFill>
                <a:effectLst/>
                <a:uLnTx/>
                <a:uFillTx/>
                <a:latin typeface="Bahnschrift Light" panose="020B0502040204020203" pitchFamily="34" charset="0"/>
                <a:ea typeface="Calibri" panose="020F0502020204030204" pitchFamily="34" charset="0"/>
                <a:cs typeface="Times New Roman" panose="02020603050405020304" pitchFamily="18" charset="0"/>
              </a:rPr>
              <a:t>: </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Relatively overshooting above target</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Sharply increasing </a:t>
            </a:r>
            <a:r>
              <a:rPr lang="en-US" sz="1200" i="1" dirty="0">
                <a:latin typeface="Bahnschrift Light" panose="020B0502040204020203" pitchFamily="34" charset="0"/>
                <a:ea typeface="Calibri" panose="020F0502020204030204" pitchFamily="34" charset="0"/>
                <a:cs typeface="Times New Roman" panose="02020603050405020304" pitchFamily="18" charset="0"/>
              </a:rPr>
              <a:t>food prices</a:t>
            </a:r>
            <a:r>
              <a:rPr lang="en-US" sz="1200" dirty="0">
                <a:latin typeface="Bahnschrift Light" panose="020B0502040204020203" pitchFamily="34" charset="0"/>
                <a:ea typeface="Calibri" panose="020F0502020204030204" pitchFamily="34" charset="0"/>
                <a:cs typeface="Times New Roman" panose="02020603050405020304" pitchFamily="18" charset="0"/>
              </a:rPr>
              <a:t>: driven by negative agricultural production gap and other supply shocks</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dirty="0">
                <a:latin typeface="Bahnschrift Light" panose="020B0502040204020203" pitchFamily="34" charset="0"/>
                <a:ea typeface="Calibri" panose="020F0502020204030204" pitchFamily="34" charset="0"/>
                <a:cs typeface="Times New Roman" panose="02020603050405020304" pitchFamily="18" charset="0"/>
              </a:rPr>
              <a:t>Sharply increasing </a:t>
            </a:r>
            <a:r>
              <a:rPr lang="en-US" sz="1200" i="1" dirty="0">
                <a:latin typeface="Bahnschrift Light" panose="020B0502040204020203" pitchFamily="34" charset="0"/>
                <a:ea typeface="Calibri" panose="020F0502020204030204" pitchFamily="34" charset="0"/>
                <a:cs typeface="Times New Roman" panose="02020603050405020304" pitchFamily="18" charset="0"/>
              </a:rPr>
              <a:t>world energy and commodity prices </a:t>
            </a:r>
          </a:p>
          <a:p>
            <a:pPr marL="285750" marR="0" lvl="0" indent="-285750" algn="l" defTabSz="914400" rtl="0" eaLnBrk="1" fontAlgn="base" latinLnBrk="0" hangingPunct="1">
              <a:lnSpc>
                <a:spcPct val="150000"/>
              </a:lnSpc>
              <a:spcBef>
                <a:spcPct val="0"/>
              </a:spcBef>
              <a:spcAft>
                <a:spcPts val="0"/>
              </a:spcAft>
              <a:buClrTx/>
              <a:buSzTx/>
              <a:buFont typeface="Arial" panose="020B0604020202020204" pitchFamily="34" charset="0"/>
              <a:buChar char="•"/>
              <a:tabLst/>
              <a:defRPr/>
            </a:pPr>
            <a:r>
              <a:rPr lang="en-US" sz="1200" i="1"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rPr>
              <a:t>higher c</a:t>
            </a:r>
            <a:r>
              <a:rPr lang="en-US" sz="1200" i="1"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ore prices</a:t>
            </a:r>
            <a:r>
              <a:rPr lang="en-US" sz="1200" dirty="0">
                <a:solidFill>
                  <a:srgbClr val="000000"/>
                </a:solidFill>
                <a:effectLst/>
                <a:latin typeface="Bahnschrift Light" panose="020B0502040204020203" pitchFamily="34" charset="0"/>
                <a:ea typeface="Calibri" panose="020F0502020204030204" pitchFamily="34" charset="0"/>
                <a:cs typeface="Times New Roman" panose="02020603050405020304" pitchFamily="18" charset="0"/>
              </a:rPr>
              <a:t>: expectations, import prices (in/direct), supply-side shocks (pricing behavior not captured in the model)</a:t>
            </a:r>
            <a:endPar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a:p>
            <a:pPr marR="0" lvl="0" algn="l" defTabSz="914400" rtl="0" eaLnBrk="1" fontAlgn="base" latinLnBrk="0" hangingPunct="1">
              <a:lnSpc>
                <a:spcPct val="150000"/>
              </a:lnSpc>
              <a:spcBef>
                <a:spcPct val="0"/>
              </a:spcBef>
              <a:spcAft>
                <a:spcPts val="0"/>
              </a:spcAft>
              <a:buClrTx/>
              <a:buSzTx/>
              <a:tabLst/>
              <a:defRPr/>
            </a:pPr>
            <a:r>
              <a:rPr lang="en-US" sz="1200" b="1" dirty="0">
                <a:solidFill>
                  <a:srgbClr val="0070C0"/>
                </a:solidFill>
                <a:latin typeface="Bahnschrift Light" panose="020B0502040204020203" pitchFamily="34" charset="0"/>
                <a:ea typeface="Calibri" panose="020F0502020204030204" pitchFamily="34" charset="0"/>
                <a:cs typeface="Times New Roman" panose="02020603050405020304" pitchFamily="18" charset="0"/>
              </a:rPr>
              <a:t>2023-24: </a:t>
            </a:r>
            <a:r>
              <a:rPr lang="en-US" sz="1200" b="1" dirty="0">
                <a:latin typeface="Bahnschrift Light" panose="020B0502040204020203" pitchFamily="34" charset="0"/>
                <a:ea typeface="Calibri" panose="020F0502020204030204" pitchFamily="34" charset="0"/>
                <a:cs typeface="Times New Roman" panose="02020603050405020304" pitchFamily="18" charset="0"/>
              </a:rPr>
              <a:t>Easing to below target:</a:t>
            </a:r>
          </a:p>
          <a:p>
            <a:pPr marL="171450" indent="-171450" algn="just">
              <a:lnSpc>
                <a:spcPct val="150000"/>
              </a:lnSpc>
              <a:spcAft>
                <a:spcPts val="600"/>
              </a:spcAft>
              <a:buFont typeface="Arial" panose="020B0604020202020204" pitchFamily="34" charset="0"/>
              <a:buChar char="•"/>
            </a:pPr>
            <a:r>
              <a:rPr lang="en-GB" sz="1200" dirty="0">
                <a:latin typeface="Bahnschrift Light" panose="020B0502040204020203" pitchFamily="34" charset="0"/>
              </a:rPr>
              <a:t>deceleration observed in core and food inflation and fall in energy from 2023Q1.</a:t>
            </a:r>
            <a:endParaRPr lang="en-US" sz="1200" dirty="0">
              <a:solidFill>
                <a:srgbClr val="000000"/>
              </a:solidFill>
              <a:latin typeface="Bahnschrift Light" panose="020B0502040204020203"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D986DCC2-BB37-5AA1-B5F6-0840D68E5A65}"/>
              </a:ext>
            </a:extLst>
          </p:cNvPr>
          <p:cNvPicPr>
            <a:picLocks noChangeAspect="1"/>
          </p:cNvPicPr>
          <p:nvPr/>
        </p:nvPicPr>
        <p:blipFill>
          <a:blip r:embed="rId2"/>
          <a:stretch>
            <a:fillRect/>
          </a:stretch>
        </p:blipFill>
        <p:spPr>
          <a:xfrm>
            <a:off x="232610" y="1196296"/>
            <a:ext cx="4339390" cy="2641031"/>
          </a:xfrm>
          <a:prstGeom prst="rect">
            <a:avLst/>
          </a:prstGeom>
          <a:ln>
            <a:solidFill>
              <a:schemeClr val="accent4">
                <a:lumMod val="20000"/>
                <a:lumOff val="80000"/>
              </a:schemeClr>
            </a:solidFill>
          </a:ln>
        </p:spPr>
      </p:pic>
      <p:pic>
        <p:nvPicPr>
          <p:cNvPr id="7" name="Picture 6">
            <a:extLst>
              <a:ext uri="{FF2B5EF4-FFF2-40B4-BE49-F238E27FC236}">
                <a16:creationId xmlns:a16="http://schemas.microsoft.com/office/drawing/2014/main" id="{42AC58E4-62C3-4274-2291-5114D0C50232}"/>
              </a:ext>
            </a:extLst>
          </p:cNvPr>
          <p:cNvPicPr>
            <a:picLocks noChangeAspect="1"/>
          </p:cNvPicPr>
          <p:nvPr/>
        </p:nvPicPr>
        <p:blipFill>
          <a:blip r:embed="rId3"/>
          <a:stretch>
            <a:fillRect/>
          </a:stretch>
        </p:blipFill>
        <p:spPr>
          <a:xfrm>
            <a:off x="228599" y="3966823"/>
            <a:ext cx="4343401" cy="2564492"/>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216617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B5504-7432-7B4D-F75D-07F08F298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D8923-3A7C-F33A-B4AA-FA797928C4E9}"/>
              </a:ext>
            </a:extLst>
          </p:cNvPr>
          <p:cNvSpPr>
            <a:spLocks noGrp="1"/>
          </p:cNvSpPr>
          <p:nvPr>
            <p:ph type="title"/>
          </p:nvPr>
        </p:nvSpPr>
        <p:spPr>
          <a:xfrm>
            <a:off x="1600200" y="242886"/>
            <a:ext cx="10261600" cy="549275"/>
          </a:xfrm>
        </p:spPr>
        <p:txBody>
          <a:bodyPr/>
          <a:lstStyle/>
          <a:p>
            <a:r>
              <a:rPr lang="en-US" sz="2400" b="1" dirty="0">
                <a:solidFill>
                  <a:schemeClr val="accent4"/>
                </a:solidFill>
                <a:latin typeface="Bahnschrift" panose="020B0502040204020203" pitchFamily="34" charset="0"/>
              </a:rPr>
              <a:t>Fiscal Policy—Deficit and components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0D6F2A58-B9E8-455A-EF1A-18C0010DC317}"/>
              </a:ext>
            </a:extLst>
          </p:cNvPr>
          <p:cNvSpPr>
            <a:spLocks noGrp="1"/>
          </p:cNvSpPr>
          <p:nvPr>
            <p:ph type="sldNum" sz="quarter" idx="10"/>
          </p:nvPr>
        </p:nvSpPr>
        <p:spPr/>
        <p:txBody>
          <a:bodyPr/>
          <a:lstStyle/>
          <a:p>
            <a:fld id="{D97AE203-F84D-4A7F-B161-8561326BE072}" type="slidenum">
              <a:rPr lang="en-US" smtClean="0"/>
              <a:pPr/>
              <a:t>9</a:t>
            </a:fld>
            <a:endParaRPr lang="en-US" dirty="0"/>
          </a:p>
        </p:txBody>
      </p:sp>
      <p:sp>
        <p:nvSpPr>
          <p:cNvPr id="5" name="Content Placeholder 2">
            <a:extLst>
              <a:ext uri="{FF2B5EF4-FFF2-40B4-BE49-F238E27FC236}">
                <a16:creationId xmlns:a16="http://schemas.microsoft.com/office/drawing/2014/main" id="{EC1499CA-53C4-D1B1-1D91-D63F0A5968F2}"/>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US" b="1" dirty="0"/>
          </a:p>
          <a:p>
            <a:pPr marL="0" indent="0" algn="just">
              <a:spcAft>
                <a:spcPts val="600"/>
              </a:spcAft>
              <a:buNone/>
            </a:pPr>
            <a:endParaRPr lang="en-US" b="1" dirty="0"/>
          </a:p>
        </p:txBody>
      </p:sp>
      <p:sp>
        <p:nvSpPr>
          <p:cNvPr id="7" name="Content Placeholder 2">
            <a:extLst>
              <a:ext uri="{FF2B5EF4-FFF2-40B4-BE49-F238E27FC236}">
                <a16:creationId xmlns:a16="http://schemas.microsoft.com/office/drawing/2014/main" id="{12AE7373-7318-B8D0-DF0C-CBF182365D26}"/>
              </a:ext>
            </a:extLst>
          </p:cNvPr>
          <p:cNvSpPr txBox="1">
            <a:spLocks/>
          </p:cNvSpPr>
          <p:nvPr/>
        </p:nvSpPr>
        <p:spPr>
          <a:xfrm>
            <a:off x="254000" y="4084639"/>
            <a:ext cx="11734800" cy="2530475"/>
          </a:xfrm>
          <a:prstGeom prst="rect">
            <a:avLst/>
          </a:prstGeom>
          <a:ln>
            <a:solidFill>
              <a:schemeClr val="accent4">
                <a:lumMod val="20000"/>
                <a:lumOff val="80000"/>
              </a:schemeClr>
            </a:solidFill>
          </a:ln>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r>
              <a:rPr lang="en-US" sz="1200" b="1" u="sng" dirty="0">
                <a:latin typeface="Bahnschrift" panose="020B0502040204020203" pitchFamily="34" charset="0"/>
              </a:rPr>
              <a:t>Fiscal/budget deficit (excl. grants, % GDP) and Govt demand (%GDP)</a:t>
            </a:r>
          </a:p>
          <a:p>
            <a:pPr lvl="1" algn="just">
              <a:spcAft>
                <a:spcPts val="600"/>
              </a:spcAft>
              <a:buFont typeface="Wingdings" panose="05000000000000000000" pitchFamily="2" charset="2"/>
              <a:buChar char="§"/>
            </a:pPr>
            <a:r>
              <a:rPr lang="en-US" sz="1200" b="1" dirty="0">
                <a:latin typeface="Bahnschrift Light" panose="020B0502040204020203" pitchFamily="34" charset="0"/>
              </a:rPr>
              <a:t>Some fiscal consolidation pre-Covid</a:t>
            </a:r>
            <a:r>
              <a:rPr lang="en-US" sz="1200" dirty="0">
                <a:latin typeface="Bahnschrift Light" panose="020B0502040204020203" pitchFamily="34" charset="0"/>
              </a:rPr>
              <a:t>—slightly lowered deficits averaging 10% of GDP in 2015/16—2018/19, mainly through lower spending on G&amp;S (“discretionary”)</a:t>
            </a:r>
          </a:p>
          <a:p>
            <a:pPr lvl="1" algn="just">
              <a:spcAft>
                <a:spcPts val="600"/>
              </a:spcAft>
              <a:buFont typeface="Wingdings" panose="05000000000000000000" pitchFamily="2" charset="2"/>
              <a:buChar char="§"/>
            </a:pPr>
            <a:r>
              <a:rPr lang="en-US" sz="1200" b="1" dirty="0">
                <a:latin typeface="Bahnschrift Light" panose="020B0502040204020203" pitchFamily="34" charset="0"/>
              </a:rPr>
              <a:t>Expansionary fiscal stance under Covid</a:t>
            </a:r>
            <a:r>
              <a:rPr lang="en-US" sz="1200" dirty="0">
                <a:latin typeface="Bahnschrift Light" panose="020B0502040204020203" pitchFamily="34" charset="0"/>
              </a:rPr>
              <a:t>—increased deficits averaging 14% of GDP in FY2019/20—2021/22, mainly Covid-related spending on G&amp;S (incl. school construction) and transfers/subsidies, mostly “discretionary” spending and deficit, only small “cyclical” deficit </a:t>
            </a:r>
          </a:p>
          <a:p>
            <a:pPr lvl="1" algn="just">
              <a:spcAft>
                <a:spcPts val="600"/>
              </a:spcAft>
              <a:buFont typeface="Wingdings" panose="05000000000000000000" pitchFamily="2" charset="2"/>
              <a:buChar char="§"/>
            </a:pPr>
            <a:r>
              <a:rPr lang="en-US" sz="1200" b="1" dirty="0">
                <a:latin typeface="Bahnschrift Light" panose="020B0502040204020203" pitchFamily="34" charset="0"/>
              </a:rPr>
              <a:t>Start of fiscal consolidation post-Covid</a:t>
            </a:r>
            <a:r>
              <a:rPr lang="en-US" sz="1200" dirty="0">
                <a:latin typeface="Bahnschrift Light" panose="020B0502040204020203" pitchFamily="34" charset="0"/>
              </a:rPr>
              <a:t>—deficit declined to 12% of GDP in FY2022/23, with spending on G&amp;S falling by 3% points of GDP (despite flood-related spending)</a:t>
            </a:r>
          </a:p>
          <a:p>
            <a:pPr lvl="1" algn="just">
              <a:spcAft>
                <a:spcPts val="600"/>
              </a:spcAft>
              <a:buFont typeface="Wingdings" panose="05000000000000000000" pitchFamily="2" charset="2"/>
              <a:buChar char="§"/>
            </a:pPr>
            <a:r>
              <a:rPr lang="en-US" sz="1400" dirty="0">
                <a:solidFill>
                  <a:schemeClr val="tx1"/>
                </a:solidFill>
                <a:latin typeface="Bahnschrift Light" panose="020B0502040204020203" pitchFamily="34" charset="0"/>
              </a:rPr>
              <a:t>Fiscal stance entailed a </a:t>
            </a:r>
            <a:r>
              <a:rPr lang="en-US" sz="1400" b="1" dirty="0">
                <a:solidFill>
                  <a:schemeClr val="tx1"/>
                </a:solidFill>
                <a:latin typeface="Bahnschrift Light" panose="020B0502040204020203" pitchFamily="34" charset="0"/>
              </a:rPr>
              <a:t>sharp drop in real govt demand for G&amp;S</a:t>
            </a:r>
            <a:r>
              <a:rPr lang="en-US" sz="1400" dirty="0">
                <a:solidFill>
                  <a:schemeClr val="tx1"/>
                </a:solidFill>
                <a:latin typeface="Bahnschrift Light" panose="020B0502040204020203" pitchFamily="34" charset="0"/>
              </a:rPr>
              <a:t>,</a:t>
            </a:r>
            <a:r>
              <a:rPr lang="en-US" sz="1400" b="1" dirty="0">
                <a:solidFill>
                  <a:schemeClr val="tx1"/>
                </a:solidFill>
                <a:latin typeface="Bahnschrift Light" panose="020B0502040204020203" pitchFamily="34" charset="0"/>
              </a:rPr>
              <a:t> </a:t>
            </a:r>
            <a:r>
              <a:rPr lang="en-US" sz="1400" dirty="0">
                <a:solidFill>
                  <a:schemeClr val="tx1"/>
                </a:solidFill>
                <a:latin typeface="Bahnschrift Light" panose="020B0502040204020203" pitchFamily="34" charset="0"/>
              </a:rPr>
              <a:t>further exacerbated by surging inflation from early 2022 before falling in 2023</a:t>
            </a:r>
          </a:p>
        </p:txBody>
      </p:sp>
      <p:pic>
        <p:nvPicPr>
          <p:cNvPr id="8" name="Picture 7">
            <a:extLst>
              <a:ext uri="{FF2B5EF4-FFF2-40B4-BE49-F238E27FC236}">
                <a16:creationId xmlns:a16="http://schemas.microsoft.com/office/drawing/2014/main" id="{BC18690A-BF24-AB91-8945-CE300FC1B9C0}"/>
              </a:ext>
            </a:extLst>
          </p:cNvPr>
          <p:cNvPicPr>
            <a:picLocks noChangeAspect="1"/>
          </p:cNvPicPr>
          <p:nvPr/>
        </p:nvPicPr>
        <p:blipFill>
          <a:blip r:embed="rId2"/>
          <a:stretch>
            <a:fillRect/>
          </a:stretch>
        </p:blipFill>
        <p:spPr>
          <a:xfrm>
            <a:off x="254000" y="1219200"/>
            <a:ext cx="4368800" cy="2819400"/>
          </a:xfrm>
          <a:prstGeom prst="rect">
            <a:avLst/>
          </a:prstGeom>
          <a:ln>
            <a:solidFill>
              <a:schemeClr val="accent4">
                <a:lumMod val="20000"/>
                <a:lumOff val="80000"/>
              </a:schemeClr>
            </a:solidFill>
          </a:ln>
        </p:spPr>
      </p:pic>
      <p:pic>
        <p:nvPicPr>
          <p:cNvPr id="12" name="Picture 11">
            <a:extLst>
              <a:ext uri="{FF2B5EF4-FFF2-40B4-BE49-F238E27FC236}">
                <a16:creationId xmlns:a16="http://schemas.microsoft.com/office/drawing/2014/main" id="{CD563FA2-4695-B2FD-D819-734F0330BA6B}"/>
              </a:ext>
            </a:extLst>
          </p:cNvPr>
          <p:cNvPicPr>
            <a:picLocks noChangeAspect="1"/>
          </p:cNvPicPr>
          <p:nvPr/>
        </p:nvPicPr>
        <p:blipFill>
          <a:blip r:embed="rId3"/>
          <a:stretch>
            <a:fillRect/>
          </a:stretch>
        </p:blipFill>
        <p:spPr>
          <a:xfrm>
            <a:off x="8712200" y="1219200"/>
            <a:ext cx="3276600" cy="2819400"/>
          </a:xfrm>
          <a:prstGeom prst="rect">
            <a:avLst/>
          </a:prstGeom>
          <a:ln>
            <a:solidFill>
              <a:schemeClr val="accent4">
                <a:lumMod val="20000"/>
                <a:lumOff val="80000"/>
              </a:schemeClr>
            </a:solidFill>
          </a:ln>
        </p:spPr>
      </p:pic>
      <p:pic>
        <p:nvPicPr>
          <p:cNvPr id="16" name="Picture 15">
            <a:extLst>
              <a:ext uri="{FF2B5EF4-FFF2-40B4-BE49-F238E27FC236}">
                <a16:creationId xmlns:a16="http://schemas.microsoft.com/office/drawing/2014/main" id="{FDE65E1E-F9D3-D714-ED2B-5B8A7D295A12}"/>
              </a:ext>
            </a:extLst>
          </p:cNvPr>
          <p:cNvPicPr>
            <a:picLocks noChangeAspect="1"/>
          </p:cNvPicPr>
          <p:nvPr/>
        </p:nvPicPr>
        <p:blipFill>
          <a:blip r:embed="rId4"/>
          <a:stretch>
            <a:fillRect/>
          </a:stretch>
        </p:blipFill>
        <p:spPr>
          <a:xfrm>
            <a:off x="4724400" y="1219200"/>
            <a:ext cx="3886200" cy="2819400"/>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2440862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5D0EC-8FF8-C858-8A0E-7E4B6D663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B3F54-8A36-2CA8-13B1-59C23F55B5D7}"/>
              </a:ext>
            </a:extLst>
          </p:cNvPr>
          <p:cNvSpPr>
            <a:spLocks noGrp="1"/>
          </p:cNvSpPr>
          <p:nvPr>
            <p:ph type="title"/>
          </p:nvPr>
        </p:nvSpPr>
        <p:spPr>
          <a:xfrm>
            <a:off x="1600200" y="242886"/>
            <a:ext cx="10261600" cy="549275"/>
          </a:xfrm>
        </p:spPr>
        <p:txBody>
          <a:bodyPr/>
          <a:lstStyle/>
          <a:p>
            <a:r>
              <a:rPr lang="en-US" sz="2400" b="1" dirty="0">
                <a:solidFill>
                  <a:schemeClr val="accent4"/>
                </a:solidFill>
                <a:latin typeface="Bahnschrift" panose="020B0502040204020203" pitchFamily="34" charset="0"/>
              </a:rPr>
              <a:t>Money Market Rates: Interest and Exchange Rates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66EAC289-9043-CB27-940F-3E0A50F1840B}"/>
              </a:ext>
            </a:extLst>
          </p:cNvPr>
          <p:cNvSpPr>
            <a:spLocks noGrp="1"/>
          </p:cNvSpPr>
          <p:nvPr>
            <p:ph type="sldNum" sz="quarter" idx="10"/>
          </p:nvPr>
        </p:nvSpPr>
        <p:spPr/>
        <p:txBody>
          <a:bodyPr/>
          <a:lstStyle/>
          <a:p>
            <a:fld id="{D97AE203-F84D-4A7F-B161-8561326BE072}" type="slidenum">
              <a:rPr lang="en-US" smtClean="0"/>
              <a:pPr/>
              <a:t>10</a:t>
            </a:fld>
            <a:endParaRPr lang="en-US" dirty="0"/>
          </a:p>
        </p:txBody>
      </p:sp>
      <p:sp>
        <p:nvSpPr>
          <p:cNvPr id="5" name="Content Placeholder 2">
            <a:extLst>
              <a:ext uri="{FF2B5EF4-FFF2-40B4-BE49-F238E27FC236}">
                <a16:creationId xmlns:a16="http://schemas.microsoft.com/office/drawing/2014/main" id="{D8D7401A-1BB9-557E-7A8C-16508E54FB1F}"/>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endParaRPr lang="en-US" b="1" dirty="0"/>
          </a:p>
          <a:p>
            <a:pPr marL="0" indent="0" algn="just">
              <a:spcAft>
                <a:spcPts val="600"/>
              </a:spcAft>
              <a:buNone/>
            </a:pPr>
            <a:endParaRPr lang="en-US" b="1" dirty="0"/>
          </a:p>
        </p:txBody>
      </p:sp>
      <p:pic>
        <p:nvPicPr>
          <p:cNvPr id="6" name="Picture 5">
            <a:extLst>
              <a:ext uri="{FF2B5EF4-FFF2-40B4-BE49-F238E27FC236}">
                <a16:creationId xmlns:a16="http://schemas.microsoft.com/office/drawing/2014/main" id="{88B422B2-36A5-AAAE-2D29-57EB55564C74}"/>
              </a:ext>
            </a:extLst>
          </p:cNvPr>
          <p:cNvPicPr>
            <a:picLocks noChangeAspect="1"/>
          </p:cNvPicPr>
          <p:nvPr/>
        </p:nvPicPr>
        <p:blipFill>
          <a:blip r:embed="rId2"/>
          <a:stretch>
            <a:fillRect/>
          </a:stretch>
        </p:blipFill>
        <p:spPr>
          <a:xfrm>
            <a:off x="5029200" y="1192924"/>
            <a:ext cx="3124200" cy="2514600"/>
          </a:xfrm>
          <a:prstGeom prst="rect">
            <a:avLst/>
          </a:prstGeom>
          <a:ln>
            <a:solidFill>
              <a:schemeClr val="accent4">
                <a:lumMod val="20000"/>
                <a:lumOff val="80000"/>
              </a:schemeClr>
            </a:solidFill>
          </a:ln>
        </p:spPr>
      </p:pic>
      <p:pic>
        <p:nvPicPr>
          <p:cNvPr id="13" name="Picture 12">
            <a:extLst>
              <a:ext uri="{FF2B5EF4-FFF2-40B4-BE49-F238E27FC236}">
                <a16:creationId xmlns:a16="http://schemas.microsoft.com/office/drawing/2014/main" id="{56A0F065-71F6-A9F4-4BAB-BF011ED4B791}"/>
              </a:ext>
            </a:extLst>
          </p:cNvPr>
          <p:cNvPicPr>
            <a:picLocks noChangeAspect="1"/>
          </p:cNvPicPr>
          <p:nvPr/>
        </p:nvPicPr>
        <p:blipFill>
          <a:blip r:embed="rId3"/>
          <a:stretch>
            <a:fillRect/>
          </a:stretch>
        </p:blipFill>
        <p:spPr>
          <a:xfrm>
            <a:off x="8305801" y="3836276"/>
            <a:ext cx="3657600" cy="2488324"/>
          </a:xfrm>
          <a:prstGeom prst="rect">
            <a:avLst/>
          </a:prstGeom>
          <a:ln>
            <a:solidFill>
              <a:schemeClr val="accent4">
                <a:lumMod val="20000"/>
                <a:lumOff val="80000"/>
              </a:schemeClr>
            </a:solidFill>
          </a:ln>
        </p:spPr>
      </p:pic>
      <p:pic>
        <p:nvPicPr>
          <p:cNvPr id="15" name="Picture 14">
            <a:extLst>
              <a:ext uri="{FF2B5EF4-FFF2-40B4-BE49-F238E27FC236}">
                <a16:creationId xmlns:a16="http://schemas.microsoft.com/office/drawing/2014/main" id="{2354715E-730A-6FD5-27F2-54E90B04C724}"/>
              </a:ext>
            </a:extLst>
          </p:cNvPr>
          <p:cNvPicPr>
            <a:picLocks noChangeAspect="1"/>
          </p:cNvPicPr>
          <p:nvPr/>
        </p:nvPicPr>
        <p:blipFill>
          <a:blip r:embed="rId4"/>
          <a:stretch>
            <a:fillRect/>
          </a:stretch>
        </p:blipFill>
        <p:spPr>
          <a:xfrm>
            <a:off x="5029200" y="3854669"/>
            <a:ext cx="3128141" cy="2488324"/>
          </a:xfrm>
          <a:prstGeom prst="rect">
            <a:avLst/>
          </a:prstGeom>
          <a:ln>
            <a:solidFill>
              <a:schemeClr val="accent4">
                <a:lumMod val="20000"/>
                <a:lumOff val="80000"/>
              </a:schemeClr>
            </a:solidFill>
          </a:ln>
        </p:spPr>
      </p:pic>
      <p:pic>
        <p:nvPicPr>
          <p:cNvPr id="21" name="Picture 20">
            <a:extLst>
              <a:ext uri="{FF2B5EF4-FFF2-40B4-BE49-F238E27FC236}">
                <a16:creationId xmlns:a16="http://schemas.microsoft.com/office/drawing/2014/main" id="{87C72BF1-BD25-B449-AA7D-7A781A8740C5}"/>
              </a:ext>
            </a:extLst>
          </p:cNvPr>
          <p:cNvPicPr>
            <a:picLocks noChangeAspect="1"/>
          </p:cNvPicPr>
          <p:nvPr/>
        </p:nvPicPr>
        <p:blipFill>
          <a:blip r:embed="rId5"/>
          <a:stretch>
            <a:fillRect/>
          </a:stretch>
        </p:blipFill>
        <p:spPr>
          <a:xfrm>
            <a:off x="8305800" y="1219200"/>
            <a:ext cx="3685033" cy="2488324"/>
          </a:xfrm>
          <a:prstGeom prst="rect">
            <a:avLst/>
          </a:prstGeom>
          <a:ln>
            <a:solidFill>
              <a:schemeClr val="accent4">
                <a:lumMod val="20000"/>
                <a:lumOff val="80000"/>
              </a:schemeClr>
            </a:solidFill>
          </a:ln>
        </p:spPr>
      </p:pic>
      <p:sp>
        <p:nvSpPr>
          <p:cNvPr id="4" name="TextBox 3">
            <a:extLst>
              <a:ext uri="{FF2B5EF4-FFF2-40B4-BE49-F238E27FC236}">
                <a16:creationId xmlns:a16="http://schemas.microsoft.com/office/drawing/2014/main" id="{2CD04C6C-6B85-50A6-D7AE-75D20C60CD04}"/>
              </a:ext>
            </a:extLst>
          </p:cNvPr>
          <p:cNvSpPr txBox="1"/>
          <p:nvPr/>
        </p:nvSpPr>
        <p:spPr>
          <a:xfrm>
            <a:off x="304801" y="1249417"/>
            <a:ext cx="4648200" cy="461665"/>
          </a:xfrm>
          <a:prstGeom prst="rect">
            <a:avLst/>
          </a:prstGeom>
          <a:noFill/>
        </p:spPr>
        <p:txBody>
          <a:bodyPr wrap="square" rtlCol="0">
            <a:spAutoFit/>
          </a:bodyPr>
          <a:lstStyle/>
          <a:p>
            <a:r>
              <a:rPr lang="en-US" dirty="0">
                <a:solidFill>
                  <a:srgbClr val="FF0000"/>
                </a:solidFill>
              </a:rPr>
              <a:t>Narrative</a:t>
            </a:r>
            <a:endParaRPr lang="en-RW" dirty="0">
              <a:solidFill>
                <a:srgbClr val="FF0000"/>
              </a:solidFill>
            </a:endParaRPr>
          </a:p>
        </p:txBody>
      </p:sp>
    </p:spTree>
    <p:extLst>
      <p:ext uri="{BB962C8B-B14F-4D97-AF65-F5344CB8AC3E}">
        <p14:creationId xmlns:p14="http://schemas.microsoft.com/office/powerpoint/2010/main" val="2819471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A30F-F1AF-7A79-492A-E0B0809E7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C7662-4EC7-436F-F35A-2747C667670B}"/>
              </a:ext>
            </a:extLst>
          </p:cNvPr>
          <p:cNvSpPr>
            <a:spLocks noGrp="1"/>
          </p:cNvSpPr>
          <p:nvPr>
            <p:ph type="title"/>
          </p:nvPr>
        </p:nvSpPr>
        <p:spPr>
          <a:xfrm>
            <a:off x="838200" y="928688"/>
            <a:ext cx="10515600" cy="476250"/>
          </a:xfrm>
        </p:spPr>
        <p:txBody>
          <a:bodyPr/>
          <a:lstStyle/>
          <a:p>
            <a:r>
              <a:rPr lang="en-US" dirty="0">
                <a:solidFill>
                  <a:srgbClr val="192EF7">
                    <a:lumMod val="50000"/>
                  </a:srgbClr>
                </a:solidFill>
                <a:ea typeface="ＭＳ Ｐゴシック" charset="-128"/>
              </a:rPr>
              <a:t>Summary of recent policies</a:t>
            </a:r>
            <a:endParaRPr lang="en-US" dirty="0"/>
          </a:p>
        </p:txBody>
      </p:sp>
      <p:sp>
        <p:nvSpPr>
          <p:cNvPr id="3" name="Content Placeholder 2">
            <a:extLst>
              <a:ext uri="{FF2B5EF4-FFF2-40B4-BE49-F238E27FC236}">
                <a16:creationId xmlns:a16="http://schemas.microsoft.com/office/drawing/2014/main" id="{C5A0840F-42A8-0F32-C51F-A693B64C48B5}"/>
              </a:ext>
            </a:extLst>
          </p:cNvPr>
          <p:cNvSpPr>
            <a:spLocks noGrp="1"/>
          </p:cNvSpPr>
          <p:nvPr>
            <p:ph idx="1"/>
          </p:nvPr>
        </p:nvSpPr>
        <p:spPr>
          <a:xfrm>
            <a:off x="533401" y="1495425"/>
            <a:ext cx="11049000" cy="4953000"/>
          </a:xfrm>
          <a:solidFill>
            <a:schemeClr val="bg1">
              <a:lumMod val="95000"/>
            </a:schemeClr>
          </a:solidFill>
          <a:ln>
            <a:solidFill>
              <a:schemeClr val="bg1">
                <a:lumMod val="50000"/>
              </a:schemeClr>
            </a:solidFill>
          </a:ln>
        </p:spPr>
        <p:txBody>
          <a:bodyPr>
            <a:normAutofit/>
          </a:bodyPr>
          <a:lstStyle/>
          <a:p>
            <a:pPr marL="0" indent="0">
              <a:lnSpc>
                <a:spcPct val="150000"/>
              </a:lnSpc>
              <a:spcBef>
                <a:spcPts val="0"/>
              </a:spcBef>
              <a:buNone/>
              <a:defRPr/>
            </a:pPr>
            <a:r>
              <a:rPr lang="en-US" sz="1600" b="1" dirty="0">
                <a:solidFill>
                  <a:prstClr val="black"/>
                </a:solidFill>
                <a:latin typeface="Bahnschrift" panose="020B0502040204020203" pitchFamily="34" charset="0"/>
              </a:rPr>
              <a:t>Cyclical position: </a:t>
            </a:r>
            <a:r>
              <a:rPr lang="en-US" sz="1600" dirty="0">
                <a:solidFill>
                  <a:srgbClr val="C00000"/>
                </a:solidFill>
                <a:latin typeface="Bahnschrift" panose="020B0502040204020203" pitchFamily="34" charset="0"/>
              </a:rPr>
              <a:t>Position of output in relation to inflation, ER and RIR position---</a:t>
            </a:r>
            <a:r>
              <a:rPr lang="en-US" sz="1600" dirty="0">
                <a:solidFill>
                  <a:prstClr val="black"/>
                </a:solidFill>
                <a:latin typeface="Bahnschrift" panose="020B0502040204020203" pitchFamily="34" charset="0"/>
              </a:rPr>
              <a:t>Domestic agriculture position</a:t>
            </a:r>
          </a:p>
          <a:p>
            <a:pPr marL="0" indent="0">
              <a:lnSpc>
                <a:spcPct val="150000"/>
              </a:lnSpc>
              <a:spcBef>
                <a:spcPts val="0"/>
              </a:spcBef>
              <a:buNone/>
              <a:defRPr/>
            </a:pPr>
            <a:endParaRPr lang="en-US" sz="1600" dirty="0">
              <a:solidFill>
                <a:srgbClr val="C00000"/>
              </a:solidFill>
              <a:latin typeface="Bahnschrift" panose="020B0502040204020203" pitchFamily="34" charset="0"/>
            </a:endParaRP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Output has been growing above and below potential level for pre-and post-COVID period respectively</a:t>
            </a:r>
          </a:p>
          <a:p>
            <a:pPr lvl="1">
              <a:lnSpc>
                <a:spcPct val="150000"/>
              </a:lnSpc>
              <a:spcBef>
                <a:spcPts val="0"/>
              </a:spcBef>
              <a:buFont typeface="Wingdings" panose="05000000000000000000" pitchFamily="2" charset="2"/>
              <a:buChar char="§"/>
              <a:defRPr/>
            </a:pPr>
            <a:r>
              <a:rPr lang="en-US" sz="1200" dirty="0">
                <a:solidFill>
                  <a:srgbClr val="C00000"/>
                </a:solidFill>
                <a:latin typeface="Bahnschrift" panose="020B0502040204020203" pitchFamily="34" charset="0"/>
              </a:rPr>
              <a:t>Govt recovery policies positive movement of output back to potential level </a:t>
            </a:r>
          </a:p>
          <a:p>
            <a:pPr>
              <a:lnSpc>
                <a:spcPct val="150000"/>
              </a:lnSpc>
              <a:spcBef>
                <a:spcPts val="0"/>
              </a:spcBef>
              <a:buFont typeface="Wingdings" panose="05000000000000000000" pitchFamily="2" charset="2"/>
              <a:buChar char="§"/>
              <a:defRPr/>
            </a:pPr>
            <a:r>
              <a:rPr lang="en-US" sz="1600" dirty="0">
                <a:solidFill>
                  <a:srgbClr val="C00000"/>
                </a:solidFill>
                <a:latin typeface="Bahnschrift" panose="020B0502040204020203" pitchFamily="34" charset="0"/>
              </a:rPr>
              <a:t>Output temporally picked above potential level for second half of 2023-24 helped by eased Govt fiscal consolidation and exports</a:t>
            </a:r>
          </a:p>
          <a:p>
            <a:pPr marL="228600" lvl="3" indent="0">
              <a:lnSpc>
                <a:spcPct val="150000"/>
              </a:lnSpc>
              <a:spcBef>
                <a:spcPts val="0"/>
              </a:spcBef>
              <a:buNone/>
              <a:defRPr/>
            </a:pPr>
            <a:endParaRPr lang="en-US" sz="1000" dirty="0">
              <a:solidFill>
                <a:prstClr val="black"/>
              </a:solidFill>
              <a:latin typeface="Bahnschrift Light" panose="020B0502040204020203" pitchFamily="34" charset="0"/>
            </a:endParaRPr>
          </a:p>
          <a:p>
            <a:pPr marL="0" indent="0">
              <a:lnSpc>
                <a:spcPct val="150000"/>
              </a:lnSpc>
              <a:spcBef>
                <a:spcPts val="0"/>
              </a:spcBef>
              <a:buNone/>
              <a:defRPr/>
            </a:pPr>
            <a:r>
              <a:rPr lang="en-US" sz="1600" b="1" dirty="0">
                <a:solidFill>
                  <a:prstClr val="black"/>
                </a:solidFill>
                <a:latin typeface="Bahnschrift" panose="020B0502040204020203" pitchFamily="34" charset="0"/>
              </a:rPr>
              <a:t>Fiscal policy position and stance:</a:t>
            </a:r>
          </a:p>
          <a:p>
            <a:pPr marL="0" indent="0">
              <a:lnSpc>
                <a:spcPct val="150000"/>
              </a:lnSpc>
              <a:spcBef>
                <a:spcPts val="0"/>
              </a:spcBef>
              <a:buNone/>
              <a:defRPr/>
            </a:pPr>
            <a:endParaRPr lang="en-US" sz="1600" b="1" dirty="0">
              <a:solidFill>
                <a:prstClr val="black"/>
              </a:solidFill>
              <a:latin typeface="Bahnschrift" panose="020B0502040204020203" pitchFamily="34" charset="0"/>
            </a:endParaRPr>
          </a:p>
          <a:p>
            <a:pPr marL="0" indent="0">
              <a:lnSpc>
                <a:spcPct val="150000"/>
              </a:lnSpc>
              <a:spcBef>
                <a:spcPts val="0"/>
              </a:spcBef>
              <a:buNone/>
              <a:defRPr/>
            </a:pPr>
            <a:endParaRPr lang="en-US" sz="1600" b="1" dirty="0">
              <a:solidFill>
                <a:prstClr val="black"/>
              </a:solidFill>
              <a:latin typeface="Bahnschrift" panose="020B0502040204020203" pitchFamily="34" charset="0"/>
            </a:endParaRPr>
          </a:p>
          <a:p>
            <a:pPr marL="0" indent="0">
              <a:lnSpc>
                <a:spcPct val="150000"/>
              </a:lnSpc>
              <a:spcBef>
                <a:spcPts val="0"/>
              </a:spcBef>
              <a:buNone/>
              <a:defRPr/>
            </a:pPr>
            <a:endParaRPr lang="en-US" sz="1600" dirty="0">
              <a:solidFill>
                <a:prstClr val="black"/>
              </a:solidFill>
              <a:latin typeface="Bahnschrift" panose="020B0502040204020203" pitchFamily="34" charset="0"/>
            </a:endParaRPr>
          </a:p>
          <a:p>
            <a:pPr marL="0" indent="0">
              <a:lnSpc>
                <a:spcPct val="150000"/>
              </a:lnSpc>
              <a:spcBef>
                <a:spcPts val="0"/>
              </a:spcBef>
              <a:buNone/>
              <a:defRPr/>
            </a:pPr>
            <a:r>
              <a:rPr lang="en-US" sz="1600" b="1" dirty="0">
                <a:solidFill>
                  <a:prstClr val="black"/>
                </a:solidFill>
                <a:latin typeface="Bahnschrift" panose="020B0502040204020203" pitchFamily="34" charset="0"/>
              </a:rPr>
              <a:t>RIR and ER policy stance</a:t>
            </a:r>
            <a:r>
              <a:rPr lang="en-US" sz="1600" dirty="0">
                <a:solidFill>
                  <a:prstClr val="black"/>
                </a:solidFill>
                <a:latin typeface="Bahnschrift" panose="020B0502040204020203" pitchFamily="34" charset="0"/>
              </a:rPr>
              <a:t>:</a:t>
            </a:r>
          </a:p>
          <a:p>
            <a:pPr marL="0" lvl="1">
              <a:lnSpc>
                <a:spcPct val="150000"/>
              </a:lnSpc>
              <a:spcBef>
                <a:spcPts val="0"/>
              </a:spcBef>
              <a:buFont typeface="Wingdings" panose="05000000000000000000" pitchFamily="2" charset="2"/>
              <a:buChar char="§"/>
              <a:defRPr/>
            </a:pPr>
            <a:endParaRPr lang="en-US" sz="1200" b="1" dirty="0">
              <a:solidFill>
                <a:prstClr val="black"/>
              </a:solidFill>
              <a:latin typeface="Bahnschrift Light" panose="020B0502040204020203" pitchFamily="34" charset="0"/>
            </a:endParaRPr>
          </a:p>
        </p:txBody>
      </p:sp>
    </p:spTree>
    <p:extLst>
      <p:ext uri="{BB962C8B-B14F-4D97-AF65-F5344CB8AC3E}">
        <p14:creationId xmlns:p14="http://schemas.microsoft.com/office/powerpoint/2010/main" val="1594625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BBD5B-8483-B5CB-F51A-19C8F3565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79193-34E2-CF65-A4DA-E276443A1359}"/>
              </a:ext>
            </a:extLst>
          </p:cNvPr>
          <p:cNvSpPr>
            <a:spLocks noGrp="1"/>
          </p:cNvSpPr>
          <p:nvPr>
            <p:ph type="title"/>
          </p:nvPr>
        </p:nvSpPr>
        <p:spPr>
          <a:xfrm>
            <a:off x="838200" y="928688"/>
            <a:ext cx="10515600" cy="476250"/>
          </a:xfrm>
        </p:spPr>
        <p:txBody>
          <a:bodyPr/>
          <a:lstStyle/>
          <a:p>
            <a:r>
              <a:rPr kumimoji="0" lang="en-US" sz="28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j-cs"/>
              </a:rPr>
              <a:t>Po</a:t>
            </a:r>
            <a:r>
              <a:rPr lang="en-US" dirty="0" err="1">
                <a:solidFill>
                  <a:srgbClr val="192EF7">
                    <a:lumMod val="50000"/>
                  </a:srgbClr>
                </a:solidFill>
                <a:ea typeface="ＭＳ Ｐゴシック" charset="-128"/>
              </a:rPr>
              <a:t>licy</a:t>
            </a:r>
            <a:r>
              <a:rPr lang="en-US" dirty="0">
                <a:solidFill>
                  <a:srgbClr val="192EF7">
                    <a:lumMod val="50000"/>
                  </a:srgbClr>
                </a:solidFill>
                <a:ea typeface="ＭＳ Ｐゴシック" charset="-128"/>
              </a:rPr>
              <a:t> a</a:t>
            </a:r>
            <a:r>
              <a:rPr kumimoji="0" lang="en-US" sz="2800" b="1" i="0" u="none" strike="noStrike" kern="1200" cap="none" spc="0" normalizeH="0" baseline="0" noProof="0" dirty="0" err="1">
                <a:ln>
                  <a:noFill/>
                </a:ln>
                <a:solidFill>
                  <a:srgbClr val="192EF7">
                    <a:lumMod val="50000"/>
                  </a:srgbClr>
                </a:solidFill>
                <a:effectLst/>
                <a:uLnTx/>
                <a:uFillTx/>
                <a:latin typeface="Bahnschrift" panose="020B0502040204020203" pitchFamily="34" charset="0"/>
                <a:ea typeface="ＭＳ Ｐゴシック" charset="-128"/>
                <a:cs typeface="+mj-cs"/>
              </a:rPr>
              <a:t>ssumptions</a:t>
            </a:r>
            <a:r>
              <a:rPr kumimoji="0" lang="en-US" sz="28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j-cs"/>
              </a:rPr>
              <a:t> underlying forecasts</a:t>
            </a:r>
            <a:endParaRPr lang="en-US" dirty="0"/>
          </a:p>
        </p:txBody>
      </p:sp>
      <p:sp>
        <p:nvSpPr>
          <p:cNvPr id="3" name="Content Placeholder 2">
            <a:extLst>
              <a:ext uri="{FF2B5EF4-FFF2-40B4-BE49-F238E27FC236}">
                <a16:creationId xmlns:a16="http://schemas.microsoft.com/office/drawing/2014/main" id="{1E2F9777-4D90-5943-11C1-73F744980722}"/>
              </a:ext>
            </a:extLst>
          </p:cNvPr>
          <p:cNvSpPr>
            <a:spLocks noGrp="1"/>
          </p:cNvSpPr>
          <p:nvPr>
            <p:ph idx="1"/>
          </p:nvPr>
        </p:nvSpPr>
        <p:spPr>
          <a:xfrm>
            <a:off x="533401" y="1495425"/>
            <a:ext cx="11049000" cy="4953000"/>
          </a:xfrm>
          <a:solidFill>
            <a:schemeClr val="bg1">
              <a:lumMod val="95000"/>
            </a:schemeClr>
          </a:solidFill>
          <a:ln>
            <a:solidFill>
              <a:schemeClr val="bg1">
                <a:lumMod val="50000"/>
              </a:schemeClr>
            </a:solidFill>
          </a:ln>
        </p:spPr>
        <p:txBody>
          <a:bodyPr>
            <a:normAutofit/>
          </a:bodyPr>
          <a:lstStyle/>
          <a:p>
            <a:pPr marL="0" indent="0">
              <a:lnSpc>
                <a:spcPct val="150000"/>
              </a:lnSpc>
              <a:spcBef>
                <a:spcPts val="0"/>
              </a:spcBef>
              <a:buNone/>
              <a:defRPr/>
            </a:pPr>
            <a:r>
              <a:rPr lang="en-US" sz="1600" b="1" dirty="0">
                <a:solidFill>
                  <a:prstClr val="black"/>
                </a:solidFill>
                <a:latin typeface="Bahnschrift" panose="020B0502040204020203" pitchFamily="34" charset="0"/>
              </a:rPr>
              <a:t>Domestic policy stance: </a:t>
            </a:r>
          </a:p>
          <a:p>
            <a:pPr marL="0">
              <a:lnSpc>
                <a:spcPct val="150000"/>
              </a:lnSpc>
              <a:spcBef>
                <a:spcPts val="0"/>
              </a:spcBef>
              <a:buFont typeface="Wingdings" panose="05000000000000000000" pitchFamily="2" charset="2"/>
              <a:buChar char="§"/>
              <a:defRPr/>
            </a:pPr>
            <a:r>
              <a:rPr lang="en-US" sz="1400" b="1" dirty="0">
                <a:solidFill>
                  <a:prstClr val="black"/>
                </a:solidFill>
                <a:latin typeface="Bahnschrift Light" panose="020B0502040204020203" pitchFamily="34" charset="0"/>
              </a:rPr>
              <a:t>Monetary policy stance: </a:t>
            </a:r>
          </a:p>
          <a:p>
            <a:pPr marL="457200" lvl="2">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Policy Rate:</a:t>
            </a:r>
            <a:r>
              <a:rPr lang="en-US" sz="1200" dirty="0">
                <a:solidFill>
                  <a:prstClr val="black"/>
                </a:solidFill>
                <a:latin typeface="Bahnschrift Light" panose="020B0502040204020203" pitchFamily="34" charset="0"/>
              </a:rPr>
              <a:t> relatively loose money market rates i.e., accommodative CBR and steered interbank rates for second half of 2024</a:t>
            </a:r>
            <a:endParaRPr lang="en-US" sz="1200" b="1" dirty="0">
              <a:solidFill>
                <a:prstClr val="black"/>
              </a:solidFill>
              <a:latin typeface="Bahnschrift Light" panose="020B0502040204020203" pitchFamily="34" charset="0"/>
            </a:endParaRPr>
          </a:p>
          <a:p>
            <a:pPr marL="457200" lvl="2">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Exchange Rate (ER): Slowdown in </a:t>
            </a:r>
            <a:r>
              <a:rPr lang="en-US" sz="1200" dirty="0">
                <a:solidFill>
                  <a:prstClr val="black"/>
                </a:solidFill>
                <a:latin typeface="Bahnschrift Light" panose="020B0502040204020203" pitchFamily="34" charset="0"/>
              </a:rPr>
              <a:t>ER depreciation as in the PCI program of October 2024</a:t>
            </a:r>
          </a:p>
          <a:p>
            <a:pPr marL="0">
              <a:lnSpc>
                <a:spcPct val="150000"/>
              </a:lnSpc>
              <a:spcBef>
                <a:spcPts val="0"/>
              </a:spcBef>
              <a:buFont typeface="Wingdings" panose="05000000000000000000" pitchFamily="2" charset="2"/>
              <a:buChar char="§"/>
              <a:defRPr/>
            </a:pPr>
            <a:r>
              <a:rPr lang="en-US" sz="1400" b="1" dirty="0">
                <a:solidFill>
                  <a:prstClr val="black"/>
                </a:solidFill>
                <a:latin typeface="Bahnschrift Light" panose="020B0502040204020203" pitchFamily="34" charset="0"/>
              </a:rPr>
              <a:t>Fiscal Policy Stance: </a:t>
            </a: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Fiscal deficit path: </a:t>
            </a:r>
          </a:p>
          <a:p>
            <a:pPr marL="457200" lvl="3">
              <a:lnSpc>
                <a:spcPct val="150000"/>
              </a:lnSpc>
              <a:spcBef>
                <a:spcPts val="0"/>
              </a:spcBef>
              <a:buFont typeface="+mj-lt"/>
              <a:buAutoNum type="arabicPeriod"/>
              <a:defRPr/>
            </a:pPr>
            <a:r>
              <a:rPr lang="en-US" sz="1200" b="1" dirty="0">
                <a:solidFill>
                  <a:prstClr val="black"/>
                </a:solidFill>
                <a:latin typeface="Bahnschrift Light" panose="020B0502040204020203" pitchFamily="34" charset="0"/>
              </a:rPr>
              <a:t>2023/24-2025/26: Re-introduction of </a:t>
            </a:r>
            <a:r>
              <a:rPr lang="en-US" sz="1200" dirty="0">
                <a:solidFill>
                  <a:prstClr val="black"/>
                </a:solidFill>
                <a:latin typeface="Bahnschrift Light" panose="020B0502040204020203" pitchFamily="34" charset="0"/>
              </a:rPr>
              <a:t>a strong fiscal consolidation (i.e., contractionary fiscal policy).</a:t>
            </a:r>
          </a:p>
          <a:p>
            <a:pPr marL="457200" lvl="3">
              <a:lnSpc>
                <a:spcPct val="150000"/>
              </a:lnSpc>
              <a:spcBef>
                <a:spcPts val="0"/>
              </a:spcBef>
              <a:buFont typeface="+mj-lt"/>
              <a:buAutoNum type="arabicPeriod"/>
              <a:defRPr/>
            </a:pPr>
            <a:r>
              <a:rPr lang="en-US" sz="1200" b="1" dirty="0">
                <a:solidFill>
                  <a:prstClr val="black"/>
                </a:solidFill>
                <a:latin typeface="Bahnschrift Light" panose="020B0502040204020203" pitchFamily="34" charset="0"/>
              </a:rPr>
              <a:t>2026/27 – onward</a:t>
            </a:r>
            <a:r>
              <a:rPr lang="en-US" sz="1200" dirty="0">
                <a:solidFill>
                  <a:prstClr val="black"/>
                </a:solidFill>
                <a:latin typeface="Bahnschrift Light" panose="020B0502040204020203" pitchFamily="34" charset="0"/>
              </a:rPr>
              <a:t>: Relatively expansionary fiscal policy that follows a sustainable level of deficit determined by debt creating deficit and grants path</a:t>
            </a:r>
          </a:p>
          <a:p>
            <a:pPr marL="228600" lvl="3" indent="0">
              <a:lnSpc>
                <a:spcPct val="150000"/>
              </a:lnSpc>
              <a:spcBef>
                <a:spcPts val="0"/>
              </a:spcBef>
              <a:buNone/>
              <a:defRPr/>
            </a:pPr>
            <a:endParaRPr lang="en-US" sz="1000" dirty="0">
              <a:solidFill>
                <a:prstClr val="black"/>
              </a:solidFill>
              <a:latin typeface="Bahnschrift Light" panose="020B0502040204020203" pitchFamily="34" charset="0"/>
            </a:endParaRPr>
          </a:p>
          <a:p>
            <a:pPr marL="0" indent="0">
              <a:lnSpc>
                <a:spcPct val="150000"/>
              </a:lnSpc>
              <a:spcBef>
                <a:spcPts val="0"/>
              </a:spcBef>
              <a:buNone/>
              <a:defRPr/>
            </a:pPr>
            <a:r>
              <a:rPr lang="en-US" sz="1600" dirty="0">
                <a:solidFill>
                  <a:prstClr val="black"/>
                </a:solidFill>
                <a:latin typeface="Bahnschrift" panose="020B0502040204020203" pitchFamily="34" charset="0"/>
              </a:rPr>
              <a:t>External Policy Stance/outlook (2024-27):</a:t>
            </a: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Foreign (trading partners) demand: </a:t>
            </a:r>
            <a:r>
              <a:rPr lang="en-US" sz="1200" dirty="0">
                <a:solidFill>
                  <a:prstClr val="black"/>
                </a:solidFill>
                <a:latin typeface="Bahnschrift Light" panose="020B0502040204020203" pitchFamily="34" charset="0"/>
              </a:rPr>
              <a:t>slowing down for 2024-25 before showing a  strong </a:t>
            </a:r>
            <a:r>
              <a:rPr lang="en-GB" sz="1200" dirty="0">
                <a:solidFill>
                  <a:prstClr val="black"/>
                </a:solidFill>
                <a:latin typeface="Bahnschrift Light" panose="020B0502040204020203" pitchFamily="34" charset="0"/>
              </a:rPr>
              <a:t>recovery relative to COVID period.</a:t>
            </a:r>
            <a:endParaRPr lang="en-US" sz="1200" dirty="0">
              <a:solidFill>
                <a:prstClr val="black"/>
              </a:solidFill>
              <a:latin typeface="Bahnschrift Light" panose="020B0502040204020203" pitchFamily="34" charset="0"/>
            </a:endParaRPr>
          </a:p>
          <a:p>
            <a:pPr marL="0" lvl="1">
              <a:lnSpc>
                <a:spcPct val="150000"/>
              </a:lnSpc>
              <a:spcBef>
                <a:spcPts val="0"/>
              </a:spcBef>
              <a:buFont typeface="Wingdings" panose="05000000000000000000" pitchFamily="2" charset="2"/>
              <a:buChar char="§"/>
              <a:defRPr/>
            </a:pPr>
            <a:r>
              <a:rPr lang="en-US" sz="1200" b="1" dirty="0">
                <a:solidFill>
                  <a:prstClr val="black"/>
                </a:solidFill>
                <a:latin typeface="Bahnschrift Light" panose="020B0502040204020203" pitchFamily="34" charset="0"/>
              </a:rPr>
              <a:t>Foreign (trading partners) inflation: </a:t>
            </a:r>
            <a:r>
              <a:rPr lang="en-US" sz="1200" dirty="0">
                <a:solidFill>
                  <a:prstClr val="black"/>
                </a:solidFill>
                <a:latin typeface="Bahnschrift Light" panose="020B0502040204020203" pitchFamily="34" charset="0"/>
              </a:rPr>
              <a:t>to remain above target and converging to 2% target around 2027</a:t>
            </a:r>
          </a:p>
          <a:p>
            <a:pPr marL="0" lvl="1">
              <a:lnSpc>
                <a:spcPct val="150000"/>
              </a:lnSpc>
              <a:spcBef>
                <a:spcPts val="0"/>
              </a:spcBef>
              <a:buFont typeface="Wingdings" panose="05000000000000000000" pitchFamily="2" charset="2"/>
              <a:buChar char="§"/>
              <a:defRPr/>
            </a:pPr>
            <a:r>
              <a:rPr lang="en-US" sz="1200" dirty="0">
                <a:solidFill>
                  <a:prstClr val="black"/>
                </a:solidFill>
                <a:latin typeface="Bahnschrift Light" panose="020B0502040204020203" pitchFamily="34" charset="0"/>
              </a:rPr>
              <a:t>Foreign (US) interest rates: A relatively less tight monetary policy, however world  interest expected to be tight</a:t>
            </a:r>
          </a:p>
          <a:p>
            <a:pPr marL="0" lvl="1">
              <a:lnSpc>
                <a:spcPct val="150000"/>
              </a:lnSpc>
              <a:spcBef>
                <a:spcPts val="0"/>
              </a:spcBef>
              <a:buFont typeface="Wingdings" panose="05000000000000000000" pitchFamily="2" charset="2"/>
              <a:buChar char="§"/>
              <a:defRPr/>
            </a:pPr>
            <a:r>
              <a:rPr lang="en-US" sz="1200" dirty="0">
                <a:solidFill>
                  <a:prstClr val="black"/>
                </a:solidFill>
                <a:latin typeface="Bahnschrift Light" panose="020B0502040204020203" pitchFamily="34" charset="0"/>
              </a:rPr>
              <a:t>Overall global outlook improving, however with more downside risks</a:t>
            </a:r>
          </a:p>
          <a:p>
            <a:pPr marL="0" lvl="1">
              <a:lnSpc>
                <a:spcPct val="150000"/>
              </a:lnSpc>
              <a:spcBef>
                <a:spcPts val="0"/>
              </a:spcBef>
              <a:buFont typeface="Wingdings" panose="05000000000000000000" pitchFamily="2" charset="2"/>
              <a:buChar char="§"/>
              <a:defRPr/>
            </a:pPr>
            <a:endParaRPr lang="en-US" sz="1200" b="1" dirty="0">
              <a:solidFill>
                <a:prstClr val="black"/>
              </a:solidFill>
              <a:latin typeface="Bahnschrift Light" panose="020B0502040204020203" pitchFamily="34" charset="0"/>
            </a:endParaRPr>
          </a:p>
        </p:txBody>
      </p:sp>
      <p:sp>
        <p:nvSpPr>
          <p:cNvPr id="5" name="Content Placeholder 2">
            <a:extLst>
              <a:ext uri="{FF2B5EF4-FFF2-40B4-BE49-F238E27FC236}">
                <a16:creationId xmlns:a16="http://schemas.microsoft.com/office/drawing/2014/main" id="{8B2BB82D-95BF-BD5B-6230-0D94A28F4118}"/>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Tree>
    <p:extLst>
      <p:ext uri="{BB962C8B-B14F-4D97-AF65-F5344CB8AC3E}">
        <p14:creationId xmlns:p14="http://schemas.microsoft.com/office/powerpoint/2010/main" val="1867205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FF823-4628-65F3-B834-4DB78DDE6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3139D-C637-2319-F4D1-1343B7E9B994}"/>
              </a:ext>
            </a:extLst>
          </p:cNvPr>
          <p:cNvSpPr>
            <a:spLocks noGrp="1"/>
          </p:cNvSpPr>
          <p:nvPr>
            <p:ph type="title"/>
          </p:nvPr>
        </p:nvSpPr>
        <p:spPr>
          <a:xfrm>
            <a:off x="838200" y="928688"/>
            <a:ext cx="10515600" cy="476250"/>
          </a:xfrm>
        </p:spPr>
        <p:txBody>
          <a:bodyPr/>
          <a:lstStyle/>
          <a:p>
            <a:r>
              <a:rPr lang="en-US" dirty="0">
                <a:solidFill>
                  <a:srgbClr val="002060"/>
                </a:solidFill>
              </a:rPr>
              <a:t>Forecast Assumptions</a:t>
            </a:r>
          </a:p>
        </p:txBody>
      </p:sp>
      <p:sp>
        <p:nvSpPr>
          <p:cNvPr id="3" name="Content Placeholder 2">
            <a:extLst>
              <a:ext uri="{FF2B5EF4-FFF2-40B4-BE49-F238E27FC236}">
                <a16:creationId xmlns:a16="http://schemas.microsoft.com/office/drawing/2014/main" id="{09C61A8E-C938-9899-B125-5D796138BE98}"/>
              </a:ext>
            </a:extLst>
          </p:cNvPr>
          <p:cNvSpPr>
            <a:spLocks noGrp="1"/>
          </p:cNvSpPr>
          <p:nvPr>
            <p:ph idx="1"/>
          </p:nvPr>
        </p:nvSpPr>
        <p:spPr>
          <a:xfrm>
            <a:off x="838200" y="1769269"/>
            <a:ext cx="5581650" cy="4679156"/>
          </a:xfrm>
          <a:solidFill>
            <a:schemeClr val="bg1">
              <a:lumMod val="95000"/>
            </a:schemeClr>
          </a:solidFill>
          <a:ln>
            <a:solidFill>
              <a:schemeClr val="bg1">
                <a:lumMod val="50000"/>
              </a:schemeClr>
            </a:solidFill>
          </a:ln>
        </p:spPr>
        <p:txBody>
          <a:bodyPr>
            <a:normAutofit fontScale="92500" lnSpcReduction="20000"/>
          </a:bodyPr>
          <a:lstStyle/>
          <a:p>
            <a:pPr marL="0" indent="0">
              <a:lnSpc>
                <a:spcPct val="150000"/>
              </a:lnSpc>
              <a:buNone/>
              <a:defRPr/>
            </a:pPr>
            <a:r>
              <a:rPr lang="en-US" sz="1400" b="1" dirty="0">
                <a:solidFill>
                  <a:prstClr val="black"/>
                </a:solidFill>
                <a:latin typeface="Bahnschrift Light" panose="020B0502040204020203" pitchFamily="34" charset="0"/>
              </a:rPr>
              <a:t>Domestic Assumptions: </a:t>
            </a:r>
            <a:r>
              <a:rPr lang="en-US" sz="1400" dirty="0">
                <a:solidFill>
                  <a:prstClr val="black"/>
                </a:solidFill>
                <a:latin typeface="Bahnschrift Light" panose="020B0502040204020203" pitchFamily="34" charset="0"/>
              </a:rPr>
              <a:t>NBR’s monetary (IB-rate), fiscal (deficit path) and ER policy stance and inflation (CPI) position.</a:t>
            </a:r>
          </a:p>
          <a:p>
            <a:pPr marL="342900" indent="-342900">
              <a:lnSpc>
                <a:spcPct val="150000"/>
              </a:lnSpc>
              <a:buFont typeface="Wingdings" panose="05000000000000000000" pitchFamily="2" charset="2"/>
              <a:buChar char="§"/>
              <a:defRPr/>
            </a:pPr>
            <a:r>
              <a:rPr lang="en-US" sz="1400" b="1" dirty="0">
                <a:solidFill>
                  <a:prstClr val="black"/>
                </a:solidFill>
                <a:latin typeface="Bahnschrift Light" panose="020B0502040204020203" pitchFamily="34" charset="0"/>
              </a:rPr>
              <a:t>Real GDP/ Output: </a:t>
            </a:r>
            <a:r>
              <a:rPr lang="en-US" sz="1400" dirty="0">
                <a:solidFill>
                  <a:prstClr val="black"/>
                </a:solidFill>
                <a:latin typeface="Bahnschrift Light" panose="020B0502040204020203" pitchFamily="34" charset="0"/>
              </a:rPr>
              <a:t>Output is estimated (Nowcasting) at 7.9% and 5% for 2024 Q3 and Q4 respectively due to ease in demand</a:t>
            </a:r>
          </a:p>
          <a:p>
            <a:pPr marL="342900" indent="-342900">
              <a:lnSpc>
                <a:spcPct val="150000"/>
              </a:lnSpc>
              <a:buFont typeface="Wingdings" panose="05000000000000000000" pitchFamily="2" charset="2"/>
              <a:buChar char="§"/>
              <a:defRPr/>
            </a:pPr>
            <a:r>
              <a:rPr lang="en-US" sz="1400" b="1" dirty="0">
                <a:solidFill>
                  <a:prstClr val="black"/>
                </a:solidFill>
                <a:latin typeface="Bahnschrift Light" panose="020B0502040204020203" pitchFamily="34" charset="0"/>
              </a:rPr>
              <a:t>IR and ER policy stance: A less tight monetary policy following easy inflation in 2024 </a:t>
            </a:r>
            <a:r>
              <a:rPr lang="en-US" sz="1400" dirty="0">
                <a:solidFill>
                  <a:prstClr val="black"/>
                </a:solidFill>
                <a:latin typeface="Bahnschrift Light" panose="020B0502040204020203" pitchFamily="34" charset="0"/>
              </a:rPr>
              <a:t>(i.e., 7.5% IB rate for Q3)</a:t>
            </a:r>
          </a:p>
          <a:p>
            <a:pPr marL="800100" lvl="1" indent="-342900">
              <a:lnSpc>
                <a:spcPct val="150000"/>
              </a:lnSpc>
              <a:buFont typeface="Wingdings" panose="05000000000000000000" pitchFamily="2" charset="2"/>
              <a:buChar char="§"/>
              <a:defRPr/>
            </a:pPr>
            <a:r>
              <a:rPr lang="en-US" sz="1300" dirty="0">
                <a:solidFill>
                  <a:prstClr val="black"/>
                </a:solidFill>
                <a:latin typeface="Bahnschrift Light" panose="020B0502040204020203" pitchFamily="34" charset="0"/>
              </a:rPr>
              <a:t> </a:t>
            </a:r>
            <a:r>
              <a:rPr lang="en-US" sz="1300" b="1" dirty="0">
                <a:solidFill>
                  <a:prstClr val="black"/>
                </a:solidFill>
                <a:latin typeface="Bahnschrift Light" panose="020B0502040204020203" pitchFamily="34" charset="0"/>
              </a:rPr>
              <a:t>ER: 2024 </a:t>
            </a:r>
            <a:r>
              <a:rPr lang="en-US" sz="1300" dirty="0">
                <a:solidFill>
                  <a:prstClr val="black"/>
                </a:solidFill>
                <a:latin typeface="Bahnschrift Light" panose="020B0502040204020203" pitchFamily="34" charset="0"/>
              </a:rPr>
              <a:t>Q3 and Q4—BNR’s 2024 depreciation path i.e., 2024Q4 assuming % ann. depreciation of 9% by 2024 (end-June)</a:t>
            </a:r>
          </a:p>
          <a:p>
            <a:pPr marL="1200150" lvl="2" indent="-285750">
              <a:lnSpc>
                <a:spcPct val="150000"/>
              </a:lnSpc>
              <a:buFont typeface="Courier New" panose="02070309020205020404" pitchFamily="49" charset="0"/>
              <a:buChar char="o"/>
              <a:defRPr/>
            </a:pPr>
            <a:r>
              <a:rPr lang="en-US" sz="1300" dirty="0">
                <a:solidFill>
                  <a:prstClr val="black"/>
                </a:solidFill>
                <a:latin typeface="Bahnschrift Light" panose="020B0502040204020203" pitchFamily="34" charset="0"/>
              </a:rPr>
              <a:t>ER (s) 2024Q3 (Obs. July &amp; Aug and Sept as </a:t>
            </a:r>
            <a:r>
              <a:rPr lang="en-US" sz="1300" dirty="0" err="1">
                <a:solidFill>
                  <a:prstClr val="black"/>
                </a:solidFill>
                <a:latin typeface="Bahnschrift Light" panose="020B0502040204020203" pitchFamily="34" charset="0"/>
              </a:rPr>
              <a:t>eop</a:t>
            </a:r>
            <a:r>
              <a:rPr lang="en-US" sz="1300" dirty="0">
                <a:solidFill>
                  <a:prstClr val="black"/>
                </a:solidFill>
                <a:latin typeface="Bahnschrift Light" panose="020B0502040204020203" pitchFamily="34" charset="0"/>
              </a:rPr>
              <a:t>. 28th Sept) tuned as average of 3 Months </a:t>
            </a:r>
          </a:p>
          <a:p>
            <a:pPr marL="342900" indent="-342900">
              <a:lnSpc>
                <a:spcPct val="150000"/>
              </a:lnSpc>
              <a:buFont typeface="Wingdings" panose="05000000000000000000" pitchFamily="2" charset="2"/>
              <a:buChar char="§"/>
              <a:defRPr/>
            </a:pPr>
            <a:r>
              <a:rPr lang="en-US" sz="1400" b="1" dirty="0">
                <a:solidFill>
                  <a:prstClr val="black"/>
                </a:solidFill>
                <a:latin typeface="Bahnschrift Light" panose="020B0502040204020203" pitchFamily="34" charset="0"/>
              </a:rPr>
              <a:t>Fiscal policies: Fiscal deficit </a:t>
            </a:r>
            <a:r>
              <a:rPr lang="en-US" sz="1400" dirty="0">
                <a:solidFill>
                  <a:prstClr val="black"/>
                </a:solidFill>
                <a:latin typeface="Bahnschrift Light" panose="020B0502040204020203" pitchFamily="34" charset="0"/>
              </a:rPr>
              <a:t>as in PCI 2023/24-2025/26 IMF Program (March 2024 Projections)  is expected to gradually return toward a sustainable deficit of 5% of GDP (7.5% excl. grants) rather than 3% as in the post-PCI </a:t>
            </a:r>
            <a:r>
              <a:rPr lang="en-US" sz="1400" dirty="0">
                <a:solidFill>
                  <a:srgbClr val="FF0000"/>
                </a:solidFill>
                <a:latin typeface="Bahnschrift Light" panose="020B0502040204020203" pitchFamily="34" charset="0"/>
              </a:rPr>
              <a:t>IMF Program</a:t>
            </a:r>
          </a:p>
          <a:p>
            <a:pPr marL="742950" lvl="1" indent="-285750">
              <a:lnSpc>
                <a:spcPct val="150000"/>
              </a:lnSpc>
              <a:buFont typeface="Courier New" panose="02070309020205020404" pitchFamily="49" charset="0"/>
              <a:buChar char="o"/>
              <a:defRPr/>
            </a:pPr>
            <a:r>
              <a:rPr lang="en-US" sz="1300" dirty="0">
                <a:solidFill>
                  <a:prstClr val="black"/>
                </a:solidFill>
                <a:latin typeface="Bahnschrift Light" panose="020B0502040204020203" pitchFamily="34" charset="0"/>
              </a:rPr>
              <a:t>Govt revenue and exogenously taken as per the path agreed upon in the IMF PCI program.</a:t>
            </a:r>
            <a:endParaRPr lang="en-US" sz="1500" dirty="0">
              <a:latin typeface="Bahnschrift Light" panose="020B0502040204020203" pitchFamily="34" charset="0"/>
            </a:endParaRPr>
          </a:p>
        </p:txBody>
      </p:sp>
      <p:sp>
        <p:nvSpPr>
          <p:cNvPr id="4" name="Title 1">
            <a:extLst>
              <a:ext uri="{FF2B5EF4-FFF2-40B4-BE49-F238E27FC236}">
                <a16:creationId xmlns:a16="http://schemas.microsoft.com/office/drawing/2014/main" id="{8AEC0F8C-DCF6-4427-FF8A-01348E2327CE}"/>
              </a:ext>
            </a:extLst>
          </p:cNvPr>
          <p:cNvSpPr txBox="1">
            <a:spLocks/>
          </p:cNvSpPr>
          <p:nvPr/>
        </p:nvSpPr>
        <p:spPr>
          <a:xfrm>
            <a:off x="838200" y="1404938"/>
            <a:ext cx="10515600" cy="345281"/>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lang="en-US" sz="2800" b="1" kern="1200" smtClean="0">
                <a:solidFill>
                  <a:schemeClr val="tx1"/>
                </a:solidFill>
                <a:latin typeface="Bahnschrift" panose="020B0502040204020203"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008BCC"/>
                </a:solidFill>
                <a:effectLst/>
                <a:uLnTx/>
                <a:uFillTx/>
                <a:latin typeface="Bahnschrift" panose="020B0502040204020203" pitchFamily="34" charset="0"/>
                <a:ea typeface="+mj-ea"/>
                <a:cs typeface="+mj-cs"/>
              </a:rPr>
              <a:t>Current Cyclical Position, Policy Stance, and External Environment</a:t>
            </a:r>
          </a:p>
        </p:txBody>
      </p:sp>
      <p:sp>
        <p:nvSpPr>
          <p:cNvPr id="5" name="Content Placeholder 2">
            <a:extLst>
              <a:ext uri="{FF2B5EF4-FFF2-40B4-BE49-F238E27FC236}">
                <a16:creationId xmlns:a16="http://schemas.microsoft.com/office/drawing/2014/main" id="{0B540738-290D-47A8-3D96-A01867FAAAE0}"/>
              </a:ext>
            </a:extLst>
          </p:cNvPr>
          <p:cNvSpPr txBox="1">
            <a:spLocks/>
          </p:cNvSpPr>
          <p:nvPr/>
        </p:nvSpPr>
        <p:spPr>
          <a:xfrm>
            <a:off x="6096000" y="1769269"/>
            <a:ext cx="5153025" cy="4679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Bahnschrift Light SemiCondensed" panose="020B0502040204020203" pitchFamily="34" charset="0"/>
              <a:ea typeface="+mn-ea"/>
              <a:cs typeface="+mn-cs"/>
            </a:endParaRPr>
          </a:p>
        </p:txBody>
      </p:sp>
      <p:sp>
        <p:nvSpPr>
          <p:cNvPr id="6" name="Content Placeholder 2">
            <a:extLst>
              <a:ext uri="{FF2B5EF4-FFF2-40B4-BE49-F238E27FC236}">
                <a16:creationId xmlns:a16="http://schemas.microsoft.com/office/drawing/2014/main" id="{4BDD8B5B-9541-08F7-DAA6-0258C13C5019}"/>
              </a:ext>
            </a:extLst>
          </p:cNvPr>
          <p:cNvSpPr txBox="1">
            <a:spLocks/>
          </p:cNvSpPr>
          <p:nvPr/>
        </p:nvSpPr>
        <p:spPr>
          <a:xfrm>
            <a:off x="6562725" y="1769269"/>
            <a:ext cx="4686300" cy="4679156"/>
          </a:xfrm>
          <a:prstGeom prst="rect">
            <a:avLst/>
          </a:prstGeom>
          <a:solidFill>
            <a:schemeClr val="bg1">
              <a:lumMod val="95000"/>
            </a:schemeClr>
          </a:solidFill>
          <a:ln>
            <a:solidFill>
              <a:schemeClr val="bg1">
                <a:lumMod val="50000"/>
              </a:schemeClr>
            </a:solidFill>
          </a:ln>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Bahnschrift Light SemiCondensed" panose="020B05020402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Bahnschrift Light SemiCondensed" panose="020B05020402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Bahnschrift Light SemiCondensed" panose="020B05020402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Bahnschrift Light SemiCondensed" panose="020B05020402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300"/>
              </a:spcBef>
              <a:spcAft>
                <a:spcPts val="40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External Environment Assumptions:</a:t>
            </a: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Rwanda </a:t>
            </a:r>
            <a:r>
              <a:rPr kumimoji="0" lang="en-GB" sz="1400" b="0" i="0" u="none" strike="noStrike" kern="1200" cap="none" spc="0" normalizeH="0" baseline="0" noProof="0" dirty="0">
                <a:ln>
                  <a:noFill/>
                </a:ln>
                <a:solidFill>
                  <a:srgbClr val="FF0000"/>
                </a:solidFill>
                <a:effectLst/>
                <a:uLnTx/>
                <a:uFillTx/>
                <a:latin typeface="Bahnschrift Light" panose="020B0502040204020203" pitchFamily="34" charset="0"/>
                <a:ea typeface="+mn-ea"/>
                <a:cs typeface="+mn-cs"/>
              </a:rPr>
              <a:t>still enjoys </a:t>
            </a:r>
            <a:r>
              <a:rPr kumimoji="0" lang="en-GB" sz="1400" b="1" i="0" u="none" strike="noStrike" kern="1200" cap="none" spc="0" normalizeH="0" baseline="0" noProof="0" dirty="0">
                <a:ln>
                  <a:noFill/>
                </a:ln>
                <a:solidFill>
                  <a:srgbClr val="FF0000"/>
                </a:solidFill>
                <a:effectLst/>
                <a:uLnTx/>
                <a:uFillTx/>
                <a:latin typeface="Bahnschrift Light" panose="020B0502040204020203" pitchFamily="34" charset="0"/>
                <a:ea typeface="+mn-ea"/>
                <a:cs typeface="+mn-cs"/>
              </a:rPr>
              <a:t>recovery </a:t>
            </a:r>
            <a:r>
              <a:rPr kumimoji="0" lang="en-GB"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in trading partner demand relative to Covid-years</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at 3% </a:t>
            </a:r>
            <a:r>
              <a:rPr kumimoji="0" lang="en-GB" sz="1400" b="0" i="0" u="none" strike="noStrike" kern="1200" cap="none" spc="0" normalizeH="0" baseline="0" noProof="0" dirty="0" err="1">
                <a:ln>
                  <a:noFill/>
                </a:ln>
                <a:solidFill>
                  <a:prstClr val="black"/>
                </a:solidFill>
                <a:effectLst/>
                <a:uLnTx/>
                <a:uFillTx/>
                <a:latin typeface="Bahnschrift Light" panose="020B0502040204020203" pitchFamily="34" charset="0"/>
                <a:ea typeface="+mn-ea"/>
                <a:cs typeface="+mn-cs"/>
              </a:rPr>
              <a:t>p.y</a:t>
            </a: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well above the trend</a:t>
            </a: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The world economy is slowing down as interest rates are raised in response to inflation before catching up since 2026.</a:t>
            </a: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prstClr val="black"/>
                </a:solidFill>
                <a:effectLst/>
                <a:uLnTx/>
                <a:uFillTx/>
                <a:latin typeface="Bahnschrift Condensed" panose="020B0502040204020203" pitchFamily="34" charset="0"/>
                <a:ea typeface="+mn-ea"/>
                <a:cs typeface="+mn-cs"/>
              </a:rPr>
              <a:t>T</a:t>
            </a:r>
            <a:r>
              <a:rPr kumimoji="0" lang="en-US"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rading partners’ CPI inflation (in US$)—subdued at 1.5% p.</a:t>
            </a:r>
            <a:r>
              <a:rPr kumimoji="0" lang="en-US" sz="1400" b="1"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a</a:t>
            </a:r>
            <a:r>
              <a:rPr kumimoji="0" lang="en-US"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 in the past 5-7 years and projected to return and </a:t>
            </a:r>
            <a:r>
              <a:rPr kumimoji="0" lang="en-US" sz="1400" b="1"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remain below the trend level of 2% </a:t>
            </a: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in the coming years </a:t>
            </a: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World real interest rates are expected to rise from negative around -1% in the past decade to +1% by 2027,</a:t>
            </a:r>
          </a:p>
          <a:p>
            <a:pPr marL="731520" lvl="1" indent="-285750" algn="just" fontAlgn="auto">
              <a:lnSpc>
                <a:spcPct val="150000"/>
              </a:lnSpc>
              <a:spcBef>
                <a:spcPts val="300"/>
              </a:spcBef>
              <a:spcAft>
                <a:spcPts val="400"/>
              </a:spcAft>
            </a:pPr>
            <a:r>
              <a:rPr kumimoji="0" lang="en-US" sz="10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rPr>
              <a:t>transmitting one-for-one to Rwanda’s sovereign borrowing rates.</a:t>
            </a:r>
            <a:endParaRPr kumimoji="0" lang="en-AE" sz="10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endParaRPr>
          </a:p>
          <a:p>
            <a:pPr marL="274320" marR="0" lvl="0" indent="-285750" algn="just" defTabSz="914400" rtl="0" eaLnBrk="1" fontAlgn="auto" latinLnBrk="0" hangingPunct="1">
              <a:lnSpc>
                <a:spcPct val="150000"/>
              </a:lnSpc>
              <a:spcBef>
                <a:spcPts val="300"/>
              </a:spcBef>
              <a:spcAft>
                <a:spcPts val="400"/>
              </a:spcAft>
              <a:buClrTx/>
              <a:buSzTx/>
              <a:buFont typeface="Arial" panose="020B0604020202020204" pitchFamily="34" charset="0"/>
              <a:buChar char="•"/>
              <a:tabLst/>
              <a:defRPr/>
            </a:pPr>
            <a:endParaRPr kumimoji="0" lang="en-GB" sz="24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mn-cs"/>
            </a:endParaRPr>
          </a:p>
        </p:txBody>
      </p:sp>
    </p:spTree>
    <p:extLst>
      <p:ext uri="{BB962C8B-B14F-4D97-AF65-F5344CB8AC3E}">
        <p14:creationId xmlns:p14="http://schemas.microsoft.com/office/powerpoint/2010/main" val="412947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548A-56C7-ED85-3503-F56F8A30C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6CD7D-D79E-58A9-6AF1-362E1213C0F0}"/>
              </a:ext>
            </a:extLst>
          </p:cNvPr>
          <p:cNvSpPr>
            <a:spLocks noGrp="1"/>
          </p:cNvSpPr>
          <p:nvPr>
            <p:ph type="title"/>
          </p:nvPr>
        </p:nvSpPr>
        <p:spPr>
          <a:xfrm>
            <a:off x="1447800" y="228600"/>
            <a:ext cx="10591800" cy="762000"/>
          </a:xfrm>
        </p:spPr>
        <p:txBody>
          <a:bodyPr/>
          <a:lstStyle/>
          <a:p>
            <a:r>
              <a:rPr lang="en-GB" b="1" dirty="0">
                <a:solidFill>
                  <a:schemeClr val="accent4">
                    <a:lumMod val="50000"/>
                  </a:schemeClr>
                </a:solidFill>
                <a:latin typeface="Bahnschrift" panose="020B0502040204020203" pitchFamily="34" charset="0"/>
                <a:cs typeface="+mn-cs"/>
              </a:rPr>
              <a:t>VI. Macroeconomic forecast/outlook</a:t>
            </a:r>
            <a:br>
              <a:rPr lang="en-GB" b="1" dirty="0"/>
            </a:br>
            <a:r>
              <a:rPr lang="en-GB" sz="2400" b="1" dirty="0">
                <a:solidFill>
                  <a:schemeClr val="accent4"/>
                </a:solidFill>
                <a:latin typeface="Bahnschrift" panose="020B0502040204020203" pitchFamily="34" charset="0"/>
              </a:rPr>
              <a:t>Final demand—Real GDP</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24833507-6E23-1712-E72C-CD2B8F483A22}"/>
              </a:ext>
            </a:extLst>
          </p:cNvPr>
          <p:cNvSpPr>
            <a:spLocks noGrp="1"/>
          </p:cNvSpPr>
          <p:nvPr>
            <p:ph type="sldNum" sz="quarter" idx="10"/>
          </p:nvPr>
        </p:nvSpPr>
        <p:spPr/>
        <p:txBody>
          <a:bodyPr/>
          <a:lstStyle/>
          <a:p>
            <a:fld id="{D97AE203-F84D-4A7F-B161-8561326BE072}" type="slidenum">
              <a:rPr lang="en-US" smtClean="0"/>
              <a:pPr/>
              <a:t>14</a:t>
            </a:fld>
            <a:endParaRPr lang="en-US" dirty="0"/>
          </a:p>
        </p:txBody>
      </p:sp>
      <p:sp>
        <p:nvSpPr>
          <p:cNvPr id="4" name="TextBox 3">
            <a:extLst>
              <a:ext uri="{FF2B5EF4-FFF2-40B4-BE49-F238E27FC236}">
                <a16:creationId xmlns:a16="http://schemas.microsoft.com/office/drawing/2014/main" id="{59092BCE-4958-3BAA-6800-381806A53BF5}"/>
              </a:ext>
            </a:extLst>
          </p:cNvPr>
          <p:cNvSpPr txBox="1"/>
          <p:nvPr/>
        </p:nvSpPr>
        <p:spPr>
          <a:xfrm>
            <a:off x="152400" y="1176159"/>
            <a:ext cx="6934200" cy="2749471"/>
          </a:xfrm>
          <a:prstGeom prst="rect">
            <a:avLst/>
          </a:prstGeom>
          <a:noFill/>
          <a:ln>
            <a:solidFill>
              <a:schemeClr val="accent4">
                <a:lumMod val="20000"/>
                <a:lumOff val="80000"/>
              </a:schemeClr>
            </a:solidFill>
          </a:ln>
        </p:spPr>
        <p:txBody>
          <a:bodyPr wrap="square" rtlCol="0">
            <a:spAutoFit/>
          </a:bodyPr>
          <a:lstStyle/>
          <a:p>
            <a:pPr marL="228600" marR="0" indent="-228600">
              <a:spcAft>
                <a:spcPts val="800"/>
              </a:spcAft>
              <a:buAutoNum type="arabicPeriod"/>
            </a:pPr>
            <a:r>
              <a:rPr lang="en-US" sz="900" b="1" kern="100" dirty="0">
                <a:effectLst/>
                <a:latin typeface="Bahnschrift" panose="020B0502040204020203" pitchFamily="34" charset="0"/>
                <a:ea typeface="Aptos" panose="020B0004020202020204" pitchFamily="34" charset="0"/>
                <a:cs typeface="Times New Roman" panose="02020603050405020304" pitchFamily="18" charset="0"/>
              </a:rPr>
              <a:t>real GDP </a:t>
            </a: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is forecast to</a:t>
            </a:r>
            <a:r>
              <a:rPr lang="en-US" sz="900" b="1" kern="100" dirty="0">
                <a:effectLst/>
                <a:latin typeface="Bahnschrift Light" panose="020B0502040204020203" pitchFamily="34" charset="0"/>
                <a:ea typeface="Aptos" panose="020B0004020202020204" pitchFamily="34" charset="0"/>
                <a:cs typeface="Times New Roman" panose="02020603050405020304" pitchFamily="18" charset="0"/>
              </a:rPr>
              <a:t> </a:t>
            </a: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slow down markedly in 2025-26, well below potential growth, followed by a catch-up (a bit above potential) in 2027-28, before returning to the regular growth path of 7½%. </a:t>
            </a:r>
          </a:p>
          <a:p>
            <a:pPr marL="228600" marR="0" indent="-228600">
              <a:spcAft>
                <a:spcPts val="800"/>
              </a:spcAft>
              <a:buAutoNum type="arabicPeriod"/>
            </a:pPr>
            <a:r>
              <a:rPr lang="en-US" sz="900" b="1" kern="100" dirty="0">
                <a:latin typeface="Bahnschrift Light" panose="020B0502040204020203" pitchFamily="34" charset="0"/>
                <a:ea typeface="Aptos" panose="020B0004020202020204" pitchFamily="34" charset="0"/>
                <a:cs typeface="Times New Roman" panose="02020603050405020304" pitchFamily="18" charset="0"/>
              </a:rPr>
              <a:t>Cyclical demand position</a:t>
            </a:r>
            <a:r>
              <a:rPr lang="en-US" sz="900" kern="100" dirty="0">
                <a:latin typeface="Bahnschrift Light" panose="020B0502040204020203" pitchFamily="34" charset="0"/>
                <a:ea typeface="Aptos" panose="020B0004020202020204" pitchFamily="34" charset="0"/>
                <a:cs typeface="Times New Roman" panose="02020603050405020304" pitchFamily="18" charset="0"/>
              </a:rPr>
              <a:t>: output still below potential level (negative output gap) between 2024-2027 but to </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spcAft>
                <a:spcPts val="800"/>
              </a:spcAft>
              <a:buFont typeface="Arial" panose="020B0604020202020204" pitchFamily="34" charset="0"/>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GDP growth in 2024 is forecast at 7.8% despite a slowdown to 5% </a:t>
            </a:r>
            <a:r>
              <a:rPr lang="en-US" sz="900" kern="100" dirty="0">
                <a:latin typeface="Bahnschrift Light" panose="020B0502040204020203" pitchFamily="34" charset="0"/>
                <a:ea typeface="Aptos" panose="020B0004020202020204" pitchFamily="34" charset="0"/>
                <a:cs typeface="Times New Roman" panose="02020603050405020304" pitchFamily="18" charset="0"/>
              </a:rPr>
              <a:t>for 2024Q4</a:t>
            </a: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 given robustness earlier in 2024. </a:t>
            </a:r>
          </a:p>
          <a:p>
            <a:pPr marL="171450" marR="0" indent="-171450">
              <a:spcAft>
                <a:spcPts val="800"/>
              </a:spcAft>
              <a:buFont typeface="Arial" panose="020B0604020202020204" pitchFamily="34" charset="0"/>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Growth so far in 2024 was helped by a still low RIR and still modest fiscal restraint.</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0" marR="0">
              <a:spcAft>
                <a:spcPts val="800"/>
              </a:spcAft>
            </a:pPr>
            <a:r>
              <a:rPr lang="en-US" sz="900" b="1" kern="100" dirty="0">
                <a:effectLst/>
                <a:latin typeface="Bahnschrift" panose="020B0502040204020203" pitchFamily="34" charset="0"/>
                <a:ea typeface="Aptos" panose="020B0004020202020204" pitchFamily="34" charset="0"/>
                <a:cs typeface="Times New Roman" panose="02020603050405020304" pitchFamily="18" charset="0"/>
              </a:rPr>
              <a:t>The slowdown in 2025-26 is driven by: </a:t>
            </a:r>
            <a:endParaRPr lang="en-RW" sz="900" b="1" kern="100" dirty="0">
              <a:effectLst/>
              <a:latin typeface="Bahnschrift" panose="020B0502040204020203" pitchFamily="34" charset="0"/>
              <a:ea typeface="Aptos" panose="020B0004020202020204" pitchFamily="34" charset="0"/>
              <a:cs typeface="Times New Roman" panose="02020603050405020304" pitchFamily="18" charset="0"/>
            </a:endParaRPr>
          </a:p>
          <a:p>
            <a:pPr marL="342900" marR="0" lvl="0" indent="-342900">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contractionary effect of strong fiscal consolidation, both directly as govt demand for G&amp;S falls, and indirectly through the negative fiscal impulse on private demand</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342900" marR="0" lvl="0" indent="-342900">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negative impact on demand of increased RIR as the real lending rates return to normal</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342900" marR="0" lvl="0" indent="-342900">
              <a:spcAft>
                <a:spcPts val="800"/>
              </a:spcAft>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slightly offsetting positive, but lagged effect on net exports of recent and further RER depreciation</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0" marR="0">
              <a:spcAft>
                <a:spcPts val="800"/>
              </a:spcAft>
            </a:pPr>
            <a:r>
              <a:rPr lang="en-US" sz="900" b="1" kern="100" dirty="0">
                <a:latin typeface="Bahnschrift" panose="020B0502040204020203" pitchFamily="34" charset="0"/>
                <a:ea typeface="Aptos" panose="020B0004020202020204" pitchFamily="34" charset="0"/>
                <a:cs typeface="Times New Roman" panose="02020603050405020304" pitchFamily="18" charset="0"/>
              </a:rPr>
              <a:t>C</a:t>
            </a:r>
            <a:r>
              <a:rPr lang="en-US" sz="900" b="1" kern="100" dirty="0">
                <a:effectLst/>
                <a:latin typeface="Bahnschrift" panose="020B0502040204020203" pitchFamily="34" charset="0"/>
                <a:ea typeface="Aptos" panose="020B0004020202020204" pitchFamily="34" charset="0"/>
                <a:cs typeface="Times New Roman" panose="02020603050405020304" pitchFamily="18" charset="0"/>
              </a:rPr>
              <a:t>atch up in 2027-28 is driven by:  </a:t>
            </a:r>
            <a:endParaRPr lang="en-RW" sz="900" b="1" kern="100" dirty="0">
              <a:effectLst/>
              <a:latin typeface="Bahnschrift" panose="020B0502040204020203" pitchFamily="34" charset="0"/>
              <a:ea typeface="Aptos" panose="020B0004020202020204" pitchFamily="34" charset="0"/>
              <a:cs typeface="Times New Roman" panose="02020603050405020304" pitchFamily="18" charset="0"/>
            </a:endParaRPr>
          </a:p>
          <a:p>
            <a:pPr marL="342900" marR="0" lvl="0" indent="-342900">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end of fiscal consolidation (Govt demand pick up), the negative fiscal impulse stops</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342900" marR="0" lvl="0" indent="-342900">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end of increase and the start of a slight decrease in RIR</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342900" marR="0" lvl="0" indent="-342900">
              <a:spcAft>
                <a:spcPts val="600"/>
              </a:spcAft>
              <a:buFont typeface="Symbol" panose="05050102010706020507" pitchFamily="18" charset="2"/>
              <a:buChar char=""/>
            </a:pPr>
            <a:r>
              <a:rPr lang="en-US" sz="900" kern="100" dirty="0">
                <a:effectLst/>
                <a:latin typeface="Bahnschrift Light" panose="020B0502040204020203" pitchFamily="34" charset="0"/>
                <a:ea typeface="Aptos" panose="020B0004020202020204" pitchFamily="34" charset="0"/>
                <a:cs typeface="Times New Roman" panose="02020603050405020304" pitchFamily="18" charset="0"/>
              </a:rPr>
              <a:t>positive impact of more depreciated RER (some undervaluation)         </a:t>
            </a:r>
            <a:endParaRPr lang="en-RW" sz="9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5D6B4C95-1EE2-6FAB-7947-959E540B5506}"/>
              </a:ext>
            </a:extLst>
          </p:cNvPr>
          <p:cNvPicPr>
            <a:picLocks noChangeAspect="1"/>
          </p:cNvPicPr>
          <p:nvPr/>
        </p:nvPicPr>
        <p:blipFill>
          <a:blip r:embed="rId3"/>
          <a:stretch>
            <a:fillRect/>
          </a:stretch>
        </p:blipFill>
        <p:spPr>
          <a:xfrm>
            <a:off x="7148195" y="1173531"/>
            <a:ext cx="4891405" cy="2749471"/>
          </a:xfrm>
          <a:prstGeom prst="rect">
            <a:avLst/>
          </a:prstGeom>
          <a:ln>
            <a:solidFill>
              <a:schemeClr val="accent4">
                <a:lumMod val="20000"/>
                <a:lumOff val="80000"/>
              </a:schemeClr>
            </a:solidFill>
          </a:ln>
        </p:spPr>
      </p:pic>
      <p:pic>
        <p:nvPicPr>
          <p:cNvPr id="9" name="Picture 8">
            <a:extLst>
              <a:ext uri="{FF2B5EF4-FFF2-40B4-BE49-F238E27FC236}">
                <a16:creationId xmlns:a16="http://schemas.microsoft.com/office/drawing/2014/main" id="{7246EB74-18A8-0999-86E9-F1D96877E96D}"/>
              </a:ext>
            </a:extLst>
          </p:cNvPr>
          <p:cNvPicPr>
            <a:picLocks noChangeAspect="1"/>
          </p:cNvPicPr>
          <p:nvPr/>
        </p:nvPicPr>
        <p:blipFill>
          <a:blip r:embed="rId4"/>
          <a:stretch>
            <a:fillRect/>
          </a:stretch>
        </p:blipFill>
        <p:spPr>
          <a:xfrm>
            <a:off x="7620001" y="4015335"/>
            <a:ext cx="4419600" cy="2537865"/>
          </a:xfrm>
          <a:prstGeom prst="rect">
            <a:avLst/>
          </a:prstGeom>
          <a:ln>
            <a:solidFill>
              <a:schemeClr val="accent4">
                <a:lumMod val="20000"/>
                <a:lumOff val="80000"/>
              </a:schemeClr>
            </a:solidFill>
          </a:ln>
        </p:spPr>
      </p:pic>
      <p:pic>
        <p:nvPicPr>
          <p:cNvPr id="11" name="Picture 10">
            <a:extLst>
              <a:ext uri="{FF2B5EF4-FFF2-40B4-BE49-F238E27FC236}">
                <a16:creationId xmlns:a16="http://schemas.microsoft.com/office/drawing/2014/main" id="{09483B34-B0D8-323A-35DD-9C14E0D965A5}"/>
              </a:ext>
            </a:extLst>
          </p:cNvPr>
          <p:cNvPicPr>
            <a:picLocks noChangeAspect="1"/>
          </p:cNvPicPr>
          <p:nvPr/>
        </p:nvPicPr>
        <p:blipFill>
          <a:blip r:embed="rId5"/>
          <a:stretch>
            <a:fillRect/>
          </a:stretch>
        </p:blipFill>
        <p:spPr>
          <a:xfrm>
            <a:off x="3245168" y="4015335"/>
            <a:ext cx="4255715" cy="2537865"/>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418872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447800" y="228600"/>
            <a:ext cx="10591800" cy="762000"/>
          </a:xfrm>
        </p:spPr>
        <p:txBody>
          <a:bodyPr/>
          <a:lstStyle/>
          <a:p>
            <a:r>
              <a:rPr lang="en-GB" b="1" dirty="0">
                <a:solidFill>
                  <a:schemeClr val="accent4">
                    <a:lumMod val="50000"/>
                  </a:schemeClr>
                </a:solidFill>
                <a:latin typeface="Bahnschrift" panose="020B0502040204020203" pitchFamily="34" charset="0"/>
                <a:cs typeface="+mn-cs"/>
              </a:rPr>
              <a:t>VI. Macroeconomic forecast/outlook</a:t>
            </a:r>
            <a:br>
              <a:rPr lang="en-GB" b="1" dirty="0"/>
            </a:br>
            <a:r>
              <a:rPr lang="en-GB" sz="2400" b="1" dirty="0">
                <a:solidFill>
                  <a:schemeClr val="accent4"/>
                </a:solidFill>
                <a:latin typeface="Bahnschrift" panose="020B0502040204020203" pitchFamily="34" charset="0"/>
              </a:rPr>
              <a:t>Final demand components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15</a:t>
            </a:fld>
            <a:endParaRPr lang="en-US" dirty="0"/>
          </a:p>
        </p:txBody>
      </p:sp>
      <p:pic>
        <p:nvPicPr>
          <p:cNvPr id="6" name="Picture 5">
            <a:extLst>
              <a:ext uri="{FF2B5EF4-FFF2-40B4-BE49-F238E27FC236}">
                <a16:creationId xmlns:a16="http://schemas.microsoft.com/office/drawing/2014/main" id="{00985010-08A1-73D8-E4C4-71032363F2A9}"/>
              </a:ext>
            </a:extLst>
          </p:cNvPr>
          <p:cNvPicPr>
            <a:picLocks noChangeAspect="1"/>
          </p:cNvPicPr>
          <p:nvPr/>
        </p:nvPicPr>
        <p:blipFill>
          <a:blip r:embed="rId3"/>
          <a:stretch>
            <a:fillRect/>
          </a:stretch>
        </p:blipFill>
        <p:spPr>
          <a:xfrm>
            <a:off x="5715000" y="1176159"/>
            <a:ext cx="6172200" cy="5300841"/>
          </a:xfrm>
          <a:prstGeom prst="rect">
            <a:avLst/>
          </a:prstGeom>
          <a:ln>
            <a:solidFill>
              <a:schemeClr val="accent4">
                <a:lumMod val="20000"/>
                <a:lumOff val="80000"/>
              </a:schemeClr>
            </a:solidFill>
          </a:ln>
        </p:spPr>
      </p:pic>
      <p:sp>
        <p:nvSpPr>
          <p:cNvPr id="8" name="TextBox 7">
            <a:extLst>
              <a:ext uri="{FF2B5EF4-FFF2-40B4-BE49-F238E27FC236}">
                <a16:creationId xmlns:a16="http://schemas.microsoft.com/office/drawing/2014/main" id="{8A2297BD-FECE-C82F-F423-51AAF50D8B40}"/>
              </a:ext>
            </a:extLst>
          </p:cNvPr>
          <p:cNvSpPr txBox="1"/>
          <p:nvPr/>
        </p:nvSpPr>
        <p:spPr>
          <a:xfrm>
            <a:off x="76200" y="1176159"/>
            <a:ext cx="5537200" cy="4450834"/>
          </a:xfrm>
          <a:prstGeom prst="rect">
            <a:avLst/>
          </a:prstGeom>
          <a:noFill/>
          <a:ln>
            <a:solidFill>
              <a:schemeClr val="accent4">
                <a:lumMod val="20000"/>
                <a:lumOff val="80000"/>
              </a:schemeClr>
            </a:solidFill>
          </a:ln>
        </p:spPr>
        <p:txBody>
          <a:bodyPr wrap="square">
            <a:spAutoFit/>
          </a:bodyPr>
          <a:lstStyle/>
          <a:p>
            <a:pPr marL="0" marR="0">
              <a:lnSpc>
                <a:spcPct val="150000"/>
              </a:lnSpc>
              <a:spcAft>
                <a:spcPts val="80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Final demand: </a:t>
            </a:r>
            <a:r>
              <a:rPr lang="en-US" sz="1200" kern="100" dirty="0">
                <a:effectLst/>
                <a:latin typeface="Bahnschrift" panose="020B0502040204020203" pitchFamily="34" charset="0"/>
                <a:ea typeface="Aptos" panose="020B0004020202020204" pitchFamily="34" charset="0"/>
                <a:cs typeface="Times New Roman" panose="02020603050405020304" pitchFamily="18" charset="0"/>
              </a:rPr>
              <a:t>private demands are forecast to slow down in 2025-26, returning to normal thereafter</a:t>
            </a:r>
            <a:endParaRPr lang="en-RW" sz="1200" kern="100" dirty="0">
              <a:effectLst/>
              <a:latin typeface="Bahnschrif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consumption</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above-trend growth in 2023/early 2024, restrictive policies lower real consumption growth to </a:t>
            </a:r>
            <a:r>
              <a:rPr lang="en-US" sz="1200" u="sng" kern="100" dirty="0">
                <a:effectLst/>
                <a:latin typeface="Bahnschrift Light" panose="020B0502040204020203" pitchFamily="34" charset="0"/>
                <a:ea typeface="Aptos" panose="020B0004020202020204" pitchFamily="34" charset="0"/>
                <a:cs typeface="Times New Roman" panose="02020603050405020304" pitchFamily="18" charset="0"/>
              </a:rPr>
              <a: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4% in 2025-26, before it returns to trend growth in line with GDP (7.5%)</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investment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sluggish growth in 2022-23, growth is forecast to be strong in 2024 (above 10%), slowing down to </a:t>
            </a:r>
            <a:r>
              <a:rPr lang="en-US" sz="1200" u="sng" kern="100" dirty="0">
                <a:effectLst/>
                <a:latin typeface="Bahnschrift Light" panose="020B0502040204020203" pitchFamily="34" charset="0"/>
                <a:ea typeface="Aptos" panose="020B0004020202020204" pitchFamily="34" charset="0"/>
                <a:cs typeface="Times New Roman" panose="02020603050405020304" pitchFamily="18" charset="0"/>
              </a:rPr>
              <a:t>+</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6% in 2025-26 as real lending rates increase; then moves to trend growth</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exports</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after above trend growth in 2023-24, export growth slows down but gradually as the positive effect of recent RER depreciation keeps export growth above trend the whole period</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govt demand</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almost no growth in 2025-26 due to fiscal consolidation, strong pickup thereafter</a:t>
            </a:r>
            <a:endParaRPr lang="en-US" sz="1200" kern="100" dirty="0">
              <a:latin typeface="Bahnschrift Light" panose="020B0502040204020203" pitchFamily="34" charset="0"/>
              <a:ea typeface="Aptos" panose="020B0004020202020204" pitchFamily="34" charset="0"/>
              <a:cs typeface="Times New Roman" panose="02020603050405020304" pitchFamily="18" charset="0"/>
            </a:endParaRPr>
          </a:p>
          <a:p>
            <a:pPr marL="171450" marR="0" indent="-171450">
              <a:lnSpc>
                <a:spcPct val="150000"/>
              </a:lnSpc>
              <a:spcAft>
                <a:spcPts val="800"/>
              </a:spcAft>
              <a:buFont typeface="Wingdings" panose="05000000000000000000" pitchFamily="2" charset="2"/>
              <a:buChar char="q"/>
            </a:pPr>
            <a:r>
              <a:rPr lang="en-US" sz="1200" b="1" kern="100" dirty="0">
                <a:effectLst/>
                <a:latin typeface="Bahnschrift Light" panose="020B0502040204020203" pitchFamily="34" charset="0"/>
                <a:ea typeface="Aptos" panose="020B0004020202020204" pitchFamily="34" charset="0"/>
                <a:cs typeface="Times New Roman" panose="02020603050405020304" pitchFamily="18" charset="0"/>
              </a:rPr>
              <a:t>Real imports</a:t>
            </a:r>
            <a:r>
              <a:rPr lang="en-US" sz="1200" kern="100" dirty="0">
                <a:effectLst/>
                <a:latin typeface="Bahnschrift Light" panose="020B0502040204020203" pitchFamily="34" charset="0"/>
                <a:ea typeface="Aptos" panose="020B0004020202020204" pitchFamily="34" charset="0"/>
                <a:cs typeface="Times New Roman" panose="02020603050405020304" pitchFamily="18" charset="0"/>
              </a:rPr>
              <a:t>: follow other demand components (including govt demand) </a:t>
            </a:r>
            <a:endParaRPr lang="en-RW" sz="1200" kern="100" dirty="0">
              <a:effectLst/>
              <a:latin typeface="Bahnschrift Light"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02932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524000" y="238656"/>
            <a:ext cx="10058400" cy="609600"/>
          </a:xfrm>
        </p:spPr>
        <p:txBody>
          <a:bodyPr/>
          <a:lstStyle/>
          <a:p>
            <a:r>
              <a:rPr lang="en-GB" sz="2400" b="1" dirty="0">
                <a:solidFill>
                  <a:schemeClr val="accent4"/>
                </a:solidFill>
                <a:latin typeface="Bahnschrift" panose="020B0502040204020203" pitchFamily="34" charset="0"/>
              </a:rPr>
              <a:t>Inflation—Headline CPI and components </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16</a:t>
            </a:fld>
            <a:endParaRPr lang="en-US" dirty="0"/>
          </a:p>
        </p:txBody>
      </p:sp>
      <p:sp>
        <p:nvSpPr>
          <p:cNvPr id="11" name="TextBox 10">
            <a:extLst>
              <a:ext uri="{FF2B5EF4-FFF2-40B4-BE49-F238E27FC236}">
                <a16:creationId xmlns:a16="http://schemas.microsoft.com/office/drawing/2014/main" id="{46B9D025-CC2E-BA46-942B-5C53E9D9632B}"/>
              </a:ext>
            </a:extLst>
          </p:cNvPr>
          <p:cNvSpPr txBox="1"/>
          <p:nvPr/>
        </p:nvSpPr>
        <p:spPr>
          <a:xfrm>
            <a:off x="203200" y="1219200"/>
            <a:ext cx="5689600" cy="5314275"/>
          </a:xfrm>
          <a:prstGeom prst="rect">
            <a:avLst/>
          </a:prstGeom>
          <a:noFill/>
          <a:ln>
            <a:solidFill>
              <a:schemeClr val="accent4">
                <a:lumMod val="20000"/>
                <a:lumOff val="80000"/>
              </a:schemeClr>
            </a:solidFill>
          </a:ln>
        </p:spPr>
        <p:txBody>
          <a:bodyPr wrap="square">
            <a:spAutoFit/>
          </a:bodyPr>
          <a:lstStyle/>
          <a:p>
            <a:pPr marL="0" marR="0">
              <a:spcAft>
                <a:spcPts val="800"/>
              </a:spcAft>
            </a:pPr>
            <a:r>
              <a:rPr lang="en-US" sz="1400" b="1" kern="100" dirty="0">
                <a:latin typeface="Bahnschrift" panose="020B0502040204020203" pitchFamily="34" charset="0"/>
                <a:ea typeface="Aptos" panose="020B0004020202020204" pitchFamily="34" charset="0"/>
                <a:cs typeface="Times New Roman" panose="02020603050405020304" pitchFamily="18" charset="0"/>
              </a:rPr>
              <a:t>Headline inflation </a:t>
            </a: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(period average) is expected to </a:t>
            </a:r>
            <a:r>
              <a:rPr lang="en-US" sz="1400" kern="100" dirty="0">
                <a:effectLst/>
                <a:latin typeface="Bahnschrift" panose="020B0502040204020203" pitchFamily="34" charset="0"/>
                <a:ea typeface="Aptos" panose="020B0004020202020204" pitchFamily="34" charset="0"/>
                <a:cs typeface="Times New Roman" panose="02020603050405020304" pitchFamily="18" charset="0"/>
              </a:rPr>
              <a:t>be</a:t>
            </a:r>
            <a:r>
              <a:rPr lang="en-US" sz="1400" b="1" kern="100" dirty="0">
                <a:effectLst/>
                <a:latin typeface="Bahnschrift" panose="020B0502040204020203" pitchFamily="34" charset="0"/>
                <a:ea typeface="Aptos" panose="020B0004020202020204" pitchFamily="34" charset="0"/>
                <a:cs typeface="Times New Roman" panose="02020603050405020304" pitchFamily="18" charset="0"/>
              </a:rPr>
              <a:t> </a:t>
            </a:r>
            <a:r>
              <a:rPr lang="en-US" sz="1400" kern="100" dirty="0">
                <a:effectLst/>
                <a:latin typeface="Bahnschrift" panose="020B0502040204020203" pitchFamily="34" charset="0"/>
                <a:ea typeface="Aptos" panose="020B0004020202020204" pitchFamily="34" charset="0"/>
                <a:cs typeface="Times New Roman" panose="02020603050405020304" pitchFamily="18" charset="0"/>
              </a:rPr>
              <a:t>subdued</a:t>
            </a:r>
            <a:r>
              <a:rPr lang="en-US" sz="1400" kern="100" dirty="0">
                <a:latin typeface="Bahnschrift" panose="020B0502040204020203" pitchFamily="34" charset="0"/>
                <a:ea typeface="Aptos" panose="020B0004020202020204" pitchFamily="34" charset="0"/>
                <a:cs typeface="Times New Roman" panose="02020603050405020304" pitchFamily="18" charset="0"/>
              </a:rPr>
              <a:t> </a:t>
            </a:r>
            <a:r>
              <a:rPr lang="en-US" sz="1400" kern="100" dirty="0">
                <a:effectLst/>
                <a:latin typeface="Bahnschrift" panose="020B0502040204020203" pitchFamily="34" charset="0"/>
                <a:ea typeface="Aptos" panose="020B0004020202020204" pitchFamily="34" charset="0"/>
                <a:cs typeface="Times New Roman" panose="02020603050405020304" pitchFamily="18" charset="0"/>
              </a:rPr>
              <a:t>below 5% until 2027</a:t>
            </a:r>
            <a:r>
              <a:rPr lang="en-US" sz="1400" kern="100" dirty="0">
                <a:latin typeface="Bahnschrift" panose="020B0502040204020203" pitchFamily="34" charset="0"/>
                <a:ea typeface="Aptos" panose="020B0004020202020204" pitchFamily="34" charset="0"/>
                <a:cs typeface="Times New Roman" panose="02020603050405020304" pitchFamily="18" charset="0"/>
              </a:rPr>
              <a:t> </a:t>
            </a:r>
            <a:r>
              <a:rPr lang="en-US" sz="1400" kern="100" dirty="0">
                <a:effectLst/>
                <a:latin typeface="Bahnschrift" panose="020B0502040204020203" pitchFamily="34" charset="0"/>
                <a:ea typeface="Aptos" panose="020B0004020202020204" pitchFamily="34" charset="0"/>
                <a:cs typeface="Times New Roman" panose="02020603050405020304" pitchFamily="18" charset="0"/>
              </a:rPr>
              <a:t>before a gradual return to target of 5% in 2028 as a function of :</a:t>
            </a:r>
            <a:endParaRPr lang="en-RW" sz="1400" kern="100" dirty="0">
              <a:effectLst/>
              <a:latin typeface="Bahnschrift" panose="020B0502040204020203" pitchFamily="34" charset="0"/>
              <a:ea typeface="Aptos" panose="020B0004020202020204"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400" kern="100" dirty="0">
                <a:latin typeface="Bahnschrift Light" panose="020B0502040204020203" pitchFamily="34" charset="0"/>
                <a:ea typeface="Aptos" panose="020B0004020202020204" pitchFamily="34" charset="0"/>
                <a:cs typeface="Times New Roman" panose="02020603050405020304" pitchFamily="18" charset="0"/>
              </a:rPr>
              <a:t>A recent </a:t>
            </a:r>
            <a:r>
              <a:rPr lang="en-US" sz="1400" kern="100" dirty="0">
                <a:effectLst/>
                <a:latin typeface="Bahnschrift Light" panose="020B0502040204020203" pitchFamily="34" charset="0"/>
                <a:ea typeface="Aptos" panose="020B0004020202020204" pitchFamily="34" charset="0"/>
                <a:cs typeface="Times New Roman" panose="02020603050405020304" pitchFamily="18" charset="0"/>
              </a:rPr>
              <a:t>drop in food, energy and core inflation followed by </a:t>
            </a:r>
            <a:r>
              <a:rPr lang="en-US" sz="1400" kern="100" dirty="0">
                <a:latin typeface="Bahnschrift Light" panose="020B0502040204020203" pitchFamily="34" charset="0"/>
                <a:ea typeface="Aptos" panose="020B0004020202020204" pitchFamily="34" charset="0"/>
                <a:cs typeface="Times New Roman" panose="02020603050405020304" pitchFamily="18" charset="0"/>
              </a:rPr>
              <a:t>a </a:t>
            </a:r>
            <a:r>
              <a:rPr lang="en-US" sz="1400" kern="100" dirty="0">
                <a:effectLst/>
                <a:latin typeface="Bahnschrift Light" panose="020B0502040204020203" pitchFamily="34" charset="0"/>
                <a:ea typeface="Aptos" panose="020B0004020202020204" pitchFamily="34" charset="0"/>
                <a:cs typeface="Times New Roman" panose="02020603050405020304" pitchFamily="18" charset="0"/>
              </a:rPr>
              <a:t>reversal in 2023-24 of earlier positive price shocks</a:t>
            </a:r>
          </a:p>
          <a:p>
            <a:pPr marL="285750" marR="0" indent="-285750">
              <a:spcAft>
                <a:spcPts val="800"/>
              </a:spcAft>
              <a:buFont typeface="Wingdings" panose="05000000000000000000" pitchFamily="2" charset="2"/>
              <a:buChar char="§"/>
            </a:pPr>
            <a:r>
              <a:rPr lang="en-US" sz="1400" kern="100" dirty="0">
                <a:effectLst/>
                <a:latin typeface="Bahnschrift Light" panose="020B0502040204020203" pitchFamily="34" charset="0"/>
                <a:ea typeface="Aptos" panose="020B0004020202020204" pitchFamily="34" charset="0"/>
                <a:cs typeface="Times New Roman" panose="02020603050405020304" pitchFamily="18" charset="0"/>
              </a:rPr>
              <a:t>Demand-restraining policies</a:t>
            </a:r>
            <a:r>
              <a:rPr lang="en-US" sz="1400" kern="100" dirty="0">
                <a:latin typeface="Bahnschrift Light" panose="020B0502040204020203" pitchFamily="34" charset="0"/>
                <a:ea typeface="Aptos" panose="020B0004020202020204" pitchFamily="34" charset="0"/>
                <a:cs typeface="Times New Roman" panose="02020603050405020304" pitchFamily="18" charset="0"/>
              </a:rPr>
              <a:t> (i.e., tight interest rates and fiscal consolidation policy)</a:t>
            </a:r>
            <a:r>
              <a:rPr lang="en-US" sz="1400" kern="100" dirty="0">
                <a:effectLst/>
                <a:latin typeface="Bahnschrift Light" panose="020B0502040204020203" pitchFamily="34" charset="0"/>
                <a:ea typeface="Aptos" panose="020B0004020202020204" pitchFamily="34" charset="0"/>
                <a:cs typeface="Times New Roman" panose="02020603050405020304" pitchFamily="18" charset="0"/>
              </a:rPr>
              <a:t>.</a:t>
            </a:r>
          </a:p>
          <a:p>
            <a:pPr marL="0" marR="0">
              <a:spcAft>
                <a:spcPts val="800"/>
              </a:spcAft>
            </a:pPr>
            <a:r>
              <a:rPr lang="en-US" sz="1400" b="1" kern="100" dirty="0">
                <a:latin typeface="Bahnschrift" panose="020B0502040204020203" pitchFamily="34" charset="0"/>
                <a:cs typeface="Times New Roman" panose="02020603050405020304" pitchFamily="18" charset="0"/>
              </a:rPr>
              <a:t>2025-27—well below 5%:</a:t>
            </a:r>
            <a:endParaRPr lang="en-RW" sz="1400" b="1" kern="100" dirty="0">
              <a:latin typeface="Bahnschrift" panose="020B0502040204020203" pitchFamily="34" charset="0"/>
              <a:cs typeface="Times New Roman" panose="02020603050405020304" pitchFamily="18" charset="0"/>
            </a:endParaRPr>
          </a:p>
          <a:p>
            <a:pPr marL="285750" lvl="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effect of increasing RIR and large negative fiscal impulse on demand, hence output</a:t>
            </a:r>
          </a:p>
          <a:p>
            <a:pPr marL="285750" lvl="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continued drop in food prices as agriculture returns to normal</a:t>
            </a:r>
          </a:p>
          <a:p>
            <a:pPr marL="285750" lvl="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still low trading partner prices, and a small drop in world energy and food prices</a:t>
            </a:r>
          </a:p>
          <a:p>
            <a:pPr marL="285750" lvl="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somewhat offset by the CPI-increasing effect of nominal ER depreciation on import prices</a:t>
            </a:r>
            <a:endParaRPr lang="en-RW" sz="1400" kern="100" dirty="0">
              <a:latin typeface="Bahnschrift Light" panose="020B0502040204020203" pitchFamily="34" charset="0"/>
              <a:cs typeface="Times New Roman" panose="02020603050405020304" pitchFamily="18" charset="0"/>
            </a:endParaRPr>
          </a:p>
          <a:p>
            <a:pPr>
              <a:spcAft>
                <a:spcPts val="800"/>
              </a:spcAft>
            </a:pPr>
            <a:r>
              <a:rPr lang="en-US" sz="1400" b="1" kern="100" dirty="0">
                <a:latin typeface="Bahnschrift" panose="020B0502040204020203" pitchFamily="34" charset="0"/>
                <a:cs typeface="Times New Roman" panose="02020603050405020304" pitchFamily="18" charset="0"/>
              </a:rPr>
              <a:t>2028 onward—return to target:      </a:t>
            </a:r>
            <a:endParaRPr lang="en-RW" sz="1400" b="1" kern="100" dirty="0">
              <a:latin typeface="Bahnschrif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govt demand pick up (as consolidation stops post-PCI)</a:t>
            </a:r>
            <a:endParaRPr lang="en-RW" sz="14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other demand components return to normal</a:t>
            </a:r>
            <a:endParaRPr lang="en-RW" sz="1400" kern="100" dirty="0">
              <a:latin typeface="Bahnschrift Light" panose="020B0502040204020203" pitchFamily="34" charset="0"/>
              <a:cs typeface="Times New Roman" panose="02020603050405020304" pitchFamily="18" charset="0"/>
            </a:endParaRPr>
          </a:p>
          <a:p>
            <a:pPr marL="285750" marR="0"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interest rate policies push inflation back to target</a:t>
            </a:r>
          </a:p>
        </p:txBody>
      </p:sp>
      <p:pic>
        <p:nvPicPr>
          <p:cNvPr id="9" name="Picture 8">
            <a:extLst>
              <a:ext uri="{FF2B5EF4-FFF2-40B4-BE49-F238E27FC236}">
                <a16:creationId xmlns:a16="http://schemas.microsoft.com/office/drawing/2014/main" id="{DCAE8425-1A2B-C3C2-5973-CF4EC26E4CE8}"/>
              </a:ext>
            </a:extLst>
          </p:cNvPr>
          <p:cNvPicPr>
            <a:picLocks noChangeAspect="1"/>
          </p:cNvPicPr>
          <p:nvPr/>
        </p:nvPicPr>
        <p:blipFill>
          <a:blip r:embed="rId3"/>
          <a:stretch>
            <a:fillRect/>
          </a:stretch>
        </p:blipFill>
        <p:spPr>
          <a:xfrm>
            <a:off x="8915400" y="1306830"/>
            <a:ext cx="3048000" cy="2644140"/>
          </a:xfrm>
          <a:prstGeom prst="rect">
            <a:avLst/>
          </a:prstGeom>
          <a:ln>
            <a:solidFill>
              <a:schemeClr val="accent4">
                <a:lumMod val="20000"/>
                <a:lumOff val="80000"/>
              </a:schemeClr>
            </a:solidFill>
          </a:ln>
        </p:spPr>
      </p:pic>
      <p:pic>
        <p:nvPicPr>
          <p:cNvPr id="13" name="Picture 12">
            <a:extLst>
              <a:ext uri="{FF2B5EF4-FFF2-40B4-BE49-F238E27FC236}">
                <a16:creationId xmlns:a16="http://schemas.microsoft.com/office/drawing/2014/main" id="{54D99AAE-DDF6-81D7-C9AD-EF3F2796E4A8}"/>
              </a:ext>
            </a:extLst>
          </p:cNvPr>
          <p:cNvPicPr>
            <a:picLocks noChangeAspect="1"/>
          </p:cNvPicPr>
          <p:nvPr/>
        </p:nvPicPr>
        <p:blipFill>
          <a:blip r:embed="rId4"/>
          <a:stretch>
            <a:fillRect/>
          </a:stretch>
        </p:blipFill>
        <p:spPr>
          <a:xfrm>
            <a:off x="6019800" y="4038600"/>
            <a:ext cx="3429000" cy="2494875"/>
          </a:xfrm>
          <a:prstGeom prst="rect">
            <a:avLst/>
          </a:prstGeom>
          <a:ln>
            <a:solidFill>
              <a:schemeClr val="accent4">
                <a:lumMod val="20000"/>
                <a:lumOff val="80000"/>
              </a:schemeClr>
            </a:solidFill>
          </a:ln>
        </p:spPr>
      </p:pic>
      <p:pic>
        <p:nvPicPr>
          <p:cNvPr id="17" name="Picture 16">
            <a:extLst>
              <a:ext uri="{FF2B5EF4-FFF2-40B4-BE49-F238E27FC236}">
                <a16:creationId xmlns:a16="http://schemas.microsoft.com/office/drawing/2014/main" id="{692CD025-708E-5803-5078-6A0E1816B7CC}"/>
              </a:ext>
            </a:extLst>
          </p:cNvPr>
          <p:cNvPicPr>
            <a:picLocks noChangeAspect="1"/>
          </p:cNvPicPr>
          <p:nvPr/>
        </p:nvPicPr>
        <p:blipFill>
          <a:blip r:embed="rId5"/>
          <a:stretch>
            <a:fillRect/>
          </a:stretch>
        </p:blipFill>
        <p:spPr>
          <a:xfrm>
            <a:off x="9499600" y="4038600"/>
            <a:ext cx="2540000" cy="2494875"/>
          </a:xfrm>
          <a:prstGeom prst="rect">
            <a:avLst/>
          </a:prstGeom>
          <a:ln>
            <a:solidFill>
              <a:schemeClr val="accent4">
                <a:lumMod val="20000"/>
                <a:lumOff val="80000"/>
              </a:schemeClr>
            </a:solidFill>
          </a:ln>
        </p:spPr>
      </p:pic>
      <p:pic>
        <p:nvPicPr>
          <p:cNvPr id="19" name="Picture 18">
            <a:extLst>
              <a:ext uri="{FF2B5EF4-FFF2-40B4-BE49-F238E27FC236}">
                <a16:creationId xmlns:a16="http://schemas.microsoft.com/office/drawing/2014/main" id="{7269B86C-FDF8-F8C3-FDA6-63BA7EB6302A}"/>
              </a:ext>
            </a:extLst>
          </p:cNvPr>
          <p:cNvPicPr>
            <a:picLocks noChangeAspect="1"/>
          </p:cNvPicPr>
          <p:nvPr/>
        </p:nvPicPr>
        <p:blipFill>
          <a:blip r:embed="rId6"/>
          <a:stretch>
            <a:fillRect/>
          </a:stretch>
        </p:blipFill>
        <p:spPr>
          <a:xfrm>
            <a:off x="5943600" y="1208951"/>
            <a:ext cx="3048000" cy="2731770"/>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877559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5AA3-45A2-7DB1-CAA0-683A13346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CE92A-13E3-72A8-BA05-206DE0F2F409}"/>
              </a:ext>
            </a:extLst>
          </p:cNvPr>
          <p:cNvSpPr>
            <a:spLocks noGrp="1"/>
          </p:cNvSpPr>
          <p:nvPr>
            <p:ph type="title"/>
          </p:nvPr>
        </p:nvSpPr>
        <p:spPr>
          <a:xfrm>
            <a:off x="1524000" y="238656"/>
            <a:ext cx="10058400" cy="609600"/>
          </a:xfrm>
        </p:spPr>
        <p:txBody>
          <a:bodyPr/>
          <a:lstStyle/>
          <a:p>
            <a:r>
              <a:rPr lang="en-GB" sz="2400" b="1" dirty="0">
                <a:solidFill>
                  <a:schemeClr val="accent4"/>
                </a:solidFill>
                <a:latin typeface="Bahnschrift" panose="020B0502040204020203" pitchFamily="34" charset="0"/>
              </a:rPr>
              <a:t>Money market rates—Policy interest rates (Inter-Bank)</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558B4F4E-4984-C848-B72B-7DC90542FCCE}"/>
              </a:ext>
            </a:extLst>
          </p:cNvPr>
          <p:cNvSpPr>
            <a:spLocks noGrp="1"/>
          </p:cNvSpPr>
          <p:nvPr>
            <p:ph type="sldNum" sz="quarter" idx="10"/>
          </p:nvPr>
        </p:nvSpPr>
        <p:spPr/>
        <p:txBody>
          <a:bodyPr/>
          <a:lstStyle/>
          <a:p>
            <a:fld id="{D97AE203-F84D-4A7F-B161-8561326BE072}" type="slidenum">
              <a:rPr lang="en-US" smtClean="0"/>
              <a:pPr/>
              <a:t>17</a:t>
            </a:fld>
            <a:endParaRPr lang="en-US" dirty="0"/>
          </a:p>
        </p:txBody>
      </p:sp>
      <p:sp>
        <p:nvSpPr>
          <p:cNvPr id="15" name="TextBox 14">
            <a:extLst>
              <a:ext uri="{FF2B5EF4-FFF2-40B4-BE49-F238E27FC236}">
                <a16:creationId xmlns:a16="http://schemas.microsoft.com/office/drawing/2014/main" id="{15974B16-87CC-8E2B-D55C-9F31A71F5365}"/>
              </a:ext>
            </a:extLst>
          </p:cNvPr>
          <p:cNvSpPr txBox="1"/>
          <p:nvPr/>
        </p:nvSpPr>
        <p:spPr>
          <a:xfrm>
            <a:off x="296332" y="3124200"/>
            <a:ext cx="7552267" cy="3118803"/>
          </a:xfrm>
          <a:prstGeom prst="rect">
            <a:avLst/>
          </a:prstGeom>
          <a:noFill/>
          <a:ln>
            <a:solidFill>
              <a:schemeClr val="accent4">
                <a:lumMod val="20000"/>
                <a:lumOff val="80000"/>
              </a:schemeClr>
            </a:solidFill>
          </a:ln>
        </p:spPr>
        <p:txBody>
          <a:bodyPr wrap="square">
            <a:spAutoFit/>
          </a:bodyPr>
          <a:lstStyle/>
          <a:p>
            <a:pPr marL="0" marR="0">
              <a:lnSpc>
                <a:spcPct val="150000"/>
              </a:lnSpc>
              <a:spcAft>
                <a:spcPts val="800"/>
              </a:spcAft>
            </a:pPr>
            <a:r>
              <a:rPr lang="en-US" sz="1600" b="1" kern="100" dirty="0">
                <a:effectLst/>
                <a:latin typeface="Bahnschrift" panose="020B0502040204020203" pitchFamily="34" charset="0"/>
                <a:ea typeface="Aptos" panose="020B0004020202020204" pitchFamily="34" charset="0"/>
                <a:cs typeface="Times New Roman" panose="02020603050405020304" pitchFamily="18" charset="0"/>
              </a:rPr>
              <a:t>Real lending rates</a:t>
            </a:r>
            <a:r>
              <a:rPr lang="en-US" sz="1600" b="1" kern="100" dirty="0">
                <a:latin typeface="Bahnschrift" panose="020B0502040204020203" pitchFamily="34" charset="0"/>
                <a:ea typeface="Aptos" panose="020B0004020202020204" pitchFamily="34" charset="0"/>
                <a:cs typeface="Times New Roman" panose="02020603050405020304" pitchFamily="18" charset="0"/>
              </a:rPr>
              <a:t> (IB rate)</a:t>
            </a:r>
            <a:r>
              <a:rPr lang="en-US" sz="1600" b="1" kern="100" dirty="0">
                <a:effectLst/>
                <a:latin typeface="Bahnschrift" panose="020B0502040204020203" pitchFamily="34" charset="0"/>
                <a:ea typeface="Aptos" panose="020B0004020202020204" pitchFamily="34" charset="0"/>
                <a:cs typeface="Times New Roman" panose="02020603050405020304" pitchFamily="18" charset="0"/>
              </a:rPr>
              <a:t>: </a:t>
            </a:r>
            <a:r>
              <a:rPr lang="en-US" sz="1600" kern="100" dirty="0">
                <a:effectLst/>
                <a:latin typeface="Bahnschrift Light" panose="020B0502040204020203" pitchFamily="34" charset="0"/>
                <a:ea typeface="Aptos" panose="020B0004020202020204" pitchFamily="34" charset="0"/>
                <a:cs typeface="Times New Roman" panose="02020603050405020304" pitchFamily="18" charset="0"/>
              </a:rPr>
              <a:t>expected to go up</a:t>
            </a:r>
            <a:r>
              <a:rPr lang="en-US" sz="1600" b="1" kern="100" dirty="0">
                <a:effectLst/>
                <a:latin typeface="Bahnschrift Light" panose="020B0502040204020203" pitchFamily="34" charset="0"/>
                <a:ea typeface="Aptos" panose="020B0004020202020204" pitchFamily="34" charset="0"/>
                <a:cs typeface="Times New Roman" panose="02020603050405020304" pitchFamily="18" charset="0"/>
              </a:rPr>
              <a:t> </a:t>
            </a:r>
            <a:r>
              <a:rPr lang="en-US" sz="1600" kern="100" dirty="0">
                <a:effectLst/>
                <a:latin typeface="Bahnschrift Light" panose="020B0502040204020203" pitchFamily="34" charset="0"/>
                <a:ea typeface="Aptos" panose="020B0004020202020204" pitchFamily="34" charset="0"/>
                <a:cs typeface="Times New Roman" panose="02020603050405020304" pitchFamily="18" charset="0"/>
              </a:rPr>
              <a:t>to normal (around 12%, for 8% margin above IB rate), but remain above pre-Covid level as world RIR projected to reach 1.5% (from negative in recent years)</a:t>
            </a:r>
            <a:endParaRPr lang="en-RW" sz="1600" kern="100" dirty="0">
              <a:effectLst/>
              <a:latin typeface="Bahnschrift Light" panose="020B0502040204020203" pitchFamily="34" charset="0"/>
              <a:ea typeface="Aptos" panose="020B0004020202020204" pitchFamily="34" charset="0"/>
              <a:cs typeface="Times New Roman" panose="02020603050405020304" pitchFamily="18" charset="0"/>
            </a:endParaRPr>
          </a:p>
          <a:p>
            <a:pPr marL="285750" lvl="1"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Low real lending rates (below trend) during most of 2022-24 though before rising in recent quarters (as inflation slowed down)</a:t>
            </a:r>
          </a:p>
          <a:p>
            <a:pPr marL="285750" lvl="1"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neutral policy (IB) rate—after a temporary drop with low inflation—is expected to go up to 8.5-9% (and 4-4.5% in real terms) as world RIR increases and CPI inflation returns to target</a:t>
            </a:r>
          </a:p>
          <a:p>
            <a:pPr marL="285750" lvl="1" indent="-285750">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As RIR now returning to normal, induced demand-stimulating effect expected to fade and reverse</a:t>
            </a:r>
          </a:p>
        </p:txBody>
      </p:sp>
      <p:sp>
        <p:nvSpPr>
          <p:cNvPr id="10" name="TextBox 9">
            <a:extLst>
              <a:ext uri="{FF2B5EF4-FFF2-40B4-BE49-F238E27FC236}">
                <a16:creationId xmlns:a16="http://schemas.microsoft.com/office/drawing/2014/main" id="{98750A9E-CF4D-5F3E-CD47-01A2CD7B28D7}"/>
              </a:ext>
            </a:extLst>
          </p:cNvPr>
          <p:cNvSpPr txBox="1"/>
          <p:nvPr/>
        </p:nvSpPr>
        <p:spPr>
          <a:xfrm>
            <a:off x="304799" y="1212004"/>
            <a:ext cx="7543799" cy="1730987"/>
          </a:xfrm>
          <a:prstGeom prst="rect">
            <a:avLst/>
          </a:prstGeom>
          <a:noFill/>
          <a:ln>
            <a:solidFill>
              <a:schemeClr val="accent4">
                <a:lumMod val="20000"/>
                <a:lumOff val="80000"/>
              </a:schemeClr>
            </a:solidFill>
          </a:ln>
        </p:spPr>
        <p:txBody>
          <a:bodyPr wrap="square">
            <a:spAutoFit/>
          </a:bodyPr>
          <a:lstStyle/>
          <a:p>
            <a:pPr marL="0" marR="0">
              <a:spcAft>
                <a:spcPts val="80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P</a:t>
            </a:r>
            <a:r>
              <a:rPr lang="en-US" sz="1200" b="1" kern="100" dirty="0">
                <a:latin typeface="Bahnschrift" panose="020B0502040204020203" pitchFamily="34" charset="0"/>
                <a:ea typeface="Aptos" panose="020B0004020202020204" pitchFamily="34" charset="0"/>
                <a:cs typeface="Times New Roman" panose="02020603050405020304" pitchFamily="18" charset="0"/>
              </a:rPr>
              <a:t>olicy interest rate (IB rate), nominal terms</a:t>
            </a: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  </a:t>
            </a:r>
          </a:p>
          <a:p>
            <a:pPr marL="285750" lvl="1" indent="-285750">
              <a:lnSpc>
                <a:spcPct val="150000"/>
              </a:lnSpc>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Tight during 2022-24 as inflationary pressures increases before becoming less tight in second half of 2024 when inflation is steered back to its target</a:t>
            </a:r>
          </a:p>
          <a:p>
            <a:pPr marL="285750" lvl="1" indent="-285750">
              <a:lnSpc>
                <a:spcPct val="150000"/>
              </a:lnSpc>
              <a:spcAft>
                <a:spcPts val="800"/>
              </a:spcAft>
              <a:buFont typeface="Wingdings" panose="05000000000000000000" pitchFamily="2" charset="2"/>
              <a:buChar char="§"/>
            </a:pPr>
            <a:r>
              <a:rPr lang="en-US" sz="1400" kern="100" dirty="0">
                <a:latin typeface="Bahnschrift Light" panose="020B0502040204020203" pitchFamily="34" charset="0"/>
                <a:cs typeface="Times New Roman" panose="02020603050405020304" pitchFamily="18" charset="0"/>
              </a:rPr>
              <a:t>Returns to average neutral rate of </a:t>
            </a:r>
            <a:r>
              <a:rPr lang="en-US" sz="1400" kern="100" dirty="0">
                <a:solidFill>
                  <a:srgbClr val="FF0000"/>
                </a:solidFill>
                <a:latin typeface="Bahnschrift Light" panose="020B0502040204020203" pitchFamily="34" charset="0"/>
                <a:cs typeface="Times New Roman" panose="02020603050405020304" pitchFamily="18" charset="0"/>
              </a:rPr>
              <a:t>8% </a:t>
            </a:r>
            <a:r>
              <a:rPr lang="en-US" sz="1400" kern="100" dirty="0">
                <a:latin typeface="Bahnschrift Light" panose="020B0502040204020203" pitchFamily="34" charset="0"/>
                <a:cs typeface="Times New Roman" panose="02020603050405020304" pitchFamily="18" charset="0"/>
              </a:rPr>
              <a:t>for 2025-28 as RIR catch up with trend and CPI inflation returns to target</a:t>
            </a:r>
          </a:p>
        </p:txBody>
      </p:sp>
      <p:pic>
        <p:nvPicPr>
          <p:cNvPr id="12" name="Picture 11">
            <a:extLst>
              <a:ext uri="{FF2B5EF4-FFF2-40B4-BE49-F238E27FC236}">
                <a16:creationId xmlns:a16="http://schemas.microsoft.com/office/drawing/2014/main" id="{11487125-CB8B-0E6E-7CAA-08402A61B9B7}"/>
              </a:ext>
            </a:extLst>
          </p:cNvPr>
          <p:cNvPicPr>
            <a:picLocks noChangeAspect="1"/>
          </p:cNvPicPr>
          <p:nvPr/>
        </p:nvPicPr>
        <p:blipFill>
          <a:blip r:embed="rId3"/>
          <a:stretch>
            <a:fillRect/>
          </a:stretch>
        </p:blipFill>
        <p:spPr>
          <a:xfrm>
            <a:off x="7898995" y="3857446"/>
            <a:ext cx="3946275" cy="2486065"/>
          </a:xfrm>
          <a:prstGeom prst="rect">
            <a:avLst/>
          </a:prstGeom>
          <a:ln>
            <a:solidFill>
              <a:schemeClr val="accent4">
                <a:lumMod val="20000"/>
                <a:lumOff val="80000"/>
              </a:schemeClr>
            </a:solidFill>
          </a:ln>
        </p:spPr>
      </p:pic>
      <p:pic>
        <p:nvPicPr>
          <p:cNvPr id="14" name="Picture 13">
            <a:extLst>
              <a:ext uri="{FF2B5EF4-FFF2-40B4-BE49-F238E27FC236}">
                <a16:creationId xmlns:a16="http://schemas.microsoft.com/office/drawing/2014/main" id="{C6394B84-7DF8-61F5-4EEC-A1A2773E864D}"/>
              </a:ext>
            </a:extLst>
          </p:cNvPr>
          <p:cNvPicPr>
            <a:picLocks noChangeAspect="1"/>
          </p:cNvPicPr>
          <p:nvPr/>
        </p:nvPicPr>
        <p:blipFill>
          <a:blip r:embed="rId4"/>
          <a:stretch>
            <a:fillRect/>
          </a:stretch>
        </p:blipFill>
        <p:spPr>
          <a:xfrm>
            <a:off x="7898995" y="1212004"/>
            <a:ext cx="3946275" cy="2504543"/>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1956726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DFB9-FBDD-C647-A1B5-C6DE1DD7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A52F1-C418-475A-DF3D-15623C05149D}"/>
              </a:ext>
            </a:extLst>
          </p:cNvPr>
          <p:cNvSpPr>
            <a:spLocks noGrp="1"/>
          </p:cNvSpPr>
          <p:nvPr>
            <p:ph type="title"/>
          </p:nvPr>
        </p:nvSpPr>
        <p:spPr>
          <a:xfrm>
            <a:off x="1600200" y="242886"/>
            <a:ext cx="10261600" cy="549275"/>
          </a:xfrm>
        </p:spPr>
        <p:txBody>
          <a:bodyPr/>
          <a:lstStyle/>
          <a:p>
            <a:r>
              <a:rPr lang="en-US" sz="2400" b="1" dirty="0">
                <a:solidFill>
                  <a:schemeClr val="accent4"/>
                </a:solidFill>
                <a:latin typeface="Bahnschrift" panose="020B0502040204020203" pitchFamily="34" charset="0"/>
              </a:rPr>
              <a:t>Money Market Rates: Exchange Rates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BB58E160-C9E3-4CB4-5C39-D496B6916A47}"/>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5" name="Content Placeholder 2">
            <a:extLst>
              <a:ext uri="{FF2B5EF4-FFF2-40B4-BE49-F238E27FC236}">
                <a16:creationId xmlns:a16="http://schemas.microsoft.com/office/drawing/2014/main" id="{76F6B2A1-3985-662A-F1C2-3AD6D3062C53}"/>
              </a:ext>
            </a:extLst>
          </p:cNvPr>
          <p:cNvSpPr txBox="1">
            <a:spLocks/>
          </p:cNvSpPr>
          <p:nvPr/>
        </p:nvSpPr>
        <p:spPr>
          <a:xfrm>
            <a:off x="609600" y="1066800"/>
            <a:ext cx="10896600" cy="55626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US" sz="2400" b="1" i="0" u="none" strike="noStrike" kern="1200" cap="none" spc="0" normalizeH="0" baseline="0" noProof="0" dirty="0">
              <a:ln>
                <a:noFill/>
              </a:ln>
              <a:solidFill>
                <a:prstClr val="black"/>
              </a:solidFill>
              <a:effectLst/>
              <a:uLnTx/>
              <a:uFillTx/>
              <a:latin typeface="Gill Sans MT"/>
              <a:ea typeface="ＭＳ Ｐゴシック" charset="-128"/>
              <a:cs typeface="+mn-cs"/>
            </a:endParaRPr>
          </a:p>
          <a:p>
            <a:pPr marL="0" marR="0" lvl="0" indent="0" algn="just" defTabSz="914400" rtl="0" eaLnBrk="0" fontAlgn="base" latinLnBrk="0" hangingPunct="0">
              <a:lnSpc>
                <a:spcPct val="100000"/>
              </a:lnSpc>
              <a:spcBef>
                <a:spcPts val="600"/>
              </a:spcBef>
              <a:spcAft>
                <a:spcPts val="600"/>
              </a:spcAft>
              <a:buClr>
                <a:srgbClr val="00B0F0"/>
              </a:buClr>
              <a:buSzPct val="76000"/>
              <a:buFont typeface="Wingdings 3" charset="2"/>
              <a:buNone/>
              <a:tabLst/>
              <a:defRPr/>
            </a:pPr>
            <a:endParaRPr kumimoji="0" lang="en-US" sz="2400" b="1" i="0" u="none" strike="noStrike" kern="1200" cap="none" spc="0" normalizeH="0" baseline="0" noProof="0" dirty="0">
              <a:ln>
                <a:noFill/>
              </a:ln>
              <a:solidFill>
                <a:prstClr val="black"/>
              </a:solidFill>
              <a:effectLst/>
              <a:uLnTx/>
              <a:uFillTx/>
              <a:latin typeface="Gill Sans MT"/>
              <a:ea typeface="ＭＳ Ｐゴシック" charset="-128"/>
              <a:cs typeface="+mn-cs"/>
            </a:endParaRPr>
          </a:p>
        </p:txBody>
      </p:sp>
      <p:sp>
        <p:nvSpPr>
          <p:cNvPr id="4" name="TextBox 3">
            <a:extLst>
              <a:ext uri="{FF2B5EF4-FFF2-40B4-BE49-F238E27FC236}">
                <a16:creationId xmlns:a16="http://schemas.microsoft.com/office/drawing/2014/main" id="{5AD294E2-4EF4-6D8A-7028-9F82B4FECCA3}"/>
              </a:ext>
            </a:extLst>
          </p:cNvPr>
          <p:cNvSpPr txBox="1"/>
          <p:nvPr/>
        </p:nvSpPr>
        <p:spPr>
          <a:xfrm>
            <a:off x="609600" y="3351095"/>
            <a:ext cx="7086600" cy="3153461"/>
          </a:xfrm>
          <a:prstGeom prst="rect">
            <a:avLst/>
          </a:prstGeom>
          <a:noFill/>
          <a:ln>
            <a:solidFill>
              <a:schemeClr val="accent4">
                <a:lumMod val="20000"/>
                <a:lumOff val="80000"/>
              </a:schemeClr>
            </a:solidFill>
          </a:ln>
        </p:spPr>
        <p:txBody>
          <a:bodyPr wrap="square">
            <a:noAutofit/>
          </a:bodyPr>
          <a:lstStyle>
            <a:defPPr>
              <a:defRPr lang="en-US"/>
            </a:defPPr>
            <a:lvl1pPr marL="0" marR="0">
              <a:lnSpc>
                <a:spcPct val="150000"/>
              </a:lnSpc>
              <a:spcAft>
                <a:spcPts val="800"/>
              </a:spcAft>
              <a:defRPr sz="1200" b="1" kern="100">
                <a:effectLst/>
                <a:latin typeface="Bahnschrift" panose="020B0502040204020203" pitchFamily="34" charset="0"/>
                <a:ea typeface="Aptos" panose="020B0004020202020204" pitchFamily="34" charset="0"/>
                <a:cs typeface="Times New Roman" panose="02020603050405020304" pitchFamily="18" charset="0"/>
              </a:defRPr>
            </a:lvl1pPr>
            <a:lvl2pPr marL="628650" lvl="1" indent="-171450">
              <a:lnSpc>
                <a:spcPct val="150000"/>
              </a:lnSpc>
              <a:spcAft>
                <a:spcPts val="800"/>
              </a:spcAft>
              <a:buFont typeface="Wingdings" panose="05000000000000000000" pitchFamily="2" charset="2"/>
              <a:buChar char="§"/>
              <a:defRPr sz="1200" kern="100">
                <a:latin typeface="Bahnschrift Light" panose="020B0502040204020203" pitchFamily="34" charset="0"/>
                <a:cs typeface="Times New Roman" panose="02020603050405020304" pitchFamily="18" charset="0"/>
              </a:defRPr>
            </a:lvl2pPr>
          </a:lstStyle>
          <a:p>
            <a:r>
              <a:rPr lang="en-US" dirty="0">
                <a:latin typeface="Bahnschrift Light" panose="020B0502040204020203" pitchFamily="34" charset="0"/>
              </a:rPr>
              <a:t>Real Exchange Rate </a:t>
            </a:r>
            <a:r>
              <a:rPr lang="en-US" b="0" dirty="0">
                <a:latin typeface="Bahnschrift Light" panose="020B0502040204020203" pitchFamily="34" charset="0"/>
              </a:rPr>
              <a:t>is anticipated to return gradually to a path (0% y-o-y growth of RER) of only correcting for inflation differentials (2% </a:t>
            </a:r>
            <a:r>
              <a:rPr lang="en-US" b="0" dirty="0" err="1">
                <a:latin typeface="Bahnschrift Light" panose="020B0502040204020203" pitchFamily="34" charset="0"/>
              </a:rPr>
              <a:t>p.a</a:t>
            </a:r>
            <a:r>
              <a:rPr lang="en-US" b="0" dirty="0">
                <a:latin typeface="Bahnschrift Light" panose="020B0502040204020203" pitchFamily="34" charset="0"/>
              </a:rPr>
              <a:t>).</a:t>
            </a:r>
            <a:endParaRPr lang="en-RW" b="0" dirty="0">
              <a:latin typeface="Bahnschrift Light" panose="020B0502040204020203" pitchFamily="34" charset="0"/>
            </a:endParaRPr>
          </a:p>
          <a:p>
            <a:pPr marL="171450" indent="-171450">
              <a:buFont typeface="Arial" panose="020B0604020202020204" pitchFamily="34" charset="0"/>
              <a:buChar char="•"/>
            </a:pPr>
            <a:r>
              <a:rPr lang="en-US" b="0" dirty="0">
                <a:latin typeface="Bahnschrift Light" panose="020B0502040204020203" pitchFamily="34" charset="0"/>
              </a:rPr>
              <a:t>Higher inflation episode of 2022-23 led to a recent real exchange rate overvaluation.</a:t>
            </a:r>
          </a:p>
          <a:p>
            <a:pPr marL="171450" indent="-171450">
              <a:buFont typeface="Arial" panose="020B0604020202020204" pitchFamily="34" charset="0"/>
              <a:buChar char="•"/>
            </a:pPr>
            <a:r>
              <a:rPr lang="en-US" b="0" dirty="0">
                <a:latin typeface="Bahnschrift Light" panose="020B0502040204020203" pitchFamily="34" charset="0"/>
              </a:rPr>
              <a:t>This caused a more than needed correction for overvaluation with steep depreciation for 2023-24.</a:t>
            </a:r>
            <a:endParaRPr lang="en-RW" b="0" dirty="0">
              <a:latin typeface="Bahnschrift Light" panose="020B0502040204020203" pitchFamily="34" charset="0"/>
            </a:endParaRPr>
          </a:p>
          <a:p>
            <a:pPr marL="171450" indent="-171450">
              <a:buFont typeface="Arial" panose="020B0604020202020204" pitchFamily="34" charset="0"/>
              <a:buChar char="•"/>
            </a:pPr>
            <a:r>
              <a:rPr lang="en-US" b="0" dirty="0">
                <a:latin typeface="Bahnschrift Light" panose="020B0502040204020203" pitchFamily="34" charset="0"/>
              </a:rPr>
              <a:t>ER is consequently expected to return to its policy rule (mostly moving with inflation differentials), which suggests no need of further RER depreciation. </a:t>
            </a:r>
          </a:p>
          <a:p>
            <a:pPr marL="800100" lvl="1">
              <a:buFont typeface="Arial" panose="020B0604020202020204" pitchFamily="34" charset="0"/>
              <a:buChar char="•"/>
            </a:pPr>
            <a:r>
              <a:rPr lang="en-US" b="0" dirty="0">
                <a:latin typeface="Bahnschrift Light" panose="020B0502040204020203" pitchFamily="34" charset="0"/>
              </a:rPr>
              <a:t>In contrast, PCI program poses a lingering overvaluation of 15% (which evidence?) requiring more depreciation, as built into PCI projection 2024-28.</a:t>
            </a:r>
            <a:endParaRPr lang="en-RW" b="0" dirty="0">
              <a:latin typeface="Bahnschrift Light" panose="020B0502040204020203" pitchFamily="34" charset="0"/>
            </a:endParaRPr>
          </a:p>
        </p:txBody>
      </p:sp>
      <p:pic>
        <p:nvPicPr>
          <p:cNvPr id="10" name="Picture 9">
            <a:extLst>
              <a:ext uri="{FF2B5EF4-FFF2-40B4-BE49-F238E27FC236}">
                <a16:creationId xmlns:a16="http://schemas.microsoft.com/office/drawing/2014/main" id="{1083DAE3-9400-1394-CDEC-48307D2129AA}"/>
              </a:ext>
            </a:extLst>
          </p:cNvPr>
          <p:cNvPicPr>
            <a:picLocks noChangeAspect="1"/>
          </p:cNvPicPr>
          <p:nvPr/>
        </p:nvPicPr>
        <p:blipFill>
          <a:blip r:embed="rId2"/>
          <a:stretch>
            <a:fillRect/>
          </a:stretch>
        </p:blipFill>
        <p:spPr>
          <a:xfrm>
            <a:off x="7848600" y="3962399"/>
            <a:ext cx="3657600" cy="2542157"/>
          </a:xfrm>
          <a:prstGeom prst="rect">
            <a:avLst/>
          </a:prstGeom>
          <a:ln>
            <a:solidFill>
              <a:schemeClr val="accent4">
                <a:lumMod val="20000"/>
                <a:lumOff val="80000"/>
              </a:schemeClr>
            </a:solidFill>
          </a:ln>
        </p:spPr>
      </p:pic>
      <p:sp>
        <p:nvSpPr>
          <p:cNvPr id="18" name="TextBox 17">
            <a:extLst>
              <a:ext uri="{FF2B5EF4-FFF2-40B4-BE49-F238E27FC236}">
                <a16:creationId xmlns:a16="http://schemas.microsoft.com/office/drawing/2014/main" id="{F3A076DC-F5C3-1516-7409-727B20739AD5}"/>
              </a:ext>
            </a:extLst>
          </p:cNvPr>
          <p:cNvSpPr txBox="1"/>
          <p:nvPr/>
        </p:nvSpPr>
        <p:spPr>
          <a:xfrm>
            <a:off x="609600" y="1283887"/>
            <a:ext cx="7086600" cy="1942364"/>
          </a:xfrm>
          <a:prstGeom prst="rect">
            <a:avLst/>
          </a:prstGeom>
          <a:noFill/>
          <a:ln>
            <a:solidFill>
              <a:schemeClr val="accent4">
                <a:lumMod val="20000"/>
                <a:lumOff val="80000"/>
              </a:schemeClr>
            </a:solidFill>
          </a:ln>
        </p:spPr>
        <p:txBody>
          <a:bodyPr wrap="square">
            <a:noAutofit/>
          </a:bodyPr>
          <a:lstStyle/>
          <a:p>
            <a:pPr marL="0" marR="0">
              <a:lnSpc>
                <a:spcPct val="150000"/>
              </a:lnSpc>
              <a:spcAft>
                <a:spcPts val="800"/>
              </a:spcAft>
            </a:pPr>
            <a:r>
              <a:rPr lang="en-US" sz="1200" b="1" kern="100" dirty="0">
                <a:effectLst/>
                <a:latin typeface="Bahnschrift" panose="020B0502040204020203" pitchFamily="34" charset="0"/>
                <a:ea typeface="Aptos" panose="020B0004020202020204" pitchFamily="34" charset="0"/>
                <a:cs typeface="Times New Roman" panose="02020603050405020304" pitchFamily="18" charset="0"/>
              </a:rPr>
              <a:t>Nominal Exchange Rates (NER):</a:t>
            </a:r>
          </a:p>
          <a:p>
            <a:pPr marL="171450" marR="0" indent="-171450">
              <a:lnSpc>
                <a:spcPct val="150000"/>
              </a:lnSpc>
              <a:spcAft>
                <a:spcPts val="800"/>
              </a:spcAft>
              <a:buFont typeface="Wingdings" panose="05000000000000000000" pitchFamily="2" charset="2"/>
              <a:buChar char="§"/>
            </a:pPr>
            <a:r>
              <a:rPr lang="en-US" sz="1200" b="1" kern="100" dirty="0">
                <a:latin typeface="Bahnschrift Light" panose="020B0502040204020203" pitchFamily="34" charset="0"/>
                <a:cs typeface="Times New Roman" panose="02020603050405020304" pitchFamily="18" charset="0"/>
              </a:rPr>
              <a:t>Faster depreciation</a:t>
            </a:r>
            <a:r>
              <a:rPr lang="en-US" sz="1200" kern="100" dirty="0">
                <a:latin typeface="Bahnschrift Light" panose="020B0502040204020203" pitchFamily="34" charset="0"/>
                <a:cs typeface="Times New Roman" panose="02020603050405020304" pitchFamily="18" charset="0"/>
              </a:rPr>
              <a:t>: during inflationary episode of 2022-23 </a:t>
            </a:r>
          </a:p>
          <a:p>
            <a:pPr marL="628650" lvl="1" indent="-171450">
              <a:lnSpc>
                <a:spcPct val="15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ER depreciation was influenced by tight monetary policy and higher ER target </a:t>
            </a:r>
          </a:p>
          <a:p>
            <a:pPr marL="171450" marR="0" indent="-171450">
              <a:lnSpc>
                <a:spcPct val="150000"/>
              </a:lnSpc>
              <a:spcAft>
                <a:spcPts val="800"/>
              </a:spcAft>
              <a:buFont typeface="Wingdings" panose="05000000000000000000" pitchFamily="2" charset="2"/>
              <a:buChar char="§"/>
            </a:pPr>
            <a:r>
              <a:rPr lang="en-US" sz="1200" b="1" kern="100" dirty="0">
                <a:latin typeface="Bahnschrift Light" panose="020B0502040204020203" pitchFamily="34" charset="0"/>
                <a:cs typeface="Times New Roman" panose="02020603050405020304" pitchFamily="18" charset="0"/>
              </a:rPr>
              <a:t>Faster appreciation</a:t>
            </a:r>
            <a:r>
              <a:rPr lang="en-US" sz="1200" kern="100" dirty="0">
                <a:latin typeface="Bahnschrift Light" panose="020B0502040204020203" pitchFamily="34" charset="0"/>
                <a:cs typeface="Times New Roman" panose="02020603050405020304" pitchFamily="18" charset="0"/>
              </a:rPr>
              <a:t>:  sharp ER policy correction in 2023-24 until end 2025</a:t>
            </a:r>
          </a:p>
          <a:p>
            <a:pPr marL="628650" lvl="1" indent="-171450">
              <a:lnSpc>
                <a:spcPct val="150000"/>
              </a:lnSpc>
              <a:spcAft>
                <a:spcPts val="800"/>
              </a:spcAft>
              <a:buFont typeface="Wingdings" panose="05000000000000000000" pitchFamily="2" charset="2"/>
              <a:buChar char="§"/>
            </a:pPr>
            <a:r>
              <a:rPr lang="en-US" sz="1200" kern="100" dirty="0">
                <a:latin typeface="Bahnschrift Light" panose="020B0502040204020203" pitchFamily="34" charset="0"/>
                <a:cs typeface="Times New Roman" panose="02020603050405020304" pitchFamily="18" charset="0"/>
              </a:rPr>
              <a:t>ER policy correction : monetary policy adjustment (i.e., ER target adjustment) </a:t>
            </a:r>
          </a:p>
        </p:txBody>
      </p:sp>
      <p:pic>
        <p:nvPicPr>
          <p:cNvPr id="12" name="Picture 11">
            <a:extLst>
              <a:ext uri="{FF2B5EF4-FFF2-40B4-BE49-F238E27FC236}">
                <a16:creationId xmlns:a16="http://schemas.microsoft.com/office/drawing/2014/main" id="{2D9D69CF-BE40-3B72-8E3A-A16EF5D22CBB}"/>
              </a:ext>
            </a:extLst>
          </p:cNvPr>
          <p:cNvPicPr>
            <a:picLocks noChangeAspect="1"/>
          </p:cNvPicPr>
          <p:nvPr/>
        </p:nvPicPr>
        <p:blipFill>
          <a:blip r:embed="rId3"/>
          <a:stretch>
            <a:fillRect/>
          </a:stretch>
        </p:blipFill>
        <p:spPr>
          <a:xfrm>
            <a:off x="7848600" y="1287899"/>
            <a:ext cx="3657600" cy="2549656"/>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2050810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549400" y="190753"/>
            <a:ext cx="10439400" cy="598114"/>
          </a:xfrm>
        </p:spPr>
        <p:txBody>
          <a:bodyPr/>
          <a:lstStyle/>
          <a:p>
            <a:r>
              <a:rPr lang="en-GB" sz="2400" b="1" dirty="0">
                <a:solidFill>
                  <a:schemeClr val="accent4"/>
                </a:solidFill>
                <a:latin typeface="Bahnschrift" panose="020B0502040204020203" pitchFamily="34" charset="0"/>
              </a:rPr>
              <a:t>Fiscal policy: Budget deficit and components</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19</a:t>
            </a:fld>
            <a:endParaRPr lang="en-US" dirty="0"/>
          </a:p>
        </p:txBody>
      </p:sp>
      <p:sp>
        <p:nvSpPr>
          <p:cNvPr id="10" name="Content Placeholder 2">
            <a:extLst>
              <a:ext uri="{FF2B5EF4-FFF2-40B4-BE49-F238E27FC236}">
                <a16:creationId xmlns:a16="http://schemas.microsoft.com/office/drawing/2014/main" id="{01FBA286-B9C2-0395-5CDE-596191958C6F}"/>
              </a:ext>
            </a:extLst>
          </p:cNvPr>
          <p:cNvSpPr txBox="1">
            <a:spLocks/>
          </p:cNvSpPr>
          <p:nvPr/>
        </p:nvSpPr>
        <p:spPr>
          <a:xfrm>
            <a:off x="152400" y="1422643"/>
            <a:ext cx="8132133" cy="2656738"/>
          </a:xfrm>
          <a:prstGeom prst="rect">
            <a:avLst/>
          </a:prstGeom>
          <a:ln>
            <a:solidFill>
              <a:schemeClr val="accent4">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lvl="1" indent="0">
              <a:spcBef>
                <a:spcPct val="0"/>
              </a:spcBef>
              <a:spcAft>
                <a:spcPts val="800"/>
              </a:spcAft>
              <a:buNone/>
            </a:pPr>
            <a:r>
              <a:rPr lang="en-US" sz="1100" b="1" kern="100" dirty="0">
                <a:solidFill>
                  <a:schemeClr val="tx1"/>
                </a:solidFill>
                <a:latin typeface="Bahnschrift Light" panose="020B0502040204020203" pitchFamily="34" charset="0"/>
                <a:cs typeface="Times New Roman" panose="02020603050405020304" pitchFamily="18" charset="0"/>
              </a:rPr>
              <a:t>Budget deficit (excl. grants, %GDP): </a:t>
            </a:r>
            <a:r>
              <a:rPr lang="en-GB" sz="1100" kern="100" dirty="0">
                <a:solidFill>
                  <a:schemeClr val="tx1"/>
                </a:solidFill>
                <a:latin typeface="Bahnschrift Light" panose="020B0502040204020203" pitchFamily="34" charset="0"/>
                <a:cs typeface="Times New Roman" panose="02020603050405020304" pitchFamily="18" charset="0"/>
              </a:rPr>
              <a:t>Reintroduction of post-COVID contractionary/consolidation fiscal policy in 2024-28 (</a:t>
            </a:r>
            <a:r>
              <a:rPr lang="en-US" sz="1100" kern="100" dirty="0">
                <a:solidFill>
                  <a:schemeClr val="tx1"/>
                </a:solidFill>
                <a:latin typeface="Bahnschrift Light" panose="020B0502040204020203" pitchFamily="34" charset="0"/>
                <a:cs typeface="Times New Roman" panose="02020603050405020304" pitchFamily="18" charset="0"/>
              </a:rPr>
              <a:t>above structural level during 2023-early 2024 before falling below structural level in 2024-28)</a:t>
            </a:r>
          </a:p>
          <a:p>
            <a:pPr marL="171450" lvl="1" indent="-171450">
              <a:spcBef>
                <a:spcPct val="0"/>
              </a:spcBef>
              <a:spcAft>
                <a:spcPts val="800"/>
              </a:spcAft>
              <a:buFont typeface="Wingdings" panose="05000000000000000000" pitchFamily="2" charset="2"/>
              <a:buChar char="§"/>
            </a:pPr>
            <a:r>
              <a:rPr lang="en-US" sz="1100" kern="100" dirty="0">
                <a:solidFill>
                  <a:schemeClr val="tx1"/>
                </a:solidFill>
                <a:latin typeface="Bahnschrift Light" panose="020B0502040204020203" pitchFamily="34" charset="0"/>
                <a:cs typeface="Times New Roman" panose="02020603050405020304" pitchFamily="18" charset="0"/>
              </a:rPr>
              <a:t>A cut in Govt. recurrent (G&amp;) and some capital spending below structural spending level</a:t>
            </a:r>
          </a:p>
          <a:p>
            <a:pPr marL="171450" lvl="1" indent="-171450">
              <a:spcBef>
                <a:spcPct val="0"/>
              </a:spcBef>
              <a:spcAft>
                <a:spcPts val="800"/>
              </a:spcAft>
              <a:buFont typeface="Wingdings" panose="05000000000000000000" pitchFamily="2" charset="2"/>
              <a:buChar char="§"/>
            </a:pPr>
            <a:r>
              <a:rPr lang="en-US" sz="1100" kern="100" dirty="0">
                <a:solidFill>
                  <a:schemeClr val="tx1"/>
                </a:solidFill>
                <a:latin typeface="Bahnschrift Light" panose="020B0502040204020203" pitchFamily="34" charset="0"/>
                <a:cs typeface="Times New Roman" panose="02020603050405020304" pitchFamily="18" charset="0"/>
              </a:rPr>
              <a:t>A temporal cut in other expenditures below trend level followed by a reintroduction of key spending (i.e., subsides, transfers and policy lending) post 2024.</a:t>
            </a:r>
            <a:endParaRPr lang="en-GB" sz="1100" kern="100" dirty="0">
              <a:solidFill>
                <a:schemeClr val="tx1"/>
              </a:solidFill>
              <a:latin typeface="Bahnschrift Light" panose="020B0502040204020203" pitchFamily="34" charset="0"/>
              <a:cs typeface="Times New Roman" panose="02020603050405020304" pitchFamily="18" charset="0"/>
            </a:endParaRPr>
          </a:p>
          <a:p>
            <a:pPr marL="0" lvl="1" indent="0">
              <a:spcBef>
                <a:spcPct val="0"/>
              </a:spcBef>
              <a:spcAft>
                <a:spcPts val="800"/>
              </a:spcAft>
              <a:buNone/>
            </a:pPr>
            <a:r>
              <a:rPr lang="en-GB" sz="1100" b="1" kern="100" dirty="0">
                <a:solidFill>
                  <a:schemeClr val="tx1"/>
                </a:solidFill>
                <a:latin typeface="Bahnschrift Light" panose="020B0502040204020203" pitchFamily="34" charset="0"/>
                <a:cs typeface="Times New Roman" panose="02020603050405020304" pitchFamily="18" charset="0"/>
              </a:rPr>
              <a:t>From late 2026 to 2028</a:t>
            </a:r>
            <a:r>
              <a:rPr lang="en-GB" sz="1100" kern="100" dirty="0">
                <a:solidFill>
                  <a:schemeClr val="tx1"/>
                </a:solidFill>
                <a:latin typeface="Bahnschrift Light" panose="020B0502040204020203" pitchFamily="34" charset="0"/>
                <a:cs typeface="Times New Roman" panose="02020603050405020304" pitchFamily="18" charset="0"/>
              </a:rPr>
              <a:t>, consolidation eases as deficit (increase in Govt. demand) moves back up toward a sustainable path</a:t>
            </a:r>
            <a:r>
              <a:rPr lang="en-US" sz="1100" kern="100" dirty="0">
                <a:solidFill>
                  <a:schemeClr val="tx1"/>
                </a:solidFill>
                <a:latin typeface="Bahnschrift Light" panose="020B0502040204020203" pitchFamily="34" charset="0"/>
                <a:cs typeface="Times New Roman" panose="02020603050405020304" pitchFamily="18" charset="0"/>
              </a:rPr>
              <a:t> (</a:t>
            </a:r>
            <a:r>
              <a:rPr lang="en-GB" sz="1100" kern="100" dirty="0">
                <a:solidFill>
                  <a:schemeClr val="tx1"/>
                </a:solidFill>
                <a:latin typeface="Bahnschrift Light" panose="020B0502040204020203" pitchFamily="34" charset="0"/>
                <a:cs typeface="Times New Roman" panose="02020603050405020304" pitchFamily="18" charset="0"/>
              </a:rPr>
              <a:t>beyond IMF PCI sustainable deficit and ratios) </a:t>
            </a:r>
          </a:p>
          <a:p>
            <a:pPr marL="560387" lvl="2" indent="-285750">
              <a:spcBef>
                <a:spcPct val="0"/>
              </a:spcBef>
              <a:spcAft>
                <a:spcPts val="800"/>
              </a:spcAft>
              <a:buFont typeface="Wingdings" panose="05000000000000000000" pitchFamily="2" charset="2"/>
              <a:buChar char="§"/>
            </a:pPr>
            <a:r>
              <a:rPr lang="en-GB" sz="1400" kern="100" dirty="0">
                <a:solidFill>
                  <a:schemeClr val="tx1"/>
                </a:solidFill>
                <a:latin typeface="Bahnschrift Light" panose="020B0502040204020203" pitchFamily="34" charset="0"/>
                <a:cs typeface="Times New Roman" panose="02020603050405020304" pitchFamily="18" charset="0"/>
              </a:rPr>
              <a:t> </a:t>
            </a:r>
            <a:r>
              <a:rPr lang="en-GB" sz="1000" b="1" kern="100" dirty="0">
                <a:solidFill>
                  <a:schemeClr val="tx1"/>
                </a:solidFill>
                <a:latin typeface="Bahnschrift Light" panose="020B0502040204020203" pitchFamily="34" charset="0"/>
                <a:cs typeface="Times New Roman" panose="02020603050405020304" pitchFamily="18" charset="0"/>
              </a:rPr>
              <a:t>Ratios</a:t>
            </a:r>
            <a:r>
              <a:rPr lang="en-GB" sz="1400" b="1" kern="100" dirty="0">
                <a:solidFill>
                  <a:schemeClr val="tx1"/>
                </a:solidFill>
                <a:latin typeface="Bahnschrift Light" panose="020B0502040204020203" pitchFamily="34" charset="0"/>
                <a:cs typeface="Times New Roman" panose="02020603050405020304" pitchFamily="18" charset="0"/>
              </a:rPr>
              <a:t>: </a:t>
            </a:r>
            <a:r>
              <a:rPr lang="en-GB" sz="1100" kern="100" dirty="0">
                <a:latin typeface="Bahnschrift Light" panose="020B0502040204020203" pitchFamily="34" charset="0"/>
                <a:cs typeface="Times New Roman" panose="02020603050405020304" pitchFamily="18" charset="0"/>
              </a:rPr>
              <a:t>R</a:t>
            </a:r>
            <a:r>
              <a:rPr lang="en-GB" sz="1100" kern="100" dirty="0">
                <a:solidFill>
                  <a:schemeClr val="tx1"/>
                </a:solidFill>
                <a:latin typeface="Bahnschrift Light" panose="020B0502040204020203" pitchFamily="34" charset="0"/>
                <a:cs typeface="Times New Roman" panose="02020603050405020304" pitchFamily="18" charset="0"/>
              </a:rPr>
              <a:t>evenue of 24%, Govt. demand G&amp;S of  26%, other expenditure of 5.5%, grants 2.5% and debt-creating deficit 5% of GDP (consistent with 45% NPV public debt)</a:t>
            </a:r>
            <a:endParaRPr lang="en-US" sz="1100" kern="100" dirty="0">
              <a:latin typeface="Bahnschrift Light" panose="020B0502040204020203" pitchFamily="34" charset="0"/>
              <a:cs typeface="Times New Roman" panose="02020603050405020304" pitchFamily="18" charset="0"/>
            </a:endParaRPr>
          </a:p>
          <a:p>
            <a:pPr marL="560387" lvl="2" indent="-285750">
              <a:spcBef>
                <a:spcPct val="0"/>
              </a:spcBef>
              <a:spcAft>
                <a:spcPts val="800"/>
              </a:spcAft>
              <a:buFont typeface="Wingdings" panose="05000000000000000000" pitchFamily="2" charset="2"/>
              <a:buChar char="§"/>
            </a:pPr>
            <a:r>
              <a:rPr lang="en-GB" sz="1100" kern="100" dirty="0">
                <a:latin typeface="Bahnschrift Light" panose="020B0502040204020203" pitchFamily="34" charset="0"/>
                <a:cs typeface="Times New Roman" panose="02020603050405020304" pitchFamily="18" charset="0"/>
              </a:rPr>
              <a:t>A</a:t>
            </a:r>
            <a:r>
              <a:rPr lang="en-GB" sz="1100" kern="100" dirty="0">
                <a:solidFill>
                  <a:schemeClr val="tx1"/>
                </a:solidFill>
                <a:latin typeface="Bahnschrift Light" panose="020B0502040204020203" pitchFamily="34" charset="0"/>
                <a:cs typeface="Times New Roman" panose="02020603050405020304" pitchFamily="18" charset="0"/>
              </a:rPr>
              <a:t>s revenue is slow to rise, debt-creating deficits are for a few years above sustainable, at 7%.</a:t>
            </a:r>
          </a:p>
          <a:p>
            <a:pPr marL="560387" lvl="2" indent="-285750">
              <a:spcBef>
                <a:spcPct val="0"/>
              </a:spcBef>
              <a:spcAft>
                <a:spcPts val="800"/>
              </a:spcAft>
              <a:buFont typeface="Wingdings" panose="05000000000000000000" pitchFamily="2" charset="2"/>
              <a:buChar char="§"/>
            </a:pPr>
            <a:r>
              <a:rPr lang="en-US" sz="1100" dirty="0">
                <a:latin typeface="Bahnschrift Light" panose="020B0502040204020203" pitchFamily="34" charset="0"/>
              </a:rPr>
              <a:t>Fiscal consolidation fading thereafter (returning to structural level) after 2026</a:t>
            </a:r>
          </a:p>
          <a:p>
            <a:pPr marL="560387" lvl="2" indent="-285750">
              <a:spcBef>
                <a:spcPct val="0"/>
              </a:spcBef>
              <a:spcAft>
                <a:spcPts val="800"/>
              </a:spcAft>
              <a:buFont typeface="Wingdings" panose="05000000000000000000" pitchFamily="2" charset="2"/>
              <a:buChar char="§"/>
            </a:pPr>
            <a:endParaRPr lang="en-RW" sz="1200" kern="100" dirty="0">
              <a:solidFill>
                <a:schemeClr val="tx1"/>
              </a:solidFill>
              <a:latin typeface="Bahnschrift Light" panose="020B0502040204020203" pitchFamily="34"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728DCE5C-B184-5784-80FB-8F6265A85C30}"/>
              </a:ext>
            </a:extLst>
          </p:cNvPr>
          <p:cNvSpPr txBox="1">
            <a:spLocks/>
          </p:cNvSpPr>
          <p:nvPr/>
        </p:nvSpPr>
        <p:spPr>
          <a:xfrm>
            <a:off x="152400" y="1138294"/>
            <a:ext cx="11836400" cy="290899"/>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100" i="1" dirty="0">
                <a:solidFill>
                  <a:schemeClr val="accent4">
                    <a:lumMod val="50000"/>
                  </a:schemeClr>
                </a:solidFill>
                <a:latin typeface="Bahnschrift" panose="020B0502040204020203" pitchFamily="34" charset="0"/>
              </a:rPr>
              <a:t>Budget deficit (spending—Govt. demand &amp; other expenditures and revenue) composed into structural, discretional and cyclical deficit to breakdown its effect on final demand</a:t>
            </a:r>
          </a:p>
        </p:txBody>
      </p:sp>
      <p:sp>
        <p:nvSpPr>
          <p:cNvPr id="13" name="TextBox 12">
            <a:extLst>
              <a:ext uri="{FF2B5EF4-FFF2-40B4-BE49-F238E27FC236}">
                <a16:creationId xmlns:a16="http://schemas.microsoft.com/office/drawing/2014/main" id="{2C2C7DB9-E208-7CB6-789B-0E2128FD09A6}"/>
              </a:ext>
            </a:extLst>
          </p:cNvPr>
          <p:cNvSpPr txBox="1"/>
          <p:nvPr/>
        </p:nvSpPr>
        <p:spPr>
          <a:xfrm>
            <a:off x="152400" y="4148444"/>
            <a:ext cx="4919133" cy="2154116"/>
          </a:xfrm>
          <a:prstGeom prst="rect">
            <a:avLst/>
          </a:prstGeom>
          <a:noFill/>
          <a:ln>
            <a:solidFill>
              <a:schemeClr val="accent4">
                <a:lumMod val="20000"/>
                <a:lumOff val="80000"/>
              </a:schemeClr>
            </a:solidFill>
          </a:ln>
        </p:spPr>
        <p:txBody>
          <a:bodyPr wrap="square" rtlCol="0">
            <a:spAutoFit/>
          </a:bodyPr>
          <a:lstStyle/>
          <a:p>
            <a:pPr marL="171450" indent="-171450">
              <a:lnSpc>
                <a:spcPct val="150000"/>
              </a:lnSpc>
              <a:buFont typeface="Wingdings" panose="05000000000000000000" pitchFamily="2" charset="2"/>
              <a:buChar char="§"/>
            </a:pPr>
            <a:r>
              <a:rPr lang="en-US" sz="1000" b="1" dirty="0">
                <a:latin typeface="Bahnschrift Light" panose="020B0502040204020203" pitchFamily="34" charset="0"/>
              </a:rPr>
              <a:t>Govt. demand of G&amp;S (% of GDP) </a:t>
            </a:r>
            <a:r>
              <a:rPr lang="en-US" sz="1000" dirty="0">
                <a:latin typeface="Bahnschrift Light" panose="020B0502040204020203" pitchFamily="34" charset="0"/>
              </a:rPr>
              <a:t>switches from above to below its structural spending level (24.8% of GDP) for 2024-28 as </a:t>
            </a:r>
            <a:r>
              <a:rPr lang="en-US" sz="1000" b="1" dirty="0">
                <a:latin typeface="Bahnschrift Light" panose="020B0502040204020203" pitchFamily="34" charset="0"/>
              </a:rPr>
              <a:t>other key expenditures </a:t>
            </a:r>
            <a:r>
              <a:rPr lang="en-US" sz="1000" dirty="0">
                <a:latin typeface="Bahnschrift Light" panose="020B0502040204020203" pitchFamily="34" charset="0"/>
              </a:rPr>
              <a:t>(subsides, transfers and policy lending) maintained for economic growth.</a:t>
            </a:r>
          </a:p>
          <a:p>
            <a:pPr marL="171450" indent="-171450">
              <a:lnSpc>
                <a:spcPct val="150000"/>
              </a:lnSpc>
              <a:buFont typeface="Wingdings" panose="05000000000000000000" pitchFamily="2" charset="2"/>
              <a:buChar char="§"/>
            </a:pPr>
            <a:r>
              <a:rPr lang="en-US" sz="1000" b="1" dirty="0">
                <a:latin typeface="Bahnschrift Light" panose="020B0502040204020203" pitchFamily="34" charset="0"/>
              </a:rPr>
              <a:t>Other Govt. expenditures(% of GDP) </a:t>
            </a:r>
            <a:r>
              <a:rPr lang="en-US" sz="1000" dirty="0">
                <a:latin typeface="Bahnschrift Light" panose="020B0502040204020203" pitchFamily="34" charset="0"/>
              </a:rPr>
              <a:t>temporary cut below structural spending level (5% of GDP) in 2024 before reintroduced back level in 2025-28</a:t>
            </a:r>
          </a:p>
          <a:p>
            <a:pPr marL="171450" indent="-171450">
              <a:lnSpc>
                <a:spcPct val="150000"/>
              </a:lnSpc>
              <a:buFont typeface="Wingdings" panose="05000000000000000000" pitchFamily="2" charset="2"/>
              <a:buChar char="§"/>
            </a:pPr>
            <a:r>
              <a:rPr lang="en-US" sz="1000" dirty="0">
                <a:latin typeface="Bahnschrift Light" panose="020B0502040204020203" pitchFamily="34" charset="0"/>
              </a:rPr>
              <a:t>Contractionary/consolidation policy of 2024-28 is mainly implemented though a sharp reduction in government demand </a:t>
            </a:r>
            <a:r>
              <a:rPr lang="en-US" sz="1000" i="1" dirty="0">
                <a:latin typeface="Bahnschrift Light" panose="020B0502040204020203" pitchFamily="34" charset="0"/>
              </a:rPr>
              <a:t>(recurrent expenditures, wages&amp; salaries, staff missions and consumption of G&amp;S)</a:t>
            </a:r>
          </a:p>
          <a:p>
            <a:pPr marL="171450" indent="-171450">
              <a:lnSpc>
                <a:spcPct val="150000"/>
              </a:lnSpc>
              <a:buFont typeface="Wingdings" panose="05000000000000000000" pitchFamily="2" charset="2"/>
              <a:buChar char="§"/>
            </a:pPr>
            <a:endParaRPr lang="en-US" sz="1050" i="1" dirty="0">
              <a:latin typeface="Bahnschrift Light" panose="020B0502040204020203" pitchFamily="34" charset="0"/>
            </a:endParaRPr>
          </a:p>
        </p:txBody>
      </p:sp>
      <p:pic>
        <p:nvPicPr>
          <p:cNvPr id="15" name="Picture 14">
            <a:extLst>
              <a:ext uri="{FF2B5EF4-FFF2-40B4-BE49-F238E27FC236}">
                <a16:creationId xmlns:a16="http://schemas.microsoft.com/office/drawing/2014/main" id="{6D8580F5-A203-7531-A30C-48AD0C075683}"/>
              </a:ext>
            </a:extLst>
          </p:cNvPr>
          <p:cNvPicPr>
            <a:picLocks noChangeAspect="1"/>
          </p:cNvPicPr>
          <p:nvPr/>
        </p:nvPicPr>
        <p:blipFill>
          <a:blip r:embed="rId3"/>
          <a:stretch>
            <a:fillRect/>
          </a:stretch>
        </p:blipFill>
        <p:spPr>
          <a:xfrm>
            <a:off x="8339666" y="1422643"/>
            <a:ext cx="3649133" cy="2656738"/>
          </a:xfrm>
          <a:prstGeom prst="rect">
            <a:avLst/>
          </a:prstGeom>
          <a:ln>
            <a:solidFill>
              <a:schemeClr val="accent4">
                <a:lumMod val="20000"/>
                <a:lumOff val="80000"/>
              </a:schemeClr>
            </a:solidFill>
          </a:ln>
        </p:spPr>
      </p:pic>
      <p:pic>
        <p:nvPicPr>
          <p:cNvPr id="21" name="Picture 20">
            <a:extLst>
              <a:ext uri="{FF2B5EF4-FFF2-40B4-BE49-F238E27FC236}">
                <a16:creationId xmlns:a16="http://schemas.microsoft.com/office/drawing/2014/main" id="{662BD24D-7C14-6F22-2BE4-7BFBAED99D51}"/>
              </a:ext>
            </a:extLst>
          </p:cNvPr>
          <p:cNvPicPr>
            <a:picLocks noChangeAspect="1"/>
          </p:cNvPicPr>
          <p:nvPr/>
        </p:nvPicPr>
        <p:blipFill>
          <a:blip r:embed="rId4"/>
          <a:stretch>
            <a:fillRect/>
          </a:stretch>
        </p:blipFill>
        <p:spPr>
          <a:xfrm>
            <a:off x="8762999" y="4148444"/>
            <a:ext cx="3255333" cy="2328557"/>
          </a:xfrm>
          <a:prstGeom prst="rect">
            <a:avLst/>
          </a:prstGeom>
          <a:ln>
            <a:solidFill>
              <a:schemeClr val="accent4">
                <a:lumMod val="20000"/>
                <a:lumOff val="80000"/>
              </a:schemeClr>
            </a:solidFill>
          </a:ln>
        </p:spPr>
      </p:pic>
      <p:pic>
        <p:nvPicPr>
          <p:cNvPr id="23" name="Picture 22">
            <a:extLst>
              <a:ext uri="{FF2B5EF4-FFF2-40B4-BE49-F238E27FC236}">
                <a16:creationId xmlns:a16="http://schemas.microsoft.com/office/drawing/2014/main" id="{CE2043F2-5A99-0CDE-2179-2D9F713B3DA5}"/>
              </a:ext>
            </a:extLst>
          </p:cNvPr>
          <p:cNvPicPr>
            <a:picLocks noChangeAspect="1"/>
          </p:cNvPicPr>
          <p:nvPr/>
        </p:nvPicPr>
        <p:blipFill>
          <a:blip r:embed="rId5"/>
          <a:stretch>
            <a:fillRect/>
          </a:stretch>
        </p:blipFill>
        <p:spPr>
          <a:xfrm>
            <a:off x="5181599" y="4148444"/>
            <a:ext cx="3505201" cy="2328557"/>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3617536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3A2E-363D-1D2D-E820-83FCF32AA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8AE88-1DDE-E633-6622-331867877A74}"/>
              </a:ext>
            </a:extLst>
          </p:cNvPr>
          <p:cNvSpPr>
            <a:spLocks noGrp="1"/>
          </p:cNvSpPr>
          <p:nvPr>
            <p:ph type="title"/>
          </p:nvPr>
        </p:nvSpPr>
        <p:spPr>
          <a:xfrm>
            <a:off x="1549400" y="190753"/>
            <a:ext cx="10333926" cy="598114"/>
          </a:xfrm>
        </p:spPr>
        <p:txBody>
          <a:bodyPr/>
          <a:lstStyle/>
          <a:p>
            <a:r>
              <a:rPr lang="en-GB" sz="2400" b="1" dirty="0">
                <a:solidFill>
                  <a:schemeClr val="accent4"/>
                </a:solidFill>
                <a:latin typeface="Bahnschrift" panose="020B0502040204020203" pitchFamily="34" charset="0"/>
              </a:rPr>
              <a:t>Fiscal policy: Effect on final demand</a:t>
            </a:r>
            <a:endParaRPr lang="en-AE" sz="2400" b="1" dirty="0">
              <a:solidFill>
                <a:schemeClr val="accent4"/>
              </a:solidFill>
              <a:latin typeface="Bahnschrift" panose="020B0502040204020203" pitchFamily="34" charset="0"/>
            </a:endParaRPr>
          </a:p>
        </p:txBody>
      </p:sp>
      <p:sp>
        <p:nvSpPr>
          <p:cNvPr id="3" name="Slide Number Placeholder 2">
            <a:extLst>
              <a:ext uri="{FF2B5EF4-FFF2-40B4-BE49-F238E27FC236}">
                <a16:creationId xmlns:a16="http://schemas.microsoft.com/office/drawing/2014/main" id="{B58EA807-898D-90E8-2F12-03F3205FA806}"/>
              </a:ext>
            </a:extLst>
          </p:cNvPr>
          <p:cNvSpPr>
            <a:spLocks noGrp="1"/>
          </p:cNvSpPr>
          <p:nvPr>
            <p:ph type="sldNum" sz="quarter" idx="10"/>
          </p:nvPr>
        </p:nvSpPr>
        <p:spPr/>
        <p:txBody>
          <a:bodyPr/>
          <a:lstStyle/>
          <a:p>
            <a:fld id="{D97AE203-F84D-4A7F-B161-8561326BE072}" type="slidenum">
              <a:rPr lang="en-US" smtClean="0"/>
              <a:pPr/>
              <a:t>20</a:t>
            </a:fld>
            <a:endParaRPr lang="en-US" dirty="0"/>
          </a:p>
        </p:txBody>
      </p:sp>
      <p:sp>
        <p:nvSpPr>
          <p:cNvPr id="5" name="TextBox 4">
            <a:extLst>
              <a:ext uri="{FF2B5EF4-FFF2-40B4-BE49-F238E27FC236}">
                <a16:creationId xmlns:a16="http://schemas.microsoft.com/office/drawing/2014/main" id="{63DB7A98-BD55-781F-F1E6-ECD79A1DCD85}"/>
              </a:ext>
            </a:extLst>
          </p:cNvPr>
          <p:cNvSpPr txBox="1"/>
          <p:nvPr/>
        </p:nvSpPr>
        <p:spPr>
          <a:xfrm>
            <a:off x="152400" y="1151513"/>
            <a:ext cx="11730926" cy="430887"/>
          </a:xfrm>
          <a:prstGeom prst="rect">
            <a:avLst/>
          </a:prstGeom>
          <a:noFill/>
        </p:spPr>
        <p:txBody>
          <a:bodyPr wrap="square">
            <a:spAutoFit/>
          </a:bodyPr>
          <a:lstStyle/>
          <a:p>
            <a:pPr indent="0" algn="just">
              <a:buNone/>
            </a:pPr>
            <a:r>
              <a:rPr lang="en-GB" sz="1100" b="1" dirty="0">
                <a:solidFill>
                  <a:srgbClr val="0070C0"/>
                </a:solidFill>
                <a:latin typeface="+mj-lt"/>
              </a:rPr>
              <a:t>Fiscal policy affects final demand (i.e., total output and private investment) through directly: Govt. demand of G&amp;S and indirectly: fiscal impulse created by policy other expenditures in the short run.</a:t>
            </a:r>
          </a:p>
        </p:txBody>
      </p:sp>
      <p:sp>
        <p:nvSpPr>
          <p:cNvPr id="4" name="Content Placeholder 2">
            <a:extLst>
              <a:ext uri="{FF2B5EF4-FFF2-40B4-BE49-F238E27FC236}">
                <a16:creationId xmlns:a16="http://schemas.microsoft.com/office/drawing/2014/main" id="{3405CCB6-3EAB-86B7-B9A0-996D215F8076}"/>
              </a:ext>
            </a:extLst>
          </p:cNvPr>
          <p:cNvSpPr txBox="1">
            <a:spLocks/>
          </p:cNvSpPr>
          <p:nvPr/>
        </p:nvSpPr>
        <p:spPr>
          <a:xfrm>
            <a:off x="308674" y="1260708"/>
            <a:ext cx="6092126" cy="750514"/>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
            </a:pPr>
            <a:endParaRPr lang="en-GB" sz="1600" dirty="0"/>
          </a:p>
        </p:txBody>
      </p:sp>
      <p:sp>
        <p:nvSpPr>
          <p:cNvPr id="13" name="TextBox 12">
            <a:extLst>
              <a:ext uri="{FF2B5EF4-FFF2-40B4-BE49-F238E27FC236}">
                <a16:creationId xmlns:a16="http://schemas.microsoft.com/office/drawing/2014/main" id="{DB203802-0949-98F8-C140-863EC1349BB6}"/>
              </a:ext>
            </a:extLst>
          </p:cNvPr>
          <p:cNvSpPr txBox="1"/>
          <p:nvPr/>
        </p:nvSpPr>
        <p:spPr>
          <a:xfrm>
            <a:off x="129640" y="1638075"/>
            <a:ext cx="7262478" cy="2755498"/>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1200" b="1" dirty="0">
                <a:latin typeface="Bahnschrift Light" panose="020B0502040204020203" pitchFamily="34" charset="0"/>
              </a:rPr>
              <a:t>Govt. demand of G&amp;S (direct effect) :</a:t>
            </a: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From 2024, govt demand % GDP switches from above to below its structural trend (Implies negative govt demand for 2023-25, fading thereafter)</a:t>
            </a:r>
            <a:endParaRPr lang="en-US" sz="1200" b="1" dirty="0">
              <a:latin typeface="Bahnschrift Light" panose="020B0502040204020203" pitchFamily="34" charset="0"/>
            </a:endParaRPr>
          </a:p>
          <a:p>
            <a:pPr marL="171450" indent="-171450">
              <a:lnSpc>
                <a:spcPct val="150000"/>
              </a:lnSpc>
              <a:buFont typeface="Wingdings" panose="05000000000000000000" pitchFamily="2" charset="2"/>
              <a:buChar char="§"/>
            </a:pPr>
            <a:r>
              <a:rPr lang="en-US" sz="1200" dirty="0">
                <a:latin typeface="Bahnschrift Light" panose="020B0502040204020203" pitchFamily="34" charset="0"/>
              </a:rPr>
              <a:t>Govt. demand below structural trend: induced total GDP growth through  lower final consumption of G&amp;S (i.e. Govt consumption of imported &amp; domestic goods and wages)</a:t>
            </a:r>
          </a:p>
          <a:p>
            <a:pPr marL="171450" indent="-171450">
              <a:lnSpc>
                <a:spcPct val="150000"/>
              </a:lnSpc>
              <a:buFont typeface="Wingdings" panose="05000000000000000000" pitchFamily="2" charset="2"/>
              <a:buChar char="§"/>
            </a:pPr>
            <a:r>
              <a:rPr lang="en-US" sz="1200" dirty="0">
                <a:solidFill>
                  <a:srgbClr val="C00000"/>
                </a:solidFill>
                <a:latin typeface="Bahnschrift Light" panose="020B0502040204020203" pitchFamily="34" charset="0"/>
              </a:rPr>
              <a:t>Contractionary/consolidation policy of a lower deficit induce negative effect on final demand</a:t>
            </a:r>
          </a:p>
          <a:p>
            <a:pPr marL="628650" lvl="1" indent="-171450">
              <a:lnSpc>
                <a:spcPct val="150000"/>
              </a:lnSpc>
              <a:buFont typeface="Wingdings" panose="05000000000000000000" pitchFamily="2" charset="2"/>
              <a:buChar char="§"/>
            </a:pPr>
            <a:r>
              <a:rPr lang="en-US" sz="1100" dirty="0">
                <a:solidFill>
                  <a:srgbClr val="C00000"/>
                </a:solidFill>
                <a:latin typeface="Bahnschrift Light" panose="020B0502040204020203" pitchFamily="34" charset="0"/>
              </a:rPr>
              <a:t> 1. lower consumption i.e., imports &amp; domestic goods &amp;services and wages) for 2023-25</a:t>
            </a:r>
          </a:p>
          <a:p>
            <a:pPr marL="628650" lvl="1" indent="-171450">
              <a:lnSpc>
                <a:spcPct val="150000"/>
              </a:lnSpc>
              <a:buFont typeface="Wingdings" panose="05000000000000000000" pitchFamily="2" charset="2"/>
              <a:buChar char="§"/>
            </a:pPr>
            <a:r>
              <a:rPr lang="en-US" sz="1100" dirty="0">
                <a:solidFill>
                  <a:srgbClr val="C00000"/>
                </a:solidFill>
                <a:latin typeface="Bahnschrift Light" panose="020B0502040204020203" pitchFamily="34" charset="0"/>
              </a:rPr>
              <a:t>2. Lower investment demand i.e., cut in Govt. capital spending in development activities</a:t>
            </a:r>
          </a:p>
          <a:p>
            <a:pPr marL="628650" lvl="1" indent="-171450">
              <a:lnSpc>
                <a:spcPct val="150000"/>
              </a:lnSpc>
              <a:buFont typeface="Wingdings" panose="05000000000000000000" pitchFamily="2" charset="2"/>
              <a:buChar char="§"/>
            </a:pPr>
            <a:r>
              <a:rPr lang="en-US" sz="1100" dirty="0">
                <a:solidFill>
                  <a:srgbClr val="C00000"/>
                </a:solidFill>
                <a:latin typeface="Bahnschrift Light" panose="020B0502040204020203" pitchFamily="34" charset="0"/>
              </a:rPr>
              <a:t>3. Spillover into reduced public-private partnerships hence lower private investment demand</a:t>
            </a:r>
          </a:p>
          <a:p>
            <a:pPr>
              <a:lnSpc>
                <a:spcPct val="150000"/>
              </a:lnSpc>
            </a:pPr>
            <a:endParaRPr lang="en-US" sz="1200" dirty="0">
              <a:latin typeface="Bahnschrift Light" panose="020B0502040204020203" pitchFamily="34" charset="0"/>
            </a:endParaRPr>
          </a:p>
        </p:txBody>
      </p:sp>
      <p:pic>
        <p:nvPicPr>
          <p:cNvPr id="7" name="Picture 6">
            <a:extLst>
              <a:ext uri="{FF2B5EF4-FFF2-40B4-BE49-F238E27FC236}">
                <a16:creationId xmlns:a16="http://schemas.microsoft.com/office/drawing/2014/main" id="{19BB792A-8E47-F2F6-608F-4284FF045278}"/>
              </a:ext>
            </a:extLst>
          </p:cNvPr>
          <p:cNvPicPr>
            <a:picLocks noChangeAspect="1"/>
          </p:cNvPicPr>
          <p:nvPr/>
        </p:nvPicPr>
        <p:blipFill>
          <a:blip r:embed="rId3"/>
          <a:stretch>
            <a:fillRect/>
          </a:stretch>
        </p:blipFill>
        <p:spPr>
          <a:xfrm>
            <a:off x="7480659" y="1635965"/>
            <a:ext cx="4419600" cy="2671644"/>
          </a:xfrm>
          <a:prstGeom prst="rect">
            <a:avLst/>
          </a:prstGeom>
          <a:ln>
            <a:solidFill>
              <a:schemeClr val="accent4">
                <a:lumMod val="20000"/>
                <a:lumOff val="80000"/>
              </a:schemeClr>
            </a:solidFill>
          </a:ln>
        </p:spPr>
      </p:pic>
      <p:pic>
        <p:nvPicPr>
          <p:cNvPr id="14" name="Picture 13">
            <a:extLst>
              <a:ext uri="{FF2B5EF4-FFF2-40B4-BE49-F238E27FC236}">
                <a16:creationId xmlns:a16="http://schemas.microsoft.com/office/drawing/2014/main" id="{005FCD40-F261-68B9-AAED-D36C9EC84A5C}"/>
              </a:ext>
            </a:extLst>
          </p:cNvPr>
          <p:cNvPicPr>
            <a:picLocks noChangeAspect="1"/>
          </p:cNvPicPr>
          <p:nvPr/>
        </p:nvPicPr>
        <p:blipFill>
          <a:blip r:embed="rId4"/>
          <a:stretch>
            <a:fillRect/>
          </a:stretch>
        </p:blipFill>
        <p:spPr>
          <a:xfrm>
            <a:off x="7480659" y="4419601"/>
            <a:ext cx="4402667" cy="2362200"/>
          </a:xfrm>
          <a:prstGeom prst="rect">
            <a:avLst/>
          </a:prstGeom>
          <a:ln>
            <a:solidFill>
              <a:schemeClr val="accent4">
                <a:lumMod val="20000"/>
                <a:lumOff val="80000"/>
              </a:schemeClr>
            </a:solidFill>
          </a:ln>
        </p:spPr>
      </p:pic>
      <p:sp>
        <p:nvSpPr>
          <p:cNvPr id="16" name="TextBox 15">
            <a:extLst>
              <a:ext uri="{FF2B5EF4-FFF2-40B4-BE49-F238E27FC236}">
                <a16:creationId xmlns:a16="http://schemas.microsoft.com/office/drawing/2014/main" id="{B4E1333C-3A83-53A3-20A1-53262D0F4599}"/>
              </a:ext>
            </a:extLst>
          </p:cNvPr>
          <p:cNvSpPr txBox="1"/>
          <p:nvPr/>
        </p:nvSpPr>
        <p:spPr>
          <a:xfrm>
            <a:off x="113142" y="4461917"/>
            <a:ext cx="7278975" cy="1993751"/>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1200" b="1" dirty="0">
                <a:latin typeface="Bahnschrift Light" panose="020B0502040204020203" pitchFamily="34" charset="0"/>
              </a:rPr>
              <a:t>Govt. other expenditures (indirect effect) : </a:t>
            </a:r>
            <a:r>
              <a:rPr lang="en-US" sz="1200" b="1" i="1" dirty="0">
                <a:latin typeface="Bahnschrift Light" panose="020B0502040204020203" pitchFamily="34" charset="0"/>
              </a:rPr>
              <a:t>Fiscal impulse </a:t>
            </a:r>
            <a:r>
              <a:rPr lang="en-US" sz="1200" b="1" dirty="0">
                <a:latin typeface="Bahnschrift Light" panose="020B0502040204020203" pitchFamily="34" charset="0"/>
              </a:rPr>
              <a:t>to final demand</a:t>
            </a:r>
          </a:p>
          <a:p>
            <a:pPr marL="171450" indent="-171450">
              <a:lnSpc>
                <a:spcPct val="150000"/>
              </a:lnSpc>
              <a:buFont typeface="Wingdings" panose="05000000000000000000" pitchFamily="2" charset="2"/>
              <a:buChar char="§"/>
            </a:pPr>
            <a:r>
              <a:rPr lang="en-US" sz="1200" b="1" dirty="0">
                <a:latin typeface="Bahnschrift Light" panose="020B0502040204020203" pitchFamily="34" charset="0"/>
              </a:rPr>
              <a:t>Other Govt. expenditures(% of GDP) </a:t>
            </a:r>
            <a:r>
              <a:rPr lang="en-US" sz="1200" dirty="0">
                <a:latin typeface="Bahnschrift Light" panose="020B0502040204020203" pitchFamily="34" charset="0"/>
              </a:rPr>
              <a:t>temporary cut below structural spending level (5% of GDP) in 2024 before reintroduced back to normal level in 2025-28</a:t>
            </a:r>
          </a:p>
          <a:p>
            <a:pPr marL="171450" indent="-171450">
              <a:lnSpc>
                <a:spcPct val="150000"/>
              </a:lnSpc>
              <a:buFont typeface="Wingdings" panose="05000000000000000000" pitchFamily="2" charset="2"/>
              <a:buChar char="§"/>
            </a:pPr>
            <a:r>
              <a:rPr lang="en-US" sz="1200" dirty="0">
                <a:solidFill>
                  <a:srgbClr val="FF0000"/>
                </a:solidFill>
                <a:latin typeface="Bahnschrift Light" panose="020B0502040204020203" pitchFamily="34" charset="0"/>
              </a:rPr>
              <a:t>Down pull and returning to trend level of final private investment demand is not influenced by fiscal  or any other explained factors rather, external factors and lagged effects (i.e., spillover effects of Govt demand)</a:t>
            </a:r>
          </a:p>
          <a:p>
            <a:pPr marL="171450" indent="-171450">
              <a:lnSpc>
                <a:spcPct val="150000"/>
              </a:lnSpc>
              <a:buFont typeface="Wingdings" panose="05000000000000000000" pitchFamily="2" charset="2"/>
              <a:buChar char="§"/>
            </a:pPr>
            <a:r>
              <a:rPr lang="en-US" sz="1200" dirty="0">
                <a:solidFill>
                  <a:srgbClr val="FF0000"/>
                </a:solidFill>
                <a:latin typeface="Bahnschrift Light" panose="020B0502040204020203" pitchFamily="34" charset="0"/>
              </a:rPr>
              <a:t>Movement in private investment is mostly driven by private consumption and exports </a:t>
            </a:r>
          </a:p>
        </p:txBody>
      </p:sp>
    </p:spTree>
    <p:extLst>
      <p:ext uri="{BB962C8B-B14F-4D97-AF65-F5344CB8AC3E}">
        <p14:creationId xmlns:p14="http://schemas.microsoft.com/office/powerpoint/2010/main" val="337893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29282-7046-C4D8-0D18-7B7D8433A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1E4B2-716E-3D87-F285-17B209CE8B46}"/>
              </a:ext>
            </a:extLst>
          </p:cNvPr>
          <p:cNvSpPr>
            <a:spLocks noGrp="1"/>
          </p:cNvSpPr>
          <p:nvPr>
            <p:ph type="title"/>
          </p:nvPr>
        </p:nvSpPr>
        <p:spPr>
          <a:xfrm>
            <a:off x="1676400" y="441325"/>
            <a:ext cx="8839200" cy="396874"/>
          </a:xfrm>
        </p:spPr>
        <p:txBody>
          <a:bodyPr/>
          <a:lstStyle/>
          <a:p>
            <a:pPr>
              <a:lnSpc>
                <a:spcPct val="150000"/>
              </a:lnSpc>
            </a:pPr>
            <a:r>
              <a:rPr lang="en-GB" b="1" dirty="0">
                <a:solidFill>
                  <a:schemeClr val="accent4">
                    <a:lumMod val="50000"/>
                  </a:schemeClr>
                </a:solidFill>
                <a:latin typeface="Bahnschrift" panose="020B0502040204020203" pitchFamily="34" charset="0"/>
                <a:cs typeface="+mn-cs"/>
              </a:rPr>
              <a:t>VIII. Policies guiding forecasts</a:t>
            </a:r>
          </a:p>
        </p:txBody>
      </p:sp>
      <p:sp>
        <p:nvSpPr>
          <p:cNvPr id="3" name="Slide Number Placeholder 2">
            <a:extLst>
              <a:ext uri="{FF2B5EF4-FFF2-40B4-BE49-F238E27FC236}">
                <a16:creationId xmlns:a16="http://schemas.microsoft.com/office/drawing/2014/main" id="{F575EB00-211B-0E7C-613E-8B4B3416D90E}"/>
              </a:ext>
            </a:extLst>
          </p:cNvPr>
          <p:cNvSpPr>
            <a:spLocks noGrp="1"/>
          </p:cNvSpPr>
          <p:nvPr>
            <p:ph type="sldNum" sz="quarter" idx="10"/>
          </p:nvPr>
        </p:nvSpPr>
        <p:spPr/>
        <p:txBody>
          <a:bodyPr/>
          <a:lstStyle/>
          <a:p>
            <a:fld id="{D97AE203-F84D-4A7F-B161-8561326BE072}" type="slidenum">
              <a:rPr lang="en-US" smtClean="0"/>
              <a:pPr/>
              <a:t>21</a:t>
            </a:fld>
            <a:endParaRPr lang="en-US" dirty="0"/>
          </a:p>
        </p:txBody>
      </p:sp>
      <p:sp>
        <p:nvSpPr>
          <p:cNvPr id="5" name="Content Placeholder 2">
            <a:extLst>
              <a:ext uri="{FF2B5EF4-FFF2-40B4-BE49-F238E27FC236}">
                <a16:creationId xmlns:a16="http://schemas.microsoft.com/office/drawing/2014/main" id="{2A66A508-DB28-B023-DC0E-D21FBF74CEDE}"/>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8" name="TextBox 7">
            <a:extLst>
              <a:ext uri="{FF2B5EF4-FFF2-40B4-BE49-F238E27FC236}">
                <a16:creationId xmlns:a16="http://schemas.microsoft.com/office/drawing/2014/main" id="{AB8F1E6C-DA97-4A9D-685D-B846CBEB5751}"/>
              </a:ext>
            </a:extLst>
          </p:cNvPr>
          <p:cNvSpPr txBox="1"/>
          <p:nvPr/>
        </p:nvSpPr>
        <p:spPr>
          <a:xfrm>
            <a:off x="304800" y="1219200"/>
            <a:ext cx="11849100" cy="4798750"/>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2800" b="1" kern="100" dirty="0">
                <a:solidFill>
                  <a:srgbClr val="0070C0"/>
                </a:solidFill>
                <a:latin typeface="Bahnschrift" panose="020B0502040204020203" pitchFamily="34" charset="0"/>
                <a:ea typeface="Aptos" panose="020B0004020202020204" pitchFamily="34" charset="0"/>
                <a:cs typeface="Times New Roman" panose="02020603050405020304" pitchFamily="18" charset="0"/>
              </a:rPr>
              <a:t>Real Output growth:</a:t>
            </a:r>
            <a:endParaRPr lang="en-US" sz="1800" b="1" kern="100" dirty="0">
              <a:solidFill>
                <a:srgbClr val="0070C0"/>
              </a:solidFill>
              <a:latin typeface="Bahnschrift" panose="020B0502040204020203" pitchFamily="34" charset="0"/>
              <a:ea typeface="Aptos" panose="020B0004020202020204" pitchFamily="34" charset="0"/>
              <a:cs typeface="Times New Roman" panose="02020603050405020304" pitchFamily="18" charset="0"/>
            </a:endParaRPr>
          </a:p>
          <a:p>
            <a:pPr>
              <a:lnSpc>
                <a:spcPct val="150000"/>
              </a:lnSpc>
            </a:pPr>
            <a:r>
              <a:rPr lang="en-US" sz="1800" b="1" kern="100" dirty="0">
                <a:solidFill>
                  <a:prstClr val="black"/>
                </a:solidFill>
                <a:latin typeface="Bahnschrift" panose="020B0502040204020203" pitchFamily="34" charset="0"/>
                <a:ea typeface="Aptos" panose="020B0004020202020204" pitchFamily="34" charset="0"/>
                <a:cs typeface="Times New Roman" panose="02020603050405020304" pitchFamily="18" charset="0"/>
              </a:rPr>
              <a:t>S</a:t>
            </a:r>
            <a:r>
              <a:rPr kumimoji="0" lang="en-US" sz="1800" b="1" i="0" u="none" strike="noStrike" kern="100" cap="none" spc="0" normalizeH="0" baseline="0" noProof="0" dirty="0">
                <a:ln>
                  <a:noFill/>
                </a:ln>
                <a:solidFill>
                  <a:prstClr val="black"/>
                </a:solidFill>
                <a:effectLst/>
                <a:uLnTx/>
                <a:uFillTx/>
                <a:latin typeface="Bahnschrift" panose="020B0502040204020203" pitchFamily="34" charset="0"/>
                <a:ea typeface="Aptos" panose="020B0004020202020204" pitchFamily="34" charset="0"/>
                <a:cs typeface="Times New Roman" panose="02020603050405020304" pitchFamily="18" charset="0"/>
              </a:rPr>
              <a:t>lowdown in 2025-26: </a:t>
            </a:r>
          </a:p>
          <a:p>
            <a:pPr marL="628650" lvl="1" indent="-171450">
              <a:lnSpc>
                <a:spcPct val="150000"/>
              </a:lnSpc>
              <a:buFont typeface="Wingdings" panose="05000000000000000000" pitchFamily="2" charset="2"/>
              <a:buChar char="§"/>
              <a:defRPr/>
            </a:pP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Fiscal policy: </a:t>
            </a: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contraction</a:t>
            </a: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 fiscal </a:t>
            </a: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policy—</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strong fiscal consolidation </a:t>
            </a:r>
            <a:r>
              <a:rPr lang="en-US" sz="1800" kern="100" dirty="0" err="1">
                <a:solidFill>
                  <a:prstClr val="black"/>
                </a:solidFill>
                <a:latin typeface="Bahnschrift Light" panose="020B0502040204020203" pitchFamily="34" charset="0"/>
                <a:ea typeface="Aptos" panose="020B0004020202020204" pitchFamily="34" charset="0"/>
                <a:cs typeface="Times New Roman" panose="02020603050405020304" pitchFamily="18" charset="0"/>
              </a:rPr>
              <a:t>i.e</a:t>
            </a:r>
            <a:r>
              <a:rPr lang="en-US" sz="1800"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 tight </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govt demand for G&amp;S falls, and negative fiscal impulse on private demand)</a:t>
            </a:r>
          </a:p>
          <a:p>
            <a:pPr marL="628650" lvl="1" indent="-171450">
              <a:lnSpc>
                <a:spcPct val="150000"/>
              </a:lnSpc>
              <a:buFont typeface="Wingdings" panose="05000000000000000000" pitchFamily="2" charset="2"/>
              <a:buChar char="§"/>
              <a:defRPr/>
            </a:pPr>
            <a:r>
              <a:rPr lang="en-US" sz="1800" b="1"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Monetary policy: T</a:t>
            </a:r>
            <a:r>
              <a:rPr lang="en-US" sz="1800" kern="100" dirty="0">
                <a:solidFill>
                  <a:prstClr val="black"/>
                </a:solidFill>
                <a:latin typeface="Bahnschrift Light" panose="020B0502040204020203" pitchFamily="34" charset="0"/>
                <a:ea typeface="Aptos" panose="020B0004020202020204" pitchFamily="34" charset="0"/>
                <a:cs typeface="Times New Roman" panose="02020603050405020304" pitchFamily="18" charset="0"/>
              </a:rPr>
              <a:t>ight Real Interests Rate contract demand</a:t>
            </a:r>
          </a:p>
          <a:p>
            <a:pPr marL="628650" lvl="1" indent="-171450">
              <a:lnSpc>
                <a:spcPct val="150000"/>
              </a:lnSpc>
              <a:buFont typeface="Wingdings" panose="05000000000000000000" pitchFamily="2" charset="2"/>
              <a:buChar char="§"/>
              <a:defRPr/>
            </a:pPr>
            <a:r>
              <a:rPr kumimoji="0" lang="en-US" sz="1800" b="1"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Exchange rate: </a:t>
            </a:r>
            <a:r>
              <a:rPr kumimoji="0" lang="en-US"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rPr>
              <a:t>further RER depreciation to negatively affect net exports.</a:t>
            </a:r>
            <a:endParaRPr lang="en-US" sz="1800" kern="100" noProof="0" dirty="0">
              <a:solidFill>
                <a:prstClr val="black"/>
              </a:solidFill>
              <a:latin typeface="Bahnschrift Light" panose="020B0502040204020203" pitchFamily="34" charset="0"/>
              <a:ea typeface="Aptos" panose="020B0004020202020204" pitchFamily="34" charset="0"/>
              <a:cs typeface="Times New Roman" panose="02020603050405020304" pitchFamily="18" charset="0"/>
            </a:endParaRPr>
          </a:p>
          <a:p>
            <a:pPr lvl="1">
              <a:lnSpc>
                <a:spcPct val="150000"/>
              </a:lnSpc>
              <a:defRPr/>
            </a:pPr>
            <a:endParaRPr kumimoji="0" lang="en-RW" sz="1800" b="0" i="0" u="none" strike="noStrike" kern="100" cap="none" spc="0" normalizeH="0" baseline="0" noProof="0" dirty="0">
              <a:ln>
                <a:noFill/>
              </a:ln>
              <a:solidFill>
                <a:prstClr val="black"/>
              </a:solidFill>
              <a:effectLst/>
              <a:uLnTx/>
              <a:uFillTx/>
              <a:latin typeface="Bahnschrift Light" panose="020B0502040204020203" pitchFamily="34" charset="0"/>
              <a:ea typeface="Aptos" panose="020B0004020202020204" pitchFamily="34" charset="0"/>
              <a:cs typeface="Times New Roman" panose="02020603050405020304" pitchFamily="18" charset="0"/>
            </a:endParaRPr>
          </a:p>
          <a:p>
            <a:pPr>
              <a:lnSpc>
                <a:spcPct val="150000"/>
              </a:lnSpc>
            </a:pPr>
            <a:r>
              <a:rPr lang="en-US" sz="1600" b="1" kern="100" dirty="0">
                <a:latin typeface="Bahnschrift" panose="020B0502040204020203" pitchFamily="34" charset="0"/>
                <a:ea typeface="Aptos" panose="020B0004020202020204" pitchFamily="34" charset="0"/>
                <a:cs typeface="Times New Roman" panose="02020603050405020304" pitchFamily="18" charset="0"/>
              </a:rPr>
              <a:t>C</a:t>
            </a:r>
            <a:r>
              <a:rPr lang="en-US" sz="1600" b="1" kern="100" dirty="0">
                <a:effectLst/>
                <a:latin typeface="Bahnschrift" panose="020B0502040204020203" pitchFamily="34" charset="0"/>
                <a:ea typeface="Aptos" panose="020B0004020202020204" pitchFamily="34" charset="0"/>
                <a:cs typeface="Times New Roman" panose="02020603050405020304" pitchFamily="18" charset="0"/>
              </a:rPr>
              <a:t>atch up in 2027-28: </a:t>
            </a:r>
          </a:p>
          <a:p>
            <a:pPr marL="628650" lvl="1" indent="-171450">
              <a:lnSpc>
                <a:spcPct val="150000"/>
              </a:lnSpc>
              <a:buFont typeface="Wingdings" panose="05000000000000000000" pitchFamily="2" charset="2"/>
              <a:buChar char="§"/>
            </a:pPr>
            <a:r>
              <a:rPr lang="en-US" sz="1800" b="1" kern="100" dirty="0">
                <a:effectLst/>
                <a:latin typeface="Bahnschrift Light" panose="020B0502040204020203" pitchFamily="34" charset="0"/>
                <a:ea typeface="Aptos" panose="020B0004020202020204" pitchFamily="34" charset="0"/>
                <a:cs typeface="Times New Roman" panose="02020603050405020304" pitchFamily="18" charset="0"/>
              </a:rPr>
              <a:t>Fiscal policy: </a:t>
            </a:r>
            <a:r>
              <a:rPr lang="en-US" sz="1800" b="1" kern="100" dirty="0">
                <a:latin typeface="Bahnschrift Light" panose="020B0502040204020203" pitchFamily="34" charset="0"/>
                <a:ea typeface="Aptos" panose="020B0004020202020204" pitchFamily="34" charset="0"/>
                <a:cs typeface="Times New Roman" panose="02020603050405020304" pitchFamily="18" charset="0"/>
              </a:rPr>
              <a:t>expansionary</a:t>
            </a:r>
            <a:r>
              <a:rPr lang="en-US" sz="1800" kern="100" dirty="0">
                <a:effectLst/>
                <a:latin typeface="Bahnschrift Light" panose="020B0502040204020203" pitchFamily="34" charset="0"/>
                <a:ea typeface="Aptos" panose="020B0004020202020204" pitchFamily="34" charset="0"/>
                <a:cs typeface="Times New Roman" panose="02020603050405020304" pitchFamily="18" charset="0"/>
              </a:rPr>
              <a:t> fiscal demand—end of fiscal consolidation (Govt demand pick up)</a:t>
            </a:r>
          </a:p>
          <a:p>
            <a:pPr marL="628650" lvl="1" indent="-171450">
              <a:lnSpc>
                <a:spcPct val="150000"/>
              </a:lnSpc>
              <a:buFont typeface="Wingdings" panose="05000000000000000000" pitchFamily="2" charset="2"/>
              <a:buChar char="§"/>
            </a:pPr>
            <a:r>
              <a:rPr lang="en-US" sz="1800" b="1" kern="100" dirty="0">
                <a:latin typeface="Bahnschrift Light" panose="020B0502040204020203" pitchFamily="34" charset="0"/>
                <a:ea typeface="Aptos" panose="020B0004020202020204" pitchFamily="34" charset="0"/>
                <a:cs typeface="Times New Roman" panose="02020603050405020304" pitchFamily="18" charset="0"/>
              </a:rPr>
              <a:t>Monetary policy: Expansionary Real Interest Rate </a:t>
            </a:r>
          </a:p>
          <a:p>
            <a:pPr marL="628650" lvl="1" indent="-171450">
              <a:lnSpc>
                <a:spcPct val="150000"/>
              </a:lnSpc>
              <a:buFont typeface="Wingdings" panose="05000000000000000000" pitchFamily="2" charset="2"/>
              <a:buChar char="§"/>
            </a:pPr>
            <a:r>
              <a:rPr lang="en-US" sz="1800" b="1" kern="100" dirty="0">
                <a:effectLst/>
                <a:latin typeface="Bahnschrift Light" panose="020B0502040204020203" pitchFamily="34" charset="0"/>
                <a:ea typeface="Aptos" panose="020B0004020202020204" pitchFamily="34" charset="0"/>
                <a:cs typeface="Times New Roman" panose="02020603050405020304" pitchFamily="18" charset="0"/>
              </a:rPr>
              <a:t>Exchange rate: </a:t>
            </a:r>
            <a:r>
              <a:rPr lang="en-US" sz="1800" kern="100" dirty="0">
                <a:effectLst/>
                <a:latin typeface="Bahnschrift Light" panose="020B0502040204020203" pitchFamily="34" charset="0"/>
                <a:ea typeface="Aptos" panose="020B0004020202020204" pitchFamily="34" charset="0"/>
                <a:cs typeface="Times New Roman" panose="02020603050405020304" pitchFamily="18" charset="0"/>
              </a:rPr>
              <a:t>Positive impact of more depreciated RER to exports</a:t>
            </a:r>
            <a:endParaRPr lang="en-US" sz="1800" b="1" kern="100" dirty="0">
              <a:effectLst/>
              <a:latin typeface="Bahnschrift"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30538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441324"/>
            <a:ext cx="8839200" cy="549275"/>
          </a:xfrm>
        </p:spPr>
        <p:txBody>
          <a:bodyPr/>
          <a:lstStyle/>
          <a:p>
            <a:pPr>
              <a:lnSpc>
                <a:spcPct val="150000"/>
              </a:lnSpc>
            </a:pPr>
            <a:r>
              <a:rPr lang="en-GB" b="1" dirty="0">
                <a:solidFill>
                  <a:schemeClr val="accent4">
                    <a:lumMod val="50000"/>
                  </a:schemeClr>
                </a:solidFill>
                <a:latin typeface="Bahnschrift" panose="020B0502040204020203" pitchFamily="34" charset="0"/>
                <a:cs typeface="+mn-cs"/>
              </a:rPr>
              <a:t>VII. Forecast evaluation (latest vs. new forecast)</a:t>
            </a: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22</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7" name="Title 1">
            <a:extLst>
              <a:ext uri="{FF2B5EF4-FFF2-40B4-BE49-F238E27FC236}">
                <a16:creationId xmlns:a16="http://schemas.microsoft.com/office/drawing/2014/main" id="{DC14A58F-5106-C8F6-D986-844BA0772EDF}"/>
              </a:ext>
            </a:extLst>
          </p:cNvPr>
          <p:cNvSpPr txBox="1">
            <a:spLocks/>
          </p:cNvSpPr>
          <p:nvPr/>
        </p:nvSpPr>
        <p:spPr>
          <a:xfrm>
            <a:off x="1143000" y="1182012"/>
            <a:ext cx="8610600" cy="396874"/>
          </a:xfrm>
          <a:prstGeom prst="rect">
            <a:avLst/>
          </a:prstGeom>
        </p:spPr>
        <p:txBody>
          <a:bodyPr anchor="b" anchorCtr="0"/>
          <a:lstStyle>
            <a:lvl1pPr algn="l" rtl="0" eaLnBrk="0" fontAlgn="base" hangingPunct="0">
              <a:spcBef>
                <a:spcPct val="0"/>
              </a:spcBef>
              <a:spcAft>
                <a:spcPct val="0"/>
              </a:spcAft>
              <a:defRPr sz="2800" kern="1200">
                <a:solidFill>
                  <a:schemeClr val="tx1"/>
                </a:solidFill>
                <a:latin typeface="+mn-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nSpc>
                <a:spcPct val="150000"/>
              </a:lnSpc>
            </a:pPr>
            <a:r>
              <a:rPr lang="en-GB" sz="2400" b="1" dirty="0">
                <a:solidFill>
                  <a:schemeClr val="accent4"/>
                </a:solidFill>
                <a:latin typeface="Bahnschrift" panose="020B0502040204020203" pitchFamily="34" charset="0"/>
              </a:rPr>
              <a:t>Main indicators</a:t>
            </a:r>
          </a:p>
        </p:txBody>
      </p:sp>
      <p:sp>
        <p:nvSpPr>
          <p:cNvPr id="8" name="TextBox 7">
            <a:extLst>
              <a:ext uri="{FF2B5EF4-FFF2-40B4-BE49-F238E27FC236}">
                <a16:creationId xmlns:a16="http://schemas.microsoft.com/office/drawing/2014/main" id="{3296A0F5-D0A6-542C-AF7D-0AC2B6E046F8}"/>
              </a:ext>
            </a:extLst>
          </p:cNvPr>
          <p:cNvSpPr txBox="1"/>
          <p:nvPr/>
        </p:nvSpPr>
        <p:spPr>
          <a:xfrm>
            <a:off x="7213600" y="1662450"/>
            <a:ext cx="4775200" cy="4940327"/>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1800" b="1" u="sng" dirty="0">
                <a:solidFill>
                  <a:schemeClr val="accent4">
                    <a:lumMod val="50000"/>
                  </a:schemeClr>
                </a:solidFill>
                <a:latin typeface="Bahnschrift Light" panose="020B0502040204020203" pitchFamily="34" charset="0"/>
              </a:rPr>
              <a:t>Nov 2024 vs. Nov 2023 forecast</a:t>
            </a:r>
          </a:p>
          <a:p>
            <a:pPr>
              <a:lnSpc>
                <a:spcPct val="150000"/>
              </a:lnSpc>
            </a:pPr>
            <a:r>
              <a:rPr lang="en-US" sz="1800" b="1" i="1" dirty="0">
                <a:latin typeface="Bahnschrift Light" panose="020B0502040204020203" pitchFamily="34" charset="0"/>
              </a:rPr>
              <a:t>Effect of new observed data/info</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More responsive policy and real interest rates on inflation (recalibrated reaction of IR on inflation)</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More overvalued Exchange Rate (ER)—A higher ER depreciation </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CPI turning to target and more accelerated post 2026</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A lower budget deficit—more consolidated fiscal policies</a:t>
            </a:r>
          </a:p>
          <a:p>
            <a:pPr marL="342900" indent="-342900">
              <a:lnSpc>
                <a:spcPct val="150000"/>
              </a:lnSpc>
              <a:buFont typeface="Wingdings" panose="05000000000000000000" pitchFamily="2" charset="2"/>
              <a:buChar char="§"/>
            </a:pPr>
            <a:r>
              <a:rPr lang="en-US" sz="1600" dirty="0">
                <a:latin typeface="Bahnschrift Light" panose="020B0502040204020203" pitchFamily="34" charset="0"/>
              </a:rPr>
              <a:t>Lower GDP growth due to tight monetary and fiscal policy</a:t>
            </a:r>
          </a:p>
        </p:txBody>
      </p:sp>
      <p:pic>
        <p:nvPicPr>
          <p:cNvPr id="6" name="Picture 5">
            <a:extLst>
              <a:ext uri="{FF2B5EF4-FFF2-40B4-BE49-F238E27FC236}">
                <a16:creationId xmlns:a16="http://schemas.microsoft.com/office/drawing/2014/main" id="{1CE16289-E9C3-BE91-811E-C43F342FE801}"/>
              </a:ext>
            </a:extLst>
          </p:cNvPr>
          <p:cNvPicPr>
            <a:picLocks noChangeAspect="1"/>
          </p:cNvPicPr>
          <p:nvPr/>
        </p:nvPicPr>
        <p:blipFill>
          <a:blip r:embed="rId3"/>
          <a:stretch>
            <a:fillRect/>
          </a:stretch>
        </p:blipFill>
        <p:spPr>
          <a:xfrm>
            <a:off x="304800" y="1722606"/>
            <a:ext cx="6832600" cy="4906794"/>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3220728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5DAA0-2284-87D1-F321-AC0FD09E3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0F8AA-B97D-DC41-1036-94BDAA51A751}"/>
              </a:ext>
            </a:extLst>
          </p:cNvPr>
          <p:cNvSpPr>
            <a:spLocks noGrp="1"/>
          </p:cNvSpPr>
          <p:nvPr>
            <p:ph type="title"/>
          </p:nvPr>
        </p:nvSpPr>
        <p:spPr>
          <a:xfrm>
            <a:off x="1676400" y="441325"/>
            <a:ext cx="8839200" cy="396874"/>
          </a:xfrm>
        </p:spPr>
        <p:txBody>
          <a:bodyPr/>
          <a:lstStyle/>
          <a:p>
            <a:pPr>
              <a:lnSpc>
                <a:spcPct val="150000"/>
              </a:lnSpc>
            </a:pPr>
            <a:r>
              <a:rPr lang="en-GB" b="1" dirty="0">
                <a:solidFill>
                  <a:schemeClr val="accent4">
                    <a:lumMod val="50000"/>
                  </a:schemeClr>
                </a:solidFill>
                <a:latin typeface="Bahnschrift" panose="020B0502040204020203" pitchFamily="34" charset="0"/>
                <a:cs typeface="+mn-cs"/>
              </a:rPr>
              <a:t>VIII. Model revision—Effect of recalibration</a:t>
            </a:r>
          </a:p>
        </p:txBody>
      </p:sp>
      <p:sp>
        <p:nvSpPr>
          <p:cNvPr id="3" name="Slide Number Placeholder 2">
            <a:extLst>
              <a:ext uri="{FF2B5EF4-FFF2-40B4-BE49-F238E27FC236}">
                <a16:creationId xmlns:a16="http://schemas.microsoft.com/office/drawing/2014/main" id="{F6FF2078-3EB9-C5F0-7970-143EF934F074}"/>
              </a:ext>
            </a:extLst>
          </p:cNvPr>
          <p:cNvSpPr>
            <a:spLocks noGrp="1"/>
          </p:cNvSpPr>
          <p:nvPr>
            <p:ph type="sldNum" sz="quarter" idx="10"/>
          </p:nvPr>
        </p:nvSpPr>
        <p:spPr/>
        <p:txBody>
          <a:bodyPr/>
          <a:lstStyle/>
          <a:p>
            <a:fld id="{D97AE203-F84D-4A7F-B161-8561326BE072}" type="slidenum">
              <a:rPr lang="en-US" smtClean="0"/>
              <a:pPr/>
              <a:t>23</a:t>
            </a:fld>
            <a:endParaRPr lang="en-US" dirty="0"/>
          </a:p>
        </p:txBody>
      </p:sp>
      <p:sp>
        <p:nvSpPr>
          <p:cNvPr id="5" name="Content Placeholder 2">
            <a:extLst>
              <a:ext uri="{FF2B5EF4-FFF2-40B4-BE49-F238E27FC236}">
                <a16:creationId xmlns:a16="http://schemas.microsoft.com/office/drawing/2014/main" id="{F4AF2C41-745B-2914-8149-03CBB7D6F627}"/>
              </a:ext>
            </a:extLst>
          </p:cNvPr>
          <p:cNvSpPr txBox="1">
            <a:spLocks/>
          </p:cNvSpPr>
          <p:nvPr/>
        </p:nvSpPr>
        <p:spPr>
          <a:xfrm>
            <a:off x="381000" y="1143000"/>
            <a:ext cx="11201400" cy="53340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spcAft>
                <a:spcPts val="600"/>
              </a:spcAft>
              <a:buFont typeface="Wingdings" panose="05000000000000000000" pitchFamily="2" charset="2"/>
              <a:buChar char="§"/>
            </a:pPr>
            <a:endParaRPr lang="en-GB" sz="1400" dirty="0"/>
          </a:p>
        </p:txBody>
      </p:sp>
      <p:sp>
        <p:nvSpPr>
          <p:cNvPr id="7" name="Title 1">
            <a:extLst>
              <a:ext uri="{FF2B5EF4-FFF2-40B4-BE49-F238E27FC236}">
                <a16:creationId xmlns:a16="http://schemas.microsoft.com/office/drawing/2014/main" id="{85BD608F-C07F-6A6A-C26E-1E077561A3E8}"/>
              </a:ext>
            </a:extLst>
          </p:cNvPr>
          <p:cNvSpPr txBox="1">
            <a:spLocks/>
          </p:cNvSpPr>
          <p:nvPr/>
        </p:nvSpPr>
        <p:spPr>
          <a:xfrm>
            <a:off x="1143000" y="1140106"/>
            <a:ext cx="6019800" cy="338904"/>
          </a:xfrm>
          <a:prstGeom prst="rect">
            <a:avLst/>
          </a:prstGeom>
        </p:spPr>
        <p:txBody>
          <a:bodyPr anchor="b" anchorCtr="0"/>
          <a:lstStyle>
            <a:lvl1pPr algn="l" rtl="0" eaLnBrk="0" fontAlgn="base" hangingPunct="0">
              <a:spcBef>
                <a:spcPct val="0"/>
              </a:spcBef>
              <a:spcAft>
                <a:spcPct val="0"/>
              </a:spcAft>
              <a:defRPr sz="2800" kern="1200">
                <a:solidFill>
                  <a:schemeClr val="tx1"/>
                </a:solidFill>
                <a:latin typeface="+mn-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a:lstStyle>
          <a:p>
            <a:pPr>
              <a:lnSpc>
                <a:spcPct val="150000"/>
              </a:lnSpc>
            </a:pPr>
            <a:r>
              <a:rPr lang="en-GB" sz="2400" b="1" dirty="0">
                <a:solidFill>
                  <a:schemeClr val="accent4"/>
                </a:solidFill>
                <a:latin typeface="Bahnschrift" panose="020B0502040204020203" pitchFamily="34" charset="0"/>
              </a:rPr>
              <a:t>Main indicators</a:t>
            </a:r>
          </a:p>
        </p:txBody>
      </p:sp>
      <p:sp>
        <p:nvSpPr>
          <p:cNvPr id="8" name="TextBox 7">
            <a:extLst>
              <a:ext uri="{FF2B5EF4-FFF2-40B4-BE49-F238E27FC236}">
                <a16:creationId xmlns:a16="http://schemas.microsoft.com/office/drawing/2014/main" id="{3D9FA967-B138-F6ED-6048-1680A554DAB6}"/>
              </a:ext>
            </a:extLst>
          </p:cNvPr>
          <p:cNvSpPr txBox="1"/>
          <p:nvPr/>
        </p:nvSpPr>
        <p:spPr>
          <a:xfrm>
            <a:off x="7315200" y="1495504"/>
            <a:ext cx="4495800" cy="4295791"/>
          </a:xfrm>
          <a:prstGeom prst="rect">
            <a:avLst/>
          </a:prstGeom>
          <a:noFill/>
          <a:ln>
            <a:solidFill>
              <a:schemeClr val="accent4">
                <a:lumMod val="20000"/>
                <a:lumOff val="80000"/>
              </a:schemeClr>
            </a:solidFill>
          </a:ln>
        </p:spPr>
        <p:txBody>
          <a:bodyPr wrap="square" rtlCol="0">
            <a:spAutoFit/>
          </a:bodyPr>
          <a:lstStyle/>
          <a:p>
            <a:pPr>
              <a:lnSpc>
                <a:spcPct val="150000"/>
              </a:lnSpc>
            </a:pPr>
            <a:r>
              <a:rPr lang="en-US" sz="1800" b="1" u="sng" dirty="0">
                <a:solidFill>
                  <a:schemeClr val="accent4">
                    <a:lumMod val="50000"/>
                  </a:schemeClr>
                </a:solidFill>
                <a:latin typeface="Bahnschrift" panose="020B0502040204020203" pitchFamily="34" charset="0"/>
              </a:rPr>
              <a:t>Nov 2024 vs. Sept 2023 forecasts</a:t>
            </a:r>
          </a:p>
          <a:p>
            <a:pPr algn="just">
              <a:lnSpc>
                <a:spcPct val="150000"/>
              </a:lnSpc>
            </a:pPr>
            <a:r>
              <a:rPr lang="en-GB" sz="1600" b="1" dirty="0">
                <a:latin typeface="Bahnschrift" panose="020B0502040204020203" pitchFamily="34" charset="0"/>
              </a:rPr>
              <a:t>Effect of parameter recalibration (Incl. IB rate response to inflation and output gap, UIP and Core CPI persistence) </a:t>
            </a:r>
          </a:p>
          <a:p>
            <a:pPr marL="285750" indent="-285750">
              <a:lnSpc>
                <a:spcPct val="150000"/>
              </a:lnSpc>
              <a:buFont typeface="Wingdings" panose="05000000000000000000" pitchFamily="2" charset="2"/>
              <a:buChar char="§"/>
            </a:pPr>
            <a:r>
              <a:rPr lang="en-US" sz="1400" dirty="0">
                <a:latin typeface="Bahnschrift" panose="020B0502040204020203" pitchFamily="34" charset="0"/>
              </a:rPr>
              <a:t>More responsive policy and real interest rates on inflation (recalibrated reaction of IR on inflation)</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A less overvalued Exchange Rate (ER)—A less ER depreciation </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CPI turning to target and more accelerated post 2026</a:t>
            </a:r>
          </a:p>
          <a:p>
            <a:pPr marL="342900" indent="-342900">
              <a:lnSpc>
                <a:spcPct val="150000"/>
              </a:lnSpc>
              <a:buFont typeface="Wingdings" panose="05000000000000000000" pitchFamily="2" charset="2"/>
              <a:buChar char="§"/>
            </a:pPr>
            <a:r>
              <a:rPr lang="en-US" sz="1400" dirty="0">
                <a:latin typeface="Bahnschrift" panose="020B0502040204020203" pitchFamily="34" charset="0"/>
              </a:rPr>
              <a:t>Higher GDP growth due to less tight monetary policy.</a:t>
            </a:r>
          </a:p>
        </p:txBody>
      </p:sp>
      <p:pic>
        <p:nvPicPr>
          <p:cNvPr id="11" name="Picture 10">
            <a:extLst>
              <a:ext uri="{FF2B5EF4-FFF2-40B4-BE49-F238E27FC236}">
                <a16:creationId xmlns:a16="http://schemas.microsoft.com/office/drawing/2014/main" id="{651487EB-3E0C-689D-01C9-02AECF465EC0}"/>
              </a:ext>
            </a:extLst>
          </p:cNvPr>
          <p:cNvPicPr>
            <a:picLocks noChangeAspect="1"/>
          </p:cNvPicPr>
          <p:nvPr/>
        </p:nvPicPr>
        <p:blipFill>
          <a:blip r:embed="rId3"/>
          <a:stretch>
            <a:fillRect/>
          </a:stretch>
        </p:blipFill>
        <p:spPr>
          <a:xfrm>
            <a:off x="304800" y="1495504"/>
            <a:ext cx="6858000" cy="5039466"/>
          </a:xfrm>
          <a:prstGeom prst="rect">
            <a:avLst/>
          </a:prstGeom>
          <a:ln>
            <a:solidFill>
              <a:schemeClr val="accent4">
                <a:lumMod val="20000"/>
                <a:lumOff val="80000"/>
              </a:schemeClr>
            </a:solidFill>
          </a:ln>
        </p:spPr>
      </p:pic>
    </p:spTree>
    <p:extLst>
      <p:ext uri="{BB962C8B-B14F-4D97-AF65-F5344CB8AC3E}">
        <p14:creationId xmlns:p14="http://schemas.microsoft.com/office/powerpoint/2010/main" val="2445127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84C96-2DDB-9AEE-BF92-AAB064121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5B59F-3F2B-B167-21D0-64EC383EF3C6}"/>
              </a:ext>
            </a:extLst>
          </p:cNvPr>
          <p:cNvSpPr>
            <a:spLocks noGrp="1"/>
          </p:cNvSpPr>
          <p:nvPr>
            <p:ph type="title"/>
          </p:nvPr>
        </p:nvSpPr>
        <p:spPr>
          <a:xfrm>
            <a:off x="1600200" y="228600"/>
            <a:ext cx="10439400" cy="750514"/>
          </a:xfrm>
        </p:spPr>
        <p:txBody>
          <a:bodyPr/>
          <a:lstStyle/>
          <a:p>
            <a:pPr>
              <a:lnSpc>
                <a:spcPct val="150000"/>
              </a:lnSpc>
            </a:pPr>
            <a:r>
              <a:rPr lang="en-US" b="1" dirty="0">
                <a:solidFill>
                  <a:schemeClr val="accent4">
                    <a:lumMod val="50000"/>
                  </a:schemeClr>
                </a:solidFill>
                <a:latin typeface="Bahnschrift" panose="020B0502040204020203" pitchFamily="34" charset="0"/>
                <a:cs typeface="+mn-cs"/>
              </a:rPr>
              <a:t>IX. QMFM inter-twin with macro toolbox (nowcasting, MF…)</a:t>
            </a:r>
            <a:endParaRPr lang="en-GB"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D94A72F3-B15E-50D8-AC09-B858F590DFCC}"/>
              </a:ext>
            </a:extLst>
          </p:cNvPr>
          <p:cNvSpPr>
            <a:spLocks noGrp="1"/>
          </p:cNvSpPr>
          <p:nvPr>
            <p:ph type="sldNum" sz="quarter" idx="10"/>
          </p:nvPr>
        </p:nvSpPr>
        <p:spPr/>
        <p:txBody>
          <a:bodyPr/>
          <a:lstStyle/>
          <a:p>
            <a:fld id="{D97AE203-F84D-4A7F-B161-8561326BE072}" type="slidenum">
              <a:rPr lang="en-US" smtClean="0"/>
              <a:pPr/>
              <a:t>24</a:t>
            </a:fld>
            <a:endParaRPr lang="en-US" dirty="0"/>
          </a:p>
        </p:txBody>
      </p:sp>
      <p:sp>
        <p:nvSpPr>
          <p:cNvPr id="10" name="Content Placeholder 2">
            <a:extLst>
              <a:ext uri="{FF2B5EF4-FFF2-40B4-BE49-F238E27FC236}">
                <a16:creationId xmlns:a16="http://schemas.microsoft.com/office/drawing/2014/main" id="{C1AB29CD-B87E-5056-6100-81504BB9822A}"/>
              </a:ext>
            </a:extLst>
          </p:cNvPr>
          <p:cNvSpPr txBox="1">
            <a:spLocks/>
          </p:cNvSpPr>
          <p:nvPr/>
        </p:nvSpPr>
        <p:spPr>
          <a:xfrm>
            <a:off x="304800" y="1143000"/>
            <a:ext cx="11506200" cy="4876801"/>
          </a:xfrm>
          <a:prstGeom prst="rect">
            <a:avLst/>
          </a:prstGeom>
          <a:ln>
            <a:solidFill>
              <a:schemeClr val="accent4">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lnSpc>
                <a:spcPct val="200000"/>
              </a:lnSpc>
            </a:pPr>
            <a:r>
              <a:rPr lang="en-GB" dirty="0"/>
              <a:t>Calibration of elasticities and exogenous assumptions (i.e., exogenous growth rates of final demand components) for other macro-tools </a:t>
            </a:r>
          </a:p>
          <a:p>
            <a:pPr algn="just">
              <a:lnSpc>
                <a:spcPct val="200000"/>
              </a:lnSpc>
            </a:pPr>
            <a:r>
              <a:rPr lang="en-GB" dirty="0"/>
              <a:t>During IMF Mission and Projections reviews, the QMFM quarterly estimation is useful to inform annual Real sector/MF </a:t>
            </a:r>
            <a:r>
              <a:rPr lang="en-GB" dirty="0" err="1"/>
              <a:t>Inyear</a:t>
            </a:r>
            <a:r>
              <a:rPr lang="en-GB" dirty="0"/>
              <a:t> projections.</a:t>
            </a:r>
          </a:p>
          <a:p>
            <a:pPr algn="just">
              <a:lnSpc>
                <a:spcPct val="200000"/>
              </a:lnSpc>
            </a:pPr>
            <a:r>
              <a:rPr lang="en-GB" dirty="0"/>
              <a:t> Quarterly estimation of GDP from demand side can be useful to evaluate quarterly nowcasts</a:t>
            </a:r>
          </a:p>
          <a:p>
            <a:pPr algn="just"/>
            <a:endParaRPr lang="en-GB" sz="1600" dirty="0"/>
          </a:p>
        </p:txBody>
      </p:sp>
    </p:spTree>
    <p:extLst>
      <p:ext uri="{BB962C8B-B14F-4D97-AF65-F5344CB8AC3E}">
        <p14:creationId xmlns:p14="http://schemas.microsoft.com/office/powerpoint/2010/main" val="1140427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C0E1-48DC-7EBC-571E-D6698B3A8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6A725-3CE2-543A-41F0-760D0008F6E1}"/>
              </a:ext>
            </a:extLst>
          </p:cNvPr>
          <p:cNvSpPr>
            <a:spLocks noGrp="1"/>
          </p:cNvSpPr>
          <p:nvPr>
            <p:ph type="title"/>
          </p:nvPr>
        </p:nvSpPr>
        <p:spPr>
          <a:xfrm>
            <a:off x="1600200" y="228600"/>
            <a:ext cx="10439400" cy="750514"/>
          </a:xfrm>
        </p:spPr>
        <p:txBody>
          <a:bodyPr/>
          <a:lstStyle/>
          <a:p>
            <a:pPr>
              <a:lnSpc>
                <a:spcPct val="150000"/>
              </a:lnSpc>
            </a:pPr>
            <a:r>
              <a:rPr lang="en-US" b="1" dirty="0">
                <a:solidFill>
                  <a:schemeClr val="accent4">
                    <a:lumMod val="50000"/>
                  </a:schemeClr>
                </a:solidFill>
                <a:latin typeface="Bahnschrift" panose="020B0502040204020203" pitchFamily="34" charset="0"/>
                <a:cs typeface="+mn-cs"/>
              </a:rPr>
              <a:t>VI. Inputs for intMF projections &amp; discussions </a:t>
            </a:r>
            <a:r>
              <a:rPr lang="en-US" i="1" dirty="0">
                <a:solidFill>
                  <a:schemeClr val="accent4">
                    <a:lumMod val="50000"/>
                  </a:schemeClr>
                </a:solidFill>
                <a:latin typeface="Bahnschrift" panose="020B0502040204020203" pitchFamily="34" charset="0"/>
                <a:cs typeface="+mn-cs"/>
              </a:rPr>
              <a:t>(template)</a:t>
            </a:r>
            <a:endParaRPr lang="en-GB" i="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C57FC8E6-53C0-AEAE-30EB-28ABFD8598A2}"/>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10" name="Content Placeholder 2">
            <a:extLst>
              <a:ext uri="{FF2B5EF4-FFF2-40B4-BE49-F238E27FC236}">
                <a16:creationId xmlns:a16="http://schemas.microsoft.com/office/drawing/2014/main" id="{994A4649-2D17-7D9C-C4CD-020D4DB02760}"/>
              </a:ext>
            </a:extLst>
          </p:cNvPr>
          <p:cNvSpPr txBox="1">
            <a:spLocks/>
          </p:cNvSpPr>
          <p:nvPr/>
        </p:nvSpPr>
        <p:spPr>
          <a:xfrm>
            <a:off x="76200" y="926528"/>
            <a:ext cx="11734800" cy="5702872"/>
          </a:xfrm>
          <a:prstGeom prst="rect">
            <a:avLst/>
          </a:prstGeom>
          <a:ln>
            <a:solidFill>
              <a:schemeClr val="accent4">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marR="0" lvl="0" indent="0" algn="just" defTabSz="914400" rtl="0" eaLnBrk="0" fontAlgn="base" latinLnBrk="0" hangingPunct="0">
              <a:lnSpc>
                <a:spcPct val="100000"/>
              </a:lnSpc>
              <a:spcBef>
                <a:spcPts val="0"/>
              </a:spcBef>
              <a:spcAft>
                <a:spcPts val="600"/>
              </a:spcAft>
              <a:buClr>
                <a:srgbClr val="00B0F0"/>
              </a:buClr>
              <a:buSzPct val="76000"/>
              <a:buFont typeface="Wingdings 3" charset="2"/>
              <a:buNone/>
              <a:tabLst/>
              <a:defRPr/>
            </a:pP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QMFM forecast is independent assessment of macro outlook—incl. interaction of macro policies. Its demand-driven approach complements the mainly supply-driven intMF projection</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Real GDP</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contractionary impact of fiscal deficit reduction and RIR increase in 2025-26 suggest downward adjustment of GDP growth from intMF sum of sectoral growth rates:</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GDP growth around 6% in 2025-26 before catch up to 8-9% in 2027-28</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CPI</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the negative impact on demand of the restrictive policies—more than offsetting price-increasing effect of fast NER depreciation—should lead to subdued inflation in 2025-26:</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 CPI rate below 5% in 2025-26</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Private demand</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restrictive policies slow down private investment/consumption growth, to consider in intMF where investment growth is a guess and consumption residual:</a:t>
            </a:r>
            <a:endPar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endParaRP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real consumption growth much below trend in 2025-26</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 		     real investment growth 5-6% in 2025-26</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Imports G&amp;S</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following domestic demand and GDP—compounded by recent strong RER depreciation--real imports growth is forecast to dip much below trend in 2025-26:   :</a:t>
            </a:r>
          </a:p>
          <a:p>
            <a:pPr marL="1096963" marR="0" lvl="3" indent="-228600" algn="just" defTabSz="914400" rtl="0" eaLnBrk="0" fontAlgn="base" latinLnBrk="0" hangingPunct="0">
              <a:lnSpc>
                <a:spcPct val="100000"/>
              </a:lnSpc>
              <a:spcBef>
                <a:spcPts val="0"/>
              </a:spcBef>
              <a:spcAft>
                <a:spcPct val="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real import growth +6% in 2025-26 as check against BoP’s sum of import lines </a:t>
            </a:r>
          </a:p>
          <a:p>
            <a:pPr marL="273050" marR="0" lvl="0" indent="-273050" algn="just" defTabSz="914400" rtl="0" eaLnBrk="0" fontAlgn="base" latinLnBrk="0" hangingPunct="0">
              <a:lnSpc>
                <a:spcPct val="150000"/>
              </a:lnSpc>
              <a:spcBef>
                <a:spcPts val="0"/>
              </a:spcBef>
              <a:spcAft>
                <a:spcPct val="0"/>
              </a:spcAft>
              <a:buClr>
                <a:srgbClr val="00B0F0"/>
              </a:buClr>
              <a:buSzPct val="76000"/>
              <a:buFont typeface="Wingdings 3" charset="2"/>
              <a:buChar char=""/>
              <a:tabLst/>
              <a:defRPr/>
            </a:pPr>
            <a:endPar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endParaRPr>
          </a:p>
          <a:p>
            <a:pPr marL="273050" marR="0" lvl="0" indent="-273050" algn="just" defTabSz="914400" rtl="0" eaLnBrk="0" fontAlgn="base" latinLnBrk="0" hangingPunct="0">
              <a:lnSpc>
                <a:spcPct val="100000"/>
              </a:lnSpc>
              <a:spcBef>
                <a:spcPts val="600"/>
              </a:spcBef>
              <a:spcAft>
                <a:spcPct val="0"/>
              </a:spcAft>
              <a:buClr>
                <a:srgbClr val="00B0F0"/>
              </a:buClr>
              <a:buSzPct val="76000"/>
              <a:buFont typeface="Wingdings 3" charset="2"/>
              <a:buChar char=""/>
              <a:tabLst/>
              <a:defRPr/>
            </a:pPr>
            <a:endParaRPr kumimoji="0" lang="en-GB" sz="1600" b="0" i="0" u="none" strike="noStrike" kern="1200" cap="none" spc="0" normalizeH="0" baseline="0" noProof="0" dirty="0">
              <a:ln>
                <a:noFill/>
              </a:ln>
              <a:solidFill>
                <a:prstClr val="black"/>
              </a:solidFill>
              <a:effectLst/>
              <a:uLnTx/>
              <a:uFillTx/>
              <a:latin typeface="Gill Sans MT"/>
              <a:ea typeface="ＭＳ Ｐゴシック" charset="-128"/>
              <a:cs typeface="+mn-cs"/>
            </a:endParaRPr>
          </a:p>
        </p:txBody>
      </p:sp>
    </p:spTree>
    <p:extLst>
      <p:ext uri="{BB962C8B-B14F-4D97-AF65-F5344CB8AC3E}">
        <p14:creationId xmlns:p14="http://schemas.microsoft.com/office/powerpoint/2010/main" val="1835421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CDDF-C674-4275-B139-0622D56D1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C9B37-6A39-4450-A5EC-7697F498AF66}"/>
              </a:ext>
            </a:extLst>
          </p:cNvPr>
          <p:cNvSpPr>
            <a:spLocks noGrp="1"/>
          </p:cNvSpPr>
          <p:nvPr>
            <p:ph type="title"/>
          </p:nvPr>
        </p:nvSpPr>
        <p:spPr>
          <a:xfrm>
            <a:off x="1600200" y="228600"/>
            <a:ext cx="10439400" cy="750514"/>
          </a:xfrm>
        </p:spPr>
        <p:txBody>
          <a:bodyPr/>
          <a:lstStyle/>
          <a:p>
            <a:pPr>
              <a:lnSpc>
                <a:spcPct val="150000"/>
              </a:lnSpc>
            </a:pPr>
            <a:r>
              <a:rPr lang="en-US" b="1" dirty="0">
                <a:solidFill>
                  <a:schemeClr val="accent4">
                    <a:lumMod val="50000"/>
                  </a:schemeClr>
                </a:solidFill>
                <a:latin typeface="Bahnschrift" panose="020B0502040204020203" pitchFamily="34" charset="0"/>
                <a:cs typeface="+mn-cs"/>
              </a:rPr>
              <a:t>VI. Inputs for intMF projections &amp; discussions (cont’d) </a:t>
            </a:r>
            <a:r>
              <a:rPr lang="en-US" i="1" dirty="0">
                <a:solidFill>
                  <a:schemeClr val="accent4">
                    <a:lumMod val="50000"/>
                  </a:schemeClr>
                </a:solidFill>
                <a:latin typeface="Bahnschrift" panose="020B0502040204020203" pitchFamily="34" charset="0"/>
                <a:cs typeface="+mn-cs"/>
              </a:rPr>
              <a:t>(template)</a:t>
            </a:r>
            <a:endParaRPr lang="en-GB" i="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D8377FB4-13FA-AF27-7601-0066DDD2D74C}"/>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97AE203-F84D-4A7F-B161-8561326BE072}" type="slidenum">
              <a:rPr kumimoji="0" lang="en-US" sz="1000" b="0" i="0" u="none" strike="noStrike" kern="1200" cap="none" spc="0" normalizeH="0" baseline="0" noProof="0" smtClean="0">
                <a:ln>
                  <a:noFill/>
                </a:ln>
                <a:solidFill>
                  <a:srgbClr val="464653"/>
                </a:solidFill>
                <a:effectLst/>
                <a:uLnTx/>
                <a:uFillTx/>
                <a:latin typeface="Gill Sans MT"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000" b="0" i="0" u="none" strike="noStrike" kern="1200" cap="none" spc="0" normalizeH="0" baseline="0" noProof="0" dirty="0">
              <a:ln>
                <a:noFill/>
              </a:ln>
              <a:solidFill>
                <a:srgbClr val="464653"/>
              </a:solidFill>
              <a:effectLst/>
              <a:uLnTx/>
              <a:uFillTx/>
              <a:latin typeface="Gill Sans MT" charset="0"/>
              <a:ea typeface="ＭＳ Ｐゴシック" charset="-128"/>
              <a:cs typeface="+mn-cs"/>
            </a:endParaRPr>
          </a:p>
        </p:txBody>
      </p:sp>
      <p:sp>
        <p:nvSpPr>
          <p:cNvPr id="10" name="Content Placeholder 2">
            <a:extLst>
              <a:ext uri="{FF2B5EF4-FFF2-40B4-BE49-F238E27FC236}">
                <a16:creationId xmlns:a16="http://schemas.microsoft.com/office/drawing/2014/main" id="{4E069DDE-7F8E-54BD-BA51-923F487E69FE}"/>
              </a:ext>
            </a:extLst>
          </p:cNvPr>
          <p:cNvSpPr txBox="1">
            <a:spLocks/>
          </p:cNvSpPr>
          <p:nvPr/>
        </p:nvSpPr>
        <p:spPr>
          <a:xfrm>
            <a:off x="76200" y="1066800"/>
            <a:ext cx="11912600" cy="5867400"/>
          </a:xfrm>
          <a:prstGeom prst="rect">
            <a:avLst/>
          </a:prstGeom>
          <a:ln>
            <a:solidFill>
              <a:schemeClr val="accent4">
                <a:lumMod val="20000"/>
                <a:lumOff val="80000"/>
              </a:schemeClr>
            </a:solidFill>
          </a:ln>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Exports G&amp;S</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export growth is forecast to return to trend after dip in 2024, helped by recent strong RER depreciation:</a:t>
            </a:r>
          </a:p>
          <a:p>
            <a:pPr marL="1096963" marR="0" lvl="3" indent="-228600" algn="just" defTabSz="914400" rtl="0" eaLnBrk="0" fontAlgn="base" latinLnBrk="0" hangingPunct="0">
              <a:lnSpc>
                <a:spcPct val="100000"/>
              </a:lnSpc>
              <a:spcBef>
                <a:spcPts val="0"/>
              </a:spcBef>
              <a:spcAft>
                <a:spcPts val="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real export growth </a:t>
            </a:r>
            <a:r>
              <a:rPr kumimoji="0" lang="en-GB" sz="2000" b="0" i="0" u="sng"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10% in 2025-26 as check against BoP’s sum of export lines </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Fiscal path</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2024/25</a:t>
            </a:r>
            <a:r>
              <a:rPr kumimoji="0" lang="en-GB" sz="2400" b="0" i="0" u="none" strike="noStrike" kern="1200" cap="none" spc="0" normalizeH="0" baseline="0" noProof="0" dirty="0">
                <a:ln>
                  <a:noFill/>
                </a:ln>
                <a:solidFill>
                  <a:prstClr val="black"/>
                </a:solidFill>
                <a:effectLst/>
                <a:uLnTx/>
                <a:uFillTx/>
                <a:latin typeface="Aptos Narrow" panose="020B0004020202020204" pitchFamily="34" charset="0"/>
                <a:ea typeface="ＭＳ Ｐゴシック" charset="-128"/>
                <a:cs typeface="+mn-cs"/>
              </a:rPr>
              <a:t>─</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2025/26 reflects PCI fiscal program targets (in % GDP). But the forecast from 2026/27 reflects premise that the deficit and its components be allowed to move gradually to their sustainable levels (for deficit 7.5% of GDP, before grants of 2.5%):</a:t>
            </a:r>
          </a:p>
          <a:p>
            <a:pPr marL="1096963" marR="0" lvl="3" indent="-228600" algn="just" defTabSz="914400" rtl="0" eaLnBrk="0" fontAlgn="base" latinLnBrk="0" hangingPunct="0">
              <a:lnSpc>
                <a:spcPct val="100000"/>
              </a:lnSpc>
              <a:spcBef>
                <a:spcPts val="0"/>
              </a:spcBef>
              <a:spcAft>
                <a:spcPts val="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return to sustainable deficit (and components) of 7.5% of GDP from 2026/27</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Exchange rate</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the forecast reflects NBR’s rule of return to ER path that first corrects </a:t>
            </a:r>
            <a:r>
              <a:rPr kumimoji="0" lang="en-GB" sz="2400" b="0" i="0" u="none" strike="noStrike" kern="1200" cap="none" spc="0" normalizeH="0" baseline="0" noProof="0">
                <a:ln>
                  <a:noFill/>
                </a:ln>
                <a:solidFill>
                  <a:prstClr val="black"/>
                </a:solidFill>
                <a:effectLst/>
                <a:uLnTx/>
                <a:uFillTx/>
                <a:latin typeface="Gill Sans MT"/>
                <a:ea typeface="ＭＳ Ｐゴシック" charset="-128"/>
                <a:cs typeface="+mn-cs"/>
              </a:rPr>
              <a:t>for RER </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overvaluation, then for inflation differential with trading partners (</a:t>
            </a:r>
            <a:r>
              <a:rPr kumimoji="0" lang="en-GB" sz="2400" b="0" i="0" u="sng" strike="noStrike" kern="1200" cap="none" spc="0" normalizeH="0" baseline="0" noProof="0" dirty="0">
                <a:ln>
                  <a:noFill/>
                </a:ln>
                <a:solidFill>
                  <a:prstClr val="black"/>
                </a:solidFill>
                <a:effectLst/>
                <a:uLnTx/>
                <a:uFillTx/>
                <a:latin typeface="Gill Sans MT"/>
                <a:ea typeface="ＭＳ Ｐゴシック" charset="-128"/>
                <a:cs typeface="+mn-cs"/>
              </a:rPr>
              <a:t>+</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3% </a:t>
            </a:r>
            <a:r>
              <a:rPr kumimoji="0" lang="en-GB" sz="2400" b="0" i="0" u="none" strike="noStrike" kern="1200" cap="none" spc="0" normalizeH="0" baseline="0" noProof="0" dirty="0" err="1">
                <a:ln>
                  <a:noFill/>
                </a:ln>
                <a:solidFill>
                  <a:prstClr val="black"/>
                </a:solidFill>
                <a:effectLst/>
                <a:uLnTx/>
                <a:uFillTx/>
                <a:latin typeface="Gill Sans MT"/>
                <a:ea typeface="ＭＳ Ｐゴシック" charset="-128"/>
                <a:cs typeface="+mn-cs"/>
              </a:rPr>
              <a:t>py</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The 2022-23 RER overvaluation (due to the inflation surge) was more than corrected in 2024:</a:t>
            </a:r>
          </a:p>
          <a:p>
            <a:pPr marL="1096963" marR="0" lvl="3" indent="-228600" algn="just" defTabSz="914400" rtl="0" eaLnBrk="0" fontAlgn="base" latinLnBrk="0" hangingPunct="0">
              <a:lnSpc>
                <a:spcPct val="100000"/>
              </a:lnSpc>
              <a:spcBef>
                <a:spcPts val="0"/>
              </a:spcBef>
              <a:spcAft>
                <a:spcPts val="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 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much smaller NER depreciation rate than in 2023-24, i.e. of some 2% p.y.</a:t>
            </a:r>
          </a:p>
          <a:p>
            <a:pPr marL="273050" marR="0" lvl="0" indent="-273050" algn="just" defTabSz="914400" rtl="0" eaLnBrk="0" fontAlgn="base" latinLnBrk="0" hangingPunct="0">
              <a:lnSpc>
                <a:spcPct val="100000"/>
              </a:lnSpc>
              <a:spcBef>
                <a:spcPts val="0"/>
              </a:spcBef>
              <a:spcAft>
                <a:spcPct val="0"/>
              </a:spcAft>
              <a:buClr>
                <a:srgbClr val="00B0F0"/>
              </a:buClr>
              <a:buSzPct val="76000"/>
              <a:buFont typeface="Wingdings 3" charset="2"/>
              <a:buChar char=""/>
              <a:tabLst/>
              <a:defRPr/>
            </a:pPr>
            <a:r>
              <a:rPr kumimoji="0" lang="en-GB" sz="2400" b="1" i="0" u="none" strike="noStrike" kern="1200" cap="none" spc="0" normalizeH="0" baseline="0" noProof="0" dirty="0">
                <a:ln>
                  <a:noFill/>
                </a:ln>
                <a:solidFill>
                  <a:srgbClr val="192EF7">
                    <a:lumMod val="50000"/>
                  </a:srgbClr>
                </a:solidFill>
                <a:effectLst/>
                <a:uLnTx/>
                <a:uFillTx/>
                <a:latin typeface="Bahnschrift" panose="020B0502040204020203" pitchFamily="34" charset="0"/>
                <a:ea typeface="ＭＳ Ｐゴシック" charset="-128"/>
                <a:cs typeface="+mn-cs"/>
              </a:rPr>
              <a:t>Real interest rate</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 forecast reflects a rise back to ‘normal’ for real policy (IB) and lending rates (</a:t>
            </a:r>
            <a:r>
              <a:rPr kumimoji="0" lang="en-GB" sz="2400" b="0" i="0" u="sng" strike="noStrike" kern="1200" cap="none" spc="0" normalizeH="0" baseline="0" noProof="0" dirty="0">
                <a:ln>
                  <a:noFill/>
                </a:ln>
                <a:solidFill>
                  <a:prstClr val="black"/>
                </a:solidFill>
                <a:effectLst/>
                <a:uLnTx/>
                <a:uFillTx/>
                <a:latin typeface="Gill Sans MT"/>
                <a:ea typeface="ＭＳ Ｐゴシック" charset="-128"/>
                <a:cs typeface="+mn-cs"/>
              </a:rPr>
              <a:t>+</a:t>
            </a:r>
            <a:r>
              <a:rPr kumimoji="0" lang="en-GB" sz="2400" b="0" i="0" u="none" strike="noStrike" kern="1200" cap="none" spc="0" normalizeH="0" baseline="0" noProof="0" dirty="0">
                <a:ln>
                  <a:noFill/>
                </a:ln>
                <a:solidFill>
                  <a:prstClr val="black"/>
                </a:solidFill>
                <a:effectLst/>
                <a:uLnTx/>
                <a:uFillTx/>
                <a:latin typeface="Gill Sans MT"/>
                <a:ea typeface="ＭＳ Ｐゴシック" charset="-128"/>
                <a:cs typeface="+mn-cs"/>
              </a:rPr>
              <a:t>8% points above real IB) as NBR raised interest rates and inflation plunged in 2024. The RIR rise has contributed to demand restraint in 2024-26. Beyond 2026, RIR reflect higher world RIR (1.5% from 2026, compared to 0% in 2023).</a:t>
            </a:r>
          </a:p>
          <a:p>
            <a:pPr marL="1096963" marR="0" lvl="3" indent="-228600" algn="just" defTabSz="914400" rtl="0" eaLnBrk="0" fontAlgn="base" latinLnBrk="0" hangingPunct="0">
              <a:lnSpc>
                <a:spcPct val="100000"/>
              </a:lnSpc>
              <a:spcBef>
                <a:spcPts val="0"/>
              </a:spcBef>
              <a:spcAft>
                <a:spcPts val="600"/>
              </a:spcAft>
              <a:buClr>
                <a:srgbClr val="23A900"/>
              </a:buClr>
              <a:buSzPct val="70000"/>
              <a:buFont typeface="Wingdings" panose="05000000000000000000" pitchFamily="2" charset="2"/>
              <a:buChar char="Ø"/>
              <a:tabLst/>
              <a:defRPr/>
            </a:pPr>
            <a:r>
              <a:rPr kumimoji="0" lang="en-GB" sz="2000" b="0" i="0" u="none" strike="noStrike" kern="1200" cap="none" spc="0" normalizeH="0" baseline="0" noProof="0" dirty="0">
                <a:ln>
                  <a:noFill/>
                </a:ln>
                <a:solidFill>
                  <a:prstClr val="black"/>
                </a:solidFill>
                <a:effectLst/>
                <a:uLnTx/>
                <a:uFillTx/>
                <a:latin typeface="Gill Sans MT"/>
                <a:ea typeface="ＭＳ Ｐゴシック" charset="-128"/>
                <a:cs typeface="+mn-cs"/>
              </a:rPr>
              <a:t> for intMF consider: </a:t>
            </a:r>
            <a:r>
              <a:rPr kumimoji="0" lang="en-GB" sz="2000" b="0" i="0" u="none" strike="noStrike" kern="1200" cap="none" spc="0" normalizeH="0" baseline="0" noProof="0" dirty="0">
                <a:ln>
                  <a:noFill/>
                </a:ln>
                <a:solidFill>
                  <a:srgbClr val="29C000">
                    <a:lumMod val="75000"/>
                  </a:srgbClr>
                </a:solidFill>
                <a:effectLst/>
                <a:uLnTx/>
                <a:uFillTx/>
                <a:latin typeface="Gill Sans MT"/>
                <a:ea typeface="ＭＳ Ｐゴシック" charset="-128"/>
                <a:cs typeface="+mn-cs"/>
              </a:rPr>
              <a:t>how does the forecast RIR affect real private domestic demand?</a:t>
            </a:r>
          </a:p>
          <a:p>
            <a:pPr marL="273050" marR="0" lvl="0" indent="-273050" algn="just" defTabSz="914400" rtl="0" eaLnBrk="0" fontAlgn="base" latinLnBrk="0" hangingPunct="0">
              <a:lnSpc>
                <a:spcPct val="100000"/>
              </a:lnSpc>
              <a:spcBef>
                <a:spcPts val="600"/>
              </a:spcBef>
              <a:spcAft>
                <a:spcPct val="0"/>
              </a:spcAft>
              <a:buClr>
                <a:srgbClr val="00B0F0"/>
              </a:buClr>
              <a:buSzPct val="76000"/>
              <a:buFont typeface="Wingdings 3" charset="2"/>
              <a:buChar char=""/>
              <a:tabLst/>
              <a:defRPr/>
            </a:pPr>
            <a:endParaRPr kumimoji="0" lang="en-GB" sz="1600" b="0" i="0" u="none" strike="noStrike" kern="1200" cap="none" spc="0" normalizeH="0" baseline="0" noProof="0" dirty="0">
              <a:ln>
                <a:noFill/>
              </a:ln>
              <a:solidFill>
                <a:prstClr val="black"/>
              </a:solidFill>
              <a:effectLst/>
              <a:uLnTx/>
              <a:uFillTx/>
              <a:latin typeface="Gill Sans MT"/>
              <a:ea typeface="ＭＳ Ｐゴシック" charset="-128"/>
              <a:cs typeface="+mn-cs"/>
            </a:endParaRPr>
          </a:p>
        </p:txBody>
      </p:sp>
    </p:spTree>
    <p:extLst>
      <p:ext uri="{BB962C8B-B14F-4D97-AF65-F5344CB8AC3E}">
        <p14:creationId xmlns:p14="http://schemas.microsoft.com/office/powerpoint/2010/main" val="2299175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752600" y="1143001"/>
            <a:ext cx="8458200" cy="4078039"/>
          </a:xfrm>
          <a:prstGeom prst="rect">
            <a:avLst/>
          </a:prstGeom>
          <a:noFill/>
          <a:ln w="28575">
            <a:noFill/>
          </a:ln>
        </p:spPr>
        <p:txBody>
          <a:bodyPr>
            <a:spAutoFit/>
          </a:bodyPr>
          <a:lstStyle/>
          <a:p>
            <a:pPr algn="ctr">
              <a:defRPr/>
            </a:pPr>
            <a:endParaRPr lang="en-US" sz="3300" b="1" dirty="0">
              <a:solidFill>
                <a:schemeClr val="accent6">
                  <a:lumMod val="50000"/>
                </a:schemeClr>
              </a:solidFill>
              <a:latin typeface="Bookman Old Style" pitchFamily="18" charset="0"/>
              <a:cs typeface="Arial" pitchFamily="34" charset="0"/>
            </a:endParaRPr>
          </a:p>
          <a:p>
            <a:pPr algn="ctr">
              <a:defRPr/>
            </a:pPr>
            <a:endParaRPr lang="en-GB" sz="4000" b="1" dirty="0">
              <a:solidFill>
                <a:schemeClr val="accent4">
                  <a:lumMod val="75000"/>
                </a:schemeClr>
              </a:solidFill>
            </a:endParaRPr>
          </a:p>
          <a:p>
            <a:pPr algn="ctr">
              <a:defRPr/>
            </a:pPr>
            <a:r>
              <a:rPr lang="en-GB" sz="3200" b="1" dirty="0">
                <a:solidFill>
                  <a:schemeClr val="accent4">
                    <a:lumMod val="75000"/>
                  </a:schemeClr>
                </a:solidFill>
                <a:latin typeface="+mn-lt"/>
              </a:rPr>
              <a:t>THANK YOU</a:t>
            </a:r>
          </a:p>
          <a:p>
            <a:pPr algn="ctr">
              <a:defRPr/>
            </a:pPr>
            <a:endParaRPr lang="en-GB" sz="3200" b="1" dirty="0">
              <a:solidFill>
                <a:schemeClr val="accent4">
                  <a:lumMod val="75000"/>
                </a:schemeClr>
              </a:solidFill>
            </a:endParaRPr>
          </a:p>
          <a:p>
            <a:pPr algn="ctr">
              <a:defRPr/>
            </a:pPr>
            <a:endParaRPr lang="en-US" sz="3600" b="1" dirty="0">
              <a:latin typeface="Calibri" pitchFamily="34" charset="0"/>
              <a:cs typeface="Arial" pitchFamily="34" charset="0"/>
            </a:endParaRPr>
          </a:p>
          <a:p>
            <a:pPr algn="ctr">
              <a:defRPr/>
            </a:pPr>
            <a:endParaRPr lang="en-US" sz="4000" b="1" dirty="0">
              <a:solidFill>
                <a:schemeClr val="accent2">
                  <a:lumMod val="50000"/>
                </a:schemeClr>
              </a:solidFill>
              <a:latin typeface="Calibri" pitchFamily="34" charset="0"/>
              <a:cs typeface="Arial" pitchFamily="34" charset="0"/>
            </a:endParaRPr>
          </a:p>
          <a:p>
            <a:pPr algn="r">
              <a:defRPr/>
            </a:pPr>
            <a:endParaRPr lang="en-GB" i="1" dirty="0">
              <a:solidFill>
                <a:schemeClr val="accent6">
                  <a:lumMod val="75000"/>
                </a:schemeClr>
              </a:solidFill>
            </a:endParaRPr>
          </a:p>
          <a:p>
            <a:pPr>
              <a:defRPr/>
            </a:pPr>
            <a:endParaRPr lang="en-US" sz="2200" b="1" dirty="0">
              <a:latin typeface="Calibri" pitchFamily="34" charset="0"/>
              <a:cs typeface="Arial" pitchFamily="34" charset="0"/>
            </a:endParaRPr>
          </a:p>
        </p:txBody>
      </p:sp>
      <p:cxnSp>
        <p:nvCxnSpPr>
          <p:cNvPr id="7" name="Straight Connector 6"/>
          <p:cNvCxnSpPr/>
          <p:nvPr/>
        </p:nvCxnSpPr>
        <p:spPr>
          <a:xfrm rot="10800000">
            <a:off x="2362200" y="3048000"/>
            <a:ext cx="7543800" cy="158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016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556C-239C-2032-A4AB-F5EC73F0A12B}"/>
              </a:ext>
            </a:extLst>
          </p:cNvPr>
          <p:cNvSpPr>
            <a:spLocks noGrp="1"/>
          </p:cNvSpPr>
          <p:nvPr>
            <p:ph type="title"/>
          </p:nvPr>
        </p:nvSpPr>
        <p:spPr>
          <a:xfrm>
            <a:off x="1600200" y="228600"/>
            <a:ext cx="10261600" cy="609600"/>
          </a:xfrm>
        </p:spPr>
        <p:txBody>
          <a:bodyPr/>
          <a:lstStyle/>
          <a:p>
            <a:pPr>
              <a:lnSpc>
                <a:spcPct val="150000"/>
              </a:lnSpc>
            </a:pPr>
            <a:r>
              <a:rPr lang="en-US" b="1" dirty="0">
                <a:solidFill>
                  <a:schemeClr val="accent4">
                    <a:lumMod val="50000"/>
                  </a:schemeClr>
                </a:solidFill>
                <a:latin typeface="Bahnschrift" panose="020B0502040204020203" pitchFamily="34" charset="0"/>
                <a:cs typeface="+mn-cs"/>
              </a:rPr>
              <a:t>X. Data issues and requests &amp; suggestions</a:t>
            </a:r>
            <a:endParaRPr lang="en-RW"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7E70382D-03F1-B037-8AF8-AE56371093B4}"/>
              </a:ext>
            </a:extLst>
          </p:cNvPr>
          <p:cNvSpPr>
            <a:spLocks noGrp="1"/>
          </p:cNvSpPr>
          <p:nvPr>
            <p:ph type="sldNum" sz="quarter" idx="10"/>
          </p:nvPr>
        </p:nvSpPr>
        <p:spPr/>
        <p:txBody>
          <a:bodyPr/>
          <a:lstStyle/>
          <a:p>
            <a:fld id="{D97AE203-F84D-4A7F-B161-8561326BE072}" type="slidenum">
              <a:rPr lang="en-US" smtClean="0"/>
              <a:pPr/>
              <a:t>28</a:t>
            </a:fld>
            <a:endParaRPr lang="en-US" dirty="0"/>
          </a:p>
        </p:txBody>
      </p:sp>
      <p:sp>
        <p:nvSpPr>
          <p:cNvPr id="5" name="TextBox 4">
            <a:extLst>
              <a:ext uri="{FF2B5EF4-FFF2-40B4-BE49-F238E27FC236}">
                <a16:creationId xmlns:a16="http://schemas.microsoft.com/office/drawing/2014/main" id="{95F7979F-7F8C-8730-D214-36B5AA930C70}"/>
              </a:ext>
            </a:extLst>
          </p:cNvPr>
          <p:cNvSpPr txBox="1"/>
          <p:nvPr/>
        </p:nvSpPr>
        <p:spPr>
          <a:xfrm>
            <a:off x="1092200" y="1295400"/>
            <a:ext cx="10896600" cy="3580467"/>
          </a:xfrm>
          <a:prstGeom prst="rect">
            <a:avLst/>
          </a:prstGeom>
          <a:noFill/>
        </p:spPr>
        <p:txBody>
          <a:bodyPr wrap="square">
            <a:spAutoFit/>
          </a:bodyPr>
          <a:lstStyle/>
          <a:p>
            <a:pPr algn="just">
              <a:spcBef>
                <a:spcPts val="0"/>
              </a:spcBef>
              <a:spcAft>
                <a:spcPts val="0"/>
              </a:spcAft>
            </a:pPr>
            <a:r>
              <a:rPr lang="en-US" sz="1800" b="1" dirty="0">
                <a:solidFill>
                  <a:srgbClr val="0070C0"/>
                </a:solidFill>
                <a:latin typeface="+mn-lt"/>
              </a:rPr>
              <a:t>Model/Outlook data issues to be addressed</a:t>
            </a:r>
            <a:endParaRPr lang="en-US" sz="1800" b="1" dirty="0">
              <a:solidFill>
                <a:srgbClr val="0070C0"/>
              </a:solidFill>
              <a:latin typeface="Times New Roman" panose="02020603050405020304" pitchFamily="18" charset="0"/>
            </a:endParaRPr>
          </a:p>
          <a:p>
            <a:pPr algn="just">
              <a:spcBef>
                <a:spcPts val="0"/>
              </a:spcBef>
              <a:spcAft>
                <a:spcPts val="0"/>
              </a:spcAft>
            </a:pPr>
            <a:endParaRPr lang="en-US" sz="1800" b="1" dirty="0">
              <a:solidFill>
                <a:srgbClr val="0070C0"/>
              </a:solidFill>
              <a:latin typeface="Times New Roman" panose="02020603050405020304" pitchFamily="18" charset="0"/>
            </a:endParaRPr>
          </a:p>
          <a:p>
            <a:pPr marL="342900" indent="-342900">
              <a:spcAft>
                <a:spcPts val="800"/>
              </a:spcAft>
              <a:buFont typeface="Wingdings" panose="05000000000000000000" pitchFamily="2" charset="2"/>
              <a:buChar char="§"/>
            </a:pPr>
            <a:r>
              <a:rPr lang="en-US" sz="1800" dirty="0">
                <a:latin typeface="+mn-lt"/>
                <a:ea typeface="Calibri" panose="020F0502020204030204" pitchFamily="34" charset="0"/>
                <a:cs typeface="Times New Roman" panose="02020603050405020304" pitchFamily="18" charset="0"/>
              </a:rPr>
              <a:t>intMF – fiscal: accurate govt demand for G&amp;S, more timely and reliable Q data, timely Q treasury plan</a:t>
            </a:r>
          </a:p>
          <a:p>
            <a:pPr>
              <a:spcAft>
                <a:spcPts val="800"/>
              </a:spcAft>
            </a:pPr>
            <a:r>
              <a:rPr lang="en-US" sz="1800" dirty="0">
                <a:latin typeface="+mn-lt"/>
                <a:ea typeface="Calibri" panose="020F0502020204030204" pitchFamily="34" charset="0"/>
                <a:cs typeface="Times New Roman" panose="02020603050405020304" pitchFamily="18" charset="0"/>
              </a:rPr>
              <a:t>	– debt: timely &amp; complete Q data (showing IMF separately) and projections integrated into intMF</a:t>
            </a:r>
          </a:p>
          <a:p>
            <a:pPr marL="342900" indent="-342900">
              <a:spcAft>
                <a:spcPts val="800"/>
              </a:spcAft>
              <a:buFont typeface="Wingdings" panose="05000000000000000000" pitchFamily="2" charset="2"/>
              <a:buChar char="§"/>
            </a:pPr>
            <a:r>
              <a:rPr lang="en-US" sz="1800" dirty="0">
                <a:latin typeface="+mn-lt"/>
                <a:ea typeface="Calibri" panose="020F0502020204030204" pitchFamily="34" charset="0"/>
                <a:cs typeface="Times New Roman" panose="02020603050405020304" pitchFamily="18" charset="0"/>
              </a:rPr>
              <a:t>NA/NISR – discrepancies/anomalies Govt consumption, investment, inventories, final demand deflators</a:t>
            </a:r>
          </a:p>
          <a:p>
            <a:pPr marL="342900" indent="-342900">
              <a:spcAft>
                <a:spcPts val="800"/>
              </a:spcAft>
              <a:buFont typeface="Wingdings" panose="05000000000000000000" pitchFamily="2" charset="2"/>
              <a:buChar char="§"/>
            </a:pPr>
            <a:r>
              <a:rPr lang="en-US" sz="1800" dirty="0">
                <a:latin typeface="+mn-lt"/>
                <a:ea typeface="Calibri" panose="020F0502020204030204" pitchFamily="34" charset="0"/>
                <a:cs typeface="Times New Roman" panose="02020603050405020304" pitchFamily="18" charset="0"/>
              </a:rPr>
              <a:t>NBR – more timely Q BoP data, as input for models and intMF </a:t>
            </a:r>
          </a:p>
          <a:p>
            <a:pPr>
              <a:spcAft>
                <a:spcPts val="800"/>
              </a:spcAft>
            </a:pPr>
            <a:r>
              <a:rPr lang="en-US" sz="1800" dirty="0">
                <a:latin typeface="+mn-lt"/>
                <a:cs typeface="Times New Roman" panose="02020603050405020304" pitchFamily="18" charset="0"/>
              </a:rPr>
              <a:t>                 NBR-FPAS results, </a:t>
            </a:r>
            <a:r>
              <a:rPr lang="en-US" sz="1800" dirty="0">
                <a:latin typeface="+mn-lt"/>
                <a:ea typeface="Calibri" panose="020F0502020204030204" pitchFamily="34" charset="0"/>
                <a:cs typeface="Times New Roman" panose="02020603050405020304" pitchFamily="18" charset="0"/>
              </a:rPr>
              <a:t>analysis of potential output, </a:t>
            </a:r>
            <a:r>
              <a:rPr lang="en-US" sz="1800" dirty="0">
                <a:latin typeface="+mn-lt"/>
                <a:cs typeface="Times New Roman" panose="02020603050405020304" pitchFamily="18" charset="0"/>
              </a:rPr>
              <a:t>international interest rates (GPM)</a:t>
            </a:r>
          </a:p>
          <a:p>
            <a:pPr marL="285750" indent="-285750">
              <a:spcAft>
                <a:spcPts val="800"/>
              </a:spcAft>
              <a:buFont typeface="Wingdings" panose="05000000000000000000" pitchFamily="2" charset="2"/>
              <a:buChar char="§"/>
            </a:pPr>
            <a:r>
              <a:rPr lang="en-US" sz="1800" dirty="0">
                <a:latin typeface="+mn-lt"/>
                <a:ea typeface="Calibri" panose="020F0502020204030204" pitchFamily="34" charset="0"/>
                <a:cs typeface="Times New Roman" panose="02020603050405020304" pitchFamily="18" charset="0"/>
              </a:rPr>
              <a:t>WEOGAS &amp; GEE in right format– timely sharing by IMF staff,  QoQ projection instead of  YoY</a:t>
            </a:r>
            <a:endParaRPr lang="en-US" sz="1800" b="1" dirty="0">
              <a:solidFill>
                <a:srgbClr val="0070C0"/>
              </a:solidFill>
              <a:latin typeface="+mn-lt"/>
            </a:endParaRPr>
          </a:p>
          <a:p>
            <a:pPr marL="342900" indent="-342900">
              <a:spcAft>
                <a:spcPts val="600"/>
              </a:spcAft>
              <a:buFont typeface="Wingdings" panose="05000000000000000000" pitchFamily="2" charset="2"/>
              <a:buChar char="§"/>
            </a:pPr>
            <a:r>
              <a:rPr lang="en-US" sz="1800" dirty="0">
                <a:latin typeface="+mn-lt"/>
                <a:cs typeface="Times New Roman" panose="02020603050405020304" pitchFamily="18" charset="0"/>
              </a:rPr>
              <a:t>timely data reconciliation and iterative comparison of forecast results from various tools </a:t>
            </a:r>
          </a:p>
          <a:p>
            <a:pPr>
              <a:spcAft>
                <a:spcPts val="800"/>
              </a:spcAft>
            </a:pPr>
            <a:r>
              <a:rPr lang="en-US" sz="1800" dirty="0">
                <a:latin typeface="+mn-lt"/>
                <a:cs typeface="Times New Roman" panose="02020603050405020304" pitchFamily="18" charset="0"/>
              </a:rPr>
              <a:t>     input for intMF well before each Review and each quarter</a:t>
            </a:r>
          </a:p>
        </p:txBody>
      </p:sp>
    </p:spTree>
    <p:extLst>
      <p:ext uri="{BB962C8B-B14F-4D97-AF65-F5344CB8AC3E}">
        <p14:creationId xmlns:p14="http://schemas.microsoft.com/office/powerpoint/2010/main" val="641872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76400" y="284158"/>
            <a:ext cx="10457873" cy="609600"/>
          </a:xfrm>
        </p:spPr>
        <p:txBody>
          <a:bodyPr/>
          <a:lstStyle/>
          <a:p>
            <a:pPr>
              <a:lnSpc>
                <a:spcPct val="150000"/>
              </a:lnSpc>
            </a:pPr>
            <a:r>
              <a:rPr lang="en-GB" b="1" dirty="0">
                <a:solidFill>
                  <a:schemeClr val="accent4">
                    <a:lumMod val="50000"/>
                  </a:schemeClr>
                </a:solidFill>
                <a:latin typeface="Bahnschrift" panose="020B0502040204020203" pitchFamily="34" charset="0"/>
                <a:cs typeface="+mn-cs"/>
              </a:rPr>
              <a:t>XI. Alternative scenario: higher foreign food/oil prices (2023-24)</a:t>
            </a:r>
            <a:endParaRPr lang="en-US"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29</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4072126"/>
            <a:ext cx="6095999" cy="2477601"/>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Higher-than-WEO foreign food and oil prices in 2023-24</a:t>
            </a:r>
          </a:p>
          <a:p>
            <a:pPr marL="285750" indent="-285750">
              <a:buFont typeface="Wingdings" panose="05000000000000000000" pitchFamily="2" charset="2"/>
              <a:buChar char="§"/>
            </a:pPr>
            <a:r>
              <a:rPr lang="en-US" sz="1400" dirty="0">
                <a:latin typeface="Gill Sans MT" panose="020B0502020104020203" pitchFamily="34" charset="0"/>
              </a:rPr>
              <a:t>foreign food and oil prices on average 25% higher than BL</a:t>
            </a:r>
          </a:p>
          <a:p>
            <a:pPr marL="285750" indent="-285750">
              <a:buFont typeface="Wingdings" panose="05000000000000000000" pitchFamily="2" charset="2"/>
              <a:buChar char="§"/>
            </a:pPr>
            <a:r>
              <a:rPr lang="en-US" sz="1400" dirty="0">
                <a:latin typeface="Gill Sans MT" panose="020B0502020104020203" pitchFamily="34" charset="0"/>
              </a:rPr>
              <a:t>with peak around end-2023, return to WEO levels from 2025</a:t>
            </a:r>
          </a:p>
          <a:p>
            <a:pPr marL="285750" indent="-285750">
              <a:spcAft>
                <a:spcPts val="600"/>
              </a:spcAft>
              <a:buFont typeface="Wingdings" panose="05000000000000000000" pitchFamily="2" charset="2"/>
              <a:buChar char="§"/>
            </a:pPr>
            <a:r>
              <a:rPr lang="en-US" sz="1400" dirty="0">
                <a:latin typeface="Gill Sans MT" panose="020B0502020104020203" pitchFamily="34" charset="0"/>
              </a:rPr>
              <a:t>no change in fiscal policy</a:t>
            </a:r>
          </a:p>
          <a:p>
            <a:r>
              <a:rPr lang="en-GB" sz="1600" b="1" dirty="0">
                <a:solidFill>
                  <a:srgbClr val="00B0F0"/>
                </a:solidFill>
                <a:latin typeface="Gill Sans MT" panose="020B0502020104020203" pitchFamily="34" charset="0"/>
                <a:ea typeface="Calibri" panose="020F0502020204030204" pitchFamily="34" charset="0"/>
              </a:rPr>
              <a:t>Results in higher headline CPI, little or no effect on output</a:t>
            </a:r>
          </a:p>
          <a:p>
            <a:pPr marL="285750" indent="-285750">
              <a:buFont typeface="Wingdings" panose="05000000000000000000" pitchFamily="2" charset="2"/>
              <a:buChar char="§"/>
            </a:pPr>
            <a:r>
              <a:rPr lang="en-US" sz="1400" dirty="0">
                <a:latin typeface="Gill Sans MT" panose="020B0502020104020203" pitchFamily="34" charset="0"/>
              </a:rPr>
              <a:t>headline CPI temporarily higher, reflecting food/oil import shares</a:t>
            </a:r>
          </a:p>
          <a:p>
            <a:pPr marL="285750" indent="-285750">
              <a:buFont typeface="Wingdings" panose="05000000000000000000" pitchFamily="2" charset="2"/>
              <a:buChar char="§"/>
            </a:pPr>
            <a:r>
              <a:rPr lang="en-US" sz="1400" dirty="0">
                <a:latin typeface="Gill Sans MT" panose="020B0502020104020203" pitchFamily="34" charset="0"/>
              </a:rPr>
              <a:t>small response policy rate, reversed fast as expected inflation drops</a:t>
            </a:r>
          </a:p>
          <a:p>
            <a:pPr marL="285750" indent="-285750">
              <a:buFont typeface="Wingdings" panose="05000000000000000000" pitchFamily="2" charset="2"/>
              <a:buChar char="§"/>
            </a:pPr>
            <a:r>
              <a:rPr lang="en-US" sz="1400" dirty="0">
                <a:latin typeface="Gill Sans MT" panose="020B0502020104020203" pitchFamily="34" charset="0"/>
              </a:rPr>
              <a:t>small positive effect on demand of lower RIR</a:t>
            </a:r>
          </a:p>
          <a:p>
            <a:pPr marL="285750" indent="-285750">
              <a:buFont typeface="Wingdings" panose="05000000000000000000" pitchFamily="2" charset="2"/>
              <a:buChar char="§"/>
            </a:pPr>
            <a:r>
              <a:rPr lang="en-US" sz="1400" dirty="0">
                <a:latin typeface="Gill Sans MT" panose="020B0502020104020203" pitchFamily="34" charset="0"/>
              </a:rPr>
              <a:t>mostly offset by negative effect of slightly more appreciated RER</a:t>
            </a:r>
          </a:p>
          <a:p>
            <a:pPr marL="285750" indent="-285750">
              <a:buFont typeface="Wingdings" panose="05000000000000000000" pitchFamily="2" charset="2"/>
              <a:buChar char="§"/>
            </a:pPr>
            <a:r>
              <a:rPr lang="en-US" sz="1400" dirty="0">
                <a:latin typeface="Gill Sans MT" panose="020B0502020104020203" pitchFamily="34" charset="0"/>
              </a:rPr>
              <a:t>overall effect on GDP is very small, less than 0.2% </a:t>
            </a:r>
          </a:p>
        </p:txBody>
      </p:sp>
      <p:pic>
        <p:nvPicPr>
          <p:cNvPr id="6" name="Picture 5" descr="Chart, line chart&#10;&#10;Description automatically generated">
            <a:extLst>
              <a:ext uri="{FF2B5EF4-FFF2-40B4-BE49-F238E27FC236}">
                <a16:creationId xmlns:a16="http://schemas.microsoft.com/office/drawing/2014/main" id="{B580BD2F-649E-60FA-633D-03324DE6B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61146"/>
            <a:ext cx="2636649" cy="2501255"/>
          </a:xfrm>
          <a:prstGeom prst="rect">
            <a:avLst/>
          </a:prstGeom>
        </p:spPr>
      </p:pic>
      <p:pic>
        <p:nvPicPr>
          <p:cNvPr id="8" name="Picture 7" descr="Chart, line chart&#10;&#10;Description automatically generated">
            <a:extLst>
              <a:ext uri="{FF2B5EF4-FFF2-40B4-BE49-F238E27FC236}">
                <a16:creationId xmlns:a16="http://schemas.microsoft.com/office/drawing/2014/main" id="{889A9DE6-9BFC-6A53-38AD-C47A14257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1353" y="1461146"/>
            <a:ext cx="2643324" cy="2501256"/>
          </a:xfrm>
          <a:prstGeom prst="rect">
            <a:avLst/>
          </a:prstGeom>
        </p:spPr>
      </p:pic>
      <p:pic>
        <p:nvPicPr>
          <p:cNvPr id="10" name="Picture 9" descr="Chart, line chart&#10;&#10;Description automatically generated">
            <a:extLst>
              <a:ext uri="{FF2B5EF4-FFF2-40B4-BE49-F238E27FC236}">
                <a16:creationId xmlns:a16="http://schemas.microsoft.com/office/drawing/2014/main" id="{F6EB5B70-CE75-4FDF-6C04-C834BE64F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199" y="1371601"/>
            <a:ext cx="2741474" cy="2856419"/>
          </a:xfrm>
          <a:prstGeom prst="rect">
            <a:avLst/>
          </a:prstGeom>
        </p:spPr>
      </p:pic>
      <p:pic>
        <p:nvPicPr>
          <p:cNvPr id="15" name="Picture 14" descr="Chart, line chart&#10;&#10;Description automatically generated">
            <a:extLst>
              <a:ext uri="{FF2B5EF4-FFF2-40B4-BE49-F238E27FC236}">
                <a16:creationId xmlns:a16="http://schemas.microsoft.com/office/drawing/2014/main" id="{02925C9B-2BDC-4C9B-9C7D-72DD591BE9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77828" y="1600200"/>
            <a:ext cx="2655454" cy="2627820"/>
          </a:xfrm>
          <a:prstGeom prst="rect">
            <a:avLst/>
          </a:prstGeom>
        </p:spPr>
      </p:pic>
      <p:pic>
        <p:nvPicPr>
          <p:cNvPr id="18" name="Picture 17" descr="Chart, line chart&#10;&#10;Description automatically generated">
            <a:extLst>
              <a:ext uri="{FF2B5EF4-FFF2-40B4-BE49-F238E27FC236}">
                <a16:creationId xmlns:a16="http://schemas.microsoft.com/office/drawing/2014/main" id="{52BB3907-ABDC-4994-C0FA-C0740D7B4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397275"/>
            <a:ext cx="2895600" cy="2308325"/>
          </a:xfrm>
          <a:prstGeom prst="rect">
            <a:avLst/>
          </a:prstGeom>
        </p:spPr>
      </p:pic>
      <p:pic>
        <p:nvPicPr>
          <p:cNvPr id="19" name="Picture 18" descr="Chart, line chart&#10;&#10;Description automatically generated">
            <a:extLst>
              <a:ext uri="{FF2B5EF4-FFF2-40B4-BE49-F238E27FC236}">
                <a16:creationId xmlns:a16="http://schemas.microsoft.com/office/drawing/2014/main" id="{DA0C3106-E3A5-B8F3-5DA5-36C26B5C43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0716" y="4413645"/>
            <a:ext cx="2708084" cy="2308325"/>
          </a:xfrm>
          <a:prstGeom prst="rect">
            <a:avLst/>
          </a:prstGeom>
        </p:spPr>
      </p:pic>
    </p:spTree>
    <p:extLst>
      <p:ext uri="{BB962C8B-B14F-4D97-AF65-F5344CB8AC3E}">
        <p14:creationId xmlns:p14="http://schemas.microsoft.com/office/powerpoint/2010/main" val="3327543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00200" y="98737"/>
            <a:ext cx="9880600" cy="533400"/>
          </a:xfrm>
        </p:spPr>
        <p:txBody>
          <a:bodyPr/>
          <a:lstStyle/>
          <a:p>
            <a:pPr>
              <a:lnSpc>
                <a:spcPct val="150000"/>
              </a:lnSpc>
            </a:pPr>
            <a:r>
              <a:rPr lang="en-US" sz="2400" b="1" dirty="0">
                <a:solidFill>
                  <a:schemeClr val="accent4">
                    <a:lumMod val="50000"/>
                  </a:schemeClr>
                </a:solidFill>
                <a:latin typeface="Bahnschrift" panose="020B0502040204020203" pitchFamily="34" charset="0"/>
                <a:cs typeface="+mn-cs"/>
              </a:rPr>
              <a:t>VIII. QMFM: main relationships and transmission mechanisms </a:t>
            </a:r>
            <a:endParaRPr lang="en-AE" sz="2400" b="1" dirty="0">
              <a:solidFill>
                <a:schemeClr val="accent4">
                  <a:lumMod val="50000"/>
                </a:schemeClr>
              </a:solidFill>
              <a:latin typeface="Bahnschrift" panose="020B0502040204020203" pitchFamily="34" charset="0"/>
              <a:cs typeface="+mn-cs"/>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30</a:t>
            </a:fld>
            <a:endParaRPr lang="en-US" dirty="0"/>
          </a:p>
        </p:txBody>
      </p:sp>
      <p:pic>
        <p:nvPicPr>
          <p:cNvPr id="4" name="Picture 3">
            <a:extLst>
              <a:ext uri="{FF2B5EF4-FFF2-40B4-BE49-F238E27FC236}">
                <a16:creationId xmlns:a16="http://schemas.microsoft.com/office/drawing/2014/main" id="{435B370B-B524-55B7-8DFA-989DF55857A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27008" y="762000"/>
            <a:ext cx="12192000" cy="6158345"/>
          </a:xfrm>
          <a:prstGeom prst="rect">
            <a:avLst/>
          </a:prstGeom>
          <a:noFill/>
          <a:ln>
            <a:noFill/>
          </a:ln>
        </p:spPr>
      </p:pic>
    </p:spTree>
    <p:extLst>
      <p:ext uri="{BB962C8B-B14F-4D97-AF65-F5344CB8AC3E}">
        <p14:creationId xmlns:p14="http://schemas.microsoft.com/office/powerpoint/2010/main" val="3674558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51541</TotalTime>
  <Words>4926</Words>
  <Application>Microsoft Office PowerPoint</Application>
  <PresentationFormat>Widescreen</PresentationFormat>
  <Paragraphs>362</Paragraphs>
  <Slides>31</Slides>
  <Notes>22</Notes>
  <HiddenSlides>0</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31</vt:i4>
      </vt:variant>
    </vt:vector>
  </HeadingPairs>
  <TitlesOfParts>
    <vt:vector size="51" baseType="lpstr">
      <vt:lpstr>ＭＳ Ｐゴシック</vt:lpstr>
      <vt:lpstr>Aptos Narrow</vt:lpstr>
      <vt:lpstr>Arial</vt:lpstr>
      <vt:lpstr>Bahnschrift</vt:lpstr>
      <vt:lpstr>Bahnschrift Condensed</vt:lpstr>
      <vt:lpstr>Bahnschrift Light</vt:lpstr>
      <vt:lpstr>Bahnschrift Light Condensed</vt:lpstr>
      <vt:lpstr>Bahnschrift Light SemiCondensed</vt:lpstr>
      <vt:lpstr>Bahnschrift SemiLight</vt:lpstr>
      <vt:lpstr>Bookman Old Style</vt:lpstr>
      <vt:lpstr>Calibri</vt:lpstr>
      <vt:lpstr>Courier New</vt:lpstr>
      <vt:lpstr>Gill Sans MT</vt:lpstr>
      <vt:lpstr>Symbol</vt:lpstr>
      <vt:lpstr>Times New Roman</vt:lpstr>
      <vt:lpstr>Wingdings</vt:lpstr>
      <vt:lpstr>Wingdings 3</vt:lpstr>
      <vt:lpstr>2_Origin</vt:lpstr>
      <vt:lpstr>Office Theme</vt:lpstr>
      <vt:lpstr>3_Origin</vt:lpstr>
      <vt:lpstr>PowerPoint Presentation</vt:lpstr>
      <vt:lpstr>Outline/contents</vt:lpstr>
      <vt:lpstr>Acronyms</vt:lpstr>
      <vt:lpstr>Glossary of key terms</vt:lpstr>
      <vt:lpstr>II. Workings of underlying QMFM model</vt:lpstr>
      <vt:lpstr>I. Rationale of outlook &amp; underlying QMFM model</vt:lpstr>
      <vt:lpstr>IV. Recent macroeconomic developments (2015-2023) Final demand (GDP) and components</vt:lpstr>
      <vt:lpstr>IV. Recent macroeconomic developments (2015-2023) Final demand (GDP) and components</vt:lpstr>
      <vt:lpstr>Inflation: Consumer Price Index (CPI)</vt:lpstr>
      <vt:lpstr>Fiscal Policy—Deficit and components</vt:lpstr>
      <vt:lpstr>Money Market Rates: Interest and Exchange Rates</vt:lpstr>
      <vt:lpstr>Summary of recent policies</vt:lpstr>
      <vt:lpstr>Policy assumptions underlying forecasts</vt:lpstr>
      <vt:lpstr>Forecast Assumptions</vt:lpstr>
      <vt:lpstr>VI. Macroeconomic forecast/outlook Final demand—Real GDP</vt:lpstr>
      <vt:lpstr>VI. Macroeconomic forecast/outlook Final demand components</vt:lpstr>
      <vt:lpstr>Inflation—Headline CPI and components </vt:lpstr>
      <vt:lpstr>Money market rates—Policy interest rates (Inter-Bank)</vt:lpstr>
      <vt:lpstr>Money Market Rates: Exchange Rates</vt:lpstr>
      <vt:lpstr>Fiscal policy: Budget deficit and components</vt:lpstr>
      <vt:lpstr>Fiscal policy: Effect on final demand</vt:lpstr>
      <vt:lpstr>VIII. Policies guiding forecasts</vt:lpstr>
      <vt:lpstr>VII. Forecast evaluation (latest vs. new forecast)</vt:lpstr>
      <vt:lpstr>VIII. Model revision—Effect of recalibration</vt:lpstr>
      <vt:lpstr>IX. QMFM inter-twin with macro toolbox (nowcasting, MF…)</vt:lpstr>
      <vt:lpstr>VI. Inputs for intMF projections &amp; discussions (template)</vt:lpstr>
      <vt:lpstr>VI. Inputs for intMF projections &amp; discussions (cont’d) (template)</vt:lpstr>
      <vt:lpstr>PowerPoint Presentation</vt:lpstr>
      <vt:lpstr>X. Data issues and requests &amp; suggestions</vt:lpstr>
      <vt:lpstr>XI. Alternative scenario: higher foreign food/oil prices (2023-24)</vt:lpstr>
      <vt:lpstr>VIII. QMFM: main relationships and transmission mechanisms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Presentation</dc:title>
  <dc:creator>leorugwa</dc:creator>
  <cp:lastModifiedBy>Evariste MANIRUMVA</cp:lastModifiedBy>
  <cp:revision>1776</cp:revision>
  <cp:lastPrinted>2023-06-23T12:26:08Z</cp:lastPrinted>
  <dcterms:created xsi:type="dcterms:W3CDTF">2011-04-18T20:01:25Z</dcterms:created>
  <dcterms:modified xsi:type="dcterms:W3CDTF">2025-02-27T17:42:20Z</dcterms:modified>
</cp:coreProperties>
</file>