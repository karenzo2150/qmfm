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</p:sldMasterIdLst>
  <p:notesMasterIdLst>
    <p:notesMasterId r:id="rId25"/>
  </p:notesMasterIdLst>
  <p:handoutMasterIdLst>
    <p:handoutMasterId r:id="rId26"/>
  </p:handoutMasterIdLst>
  <p:sldIdLst>
    <p:sldId id="566" r:id="rId2"/>
    <p:sldId id="547" r:id="rId3"/>
    <p:sldId id="582" r:id="rId4"/>
    <p:sldId id="579" r:id="rId5"/>
    <p:sldId id="584" r:id="rId6"/>
    <p:sldId id="580" r:id="rId7"/>
    <p:sldId id="567" r:id="rId8"/>
    <p:sldId id="511" r:id="rId9"/>
    <p:sldId id="583" r:id="rId10"/>
    <p:sldId id="560" r:id="rId11"/>
    <p:sldId id="578" r:id="rId12"/>
    <p:sldId id="562" r:id="rId13"/>
    <p:sldId id="563" r:id="rId14"/>
    <p:sldId id="576" r:id="rId15"/>
    <p:sldId id="573" r:id="rId16"/>
    <p:sldId id="586" r:id="rId17"/>
    <p:sldId id="565" r:id="rId18"/>
    <p:sldId id="585" r:id="rId19"/>
    <p:sldId id="581" r:id="rId20"/>
    <p:sldId id="545" r:id="rId21"/>
    <p:sldId id="569" r:id="rId22"/>
    <p:sldId id="535" r:id="rId23"/>
    <p:sldId id="531" r:id="rId24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66"/>
            <p14:sldId id="547"/>
            <p14:sldId id="582"/>
            <p14:sldId id="579"/>
            <p14:sldId id="584"/>
            <p14:sldId id="580"/>
            <p14:sldId id="567"/>
            <p14:sldId id="511"/>
            <p14:sldId id="583"/>
            <p14:sldId id="560"/>
            <p14:sldId id="578"/>
            <p14:sldId id="562"/>
            <p14:sldId id="563"/>
            <p14:sldId id="576"/>
            <p14:sldId id="573"/>
            <p14:sldId id="586"/>
            <p14:sldId id="565"/>
            <p14:sldId id="585"/>
            <p14:sldId id="581"/>
            <p14:sldId id="545"/>
            <p14:sldId id="569"/>
            <p14:sldId id="535"/>
            <p14:sldId id="5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49" autoAdjust="0"/>
    <p:restoredTop sz="95788" autoAdjust="0"/>
  </p:normalViewPr>
  <p:slideViewPr>
    <p:cSldViewPr>
      <p:cViewPr varScale="1">
        <p:scale>
          <a:sx n="113" d="100"/>
          <a:sy n="113" d="100"/>
        </p:scale>
        <p:origin x="40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783BB-1414-C279-F950-988665617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2C1AD-D963-60D9-FC97-938A36710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63AC0-3AE0-42E1-7D17-04592A3B6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6F94D-A96F-1875-E58B-64A03AEC0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594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077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5FFA-F2B7-3365-95C3-12B67632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29277-5966-A8A8-5D70-5638B53F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544AE-56FD-6F3F-CD78-201681CE5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EF9E3-4C15-B044-4A94-0F8887FFD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09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A342-B83A-3391-8C8E-5C4540D5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A5DC1-D03A-FB02-E0F7-E6767CA01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B421E-17F7-EDE7-EE84-10172CAAB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85DD-7A61-0ABF-F817-C7B1CB599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749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73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QMFM sustainable debt-creating deficit is 5% of GDP under assumptions of: debt/GDP target of 55% (45% in NPV terms, o/w 10% domestic and 35% foreign debt, grant element 22%), real GDP growth 7.5% p.y., trading partner inflation 2% p.y., and trend RER depreciation rate 0%. The structural deficit consists of revenue 21%, government consumption 13%,government  investment 11%, and other spending 5% of GDP.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E109-D787-D4AD-0E8E-BE98CA1D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8DB73-BD56-4FFD-447F-9E08B33D5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A956D-3852-3CD3-403D-6C8EC57B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BAA10-F97B-3D25-F64A-5B360FC83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64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4E48-EDF1-C7BC-7CC0-16E83AD9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96129-5D31-1D46-33A4-1B9DE4243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21146-F106-A1A2-588A-C198D8852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B3C65-343F-BB1E-892A-25FDCA06C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854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A519-7EFD-EEC6-631F-83AF3D4F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84A19-EE79-200D-37D6-029BC60CB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F5874-FC01-A421-202B-CB03321EE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DDFA4-3E87-2E7E-8AC0-A4ACEB5D0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177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4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2860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1/27/2025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27/01/2025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8636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7" Type="http://schemas.openxmlformats.org/officeDocument/2006/relationships/image" Target="../media/image31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tmp"/><Relationship Id="rId5" Type="http://schemas.openxmlformats.org/officeDocument/2006/relationships/image" Target="../media/image29.tmp"/><Relationship Id="rId4" Type="http://schemas.openxmlformats.org/officeDocument/2006/relationships/image" Target="../media/image28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Bahnschrift" panose="020B0502040204020203" pitchFamily="34" charset="0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Bahnschrift" panose="020B0502040204020203" pitchFamily="34" charset="0"/>
              </a:rPr>
              <a:t>Summary Outlook 2024-27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Nov 2024 Round</a:t>
            </a:r>
            <a:endParaRPr lang="en-US" sz="2800" dirty="0">
              <a:solidFill>
                <a:srgbClr val="FF0000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5857"/>
            <a:ext cx="10261600" cy="549274"/>
          </a:xfrm>
        </p:spPr>
        <p:txBody>
          <a:bodyPr/>
          <a:lstStyle/>
          <a:p>
            <a:r>
              <a:rPr lang="en-GB" sz="3200" b="1" dirty="0">
                <a:latin typeface="Bahnschrift" panose="020B0502040204020203" pitchFamily="34" charset="0"/>
              </a:rPr>
              <a:t>Outline/contents</a:t>
            </a:r>
            <a:endParaRPr lang="en-AE" sz="3200" b="1" dirty="0"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685800" y="1219200"/>
            <a:ext cx="113284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Glossary of key terms and acronyms</a:t>
            </a:r>
            <a:endParaRPr lang="en-GB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Recent macroeconomic developments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Macroeconomic forecast assumptions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Macroeconomic forecast/outlook</a:t>
            </a:r>
          </a:p>
          <a:p>
            <a:pPr marL="514350" indent="-514350">
              <a:lnSpc>
                <a:spcPct val="200000"/>
              </a:lnSpc>
              <a:buFontTx/>
              <a:buAutoNum type="romanUcPeriod"/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Forecast evaluation (forecast comparison)</a:t>
            </a:r>
          </a:p>
          <a:p>
            <a:pPr marL="514350" indent="-514350">
              <a:lnSpc>
                <a:spcPct val="200000"/>
              </a:lnSpc>
              <a:buFontTx/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Model revision—Effect of recalibration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j-cs"/>
              </a:rPr>
              <a:t>QMFM interrelation with the macro toolbox (nowcasting, MF)</a:t>
            </a:r>
          </a:p>
          <a:p>
            <a:pPr>
              <a:lnSpc>
                <a:spcPct val="200000"/>
              </a:lnSpc>
            </a:pPr>
            <a:endParaRPr lang="en-GB" sz="20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514350" indent="-514350">
              <a:buAutoNum type="romanUcPeriod"/>
            </a:pPr>
            <a:endParaRPr lang="en-RW" sz="2000" b="1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66D5-96F8-C776-06D5-E110B7CA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EE73-C74B-3B84-4080-A52B3299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Glossary of key terms and acronyms</a:t>
            </a:r>
            <a:endParaRPr lang="en-AE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5FB16-A2D7-AA50-F4D7-7329FBD67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154AE9-F001-8533-BC32-D910385AC87E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5334000" cy="5334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QMFM: </a:t>
            </a:r>
            <a:r>
              <a:rPr lang="en-GB" sz="1400" dirty="0">
                <a:latin typeface="Bahnschrift Light" panose="020B0502040204020203" pitchFamily="34" charset="0"/>
              </a:rPr>
              <a:t>Quarterly Macro Fiscal Model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FPAS</a:t>
            </a:r>
            <a:r>
              <a:rPr lang="en-GB" sz="1400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en-GB" sz="1400" dirty="0">
                <a:latin typeface="Bahnschrift Light" panose="020B0502040204020203" pitchFamily="34" charset="0"/>
              </a:rPr>
              <a:t>Forecasting and Policy Analysis System (FPAS)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ER: </a:t>
            </a:r>
            <a:r>
              <a:rPr lang="en-GB" sz="1400" dirty="0">
                <a:latin typeface="Bahnschrift Light" panose="020B0502040204020203" pitchFamily="34" charset="0"/>
              </a:rPr>
              <a:t>Exchange Rates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RER:  </a:t>
            </a:r>
            <a:r>
              <a:rPr lang="en-GB" sz="1400" dirty="0">
                <a:latin typeface="Bahnschrift Light" panose="020B0502040204020203" pitchFamily="34" charset="0"/>
              </a:rPr>
              <a:t>Real Exchange Rates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RIR:  </a:t>
            </a:r>
            <a:r>
              <a:rPr lang="en-GB" sz="1400" dirty="0">
                <a:latin typeface="Bahnschrift Light" panose="020B0502040204020203" pitchFamily="34" charset="0"/>
              </a:rPr>
              <a:t>Real Interest Rates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NTF:  </a:t>
            </a:r>
            <a:r>
              <a:rPr lang="en-GB" sz="1400" dirty="0">
                <a:latin typeface="Bahnschrift Light" panose="020B0502040204020203" pitchFamily="34" charset="0"/>
              </a:rPr>
              <a:t>Neal Term Forecasts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LT:  </a:t>
            </a:r>
            <a:r>
              <a:rPr lang="en-GB" sz="1400" dirty="0">
                <a:latin typeface="Bahnschrift Light" panose="020B0502040204020203" pitchFamily="34" charset="0"/>
              </a:rPr>
              <a:t>Long Term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G&amp;S</a:t>
            </a:r>
            <a:r>
              <a:rPr lang="en-GB" sz="1400" b="1" dirty="0">
                <a:latin typeface="Bahnschrift Light" panose="020B0502040204020203" pitchFamily="34" charset="0"/>
              </a:rPr>
              <a:t>: </a:t>
            </a:r>
            <a:r>
              <a:rPr lang="en-GB" sz="1400" dirty="0">
                <a:latin typeface="Bahnschrift Light" panose="020B0502040204020203" pitchFamily="34" charset="0"/>
              </a:rPr>
              <a:t>Goods and Services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YoY, %:  </a:t>
            </a:r>
            <a:r>
              <a:rPr lang="en-GB" sz="1400" dirty="0">
                <a:latin typeface="Bahnschrift Light" panose="020B0502040204020203" pitchFamily="34" charset="0"/>
              </a:rPr>
              <a:t>Year on Year Percentage Change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IMF: 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International Monetary Funds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WEO: 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World Economic Outlook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GAS: 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General Assumptions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GEE: 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General Economic Equilibrium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CBO:  </a:t>
            </a:r>
            <a:r>
              <a:rPr lang="en-US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Central Budget Office </a:t>
            </a:r>
            <a:endParaRPr lang="en-GB" sz="1600" i="1" dirty="0">
              <a:latin typeface="Bahnschrift Light" panose="020B0502040204020203" pitchFamily="34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800" i="1" dirty="0">
              <a:latin typeface="Bahnschrift Light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7C06F3-7D38-F318-7279-90BF1F4262B5}"/>
              </a:ext>
            </a:extLst>
          </p:cNvPr>
          <p:cNvSpPr txBox="1">
            <a:spLocks/>
          </p:cNvSpPr>
          <p:nvPr/>
        </p:nvSpPr>
        <p:spPr>
          <a:xfrm>
            <a:off x="5791200" y="1143000"/>
            <a:ext cx="5334000" cy="5334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PCI:  </a:t>
            </a:r>
            <a:r>
              <a:rPr lang="en-GB" sz="1400" dirty="0">
                <a:latin typeface="Bahnschrift Light" panose="020B0502040204020203" pitchFamily="34" charset="0"/>
              </a:rPr>
              <a:t>Policy Coordination Instruments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NISR: 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National Institute of Statistics of Rwanda</a:t>
            </a:r>
            <a:endParaRPr lang="en-GB" sz="1400" dirty="0">
              <a:latin typeface="Bahnschrift Light" panose="020B0502040204020203" pitchFamily="34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NA:  </a:t>
            </a:r>
            <a:r>
              <a:rPr lang="en-GB" sz="1400" dirty="0">
                <a:latin typeface="Bahnschrift Light" panose="020B0502040204020203" pitchFamily="34" charset="0"/>
              </a:rPr>
              <a:t>National Accounts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IB:  </a:t>
            </a:r>
            <a:r>
              <a:rPr lang="en-GB" sz="1400" dirty="0">
                <a:latin typeface="Bahnschrift Light" panose="020B0502040204020203" pitchFamily="34" charset="0"/>
              </a:rPr>
              <a:t>Interbank Rates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BNR:  </a:t>
            </a:r>
            <a:r>
              <a:rPr lang="en-GB" sz="1400" dirty="0">
                <a:latin typeface="Bahnschrift Light" panose="020B0502040204020203" pitchFamily="34" charset="0"/>
              </a:rPr>
              <a:t>National Bank of Rwanda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intMF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en-US" sz="16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intergrated</a:t>
            </a:r>
            <a:r>
              <a:rPr lang="en-US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 Macroeconomic Framework </a:t>
            </a:r>
            <a:endParaRPr lang="en-GB" sz="1600" i="1" dirty="0">
              <a:latin typeface="Bahnschrift Light" panose="020B0502040204020203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en-GB" sz="1800" i="1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84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2400"/>
            <a:ext cx="10287000" cy="457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cs typeface="+mn-cs"/>
              </a:rPr>
              <a:t>I. 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Glossary of key terms and acronyms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8600" y="1143000"/>
            <a:ext cx="11658600" cy="5715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Output gap &amp; final demand gaps (+/-):  </a:t>
            </a:r>
            <a:r>
              <a:rPr lang="en-GB" sz="1200" dirty="0">
                <a:latin typeface="Bahnschrift Light" panose="020B0502040204020203" pitchFamily="34" charset="0"/>
              </a:rPr>
              <a:t>above/below potential or trend levels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Real interest &amp; real exchange rate gaps</a:t>
            </a:r>
            <a:r>
              <a:rPr lang="en-GB" sz="1200" b="1" dirty="0">
                <a:latin typeface="Bahnschrift Ligh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RIR and RER above/below neutral or equilibrium levels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Decomposition of macro aggregates by main drivers</a:t>
            </a:r>
            <a:r>
              <a:rPr lang="en-GB" sz="1200" b="1" dirty="0">
                <a:latin typeface="Bahnschrift Light" panose="020B0502040204020203" pitchFamily="34" charset="0"/>
              </a:rPr>
              <a:t>:  </a:t>
            </a:r>
            <a:r>
              <a:rPr lang="en-GB" sz="1200" dirty="0">
                <a:latin typeface="Bahnschrift Light" panose="020B0502040204020203" pitchFamily="34" charset="0"/>
              </a:rPr>
              <a:t>coloured bars in charts show contribution of each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Fiscal deficit </a:t>
            </a:r>
            <a:r>
              <a:rPr lang="en-GB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relevant for demand impact</a:t>
            </a:r>
            <a:r>
              <a:rPr lang="en-GB" sz="1200" b="1" dirty="0">
                <a:latin typeface="Bahnschrift Light" panose="020B0502040204020203" pitchFamily="34" charset="0"/>
              </a:rPr>
              <a:t>:  </a:t>
            </a:r>
            <a:r>
              <a:rPr lang="en-GB" sz="1200" dirty="0">
                <a:latin typeface="Bahnschrift Light" panose="020B0502040204020203" pitchFamily="34" charset="0"/>
              </a:rPr>
              <a:t>deficit before grants = total expenditure -/- non/tax revenue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Debt anchor &amp; sustainable deficit</a:t>
            </a:r>
            <a:r>
              <a:rPr lang="en-GB" sz="1200" b="1" dirty="0">
                <a:latin typeface="Bahnschrift" panose="020B0502040204020203" pitchFamily="34" charset="0"/>
              </a:rPr>
              <a:t>:  </a:t>
            </a:r>
            <a:r>
              <a:rPr lang="en-GB" sz="1200" dirty="0">
                <a:latin typeface="Bahnschrift Light" panose="020B0502040204020203" pitchFamily="34" charset="0"/>
              </a:rPr>
              <a:t>debt ratio to GDP target (with LT growth, inflation rates, etc.) drives sustainable debt-creating deficit.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Fiscal stance expansionary/contractionary</a:t>
            </a: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deficit and govt demand G&amp;S in % of GDP above/below trend levels </a:t>
            </a:r>
            <a:r>
              <a:rPr lang="en-GB" sz="1050" dirty="0">
                <a:latin typeface="Bahnschrift Light" panose="020B0502040204020203" pitchFamily="34" charset="0"/>
              </a:rPr>
              <a:t>(i.e., “discretionary” deficit and “discretionary” govt demand for G&amp;S in % of GDP above/below zero)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Fiscal impulse </a:t>
            </a:r>
            <a:r>
              <a:rPr lang="en-GB" sz="11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(on private demand): </a:t>
            </a:r>
            <a:r>
              <a:rPr lang="en-GB" sz="1200" dirty="0">
                <a:latin typeface="Bahnschrift Light" panose="020B0502040204020203" pitchFamily="34" charset="0"/>
              </a:rPr>
              <a:t>mainly</a:t>
            </a:r>
            <a:r>
              <a:rPr lang="en-GB" sz="1100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en-GB" sz="1200" dirty="0">
                <a:latin typeface="Bahnschrift Light" panose="020B0502040204020203" pitchFamily="34" charset="0"/>
              </a:rPr>
              <a:t>discretionary fiscal deficit affecting consumption &amp; investment   </a:t>
            </a:r>
            <a:r>
              <a:rPr lang="en-GB" sz="1050" dirty="0">
                <a:latin typeface="Bahnschrift Light" panose="020B0502040204020203" pitchFamily="34" charset="0"/>
              </a:rPr>
              <a:t>(via income, ‘optimism’)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More/less restrictive monetary policies</a:t>
            </a:r>
            <a:r>
              <a:rPr lang="en-GB" sz="1200" b="1" dirty="0">
                <a:latin typeface="Bahnschrif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(real) interest rates above/below neutral or trend levels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More/less restrictive exchange rate policies</a:t>
            </a:r>
            <a:r>
              <a:rPr lang="en-GB" sz="1200" b="1" dirty="0">
                <a:latin typeface="Bahnschrif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real exchange rate below/above equilibrium or trend level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Role of expectations</a:t>
            </a:r>
            <a:r>
              <a:rPr lang="en-GB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:</a:t>
            </a:r>
            <a:r>
              <a:rPr lang="en-GB" sz="1200" b="1" dirty="0">
                <a:latin typeface="Bahnschrift" panose="020B0502040204020203" pitchFamily="34" charset="0"/>
              </a:rPr>
              <a:t> </a:t>
            </a:r>
            <a:r>
              <a:rPr lang="en-GB" sz="1200" dirty="0">
                <a:latin typeface="Bahnschrift Light" panose="020B0502040204020203" pitchFamily="34" charset="0"/>
              </a:rPr>
              <a:t>agents today take into account expected macro variables and policies in periods ahead (e.g., expected inflation, exchange rate, final demand gaps,…)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Forward-looking</a:t>
            </a:r>
            <a:r>
              <a:rPr lang="en-GB" sz="1200" b="1" dirty="0">
                <a:latin typeface="Bahnschrif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period ahead expectation (+1 or +4 </a:t>
            </a:r>
            <a:r>
              <a:rPr lang="en-GB" sz="1200" dirty="0" err="1">
                <a:latin typeface="Bahnschrift Light" panose="020B0502040204020203" pitchFamily="34" charset="0"/>
              </a:rPr>
              <a:t>Qos</a:t>
            </a:r>
            <a:r>
              <a:rPr lang="en-GB" sz="1200" dirty="0">
                <a:latin typeface="Bahnschrift Light" panose="020B0502040204020203" pitchFamily="34" charset="0"/>
              </a:rPr>
              <a:t>)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Persistence:</a:t>
            </a:r>
            <a:r>
              <a:rPr lang="en-GB" sz="1200" b="1" dirty="0">
                <a:latin typeface="Bahnschrift Light" panose="020B0502040204020203" pitchFamily="34" charset="0"/>
              </a:rPr>
              <a:t> </a:t>
            </a:r>
            <a:r>
              <a:rPr lang="en-GB" sz="1200" dirty="0">
                <a:latin typeface="Bahnschrift Light" panose="020B0502040204020203" pitchFamily="34" charset="0"/>
              </a:rPr>
              <a:t>lag or effect of previous/initial values or behaviours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Trend:</a:t>
            </a:r>
            <a:r>
              <a:rPr lang="en-GB" sz="1200" b="1" dirty="0">
                <a:latin typeface="Bahnschrift" panose="020B0502040204020203" pitchFamily="34" charset="0"/>
              </a:rPr>
              <a:t> </a:t>
            </a:r>
            <a:r>
              <a:rPr lang="en-GB" sz="1200" dirty="0">
                <a:latin typeface="Bahnschrift" panose="020B0502040204020203" pitchFamily="34" charset="0"/>
              </a:rPr>
              <a:t>An </a:t>
            </a:r>
            <a:r>
              <a:rPr lang="en-GB" sz="1200">
                <a:latin typeface="Bahnschrift" panose="020B0502040204020203" pitchFamily="34" charset="0"/>
              </a:rPr>
              <a:t>estimated smoothed level </a:t>
            </a:r>
            <a:r>
              <a:rPr lang="en-GB" sz="1200" dirty="0">
                <a:latin typeface="Bahnschrift" panose="020B0502040204020203" pitchFamily="34" charset="0"/>
              </a:rPr>
              <a:t>or set target defined as a potential or steady state level  to which variable converge in absence of shocks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Gap: </a:t>
            </a:r>
            <a:r>
              <a:rPr lang="en-GB" sz="1200" dirty="0">
                <a:latin typeface="Bahnschrift Light" panose="020B0502040204020203" pitchFamily="34" charset="0"/>
              </a:rPr>
              <a:t>Deviation from trend or target level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Shock: </a:t>
            </a:r>
            <a:r>
              <a:rPr lang="en-GB" sz="1200" dirty="0">
                <a:latin typeface="Bahnschrift Light" panose="020B0502040204020203" pitchFamily="34" charset="0"/>
              </a:rPr>
              <a:t>All other factors not captured by model equation or parameter specification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Unobserved and observed variable</a:t>
            </a: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Estimated or calculated in the model and computed from actual data respectively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Decompositions: </a:t>
            </a:r>
            <a:r>
              <a:rPr lang="en-GB" sz="1200" dirty="0">
                <a:latin typeface="Bahnschrift Light" panose="020B0502040204020203" pitchFamily="34" charset="0"/>
              </a:rPr>
              <a:t>For gap variables, decompositions expressed in gap form, for growth variables expressed in growth rates (sum of components equals total)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400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259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3451-F807-0A0F-1199-16CC6C8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CA196-8B58-7376-E9BC-FCD9FA95F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II. Workings of underlying QMFM model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33F254-D5FE-83EA-AD15-7D09DFD77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485FBB-CAC8-34BD-B1D2-7D0D58943C66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latin typeface="Bahnschrift Light" panose="020B0502040204020203" pitchFamily="34" charset="0"/>
                <a:ea typeface="+mn-ea"/>
              </a:rPr>
              <a:t>Macro model is New-Keynesian, ‘semi-structural gap’ of the Forecasting and Policy Analysis System (FPAS)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i="1" dirty="0">
                <a:latin typeface="Bahnschrift Light" panose="020B0502040204020203" pitchFamily="34" charset="0"/>
              </a:rPr>
              <a:t>Provides forecast quarterly forecast for key macro variables </a:t>
            </a:r>
            <a:r>
              <a:rPr lang="en-GB" sz="1200" dirty="0">
                <a:latin typeface="Bahnschrift Light" panose="020B0502040204020203" pitchFamily="34" charset="0"/>
              </a:rPr>
              <a:t>(i.e., output gap, inflation, final demand components,..)</a:t>
            </a:r>
            <a:r>
              <a:rPr lang="en-GB" sz="1200" i="1" dirty="0">
                <a:latin typeface="Bahnschrift Light" panose="020B0502040204020203" pitchFamily="34" charset="0"/>
              </a:rPr>
              <a:t> </a:t>
            </a:r>
            <a:r>
              <a:rPr lang="en-GB" sz="1400" dirty="0">
                <a:latin typeface="Bahnschrift Light" panose="020B0502040204020203" pitchFamily="34" charset="0"/>
              </a:rPr>
              <a:t>as influenced by fiscal, monetary, and exchange rate policies (policy stances), incl. in response to shocks and new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emphasis on fiscal variables &amp; deficit components (revenue, govt spending &amp; structural, discretionary, cyclical components)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 Light" panose="020B0502040204020203" pitchFamily="34" charset="0"/>
              </a:rPr>
              <a:t>impact of fiscal and monetary policies inflation, and other macro aggregates on GDP (demand/output gap)</a:t>
            </a:r>
            <a:endParaRPr lang="en-GB" sz="1400" dirty="0">
              <a:latin typeface="Bahnschrift Light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tracing key macro variables(levels) in deviation from trends, potential levels, or targets: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Economic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100" dirty="0">
                <a:latin typeface="Bahnschrift Light" panose="020B0502040204020203" pitchFamily="34" charset="0"/>
              </a:rPr>
              <a:t> Analysis of observed data to examine the drivers of the patterns in macroeconomic variables.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Estimation of unobserved variables (gaps and trend)—How model fits and explains the history/past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100" i="1" dirty="0">
                <a:latin typeface="Bahnschrift Light" panose="020B0502040204020203" pitchFamily="34" charset="0"/>
              </a:rPr>
              <a:t>Analysis of Initial conditions or recent developments to understand the drivers of the business cycle and trend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Assumptions—i.e., policy stances, policy paths (deficit, interest rates, and ER), NTF,  and external/foreign position.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100" i="1" dirty="0">
                <a:latin typeface="Bahnschrift Light" panose="020B0502040204020203" pitchFamily="34" charset="0"/>
              </a:rPr>
              <a:t>After shocks and policy responses have worked out, variables return to their trends/potential levels (subject to persistence) determined by their steady-state levels </a:t>
            </a:r>
            <a:r>
              <a:rPr lang="en-GB" sz="1050" dirty="0">
                <a:latin typeface="Bahnschrift Light" panose="020B0502040204020203" pitchFamily="34" charset="0"/>
              </a:rPr>
              <a:t>  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Forecast simulation as </a:t>
            </a:r>
            <a:r>
              <a:rPr lang="en-GB" sz="1200" dirty="0">
                <a:latin typeface="Bahnschrift Light" panose="020B0502040204020203" pitchFamily="34" charset="0"/>
              </a:rPr>
              <a:t>a function of initial condition, policy stance, NTF,  and LT policy assumptions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050" dirty="0">
                <a:latin typeface="Bahnschrift Light" panose="020B0502040204020203" pitchFamily="34" charset="0"/>
              </a:rPr>
              <a:t>Analysis of the forecast of gaps and trends in short-run</a:t>
            </a:r>
          </a:p>
        </p:txBody>
      </p:sp>
    </p:spTree>
    <p:extLst>
      <p:ext uri="{BB962C8B-B14F-4D97-AF65-F5344CB8AC3E}">
        <p14:creationId xmlns:p14="http://schemas.microsoft.com/office/powerpoint/2010/main" val="326271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525CC-6031-54D0-C004-A0B3CF429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FAD5-9C91-0B2D-676A-C30EA26C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III. Rationale of outlook &amp; underlying QMFM model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A34CE4-CC66-EE86-0EE0-A34A21767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89D10F-37F8-23BB-3FED-F50F05099D1D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1201400" cy="5334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i="1" dirty="0">
                <a:latin typeface="Bahnschrift Light" panose="020B0502040204020203" pitchFamily="34" charset="0"/>
              </a:rPr>
              <a:t>Regular forecasts with a 16 quarters horizon at quarterly frequency for a large number of macro variables </a:t>
            </a:r>
            <a:r>
              <a:rPr lang="en-GB" sz="1600" dirty="0">
                <a:latin typeface="Bahnschrift Light" panose="020B0502040204020203" pitchFamily="34" charset="0"/>
              </a:rPr>
              <a:t>(i.e., output, inflation, final demands,..)</a:t>
            </a:r>
            <a:r>
              <a:rPr lang="en-GB" sz="1600" i="1" dirty="0">
                <a:latin typeface="Bahnschrift Light" panose="020B0502040204020203" pitchFamily="34" charset="0"/>
              </a:rPr>
              <a:t> </a:t>
            </a:r>
            <a:r>
              <a:rPr lang="en-GB" sz="1800" dirty="0">
                <a:latin typeface="Bahnschrift Light" panose="020B0502040204020203" pitchFamily="34" charset="0"/>
              </a:rPr>
              <a:t>as influenced by developments in fiscal, monetary, and exchange rate policies.</a:t>
            </a:r>
          </a:p>
          <a:p>
            <a:pPr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i="1" dirty="0">
                <a:latin typeface="Bahnschrift Light" panose="020B0502040204020203" pitchFamily="34" charset="0"/>
              </a:rPr>
              <a:t>Forecasts focusing on fiscal and financing/debt variables</a:t>
            </a:r>
            <a:r>
              <a:rPr lang="en-GB" sz="1800" dirty="0">
                <a:latin typeface="Bahnschrift Light" panose="020B0502040204020203" pitchFamily="34" charset="0"/>
              </a:rPr>
              <a:t>, and interaction with monetary and exchange rate policies</a:t>
            </a:r>
          </a:p>
          <a:p>
            <a:pPr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i="1" dirty="0">
                <a:latin typeface="Bahnschrift Light" panose="020B0502040204020203" pitchFamily="34" charset="0"/>
              </a:rPr>
              <a:t> Providing input for the </a:t>
            </a:r>
            <a:r>
              <a:rPr lang="en-US" sz="1800" i="1" dirty="0">
                <a:latin typeface="Bahnschrift Light" panose="020B0502040204020203" pitchFamily="34" charset="0"/>
              </a:rPr>
              <a:t>validated macro-fiscal projections </a:t>
            </a:r>
            <a:r>
              <a:rPr lang="en-US" sz="1800" dirty="0">
                <a:latin typeface="Bahnschrift Light" panose="020B0502040204020203" pitchFamily="34" charset="0"/>
              </a:rPr>
              <a:t>underpinning (medium-term) budgets and IMF-supported programs, comp</a:t>
            </a:r>
            <a:r>
              <a:rPr lang="en-GB" sz="1800" dirty="0">
                <a:latin typeface="Bahnschrift Light" panose="020B0502040204020203" pitchFamily="34" charset="0"/>
              </a:rPr>
              <a:t>lementing the </a:t>
            </a:r>
            <a:r>
              <a:rPr lang="en-GB" sz="1800" dirty="0" err="1">
                <a:latin typeface="Bahnschrift Light" panose="020B0502040204020203" pitchFamily="34" charset="0"/>
              </a:rPr>
              <a:t>intMF</a:t>
            </a:r>
            <a:r>
              <a:rPr lang="en-GB" sz="1800" dirty="0">
                <a:latin typeface="Bahnschrift Light" panose="020B0502040204020203" pitchFamily="34" charset="0"/>
              </a:rPr>
              <a:t> (Real sector-GDP supply </a:t>
            </a:r>
            <a:r>
              <a:rPr lang="en-GB" sz="1800" dirty="0" err="1">
                <a:latin typeface="Bahnschrift Light" panose="020B0502040204020203" pitchFamily="34" charset="0"/>
              </a:rPr>
              <a:t>proj</a:t>
            </a:r>
            <a:r>
              <a:rPr lang="en-GB" sz="1800" dirty="0">
                <a:latin typeface="Bahnschrift Light" panose="020B0502040204020203" pitchFamily="34" charset="0"/>
              </a:rPr>
              <a:t>.) and other macro-projection tools.</a:t>
            </a:r>
          </a:p>
          <a:p>
            <a:pPr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i="1" dirty="0">
                <a:latin typeface="Bahnschrift Light" panose="020B0502040204020203" pitchFamily="34" charset="0"/>
              </a:rPr>
              <a:t>facilitating policy coordination </a:t>
            </a:r>
            <a:r>
              <a:rPr lang="en-US" sz="1800" dirty="0">
                <a:latin typeface="Bahnschrift Light" panose="020B0502040204020203" pitchFamily="34" charset="0"/>
              </a:rPr>
              <a:t>between MINECOFIN and NBR; IMF mission preparation; and policy debate</a:t>
            </a:r>
          </a:p>
          <a:p>
            <a:pPr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i="1" dirty="0">
                <a:latin typeface="Bahnschrift Light" panose="020B0502040204020203" pitchFamily="34" charset="0"/>
              </a:rPr>
              <a:t>simulating alternative policy scenarios, and </a:t>
            </a:r>
            <a:r>
              <a:rPr lang="en-GB" sz="1800" dirty="0" err="1">
                <a:latin typeface="Bahnschrift Light" panose="020B0502040204020203" pitchFamily="34" charset="0"/>
              </a:rPr>
              <a:t>analyzing</a:t>
            </a:r>
            <a:r>
              <a:rPr lang="en-GB" sz="1800" dirty="0">
                <a:latin typeface="Bahnschrift Light" panose="020B0502040204020203" pitchFamily="34" charset="0"/>
              </a:rPr>
              <a:t> policy implications for making policy recommendations</a:t>
            </a:r>
            <a:endParaRPr lang="en-US" sz="1800" dirty="0">
              <a:latin typeface="Bahnschrift Light" panose="020B0502040204020203" pitchFamily="34" charset="0"/>
            </a:endParaRPr>
          </a:p>
          <a:p>
            <a:pPr marL="274638" lvl="1" indent="0">
              <a:spcAft>
                <a:spcPts val="600"/>
              </a:spcAft>
              <a:buNone/>
            </a:pPr>
            <a:r>
              <a:rPr lang="en-GB" sz="1200" dirty="0">
                <a:latin typeface="Bahnschrift Light" panose="020B0502040204020203" pitchFamily="34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876508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87000" cy="762000"/>
          </a:xfrm>
          <a:ln>
            <a:noFill/>
          </a:ln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IV. Recent macroeconomic developments (2015-2023)</a:t>
            </a:r>
            <a:br>
              <a:rPr lang="en-US" sz="1600" b="1" dirty="0"/>
            </a:br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Final demand: Gross Domestic Product</a:t>
            </a:r>
            <a:endParaRPr lang="en-RW" sz="20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6553199" y="4038600"/>
            <a:ext cx="5247639" cy="237807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>
                <a:latin typeface="Bahnschrift Light" panose="020B0502040204020203" pitchFamily="34" charset="0"/>
              </a:rPr>
              <a:t>Real GDP (YoY %)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050" dirty="0">
                <a:latin typeface="Bahnschrift Light" panose="020B0502040204020203" pitchFamily="34" charset="0"/>
              </a:rPr>
              <a:t>trend growth (2000-19) averaged 7.5%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050" dirty="0">
                <a:solidFill>
                  <a:schemeClr val="tx1"/>
                </a:solidFill>
                <a:latin typeface="Bahnschrift Light" panose="020B0502040204020203" pitchFamily="34" charset="0"/>
              </a:rPr>
              <a:t>in COVID year 2020, GDP dropped 3.4% and was 12% below potential (had trend growth continued) </a:t>
            </a:r>
            <a:r>
              <a:rPr lang="en-GB" sz="1050" dirty="0">
                <a:latin typeface="Bahnschrift Light" panose="020B0502040204020203" pitchFamily="34" charset="0"/>
              </a:rPr>
              <a:t>due to drops in external and domestic demand and supply constraints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050" dirty="0">
                <a:latin typeface="Bahnschrift Light" panose="020B0502040204020203" pitchFamily="34" charset="0"/>
              </a:rPr>
              <a:t>expansionary fiscal policy mitigated COVID output drop and helped subsequent recovery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050" dirty="0">
                <a:latin typeface="Bahnschrift Light" panose="020B0502040204020203" pitchFamily="34" charset="0"/>
              </a:rPr>
              <a:t>global instability, esp. Ukraine-war </a:t>
            </a:r>
            <a:r>
              <a:rPr lang="en-RW" sz="1050" dirty="0">
                <a:latin typeface="Bahnschrift Light" panose="020B0502040204020203" pitchFamily="34" charset="0"/>
              </a:rPr>
              <a:t>slowed down the recovery from 2022Q1 onward</a:t>
            </a:r>
            <a:endParaRPr lang="en-US" sz="1050" dirty="0">
              <a:latin typeface="Bahnschrift Light" panose="020B0502040204020203" pitchFamily="34" charset="0"/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050" dirty="0">
                <a:latin typeface="Bahnschrift Light" panose="020B0502040204020203" pitchFamily="34" charset="0"/>
              </a:rPr>
              <a:t>despite a strong bounce back in 2021, GDP estimated 6% below potential in late 2023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5029199" y="1168052"/>
            <a:ext cx="6771639" cy="2769989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Bahnschrift Light" panose="020B0502040204020203" pitchFamily="34" charset="0"/>
              </a:rPr>
              <a:t>Output gap drivers 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  <a:endParaRPr lang="en-RW" sz="10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accounted for most of the GDP drop and negative output gap</a:t>
            </a:r>
            <a:endParaRPr lang="en-US" sz="1000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fall in imports and expansionary government demand helped mitigate the downpull on GDP;</a:t>
            </a:r>
            <a:endParaRPr lang="en-RW" sz="10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00" b="1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contributed most to the recovery</a:t>
            </a:r>
            <a:endParaRPr lang="en-US" sz="1000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supported by continued government demand, while exports remained sluggish</a:t>
            </a:r>
            <a:endParaRPr lang="en-RW" sz="10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post-Covid recovery slowed down due to jumps in international oil and food prices, causing high inflation and drop in real consumption and other demand</a:t>
            </a:r>
            <a:endParaRPr lang="en-US" sz="1000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</a:rPr>
              <a:t>fiscal consolidation started (though in part thwarted by floods) and lowered the expansionary effect of govt demand</a:t>
            </a:r>
            <a:endParaRPr lang="en-RW" sz="1100" dirty="0">
              <a:latin typeface="Bahnschrift Ligh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827D51-9105-1F8A-3724-6F0EA7D98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68052"/>
            <a:ext cx="4554245" cy="2769989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E09202-2959-6F0B-0068-581CD4D9D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1" y="4038600"/>
            <a:ext cx="3124200" cy="237807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70CEC8-E3F9-83D2-C9A4-5D76897D5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1" y="4038601"/>
            <a:ext cx="3048000" cy="237807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78049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6683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Prices: Inflation—Consumer Price Index (CPI)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BBD95-BE42-4C2A-645F-6CCE272F3517}"/>
              </a:ext>
            </a:extLst>
          </p:cNvPr>
          <p:cNvSpPr txBox="1"/>
          <p:nvPr/>
        </p:nvSpPr>
        <p:spPr>
          <a:xfrm>
            <a:off x="4728410" y="1293399"/>
            <a:ext cx="6324600" cy="410202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600" b="1" u="sng" dirty="0">
                <a:latin typeface="Bahnschrift Light" panose="020B0502040204020203" pitchFamily="34" charset="0"/>
              </a:rPr>
              <a:t>Headline CPI—drivers  (left chart)</a:t>
            </a:r>
            <a:endParaRPr lang="en-US" sz="1100" b="1" u="sng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above target during 2020 induced by higher COVID-related food and core prices (imports)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200" b="1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lower, driven by a still sluggish economy, good agricultural harvests,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</a:p>
          <a:p>
            <a:pPr marL="171450" indent="-1714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200" i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food prices</a:t>
            </a: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driven by negative agricultural production gap and other supply shocks</a:t>
            </a:r>
          </a:p>
          <a:p>
            <a:pPr marL="171450" indent="-1714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200" i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 energy and commodity prices </a:t>
            </a:r>
            <a:endParaRPr lang="en-RW" sz="1200" i="1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200" i="1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ore prices</a:t>
            </a: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expectations, import prices (in/direct), supply-side shocks (pricing behavior not captured in the model)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latin typeface="Bahnschrift Light" panose="020B0502040204020203" pitchFamily="34" charset="0"/>
              </a:rPr>
              <a:t>deceleration observed in core and food inflation and fall in energy from 2023Q1</a:t>
            </a:r>
            <a:endParaRPr lang="en-US" sz="1200" dirty="0">
              <a:solidFill>
                <a:srgbClr val="000000"/>
              </a:solidFill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F74140-C618-F7B0-31A2-3FEE7770D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86200"/>
            <a:ext cx="4191000" cy="2743199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86DCC2-BB37-5AA1-B5F6-0840D68E5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96296"/>
            <a:ext cx="4191000" cy="264103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B5504-7432-7B4D-F75D-07F08F29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8923-3A7C-F33A-B4AA-FA797928C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2886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Fiscal policies—deficit and its components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6F2A58-B9E8-455A-EF1A-18C0010DC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1499CA-53C4-D1B1-1D91-D63F0A5968F2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E7373-7318-B8D0-DF0C-CBF182365D26}"/>
              </a:ext>
            </a:extLst>
          </p:cNvPr>
          <p:cNvSpPr txBox="1">
            <a:spLocks/>
          </p:cNvSpPr>
          <p:nvPr/>
        </p:nvSpPr>
        <p:spPr>
          <a:xfrm>
            <a:off x="203200" y="4084639"/>
            <a:ext cx="11658600" cy="253047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200" b="1" u="sng" dirty="0">
                <a:latin typeface="Bahnschrift Light" panose="020B0502040204020203" pitchFamily="34" charset="0"/>
              </a:rPr>
              <a:t>Fiscal deficit (before grants, % GDP, GFS-1986) and Govt demand (%GDP)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some fiscal consolidation pre-Covid</a:t>
            </a:r>
            <a:r>
              <a:rPr lang="en-US" sz="1200" dirty="0">
                <a:latin typeface="Bahnschrift Light" panose="020B0502040204020203" pitchFamily="34" charset="0"/>
              </a:rPr>
              <a:t>—slightly lowered deficits averaging 10% of GDP in 2015/16—2018/19, mainly through lower spending on G&amp;S (“discretionary”)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Expansionary fiscal stance under Covid</a:t>
            </a:r>
            <a:r>
              <a:rPr lang="en-US" sz="1200" dirty="0">
                <a:latin typeface="Bahnschrift Light" panose="020B0502040204020203" pitchFamily="34" charset="0"/>
              </a:rPr>
              <a:t>—increased deficits averaging 14% of GDP in FY2019/20—2021/22, mainly Covid-related spending on G&amp;S (incl. school construction) and transfers/subsidies, mostly “discretionary” spending and deficit, only small “cyclical” deficit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Start of fiscal consolidation post-Covid</a:t>
            </a:r>
            <a:r>
              <a:rPr lang="en-US" sz="1200" dirty="0">
                <a:latin typeface="Bahnschrift Light" panose="020B0502040204020203" pitchFamily="34" charset="0"/>
              </a:rPr>
              <a:t>—deficit declined to 12% of GDP in FY2022/23, with spending on G&amp;S falling by 3% points of GDP (despite flood-related spending)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Fiscal stance entailed a </a:t>
            </a:r>
            <a:r>
              <a:rPr lang="en-US" sz="1400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sharp drop in real govt demand for G&amp;S</a:t>
            </a: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,</a:t>
            </a:r>
            <a:r>
              <a:rPr lang="en-US" sz="1400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further exacerbated by surging inflation from early 2022 before falling in 2023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8690A-BF24-AB91-8945-CE300FC1B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219200"/>
            <a:ext cx="43688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563FA2-4695-B2FD-D819-734F0330B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00" y="1219200"/>
            <a:ext cx="32512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E65E1E-F9D3-D714-ED2B-5B8A7D295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219200"/>
            <a:ext cx="38862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086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2075"/>
            <a:ext cx="10414000" cy="838200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V. Forecast assumptions </a:t>
            </a:r>
            <a:br>
              <a:rPr lang="en-US" b="1" dirty="0"/>
            </a:br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Current cyclical position, policy stance &amp; external environment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405063" y="1219200"/>
            <a:ext cx="11557000" cy="549612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September 2024 IMF WEO-GAS/GEE and CBO US RIR projection for external assumptions; NBR’s monetary and ER policy stance for domestic assumption.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Real GDP uses Near Term Forecasts (NTF)—Nowcasting (i.e., 7.9% and 5.1% for Q3 &amp; Q4 2024)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CPI:  2024Q4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(Sept as an average of observed for July &amp; Aug)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IR and ER paths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(i.e., 7.5% IB rate for Q3, ER: Q3 and Q4—IMF BNR prog 2024 depreciation path) 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ER (s) 2024Q3 (Obs. July &amp; Aug and Sept as </a:t>
            </a:r>
            <a:r>
              <a:rPr lang="en-US" sz="14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eop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 28th Sept) tuned as aver of 3Mo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ER (</a:t>
            </a:r>
            <a:r>
              <a:rPr lang="en-US" sz="14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dls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): 100 * log(1 + 0.09)) for 2024Q4 assuming % ann. depreciation of 9% for 2024 (end-June)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Baseline fiscal policies: Fiscal deficit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as in PCI 2023/24-2025/26 IMF Program (March 2024 Projections)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Post-PCI program:  return to the previous path of gradually moving toward a sustainable deficit of 5% of GDP (7.5% excl. grants) rather than 3% as in the post-PCI IMF Program. 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Govt revenue (</a:t>
            </a:r>
            <a:r>
              <a:rPr lang="en-US" sz="12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grev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) and exogenously taken as per the path agreed upon in the IMF PCI program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Data expert judgement: 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given persistent and new anomalies observed in NISR NA final-demand data (i.e., overshooting imports, exports and inventories) for 2023Q3-2024Q2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Suppression of NA data and replaced by model estimates to get plausible initial conditions (i.e., GDP trend) for the forecast simulation.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Observed data ranged 2006Q1-2024Q2, and forecast simulation ranged 2024Q1-2027Q4, implying that data for 2024Q1&amp;2 was used for forecast as it was observed.  </a:t>
            </a:r>
          </a:p>
        </p:txBody>
      </p:sp>
    </p:spTree>
    <p:extLst>
      <p:ext uri="{BB962C8B-B14F-4D97-AF65-F5344CB8AC3E}">
        <p14:creationId xmlns:p14="http://schemas.microsoft.com/office/powerpoint/2010/main" val="27919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External environment assumptions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09066" y="3657600"/>
            <a:ext cx="3656754" cy="6096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World real interest rates are expected to rise from negative around -1% in the past </a:t>
            </a:r>
            <a:r>
              <a:rPr lang="en-US" sz="800" dirty="0"/>
              <a:t>decade</a:t>
            </a:r>
            <a:r>
              <a:rPr lang="en-US" sz="900" dirty="0"/>
              <a:t> to +1% by 2027,</a:t>
            </a:r>
          </a:p>
          <a:p>
            <a:pPr marL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increase likely transmitting one-for-one to Rwanda’s sovereign borrowing rates</a:t>
            </a:r>
            <a:endParaRPr lang="en-GB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457201" y="3657600"/>
            <a:ext cx="4265684" cy="920765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Rwanda still enjoys recovery in trading partner demand relative to Covid-years, at 3% </a:t>
            </a:r>
            <a:r>
              <a:rPr lang="en-GB" sz="1200" dirty="0" err="1">
                <a:latin typeface="+mn-lt"/>
              </a:rPr>
              <a:t>p.y</a:t>
            </a:r>
            <a:r>
              <a:rPr lang="en-GB" sz="1200" dirty="0">
                <a:latin typeface="+mn-lt"/>
              </a:rPr>
              <a:t>., well above the trend</a:t>
            </a:r>
          </a:p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World economy slowing down as interest rates are raised in response to inflation before catching up since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457199" y="4733973"/>
            <a:ext cx="4258065" cy="92333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indent="-285750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trading partners’ CPI inflation (in US$)—subdued at 1.5% p.y. in the past 5-7 years</a:t>
            </a:r>
          </a:p>
          <a:p>
            <a:pPr indent="-285750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projected to return and remain below trend level of 2% in the coming years</a:t>
            </a:r>
            <a:r>
              <a:rPr lang="en-US" sz="1800" dirty="0">
                <a:latin typeface="+mn-lt"/>
              </a:rPr>
              <a:t> </a:t>
            </a:r>
            <a:endParaRPr lang="en-AE" sz="18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E3C7CE-A7F7-E6C9-1342-1428AAC53EC2}"/>
              </a:ext>
            </a:extLst>
          </p:cNvPr>
          <p:cNvSpPr txBox="1"/>
          <p:nvPr/>
        </p:nvSpPr>
        <p:spPr>
          <a:xfrm>
            <a:off x="288756" y="6154809"/>
            <a:ext cx="4359443" cy="42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07000"/>
              </a:lnSpc>
              <a:spcAft>
                <a:spcPts val="800"/>
              </a:spcAft>
            </a:pPr>
            <a:r>
              <a:rPr lang="en-GB" sz="1050" b="1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overall outlook is improving</a:t>
            </a:r>
            <a:r>
              <a:rPr lang="en-GB" sz="105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after the Covid and Ukraine shocks, but with downside risks</a:t>
            </a:r>
            <a:r>
              <a:rPr lang="en-GB" sz="10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RW" sz="1050" dirty="0">
              <a:latin typeface="+mn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6A98B51-4159-B540-38A8-E27265166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064" y="1183510"/>
            <a:ext cx="3696037" cy="239789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28130-E64F-AAEF-60B9-052B0CAA2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76540"/>
            <a:ext cx="4263299" cy="239789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CF3799-7B07-0A86-5E42-23CA6C700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2000" y="3657600"/>
            <a:ext cx="3436799" cy="285464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52EE7B-FA12-62E2-06EC-C6A47A4BA7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2000" y="1183510"/>
            <a:ext cx="3436799" cy="239092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1BCB1F5-ABF0-547C-D339-A494B5B058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063" y="3657599"/>
            <a:ext cx="3696037" cy="285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39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Domestic environment assumptions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2E18-8FD6-EE83-F9B4-F774C96DF151}"/>
              </a:ext>
            </a:extLst>
          </p:cNvPr>
          <p:cNvSpPr txBox="1"/>
          <p:nvPr/>
        </p:nvSpPr>
        <p:spPr>
          <a:xfrm>
            <a:off x="6096000" y="1320730"/>
            <a:ext cx="5892800" cy="4670959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2F5496"/>
                </a:solidFill>
                <a:latin typeface="Gill Sans MT"/>
                <a:cs typeface="Times New Roman" panose="02020603050405020304" pitchFamily="18" charset="0"/>
              </a:rPr>
              <a:t>Sept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Gill Sans MT"/>
                <a:ea typeface="ＭＳ Ｐゴシック" charset="-128"/>
                <a:cs typeface="Times New Roman" panose="02020603050405020304" pitchFamily="18" charset="0"/>
              </a:rPr>
              <a:t>. 2024 forecast round: “tuning” near-term policies, nowcasts</a:t>
            </a:r>
            <a:r>
              <a:rPr lang="en-GB" sz="1600" b="1" dirty="0">
                <a:solidFill>
                  <a:srgbClr val="2F5496"/>
                </a:solidFill>
                <a:latin typeface="Gill Sans MT"/>
                <a:cs typeface="Times New Roman" panose="02020603050405020304" pitchFamily="18" charset="0"/>
              </a:rPr>
              <a:t>, and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Gill Sans MT"/>
                <a:ea typeface="ＭＳ Ｐゴシック" charset="-128"/>
                <a:cs typeface="Times New Roman" panose="02020603050405020304" pitchFamily="18" charset="0"/>
              </a:rPr>
              <a:t> new information</a:t>
            </a:r>
          </a:p>
          <a:p>
            <a:pPr marL="342900" marR="0" lvl="0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fiscal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consolidation: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deficit before grants ‘set’ at PCI targets of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8.9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% for 2024/25 and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7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.5% for 2025/26</a:t>
            </a:r>
          </a:p>
          <a:p>
            <a:pPr marL="800100" marR="0" lvl="1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beyond PCI, deficit (before grants) driven by fiscal anchor determined by  target debt/GDP ratios, that is a sustainable level of 8% of GDP</a:t>
            </a:r>
          </a:p>
          <a:p>
            <a:pPr marL="342900" marR="0" lvl="0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policy interest rate (IB):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maintained at 6.5% for 2024Q4; </a:t>
            </a:r>
            <a:r>
              <a:rPr lang="en-GB" sz="1400" dirty="0">
                <a:latin typeface="Gill Sans MT"/>
              </a:rPr>
              <a:t>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hereafter: follows policy interest rate (IB) rule</a:t>
            </a:r>
          </a:p>
          <a:p>
            <a:pPr marL="342900" marR="0" lvl="0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exchange rate (ER)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current-year PCI-program targeted annual depreciation: ER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path in 2024 set to 9% y-on-y in </a:t>
            </a:r>
            <a:r>
              <a:rPr lang="en-GB" sz="1100" dirty="0">
                <a:latin typeface="Gill Sans MT"/>
              </a:rPr>
              <a:t>Oct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2024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GDP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next two quarters:  set to “now/forecasting” for Q3&amp;4 2024</a:t>
            </a:r>
          </a:p>
          <a:p>
            <a:pPr marL="342900" marR="0" lvl="0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agriculture: expected return to normal and fading of domestic food price shocks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AF90A-CB99-7998-3709-17616CCD0F5F}"/>
              </a:ext>
            </a:extLst>
          </p:cNvPr>
          <p:cNvSpPr txBox="1"/>
          <p:nvPr/>
        </p:nvSpPr>
        <p:spPr>
          <a:xfrm>
            <a:off x="80211" y="5410200"/>
            <a:ext cx="5715000" cy="615553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Gill Sans MT"/>
              </a:rPr>
              <a:t>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ote: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2023/24 and 2024/25 Budget deficits and spending on G&amp;S have been tuned based on the semester breakdown of annual figures (because the projected quarterly breakdown is not available), hence quarters are the same within the semester</a:t>
            </a:r>
            <a:endParaRPr lang="en-RW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38ECBC-87CD-5167-EC66-0AF4D11DC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1" y="1320730"/>
            <a:ext cx="5943600" cy="401327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823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-9678"/>
            <a:ext cx="10261600" cy="1000278"/>
          </a:xfrm>
        </p:spPr>
        <p:txBody>
          <a:bodyPr/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VI. Macroeconomic forecast/outlook</a:t>
            </a:r>
            <a:br>
              <a:rPr lang="en-GB" b="1" dirty="0"/>
            </a:b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Real economy—Key macro-aggregates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8DEC5-1FAB-D500-293A-700C1FD54A78}"/>
              </a:ext>
            </a:extLst>
          </p:cNvPr>
          <p:cNvSpPr txBox="1"/>
          <p:nvPr/>
        </p:nvSpPr>
        <p:spPr>
          <a:xfrm>
            <a:off x="4419600" y="3834063"/>
            <a:ext cx="7559842" cy="2705869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05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real GDP 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forecast to</a:t>
            </a:r>
            <a:r>
              <a:rPr lang="en-US" sz="105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slow down markedly in 2025-26, well below potential growth, followed by a catch-up (a bit above potential) in 2027-28, before returning to the regular growth path of 7½%. 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GDP growth in 2024 is forecast at 8% despite a slowdown to 5% in the last Q, given robustness earlier in 2024. Growth so far in 2024 was helped by still low RIR and still modest fiscal restraint.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05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slowdown in 2025-26 is driven by: </a:t>
            </a:r>
            <a:endParaRPr lang="en-RW" sz="105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contractionary effect of strong fiscal consolidation, both directly as govt demand for G&amp;S falls, and indirectly through the negative fiscal impulse on private demand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negative impact on demand of increased RIR as the real lending rates return to normal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slightly offsetting positive, but lagged effect on net exports of recent and further RER depreciation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05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catch up in 2027-28 is driven by:  </a:t>
            </a:r>
            <a:endParaRPr lang="en-RW" sz="105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 of fiscal consolidation, the negative fiscal impulse stops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 of increase and the start of a slight decrease in RIR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positive impact of more depreciated RER (some undervaluation)         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E879E0-3E8F-B4B8-13A2-FF841F4AB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43000"/>
            <a:ext cx="4874126" cy="1676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4C1807B-0FA2-90F3-9224-6AACA8210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11" y="2895600"/>
            <a:ext cx="4114800" cy="3644332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B78D262-5BD4-3E31-E03C-4E230A533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442" y="1122947"/>
            <a:ext cx="3302000" cy="2666999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1D87A8-7EDF-A0F1-D26E-DBA7057802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0" y="1143000"/>
            <a:ext cx="3429000" cy="264694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02932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38656"/>
            <a:ext cx="100584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Real economy—Prices &amp; market rates 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B9D025-CC2E-BA46-942B-5C53E9D9632B}"/>
              </a:ext>
            </a:extLst>
          </p:cNvPr>
          <p:cNvSpPr txBox="1"/>
          <p:nvPr/>
        </p:nvSpPr>
        <p:spPr>
          <a:xfrm>
            <a:off x="203200" y="1219200"/>
            <a:ext cx="6096000" cy="3421449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CPI 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forecast to be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subdued, below 5% through 2027, followed by a gradual return to target 5%</a:t>
            </a:r>
            <a:endParaRPr lang="en-RW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y-o-y and period average CPI in 2024 should be below 5%, helped by a recent drop in food prices, a reversal in 2023-24 of earlier positive price shocks, and expectation of lower inflation thanks to demand-restraining policies.</a:t>
            </a:r>
          </a:p>
          <a:p>
            <a:pPr marL="0" marR="0">
              <a:spcAft>
                <a:spcPts val="800"/>
              </a:spcAft>
            </a:pPr>
            <a:r>
              <a:rPr lang="en-US" sz="11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CPI well below 5% in 2025-27 is driven by:</a:t>
            </a:r>
            <a:endParaRPr lang="en-RW" sz="1100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 of increasing RIR and large negative fiscal impulse on demand, hence output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continued drop in food prices as agriculture returns to normal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still low trading partner prices, and a small drop in world energy and food prices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somewhat offset by the CPI-increasing effect of NER depreciation on import prices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1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return to the target CPI from 2028 onward is driven by:      </a:t>
            </a:r>
            <a:endParaRPr lang="en-RW" sz="1100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govt demand pick up (as consolidation stops post-PCI)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other demand components return to normal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interest rate policies push inflation back to target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C7D7C-71B8-56DD-AC93-CB49FD4B4098}"/>
              </a:ext>
            </a:extLst>
          </p:cNvPr>
          <p:cNvSpPr txBox="1"/>
          <p:nvPr/>
        </p:nvSpPr>
        <p:spPr>
          <a:xfrm>
            <a:off x="6400800" y="1231232"/>
            <a:ext cx="5715000" cy="3135025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Final demand: 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private demands are forecast to slow down in 2025-26, returning to normal thereafter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consumption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above-trend growth in 2023/early 2024, restrictive policies lower real consumption growth to </a:t>
            </a:r>
            <a:r>
              <a:rPr lang="en-US" sz="11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4% in 2025-26, before it returns to trend growth in line with GDP (7.5%)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investment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sluggish growth in 2022-23, growth is forecast to be strong in 2024 (above 10%), slowing down to </a:t>
            </a:r>
            <a:r>
              <a:rPr lang="en-US" sz="11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6% in 2025-26 as real lending rates increase; then moves to trend growth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exports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above trend growth in 2023-24, export growth slows down but gradually as the positive effect of recent RER depreciation keeps export growth above trend the whole period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govt demand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almost no growth in 2025-26 due to fiscal consolidation, strong pickup thereafter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imports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follow other demand components (including govt demand) 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255E85-3DAC-F41A-4761-EE88D22C9C8E}"/>
              </a:ext>
            </a:extLst>
          </p:cNvPr>
          <p:cNvSpPr txBox="1"/>
          <p:nvPr/>
        </p:nvSpPr>
        <p:spPr>
          <a:xfrm>
            <a:off x="203200" y="4726155"/>
            <a:ext cx="6096000" cy="1855764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ER: 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returns gradually to a path of only correcting for inflation differentials (2%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recent real overvaluation (mostly from 2022-23 inflation episode) has already been more than corrected with NBR's 2023-24 steep depreciation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QMFM projects return to ER policy rule (mostly moving with inflation differentials), no need for further RER depreciation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PCI, instead, "poses" lingering overvaluation of 15% (which evidence?) requiring more depreciation, as built into PCI projection  2024-28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70FD5B-87D0-4E25-B9E9-C9B2AA71A3DB}"/>
              </a:ext>
            </a:extLst>
          </p:cNvPr>
          <p:cNvSpPr txBox="1"/>
          <p:nvPr/>
        </p:nvSpPr>
        <p:spPr>
          <a:xfrm>
            <a:off x="6408821" y="4480961"/>
            <a:ext cx="5799221" cy="1990288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RIR  lending rate: 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expected to go up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normal (around 12%, for 8% margin above IB rate), but remain above pre-Covid level as world RIR projected to reach 1.5% (from negative in recent years)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RIR lending rates have been low (below trend) during most of 2022-24 though they have been rising in recent quarters (as inflation fell)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they are now returning to normal, their demand-stimulating effect is ending and reversing</a:t>
            </a:r>
            <a:endParaRPr lang="en-US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neutral policy (IB) rate—after a temporary drop with low inflation--is expected to go up to 8.5-9% (and 4-4.5% in real terms) as world RIR increases and CPI inflation returns to target</a:t>
            </a:r>
            <a:endParaRPr lang="en-RW" sz="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559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190753"/>
            <a:ext cx="10439400" cy="598114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Fiscal policy: govt demand for G&amp;S and fiscal impulse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2895600" y="1504845"/>
            <a:ext cx="4743966" cy="192415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Fiscal path assumed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PCI targets FY2024/25-2025/26 for deficit, revenue, and spending are set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negative govt demand and fiscal impulse entail a growth slowdown in 2025-26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late 2026, the negative fiscal impulse ends, deficit moves back up toward a sustainable path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beyond-PCI sustainable fiscal ratios toward, rev/GDP 24%, govt-</a:t>
            </a:r>
            <a:r>
              <a:rPr lang="en-GB" sz="1050" kern="100" dirty="0" err="1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G&amp;S 26%, other exp 5.5% grants 2.5% and 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debt-creating deficit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5% of GDP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(consistent with 45% NPV public debt)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esp. as revenue is slow to rise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debt-creating deficits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are for a few years above sustainable, at 7%.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152400" y="1057313"/>
            <a:ext cx="11654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Bahnschrift Light" panose="020B0502040204020203" pitchFamily="34" charset="0"/>
              </a:rPr>
              <a:t>Fi</a:t>
            </a:r>
            <a:r>
              <a:rPr lang="en-GB" sz="1800" b="1" dirty="0">
                <a:solidFill>
                  <a:srgbClr val="0070C0"/>
                </a:solidFill>
                <a:latin typeface="Bahnschrift Light" panose="020B0502040204020203" pitchFamily="34" charset="0"/>
              </a:rPr>
              <a:t>scal policies affecting output in short-run via several channels captured in the model</a:t>
            </a:r>
            <a:r>
              <a:rPr lang="en-GB" sz="1400" b="1" dirty="0">
                <a:solidFill>
                  <a:srgbClr val="0070C0"/>
                </a:solidFill>
                <a:latin typeface="+mj-lt"/>
              </a:rPr>
              <a:t>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308674" y="1492943"/>
            <a:ext cx="2507809" cy="1444754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Bahnschrift Light" panose="020B0502040204020203" pitchFamily="34" charset="0"/>
              </a:rPr>
              <a:t>--from 2024, govt demand % GDP switches from above to below its structural trend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Bahnschrift Light" panose="020B0502040204020203" pitchFamily="34" charset="0"/>
              </a:rPr>
              <a:t>--implies negative govt demand for  2023-25, fading thereafter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F52AC-AF12-DEB8-67E0-236834BE9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683" y="1504844"/>
            <a:ext cx="4191000" cy="4911832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2CAF46-8113-0697-4A59-3EF22BE5E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68" y="3505200"/>
            <a:ext cx="3759200" cy="291147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12248F-F564-BABA-E0E9-4A0F960A5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985" y="3505200"/>
            <a:ext cx="3627581" cy="2971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17536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9282-7046-C4D8-0D18-7B7D8433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E4B2-716E-3D87-F285-17B209CE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5"/>
            <a:ext cx="8839200" cy="3968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Policies guiding forecasts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5EB00-211B-0E7C-613E-8B4B3416D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66A508-DB28-B023-DC0E-D21FBF74CEDE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FB2865-5237-D65A-1131-AAB6370AA696}"/>
              </a:ext>
            </a:extLst>
          </p:cNvPr>
          <p:cNvSpPr txBox="1">
            <a:spLocks/>
          </p:cNvSpPr>
          <p:nvPr/>
        </p:nvSpPr>
        <p:spPr>
          <a:xfrm>
            <a:off x="1143000" y="1140106"/>
            <a:ext cx="6019800" cy="33890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Main indicators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F1E6C-DA97-4A9D-685D-B846CBEB5751}"/>
              </a:ext>
            </a:extLst>
          </p:cNvPr>
          <p:cNvSpPr txBox="1"/>
          <p:nvPr/>
        </p:nvSpPr>
        <p:spPr>
          <a:xfrm>
            <a:off x="6793624" y="1479010"/>
            <a:ext cx="5029200" cy="351096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Nov 2024 vs. Sept 2023 forecasts</a:t>
            </a:r>
          </a:p>
          <a:p>
            <a:pPr algn="just">
              <a:lnSpc>
                <a:spcPct val="150000"/>
              </a:lnSpc>
            </a:pPr>
            <a:r>
              <a:rPr lang="en-GB" sz="1600" b="1" dirty="0">
                <a:latin typeface="Bahnschrift" panose="020B0502040204020203" pitchFamily="34" charset="0"/>
              </a:rPr>
              <a:t>Effect of parameter recalibration (Incl. IB rate response to inflation and output gap, UIP and Core CPI persistence)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More responsive policy and real interest rates on inflation (recalibrated reaction of IR on inflation)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A less overvalued Exchange Rate (ER)—A less ER depreciation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CPI turning to target and more accelerated post 2026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Higher GDP growth due to less tight monetary policy.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32D23-1022-6576-0B57-A9D1A080C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95504"/>
            <a:ext cx="6324600" cy="503946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0538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4"/>
            <a:ext cx="8839200" cy="5492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VII. Forecast evaluation (latest vs. new forecast)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14A58F-5106-C8F6-D986-844BA0772EDF}"/>
              </a:ext>
            </a:extLst>
          </p:cNvPr>
          <p:cNvSpPr txBox="1">
            <a:spLocks/>
          </p:cNvSpPr>
          <p:nvPr/>
        </p:nvSpPr>
        <p:spPr>
          <a:xfrm>
            <a:off x="1143000" y="1182012"/>
            <a:ext cx="8610600" cy="39687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Main indicators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6A0F5-D0A6-542C-AF7D-0AC2B6E046F8}"/>
              </a:ext>
            </a:extLst>
          </p:cNvPr>
          <p:cNvSpPr txBox="1"/>
          <p:nvPr/>
        </p:nvSpPr>
        <p:spPr>
          <a:xfrm>
            <a:off x="7315200" y="1722606"/>
            <a:ext cx="4495800" cy="4940327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Nov 2024 vs. Nov 2023 forecast</a:t>
            </a:r>
          </a:p>
          <a:p>
            <a:pPr>
              <a:lnSpc>
                <a:spcPct val="150000"/>
              </a:lnSpc>
            </a:pPr>
            <a:r>
              <a:rPr lang="en-US" sz="1800" b="1" i="1" dirty="0">
                <a:latin typeface="Bahnschrift Light" panose="020B0502040204020203" pitchFamily="34" charset="0"/>
              </a:rPr>
              <a:t>Effect of new observed data/info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More responsive policy and real interest rates on inflation (recalibrated reaction of IR on inflation)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More overvalued Exchange Rate (ER)—A higher ER depreciation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CPI turning to target and more accelerated post 2026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A lower budget deficit—more consolidated fiscal policies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Lower GDP growth due to tight monetary and fiscal policy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16289-E9C3-BE91-811E-C43F342FE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722606"/>
            <a:ext cx="6934199" cy="4906794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DAA0-2284-87D1-F321-AC0FD09E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0F8AA-B97D-DC41-1036-94BDAA51A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5"/>
            <a:ext cx="8839200" cy="3968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Model revision—Effect of recalibration)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FF2078-3EB9-C5F0-7970-143EF934F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AF2C41-745B-2914-8149-03CBB7D6F627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BD608F-C07F-6A6A-C26E-1E077561A3E8}"/>
              </a:ext>
            </a:extLst>
          </p:cNvPr>
          <p:cNvSpPr txBox="1">
            <a:spLocks/>
          </p:cNvSpPr>
          <p:nvPr/>
        </p:nvSpPr>
        <p:spPr>
          <a:xfrm>
            <a:off x="1143000" y="1140106"/>
            <a:ext cx="6019800" cy="33890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Main indicators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FA967-B138-F6ED-6048-1680A554DAB6}"/>
              </a:ext>
            </a:extLst>
          </p:cNvPr>
          <p:cNvSpPr txBox="1"/>
          <p:nvPr/>
        </p:nvSpPr>
        <p:spPr>
          <a:xfrm>
            <a:off x="7391400" y="1981200"/>
            <a:ext cx="4495800" cy="429579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Nov 2024 vs. Sept 2023 forecasts</a:t>
            </a:r>
          </a:p>
          <a:p>
            <a:pPr algn="just">
              <a:lnSpc>
                <a:spcPct val="150000"/>
              </a:lnSpc>
            </a:pPr>
            <a:r>
              <a:rPr lang="en-GB" sz="1600" b="1" dirty="0">
                <a:latin typeface="Bahnschrift" panose="020B0502040204020203" pitchFamily="34" charset="0"/>
              </a:rPr>
              <a:t>Effect of parameter recalibration (Incl. IB rate response to inflation and output gap, UIP and Core CPI persistence)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More responsive policy and real interest rates on inflation (recalibrated reaction of IR on inflation)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A less overvalued Exchange Rate (ER)—A less ER depreciation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CPI turning to target and more accelerated post 2026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Higher GDP growth due to less tight monetary policy.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1487EB-3E0C-689D-01C9-02AECF465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95504"/>
            <a:ext cx="6858000" cy="503946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5127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4C96-2DDB-9AEE-BF92-AAB06412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B59F-3F2B-B167-21D0-64EC383E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IX. QMFM inter-twin with macro toolbox (nowcasting, MF…)</a:t>
            </a:r>
            <a:endParaRPr lang="en-GB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A72F3-B15E-50D8-AC09-B858F590D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1AB29CD-B87E-5056-6100-81504BB9822A}"/>
              </a:ext>
            </a:extLst>
          </p:cNvPr>
          <p:cNvSpPr txBox="1">
            <a:spLocks/>
          </p:cNvSpPr>
          <p:nvPr/>
        </p:nvSpPr>
        <p:spPr>
          <a:xfrm>
            <a:off x="838200" y="1504845"/>
            <a:ext cx="10972800" cy="451495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1600" dirty="0"/>
              <a:t>Calibration of elasticities and exogenous assumptions (i.e., exogenous growth rates of final demand components)</a:t>
            </a:r>
          </a:p>
          <a:p>
            <a:pPr algn="just"/>
            <a:r>
              <a:rPr lang="en-GB" sz="1600" dirty="0"/>
              <a:t>During IMF Mission and Projections reviews (March) QMFM quarterly GDP estimation is useful to inform Real sector/MF </a:t>
            </a:r>
            <a:r>
              <a:rPr lang="en-GB" sz="1600" dirty="0" err="1"/>
              <a:t>Inyear</a:t>
            </a:r>
            <a:r>
              <a:rPr lang="en-GB" sz="1600" dirty="0"/>
              <a:t> projections.</a:t>
            </a:r>
          </a:p>
          <a:p>
            <a:pPr algn="just"/>
            <a:r>
              <a:rPr lang="en-GB" sz="1600" dirty="0"/>
              <a:t> Quarterly estimation of GDP from demand side can be used to evaluate quarterly nowcasts</a:t>
            </a:r>
          </a:p>
          <a:p>
            <a:pPr algn="just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40427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61600" cy="60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X. Data issues and requests &amp; suggestions</a:t>
            </a:r>
            <a:endParaRPr lang="en-RW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1092200" y="1295400"/>
            <a:ext cx="1089660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Model/Outlook data issues to be addressed</a:t>
            </a: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– fiscal: accurate govt demand for G&amp;S, more timely and reliable Q data, timely Q treasury plan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– debt: timely &amp; complete Q data (showing IMF separately) and projections integrated into intMF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NA/NISR – discrepancies/anomalies Govt consumption, investment, inventories, final demand deflators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NBR – more timely Q BoP data, as input for models and intMF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            NBR-FPAS results, 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analysis of potential output, 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international interest rates (GPM)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WEOGAS &amp; GEE in right format– timely sharing by IMF staff,  QoQ projection instead of  YoY</a:t>
            </a:r>
            <a:endParaRPr lang="en-US" sz="1800" b="1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timely data reconciliation and iterative comparison of forecast results from various tools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input for intMF well before each Review and each quarter</a:t>
            </a:r>
          </a:p>
        </p:txBody>
      </p:sp>
    </p:spTree>
    <p:extLst>
      <p:ext uri="{BB962C8B-B14F-4D97-AF65-F5344CB8AC3E}">
        <p14:creationId xmlns:p14="http://schemas.microsoft.com/office/powerpoint/2010/main" val="641872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84158"/>
            <a:ext cx="10457873" cy="60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XI. Alternative scenario: higher foreign food/oil prices (2023-24)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4072126"/>
            <a:ext cx="609599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98737"/>
            <a:ext cx="9880600" cy="533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QMFM: main relationships and transmission mechanisms 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008" y="762000"/>
            <a:ext cx="12192000" cy="6158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46738</TotalTime>
  <Words>3751</Words>
  <Application>Microsoft Office PowerPoint</Application>
  <PresentationFormat>Widescreen</PresentationFormat>
  <Paragraphs>286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ＭＳ Ｐゴシック</vt:lpstr>
      <vt:lpstr>Aptos</vt:lpstr>
      <vt:lpstr>Arial</vt:lpstr>
      <vt:lpstr>Bahnschrift</vt:lpstr>
      <vt:lpstr>Bahnschrift Light</vt:lpstr>
      <vt:lpstr>Bookman Old Style</vt:lpstr>
      <vt:lpstr>Calibri</vt:lpstr>
      <vt:lpstr>Courier New</vt:lpstr>
      <vt:lpstr>Gill Sans MT</vt:lpstr>
      <vt:lpstr>Symbol</vt:lpstr>
      <vt:lpstr>Times New Roman</vt:lpstr>
      <vt:lpstr>Wingdings</vt:lpstr>
      <vt:lpstr>Wingdings 3</vt:lpstr>
      <vt:lpstr>2_Origin</vt:lpstr>
      <vt:lpstr>PowerPoint Presentation</vt:lpstr>
      <vt:lpstr>Outline/contents</vt:lpstr>
      <vt:lpstr>Glossary of key terms and acronyms</vt:lpstr>
      <vt:lpstr>I.  Glossary of key terms and acronyms</vt:lpstr>
      <vt:lpstr>II. Workings of underlying QMFM model</vt:lpstr>
      <vt:lpstr>III. Rationale of outlook &amp; underlying QMFM model</vt:lpstr>
      <vt:lpstr>IV. Recent macroeconomic developments (2015-2023) Final demand: Gross Domestic Product</vt:lpstr>
      <vt:lpstr>Prices: Inflation—Consumer Price Index (CPI)</vt:lpstr>
      <vt:lpstr>Fiscal policies—deficit and its components</vt:lpstr>
      <vt:lpstr>V. Forecast assumptions  Current cyclical position, policy stance &amp; external environment</vt:lpstr>
      <vt:lpstr>External environment assumptions</vt:lpstr>
      <vt:lpstr>Domestic environment assumptions</vt:lpstr>
      <vt:lpstr>VI. Macroeconomic forecast/outlook Real economy—Key macro-aggregates</vt:lpstr>
      <vt:lpstr>Real economy—Prices &amp; market rates </vt:lpstr>
      <vt:lpstr>Fiscal policy: govt demand for G&amp;S and fiscal impulse</vt:lpstr>
      <vt:lpstr>VIII. Policies guiding forecasts</vt:lpstr>
      <vt:lpstr>VII. Forecast evaluation (latest vs. new forecast)</vt:lpstr>
      <vt:lpstr>VIII. Model revision—Effect of recalibration)</vt:lpstr>
      <vt:lpstr>IX. QMFM inter-twin with macro toolbox (nowcasting, MF…)</vt:lpstr>
      <vt:lpstr>PowerPoint Presentation</vt:lpstr>
      <vt:lpstr>X. Data issues and requests &amp; suggestions</vt:lpstr>
      <vt:lpstr>XI. Alternative scenario: higher foreign food/oil prices (2023-24)</vt:lpstr>
      <vt:lpstr>VIII. QMFM: main relationships and transmission mechanisms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1678</cp:revision>
  <cp:lastPrinted>2023-06-23T12:26:08Z</cp:lastPrinted>
  <dcterms:created xsi:type="dcterms:W3CDTF">2011-04-18T20:01:25Z</dcterms:created>
  <dcterms:modified xsi:type="dcterms:W3CDTF">2025-01-27T18:53:10Z</dcterms:modified>
</cp:coreProperties>
</file>