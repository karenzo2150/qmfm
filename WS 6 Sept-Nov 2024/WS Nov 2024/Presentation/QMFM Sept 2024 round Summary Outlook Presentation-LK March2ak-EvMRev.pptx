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5A_AC340E95.xml" ContentType="application/vnd.ms-powerpoint.comments+xml"/>
  <Override PartName="/ppt/comments/modernComment_25B_6AF2A1D7.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3">
  <p:sldMasterIdLst>
    <p:sldMasterId id="2147483716" r:id="rId1"/>
    <p:sldMasterId id="2147483910" r:id="rId2"/>
    <p:sldMasterId id="2147483922" r:id="rId3"/>
  </p:sldMasterIdLst>
  <p:notesMasterIdLst>
    <p:notesMasterId r:id="rId36"/>
  </p:notesMasterIdLst>
  <p:handoutMasterIdLst>
    <p:handoutMasterId r:id="rId37"/>
  </p:handoutMasterIdLst>
  <p:sldIdLst>
    <p:sldId id="566" r:id="rId4"/>
    <p:sldId id="601" r:id="rId5"/>
    <p:sldId id="593" r:id="rId6"/>
    <p:sldId id="594" r:id="rId7"/>
    <p:sldId id="595" r:id="rId8"/>
    <p:sldId id="602" r:id="rId9"/>
    <p:sldId id="603" r:id="rId10"/>
    <p:sldId id="587" r:id="rId11"/>
    <p:sldId id="604" r:id="rId12"/>
    <p:sldId id="583" r:id="rId13"/>
    <p:sldId id="588" r:id="rId14"/>
    <p:sldId id="260" r:id="rId15"/>
    <p:sldId id="600" r:id="rId16"/>
    <p:sldId id="273" r:id="rId17"/>
    <p:sldId id="605" r:id="rId18"/>
    <p:sldId id="591" r:id="rId19"/>
    <p:sldId id="563" r:id="rId20"/>
    <p:sldId id="573" r:id="rId21"/>
    <p:sldId id="606" r:id="rId22"/>
    <p:sldId id="576" r:id="rId23"/>
    <p:sldId id="598" r:id="rId24"/>
    <p:sldId id="592" r:id="rId25"/>
    <p:sldId id="589" r:id="rId26"/>
    <p:sldId id="586" r:id="rId27"/>
    <p:sldId id="565" r:id="rId28"/>
    <p:sldId id="585" r:id="rId29"/>
    <p:sldId id="597" r:id="rId30"/>
    <p:sldId id="599" r:id="rId31"/>
    <p:sldId id="545" r:id="rId32"/>
    <p:sldId id="569" r:id="rId33"/>
    <p:sldId id="535" r:id="rId34"/>
    <p:sldId id="531" r:id="rId35"/>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66"/>
            <p14:sldId id="601"/>
            <p14:sldId id="593"/>
            <p14:sldId id="594"/>
            <p14:sldId id="595"/>
            <p14:sldId id="602"/>
            <p14:sldId id="603"/>
            <p14:sldId id="587"/>
            <p14:sldId id="604"/>
            <p14:sldId id="583"/>
            <p14:sldId id="588"/>
            <p14:sldId id="260"/>
            <p14:sldId id="600"/>
            <p14:sldId id="273"/>
            <p14:sldId id="605"/>
            <p14:sldId id="591"/>
            <p14:sldId id="563"/>
            <p14:sldId id="573"/>
            <p14:sldId id="606"/>
            <p14:sldId id="576"/>
            <p14:sldId id="598"/>
            <p14:sldId id="592"/>
            <p14:sldId id="589"/>
            <p14:sldId id="586"/>
            <p14:sldId id="565"/>
            <p14:sldId id="585"/>
            <p14:sldId id="597"/>
            <p14:sldId id="599"/>
            <p14:sldId id="545"/>
            <p14:sldId id="569"/>
            <p14:sldId id="535"/>
            <p14:sldId id="5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variste MANIRUMVA" initials="EM" lastIdx="4" clrIdx="0">
    <p:extLst>
      <p:ext uri="{19B8F6BF-5375-455C-9EA6-DF929625EA0E}">
        <p15:presenceInfo xmlns:p15="http://schemas.microsoft.com/office/powerpoint/2012/main" userId="S-1-5-21-367653040-3284563744-1480659140-551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9351"/>
    <a:srgbClr val="008BCC"/>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5788" autoAdjust="0"/>
  </p:normalViewPr>
  <p:slideViewPr>
    <p:cSldViewPr>
      <p:cViewPr varScale="1">
        <p:scale>
          <a:sx n="113" d="100"/>
          <a:sy n="113" d="100"/>
        </p:scale>
        <p:origin x="396" y="114"/>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8/10/relationships/authors" Target="authors.xml"/></Relationships>
</file>

<file path=ppt/comments/modernComment_25A_AC340E95.xml><?xml version="1.0" encoding="utf-8"?>
<p188:cmLst xmlns:a="http://schemas.openxmlformats.org/drawingml/2006/main" xmlns:r="http://schemas.openxmlformats.org/officeDocument/2006/relationships" xmlns:p188="http://schemas.microsoft.com/office/powerpoint/2018/8/main">
  <p188:cm id="{150A9D92-06F1-4845-AB87-453B6FAA3CD6}" authorId="{D56D2716-681C-0ED8-9BD4-37117C3B4FB8}" created="2025-03-03T02:17:38.133">
    <ac:deMkLst xmlns:ac="http://schemas.microsoft.com/office/drawing/2013/main/command">
      <pc:docMk xmlns:pc="http://schemas.microsoft.com/office/powerpoint/2013/main/command"/>
      <pc:sldMk xmlns:pc="http://schemas.microsoft.com/office/powerpoint/2013/main/command" cId="2889092757" sldId="602"/>
      <ac:spMk id="15" creationId="{71DDEE4A-9C67-3AC4-5A2E-AC24191F73B5}"/>
    </ac:deMkLst>
    <p188:txBody>
      <a:bodyPr/>
      <a:lstStyle/>
      <a:p>
        <a:r>
          <a:rPr lang="en-US"/>
          <a:t>we revised this in Sept 2024</a:t>
        </a:r>
      </a:p>
    </p188:txBody>
  </p188:cm>
</p188:cmLst>
</file>

<file path=ppt/comments/modernComment_25B_6AF2A1D7.xml><?xml version="1.0" encoding="utf-8"?>
<p188:cmLst xmlns:a="http://schemas.openxmlformats.org/drawingml/2006/main" xmlns:r="http://schemas.openxmlformats.org/officeDocument/2006/relationships" xmlns:p188="http://schemas.microsoft.com/office/powerpoint/2018/8/main">
  <p188:cm id="{1256F808-68F0-4CE6-835C-955214F7B385}" authorId="{D56D2716-681C-0ED8-9BD4-37117C3B4FB8}" created="2025-03-03T02:28:58.640">
    <ac:txMkLst xmlns:ac="http://schemas.microsoft.com/office/drawing/2013/main/command">
      <pc:docMk xmlns:pc="http://schemas.microsoft.com/office/powerpoint/2013/main/command"/>
      <pc:sldMk xmlns:pc="http://schemas.microsoft.com/office/powerpoint/2013/main/command" cId="1794286039" sldId="603"/>
      <ac:spMk id="18" creationId="{A9B51905-B381-2286-37CA-179558F51EC5}"/>
      <ac:txMk cp="266" len="46">
        <ac:context len="746" hash="1903763674"/>
      </ac:txMk>
    </ac:txMkLst>
    <p188:pos x="3501452" y="1938254"/>
    <p188:txBody>
      <a:bodyPr/>
      <a:lstStyle/>
      <a:p>
        <a:r>
          <a:rPr lang="en-US"/>
          <a:t>The recovery of C, I is hard to see from y-on-y growth charts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3/4/2025</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3/4/2025</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a:t>
            </a:fld>
            <a:endParaRPr lang="en-US" dirty="0"/>
          </a:p>
        </p:txBody>
      </p:sp>
    </p:spTree>
    <p:extLst>
      <p:ext uri="{BB962C8B-B14F-4D97-AF65-F5344CB8AC3E}">
        <p14:creationId xmlns:p14="http://schemas.microsoft.com/office/powerpoint/2010/main" val="2648278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83BB-1414-C279-F950-988665617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2C1AD-D963-60D9-FC97-938A3671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63AC0-3AE0-42E1-7D17-04592A3B66B2}"/>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576F94D-A96F-1875-E58B-64A03AEC0E6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13594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0107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23509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6F34-62E9-BFDF-5319-04580F714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83404-F4F8-F304-93BC-30882AE5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4553C-4909-3BE1-B278-5310641DA3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19405-B1FF-32C9-D218-6FB5EA68CC47}"/>
              </a:ext>
            </a:extLst>
          </p:cNvPr>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945059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51364-D29C-3AB0-C20B-4BB9FC00E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6619A-5BBD-C6BA-58A6-B2FB0BCED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2FE0A-A955-8E4D-B175-F2791F82667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14EDDD77-C525-0876-C9A0-3F8EDB6ABBA4}"/>
              </a:ext>
            </a:extLst>
          </p:cNvPr>
          <p:cNvSpPr>
            <a:spLocks noGrp="1"/>
          </p:cNvSpPr>
          <p:nvPr>
            <p:ph type="sldNum" sz="quarter" idx="5"/>
          </p:nvPr>
        </p:nvSpPr>
        <p:spPr/>
        <p:txBody>
          <a:bodyPr/>
          <a:lstStyle/>
          <a:p>
            <a:fld id="{21D82EB7-C704-4A63-B645-1186AD9BB91E}" type="slidenum">
              <a:rPr lang="en-US" smtClean="0"/>
              <a:pPr/>
              <a:t>18</a:t>
            </a:fld>
            <a:endParaRPr lang="en-US" dirty="0"/>
          </a:p>
        </p:txBody>
      </p:sp>
    </p:spTree>
    <p:extLst>
      <p:ext uri="{BB962C8B-B14F-4D97-AF65-F5344CB8AC3E}">
        <p14:creationId xmlns:p14="http://schemas.microsoft.com/office/powerpoint/2010/main" val="4201086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19</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D348-D783-9781-2D90-3C28E68E1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14999-5FCD-E785-316D-375917301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740BB-CFFB-590F-8AC5-3F3757387F4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0EBCD557-4BB0-94B5-1A10-FDDB8459690F}"/>
              </a:ext>
            </a:extLst>
          </p:cNvPr>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3569083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CB14-89C7-9CB8-C814-D47ADE2D9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C31A-3F96-A69F-83B8-8EEA86913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40A86-4F13-05C0-D66A-E26104579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61931-DE70-E8A5-794D-003FAC9A29B5}"/>
              </a:ext>
            </a:extLst>
          </p:cNvPr>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2995084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E109-D787-D4AD-0E8E-BE98CA1D2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8DB73-BD56-4FFD-447F-9E08B33D5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A956D-3852-3CD3-403D-6C8EC57B62A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F2BBAA10-F97B-3D25-F64A-5B360FC834F6}"/>
              </a:ext>
            </a:extLst>
          </p:cNvPr>
          <p:cNvSpPr>
            <a:spLocks noGrp="1"/>
          </p:cNvSpPr>
          <p:nvPr>
            <p:ph type="sldNum" sz="quarter" idx="5"/>
          </p:nvPr>
        </p:nvSpPr>
        <p:spPr/>
        <p:txBody>
          <a:bodyPr/>
          <a:lstStyle/>
          <a:p>
            <a:fld id="{21D82EB7-C704-4A63-B645-1186AD9BB91E}" type="slidenum">
              <a:rPr lang="en-US" smtClean="0"/>
              <a:pPr/>
              <a:t>23</a:t>
            </a:fld>
            <a:endParaRPr lang="en-US" dirty="0"/>
          </a:p>
        </p:txBody>
      </p:sp>
    </p:spTree>
    <p:extLst>
      <p:ext uri="{BB962C8B-B14F-4D97-AF65-F5344CB8AC3E}">
        <p14:creationId xmlns:p14="http://schemas.microsoft.com/office/powerpoint/2010/main" val="2555464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1794977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4E48-EDF1-C7BC-7CC0-16E83AD9E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96129-5D31-1D46-33A4-1B9DE4243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21146-F106-A1A2-588A-C198D885258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E6EB3C65-343F-BB1E-892A-25FDCA06CBF5}"/>
              </a:ext>
            </a:extLst>
          </p:cNvPr>
          <p:cNvSpPr>
            <a:spLocks noGrp="1"/>
          </p:cNvSpPr>
          <p:nvPr>
            <p:ph type="sldNum" sz="quarter" idx="5"/>
          </p:nvPr>
        </p:nvSpPr>
        <p:spPr/>
        <p:txBody>
          <a:bodyPr/>
          <a:lstStyle/>
          <a:p>
            <a:fld id="{21D82EB7-C704-4A63-B645-1186AD9BB91E}" type="slidenum">
              <a:rPr lang="en-US" smtClean="0"/>
              <a:pPr/>
              <a:t>25</a:t>
            </a:fld>
            <a:endParaRPr lang="en-US" dirty="0"/>
          </a:p>
        </p:txBody>
      </p:sp>
    </p:spTree>
    <p:extLst>
      <p:ext uri="{BB962C8B-B14F-4D97-AF65-F5344CB8AC3E}">
        <p14:creationId xmlns:p14="http://schemas.microsoft.com/office/powerpoint/2010/main" val="2902854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59E-05B9-D6A3-3F43-14BAB4262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303A8-1973-2B75-1023-EECCA94E7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AACC-F410-C6B2-EE22-CE1F75E408C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78C70157-6736-0F79-FD5C-E0616443B1A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715758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C360-F110-44E2-0F62-1B6609B26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A62F6-F11B-DC9C-46D8-9BD345FCE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62046-753C-3DA0-FCAD-F1B2232736B5}"/>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9FCAE7E3-A275-A5A2-4373-3BF1E1FC3C1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318749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28</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MINECOFIN can have a different assessment of  path and impact of monetary and ER policies than NBR, just as NBR can have a different assessment of path and impact of fiscal policies.</a:t>
            </a:r>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29</a:t>
            </a:fld>
            <a:endParaRPr lang="en-US" dirty="0"/>
          </a:p>
        </p:txBody>
      </p:sp>
    </p:spTree>
    <p:extLst>
      <p:ext uri="{BB962C8B-B14F-4D97-AF65-F5344CB8AC3E}">
        <p14:creationId xmlns:p14="http://schemas.microsoft.com/office/powerpoint/2010/main" val="1731534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30</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31</a:t>
            </a:fld>
            <a:endParaRPr lang="en-US" dirty="0"/>
          </a:p>
        </p:txBody>
      </p:sp>
    </p:spTree>
    <p:extLst>
      <p:ext uri="{BB962C8B-B14F-4D97-AF65-F5344CB8AC3E}">
        <p14:creationId xmlns:p14="http://schemas.microsoft.com/office/powerpoint/2010/main" val="3155706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2860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3/4/2025</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04/03/2025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98E8-D6C5-21AA-6BC8-21DF08C0AD54}"/>
              </a:ext>
            </a:extLst>
          </p:cNvPr>
          <p:cNvSpPr>
            <a:spLocks noGrp="1"/>
          </p:cNvSpPr>
          <p:nvPr>
            <p:ph type="ctrTitle"/>
          </p:nvPr>
        </p:nvSpPr>
        <p:spPr>
          <a:xfrm>
            <a:off x="1524000" y="1122363"/>
            <a:ext cx="9144000" cy="2387600"/>
          </a:xfrm>
        </p:spPr>
        <p:txBody>
          <a:bodyPr anchor="b"/>
          <a:lstStyle>
            <a:lvl1pPr algn="ctr">
              <a:defRPr sz="6000" b="1">
                <a:latin typeface="Bahnschrift" panose="020B05020402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E85780B-3089-D83A-54E2-D7AF8145D3CD}"/>
              </a:ext>
            </a:extLst>
          </p:cNvPr>
          <p:cNvSpPr>
            <a:spLocks noGrp="1"/>
          </p:cNvSpPr>
          <p:nvPr>
            <p:ph type="subTitle" idx="1"/>
          </p:nvPr>
        </p:nvSpPr>
        <p:spPr>
          <a:xfrm>
            <a:off x="1524000" y="3602038"/>
            <a:ext cx="9144000" cy="1655762"/>
          </a:xfrm>
        </p:spPr>
        <p:txBody>
          <a:bodyPr/>
          <a:lstStyle>
            <a:lvl1pPr marL="0" indent="0" algn="ctr">
              <a:buNone/>
              <a:defRPr sz="2400" b="1">
                <a:latin typeface="Bahnschrif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C5AB25-69E8-BE36-9F9F-8E82A54BFA4F}"/>
              </a:ext>
            </a:extLst>
          </p:cNvPr>
          <p:cNvSpPr>
            <a:spLocks noGrp="1"/>
          </p:cNvSpPr>
          <p:nvPr>
            <p:ph type="dt" sz="half" idx="10"/>
          </p:nvPr>
        </p:nvSpPr>
        <p:spPr/>
        <p:txBody>
          <a:bodyPr/>
          <a:lstStyle>
            <a:lvl1pPr>
              <a:defRPr>
                <a:latin typeface="Bahnschrift Light SemiCondensed" panose="020B0502040204020203" pitchFamily="34" charset="0"/>
              </a:defRPr>
            </a:lvl1pPr>
          </a:lstStyle>
          <a:p>
            <a:fld id="{25418435-C720-449D-B816-40E688690315}" type="datetimeFigureOut">
              <a:rPr lang="en-US" smtClean="0"/>
              <a:pPr/>
              <a:t>3/4/2025</a:t>
            </a:fld>
            <a:endParaRPr lang="en-US" dirty="0"/>
          </a:p>
        </p:txBody>
      </p:sp>
      <p:sp>
        <p:nvSpPr>
          <p:cNvPr id="5" name="Footer Placeholder 4">
            <a:extLst>
              <a:ext uri="{FF2B5EF4-FFF2-40B4-BE49-F238E27FC236}">
                <a16:creationId xmlns:a16="http://schemas.microsoft.com/office/drawing/2014/main" id="{32C6AB43-0058-B846-7D8B-BD965EE8F8C2}"/>
              </a:ext>
            </a:extLst>
          </p:cNvPr>
          <p:cNvSpPr>
            <a:spLocks noGrp="1"/>
          </p:cNvSpPr>
          <p:nvPr>
            <p:ph type="ftr" sz="quarter" idx="11"/>
          </p:nvPr>
        </p:nvSpPr>
        <p:spPr/>
        <p:txBody>
          <a:bodyPr/>
          <a:lstStyle>
            <a:lvl1pPr>
              <a:defRPr>
                <a:latin typeface="Bahnschrift Light SemiCondensed" panose="020B0502040204020203" pitchFamily="34" charset="0"/>
              </a:defRPr>
            </a:lvl1pPr>
          </a:lstStyle>
          <a:p>
            <a:endParaRPr lang="en-US"/>
          </a:p>
        </p:txBody>
      </p:sp>
      <p:sp>
        <p:nvSpPr>
          <p:cNvPr id="6" name="Slide Number Placeholder 5">
            <a:extLst>
              <a:ext uri="{FF2B5EF4-FFF2-40B4-BE49-F238E27FC236}">
                <a16:creationId xmlns:a16="http://schemas.microsoft.com/office/drawing/2014/main" id="{1BC63B95-7EC7-BF39-7295-153EB3F8A6A0}"/>
              </a:ext>
            </a:extLst>
          </p:cNvPr>
          <p:cNvSpPr>
            <a:spLocks noGrp="1"/>
          </p:cNvSpPr>
          <p:nvPr>
            <p:ph type="sldNum" sz="quarter" idx="12"/>
          </p:nvPr>
        </p:nvSpPr>
        <p:spPr/>
        <p:txBody>
          <a:bodyPr/>
          <a:lstStyle>
            <a:lvl1pPr>
              <a:defRPr>
                <a:latin typeface="Bahnschrift Light SemiCondensed" panose="020B0502040204020203" pitchFamily="34" charset="0"/>
              </a:defRPr>
            </a:lvl1pPr>
          </a:lstStyle>
          <a:p>
            <a:fld id="{D41F6BB1-3072-477A-8416-723305CEF715}" type="slidenum">
              <a:rPr lang="en-US" smtClean="0"/>
              <a:pPr/>
              <a:t>‹#›</a:t>
            </a:fld>
            <a:endParaRPr lang="en-US"/>
          </a:p>
        </p:txBody>
      </p:sp>
    </p:spTree>
    <p:extLst>
      <p:ext uri="{BB962C8B-B14F-4D97-AF65-F5344CB8AC3E}">
        <p14:creationId xmlns:p14="http://schemas.microsoft.com/office/powerpoint/2010/main" val="2560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609A-5DC2-9CB5-20EE-ABD5D60EC8A1}"/>
              </a:ext>
            </a:extLst>
          </p:cNvPr>
          <p:cNvSpPr>
            <a:spLocks noGrp="1"/>
          </p:cNvSpPr>
          <p:nvPr>
            <p:ph type="title"/>
          </p:nvPr>
        </p:nvSpPr>
        <p:spPr>
          <a:xfrm>
            <a:off x="838200" y="1095375"/>
            <a:ext cx="10515600" cy="476250"/>
          </a:xfrm>
        </p:spPr>
        <p:txBody>
          <a:bodyPr vert="horz" lIns="91440" tIns="45720" rIns="91440" bIns="45720" rtlCol="0" anchor="b">
            <a:normAutofit/>
          </a:bodyPr>
          <a:lstStyle>
            <a:lvl1pPr>
              <a:defRPr lang="en-US" sz="2800" b="1">
                <a:latin typeface="Bahnschrift" panose="020B0502040204020203" pitchFamily="34" charset="0"/>
              </a:defRPr>
            </a:lvl1pPr>
          </a:lstStyle>
          <a:p>
            <a:pPr lvl="0" algn="ctr"/>
            <a:r>
              <a:rPr lang="en-US" dirty="0"/>
              <a:t>Click to edit Master title style</a:t>
            </a:r>
          </a:p>
        </p:txBody>
      </p:sp>
      <p:sp>
        <p:nvSpPr>
          <p:cNvPr id="3" name="Content Placeholder 2">
            <a:extLst>
              <a:ext uri="{FF2B5EF4-FFF2-40B4-BE49-F238E27FC236}">
                <a16:creationId xmlns:a16="http://schemas.microsoft.com/office/drawing/2014/main" id="{F896BFCD-640D-4D35-1B02-56A84116D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1611B-7B3B-ACE5-6E5A-8CD703555989}"/>
              </a:ext>
            </a:extLst>
          </p:cNvPr>
          <p:cNvSpPr>
            <a:spLocks noGrp="1"/>
          </p:cNvSpPr>
          <p:nvPr>
            <p:ph type="dt" sz="half" idx="10"/>
          </p:nvPr>
        </p:nvSpPr>
        <p:spPr/>
        <p:txBody>
          <a:bodyPr vert="horz" lIns="91440" tIns="45720" rIns="91440" bIns="45720" rtlCol="0" anchor="ctr"/>
          <a:lstStyle>
            <a:lvl1pPr>
              <a:defRPr lang="en-US" smtClean="0">
                <a:latin typeface="Bahnschrift Light SemiCondensed" panose="020B0502040204020203" pitchFamily="34" charset="0"/>
              </a:defRPr>
            </a:lvl1pPr>
          </a:lstStyle>
          <a:p>
            <a:fld id="{25418435-C720-449D-B816-40E688690315}" type="datetimeFigureOut">
              <a:rPr lang="en-US" smtClean="0"/>
              <a:pPr/>
              <a:t>3/4/2025</a:t>
            </a:fld>
            <a:endParaRPr lang="en-US"/>
          </a:p>
        </p:txBody>
      </p:sp>
      <p:sp>
        <p:nvSpPr>
          <p:cNvPr id="5" name="Footer Placeholder 4">
            <a:extLst>
              <a:ext uri="{FF2B5EF4-FFF2-40B4-BE49-F238E27FC236}">
                <a16:creationId xmlns:a16="http://schemas.microsoft.com/office/drawing/2014/main" id="{F926548F-B783-DAD5-5269-FA453BE4472C}"/>
              </a:ext>
            </a:extLst>
          </p:cNvPr>
          <p:cNvSpPr>
            <a:spLocks noGrp="1"/>
          </p:cNvSpPr>
          <p:nvPr>
            <p:ph type="ftr" sz="quarter" idx="11"/>
          </p:nvPr>
        </p:nvSpPr>
        <p:spPr/>
        <p:txBody>
          <a:bodyPr vert="horz" lIns="91440" tIns="45720" rIns="91440" bIns="45720" rtlCol="0" anchor="ctr"/>
          <a:lstStyle>
            <a:lvl1pPr>
              <a:defRPr lang="en-US">
                <a:latin typeface="Bahnschrift Light SemiCondensed" panose="020B0502040204020203" pitchFamily="34" charset="0"/>
              </a:defRPr>
            </a:lvl1pPr>
          </a:lstStyle>
          <a:p>
            <a:pPr algn="l"/>
            <a:endParaRPr lang="en-US"/>
          </a:p>
        </p:txBody>
      </p:sp>
      <p:sp>
        <p:nvSpPr>
          <p:cNvPr id="6" name="Slide Number Placeholder 5">
            <a:extLst>
              <a:ext uri="{FF2B5EF4-FFF2-40B4-BE49-F238E27FC236}">
                <a16:creationId xmlns:a16="http://schemas.microsoft.com/office/drawing/2014/main" id="{933390A1-7BD7-E7F2-EED6-F2A9B632472A}"/>
              </a:ext>
            </a:extLst>
          </p:cNvPr>
          <p:cNvSpPr>
            <a:spLocks noGrp="1"/>
          </p:cNvSpPr>
          <p:nvPr>
            <p:ph type="sldNum" sz="quarter" idx="12"/>
          </p:nvPr>
        </p:nvSpPr>
        <p:spPr/>
        <p:txBody>
          <a:bodyPr vert="horz" lIns="91440" tIns="45720" rIns="91440" bIns="45720" rtlCol="0" anchor="ctr"/>
          <a:lstStyle>
            <a:lvl1pPr>
              <a:defRPr lang="en-US" smtClean="0">
                <a:latin typeface="Bahnschrift Light SemiCondensed" panose="020B0502040204020203" pitchFamily="34" charset="0"/>
              </a:defRPr>
            </a:lvl1pPr>
          </a:lstStyle>
          <a:p>
            <a:pPr algn="l"/>
            <a:fld id="{D41F6BB1-3072-477A-8416-723305CEF715}" type="slidenum">
              <a:rPr lang="en-US" smtClean="0"/>
              <a:pPr algn="l"/>
              <a:t>‹#›</a:t>
            </a:fld>
            <a:endParaRPr lang="en-US"/>
          </a:p>
        </p:txBody>
      </p:sp>
    </p:spTree>
    <p:extLst>
      <p:ext uri="{BB962C8B-B14F-4D97-AF65-F5344CB8AC3E}">
        <p14:creationId xmlns:p14="http://schemas.microsoft.com/office/powerpoint/2010/main" val="77500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BF8A-5B37-336F-B6B2-B255D23A04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F538C5-2BF2-AE48-0938-56AA906E64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438EF-68A1-4184-B926-F258578F87DD}"/>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DB781467-5B20-5F9E-690B-B5351E684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832C8-BAC3-494D-16F0-328212F4E37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455692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1A09-B7F0-1551-9732-0DFEFB2A8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2C291-3262-A69D-0162-C169D140B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8485C-FD72-1F85-A330-8D6B8A6782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283A49-8C7E-3F0C-D5D7-5330E5B820F5}"/>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A3341E6A-AA54-BF30-D3B0-F183CCC3E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3531B-F130-758A-E17A-215477147D00}"/>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17731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B23D-AF5A-D2C0-6EA5-ED0269F5FB47}"/>
              </a:ext>
            </a:extLst>
          </p:cNvPr>
          <p:cNvSpPr>
            <a:spLocks noGrp="1"/>
          </p:cNvSpPr>
          <p:nvPr>
            <p:ph type="title"/>
          </p:nvPr>
        </p:nvSpPr>
        <p:spPr>
          <a:xfrm>
            <a:off x="839788" y="1057275"/>
            <a:ext cx="10515600" cy="63341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80E48-4C2D-2B2B-964F-88262B8CE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71081B-AED5-9BDD-42C4-183B4313D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1A8D6-6096-F19A-F31F-B24A328AC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9B0B60-C100-5272-3B52-242A1B3EB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E16AFD-2884-82F2-85EF-60CC69B8E122}"/>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8" name="Footer Placeholder 7">
            <a:extLst>
              <a:ext uri="{FF2B5EF4-FFF2-40B4-BE49-F238E27FC236}">
                <a16:creationId xmlns:a16="http://schemas.microsoft.com/office/drawing/2014/main" id="{C234FFB9-BD63-4954-B342-92FD028A59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32F79E-888C-E739-A807-CE92E919799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8298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8639-7441-C5CC-B004-72F862B447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9DB76E-A99C-A9A2-2A56-1D3A33518B8B}"/>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4" name="Footer Placeholder 3">
            <a:extLst>
              <a:ext uri="{FF2B5EF4-FFF2-40B4-BE49-F238E27FC236}">
                <a16:creationId xmlns:a16="http://schemas.microsoft.com/office/drawing/2014/main" id="{F286794B-D66C-A3A8-3D89-528001E4DA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B1946-7B3C-5D6F-B6B3-05EE80FA990F}"/>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86713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58EE5-A6D5-1B17-A565-CBFA0FC3321B}"/>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3" name="Footer Placeholder 2">
            <a:extLst>
              <a:ext uri="{FF2B5EF4-FFF2-40B4-BE49-F238E27FC236}">
                <a16:creationId xmlns:a16="http://schemas.microsoft.com/office/drawing/2014/main" id="{FF9E5286-4134-96A7-49A6-630AF0CC9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81CF4D-9210-9221-642A-76149DAF0ECC}"/>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554695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A6AA-CD9E-662B-9853-A78C07070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7866B5-138B-4FC4-80BF-CF269BE1D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FFF8B-6BE8-4754-6044-CCFD98D79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6657F-A1BA-23CB-479C-060203EEA054}"/>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D9059696-456E-34AA-C8A0-DEB94CCC1D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4C4FD-86B3-9465-413E-F37F528F4648}"/>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61316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6B08-FF37-9363-2A10-C9CF5D43F502}"/>
              </a:ext>
            </a:extLst>
          </p:cNvPr>
          <p:cNvSpPr>
            <a:spLocks noGrp="1"/>
          </p:cNvSpPr>
          <p:nvPr>
            <p:ph type="title"/>
          </p:nvPr>
        </p:nvSpPr>
        <p:spPr>
          <a:xfrm>
            <a:off x="839788" y="1104900"/>
            <a:ext cx="3932237" cy="9525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B8619786-B2A6-AFFE-64E5-9EB2E5304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8F3A-AB52-C920-020A-F635704A6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31871-5148-4F43-11B6-3AD6D342048E}"/>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D7040A6C-BDA2-7098-2430-EDC3EC90A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5EE63-100B-37C2-85F8-2BF65D08F12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672465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FCC2-5904-491E-581A-36BFCBA980A1}"/>
              </a:ext>
            </a:extLst>
          </p:cNvPr>
          <p:cNvSpPr>
            <a:spLocks noGrp="1"/>
          </p:cNvSpPr>
          <p:nvPr>
            <p:ph type="title"/>
          </p:nvPr>
        </p:nvSpPr>
        <p:spPr>
          <a:xfrm>
            <a:off x="838200" y="1089600"/>
            <a:ext cx="10515600" cy="646331"/>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81C980-0C3C-A426-947B-B2E8E1478D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C87D3-0BF2-4993-432B-703A2C0E4636}"/>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E8B6A88F-A729-F1E9-BA06-6AD8DCBBB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75B78-BAD5-7D9B-358B-F0AEB5DB439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800808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1F69C-82E3-CB06-9B7F-8825185427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AB3F83-AAE6-EEDF-B93F-6457BDBE63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7A31A-66D8-8628-1499-FA3DFD08423E}"/>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845069D6-F949-7E42-3D3C-2F7AAD7AC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3BCEC-62AB-2A95-67F1-87161F1C498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121918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extLst>
      <p:ext uri="{BB962C8B-B14F-4D97-AF65-F5344CB8AC3E}">
        <p14:creationId xmlns:p14="http://schemas.microsoft.com/office/powerpoint/2010/main" val="233757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extLst>
      <p:ext uri="{BB962C8B-B14F-4D97-AF65-F5344CB8AC3E}">
        <p14:creationId xmlns:p14="http://schemas.microsoft.com/office/powerpoint/2010/main" val="414132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3/4/2025</a:t>
            </a:fld>
            <a:endParaRPr lang="en-GB" dirty="0"/>
          </a:p>
        </p:txBody>
      </p:sp>
    </p:spTree>
    <p:extLst>
      <p:ext uri="{BB962C8B-B14F-4D97-AF65-F5344CB8AC3E}">
        <p14:creationId xmlns:p14="http://schemas.microsoft.com/office/powerpoint/2010/main" val="864831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04/03/2025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2520597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8636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F5A59-B018-E644-7607-2B768C0054FF}"/>
              </a:ext>
            </a:extLst>
          </p:cNvPr>
          <p:cNvSpPr>
            <a:spLocks noGrp="1"/>
          </p:cNvSpPr>
          <p:nvPr>
            <p:ph type="title"/>
          </p:nvPr>
        </p:nvSpPr>
        <p:spPr>
          <a:xfrm>
            <a:off x="838200" y="946659"/>
            <a:ext cx="10515600" cy="523220"/>
          </a:xfrm>
          <a:prstGeom prst="rect">
            <a:avLst/>
          </a:prstGeom>
        </p:spPr>
        <p:txBody>
          <a:bodyPr vert="horz" lIns="91440" tIns="45720" rIns="91440" bIns="45720" rtlCol="0" anchor="b">
            <a:normAutofit/>
          </a:bodyPr>
          <a:lstStyle/>
          <a:p>
            <a:pPr lvl="0" algn="ctr"/>
            <a:r>
              <a:rPr lang="en-US" dirty="0"/>
              <a:t>Click to edit Master title style</a:t>
            </a:r>
          </a:p>
        </p:txBody>
      </p:sp>
      <p:sp>
        <p:nvSpPr>
          <p:cNvPr id="3" name="Text Placeholder 2">
            <a:extLst>
              <a:ext uri="{FF2B5EF4-FFF2-40B4-BE49-F238E27FC236}">
                <a16:creationId xmlns:a16="http://schemas.microsoft.com/office/drawing/2014/main" id="{4DDB2F0B-9D89-A110-3EF3-4D5470AC3AC6}"/>
              </a:ext>
            </a:extLst>
          </p:cNvPr>
          <p:cNvSpPr>
            <a:spLocks noGrp="1"/>
          </p:cNvSpPr>
          <p:nvPr>
            <p:ph type="body" idx="1"/>
          </p:nvPr>
        </p:nvSpPr>
        <p:spPr>
          <a:xfrm>
            <a:off x="838200" y="1548397"/>
            <a:ext cx="10515600" cy="4628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0E6DB9-30EE-BD7A-21FA-9CEA5DE8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Bahnschrift Light SemiCondensed" panose="020B0502040204020203" pitchFamily="34" charset="0"/>
              </a:defRPr>
            </a:lvl1pPr>
          </a:lstStyle>
          <a:p>
            <a:fld id="{25418435-C720-449D-B816-40E688690315}" type="datetimeFigureOut">
              <a:rPr lang="en-US" smtClean="0"/>
              <a:pPr/>
              <a:t>3/4/2025</a:t>
            </a:fld>
            <a:endParaRPr lang="en-US"/>
          </a:p>
        </p:txBody>
      </p:sp>
      <p:sp>
        <p:nvSpPr>
          <p:cNvPr id="5" name="Footer Placeholder 4">
            <a:extLst>
              <a:ext uri="{FF2B5EF4-FFF2-40B4-BE49-F238E27FC236}">
                <a16:creationId xmlns:a16="http://schemas.microsoft.com/office/drawing/2014/main" id="{52BBC8C5-01D9-BD5B-4B6F-E0D27B6DF3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hnschrift Light SemiCondensed" panose="020B05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37262C13-4287-8CA5-6198-EE3FEDF66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hnschrift Light SemiCondensed" panose="020B0502040204020203" pitchFamily="34" charset="0"/>
              </a:defRPr>
            </a:lvl1pPr>
          </a:lstStyle>
          <a:p>
            <a:fld id="{D41F6BB1-3072-477A-8416-723305CEF715}" type="slidenum">
              <a:rPr lang="en-US" smtClean="0"/>
              <a:pPr/>
              <a:t>‹#›</a:t>
            </a:fld>
            <a:endParaRPr lang="en-US"/>
          </a:p>
        </p:txBody>
      </p:sp>
      <p:sp>
        <p:nvSpPr>
          <p:cNvPr id="7" name="TextBox 6">
            <a:extLst>
              <a:ext uri="{FF2B5EF4-FFF2-40B4-BE49-F238E27FC236}">
                <a16:creationId xmlns:a16="http://schemas.microsoft.com/office/drawing/2014/main" id="{0DEE7FC1-0F67-52EB-4B9B-BA1536A1B871}"/>
              </a:ext>
            </a:extLst>
          </p:cNvPr>
          <p:cNvSpPr txBox="1"/>
          <p:nvPr userDrawn="1"/>
        </p:nvSpPr>
        <p:spPr>
          <a:xfrm>
            <a:off x="9184956" y="266195"/>
            <a:ext cx="2743198" cy="276999"/>
          </a:xfrm>
          <a:prstGeom prst="rect">
            <a:avLst/>
          </a:prstGeom>
          <a:noFill/>
        </p:spPr>
        <p:txBody>
          <a:bodyPr wrap="square" rtlCol="0">
            <a:spAutoFit/>
          </a:bodyPr>
          <a:lstStyle/>
          <a:p>
            <a:pPr algn="r"/>
            <a:r>
              <a:rPr lang="en-US" sz="1200" b="1" dirty="0">
                <a:solidFill>
                  <a:schemeClr val="tx1">
                    <a:alpha val="26000"/>
                  </a:schemeClr>
                </a:solidFill>
                <a:latin typeface="Bahnschrift Light Condensed" panose="020B0502040204020203" pitchFamily="34" charset="0"/>
              </a:rPr>
              <a:t>Quarterly </a:t>
            </a:r>
            <a:r>
              <a:rPr lang="en-US" sz="1200" b="1" dirty="0" err="1">
                <a:solidFill>
                  <a:schemeClr val="tx1">
                    <a:alpha val="26000"/>
                  </a:schemeClr>
                </a:solidFill>
                <a:latin typeface="Bahnschrift Light Condensed" panose="020B0502040204020203" pitchFamily="34" charset="0"/>
              </a:rPr>
              <a:t>MacroFiscal</a:t>
            </a:r>
            <a:r>
              <a:rPr lang="en-US" sz="1200" b="1" dirty="0">
                <a:solidFill>
                  <a:schemeClr val="tx1">
                    <a:alpha val="26000"/>
                  </a:schemeClr>
                </a:solidFill>
                <a:latin typeface="Bahnschrift Light Condensed" panose="020B0502040204020203" pitchFamily="34" charset="0"/>
              </a:rPr>
              <a:t> Model (QMFM)</a:t>
            </a:r>
          </a:p>
        </p:txBody>
      </p:sp>
      <p:pic>
        <p:nvPicPr>
          <p:cNvPr id="9" name="Picture 8">
            <a:extLst>
              <a:ext uri="{FF2B5EF4-FFF2-40B4-BE49-F238E27FC236}">
                <a16:creationId xmlns:a16="http://schemas.microsoft.com/office/drawing/2014/main" id="{96685403-7BBD-6A57-0C45-F6343FBA9BF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91061" y="98440"/>
            <a:ext cx="685800" cy="752889"/>
          </a:xfrm>
          <a:prstGeom prst="rect">
            <a:avLst/>
          </a:prstGeom>
        </p:spPr>
      </p:pic>
      <p:sp>
        <p:nvSpPr>
          <p:cNvPr id="8" name="TextBox 7">
            <a:extLst>
              <a:ext uri="{FF2B5EF4-FFF2-40B4-BE49-F238E27FC236}">
                <a16:creationId xmlns:a16="http://schemas.microsoft.com/office/drawing/2014/main" id="{9C3D7134-32AC-814F-E326-42F953FCCD1D}"/>
              </a:ext>
            </a:extLst>
          </p:cNvPr>
          <p:cNvSpPr txBox="1"/>
          <p:nvPr userDrawn="1"/>
        </p:nvSpPr>
        <p:spPr>
          <a:xfrm>
            <a:off x="976861" y="182497"/>
            <a:ext cx="2057400" cy="584775"/>
          </a:xfrm>
          <a:prstGeom prst="rect">
            <a:avLst/>
          </a:prstGeom>
          <a:noFill/>
        </p:spPr>
        <p:txBody>
          <a:bodyPr wrap="square" rtlCol="0">
            <a:spAutoFit/>
          </a:bodyPr>
          <a:lstStyle/>
          <a:p>
            <a:pPr algn="l"/>
            <a:r>
              <a:rPr lang="en-US" sz="1600" b="1" dirty="0">
                <a:solidFill>
                  <a:schemeClr val="tx1"/>
                </a:solidFill>
                <a:latin typeface="Bahnschrift Light Condensed" panose="020B0502040204020203" pitchFamily="34" charset="0"/>
              </a:rPr>
              <a:t>Ministry of Finance and Economic Planning</a:t>
            </a:r>
          </a:p>
        </p:txBody>
      </p:sp>
      <p:grpSp>
        <p:nvGrpSpPr>
          <p:cNvPr id="41" name="Group 40">
            <a:extLst>
              <a:ext uri="{FF2B5EF4-FFF2-40B4-BE49-F238E27FC236}">
                <a16:creationId xmlns:a16="http://schemas.microsoft.com/office/drawing/2014/main" id="{533E20EA-1628-2B2A-A3E8-BCC8040BE9AF}"/>
              </a:ext>
            </a:extLst>
          </p:cNvPr>
          <p:cNvGrpSpPr/>
          <p:nvPr userDrawn="1"/>
        </p:nvGrpSpPr>
        <p:grpSpPr>
          <a:xfrm>
            <a:off x="11914707" y="2140515"/>
            <a:ext cx="179811" cy="3721558"/>
            <a:chOff x="11773967" y="1367522"/>
            <a:chExt cx="179811" cy="3721558"/>
          </a:xfrm>
        </p:grpSpPr>
        <p:cxnSp>
          <p:nvCxnSpPr>
            <p:cNvPr id="16" name="Straight Connector 15">
              <a:extLst>
                <a:ext uri="{FF2B5EF4-FFF2-40B4-BE49-F238E27FC236}">
                  <a16:creationId xmlns:a16="http://schemas.microsoft.com/office/drawing/2014/main" id="{F0271194-5E18-B988-8451-55421FB11224}"/>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CEEFD0-3B63-D760-590E-FCFA9EF35262}"/>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EE86D6-C30B-8306-1F11-98F29A7A4442}"/>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4870C66-FBF3-3EFE-AA9D-6D111EA8A07F}"/>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E828D8-2892-806A-A619-C3B9C0D89F02}"/>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C24050-BCDF-F60D-273C-2253F9268913}"/>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4B3EA7-8B35-59B3-A7D4-5F95CA32EC55}"/>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9B42D6-2704-1195-5E76-9FEAD5D2232B}"/>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F1DE02-10B9-EC4A-03C2-28CCAF5D7486}"/>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F5A9003-71C1-28DB-3369-068EC9328229}"/>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33D68EB-81BE-458F-BD7A-D624523A2772}"/>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CA9F18B-AF0C-5FB3-9F9B-C8A8829488AC}"/>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D11D928-D70D-DF9F-B57F-067D5DA97BDF}"/>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875CCBD-0B8E-F194-AD05-7B99DFCCDA11}"/>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67C7FE4-EF8A-A30B-8556-3BF9B116FEF7}"/>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272ED5B-ABBD-0FC1-E9C7-B05B0736DE9D}"/>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8F157A8-F470-DA23-16CF-4BE1AB262AD7}"/>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CE27AEA-9A4A-AABC-29C2-4990604BCA3F}"/>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60BFDD5D-E9D3-A18F-6C1A-8E36E735BE9F}"/>
              </a:ext>
            </a:extLst>
          </p:cNvPr>
          <p:cNvGrpSpPr/>
          <p:nvPr userDrawn="1"/>
        </p:nvGrpSpPr>
        <p:grpSpPr>
          <a:xfrm>
            <a:off x="106812" y="2140515"/>
            <a:ext cx="179811" cy="3721558"/>
            <a:chOff x="11773967" y="1367522"/>
            <a:chExt cx="179811" cy="3721558"/>
          </a:xfrm>
        </p:grpSpPr>
        <p:cxnSp>
          <p:nvCxnSpPr>
            <p:cNvPr id="43" name="Straight Connector 42">
              <a:extLst>
                <a:ext uri="{FF2B5EF4-FFF2-40B4-BE49-F238E27FC236}">
                  <a16:creationId xmlns:a16="http://schemas.microsoft.com/office/drawing/2014/main" id="{2E90D111-1D56-F61F-7AF8-02E148449B43}"/>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9BF5A0-A616-F9C1-4375-EBDCA6F2450A}"/>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B0F3FE-3FE9-DBB9-A1AA-5A5EDA61A82F}"/>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B5E4C7E-E0C5-3A90-1B7E-250F0F9B79C1}"/>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759E9BC-C992-4034-E847-F368F47127BA}"/>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4E36CE0-2FDB-9EE1-7529-DDA254E48C2C}"/>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13F9AD5-0323-288C-B4BC-00DEEB0143DE}"/>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C302256-9149-54B8-F58D-102A6CA5374F}"/>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0005EF-F712-1A4E-8CF7-4B101B9385EA}"/>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E651667B-31CC-F91D-2150-789398A79EA0}"/>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DB018D8-2EF5-9A97-ECA6-3EAC02944669}"/>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3E30C8-9AB4-DCDE-B2B4-CC8A62D3ED7B}"/>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965E4C7-016D-3E91-47F9-34C38241BE40}"/>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A216DA0-7AB9-DC0F-EB9B-94A71B678E08}"/>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EBC524A-0598-5970-3E3A-1A12BB314944}"/>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ED92E5C-0133-6F6E-3AC4-E3BF08B7133E}"/>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B4C966B-D75E-287C-60AF-D1830CC3F6E1}"/>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AEFA3F1-7B18-877A-99AD-CED79E0ECE78}"/>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Oval 60">
            <a:extLst>
              <a:ext uri="{FF2B5EF4-FFF2-40B4-BE49-F238E27FC236}">
                <a16:creationId xmlns:a16="http://schemas.microsoft.com/office/drawing/2014/main" id="{E3985124-E079-0DEA-BC3A-5AE9D3FBCF84}"/>
              </a:ext>
            </a:extLst>
          </p:cNvPr>
          <p:cNvSpPr/>
          <p:nvPr userDrawn="1"/>
        </p:nvSpPr>
        <p:spPr>
          <a:xfrm>
            <a:off x="160655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2" name="Oval 61">
            <a:extLst>
              <a:ext uri="{FF2B5EF4-FFF2-40B4-BE49-F238E27FC236}">
                <a16:creationId xmlns:a16="http://schemas.microsoft.com/office/drawing/2014/main" id="{8BCDF17F-7678-886B-BDC1-7D46E0FDC526}"/>
              </a:ext>
            </a:extLst>
          </p:cNvPr>
          <p:cNvSpPr/>
          <p:nvPr userDrawn="1"/>
        </p:nvSpPr>
        <p:spPr>
          <a:xfrm>
            <a:off x="9779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3" name="Oval 62">
            <a:extLst>
              <a:ext uri="{FF2B5EF4-FFF2-40B4-BE49-F238E27FC236}">
                <a16:creationId xmlns:a16="http://schemas.microsoft.com/office/drawing/2014/main" id="{A3D20AC5-1E8E-5321-E43D-46B445C65B67}"/>
              </a:ext>
            </a:extLst>
          </p:cNvPr>
          <p:cNvSpPr/>
          <p:nvPr userDrawn="1"/>
        </p:nvSpPr>
        <p:spPr>
          <a:xfrm>
            <a:off x="3492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4" name="Oval 63">
            <a:extLst>
              <a:ext uri="{FF2B5EF4-FFF2-40B4-BE49-F238E27FC236}">
                <a16:creationId xmlns:a16="http://schemas.microsoft.com/office/drawing/2014/main" id="{FA80B877-F110-D95C-7DD0-FEBBD1B4BA64}"/>
              </a:ext>
            </a:extLst>
          </p:cNvPr>
          <p:cNvSpPr/>
          <p:nvPr userDrawn="1"/>
        </p:nvSpPr>
        <p:spPr>
          <a:xfrm>
            <a:off x="55880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5" name="Oval 64">
            <a:extLst>
              <a:ext uri="{FF2B5EF4-FFF2-40B4-BE49-F238E27FC236}">
                <a16:creationId xmlns:a16="http://schemas.microsoft.com/office/drawing/2014/main" id="{03F7BB24-25F0-4188-72B0-2D5ED9CFB76E}"/>
              </a:ext>
            </a:extLst>
          </p:cNvPr>
          <p:cNvSpPr/>
          <p:nvPr userDrawn="1"/>
        </p:nvSpPr>
        <p:spPr>
          <a:xfrm>
            <a:off x="7683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6" name="Oval 65">
            <a:extLst>
              <a:ext uri="{FF2B5EF4-FFF2-40B4-BE49-F238E27FC236}">
                <a16:creationId xmlns:a16="http://schemas.microsoft.com/office/drawing/2014/main" id="{97DEBEE4-3529-6BF7-C1EE-1F06689DC266}"/>
              </a:ext>
            </a:extLst>
          </p:cNvPr>
          <p:cNvSpPr/>
          <p:nvPr userDrawn="1"/>
        </p:nvSpPr>
        <p:spPr>
          <a:xfrm>
            <a:off x="118745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7" name="Oval 66">
            <a:extLst>
              <a:ext uri="{FF2B5EF4-FFF2-40B4-BE49-F238E27FC236}">
                <a16:creationId xmlns:a16="http://schemas.microsoft.com/office/drawing/2014/main" id="{8631BAD7-ACD6-558C-7884-5F8B8158569B}"/>
              </a:ext>
            </a:extLst>
          </p:cNvPr>
          <p:cNvSpPr/>
          <p:nvPr userDrawn="1"/>
        </p:nvSpPr>
        <p:spPr>
          <a:xfrm>
            <a:off x="13970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8" name="Oval 67">
            <a:extLst>
              <a:ext uri="{FF2B5EF4-FFF2-40B4-BE49-F238E27FC236}">
                <a16:creationId xmlns:a16="http://schemas.microsoft.com/office/drawing/2014/main" id="{644534C1-CAD6-EE98-DA4C-80ABB36189FA}"/>
              </a:ext>
            </a:extLst>
          </p:cNvPr>
          <p:cNvSpPr/>
          <p:nvPr userDrawn="1"/>
        </p:nvSpPr>
        <p:spPr>
          <a:xfrm>
            <a:off x="181610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9" name="Oval 68">
            <a:extLst>
              <a:ext uri="{FF2B5EF4-FFF2-40B4-BE49-F238E27FC236}">
                <a16:creationId xmlns:a16="http://schemas.microsoft.com/office/drawing/2014/main" id="{6D273F5C-D33F-EF59-0554-6E5D0016BFBC}"/>
              </a:ext>
            </a:extLst>
          </p:cNvPr>
          <p:cNvSpPr/>
          <p:nvPr userDrawn="1"/>
        </p:nvSpPr>
        <p:spPr>
          <a:xfrm>
            <a:off x="2005561"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0" name="Oval 69">
            <a:extLst>
              <a:ext uri="{FF2B5EF4-FFF2-40B4-BE49-F238E27FC236}">
                <a16:creationId xmlns:a16="http://schemas.microsoft.com/office/drawing/2014/main" id="{47062037-C070-A95A-9CED-80046DEC4BEB}"/>
              </a:ext>
            </a:extLst>
          </p:cNvPr>
          <p:cNvSpPr/>
          <p:nvPr userDrawn="1"/>
        </p:nvSpPr>
        <p:spPr>
          <a:xfrm>
            <a:off x="112839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1" name="Oval 70">
            <a:extLst>
              <a:ext uri="{FF2B5EF4-FFF2-40B4-BE49-F238E27FC236}">
                <a16:creationId xmlns:a16="http://schemas.microsoft.com/office/drawing/2014/main" id="{FA6AEF5D-0DD5-0B6D-960F-425B1836E1F8}"/>
              </a:ext>
            </a:extLst>
          </p:cNvPr>
          <p:cNvSpPr/>
          <p:nvPr userDrawn="1"/>
        </p:nvSpPr>
        <p:spPr>
          <a:xfrm>
            <a:off x="1149350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2" name="Oval 71">
            <a:extLst>
              <a:ext uri="{FF2B5EF4-FFF2-40B4-BE49-F238E27FC236}">
                <a16:creationId xmlns:a16="http://schemas.microsoft.com/office/drawing/2014/main" id="{BD6BA97C-413A-8ACF-FA70-F3C46173BD30}"/>
              </a:ext>
            </a:extLst>
          </p:cNvPr>
          <p:cNvSpPr/>
          <p:nvPr userDrawn="1"/>
        </p:nvSpPr>
        <p:spPr>
          <a:xfrm>
            <a:off x="117030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3" name="Oval 72">
            <a:extLst>
              <a:ext uri="{FF2B5EF4-FFF2-40B4-BE49-F238E27FC236}">
                <a16:creationId xmlns:a16="http://schemas.microsoft.com/office/drawing/2014/main" id="{E6513DCA-0540-607D-489B-ADAE97DD8FC5}"/>
              </a:ext>
            </a:extLst>
          </p:cNvPr>
          <p:cNvSpPr/>
          <p:nvPr userDrawn="1"/>
        </p:nvSpPr>
        <p:spPr>
          <a:xfrm>
            <a:off x="106553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4" name="Oval 73">
            <a:extLst>
              <a:ext uri="{FF2B5EF4-FFF2-40B4-BE49-F238E27FC236}">
                <a16:creationId xmlns:a16="http://schemas.microsoft.com/office/drawing/2014/main" id="{EE5863C7-E4EF-A939-43D8-8A5F26090798}"/>
              </a:ext>
            </a:extLst>
          </p:cNvPr>
          <p:cNvSpPr/>
          <p:nvPr userDrawn="1"/>
        </p:nvSpPr>
        <p:spPr>
          <a:xfrm>
            <a:off x="1086485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5" name="Oval 74">
            <a:extLst>
              <a:ext uri="{FF2B5EF4-FFF2-40B4-BE49-F238E27FC236}">
                <a16:creationId xmlns:a16="http://schemas.microsoft.com/office/drawing/2014/main" id="{C52C00B1-AA56-6255-E25D-597D9F99820B}"/>
              </a:ext>
            </a:extLst>
          </p:cNvPr>
          <p:cNvSpPr/>
          <p:nvPr userDrawn="1"/>
        </p:nvSpPr>
        <p:spPr>
          <a:xfrm>
            <a:off x="110744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Oval 75">
            <a:extLst>
              <a:ext uri="{FF2B5EF4-FFF2-40B4-BE49-F238E27FC236}">
                <a16:creationId xmlns:a16="http://schemas.microsoft.com/office/drawing/2014/main" id="{4CB4C63B-CD2A-B497-E58A-2767E6C01D10}"/>
              </a:ext>
            </a:extLst>
          </p:cNvPr>
          <p:cNvSpPr/>
          <p:nvPr userDrawn="1"/>
        </p:nvSpPr>
        <p:spPr>
          <a:xfrm>
            <a:off x="1004673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7" name="Oval 76">
            <a:extLst>
              <a:ext uri="{FF2B5EF4-FFF2-40B4-BE49-F238E27FC236}">
                <a16:creationId xmlns:a16="http://schemas.microsoft.com/office/drawing/2014/main" id="{09A7A4A1-FD2B-1297-4853-FC278D1569B2}"/>
              </a:ext>
            </a:extLst>
          </p:cNvPr>
          <p:cNvSpPr/>
          <p:nvPr userDrawn="1"/>
        </p:nvSpPr>
        <p:spPr>
          <a:xfrm>
            <a:off x="1025628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8" name="Oval 77">
            <a:extLst>
              <a:ext uri="{FF2B5EF4-FFF2-40B4-BE49-F238E27FC236}">
                <a16:creationId xmlns:a16="http://schemas.microsoft.com/office/drawing/2014/main" id="{28E970DA-C16D-69FE-3E8F-9761A3D62978}"/>
              </a:ext>
            </a:extLst>
          </p:cNvPr>
          <p:cNvSpPr/>
          <p:nvPr userDrawn="1"/>
        </p:nvSpPr>
        <p:spPr>
          <a:xfrm>
            <a:off x="10445750"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312094651"/>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lang="en-US" sz="3200" b="1" kern="1200" smtClean="0">
          <a:solidFill>
            <a:schemeClr val="tx1"/>
          </a:solidFill>
          <a:latin typeface="Bahnschrif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extLst>
      <p:ext uri="{BB962C8B-B14F-4D97-AF65-F5344CB8AC3E}">
        <p14:creationId xmlns:p14="http://schemas.microsoft.com/office/powerpoint/2010/main" val="215795475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microsoft.com/office/2018/10/relationships/comments" Target="../comments/modernComment_25A_AC340E95.xml"/><Relationship Id="rId1" Type="http://schemas.openxmlformats.org/officeDocument/2006/relationships/slideLayout" Target="../slideLayouts/slideLayout11.xml"/><Relationship Id="rId5" Type="http://schemas.openxmlformats.org/officeDocument/2006/relationships/image" Target="../media/image7.emf"/><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microsoft.com/office/2018/10/relationships/comments" Target="../comments/modernComment_25B_6AF2A1D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1.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1.xml"/><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20.emf"/><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30.emf"/></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1.xml"/><Relationship Id="rId5" Type="http://schemas.openxmlformats.org/officeDocument/2006/relationships/image" Target="../media/image38.emf"/><Relationship Id="rId4" Type="http://schemas.openxmlformats.org/officeDocument/2006/relationships/image" Target="../media/image3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41.tmp"/><Relationship Id="rId7" Type="http://schemas.openxmlformats.org/officeDocument/2006/relationships/image" Target="../media/image45.tmp"/><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44.tmp"/><Relationship Id="rId5" Type="http://schemas.openxmlformats.org/officeDocument/2006/relationships/image" Target="../media/image43.tmp"/><Relationship Id="rId4" Type="http://schemas.openxmlformats.org/officeDocument/2006/relationships/image" Target="../media/image42.tmp"/></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866900" y="3475772"/>
            <a:ext cx="8458200" cy="1482842"/>
          </a:xfrm>
          <a:prstGeom prst="rect">
            <a:avLst/>
          </a:prstGeom>
          <a:noFill/>
          <a:ln w="28575">
            <a:noFill/>
          </a:ln>
        </p:spPr>
        <p:txBody>
          <a:bodyPr>
            <a:spAutoFit/>
          </a:bodyPr>
          <a:lstStyle/>
          <a:p>
            <a:pPr algn="ctr">
              <a:lnSpc>
                <a:spcPct val="150000"/>
              </a:lnSpc>
              <a:defRPr/>
            </a:pPr>
            <a:r>
              <a:rPr lang="en-GB" sz="3200" b="1" dirty="0">
                <a:solidFill>
                  <a:srgbClr val="109351"/>
                </a:solidFill>
                <a:latin typeface="Bahnschrift" panose="020B0502040204020203" pitchFamily="34" charset="0"/>
              </a:rPr>
              <a:t>Quarterly Macro-Fiscal Outlook (QMFO)</a:t>
            </a:r>
          </a:p>
          <a:p>
            <a:pPr algn="ctr">
              <a:lnSpc>
                <a:spcPct val="150000"/>
              </a:lnSpc>
              <a:defRPr/>
            </a:pPr>
            <a:r>
              <a:rPr lang="en-GB" sz="3200" b="1" dirty="0">
                <a:solidFill>
                  <a:srgbClr val="109351"/>
                </a:solidFill>
                <a:latin typeface="Bahnschrift" panose="020B0502040204020203" pitchFamily="34" charset="0"/>
              </a:rPr>
              <a:t>Summary Outlook 2024-27</a:t>
            </a:r>
          </a:p>
        </p:txBody>
      </p:sp>
      <p:cxnSp>
        <p:nvCxnSpPr>
          <p:cNvPr id="7" name="Straight Connector 6"/>
          <p:cNvCxnSpPr/>
          <p:nvPr/>
        </p:nvCxnSpPr>
        <p:spPr>
          <a:xfrm rot="10800000">
            <a:off x="2362200" y="3048000"/>
            <a:ext cx="7543800" cy="1588"/>
          </a:xfrm>
          <a:prstGeom prst="line">
            <a:avLst/>
          </a:prstGeom>
          <a:ln w="38100">
            <a:solidFill>
              <a:srgbClr val="F4BC0A"/>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048000" y="5715000"/>
            <a:ext cx="5867400" cy="523220"/>
          </a:xfrm>
          <a:prstGeom prst="rect">
            <a:avLst/>
          </a:prstGeom>
          <a:noFill/>
        </p:spPr>
        <p:txBody>
          <a:bodyPr wrap="square" rtlCol="0">
            <a:spAutoFit/>
          </a:bodyPr>
          <a:lstStyle/>
          <a:p>
            <a:pPr algn="ctr"/>
            <a:r>
              <a:rPr lang="en-US" sz="2800" b="1" dirty="0">
                <a:latin typeface="Bahnschrift Light" panose="020B0502040204020203" pitchFamily="34" charset="0"/>
              </a:rPr>
              <a:t>Nov 2024 Round</a:t>
            </a:r>
          </a:p>
        </p:txBody>
      </p:sp>
      <p:sp>
        <p:nvSpPr>
          <p:cNvPr id="3" name="TextBox 2">
            <a:extLst>
              <a:ext uri="{FF2B5EF4-FFF2-40B4-BE49-F238E27FC236}">
                <a16:creationId xmlns:a16="http://schemas.microsoft.com/office/drawing/2014/main" id="{E1578755-694B-F809-9288-A5B861F3FF33}"/>
              </a:ext>
            </a:extLst>
          </p:cNvPr>
          <p:cNvSpPr txBox="1"/>
          <p:nvPr/>
        </p:nvSpPr>
        <p:spPr>
          <a:xfrm>
            <a:off x="1524001" y="990600"/>
            <a:ext cx="8458200" cy="1077218"/>
          </a:xfrm>
          <a:prstGeom prst="rect">
            <a:avLst/>
          </a:prstGeom>
          <a:noFill/>
          <a:ln w="28575">
            <a:noFill/>
          </a:ln>
        </p:spPr>
        <p:txBody>
          <a:bodyPr>
            <a:spAutoFit/>
          </a:bodyPr>
          <a:lstStyle/>
          <a:p>
            <a:pPr algn="ctr">
              <a:defRPr/>
            </a:pPr>
            <a:r>
              <a:rPr lang="en-GB" sz="3200" b="1" dirty="0">
                <a:solidFill>
                  <a:srgbClr val="008BCC"/>
                </a:solidFill>
                <a:latin typeface="Bahnschrift" panose="020B0502040204020203" pitchFamily="34" charset="0"/>
              </a:rPr>
              <a:t>MINECOFIN Quarterly Macro-Fiscal Model (QMFM)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1</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438400" y="647513"/>
            <a:ext cx="7010400" cy="549275"/>
          </a:xfrm>
        </p:spPr>
        <p:txBody>
          <a:bodyPr/>
          <a:lstStyle/>
          <a:p>
            <a:pPr algn="ctr"/>
            <a:r>
              <a:rPr lang="en-GB" sz="3200" b="1" dirty="0">
                <a:solidFill>
                  <a:srgbClr val="008BCC"/>
                </a:solidFill>
                <a:latin typeface="Bahnschrift" panose="020B0502040204020203" pitchFamily="34" charset="0"/>
              </a:rPr>
              <a:t>Outline/contents</a:t>
            </a:r>
            <a:endParaRPr lang="en-AE" sz="3200" b="1" dirty="0">
              <a:solidFill>
                <a:srgbClr val="008BCC"/>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457200" y="1143000"/>
            <a:ext cx="108966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GB" sz="1600" dirty="0"/>
          </a:p>
        </p:txBody>
      </p:sp>
      <p:sp>
        <p:nvSpPr>
          <p:cNvPr id="6" name="TextBox 5">
            <a:extLst>
              <a:ext uri="{FF2B5EF4-FFF2-40B4-BE49-F238E27FC236}">
                <a16:creationId xmlns:a16="http://schemas.microsoft.com/office/drawing/2014/main" id="{D7294143-809D-C767-7D9E-2097A352781A}"/>
              </a:ext>
            </a:extLst>
          </p:cNvPr>
          <p:cNvSpPr txBox="1"/>
          <p:nvPr/>
        </p:nvSpPr>
        <p:spPr>
          <a:xfrm>
            <a:off x="990600" y="1524000"/>
            <a:ext cx="10363200" cy="4403065"/>
          </a:xfrm>
          <a:prstGeom prst="rect">
            <a:avLst/>
          </a:prstGeom>
          <a:noFill/>
        </p:spPr>
        <p:txBody>
          <a:bodyPr wrap="square">
            <a:spAutoFit/>
          </a:bodyPr>
          <a:lstStyle/>
          <a:p>
            <a:pPr marL="514350" indent="-514350">
              <a:lnSpc>
                <a:spcPct val="200000"/>
              </a:lnSpc>
              <a:buAutoNum type="romanUcPeriod"/>
            </a:pPr>
            <a:r>
              <a:rPr lang="en-US" b="1" dirty="0">
                <a:latin typeface="Bahnschrift" panose="020B0502040204020203" pitchFamily="34" charset="0"/>
              </a:rPr>
              <a:t>Rationale of Outlook and underlying model</a:t>
            </a:r>
            <a:endParaRPr lang="en-GB" b="1" dirty="0">
              <a:latin typeface="Bahnschrift" panose="020B0502040204020203" pitchFamily="34" charset="0"/>
            </a:endParaRPr>
          </a:p>
          <a:p>
            <a:pPr marL="514350" indent="-514350">
              <a:lnSpc>
                <a:spcPct val="200000"/>
              </a:lnSpc>
              <a:buAutoNum type="romanUcPeriod"/>
            </a:pPr>
            <a:r>
              <a:rPr lang="en-US" b="1" dirty="0">
                <a:latin typeface="Bahnschrift" panose="020B0502040204020203" pitchFamily="34" charset="0"/>
              </a:rPr>
              <a:t>Recent macroeconomic developments</a:t>
            </a:r>
          </a:p>
          <a:p>
            <a:pPr marL="514350" indent="-514350">
              <a:lnSpc>
                <a:spcPct val="200000"/>
              </a:lnSpc>
              <a:buAutoNum type="romanUcPeriod"/>
            </a:pPr>
            <a:r>
              <a:rPr lang="en-US" b="1" dirty="0">
                <a:solidFill>
                  <a:srgbClr val="FF0000"/>
                </a:solidFill>
                <a:latin typeface="Bahnschrift" panose="020B0502040204020203" pitchFamily="34" charset="0"/>
              </a:rPr>
              <a:t>Initial conditions and assumptions for forecast</a:t>
            </a:r>
          </a:p>
          <a:p>
            <a:pPr marL="514350" indent="-514350">
              <a:lnSpc>
                <a:spcPct val="200000"/>
              </a:lnSpc>
              <a:buAutoNum type="romanUcPeriod"/>
            </a:pPr>
            <a:r>
              <a:rPr lang="en-US" b="1" dirty="0">
                <a:latin typeface="Bahnschrift" panose="020B0502040204020203" pitchFamily="34" charset="0"/>
              </a:rPr>
              <a:t>Macroeconomic forecast/outlook</a:t>
            </a:r>
          </a:p>
          <a:p>
            <a:pPr marL="514350" indent="-514350">
              <a:lnSpc>
                <a:spcPct val="200000"/>
              </a:lnSpc>
              <a:buFontTx/>
              <a:buAutoNum type="romanUcPeriod"/>
            </a:pPr>
            <a:r>
              <a:rPr lang="en-GB" b="1" dirty="0">
                <a:latin typeface="Bahnschrift" panose="020B0502040204020203" pitchFamily="34" charset="0"/>
              </a:rPr>
              <a:t>Forecast evaluation (forecast comparison and effect recalibration)</a:t>
            </a:r>
            <a:endParaRPr lang="en-US" b="1" dirty="0">
              <a:latin typeface="Bahnschrift" panose="020B0502040204020203" pitchFamily="34" charset="0"/>
            </a:endParaRPr>
          </a:p>
          <a:p>
            <a:pPr marL="514350" indent="-514350">
              <a:lnSpc>
                <a:spcPct val="200000"/>
              </a:lnSpc>
              <a:buAutoNum type="romanUcPeriod"/>
            </a:pPr>
            <a:r>
              <a:rPr lang="en-US" b="1" dirty="0">
                <a:latin typeface="Bahnschrift" panose="020B0502040204020203" pitchFamily="34" charset="0"/>
                <a:cs typeface="+mj-cs"/>
              </a:rPr>
              <a:t>QMFM interrelation with macro toolbox (nowcasting, intMF)</a:t>
            </a:r>
          </a:p>
        </p:txBody>
      </p:sp>
    </p:spTree>
    <p:extLst>
      <p:ext uri="{BB962C8B-B14F-4D97-AF65-F5344CB8AC3E}">
        <p14:creationId xmlns:p14="http://schemas.microsoft.com/office/powerpoint/2010/main" val="247695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E66D5-96F8-C776-06D5-E110B7CAB1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55FB16-A2D7-AA50-F4D7-7329FBD673E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377CEE73-C74B-3B84-4080-A52B3299E858}"/>
              </a:ext>
            </a:extLst>
          </p:cNvPr>
          <p:cNvSpPr>
            <a:spLocks noGrp="1"/>
          </p:cNvSpPr>
          <p:nvPr>
            <p:ph type="title" idx="4294967295"/>
          </p:nvPr>
        </p:nvSpPr>
        <p:spPr>
          <a:xfrm>
            <a:off x="3276600" y="381000"/>
            <a:ext cx="6019800" cy="549274"/>
          </a:xfrm>
        </p:spPr>
        <p:txBody>
          <a:bodyPr>
            <a:normAutofit fontScale="90000"/>
          </a:bodyPr>
          <a:lstStyle/>
          <a:p>
            <a:pPr algn="ctr">
              <a:lnSpc>
                <a:spcPct val="200000"/>
              </a:lnSpc>
            </a:pPr>
            <a:r>
              <a:rPr lang="en-US" b="1" dirty="0">
                <a:solidFill>
                  <a:srgbClr val="008BCC"/>
                </a:solidFill>
                <a:latin typeface="Bahnschrift" panose="020B0502040204020203" pitchFamily="34" charset="0"/>
                <a:cs typeface="+mn-cs"/>
              </a:rPr>
              <a:t>Acronyms</a:t>
            </a:r>
            <a:endParaRPr lang="en-AE"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FC154AE9-F001-8533-BC32-D910385AC87E}"/>
              </a:ext>
            </a:extLst>
          </p:cNvPr>
          <p:cNvSpPr txBox="1">
            <a:spLocks/>
          </p:cNvSpPr>
          <p:nvPr/>
        </p:nvSpPr>
        <p:spPr>
          <a:xfrm>
            <a:off x="609600" y="1143000"/>
            <a:ext cx="5334000" cy="5334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FPAS</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Forecasting and Policy Analysis System (FPAS)</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IB</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Interbank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RIR: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NTF: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Neal Term Forecast</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MT and L</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T</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Medium-Term</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Long-Term</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YoY, %: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Year on Year Percentage Change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G&amp;S: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goods and services (govt demand, exports, …)</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WEO: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World Economic Outlook (by IMF)</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Assumptions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GEE: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Economic Environment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CBO</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Central Budget Office US</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
        <p:nvSpPr>
          <p:cNvPr id="4" name="Content Placeholder 2">
            <a:extLst>
              <a:ext uri="{FF2B5EF4-FFF2-40B4-BE49-F238E27FC236}">
                <a16:creationId xmlns:a16="http://schemas.microsoft.com/office/drawing/2014/main" id="{BE7C06F3-7D38-F318-7279-90BF1F4262B5}"/>
              </a:ext>
            </a:extLst>
          </p:cNvPr>
          <p:cNvSpPr txBox="1">
            <a:spLocks/>
          </p:cNvSpPr>
          <p:nvPr/>
        </p:nvSpPr>
        <p:spPr>
          <a:xfrm>
            <a:off x="6019800" y="1143000"/>
            <a:ext cx="5334000" cy="5334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3241965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971800" y="473075"/>
            <a:ext cx="6477000" cy="457200"/>
          </a:xfrm>
        </p:spPr>
        <p:txBody>
          <a:bodyPr>
            <a:normAutofit fontScale="90000"/>
          </a:bodyPr>
          <a:lstStyle/>
          <a:p>
            <a:pPr algn="ctr">
              <a:lnSpc>
                <a:spcPct val="200000"/>
              </a:lnSpc>
            </a:pPr>
            <a:r>
              <a:rPr lang="en-US" sz="2400" b="1" dirty="0">
                <a:solidFill>
                  <a:srgbClr val="008BCC"/>
                </a:solidFill>
                <a:latin typeface="Bahnschrift" panose="020B0502040204020203" pitchFamily="34" charset="0"/>
                <a:cs typeface="+mn-cs"/>
              </a:rPr>
              <a:t>Glossary of key terms</a:t>
            </a:r>
            <a:endParaRPr lang="en-AE" sz="2400"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533400" y="1066800"/>
            <a:ext cx="10972800" cy="528955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Output gap &amp; final demand gaps (+/-):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output Y above/below potential or trend level Y*, i.e., output gap is log(Y/Y*) &gt;&lt; 0</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Real interest &amp; real exchange rate gaps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RIR and RER above/below neutral or equilibrium levels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of macro aggregates by main drivers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coloured bars in charts show contribution of each</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deficit </a:t>
            </a:r>
            <a:r>
              <a:rPr kumimoji="0" lang="en-GB" sz="12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relevant for demand impact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before grants = total expenditure -/- non/tax revenue</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Debt anchor &amp; sustainable deficit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debt ratio to GDP target (with LT growth, inflation rates, etc.) drives sustainable debt-creating deficit.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stance expansionary/contractionary: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govt demand G&amp;S in % GDP above/below trend levels (“discretionary” deficit, demand &gt;&lt;0)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impulse (on private demand):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mainly</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discretionary fiscal deficit affecting consumption &amp; investment   (via income, ‘optimism’)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monetary policies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interest rates above/below neutral or trend levels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exchange rate policies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exchange rate below/above equilibrium or trend level</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Role expectations</a:t>
            </a:r>
            <a:r>
              <a:rPr kumimoji="0" lang="en-GB" sz="12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agents today consider expected macro variables and policies in future (expected inflation, exchange rate, demand gaps,…)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Forward-looking</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one or four periods ahead behavioural expectations/speculations  {+1} or {+4 Q}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Persistence:</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lag or effect of previous/initial values or behaviours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Trend </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(unobserved):</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trends of key macro variables are estimated; set steady state trends (to which variables converge in absence of shocks)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Shock: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All other factors not captured by model equation or parameter specification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(level, growth rate, % GDP):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e.g., output (gap) by final demands, GDP growth by components, deficit % of GDP by revenue, exp.</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lang="en-GB" sz="1200" b="1" dirty="0">
                <a:solidFill>
                  <a:srgbClr val="C00000"/>
                </a:solidFill>
                <a:latin typeface="Bahnschrift SemiLight" panose="020B0502040204020203" pitchFamily="34" charset="0"/>
              </a:rPr>
              <a:t>Overvaluation and undervaluation</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endParaRPr kumimoji="0" lang="en-GB" sz="12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66907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A81CA196-8B58-7376-E9BC-FCD9FA95F6F2}"/>
              </a:ext>
            </a:extLst>
          </p:cNvPr>
          <p:cNvSpPr>
            <a:spLocks noGrp="1"/>
          </p:cNvSpPr>
          <p:nvPr>
            <p:ph type="title" idx="4294967295"/>
          </p:nvPr>
        </p:nvSpPr>
        <p:spPr>
          <a:xfrm>
            <a:off x="3200400" y="609600"/>
            <a:ext cx="6997700" cy="559921"/>
          </a:xfrm>
        </p:spPr>
        <p:txBody>
          <a:bodyPr>
            <a:noAutofit/>
          </a:bodyPr>
          <a:lstStyle/>
          <a:p>
            <a:pPr>
              <a:lnSpc>
                <a:spcPct val="200000"/>
              </a:lnSpc>
            </a:pPr>
            <a:r>
              <a:rPr lang="en-GB" sz="2400" b="1" dirty="0">
                <a:solidFill>
                  <a:srgbClr val="008BCC"/>
                </a:solidFill>
                <a:latin typeface="Bahnschrift" panose="020B0502040204020203" pitchFamily="34" charset="0"/>
                <a:cs typeface="+mn-cs"/>
              </a:rPr>
              <a:t>I. Rationale of outlook &amp; underlying QMFM model</a:t>
            </a:r>
            <a:endParaRPr lang="en-AE" sz="2400"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762000" y="1295400"/>
            <a:ext cx="10591800" cy="4953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Regular forecasts 16 quarters ahead for key macro aggregates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(i.e., output, inflation, final demands,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as influenced by fiscal, monetary, and exchange rate policies, incl. in response to shocks and new developments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scenario simulations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Emphasis on fiscal and financing/debt policies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and interaction with monetary and exchange rate policies,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facilitating </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coordination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between MINECOFIN and NBR</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Input for </a:t>
            </a:r>
            <a:r>
              <a:rPr kumimoji="0" lang="en-US"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validated macro-fiscal projections in intMF</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underpinning MT budgets and IMF programs (checks on intMF)</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Underlying macro model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is New-Keynesian, ‘semi-structural, gap model, FPAS-type</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Uses analysis of past observations and estimated trends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to fit model to data; assesses initial condition for forecast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 premises</a:t>
            </a: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stance (fiscal deficit path, current policy interest rate, and ER), assumptions on external environment, other exogenous, and near-term forecasts for GDP and CPI, depending on other tools and judgment </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fter shocks and policy responses have worked out, </a:t>
            </a:r>
            <a:r>
              <a:rPr kumimoji="0" lang="en-US"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variables return gradually to their trends (long-term growth path)</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determined by their </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steady-state levels (outside model</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e.g., potential output growth, equilibrium RER, RIR, CPI target, sustainable deficit).</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727824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2"/>
          </p:nvPr>
        </p:nvSpPr>
        <p:spPr/>
        <p:txBody>
          <a:bodyPr/>
          <a:lstStyle/>
          <a:p>
            <a:fld id="{D97AE203-F84D-4A7F-B161-8561326BE072}" type="slidenum">
              <a:rPr lang="en-US" smtClean="0"/>
              <a:pPr/>
              <a:t>5</a:t>
            </a:fld>
            <a:endParaRPr lang="en-US" dirty="0"/>
          </a:p>
        </p:txBody>
      </p:sp>
      <p:sp>
        <p:nvSpPr>
          <p:cNvPr id="2" name="Title 1">
            <a:extLst>
              <a:ext uri="{FF2B5EF4-FFF2-40B4-BE49-F238E27FC236}">
                <a16:creationId xmlns:a16="http://schemas.microsoft.com/office/drawing/2014/main" id="{D8DC94FF-3715-83D7-A3A5-F73D7D616784}"/>
              </a:ext>
            </a:extLst>
          </p:cNvPr>
          <p:cNvSpPr>
            <a:spLocks noGrp="1"/>
          </p:cNvSpPr>
          <p:nvPr>
            <p:ph type="title" idx="4294967295"/>
          </p:nvPr>
        </p:nvSpPr>
        <p:spPr>
          <a:xfrm>
            <a:off x="2743200" y="393950"/>
            <a:ext cx="7772400" cy="762000"/>
          </a:xfrm>
          <a:ln>
            <a:noFill/>
          </a:ln>
        </p:spPr>
        <p:txBody>
          <a:bodyPr>
            <a:normAutofit fontScale="90000"/>
          </a:bodyPr>
          <a:lstStyle/>
          <a:p>
            <a:r>
              <a:rPr lang="en-US" sz="2700" b="1" dirty="0">
                <a:solidFill>
                  <a:srgbClr val="008BCC"/>
                </a:solidFill>
                <a:latin typeface="Bahnschrift" panose="020B0502040204020203" pitchFamily="34" charset="0"/>
                <a:cs typeface="+mn-cs"/>
              </a:rPr>
              <a:t>II. Recent macroeconomic developments (2015-2024Q2)</a:t>
            </a:r>
            <a:br>
              <a:rPr lang="en-US" sz="2200" b="1" dirty="0"/>
            </a:br>
            <a:r>
              <a:rPr lang="en-US" sz="1600" b="1" dirty="0"/>
              <a:t>                       </a:t>
            </a:r>
            <a:r>
              <a:rPr lang="en-US" sz="2000" b="1" dirty="0">
                <a:solidFill>
                  <a:srgbClr val="109351"/>
                </a:solidFill>
                <a:latin typeface="Bahnschrift" panose="020B0502040204020203" pitchFamily="34" charset="0"/>
              </a:rPr>
              <a:t>Final demand (GDP) and components</a:t>
            </a:r>
            <a:endParaRPr lang="en-RW" sz="2000" b="1" dirty="0">
              <a:solidFill>
                <a:srgbClr val="109351"/>
              </a:solidFill>
              <a:latin typeface="Bahnschrift" panose="020B0502040204020203" pitchFamily="34" charset="0"/>
            </a:endParaRPr>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628536" y="1219200"/>
            <a:ext cx="11030065" cy="2564525"/>
          </a:xfrm>
          <a:prstGeom prst="rect">
            <a:avLst/>
          </a:prstGeom>
          <a:ln>
            <a:solidFill>
              <a:schemeClr val="accent5">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lnSpc>
                <a:spcPct val="150000"/>
              </a:lnSpc>
              <a:spcAft>
                <a:spcPts val="600"/>
              </a:spcAft>
              <a:buNone/>
            </a:pPr>
            <a:r>
              <a:rPr lang="en-GB" sz="1800" b="1" dirty="0">
                <a:latin typeface="Bahnschrift Light" panose="020B0502040204020203" pitchFamily="34" charset="0"/>
              </a:rPr>
              <a:t>Real GDP, YY % (Bottom left chart):</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Trend growth (2000-19) averaged 7.5%</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During COVID year 2020, GDP dropped 3.4% and was approximately 12% below potential (had trend growth continued) due to drops in external and domestic demand and supply constraints.</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Expansionary fiscal policy mitigated the COVID-19 output drop and helped subsequent recovery</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Global instability, esp. The Russia-Ukraine war </a:t>
            </a:r>
            <a:r>
              <a:rPr lang="en-RW" sz="1200" dirty="0">
                <a:solidFill>
                  <a:schemeClr val="tx1"/>
                </a:solidFill>
                <a:latin typeface="Bahnschrift Light" panose="020B0502040204020203" pitchFamily="34" charset="0"/>
              </a:rPr>
              <a:t>slowed down the recovery from 2022Q1 onward</a:t>
            </a:r>
            <a:endParaRPr lang="en-US" sz="1200" dirty="0">
              <a:solidFill>
                <a:schemeClr val="tx1"/>
              </a:solidFill>
              <a:latin typeface="Bahnschrift Light" panose="020B0502040204020203" pitchFamily="34" charset="0"/>
            </a:endParaRPr>
          </a:p>
          <a:p>
            <a:pPr lvl="1" algn="just">
              <a:lnSpc>
                <a:spcPct val="150000"/>
              </a:lnSpc>
              <a:spcBef>
                <a:spcPts val="0"/>
              </a:spcBef>
              <a:spcAft>
                <a:spcPts val="0"/>
              </a:spcAft>
              <a:buFont typeface="Wingdings" panose="05000000000000000000" pitchFamily="2" charset="2"/>
              <a:buChar char="§"/>
            </a:pPr>
            <a:r>
              <a:rPr lang="en-GB" sz="1200" dirty="0">
                <a:solidFill>
                  <a:schemeClr val="tx1"/>
                </a:solidFill>
                <a:latin typeface="Bahnschrift Light" panose="020B0502040204020203" pitchFamily="34" charset="0"/>
              </a:rPr>
              <a:t>Despite a strong bounce back in 2021, the GDP was estimated at </a:t>
            </a:r>
            <a:r>
              <a:rPr lang="en-GB" sz="1200" dirty="0">
                <a:solidFill>
                  <a:srgbClr val="FF0000"/>
                </a:solidFill>
                <a:latin typeface="Bahnschrift Light" panose="020B0502040204020203" pitchFamily="34" charset="0"/>
              </a:rPr>
              <a:t>2% </a:t>
            </a:r>
            <a:r>
              <a:rPr lang="en-GB" sz="1200" dirty="0">
                <a:solidFill>
                  <a:schemeClr val="tx1"/>
                </a:solidFill>
                <a:latin typeface="Bahnschrift Light" panose="020B0502040204020203" pitchFamily="34" charset="0"/>
              </a:rPr>
              <a:t>below potential in </a:t>
            </a:r>
            <a:r>
              <a:rPr lang="en-GB" sz="1200" dirty="0">
                <a:solidFill>
                  <a:srgbClr val="FF0000"/>
                </a:solidFill>
                <a:latin typeface="Bahnschrift Light" panose="020B0502040204020203" pitchFamily="34" charset="0"/>
              </a:rPr>
              <a:t>late 2022</a:t>
            </a:r>
            <a:endParaRPr lang="en-US" sz="1200" dirty="0">
              <a:solidFill>
                <a:srgbClr val="FF0000"/>
              </a:solidFill>
              <a:latin typeface="Bahnschrift Light" panose="020B0502040204020203" pitchFamily="34" charset="0"/>
            </a:endParaRPr>
          </a:p>
        </p:txBody>
      </p:sp>
      <p:pic>
        <p:nvPicPr>
          <p:cNvPr id="8" name="Picture 7">
            <a:extLst>
              <a:ext uri="{FF2B5EF4-FFF2-40B4-BE49-F238E27FC236}">
                <a16:creationId xmlns:a16="http://schemas.microsoft.com/office/drawing/2014/main" id="{86ACD452-6EA8-A391-F644-C46DF3824BAE}"/>
              </a:ext>
            </a:extLst>
          </p:cNvPr>
          <p:cNvPicPr>
            <a:picLocks noChangeAspect="1"/>
          </p:cNvPicPr>
          <p:nvPr/>
        </p:nvPicPr>
        <p:blipFill rotWithShape="1">
          <a:blip r:embed="rId3"/>
          <a:srcRect l="5000" t="1856" r="5000" b="7206"/>
          <a:stretch/>
        </p:blipFill>
        <p:spPr>
          <a:xfrm>
            <a:off x="628537" y="3882440"/>
            <a:ext cx="4248264" cy="2581610"/>
          </a:xfrm>
          <a:prstGeom prst="rect">
            <a:avLst/>
          </a:prstGeom>
          <a:ln>
            <a:solidFill>
              <a:schemeClr val="accent5">
                <a:lumMod val="20000"/>
                <a:lumOff val="80000"/>
              </a:schemeClr>
            </a:solidFill>
          </a:ln>
        </p:spPr>
      </p:pic>
      <p:pic>
        <p:nvPicPr>
          <p:cNvPr id="4" name="Picture 3">
            <a:extLst>
              <a:ext uri="{FF2B5EF4-FFF2-40B4-BE49-F238E27FC236}">
                <a16:creationId xmlns:a16="http://schemas.microsoft.com/office/drawing/2014/main" id="{A63520C7-1842-DA0F-95FB-A8D6C002902A}"/>
              </a:ext>
            </a:extLst>
          </p:cNvPr>
          <p:cNvPicPr>
            <a:picLocks noChangeAspect="1"/>
          </p:cNvPicPr>
          <p:nvPr/>
        </p:nvPicPr>
        <p:blipFill>
          <a:blip r:embed="rId4"/>
          <a:stretch>
            <a:fillRect/>
          </a:stretch>
        </p:blipFill>
        <p:spPr>
          <a:xfrm>
            <a:off x="8466849" y="3882441"/>
            <a:ext cx="3191751" cy="2670758"/>
          </a:xfrm>
          <a:prstGeom prst="rect">
            <a:avLst/>
          </a:prstGeom>
          <a:ln>
            <a:solidFill>
              <a:schemeClr val="accent5">
                <a:lumMod val="20000"/>
                <a:lumOff val="80000"/>
              </a:schemeClr>
            </a:solidFill>
          </a:ln>
        </p:spPr>
      </p:pic>
      <p:pic>
        <p:nvPicPr>
          <p:cNvPr id="5" name="Picture 4">
            <a:extLst>
              <a:ext uri="{FF2B5EF4-FFF2-40B4-BE49-F238E27FC236}">
                <a16:creationId xmlns:a16="http://schemas.microsoft.com/office/drawing/2014/main" id="{2DF5C8FC-B4B1-8F87-D072-17D9743ED437}"/>
              </a:ext>
            </a:extLst>
          </p:cNvPr>
          <p:cNvPicPr>
            <a:picLocks noChangeAspect="1"/>
          </p:cNvPicPr>
          <p:nvPr/>
        </p:nvPicPr>
        <p:blipFill>
          <a:blip r:embed="rId5"/>
          <a:stretch>
            <a:fillRect/>
          </a:stretch>
        </p:blipFill>
        <p:spPr>
          <a:xfrm>
            <a:off x="5020552" y="3882441"/>
            <a:ext cx="3361447" cy="2670759"/>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88909275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2"/>
          </p:nvPr>
        </p:nvSpPr>
        <p:spPr/>
        <p:txBody>
          <a:bodyPr/>
          <a:lstStyle/>
          <a:p>
            <a:fld id="{D97AE203-F84D-4A7F-B161-8561326BE072}" type="slidenum">
              <a:rPr lang="en-US" smtClean="0"/>
              <a:pPr/>
              <a:t>6</a:t>
            </a:fld>
            <a:endParaRPr lang="en-US" dirty="0"/>
          </a:p>
        </p:txBody>
      </p:sp>
      <p:sp>
        <p:nvSpPr>
          <p:cNvPr id="2" name="Title 1">
            <a:extLst>
              <a:ext uri="{FF2B5EF4-FFF2-40B4-BE49-F238E27FC236}">
                <a16:creationId xmlns:a16="http://schemas.microsoft.com/office/drawing/2014/main" id="{F34D31CF-8231-22FA-9820-839850C2F98F}"/>
              </a:ext>
            </a:extLst>
          </p:cNvPr>
          <p:cNvSpPr>
            <a:spLocks noGrp="1"/>
          </p:cNvSpPr>
          <p:nvPr>
            <p:ph type="title" idx="4294967295"/>
          </p:nvPr>
        </p:nvSpPr>
        <p:spPr>
          <a:xfrm>
            <a:off x="1676400" y="838200"/>
            <a:ext cx="8839200" cy="762000"/>
          </a:xfrm>
          <a:ln>
            <a:noFill/>
          </a:ln>
        </p:spPr>
        <p:txBody>
          <a:bodyPr>
            <a:noAutofit/>
          </a:bodyPr>
          <a:lstStyle/>
          <a:p>
            <a:r>
              <a:rPr lang="en-US" sz="2400" b="1" dirty="0">
                <a:solidFill>
                  <a:srgbClr val="008BCC"/>
                </a:solidFill>
                <a:latin typeface="Bahnschrift" panose="020B0502040204020203" pitchFamily="34" charset="0"/>
                <a:cs typeface="+mn-cs"/>
              </a:rPr>
              <a:t>II. Recent macroeconomic developments (2015-2024Q2)</a:t>
            </a:r>
            <a:br>
              <a:rPr lang="en-US" sz="2400" b="1" dirty="0"/>
            </a:br>
            <a:r>
              <a:rPr lang="en-US" sz="1200" b="1" dirty="0"/>
              <a:t>                                                   </a:t>
            </a:r>
            <a:r>
              <a:rPr lang="en-US" sz="2000" b="1" dirty="0">
                <a:solidFill>
                  <a:srgbClr val="109351"/>
                </a:solidFill>
                <a:latin typeface="Bahnschrift" panose="020B0502040204020203" pitchFamily="34" charset="0"/>
              </a:rPr>
              <a:t>Final demand (GDP) and components        </a:t>
            </a:r>
            <a:endParaRPr lang="en-RW" sz="1600" b="1" dirty="0">
              <a:solidFill>
                <a:srgbClr val="109351"/>
              </a:solidFill>
              <a:latin typeface="Bahnschrift" panose="020B0502040204020203" pitchFamily="34" charset="0"/>
            </a:endParaRPr>
          </a:p>
        </p:txBody>
      </p:sp>
      <p:sp>
        <p:nvSpPr>
          <p:cNvPr id="18" name="TextBox 17">
            <a:extLst>
              <a:ext uri="{FF2B5EF4-FFF2-40B4-BE49-F238E27FC236}">
                <a16:creationId xmlns:a16="http://schemas.microsoft.com/office/drawing/2014/main" id="{A9B51905-B381-2286-37CA-179558F51EC5}"/>
              </a:ext>
            </a:extLst>
          </p:cNvPr>
          <p:cNvSpPr txBox="1"/>
          <p:nvPr/>
        </p:nvSpPr>
        <p:spPr>
          <a:xfrm>
            <a:off x="6781800" y="1734336"/>
            <a:ext cx="4648200" cy="4286686"/>
          </a:xfrm>
          <a:prstGeom prst="rect">
            <a:avLst/>
          </a:prstGeom>
          <a:noFill/>
          <a:ln>
            <a:solidFill>
              <a:schemeClr val="accent1">
                <a:lumMod val="40000"/>
                <a:lumOff val="60000"/>
              </a:schemeClr>
            </a:solidFill>
          </a:ln>
        </p:spPr>
        <p:txBody>
          <a:bodyPr wrap="square" rtlCol="0">
            <a:spAutoFit/>
          </a:bodyPr>
          <a:lstStyle/>
          <a:p>
            <a:pPr marL="0" lvl="1" algn="just" eaLnBrk="0" hangingPunct="0">
              <a:lnSpc>
                <a:spcPct val="150000"/>
              </a:lnSpc>
              <a:spcBef>
                <a:spcPts val="0"/>
              </a:spcBef>
              <a:spcAft>
                <a:spcPts val="600"/>
              </a:spcAft>
              <a:buClr>
                <a:schemeClr val="accent1"/>
              </a:buClr>
              <a:buSzPct val="76000"/>
            </a:pPr>
            <a:r>
              <a:rPr lang="en-US" sz="1200" b="1" dirty="0">
                <a:latin typeface="Bahnschrift Light" panose="020B0502040204020203" pitchFamily="34" charset="0"/>
              </a:rPr>
              <a:t>Real GDP growth drivers: Final demand components</a:t>
            </a:r>
            <a:endPar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recovery</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recovery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of private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a:t>
            </a:r>
            <a:r>
              <a:rPr lang="en-US" sz="1200" dirty="0">
                <a:solidFill>
                  <a:srgbClr val="FF0000"/>
                </a:solidFill>
                <a:effectLst/>
                <a:latin typeface="Bahnschrift Light" panose="020B0502040204020203" pitchFamily="34" charset="0"/>
                <a:ea typeface="Calibri" panose="020F0502020204030204" pitchFamily="34" charset="0"/>
                <a:cs typeface="Times New Roman" panose="02020603050405020304" pitchFamily="18" charset="0"/>
              </a:rPr>
              <a:t>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and investment</a:t>
            </a:r>
            <a:endParaRPr lang="en-US" sz="1200" strike="sngStrike"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Continued</a:t>
            </a:r>
            <a:r>
              <a:rPr lang="en-US" sz="1200"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due to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 </a:t>
            </a:r>
            <a:r>
              <a:rPr lang="en-US" sz="1200" dirty="0">
                <a:effectLst/>
                <a:latin typeface="Bahnschrift Light" panose="020B0502040204020203" pitchFamily="34" charset="0"/>
                <a:ea typeface="Calibri" panose="020F0502020204030204" pitchFamily="34" charset="0"/>
              </a:rPr>
              <a:t>in </a:t>
            </a:r>
            <a:r>
              <a:rPr lang="en-US" sz="1200" dirty="0">
                <a:solidFill>
                  <a:srgbClr val="C00000"/>
                </a:solidFill>
                <a:effectLst/>
                <a:latin typeface="Bahnschrift Light" panose="020B0502040204020203" pitchFamily="34" charset="0"/>
                <a:ea typeface="Calibri" panose="020F0502020204030204" pitchFamily="34" charset="0"/>
              </a:rPr>
              <a:t>early 2023)</a:t>
            </a:r>
            <a:endParaRPr lang="en-RW" sz="1200" dirty="0">
              <a:solidFill>
                <a:srgbClr val="C00000"/>
              </a:solidFill>
              <a:latin typeface="Bahnschrift Light" panose="020B0502040204020203" pitchFamily="34" charset="0"/>
            </a:endParaRPr>
          </a:p>
        </p:txBody>
      </p:sp>
      <p:grpSp>
        <p:nvGrpSpPr>
          <p:cNvPr id="5" name="Group 4">
            <a:extLst>
              <a:ext uri="{FF2B5EF4-FFF2-40B4-BE49-F238E27FC236}">
                <a16:creationId xmlns:a16="http://schemas.microsoft.com/office/drawing/2014/main" id="{4D566767-3FE1-6201-F031-6B798680FA4D}"/>
              </a:ext>
            </a:extLst>
          </p:cNvPr>
          <p:cNvGrpSpPr/>
          <p:nvPr/>
        </p:nvGrpSpPr>
        <p:grpSpPr>
          <a:xfrm>
            <a:off x="685800" y="1734335"/>
            <a:ext cx="6008914" cy="4622015"/>
            <a:chOff x="685800" y="1734335"/>
            <a:chExt cx="6008914" cy="4622015"/>
          </a:xfrm>
        </p:grpSpPr>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3"/>
            <a:srcRect l="10457" t="4478" r="51979" b="7463"/>
            <a:stretch/>
          </p:blipFill>
          <p:spPr>
            <a:xfrm>
              <a:off x="685800" y="1734335"/>
              <a:ext cx="2971800" cy="4622015"/>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CEAB9C51-99D5-6412-A5E1-DB8694948A30}"/>
                </a:ext>
              </a:extLst>
            </p:cNvPr>
            <p:cNvPicPr>
              <a:picLocks noChangeAspect="1"/>
            </p:cNvPicPr>
            <p:nvPr/>
          </p:nvPicPr>
          <p:blipFill rotWithShape="1">
            <a:blip r:embed="rId3"/>
            <a:srcRect l="53938" t="4478" r="7672" b="7463"/>
            <a:stretch/>
          </p:blipFill>
          <p:spPr>
            <a:xfrm>
              <a:off x="3657600" y="1734335"/>
              <a:ext cx="3037114" cy="4622015"/>
            </a:xfrm>
            <a:prstGeom prst="rect">
              <a:avLst/>
            </a:prstGeom>
            <a:ln>
              <a:solidFill>
                <a:schemeClr val="accent1">
                  <a:lumMod val="40000"/>
                  <a:lumOff val="60000"/>
                </a:schemeClr>
              </a:solidFill>
            </a:ln>
          </p:spPr>
        </p:pic>
      </p:grpSp>
    </p:spTree>
    <p:extLst>
      <p:ext uri="{BB962C8B-B14F-4D97-AF65-F5344CB8AC3E}">
        <p14:creationId xmlns:p14="http://schemas.microsoft.com/office/powerpoint/2010/main" val="179428603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2"/>
          </p:nvPr>
        </p:nvSpPr>
        <p:spPr/>
        <p:txBody>
          <a:bodyPr/>
          <a:lstStyle/>
          <a:p>
            <a:fld id="{D97AE203-F84D-4A7F-B161-8561326BE072}" type="slidenum">
              <a:rPr lang="en-US" smtClean="0"/>
              <a:pPr/>
              <a:t>7</a:t>
            </a:fld>
            <a:endParaRPr lang="en-US" dirty="0"/>
          </a:p>
        </p:txBody>
      </p:sp>
      <p:sp>
        <p:nvSpPr>
          <p:cNvPr id="2" name="Title 1">
            <a:extLst>
              <a:ext uri="{FF2B5EF4-FFF2-40B4-BE49-F238E27FC236}">
                <a16:creationId xmlns:a16="http://schemas.microsoft.com/office/drawing/2014/main" id="{F34D31CF-8231-22FA-9820-839850C2F98F}"/>
              </a:ext>
            </a:extLst>
          </p:cNvPr>
          <p:cNvSpPr>
            <a:spLocks noGrp="1"/>
          </p:cNvSpPr>
          <p:nvPr>
            <p:ph type="title" idx="4294967295"/>
          </p:nvPr>
        </p:nvSpPr>
        <p:spPr>
          <a:xfrm>
            <a:off x="1676400" y="838200"/>
            <a:ext cx="8839200" cy="762000"/>
          </a:xfrm>
          <a:ln>
            <a:noFill/>
          </a:ln>
        </p:spPr>
        <p:txBody>
          <a:bodyPr>
            <a:noAutofit/>
          </a:bodyPr>
          <a:lstStyle/>
          <a:p>
            <a:r>
              <a:rPr lang="en-US" sz="2800" b="1" dirty="0">
                <a:solidFill>
                  <a:srgbClr val="008BCC"/>
                </a:solidFill>
                <a:latin typeface="Bahnschrift" panose="020B0502040204020203" pitchFamily="34" charset="0"/>
                <a:cs typeface="+mn-cs"/>
              </a:rPr>
              <a:t>IV. Recent macroeconomic developments (2015-2023)</a:t>
            </a:r>
            <a:br>
              <a:rPr lang="en-US" sz="1200" b="1" dirty="0"/>
            </a:br>
            <a:r>
              <a:rPr lang="en-US" sz="2000" b="1" dirty="0">
                <a:solidFill>
                  <a:srgbClr val="109351"/>
                </a:solidFill>
                <a:latin typeface="Bahnschrift" panose="020B0502040204020203" pitchFamily="34" charset="0"/>
              </a:rPr>
              <a:t>Final demand (GDP) and components</a:t>
            </a:r>
            <a:endParaRPr lang="en-RW" sz="1600" b="1" dirty="0">
              <a:solidFill>
                <a:srgbClr val="109351"/>
              </a:solidFill>
              <a:latin typeface="Bahnschrift" panose="020B0502040204020203" pitchFamily="34" charset="0"/>
            </a:endParaRPr>
          </a:p>
        </p:txBody>
      </p:sp>
      <p:sp>
        <p:nvSpPr>
          <p:cNvPr id="18" name="TextBox 17">
            <a:extLst>
              <a:ext uri="{FF2B5EF4-FFF2-40B4-BE49-F238E27FC236}">
                <a16:creationId xmlns:a16="http://schemas.microsoft.com/office/drawing/2014/main" id="{A9B51905-B381-2286-37CA-179558F51EC5}"/>
              </a:ext>
            </a:extLst>
          </p:cNvPr>
          <p:cNvSpPr txBox="1"/>
          <p:nvPr/>
        </p:nvSpPr>
        <p:spPr>
          <a:xfrm>
            <a:off x="6781800" y="1734336"/>
            <a:ext cx="4648200" cy="4563685"/>
          </a:xfrm>
          <a:prstGeom prst="rect">
            <a:avLst/>
          </a:prstGeom>
          <a:noFill/>
          <a:ln>
            <a:solidFill>
              <a:schemeClr val="accent1">
                <a:lumMod val="40000"/>
                <a:lumOff val="60000"/>
              </a:schemeClr>
            </a:solidFill>
          </a:ln>
        </p:spPr>
        <p:txBody>
          <a:bodyPr wrap="square" rtlCol="0">
            <a:spAutoFit/>
          </a:bodyPr>
          <a:lstStyle/>
          <a:p>
            <a:pPr marL="0" lvl="1" algn="just" eaLnBrk="0" hangingPunct="0">
              <a:lnSpc>
                <a:spcPct val="150000"/>
              </a:lnSpc>
              <a:spcBef>
                <a:spcPts val="0"/>
              </a:spcBef>
              <a:spcAft>
                <a:spcPts val="600"/>
              </a:spcAft>
              <a:buClr>
                <a:schemeClr val="accent1"/>
              </a:buClr>
              <a:buSzPct val="76000"/>
            </a:pPr>
            <a:r>
              <a:rPr lang="en-US" sz="1200" b="1" dirty="0">
                <a:latin typeface="Bahnschrift Light" panose="020B0502040204020203" pitchFamily="34" charset="0"/>
              </a:rPr>
              <a:t>Real GDP Growth Drivers: Final demand components</a:t>
            </a:r>
            <a:endPar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performance consumption, investment and increased government consumption</a:t>
            </a: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Somewhat 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affected by 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a:t>
            </a:r>
            <a:endParaRPr lang="en-RW" sz="1200" dirty="0">
              <a:latin typeface="Bahnschrift Light" panose="020B0502040204020203" pitchFamily="34" charset="0"/>
            </a:endParaRPr>
          </a:p>
        </p:txBody>
      </p:sp>
      <p:grpSp>
        <p:nvGrpSpPr>
          <p:cNvPr id="5" name="Group 4">
            <a:extLst>
              <a:ext uri="{FF2B5EF4-FFF2-40B4-BE49-F238E27FC236}">
                <a16:creationId xmlns:a16="http://schemas.microsoft.com/office/drawing/2014/main" id="{4D566767-3FE1-6201-F031-6B798680FA4D}"/>
              </a:ext>
            </a:extLst>
          </p:cNvPr>
          <p:cNvGrpSpPr/>
          <p:nvPr/>
        </p:nvGrpSpPr>
        <p:grpSpPr>
          <a:xfrm>
            <a:off x="685800" y="1734335"/>
            <a:ext cx="6008914" cy="4622015"/>
            <a:chOff x="685800" y="1734335"/>
            <a:chExt cx="6008914" cy="4622015"/>
          </a:xfrm>
        </p:grpSpPr>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2"/>
            <a:srcRect l="10457" t="4478" r="51979" b="7463"/>
            <a:stretch/>
          </p:blipFill>
          <p:spPr>
            <a:xfrm>
              <a:off x="685800" y="1734335"/>
              <a:ext cx="2971800" cy="4622015"/>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CEAB9C51-99D5-6412-A5E1-DB8694948A30}"/>
                </a:ext>
              </a:extLst>
            </p:cNvPr>
            <p:cNvPicPr>
              <a:picLocks noChangeAspect="1"/>
            </p:cNvPicPr>
            <p:nvPr/>
          </p:nvPicPr>
          <p:blipFill rotWithShape="1">
            <a:blip r:embed="rId2"/>
            <a:srcRect l="53938" t="4478" r="7672" b="7463"/>
            <a:stretch/>
          </p:blipFill>
          <p:spPr>
            <a:xfrm>
              <a:off x="3657600" y="1734335"/>
              <a:ext cx="3037114" cy="4622015"/>
            </a:xfrm>
            <a:prstGeom prst="rect">
              <a:avLst/>
            </a:prstGeom>
            <a:ln>
              <a:solidFill>
                <a:schemeClr val="accent1">
                  <a:lumMod val="40000"/>
                  <a:lumOff val="60000"/>
                </a:schemeClr>
              </a:solidFill>
            </a:ln>
          </p:spPr>
        </p:pic>
      </p:grpSp>
    </p:spTree>
    <p:extLst>
      <p:ext uri="{BB962C8B-B14F-4D97-AF65-F5344CB8AC3E}">
        <p14:creationId xmlns:p14="http://schemas.microsoft.com/office/powerpoint/2010/main" val="192262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8</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3810000" y="404813"/>
            <a:ext cx="5689600" cy="549275"/>
          </a:xfrm>
        </p:spPr>
        <p:txBody>
          <a:bodyPr/>
          <a:lstStyle/>
          <a:p>
            <a:r>
              <a:rPr lang="en-US" sz="2400" b="1" dirty="0">
                <a:solidFill>
                  <a:srgbClr val="008BCC"/>
                </a:solidFill>
                <a:latin typeface="Bahnschrift" panose="020B0502040204020203" pitchFamily="34" charset="0"/>
              </a:rPr>
              <a:t>Inflation: Consumer Price Index (CPI)</a:t>
            </a:r>
            <a:endParaRPr lang="en-AE" sz="2400" b="1" dirty="0">
              <a:solidFill>
                <a:srgbClr val="008BCC"/>
              </a:solidFill>
              <a:latin typeface="Bahnschrift" panose="020B0502040204020203" pitchFamily="34" charset="0"/>
            </a:endParaRPr>
          </a:p>
        </p:txBody>
      </p:sp>
      <p:sp>
        <p:nvSpPr>
          <p:cNvPr id="14" name="TextBox 13">
            <a:extLst>
              <a:ext uri="{FF2B5EF4-FFF2-40B4-BE49-F238E27FC236}">
                <a16:creationId xmlns:a16="http://schemas.microsoft.com/office/drawing/2014/main" id="{CF6BBD95-BE42-4C2A-645F-6CCE272F3517}"/>
              </a:ext>
            </a:extLst>
          </p:cNvPr>
          <p:cNvSpPr txBox="1"/>
          <p:nvPr/>
        </p:nvSpPr>
        <p:spPr>
          <a:xfrm>
            <a:off x="4876800" y="1196296"/>
            <a:ext cx="6629400" cy="4933017"/>
          </a:xfrm>
          <a:prstGeom prst="rect">
            <a:avLst/>
          </a:prstGeom>
          <a:noFill/>
          <a:ln>
            <a:solidFill>
              <a:schemeClr val="accent1">
                <a:lumMod val="40000"/>
                <a:lumOff val="60000"/>
              </a:schemeClr>
            </a:solidFill>
          </a:ln>
        </p:spPr>
        <p:txBody>
          <a:bodyPr wrap="square" rtlCol="0">
            <a:spAutoFit/>
          </a:bodyPr>
          <a:lstStyle/>
          <a:p>
            <a:pPr algn="just" eaLnBrk="0" hangingPunct="0">
              <a:lnSpc>
                <a:spcPct val="150000"/>
              </a:lnSpc>
              <a:spcBef>
                <a:spcPts val="600"/>
              </a:spcBef>
              <a:spcAft>
                <a:spcPts val="600"/>
              </a:spcAft>
              <a:buClr>
                <a:schemeClr val="accent1"/>
              </a:buClr>
              <a:buSzPct val="76000"/>
            </a:pPr>
            <a:r>
              <a:rPr lang="en-US" sz="1600" b="1" dirty="0">
                <a:latin typeface="Bahnschrift Light" panose="020B0502040204020203" pitchFamily="34" charset="0"/>
              </a:rPr>
              <a:t>Headline CPI—drivers:</a:t>
            </a:r>
            <a:endParaRPr lang="en-US" sz="1100" b="1"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a:t>
            </a:r>
            <a:r>
              <a:rPr lang="en-US" sz="1200" b="1" dirty="0">
                <a:latin typeface="Bahnschrift Light" panose="020B0502040204020203" pitchFamily="34" charset="0"/>
                <a:ea typeface="Calibri" panose="020F0502020204030204" pitchFamily="34" charset="0"/>
                <a:cs typeface="Times New Roman" panose="02020603050405020304" pitchFamily="18" charset="0"/>
              </a:rPr>
              <a:t>A</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bove 5% target:</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slight above target during 2020 induced by higher COVID-related food and core prices (imports)</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But less persisting towards 2021 as food pressures ease</a:t>
            </a: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Right after Covid (2021-22)—</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Low</a:t>
            </a:r>
            <a:r>
              <a:rPr lang="en-US" sz="1200" b="1" strike="sngStrike" dirty="0">
                <a:effectLst/>
                <a:latin typeface="Bahnschrift Light" panose="020B0502040204020203" pitchFamily="34" charset="0"/>
                <a:ea typeface="Calibri" panose="020F0502020204030204" pitchFamily="34" charset="0"/>
                <a:cs typeface="Times New Roman" panose="02020603050405020304" pitchFamily="18" charset="0"/>
              </a:rPr>
              <a:t>er</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 inflation episode:</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lower, driven by a still sluggish economy, good agricultural harvests, and less expensive imports as </a:t>
            </a:r>
            <a:r>
              <a:rPr lang="en-US" sz="1200"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rPr>
              <a:t>world prices depressed and ER depreciation slowed down</a:t>
            </a:r>
          </a:p>
          <a:p>
            <a:pPr marL="0" marR="0" lvl="0" indent="0" algn="l" defTabSz="914400" rtl="0" eaLnBrk="1" fontAlgn="base" latinLnBrk="0" hangingPunct="1">
              <a:lnSpc>
                <a:spcPct val="150000"/>
              </a:lnSpc>
              <a:spcBef>
                <a:spcPct val="0"/>
              </a:spcBef>
              <a:spcAft>
                <a:spcPts val="0"/>
              </a:spcAft>
              <a:buClrTx/>
              <a:buSzTx/>
              <a:buFontTx/>
              <a:buNone/>
              <a:tabLst/>
              <a:defRPr/>
            </a:pP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Post-COVID and Russia-Ukraine war (2022-23)—</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High</a:t>
            </a:r>
            <a:r>
              <a:rPr kumimoji="0" lang="en-US" sz="1200" b="1" i="0" u="none" strike="sng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 </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inflation episode</a:t>
            </a: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overshooting 5% target</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 increase in </a:t>
            </a:r>
            <a:r>
              <a:rPr lang="en-US" sz="1200" i="1" dirty="0">
                <a:latin typeface="Bahnschrift Light" panose="020B0502040204020203" pitchFamily="34" charset="0"/>
                <a:ea typeface="Calibri" panose="020F0502020204030204" pitchFamily="34" charset="0"/>
                <a:cs typeface="Times New Roman" panose="02020603050405020304" pitchFamily="18" charset="0"/>
              </a:rPr>
              <a:t>food prices</a:t>
            </a:r>
            <a:r>
              <a:rPr lang="en-US" sz="1200" dirty="0">
                <a:latin typeface="Bahnschrift Light" panose="020B0502040204020203" pitchFamily="34" charset="0"/>
                <a:ea typeface="Calibri" panose="020F0502020204030204" pitchFamily="34" charset="0"/>
                <a:cs typeface="Times New Roman" panose="02020603050405020304" pitchFamily="18" charset="0"/>
              </a:rPr>
              <a:t>: driven by negative agricultural production (e.g., higher input costs like fertilizers, seeds, and cereals) and other supply shocks.</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world energy and commodity prices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i="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Higher c</a:t>
            </a:r>
            <a:r>
              <a:rPr lang="en-US" sz="1200" i="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ore prices</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expectations, import prices (in/direct), supply-side shocks (pricing behavior not captured in the model)</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R="0" lvl="0" algn="l" defTabSz="914400" rtl="0" eaLnBrk="1" fontAlgn="base" latinLnBrk="0" hangingPunct="1">
              <a:lnSpc>
                <a:spcPct val="150000"/>
              </a:lnSpc>
              <a:spcBef>
                <a:spcPct val="0"/>
              </a:spcBef>
              <a:spcAft>
                <a:spcPts val="0"/>
              </a:spcAft>
              <a:buClrTx/>
              <a:buSzTx/>
              <a:tabLst/>
              <a:defRPr/>
            </a:pP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2023-24: </a:t>
            </a:r>
            <a:r>
              <a:rPr lang="en-US" sz="1200" b="1" dirty="0">
                <a:latin typeface="Bahnschrift Light" panose="020B0502040204020203" pitchFamily="34" charset="0"/>
                <a:ea typeface="Calibri" panose="020F0502020204030204" pitchFamily="34" charset="0"/>
                <a:cs typeface="Times New Roman" panose="02020603050405020304" pitchFamily="18" charset="0"/>
              </a:rPr>
              <a:t>Easing to below 5% target:</a:t>
            </a:r>
          </a:p>
          <a:p>
            <a:pPr marL="171450" indent="-171450" algn="just">
              <a:lnSpc>
                <a:spcPct val="150000"/>
              </a:lnSpc>
              <a:spcAft>
                <a:spcPts val="600"/>
              </a:spcAft>
              <a:buFont typeface="Arial" panose="020B0604020202020204" pitchFamily="34" charset="0"/>
              <a:buChar char="•"/>
            </a:pPr>
            <a:r>
              <a:rPr lang="en-GB" sz="1200" dirty="0">
                <a:latin typeface="Bahnschrift Light" panose="020B0502040204020203" pitchFamily="34" charset="0"/>
              </a:rPr>
              <a:t> Deceleration observed in core and food inflation and fall in energy prices from 2023Q1.</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9825710A-1D96-5D94-8F3F-022DBFF2EB48}"/>
              </a:ext>
            </a:extLst>
          </p:cNvPr>
          <p:cNvPicPr>
            <a:picLocks noChangeAspect="1"/>
          </p:cNvPicPr>
          <p:nvPr/>
        </p:nvPicPr>
        <p:blipFill rotWithShape="1">
          <a:blip r:embed="rId2"/>
          <a:srcRect l="9341" t="833" r="5856" b="7738"/>
          <a:stretch/>
        </p:blipFill>
        <p:spPr>
          <a:xfrm>
            <a:off x="762000" y="3810000"/>
            <a:ext cx="4038600" cy="2655518"/>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F0FF90EB-F885-09A7-C1F2-A5AE33953879}"/>
              </a:ext>
            </a:extLst>
          </p:cNvPr>
          <p:cNvPicPr>
            <a:picLocks noChangeAspect="1"/>
          </p:cNvPicPr>
          <p:nvPr/>
        </p:nvPicPr>
        <p:blipFill>
          <a:blip r:embed="rId3"/>
          <a:stretch>
            <a:fillRect/>
          </a:stretch>
        </p:blipFill>
        <p:spPr>
          <a:xfrm>
            <a:off x="762000" y="1054285"/>
            <a:ext cx="4038600" cy="2655518"/>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14376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5504-7432-7B4D-F75D-07F08F29872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D6F2A58-B9E8-455A-EF1A-18C0010DC317}"/>
              </a:ext>
            </a:extLst>
          </p:cNvPr>
          <p:cNvSpPr>
            <a:spLocks noGrp="1"/>
          </p:cNvSpPr>
          <p:nvPr>
            <p:ph type="sldNum" sz="quarter" idx="12"/>
          </p:nvPr>
        </p:nvSpPr>
        <p:spPr/>
        <p:txBody>
          <a:bodyPr/>
          <a:lstStyle/>
          <a:p>
            <a:fld id="{D97AE203-F84D-4A7F-B161-8561326BE072}" type="slidenum">
              <a:rPr lang="en-US" smtClean="0"/>
              <a:pPr/>
              <a:t>9</a:t>
            </a:fld>
            <a:endParaRPr lang="en-US" dirty="0"/>
          </a:p>
        </p:txBody>
      </p:sp>
      <p:sp>
        <p:nvSpPr>
          <p:cNvPr id="2" name="Title 1">
            <a:extLst>
              <a:ext uri="{FF2B5EF4-FFF2-40B4-BE49-F238E27FC236}">
                <a16:creationId xmlns:a16="http://schemas.microsoft.com/office/drawing/2014/main" id="{1BDD8923-3A7C-F33A-B4AA-FA797928C4E9}"/>
              </a:ext>
            </a:extLst>
          </p:cNvPr>
          <p:cNvSpPr>
            <a:spLocks noGrp="1"/>
          </p:cNvSpPr>
          <p:nvPr>
            <p:ph type="title" idx="4294967295"/>
          </p:nvPr>
        </p:nvSpPr>
        <p:spPr>
          <a:xfrm>
            <a:off x="3810000" y="242888"/>
            <a:ext cx="6019800" cy="549275"/>
          </a:xfrm>
        </p:spPr>
        <p:txBody>
          <a:bodyPr/>
          <a:lstStyle/>
          <a:p>
            <a:pPr algn="ctr"/>
            <a:r>
              <a:rPr lang="en-US" sz="2400" b="1" dirty="0">
                <a:solidFill>
                  <a:srgbClr val="008BCC"/>
                </a:solidFill>
                <a:latin typeface="Bahnschrift" panose="020B0502040204020203" pitchFamily="34" charset="0"/>
              </a:rPr>
              <a:t>Fiscal Policy—Deficit and Components</a:t>
            </a:r>
            <a:endParaRPr lang="en-AE" sz="2400" b="1" dirty="0">
              <a:solidFill>
                <a:srgbClr val="008BCC"/>
              </a:solidFill>
              <a:latin typeface="Bahnschrift" panose="020B0502040204020203" pitchFamily="34" charset="0"/>
            </a:endParaRPr>
          </a:p>
        </p:txBody>
      </p:sp>
      <p:sp>
        <p:nvSpPr>
          <p:cNvPr id="7" name="Content Placeholder 2">
            <a:extLst>
              <a:ext uri="{FF2B5EF4-FFF2-40B4-BE49-F238E27FC236}">
                <a16:creationId xmlns:a16="http://schemas.microsoft.com/office/drawing/2014/main" id="{12AE7373-7318-B8D0-DF0C-CBF182365D26}"/>
              </a:ext>
            </a:extLst>
          </p:cNvPr>
          <p:cNvSpPr txBox="1">
            <a:spLocks/>
          </p:cNvSpPr>
          <p:nvPr/>
        </p:nvSpPr>
        <p:spPr>
          <a:xfrm>
            <a:off x="381000" y="3946525"/>
            <a:ext cx="11430000" cy="2530475"/>
          </a:xfrm>
          <a:prstGeom prst="rect">
            <a:avLst/>
          </a:prstGeom>
          <a:ln>
            <a:solidFill>
              <a:schemeClr val="accent5">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US" sz="1200" b="1" u="sng" dirty="0">
                <a:latin typeface="Bahnschrift" panose="020B0502040204020203" pitchFamily="34" charset="0"/>
              </a:rPr>
              <a:t>Fiscal/budget deficit (excl. grants, % GDP) and Govt demand (%GDP)</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Some fiscal consolidation pre-Covid</a:t>
            </a:r>
            <a:r>
              <a:rPr lang="en-US" sz="1200" dirty="0">
                <a:solidFill>
                  <a:schemeClr val="tx1"/>
                </a:solidFill>
                <a:latin typeface="Bahnschrift Light" panose="020B0502040204020203" pitchFamily="34" charset="0"/>
              </a:rPr>
              <a:t>—slightly lowered deficits averaging 10% of GDP in 2015/16—2018/19, mainly through lower spending on G&amp;S (“discretionary”)</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Expansionary fiscal stance under Covid</a:t>
            </a:r>
            <a:r>
              <a:rPr lang="en-US" sz="1200" dirty="0">
                <a:solidFill>
                  <a:schemeClr val="tx1"/>
                </a:solidFill>
                <a:latin typeface="Bahnschrift Light" panose="020B0502040204020203" pitchFamily="34" charset="0"/>
              </a:rPr>
              <a:t>—increased deficit averaging 14% of GDP in FY2019/20—2021/22, </a:t>
            </a:r>
          </a:p>
          <a:p>
            <a:pPr lvl="2" algn="just">
              <a:spcAft>
                <a:spcPts val="600"/>
              </a:spcAft>
              <a:buFont typeface="Wingdings" panose="05000000000000000000" pitchFamily="2" charset="2"/>
              <a:buChar char="§"/>
            </a:pPr>
            <a:r>
              <a:rPr lang="en-US" sz="1200" dirty="0">
                <a:solidFill>
                  <a:schemeClr val="tx1"/>
                </a:solidFill>
                <a:latin typeface="Bahnschrift Light" panose="020B0502040204020203" pitchFamily="34" charset="0"/>
              </a:rPr>
              <a:t>mainly Covid-related spending on G&amp;S (incl. school construction) and transfers/subsidies, mostly “</a:t>
            </a:r>
            <a:r>
              <a:rPr lang="en-US" sz="1200" dirty="0">
                <a:solidFill>
                  <a:srgbClr val="C00000"/>
                </a:solidFill>
                <a:latin typeface="Bahnschrift Light" panose="020B0502040204020203" pitchFamily="34" charset="0"/>
              </a:rPr>
              <a:t>discretionary</a:t>
            </a:r>
            <a:r>
              <a:rPr lang="en-US" sz="1200" dirty="0">
                <a:solidFill>
                  <a:schemeClr val="tx1"/>
                </a:solidFill>
                <a:latin typeface="Bahnschrift Light" panose="020B0502040204020203" pitchFamily="34" charset="0"/>
              </a:rPr>
              <a:t>” spending and deficit, only small “cyclical” deficit </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Start of fiscal consolidation post-Covid</a:t>
            </a:r>
            <a:r>
              <a:rPr lang="en-US" sz="1200" dirty="0">
                <a:solidFill>
                  <a:schemeClr val="tx1"/>
                </a:solidFill>
                <a:latin typeface="Bahnschrift Light" panose="020B0502040204020203" pitchFamily="34" charset="0"/>
              </a:rPr>
              <a:t>—deficit declined to 12% of GDP in FY2022/23, with spending on G&amp;S falling by 3% points of GDP (despite flood-related spending)</a:t>
            </a:r>
          </a:p>
          <a:p>
            <a:pPr lvl="1" algn="just">
              <a:spcAft>
                <a:spcPts val="600"/>
              </a:spcAft>
              <a:buFont typeface="Wingdings" panose="05000000000000000000" pitchFamily="2" charset="2"/>
              <a:buChar char="§"/>
            </a:pPr>
            <a:r>
              <a:rPr lang="en-US" sz="1200" dirty="0">
                <a:solidFill>
                  <a:schemeClr val="tx1"/>
                </a:solidFill>
                <a:latin typeface="Bahnschrift Light" panose="020B0502040204020203" pitchFamily="34" charset="0"/>
              </a:rPr>
              <a:t>Post-Covid fiscal consolidation entailed a </a:t>
            </a:r>
            <a:r>
              <a:rPr lang="en-US" sz="1200" b="1" dirty="0">
                <a:solidFill>
                  <a:schemeClr val="tx1"/>
                </a:solidFill>
                <a:latin typeface="Bahnschrift Light" panose="020B0502040204020203" pitchFamily="34" charset="0"/>
              </a:rPr>
              <a:t>sharp drop in real govt demand for G&amp;S</a:t>
            </a:r>
            <a:r>
              <a:rPr lang="en-US" sz="1200" dirty="0">
                <a:solidFill>
                  <a:schemeClr val="tx1"/>
                </a:solidFill>
                <a:latin typeface="Bahnschrift Light" panose="020B0502040204020203" pitchFamily="34" charset="0"/>
              </a:rPr>
              <a:t>,</a:t>
            </a:r>
            <a:r>
              <a:rPr lang="en-US" sz="1200" b="1" dirty="0">
                <a:solidFill>
                  <a:schemeClr val="tx1"/>
                </a:solidFill>
                <a:latin typeface="Bahnschrift Light" panose="020B0502040204020203" pitchFamily="34" charset="0"/>
              </a:rPr>
              <a:t> during 2022-23, </a:t>
            </a:r>
            <a:r>
              <a:rPr lang="en-US" sz="1200" dirty="0">
                <a:solidFill>
                  <a:schemeClr val="tx1"/>
                </a:solidFill>
                <a:latin typeface="Bahnschrift Light" panose="020B0502040204020203" pitchFamily="34" charset="0"/>
              </a:rPr>
              <a:t>exacerbated by surging inflation that peaked in late 2022</a:t>
            </a:r>
          </a:p>
        </p:txBody>
      </p:sp>
      <p:pic>
        <p:nvPicPr>
          <p:cNvPr id="5" name="Picture 4">
            <a:extLst>
              <a:ext uri="{FF2B5EF4-FFF2-40B4-BE49-F238E27FC236}">
                <a16:creationId xmlns:a16="http://schemas.microsoft.com/office/drawing/2014/main" id="{AD3EB9D6-4E95-C5A7-98BC-5A3EEAE46F94}"/>
              </a:ext>
            </a:extLst>
          </p:cNvPr>
          <p:cNvPicPr>
            <a:picLocks noChangeAspect="1"/>
          </p:cNvPicPr>
          <p:nvPr/>
        </p:nvPicPr>
        <p:blipFill rotWithShape="1">
          <a:blip r:embed="rId2"/>
          <a:srcRect l="6231" t="1403" r="5001" b="6934"/>
          <a:stretch/>
        </p:blipFill>
        <p:spPr>
          <a:xfrm>
            <a:off x="381000" y="1097143"/>
            <a:ext cx="4241800" cy="2712064"/>
          </a:xfrm>
          <a:prstGeom prst="rect">
            <a:avLst/>
          </a:prstGeom>
          <a:ln>
            <a:solidFill>
              <a:schemeClr val="accent1">
                <a:lumMod val="20000"/>
                <a:lumOff val="80000"/>
              </a:schemeClr>
            </a:solidFill>
          </a:ln>
        </p:spPr>
      </p:pic>
      <p:pic>
        <p:nvPicPr>
          <p:cNvPr id="6" name="Picture 5">
            <a:extLst>
              <a:ext uri="{FF2B5EF4-FFF2-40B4-BE49-F238E27FC236}">
                <a16:creationId xmlns:a16="http://schemas.microsoft.com/office/drawing/2014/main" id="{F6445DAF-0A0A-058C-FD1E-1A3FED35C955}"/>
              </a:ext>
            </a:extLst>
          </p:cNvPr>
          <p:cNvPicPr>
            <a:picLocks noChangeAspect="1"/>
          </p:cNvPicPr>
          <p:nvPr/>
        </p:nvPicPr>
        <p:blipFill>
          <a:blip r:embed="rId3"/>
          <a:stretch>
            <a:fillRect/>
          </a:stretch>
        </p:blipFill>
        <p:spPr>
          <a:xfrm>
            <a:off x="4703233" y="989807"/>
            <a:ext cx="3733800" cy="2819400"/>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A1D3FA12-F0F2-9FDE-5024-C79316B86EA3}"/>
              </a:ext>
            </a:extLst>
          </p:cNvPr>
          <p:cNvPicPr>
            <a:picLocks noChangeAspect="1"/>
          </p:cNvPicPr>
          <p:nvPr/>
        </p:nvPicPr>
        <p:blipFill>
          <a:blip r:embed="rId4"/>
          <a:stretch>
            <a:fillRect/>
          </a:stretch>
        </p:blipFill>
        <p:spPr>
          <a:xfrm>
            <a:off x="8483599" y="872759"/>
            <a:ext cx="3327401" cy="2936448"/>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44086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D0EC-8FF8-C858-8A0E-7E4B6D663E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6EAC289-9043-CB27-940F-3E0A50F1840B}"/>
              </a:ext>
            </a:extLst>
          </p:cNvPr>
          <p:cNvSpPr>
            <a:spLocks noGrp="1"/>
          </p:cNvSpPr>
          <p:nvPr>
            <p:ph type="sldNum" sz="quarter" idx="12"/>
          </p:nvPr>
        </p:nvSpPr>
        <p:spPr/>
        <p:txBody>
          <a:bodyPr/>
          <a:lstStyle/>
          <a:p>
            <a:fld id="{D97AE203-F84D-4A7F-B161-8561326BE072}" type="slidenum">
              <a:rPr lang="en-US" smtClean="0"/>
              <a:pPr/>
              <a:t>10</a:t>
            </a:fld>
            <a:endParaRPr lang="en-US" dirty="0"/>
          </a:p>
        </p:txBody>
      </p:sp>
      <p:sp>
        <p:nvSpPr>
          <p:cNvPr id="2" name="Title 1">
            <a:extLst>
              <a:ext uri="{FF2B5EF4-FFF2-40B4-BE49-F238E27FC236}">
                <a16:creationId xmlns:a16="http://schemas.microsoft.com/office/drawing/2014/main" id="{F96B3F54-8A36-2CA8-13B1-59C23F55B5D7}"/>
              </a:ext>
            </a:extLst>
          </p:cNvPr>
          <p:cNvSpPr>
            <a:spLocks noGrp="1"/>
          </p:cNvSpPr>
          <p:nvPr>
            <p:ph type="title" idx="4294967295"/>
          </p:nvPr>
        </p:nvSpPr>
        <p:spPr>
          <a:xfrm>
            <a:off x="3276600" y="457087"/>
            <a:ext cx="7086600" cy="549275"/>
          </a:xfrm>
        </p:spPr>
        <p:txBody>
          <a:bodyPr/>
          <a:lstStyle/>
          <a:p>
            <a:r>
              <a:rPr lang="en-US" sz="2400" b="1" dirty="0">
                <a:solidFill>
                  <a:srgbClr val="008BCC"/>
                </a:solidFill>
                <a:latin typeface="Bahnschrift" panose="020B0502040204020203" pitchFamily="34" charset="0"/>
              </a:rPr>
              <a:t>Policy Interest and Exchange Rates</a:t>
            </a:r>
            <a:endParaRPr lang="en-AE" sz="2400" b="1" dirty="0">
              <a:solidFill>
                <a:srgbClr val="008BCC"/>
              </a:solidFill>
              <a:latin typeface="Bahnschrift" panose="020B0502040204020203" pitchFamily="34" charset="0"/>
            </a:endParaRPr>
          </a:p>
        </p:txBody>
      </p:sp>
      <p:sp>
        <p:nvSpPr>
          <p:cNvPr id="7" name="TextBox 6">
            <a:extLst>
              <a:ext uri="{FF2B5EF4-FFF2-40B4-BE49-F238E27FC236}">
                <a16:creationId xmlns:a16="http://schemas.microsoft.com/office/drawing/2014/main" id="{9D126DB0-829E-4B1E-F487-336D2746487E}"/>
              </a:ext>
            </a:extLst>
          </p:cNvPr>
          <p:cNvSpPr txBox="1"/>
          <p:nvPr/>
        </p:nvSpPr>
        <p:spPr>
          <a:xfrm>
            <a:off x="457200" y="1115327"/>
            <a:ext cx="4343401" cy="2487861"/>
          </a:xfrm>
          <a:prstGeom prst="rect">
            <a:avLst/>
          </a:prstGeom>
          <a:noFill/>
          <a:ln>
            <a:solidFill>
              <a:schemeClr val="accent5">
                <a:lumMod val="20000"/>
                <a:lumOff val="80000"/>
              </a:schemeClr>
            </a:solidFill>
          </a:ln>
        </p:spPr>
        <p:txBody>
          <a:bodyPr wrap="square" rtlCol="0">
            <a:spAutoFit/>
          </a:bodyPr>
          <a:lstStyle/>
          <a:p>
            <a:pPr marR="0">
              <a:lnSpc>
                <a:spcPct val="150000"/>
              </a:lnSpc>
              <a:spcAft>
                <a:spcPts val="800"/>
              </a:spcAft>
            </a:pP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Policy </a:t>
            </a:r>
            <a:r>
              <a:rPr lang="en-US" sz="1400" b="1" kern="100" dirty="0">
                <a:latin typeface="Bahnschrift" panose="020B0502040204020203" pitchFamily="34" charset="0"/>
                <a:ea typeface="Aptos" panose="020B0004020202020204" pitchFamily="34" charset="0"/>
                <a:cs typeface="Times New Roman" panose="02020603050405020304" pitchFamily="18" charset="0"/>
              </a:rPr>
              <a:t>r</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ate(Inter Bank, IB):</a:t>
            </a:r>
          </a:p>
          <a:p>
            <a:pPr marL="285750" indent="-285750">
              <a:lnSpc>
                <a:spcPct val="150000"/>
              </a:lnSpc>
              <a:spcAft>
                <a:spcPts val="800"/>
              </a:spcAft>
              <a:buFont typeface="Wingdings" panose="05000000000000000000" pitchFamily="2" charset="2"/>
              <a:buChar char="§"/>
            </a:pP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400" kern="100" dirty="0">
                <a:latin typeface="Bahnschrift Light" panose="020B0502040204020203" pitchFamily="34" charset="0"/>
                <a:cs typeface="Times New Roman" panose="02020603050405020304" pitchFamily="18" charset="0"/>
              </a:rPr>
              <a:t>Low </a:t>
            </a:r>
            <a:r>
              <a:rPr lang="en-US" sz="1400" b="1" kern="100" dirty="0">
                <a:latin typeface="Bahnschrift Light" panose="020B0502040204020203" pitchFamily="34" charset="0"/>
                <a:cs typeface="Times New Roman" panose="02020603050405020304" pitchFamily="18" charset="0"/>
              </a:rPr>
              <a:t>policy rates </a:t>
            </a:r>
            <a:r>
              <a:rPr lang="en-US" sz="1400" kern="100" dirty="0">
                <a:latin typeface="Bahnschrift Light" panose="020B0502040204020203" pitchFamily="34" charset="0"/>
                <a:cs typeface="Times New Roman" panose="02020603050405020304" pitchFamily="18" charset="0"/>
              </a:rPr>
              <a:t>(below neutral rate) pre-Covid, slightly lowered only once during Covid</a:t>
            </a:r>
            <a:endParaRPr lang="en-US" sz="12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285750" indent="-2857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Since early 2022, raised stepwise in response to inflation; peaked at over 8% in 2023Q4-2024Q1</a:t>
            </a:r>
          </a:p>
          <a:p>
            <a:pPr marL="285750" indent="-2857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Fell by 1% point during 2024 as inflation abated</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endParaRPr lang="en-US" sz="1200" b="1" kern="100" dirty="0">
              <a:latin typeface="Bahnschrift Light" panose="020B0502040204020203"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ABB8D6A-B988-D67D-ABCF-0BF7E95943B4}"/>
              </a:ext>
            </a:extLst>
          </p:cNvPr>
          <p:cNvSpPr txBox="1"/>
          <p:nvPr/>
        </p:nvSpPr>
        <p:spPr>
          <a:xfrm>
            <a:off x="533399" y="3888221"/>
            <a:ext cx="4214075" cy="2452851"/>
          </a:xfrm>
          <a:prstGeom prst="rect">
            <a:avLst/>
          </a:prstGeom>
          <a:noFill/>
          <a:ln>
            <a:solidFill>
              <a:schemeClr val="accent5">
                <a:lumMod val="20000"/>
                <a:lumOff val="80000"/>
              </a:schemeClr>
            </a:solidFill>
          </a:ln>
        </p:spPr>
        <p:txBody>
          <a:bodyPr wrap="square" rtlCol="0">
            <a:spAutoFit/>
          </a:bodyPr>
          <a:lstStyle/>
          <a:p>
            <a:pPr marR="0">
              <a:lnSpc>
                <a:spcPct val="200000"/>
              </a:lnSpc>
              <a:spcAft>
                <a:spcPts val="800"/>
              </a:spcAft>
            </a:pPr>
            <a:r>
              <a:rPr lang="en-US" sz="1200" b="1" kern="100" dirty="0">
                <a:latin typeface="Bahnschrift Light" panose="020B0502040204020203" pitchFamily="34" charset="0"/>
                <a:cs typeface="Times New Roman" panose="02020603050405020304" pitchFamily="18" charset="0"/>
              </a:rPr>
              <a:t>Exchange rate (nominal):</a:t>
            </a:r>
          </a:p>
          <a:p>
            <a:pPr marL="285750" marR="0" indent="-285750">
              <a:lnSpc>
                <a:spcPct val="20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Accelerated exchange rate depreciation attributed to an increase in inflation differential for 2022-23(i.e., acceleration in foreign inflation).</a:t>
            </a:r>
          </a:p>
          <a:p>
            <a:pPr marL="285750" marR="0" indent="-285750">
              <a:lnSpc>
                <a:spcPct val="20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Followed by a slowdown of exchange rate depreciation from 2023Q4 to 2024 as inflation pressures ease.</a:t>
            </a:r>
            <a:endParaRPr lang="en-RW" sz="1200" kern="100" dirty="0">
              <a:latin typeface="Bahnschrift Light" panose="020B0502040204020203"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69AB6884-CD68-DE80-F7F8-9297C6304D6C}"/>
              </a:ext>
            </a:extLst>
          </p:cNvPr>
          <p:cNvPicPr>
            <a:picLocks noChangeAspect="1"/>
          </p:cNvPicPr>
          <p:nvPr/>
        </p:nvPicPr>
        <p:blipFill>
          <a:blip r:embed="rId2"/>
          <a:stretch>
            <a:fillRect/>
          </a:stretch>
        </p:blipFill>
        <p:spPr>
          <a:xfrm>
            <a:off x="8335850" y="3854668"/>
            <a:ext cx="3246552" cy="2501681"/>
          </a:xfrm>
          <a:prstGeom prst="rect">
            <a:avLst/>
          </a:prstGeom>
          <a:ln>
            <a:solidFill>
              <a:schemeClr val="accent5">
                <a:lumMod val="20000"/>
                <a:lumOff val="80000"/>
              </a:schemeClr>
            </a:solidFill>
          </a:ln>
        </p:spPr>
      </p:pic>
      <p:pic>
        <p:nvPicPr>
          <p:cNvPr id="12" name="Picture 11">
            <a:extLst>
              <a:ext uri="{FF2B5EF4-FFF2-40B4-BE49-F238E27FC236}">
                <a16:creationId xmlns:a16="http://schemas.microsoft.com/office/drawing/2014/main" id="{0656DA6A-9AFB-0362-4BDA-061AC844CC42}"/>
              </a:ext>
            </a:extLst>
          </p:cNvPr>
          <p:cNvPicPr>
            <a:picLocks noChangeAspect="1"/>
          </p:cNvPicPr>
          <p:nvPr/>
        </p:nvPicPr>
        <p:blipFill>
          <a:blip r:embed="rId3"/>
          <a:stretch>
            <a:fillRect/>
          </a:stretch>
        </p:blipFill>
        <p:spPr>
          <a:xfrm>
            <a:off x="8335851" y="1115328"/>
            <a:ext cx="3246551" cy="2592197"/>
          </a:xfrm>
          <a:prstGeom prst="rect">
            <a:avLst/>
          </a:prstGeom>
          <a:ln>
            <a:solidFill>
              <a:schemeClr val="accent5">
                <a:lumMod val="20000"/>
                <a:lumOff val="80000"/>
              </a:schemeClr>
            </a:solidFill>
          </a:ln>
        </p:spPr>
      </p:pic>
      <p:pic>
        <p:nvPicPr>
          <p:cNvPr id="18" name="Picture 17">
            <a:extLst>
              <a:ext uri="{FF2B5EF4-FFF2-40B4-BE49-F238E27FC236}">
                <a16:creationId xmlns:a16="http://schemas.microsoft.com/office/drawing/2014/main" id="{22200E6A-5626-53E5-B8A2-04E9C5D16970}"/>
              </a:ext>
            </a:extLst>
          </p:cNvPr>
          <p:cNvPicPr>
            <a:picLocks noChangeAspect="1"/>
          </p:cNvPicPr>
          <p:nvPr/>
        </p:nvPicPr>
        <p:blipFill>
          <a:blip r:embed="rId4"/>
          <a:stretch>
            <a:fillRect/>
          </a:stretch>
        </p:blipFill>
        <p:spPr>
          <a:xfrm>
            <a:off x="4906852" y="3816490"/>
            <a:ext cx="3322748" cy="2539859"/>
          </a:xfrm>
          <a:prstGeom prst="rect">
            <a:avLst/>
          </a:prstGeom>
          <a:ln>
            <a:solidFill>
              <a:schemeClr val="accent5">
                <a:lumMod val="20000"/>
                <a:lumOff val="80000"/>
              </a:schemeClr>
            </a:solidFill>
          </a:ln>
        </p:spPr>
      </p:pic>
      <p:pic>
        <p:nvPicPr>
          <p:cNvPr id="20" name="Picture 19">
            <a:extLst>
              <a:ext uri="{FF2B5EF4-FFF2-40B4-BE49-F238E27FC236}">
                <a16:creationId xmlns:a16="http://schemas.microsoft.com/office/drawing/2014/main" id="{3FF4AF86-E472-C0D3-D60C-0DC0A2E2403E}"/>
              </a:ext>
            </a:extLst>
          </p:cNvPr>
          <p:cNvPicPr>
            <a:picLocks noChangeAspect="1"/>
          </p:cNvPicPr>
          <p:nvPr/>
        </p:nvPicPr>
        <p:blipFill>
          <a:blip r:embed="rId5"/>
          <a:stretch>
            <a:fillRect/>
          </a:stretch>
        </p:blipFill>
        <p:spPr>
          <a:xfrm>
            <a:off x="4906852" y="1115327"/>
            <a:ext cx="3322748" cy="2592197"/>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81947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A30F-F1AF-7A79-492A-E0B0809E7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C7662-4EC7-436F-F35A-2747C667670B}"/>
              </a:ext>
            </a:extLst>
          </p:cNvPr>
          <p:cNvSpPr>
            <a:spLocks noGrp="1"/>
          </p:cNvSpPr>
          <p:nvPr>
            <p:ph type="title"/>
          </p:nvPr>
        </p:nvSpPr>
        <p:spPr>
          <a:xfrm>
            <a:off x="2209800" y="928688"/>
            <a:ext cx="9144000" cy="476250"/>
          </a:xfrm>
        </p:spPr>
        <p:txBody>
          <a:bodyPr>
            <a:normAutofit fontScale="90000"/>
          </a:bodyPr>
          <a:lstStyle/>
          <a:p>
            <a:r>
              <a:rPr lang="en-US" dirty="0">
                <a:solidFill>
                  <a:srgbClr val="008BCC"/>
                </a:solidFill>
                <a:ea typeface="ＭＳ Ｐゴシック" charset="-128"/>
              </a:rPr>
              <a:t>IIIa. Current cyclical position as influenced by recent policies</a:t>
            </a:r>
            <a:endParaRPr lang="en-US" dirty="0">
              <a:solidFill>
                <a:srgbClr val="008BCC"/>
              </a:solidFill>
            </a:endParaRPr>
          </a:p>
        </p:txBody>
      </p:sp>
      <p:sp>
        <p:nvSpPr>
          <p:cNvPr id="3" name="Content Placeholder 2">
            <a:extLst>
              <a:ext uri="{FF2B5EF4-FFF2-40B4-BE49-F238E27FC236}">
                <a16:creationId xmlns:a16="http://schemas.microsoft.com/office/drawing/2014/main" id="{C5A0840F-42A8-0F32-C51F-A693B64C48B5}"/>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Cyclical position:</a:t>
            </a:r>
            <a:endParaRPr lang="en-US" sz="1600" dirty="0">
              <a:solidFill>
                <a:srgbClr val="C00000"/>
              </a:solidFill>
              <a:latin typeface="Bahnschrift" panose="020B0502040204020203" pitchFamily="34" charset="0"/>
            </a:endParaRP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has been growing above and below the potential level for the pre- and post-COVID periods, respectively</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Government recovery policies positively in the movement of output back to the potential level </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Nevertheless, agricultural output remains subdued where it remains below its potential since 2021 but is closing the gap as time goes on.</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Recently, Output temporally picked above potential level for the second half of 2023-24 due to eased Government fiscal consolidation and sustained positive exports.</a:t>
            </a: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Fiscal policy position and stance:</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Recent strong government consolidation led to a reduction in the deficit path.</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The government has been cutting spending to ensure a regulated fiscal path while also maintaining fiscal discipline.</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Tax reforms and measures to increase revenue collection under the MTRS framework.</a:t>
            </a:r>
            <a:endParaRPr lang="en-US" sz="1600" dirty="0">
              <a:solidFill>
                <a:prstClr val="black"/>
              </a:solidFill>
              <a:latin typeface="Bahnschrif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RIR and ER policy stance</a:t>
            </a:r>
            <a:r>
              <a:rPr lang="en-US" sz="1600" dirty="0">
                <a:solidFill>
                  <a:prstClr val="black"/>
                </a:solidFill>
                <a:latin typeface="Bahnschrift" panose="020B0502040204020203" pitchFamily="34" charset="0"/>
              </a:rPr>
              <a:t>:</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Real Interest Rate rises as inflation stays in the bands:</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Constantly maintained policy interest rate.</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Accelerated exchange depreciation </a:t>
            </a:r>
            <a:endParaRPr lang="en-US" sz="16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159462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BD5B-8483-B5CB-F51A-19C8F3565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9193-34E2-CF65-A4DA-E276443A1359}"/>
              </a:ext>
            </a:extLst>
          </p:cNvPr>
          <p:cNvSpPr>
            <a:spLocks noGrp="1"/>
          </p:cNvSpPr>
          <p:nvPr>
            <p:ph type="title"/>
          </p:nvPr>
        </p:nvSpPr>
        <p:spPr>
          <a:xfrm>
            <a:off x="838200" y="928688"/>
            <a:ext cx="10515600" cy="476250"/>
          </a:xfrm>
        </p:spPr>
        <p:txBody>
          <a:bodyPr/>
          <a:lstStyle/>
          <a:p>
            <a:r>
              <a:rPr kumimoji="0" lang="en-US" sz="2800" b="1" i="0" u="none" strike="noStrike" kern="1200" cap="none" spc="0" normalizeH="0" baseline="0" noProof="0" dirty="0">
                <a:ln>
                  <a:noFill/>
                </a:ln>
                <a:solidFill>
                  <a:srgbClr val="008BCC"/>
                </a:solidFill>
                <a:effectLst/>
                <a:uLnTx/>
                <a:uFillTx/>
                <a:latin typeface="Bahnschrift" panose="020B0502040204020203" pitchFamily="34" charset="0"/>
                <a:ea typeface="ＭＳ Ｐゴシック" charset="-128"/>
                <a:cs typeface="+mj-cs"/>
              </a:rPr>
              <a:t>Summary of po</a:t>
            </a:r>
            <a:r>
              <a:rPr lang="en-US" dirty="0" err="1">
                <a:solidFill>
                  <a:srgbClr val="008BCC"/>
                </a:solidFill>
                <a:ea typeface="ＭＳ Ｐゴシック" charset="-128"/>
              </a:rPr>
              <a:t>licy</a:t>
            </a:r>
            <a:r>
              <a:rPr lang="en-US" dirty="0">
                <a:solidFill>
                  <a:srgbClr val="008BCC"/>
                </a:solidFill>
                <a:ea typeface="ＭＳ Ｐゴシック" charset="-128"/>
              </a:rPr>
              <a:t> a</a:t>
            </a:r>
            <a:r>
              <a:rPr kumimoji="0" lang="en-US" sz="2800" b="1" i="0" u="none" strike="noStrike" kern="1200" cap="none" spc="0" normalizeH="0" baseline="0" noProof="0" dirty="0" err="1">
                <a:ln>
                  <a:noFill/>
                </a:ln>
                <a:solidFill>
                  <a:srgbClr val="008BCC"/>
                </a:solidFill>
                <a:effectLst/>
                <a:uLnTx/>
                <a:uFillTx/>
                <a:latin typeface="Bahnschrift" panose="020B0502040204020203" pitchFamily="34" charset="0"/>
                <a:ea typeface="ＭＳ Ｐゴシック" charset="-128"/>
                <a:cs typeface="+mj-cs"/>
              </a:rPr>
              <a:t>ssumptions</a:t>
            </a:r>
            <a:r>
              <a:rPr kumimoji="0" lang="en-US" sz="2800" b="1" i="0" u="none" strike="noStrike" kern="1200" cap="none" spc="0" normalizeH="0" baseline="0" noProof="0" dirty="0">
                <a:ln>
                  <a:noFill/>
                </a:ln>
                <a:solidFill>
                  <a:srgbClr val="008BCC"/>
                </a:solidFill>
                <a:effectLst/>
                <a:uLnTx/>
                <a:uFillTx/>
                <a:latin typeface="Bahnschrift" panose="020B0502040204020203" pitchFamily="34" charset="0"/>
                <a:ea typeface="ＭＳ Ｐゴシック" charset="-128"/>
                <a:cs typeface="+mj-cs"/>
              </a:rPr>
              <a:t> underlying forecasts</a:t>
            </a:r>
            <a:endParaRPr lang="en-US" dirty="0">
              <a:solidFill>
                <a:srgbClr val="008BCC"/>
              </a:solidFill>
            </a:endParaRPr>
          </a:p>
        </p:txBody>
      </p:sp>
      <p:sp>
        <p:nvSpPr>
          <p:cNvPr id="3" name="Content Placeholder 2">
            <a:extLst>
              <a:ext uri="{FF2B5EF4-FFF2-40B4-BE49-F238E27FC236}">
                <a16:creationId xmlns:a16="http://schemas.microsoft.com/office/drawing/2014/main" id="{1E2F9777-4D90-5943-11C1-73F744980722}"/>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Domestic policy stance: </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Monetary policy stance: </a:t>
            </a: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Policy Rate:</a:t>
            </a:r>
            <a:r>
              <a:rPr lang="en-US" sz="1200" dirty="0">
                <a:solidFill>
                  <a:prstClr val="black"/>
                </a:solidFill>
                <a:latin typeface="Bahnschrift Light" panose="020B0502040204020203" pitchFamily="34" charset="0"/>
              </a:rPr>
              <a:t> relatively loose money market rates i.e., accommodative CBR and steered interbank rates for second half of 2024</a:t>
            </a:r>
            <a:endParaRPr lang="en-US" sz="1200" b="1" dirty="0">
              <a:solidFill>
                <a:prstClr val="black"/>
              </a:solidFill>
              <a:latin typeface="Bahnschrift Light" panose="020B0502040204020203" pitchFamily="34" charset="0"/>
            </a:endParaRP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Exchange Rate (ER): Slowdown in </a:t>
            </a:r>
            <a:r>
              <a:rPr lang="en-US" sz="1200" dirty="0">
                <a:solidFill>
                  <a:prstClr val="black"/>
                </a:solidFill>
                <a:latin typeface="Bahnschrift Light" panose="020B0502040204020203" pitchFamily="34" charset="0"/>
              </a:rPr>
              <a:t>ER depreciation as in the PCI program of October 2024</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Fiscal Policy Stance: </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Fiscal deficit path: </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2023/24-2025/26: Re-introduction </a:t>
            </a:r>
            <a:r>
              <a:rPr lang="en-US" sz="1200" dirty="0">
                <a:solidFill>
                  <a:prstClr val="black"/>
                </a:solidFill>
                <a:latin typeface="Bahnschrift Light" panose="020B0502040204020203" pitchFamily="34" charset="0"/>
              </a:rPr>
              <a:t>of a strong fiscal consolidation (i.e., contractionary fiscal policy).</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2026/27 – onward</a:t>
            </a:r>
            <a:r>
              <a:rPr lang="en-US" sz="1200" dirty="0">
                <a:solidFill>
                  <a:prstClr val="black"/>
                </a:solidFill>
                <a:latin typeface="Bahnschrift Light" panose="020B0502040204020203" pitchFamily="34" charset="0"/>
              </a:rPr>
              <a:t>: Relatively expansionary fiscal policy that follows a sustainable level of deficit determined by debt creating deficit and grants path</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dirty="0">
                <a:solidFill>
                  <a:prstClr val="black"/>
                </a:solidFill>
                <a:latin typeface="Bahnschrift" panose="020B0502040204020203" pitchFamily="34" charset="0"/>
              </a:rPr>
              <a:t>External Policy Stance/outlook (2024-27):</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demand: </a:t>
            </a:r>
            <a:r>
              <a:rPr lang="en-US" sz="1200" dirty="0">
                <a:solidFill>
                  <a:prstClr val="black"/>
                </a:solidFill>
                <a:latin typeface="Bahnschrift Light" panose="020B0502040204020203" pitchFamily="34" charset="0"/>
              </a:rPr>
              <a:t>slowing down for 2024-25 before showing a  strong </a:t>
            </a:r>
            <a:r>
              <a:rPr lang="en-GB" sz="1200" dirty="0">
                <a:solidFill>
                  <a:prstClr val="black"/>
                </a:solidFill>
                <a:latin typeface="Bahnschrift Light" panose="020B0502040204020203" pitchFamily="34" charset="0"/>
              </a:rPr>
              <a:t>recovery relative to COVID period.</a:t>
            </a:r>
            <a:endParaRPr lang="en-US" sz="1200" dirty="0">
              <a:solidFill>
                <a:prstClr val="black"/>
              </a:solidFill>
              <a:latin typeface="Bahnschrift Light" panose="020B0502040204020203" pitchFamily="34" charset="0"/>
            </a:endParaRP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inflation: </a:t>
            </a:r>
            <a:r>
              <a:rPr lang="en-US" sz="1200" dirty="0">
                <a:solidFill>
                  <a:prstClr val="black"/>
                </a:solidFill>
                <a:latin typeface="Bahnschrift Light" panose="020B0502040204020203" pitchFamily="34" charset="0"/>
              </a:rPr>
              <a:t>to remain above target and converging to 2% target around 2027</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Foreign (US) interest rates: A relatively less tight monetary policy, however world  interest expected to be tight</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Overall global outlook improving, however with more downside risks</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
        <p:nvSpPr>
          <p:cNvPr id="5" name="Content Placeholder 2">
            <a:extLst>
              <a:ext uri="{FF2B5EF4-FFF2-40B4-BE49-F238E27FC236}">
                <a16:creationId xmlns:a16="http://schemas.microsoft.com/office/drawing/2014/main" id="{8B2BB82D-95BF-BD5B-6230-0D94A28F4118}"/>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186720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F823-4628-65F3-B834-4DB78DDE6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139D-C637-2319-F4D1-1343B7E9B994}"/>
              </a:ext>
            </a:extLst>
          </p:cNvPr>
          <p:cNvSpPr>
            <a:spLocks noGrp="1"/>
          </p:cNvSpPr>
          <p:nvPr>
            <p:ph type="title"/>
          </p:nvPr>
        </p:nvSpPr>
        <p:spPr>
          <a:xfrm>
            <a:off x="838200" y="928688"/>
            <a:ext cx="10515600" cy="476250"/>
          </a:xfrm>
        </p:spPr>
        <p:txBody>
          <a:bodyPr/>
          <a:lstStyle/>
          <a:p>
            <a:r>
              <a:rPr lang="en-US" dirty="0" err="1">
                <a:solidFill>
                  <a:srgbClr val="008BCC"/>
                </a:solidFill>
              </a:rPr>
              <a:t>IIIb</a:t>
            </a:r>
            <a:r>
              <a:rPr lang="en-US" dirty="0">
                <a:solidFill>
                  <a:srgbClr val="008BCC"/>
                </a:solidFill>
              </a:rPr>
              <a:t>. Domestic policy stance</a:t>
            </a:r>
          </a:p>
        </p:txBody>
      </p:sp>
      <p:sp>
        <p:nvSpPr>
          <p:cNvPr id="3" name="Content Placeholder 2">
            <a:extLst>
              <a:ext uri="{FF2B5EF4-FFF2-40B4-BE49-F238E27FC236}">
                <a16:creationId xmlns:a16="http://schemas.microsoft.com/office/drawing/2014/main" id="{09C61A8E-C938-9899-B125-5D796138BE98}"/>
              </a:ext>
            </a:extLst>
          </p:cNvPr>
          <p:cNvSpPr>
            <a:spLocks noGrp="1"/>
          </p:cNvSpPr>
          <p:nvPr>
            <p:ph idx="1"/>
          </p:nvPr>
        </p:nvSpPr>
        <p:spPr>
          <a:xfrm>
            <a:off x="838200" y="1769269"/>
            <a:ext cx="10668000" cy="4679156"/>
          </a:xfrm>
          <a:solidFill>
            <a:schemeClr val="bg1">
              <a:lumMod val="95000"/>
            </a:schemeClr>
          </a:solidFill>
          <a:ln>
            <a:solidFill>
              <a:schemeClr val="accent5">
                <a:lumMod val="20000"/>
                <a:lumOff val="80000"/>
              </a:schemeClr>
            </a:solidFill>
          </a:ln>
        </p:spPr>
        <p:txBody>
          <a:bodyPr>
            <a:normAutofit/>
          </a:bodyPr>
          <a:lstStyle/>
          <a:p>
            <a:pPr marL="0" indent="0">
              <a:lnSpc>
                <a:spcPct val="200000"/>
              </a:lnSpc>
              <a:buNone/>
              <a:defRPr/>
            </a:pPr>
            <a:r>
              <a:rPr lang="en-US" sz="1400" b="1" dirty="0">
                <a:solidFill>
                  <a:prstClr val="black"/>
                </a:solidFill>
                <a:latin typeface="Bahnschrift Light" panose="020B0502040204020203" pitchFamily="34" charset="0"/>
              </a:rPr>
              <a:t>Domestic Assumptions: </a:t>
            </a:r>
            <a:r>
              <a:rPr lang="en-US" sz="1400" dirty="0">
                <a:solidFill>
                  <a:prstClr val="black"/>
                </a:solidFill>
                <a:latin typeface="Bahnschrift Light" panose="020B0502040204020203" pitchFamily="34" charset="0"/>
              </a:rPr>
              <a:t>NBR’s monetary (IB-rate), fiscal (deficit path) and ER policy stance.</a:t>
            </a: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Tight fiscal policies: further reduction in deficit (excl. grants) </a:t>
            </a:r>
            <a:r>
              <a:rPr lang="en-US" sz="1400" dirty="0">
                <a:solidFill>
                  <a:srgbClr val="FF0000"/>
                </a:solidFill>
                <a:latin typeface="Bahnschrift" panose="020B0502040204020203" pitchFamily="34" charset="0"/>
              </a:rPr>
              <a:t>per PCI program 2022-25 (May 2024 review): by [2.4]% of GDP in 2024/25 and further [2]% of GDP in 2025/26 (from  average of 11.6% of GDP in 2022/23-2023/24)</a:t>
            </a:r>
          </a:p>
          <a:p>
            <a:pPr marL="342900" indent="-342900">
              <a:lnSpc>
                <a:spcPct val="150000"/>
              </a:lnSpc>
              <a:buFont typeface="Wingdings" panose="05000000000000000000" pitchFamily="2" charset="2"/>
              <a:buChar char="§"/>
              <a:defRPr/>
            </a:pPr>
            <a:r>
              <a:rPr lang="en-US" sz="1400" dirty="0">
                <a:solidFill>
                  <a:srgbClr val="FF0000"/>
                </a:solidFill>
                <a:latin typeface="Bahnschrift" panose="020B0502040204020203" pitchFamily="34" charset="0"/>
              </a:rPr>
              <a:t>As per PCI program, deficit reduction comes in roughly equal parts from revenue increase, current spending cut and development spending cut.</a:t>
            </a:r>
            <a:endParaRPr lang="en-US" sz="1600" dirty="0">
              <a:solidFill>
                <a:srgbClr val="FF0000"/>
              </a:solidFill>
              <a:latin typeface="Bahnschrift" panose="020B0502040204020203" pitchFamily="34" charset="0"/>
            </a:endParaRPr>
          </a:p>
          <a:p>
            <a:pPr marL="342900" indent="-342900">
              <a:lnSpc>
                <a:spcPct val="150000"/>
              </a:lnSpc>
              <a:buFont typeface="Wingdings" panose="05000000000000000000" pitchFamily="2" charset="2"/>
              <a:buChar char="§"/>
              <a:defRPr/>
            </a:pPr>
            <a:r>
              <a:rPr lang="en-US" sz="1400" dirty="0">
                <a:solidFill>
                  <a:srgbClr val="FF0000"/>
                </a:solidFill>
                <a:latin typeface="Bahnschrift" panose="020B0502040204020203" pitchFamily="34" charset="0"/>
              </a:rPr>
              <a:t>After  2025/26, deficit assumed to gradually return toward sustainable level of 7.5% of GDP (compared to around 6% of GDP in post-PCI program projection).</a:t>
            </a:r>
            <a:endParaRPr lang="en-US" sz="1400" dirty="0">
              <a:solidFill>
                <a:prstClr val="black"/>
              </a:solidFill>
              <a:latin typeface="Bahnschrift Light" panose="020B0502040204020203" pitchFamily="34" charset="0"/>
            </a:endParaRP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Monetary policy stance: </a:t>
            </a:r>
            <a:r>
              <a:rPr lang="en-US" sz="1400" dirty="0">
                <a:solidFill>
                  <a:srgbClr val="FF0000"/>
                </a:solidFill>
                <a:latin typeface="Bahnschrift" panose="020B0502040204020203" pitchFamily="34" charset="0"/>
              </a:rPr>
              <a:t>a less tight monetary policy after rapidly falling inflation since 2d half 2023, i.e. 1% point drop in IB rate during 2024, to7.5% in 2024Q3</a:t>
            </a: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ER policy stance:</a:t>
            </a:r>
            <a:r>
              <a:rPr lang="en-US" sz="1400" dirty="0">
                <a:solidFill>
                  <a:srgbClr val="FF0000"/>
                </a:solidFill>
                <a:latin typeface="Bahnschrift" panose="020B0502040204020203" pitchFamily="34" charset="0"/>
              </a:rPr>
              <a:t> 2024Q3-4—assumed continuation of average ER depreciation path of 2024-Q1-Q2, i.e., depreciation rate of 9% annualized)</a:t>
            </a:r>
          </a:p>
        </p:txBody>
      </p:sp>
      <p:sp>
        <p:nvSpPr>
          <p:cNvPr id="5" name="Content Placeholder 2">
            <a:extLst>
              <a:ext uri="{FF2B5EF4-FFF2-40B4-BE49-F238E27FC236}">
                <a16:creationId xmlns:a16="http://schemas.microsoft.com/office/drawing/2014/main" id="{0B540738-290D-47A8-3D96-A01867FAAAE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412947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0AC63-0D03-7B26-2DD4-A8832FCA2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DC3F1-DF5F-9039-CA36-61E4E6A432B0}"/>
              </a:ext>
            </a:extLst>
          </p:cNvPr>
          <p:cNvSpPr>
            <a:spLocks noGrp="1"/>
          </p:cNvSpPr>
          <p:nvPr>
            <p:ph type="title"/>
          </p:nvPr>
        </p:nvSpPr>
        <p:spPr>
          <a:xfrm>
            <a:off x="838200" y="928688"/>
            <a:ext cx="10515600" cy="476250"/>
          </a:xfrm>
        </p:spPr>
        <p:txBody>
          <a:bodyPr/>
          <a:lstStyle/>
          <a:p>
            <a:r>
              <a:rPr lang="en-US" dirty="0">
                <a:solidFill>
                  <a:srgbClr val="008BCC"/>
                </a:solidFill>
              </a:rPr>
              <a:t>IIIc. External environment Assumptions</a:t>
            </a:r>
          </a:p>
        </p:txBody>
      </p:sp>
      <p:sp>
        <p:nvSpPr>
          <p:cNvPr id="5" name="Content Placeholder 2">
            <a:extLst>
              <a:ext uri="{FF2B5EF4-FFF2-40B4-BE49-F238E27FC236}">
                <a16:creationId xmlns:a16="http://schemas.microsoft.com/office/drawing/2014/main" id="{3B60064D-30C3-A174-4C46-B7C52A84756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
        <p:nvSpPr>
          <p:cNvPr id="6" name="Content Placeholder 2">
            <a:extLst>
              <a:ext uri="{FF2B5EF4-FFF2-40B4-BE49-F238E27FC236}">
                <a16:creationId xmlns:a16="http://schemas.microsoft.com/office/drawing/2014/main" id="{C321A36F-FBA2-D154-6B85-03BFEC2AB4FA}"/>
              </a:ext>
            </a:extLst>
          </p:cNvPr>
          <p:cNvSpPr txBox="1">
            <a:spLocks/>
          </p:cNvSpPr>
          <p:nvPr/>
        </p:nvSpPr>
        <p:spPr>
          <a:xfrm>
            <a:off x="838200" y="1676400"/>
            <a:ext cx="10744200" cy="4679156"/>
          </a:xfrm>
          <a:prstGeom prst="rect">
            <a:avLst/>
          </a:prstGeom>
          <a:solidFill>
            <a:schemeClr val="bg1">
              <a:lumMod val="95000"/>
            </a:schemeClr>
          </a:solidFill>
          <a:ln>
            <a:solidFill>
              <a:schemeClr val="accent5">
                <a:lumMod val="20000"/>
                <a:lumOff val="8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200000"/>
              </a:lnSpc>
              <a:spcBef>
                <a:spcPts val="300"/>
              </a:spcBef>
              <a:spcAft>
                <a:spcPts val="400"/>
              </a:spcAft>
              <a:buClrTx/>
              <a:buSzTx/>
              <a:buFont typeface="Arial" panose="020B0604020202020204" pitchFamily="34" charset="0"/>
              <a:buNone/>
              <a:tabLst/>
              <a:defRPr/>
            </a:pPr>
            <a:r>
              <a:rPr kumimoji="0" lang="en-GB"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External Environment Assumptions:</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Rwanda </a:t>
            </a:r>
            <a:r>
              <a:rPr kumimoji="0" lang="en-GB" sz="1600" b="0"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still enjoys </a:t>
            </a:r>
            <a:r>
              <a:rPr kumimoji="0" lang="en-GB" sz="1600" b="1"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recovery </a:t>
            </a:r>
            <a:r>
              <a:rPr kumimoji="0" lang="en-GB"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trading partner demand relative to Covid-years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3%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p.y</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well above the trend</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a:r>
            <a:r>
              <a:rPr lang="en-GB" sz="1600" dirty="0">
                <a:solidFill>
                  <a:prstClr val="black"/>
                </a:solidFill>
                <a:latin typeface="Bahnschrift Light" panose="020B0502040204020203" pitchFamily="34" charset="0"/>
              </a:rPr>
              <a:t>W</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orld</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economy is slowing down as interest rates are raised in response to inflation before catching up since 2026.</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ahnschrift Condensed" panose="020B0502040204020203" pitchFamily="34" charset="0"/>
                <a:ea typeface="+mn-ea"/>
                <a:cs typeface="+mn-cs"/>
              </a:rPr>
              <a:t>T</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rading partners’ CPI inflation (in US$)—subdued at 1.5% p.</a:t>
            </a:r>
            <a:r>
              <a:rPr kumimoji="0" lang="en-US" sz="1600" b="1"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a</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in the past 5-7 years and projected to return and </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remain below the trend level of 2%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the coming years </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World real interest rates are expected to rise from negative around -1% in the past decade to +1% by 2027,</a:t>
            </a:r>
          </a:p>
          <a:p>
            <a:pPr marL="731520" lvl="1" indent="-285750" algn="just" fontAlgn="auto">
              <a:lnSpc>
                <a:spcPct val="200000"/>
              </a:lnSpc>
              <a:spcBef>
                <a:spcPts val="300"/>
              </a:spcBef>
              <a:spcAft>
                <a:spcPts val="400"/>
              </a:spcAft>
            </a:pPr>
            <a:r>
              <a:rPr lang="en-US" sz="1400" dirty="0">
                <a:solidFill>
                  <a:prstClr val="black"/>
                </a:solidFill>
                <a:latin typeface="Bahnschrift Light" panose="020B0502040204020203" pitchFamily="34" charset="0"/>
              </a:rPr>
              <a:t>T</a:t>
            </a:r>
            <a:r>
              <a:rPr kumimoji="0" lang="en-US" sz="14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ransmitting</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one-for-one to Rwanda’s sovereign borrowing rates.</a:t>
            </a:r>
            <a:endParaRPr kumimoji="0" lang="en-AE"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p:txBody>
      </p:sp>
    </p:spTree>
    <p:extLst>
      <p:ext uri="{BB962C8B-B14F-4D97-AF65-F5344CB8AC3E}">
        <p14:creationId xmlns:p14="http://schemas.microsoft.com/office/powerpoint/2010/main" val="1281422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548A-56C7-ED85-3503-F56F8A30C4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833507-6E23-1712-E72C-CD2B8F483A22}"/>
              </a:ext>
            </a:extLst>
          </p:cNvPr>
          <p:cNvSpPr>
            <a:spLocks noGrp="1"/>
          </p:cNvSpPr>
          <p:nvPr>
            <p:ph type="sldNum" sz="quarter" idx="12"/>
          </p:nvPr>
        </p:nvSpPr>
        <p:spPr/>
        <p:txBody>
          <a:bodyPr/>
          <a:lstStyle/>
          <a:p>
            <a:fld id="{D97AE203-F84D-4A7F-B161-8561326BE072}" type="slidenum">
              <a:rPr lang="en-US" smtClean="0"/>
              <a:pPr/>
              <a:t>15</a:t>
            </a:fld>
            <a:endParaRPr lang="en-US" dirty="0"/>
          </a:p>
        </p:txBody>
      </p:sp>
      <p:sp>
        <p:nvSpPr>
          <p:cNvPr id="2" name="Title 1">
            <a:extLst>
              <a:ext uri="{FF2B5EF4-FFF2-40B4-BE49-F238E27FC236}">
                <a16:creationId xmlns:a16="http://schemas.microsoft.com/office/drawing/2014/main" id="{9746CD7D-D79E-58A9-6AF1-362E1213C0F0}"/>
              </a:ext>
            </a:extLst>
          </p:cNvPr>
          <p:cNvSpPr>
            <a:spLocks noGrp="1"/>
          </p:cNvSpPr>
          <p:nvPr>
            <p:ph type="title" idx="4294967295"/>
          </p:nvPr>
        </p:nvSpPr>
        <p:spPr>
          <a:xfrm>
            <a:off x="3429000" y="228600"/>
            <a:ext cx="6248400" cy="762000"/>
          </a:xfrm>
        </p:spPr>
        <p:txBody>
          <a:bodyPr>
            <a:normAutofit fontScale="90000"/>
          </a:bodyPr>
          <a:lstStyle/>
          <a:p>
            <a:r>
              <a:rPr lang="en-GB" dirty="0">
                <a:solidFill>
                  <a:srgbClr val="008BCC"/>
                </a:solidFill>
                <a:cs typeface="+mn-cs"/>
              </a:rPr>
              <a:t>I</a:t>
            </a:r>
            <a:r>
              <a:rPr lang="en-GB" b="1" dirty="0">
                <a:solidFill>
                  <a:srgbClr val="008BCC"/>
                </a:solidFill>
                <a:latin typeface="Bahnschrift" panose="020B0502040204020203" pitchFamily="34" charset="0"/>
                <a:cs typeface="+mn-cs"/>
              </a:rPr>
              <a:t>V. Macroeconomic forecast/outlook</a:t>
            </a:r>
            <a:br>
              <a:rPr lang="en-GB" b="1" dirty="0"/>
            </a:br>
            <a:r>
              <a:rPr lang="en-GB" sz="2400" b="1" dirty="0">
                <a:solidFill>
                  <a:srgbClr val="109351"/>
                </a:solidFill>
                <a:latin typeface="Bahnschrift" panose="020B0502040204020203" pitchFamily="34" charset="0"/>
              </a:rPr>
              <a:t>Final demand—Real GDP</a:t>
            </a:r>
            <a:endParaRPr lang="en-AE" sz="2400" b="1" dirty="0">
              <a:solidFill>
                <a:srgbClr val="109351"/>
              </a:solidFill>
              <a:latin typeface="Bahnschrift" panose="020B0502040204020203" pitchFamily="34" charset="0"/>
            </a:endParaRPr>
          </a:p>
        </p:txBody>
      </p:sp>
      <p:sp>
        <p:nvSpPr>
          <p:cNvPr id="4" name="TextBox 3">
            <a:extLst>
              <a:ext uri="{FF2B5EF4-FFF2-40B4-BE49-F238E27FC236}">
                <a16:creationId xmlns:a16="http://schemas.microsoft.com/office/drawing/2014/main" id="{59092BCE-4958-3BAA-6800-381806A53BF5}"/>
              </a:ext>
            </a:extLst>
          </p:cNvPr>
          <p:cNvSpPr txBox="1"/>
          <p:nvPr/>
        </p:nvSpPr>
        <p:spPr>
          <a:xfrm>
            <a:off x="381000" y="1176159"/>
            <a:ext cx="6705600" cy="2349361"/>
          </a:xfrm>
          <a:prstGeom prst="rect">
            <a:avLst/>
          </a:prstGeom>
          <a:noFill/>
          <a:ln>
            <a:solidFill>
              <a:schemeClr val="accent5">
                <a:lumMod val="20000"/>
                <a:lumOff val="80000"/>
              </a:schemeClr>
            </a:solidFill>
          </a:ln>
        </p:spPr>
        <p:txBody>
          <a:bodyPr wrap="square" rtlCol="0">
            <a:spAutoFit/>
          </a:bodyPr>
          <a:lstStyle/>
          <a:p>
            <a:pPr marL="228600" marR="0" indent="-228600">
              <a:spcAft>
                <a:spcPts val="800"/>
              </a:spcAft>
              <a:buAutoNum type="arabicPeriod"/>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Real GDP: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after robust growth in 2024, GDP growth to slow down in 2025-26 due to overall contractionary policies, followed by a catch-up in 2027-28, then return to growth path of 7½%.</a:t>
            </a:r>
          </a:p>
          <a:p>
            <a:pPr marL="171450" indent="-171450">
              <a:spcAft>
                <a:spcPts val="800"/>
              </a:spcAft>
              <a:buFont typeface="Arial" panose="020B0604020202020204" pitchFamily="34" charset="0"/>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GDP growth in 2024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is forecast at 7.8% despite a slowdown to 5%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for 2024Q4</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given robustness earlier in 2024, helped by a still-low RIR and still-modest fiscal restraint.</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spcAft>
                <a:spcPts val="800"/>
              </a:spcAft>
              <a:buFont typeface="Arial" panose="020B0604020202020204" pitchFamily="34" charset="0"/>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Slowdown </a:t>
            </a:r>
            <a:r>
              <a:rPr lang="en-US" sz="1200" b="1" kern="100" dirty="0">
                <a:latin typeface="Bahnschrift Light" panose="020B0502040204020203" pitchFamily="34" charset="0"/>
                <a:ea typeface="Aptos" panose="020B0004020202020204" pitchFamily="34" charset="0"/>
                <a:cs typeface="Times New Roman" panose="02020603050405020304" pitchFamily="18" charset="0"/>
              </a:rPr>
              <a:t>in 2025-26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is driven by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strong fiscal consolidation, both directly as government demand for G&amp;S falls and indirectly through the negative fiscal impulse on private demand.</a:t>
            </a:r>
          </a:p>
          <a:p>
            <a:pPr marL="171450" indent="-171450">
              <a:spcAft>
                <a:spcPts val="800"/>
              </a:spcAft>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Negative impact on demand of increased RIR as the real lending rates return to normal</a:t>
            </a:r>
          </a:p>
          <a:p>
            <a:pPr marL="171450" indent="-171450">
              <a:spcAft>
                <a:spcPts val="800"/>
              </a:spcAft>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Slightly offsetting positive, but lagged effect on net exports of recent and further RER depreciation</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D6B4C95-1EE2-6FAB-7947-959E540B5506}"/>
              </a:ext>
            </a:extLst>
          </p:cNvPr>
          <p:cNvPicPr>
            <a:picLocks noChangeAspect="1"/>
          </p:cNvPicPr>
          <p:nvPr/>
        </p:nvPicPr>
        <p:blipFill>
          <a:blip r:embed="rId3"/>
          <a:stretch>
            <a:fillRect/>
          </a:stretch>
        </p:blipFill>
        <p:spPr>
          <a:xfrm>
            <a:off x="7162800" y="1105554"/>
            <a:ext cx="4572000" cy="2749471"/>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7246EB74-18A8-0999-86E9-F1D96877E96D}"/>
              </a:ext>
            </a:extLst>
          </p:cNvPr>
          <p:cNvPicPr>
            <a:picLocks noChangeAspect="1"/>
          </p:cNvPicPr>
          <p:nvPr/>
        </p:nvPicPr>
        <p:blipFill>
          <a:blip r:embed="rId4"/>
          <a:stretch>
            <a:fillRect/>
          </a:stretch>
        </p:blipFill>
        <p:spPr>
          <a:xfrm>
            <a:off x="7848601" y="4015335"/>
            <a:ext cx="3886200" cy="2537865"/>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09483B34-B0D8-323A-35DD-9C14E0D965A5}"/>
              </a:ext>
            </a:extLst>
          </p:cNvPr>
          <p:cNvPicPr>
            <a:picLocks noChangeAspect="1"/>
          </p:cNvPicPr>
          <p:nvPr/>
        </p:nvPicPr>
        <p:blipFill>
          <a:blip r:embed="rId5"/>
          <a:stretch>
            <a:fillRect/>
          </a:stretch>
        </p:blipFill>
        <p:spPr>
          <a:xfrm>
            <a:off x="4038599" y="4015334"/>
            <a:ext cx="3711387" cy="2537865"/>
          </a:xfrm>
          <a:prstGeom prst="rect">
            <a:avLst/>
          </a:prstGeom>
          <a:ln>
            <a:solidFill>
              <a:schemeClr val="accent5">
                <a:lumMod val="20000"/>
                <a:lumOff val="80000"/>
              </a:schemeClr>
            </a:solidFill>
          </a:ln>
        </p:spPr>
      </p:pic>
      <p:sp>
        <p:nvSpPr>
          <p:cNvPr id="5" name="TextBox 4">
            <a:extLst>
              <a:ext uri="{FF2B5EF4-FFF2-40B4-BE49-F238E27FC236}">
                <a16:creationId xmlns:a16="http://schemas.microsoft.com/office/drawing/2014/main" id="{F4DAE249-3D69-E72E-DB0C-CB3A72926147}"/>
              </a:ext>
            </a:extLst>
          </p:cNvPr>
          <p:cNvSpPr txBox="1"/>
          <p:nvPr/>
        </p:nvSpPr>
        <p:spPr>
          <a:xfrm>
            <a:off x="381000" y="3855025"/>
            <a:ext cx="3536573" cy="1672253"/>
          </a:xfrm>
          <a:prstGeom prst="rect">
            <a:avLst/>
          </a:prstGeom>
          <a:noFill/>
          <a:ln>
            <a:solidFill>
              <a:schemeClr val="accent5">
                <a:lumMod val="20000"/>
                <a:lumOff val="80000"/>
              </a:schemeClr>
            </a:solidFill>
          </a:ln>
        </p:spPr>
        <p:txBody>
          <a:bodyPr wrap="square" rtlCol="0">
            <a:spAutoFit/>
          </a:bodyPr>
          <a:lstStyle/>
          <a:p>
            <a:pPr marL="0" marR="0">
              <a:spcAft>
                <a:spcPts val="800"/>
              </a:spcAft>
            </a:pPr>
            <a:r>
              <a:rPr lang="en-US" sz="1200" b="1" kern="100" dirty="0">
                <a:latin typeface="Bahnschrift" panose="020B0502040204020203" pitchFamily="34" charset="0"/>
                <a:ea typeface="Aptos" panose="020B0004020202020204" pitchFamily="34" charset="0"/>
                <a:cs typeface="Times New Roman" panose="02020603050405020304" pitchFamily="18" charset="0"/>
              </a:rPr>
              <a:t>C</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is driven by:  </a:t>
            </a:r>
            <a:endParaRPr lang="en-RW" sz="12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Driven by end of fiscal consolidation (Govt demand pick up), the negative fiscal impulse stops</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End of increase and the start of a slight decrease in RIR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(some undervaluation)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8872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2"/>
          </p:nvPr>
        </p:nvSpPr>
        <p:spPr/>
        <p:txBody>
          <a:bodyPr/>
          <a:lstStyle/>
          <a:p>
            <a:fld id="{D97AE203-F84D-4A7F-B161-8561326BE072}" type="slidenum">
              <a:rPr lang="en-US" smtClean="0"/>
              <a:pPr/>
              <a:t>16</a:t>
            </a:fld>
            <a:endParaRPr lang="en-US" dirty="0"/>
          </a:p>
        </p:txBody>
      </p:sp>
      <p:sp>
        <p:nvSpPr>
          <p:cNvPr id="2" name="Title 1">
            <a:extLst>
              <a:ext uri="{FF2B5EF4-FFF2-40B4-BE49-F238E27FC236}">
                <a16:creationId xmlns:a16="http://schemas.microsoft.com/office/drawing/2014/main" id="{0966E48A-ACEE-51EB-B834-992F80F1053E}"/>
              </a:ext>
            </a:extLst>
          </p:cNvPr>
          <p:cNvSpPr>
            <a:spLocks noGrp="1"/>
          </p:cNvSpPr>
          <p:nvPr>
            <p:ph type="title" idx="4294967295"/>
          </p:nvPr>
        </p:nvSpPr>
        <p:spPr>
          <a:xfrm>
            <a:off x="3048000" y="228600"/>
            <a:ext cx="6705600" cy="762000"/>
          </a:xfrm>
        </p:spPr>
        <p:txBody>
          <a:bodyPr>
            <a:normAutofit fontScale="90000"/>
          </a:bodyPr>
          <a:lstStyle/>
          <a:p>
            <a:r>
              <a:rPr lang="en-GB" b="1" dirty="0">
                <a:solidFill>
                  <a:srgbClr val="008BCC"/>
                </a:solidFill>
                <a:latin typeface="Bahnschrift" panose="020B0502040204020203" pitchFamily="34" charset="0"/>
                <a:cs typeface="+mn-cs"/>
              </a:rPr>
              <a:t>VI. Macroeconomic forecast/outlook</a:t>
            </a:r>
            <a:br>
              <a:rPr lang="en-GB" b="1" dirty="0"/>
            </a:br>
            <a:r>
              <a:rPr lang="en-GB" sz="2400" b="1" dirty="0">
                <a:solidFill>
                  <a:srgbClr val="109351"/>
                </a:solidFill>
                <a:latin typeface="Bahnschrift" panose="020B0502040204020203" pitchFamily="34" charset="0"/>
              </a:rPr>
              <a:t>Final demand components</a:t>
            </a:r>
            <a:endParaRPr lang="en-AE" sz="2400" b="1" dirty="0">
              <a:solidFill>
                <a:srgbClr val="109351"/>
              </a:solidFill>
              <a:latin typeface="Bahnschrift" panose="020B0502040204020203" pitchFamily="34" charset="0"/>
            </a:endParaRPr>
          </a:p>
        </p:txBody>
      </p:sp>
      <p:sp>
        <p:nvSpPr>
          <p:cNvPr id="8" name="TextBox 7">
            <a:extLst>
              <a:ext uri="{FF2B5EF4-FFF2-40B4-BE49-F238E27FC236}">
                <a16:creationId xmlns:a16="http://schemas.microsoft.com/office/drawing/2014/main" id="{8A2297BD-FECE-C82F-F423-51AAF50D8B40}"/>
              </a:ext>
            </a:extLst>
          </p:cNvPr>
          <p:cNvSpPr txBox="1"/>
          <p:nvPr/>
        </p:nvSpPr>
        <p:spPr>
          <a:xfrm>
            <a:off x="533399" y="1066800"/>
            <a:ext cx="5257801" cy="4722703"/>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Final demand: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Private demands are forecast to slow down in 2025-26, returning to normal thereafter</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consumption</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above-trend growth in 2023/early 2024, restrictive policies lower real consumption growth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4% in 2025-26, before it returns to trend growth in line with GDP (7.5%)</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investment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sluggish growth in 2022-23, growth is forecast to be strong in 2024 (above 10%), slowing down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6% in 2025-26 as real lending rates increase; then moves to trend growth</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exports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the above trend growth in 2023-24, export growth slows down but gradually as the positive effect of recent RER depreciation keeps export growth above the trend the whole period</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govt demand</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almost no growth in 2025-26 due to fiscal consolidation, strong pickup thereafter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imports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follow other demand components (including govt demand)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0A307112-6422-CAA4-218C-FBEB9557CD7B}"/>
              </a:ext>
            </a:extLst>
          </p:cNvPr>
          <p:cNvGrpSpPr/>
          <p:nvPr/>
        </p:nvGrpSpPr>
        <p:grpSpPr>
          <a:xfrm>
            <a:off x="5899897" y="1066800"/>
            <a:ext cx="5715000" cy="5300841"/>
            <a:chOff x="5899897" y="1176159"/>
            <a:chExt cx="5715000" cy="5300841"/>
          </a:xfrm>
        </p:grpSpPr>
        <p:pic>
          <p:nvPicPr>
            <p:cNvPr id="6" name="Picture 5">
              <a:extLst>
                <a:ext uri="{FF2B5EF4-FFF2-40B4-BE49-F238E27FC236}">
                  <a16:creationId xmlns:a16="http://schemas.microsoft.com/office/drawing/2014/main" id="{00985010-08A1-73D8-E4C4-71032363F2A9}"/>
                </a:ext>
              </a:extLst>
            </p:cNvPr>
            <p:cNvPicPr>
              <a:picLocks noChangeAspect="1"/>
            </p:cNvPicPr>
            <p:nvPr/>
          </p:nvPicPr>
          <p:blipFill>
            <a:blip r:embed="rId3"/>
            <a:srcRect r="53086"/>
            <a:stretch/>
          </p:blipFill>
          <p:spPr>
            <a:xfrm>
              <a:off x="5899897" y="1176159"/>
              <a:ext cx="2895600" cy="5300841"/>
            </a:xfrm>
            <a:prstGeom prst="rect">
              <a:avLst/>
            </a:prstGeom>
            <a:ln>
              <a:solidFill>
                <a:schemeClr val="accent5">
                  <a:lumMod val="20000"/>
                  <a:lumOff val="80000"/>
                </a:schemeClr>
              </a:solidFill>
            </a:ln>
          </p:spPr>
        </p:pic>
        <p:pic>
          <p:nvPicPr>
            <p:cNvPr id="4" name="Picture 3">
              <a:extLst>
                <a:ext uri="{FF2B5EF4-FFF2-40B4-BE49-F238E27FC236}">
                  <a16:creationId xmlns:a16="http://schemas.microsoft.com/office/drawing/2014/main" id="{93D1090F-78DA-B5FB-34EF-9B05AABBE1E7}"/>
                </a:ext>
              </a:extLst>
            </p:cNvPr>
            <p:cNvPicPr>
              <a:picLocks noChangeAspect="1"/>
            </p:cNvPicPr>
            <p:nvPr/>
          </p:nvPicPr>
          <p:blipFill>
            <a:blip r:embed="rId3"/>
            <a:srcRect l="54321"/>
            <a:stretch/>
          </p:blipFill>
          <p:spPr>
            <a:xfrm>
              <a:off x="8795497" y="1176159"/>
              <a:ext cx="2819400" cy="5300841"/>
            </a:xfrm>
            <a:prstGeom prst="rect">
              <a:avLst/>
            </a:prstGeom>
            <a:ln>
              <a:solidFill>
                <a:schemeClr val="accent5">
                  <a:lumMod val="20000"/>
                  <a:lumOff val="80000"/>
                </a:schemeClr>
              </a:solidFill>
            </a:ln>
          </p:spPr>
        </p:pic>
      </p:grpSp>
    </p:spTree>
    <p:extLst>
      <p:ext uri="{BB962C8B-B14F-4D97-AF65-F5344CB8AC3E}">
        <p14:creationId xmlns:p14="http://schemas.microsoft.com/office/powerpoint/2010/main" val="230293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2"/>
          </p:nvPr>
        </p:nvSpPr>
        <p:spPr/>
        <p:txBody>
          <a:bodyPr/>
          <a:lstStyle/>
          <a:p>
            <a:fld id="{D97AE203-F84D-4A7F-B161-8561326BE072}" type="slidenum">
              <a:rPr lang="en-US" smtClean="0"/>
              <a:pPr/>
              <a:t>17</a:t>
            </a:fld>
            <a:endParaRPr lang="en-US" dirty="0"/>
          </a:p>
        </p:txBody>
      </p:sp>
      <p:sp>
        <p:nvSpPr>
          <p:cNvPr id="2" name="Title 1">
            <a:extLst>
              <a:ext uri="{FF2B5EF4-FFF2-40B4-BE49-F238E27FC236}">
                <a16:creationId xmlns:a16="http://schemas.microsoft.com/office/drawing/2014/main" id="{F522B948-3F28-94A0-AFF9-22D3A186313C}"/>
              </a:ext>
            </a:extLst>
          </p:cNvPr>
          <p:cNvSpPr>
            <a:spLocks noGrp="1"/>
          </p:cNvSpPr>
          <p:nvPr>
            <p:ph type="title" idx="4294967295"/>
          </p:nvPr>
        </p:nvSpPr>
        <p:spPr>
          <a:xfrm>
            <a:off x="2895600" y="190500"/>
            <a:ext cx="6934200" cy="598488"/>
          </a:xfrm>
        </p:spPr>
        <p:txBody>
          <a:bodyPr/>
          <a:lstStyle/>
          <a:p>
            <a:r>
              <a:rPr lang="en-GB" sz="2400" b="1" dirty="0">
                <a:solidFill>
                  <a:srgbClr val="008BCC"/>
                </a:solidFill>
                <a:latin typeface="Bahnschrift" panose="020B0502040204020203" pitchFamily="34" charset="0"/>
              </a:rPr>
              <a:t>Fiscal: Budget deficit</a:t>
            </a:r>
            <a:endParaRPr lang="en-AE" sz="2400" b="1" dirty="0">
              <a:solidFill>
                <a:srgbClr val="008BCC"/>
              </a:solidFill>
              <a:latin typeface="Bahnschrift" panose="020B0502040204020203" pitchFamily="34" charset="0"/>
            </a:endParaRPr>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533400" y="1330711"/>
            <a:ext cx="7086600" cy="4765289"/>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lnSpc>
                <a:spcPct val="150000"/>
              </a:lnSpc>
              <a:spcBef>
                <a:spcPct val="0"/>
              </a:spcBef>
              <a:spcAft>
                <a:spcPts val="800"/>
              </a:spcAft>
              <a:buNone/>
            </a:pPr>
            <a:r>
              <a:rPr lang="en-US" sz="1200" b="1" kern="100" dirty="0">
                <a:solidFill>
                  <a:srgbClr val="C00000"/>
                </a:solidFill>
                <a:latin typeface="Bahnschrift Light" panose="020B0502040204020203" pitchFamily="34" charset="0"/>
                <a:cs typeface="Times New Roman" panose="02020603050405020304" pitchFamily="18" charset="0"/>
              </a:rPr>
              <a:t>Trend is structural deficit level in percentage of GDP</a:t>
            </a:r>
          </a:p>
          <a:p>
            <a:pPr marL="0" lvl="1" indent="0">
              <a:lnSpc>
                <a:spcPct val="150000"/>
              </a:lnSpc>
              <a:spcBef>
                <a:spcPct val="0"/>
              </a:spcBef>
              <a:spcAft>
                <a:spcPts val="800"/>
              </a:spcAft>
              <a:buNone/>
            </a:pPr>
            <a:r>
              <a:rPr lang="en-US" sz="1200" b="1" kern="100" dirty="0">
                <a:solidFill>
                  <a:schemeClr val="tx1"/>
                </a:solidFill>
                <a:latin typeface="Bahnschrift Light" panose="020B0502040204020203" pitchFamily="34" charset="0"/>
                <a:cs typeface="Times New Roman" panose="02020603050405020304" pitchFamily="18" charset="0"/>
              </a:rPr>
              <a:t>Budget deficit (excl. grants, %GDP): </a:t>
            </a:r>
            <a:r>
              <a:rPr lang="en-GB" sz="1200" kern="100" dirty="0">
                <a:solidFill>
                  <a:schemeClr val="tx1"/>
                </a:solidFill>
                <a:latin typeface="Bahnschrift Light" panose="020B0502040204020203" pitchFamily="34" charset="0"/>
                <a:cs typeface="Times New Roman" panose="02020603050405020304" pitchFamily="18" charset="0"/>
              </a:rPr>
              <a:t>Reintroduction of post-COVID contractionary/consolidation fiscal policy in 2024-28 (</a:t>
            </a:r>
            <a:r>
              <a:rPr lang="en-US" sz="1200" kern="100" dirty="0">
                <a:solidFill>
                  <a:schemeClr val="tx1"/>
                </a:solidFill>
                <a:latin typeface="Bahnschrift Light" panose="020B0502040204020203" pitchFamily="34" charset="0"/>
                <a:cs typeface="Times New Roman" panose="02020603050405020304" pitchFamily="18" charset="0"/>
              </a:rPr>
              <a:t>above structural level during 2023-early 2024 before falling below structural level in 2024-28)</a:t>
            </a:r>
          </a:p>
          <a:p>
            <a:pPr marL="171450" lvl="1" indent="-171450">
              <a:lnSpc>
                <a:spcPct val="150000"/>
              </a:lnSpc>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 cut in Govt. recurrent (G&amp;) and some capital spending below structural spending level</a:t>
            </a:r>
          </a:p>
          <a:p>
            <a:pPr marL="171450" lvl="1" indent="-171450">
              <a:lnSpc>
                <a:spcPct val="150000"/>
              </a:lnSpc>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 temporal cut in other expenditures below trend level followed by a reintroduction of key spending (i.e., subsides, transfers and policy lending) post 2024.</a:t>
            </a:r>
            <a:endParaRPr lang="en-GB" sz="1200" kern="100" dirty="0">
              <a:solidFill>
                <a:schemeClr val="tx1"/>
              </a:solidFill>
              <a:latin typeface="Bahnschrift Light" panose="020B0502040204020203" pitchFamily="34" charset="0"/>
              <a:cs typeface="Times New Roman" panose="02020603050405020304" pitchFamily="18" charset="0"/>
            </a:endParaRPr>
          </a:p>
          <a:p>
            <a:pPr marL="0" lvl="1" indent="0">
              <a:lnSpc>
                <a:spcPct val="150000"/>
              </a:lnSpc>
              <a:spcBef>
                <a:spcPct val="0"/>
              </a:spcBef>
              <a:spcAft>
                <a:spcPts val="800"/>
              </a:spcAft>
              <a:buNone/>
            </a:pPr>
            <a:r>
              <a:rPr lang="en-GB" sz="1200" b="1" kern="100" dirty="0">
                <a:solidFill>
                  <a:schemeClr val="tx1"/>
                </a:solidFill>
                <a:latin typeface="Bahnschrift Light" panose="020B0502040204020203" pitchFamily="34" charset="0"/>
                <a:cs typeface="Times New Roman" panose="02020603050405020304" pitchFamily="18" charset="0"/>
              </a:rPr>
              <a:t>From late 2026 to 2028</a:t>
            </a:r>
            <a:r>
              <a:rPr lang="en-GB" sz="1200" kern="100" dirty="0">
                <a:solidFill>
                  <a:schemeClr val="tx1"/>
                </a:solidFill>
                <a:latin typeface="Bahnschrift Light" panose="020B0502040204020203" pitchFamily="34" charset="0"/>
                <a:cs typeface="Times New Roman" panose="02020603050405020304" pitchFamily="18" charset="0"/>
              </a:rPr>
              <a:t>, consolidation eases as deficit (increase in Govt. demand) moves back up toward a sustainable path</a:t>
            </a:r>
            <a:r>
              <a:rPr lang="en-US" sz="1200" kern="100" dirty="0">
                <a:solidFill>
                  <a:schemeClr val="tx1"/>
                </a:solidFill>
                <a:latin typeface="Bahnschrift Light" panose="020B0502040204020203" pitchFamily="34" charset="0"/>
                <a:cs typeface="Times New Roman" panose="02020603050405020304" pitchFamily="18" charset="0"/>
              </a:rPr>
              <a:t> (</a:t>
            </a:r>
            <a:r>
              <a:rPr lang="en-GB" sz="1200" kern="100" dirty="0">
                <a:solidFill>
                  <a:schemeClr val="tx1"/>
                </a:solidFill>
                <a:latin typeface="Bahnschrift Light" panose="020B0502040204020203" pitchFamily="34" charset="0"/>
                <a:cs typeface="Times New Roman" panose="02020603050405020304" pitchFamily="18" charset="0"/>
              </a:rPr>
              <a:t>beyond IMF PCI sustainable deficit and ratios) </a:t>
            </a:r>
          </a:p>
          <a:p>
            <a:pPr marL="560387" lvl="2" indent="-285750">
              <a:lnSpc>
                <a:spcPct val="150000"/>
              </a:lnSpc>
              <a:spcBef>
                <a:spcPct val="0"/>
              </a:spcBef>
              <a:spcAft>
                <a:spcPts val="800"/>
              </a:spcAft>
              <a:buFont typeface="Wingdings" panose="05000000000000000000" pitchFamily="2" charset="2"/>
              <a:buChar char="§"/>
            </a:pPr>
            <a:r>
              <a:rPr lang="en-GB" sz="1200" b="1" kern="100" dirty="0">
                <a:solidFill>
                  <a:schemeClr val="tx1"/>
                </a:solidFill>
                <a:latin typeface="Bahnschrift Light" panose="020B0502040204020203" pitchFamily="34" charset="0"/>
                <a:cs typeface="Times New Roman" panose="02020603050405020304" pitchFamily="18" charset="0"/>
              </a:rPr>
              <a:t>Ratios: </a:t>
            </a:r>
            <a:r>
              <a:rPr lang="en-GB" sz="1200" kern="100" dirty="0">
                <a:latin typeface="Bahnschrift Light" panose="020B0502040204020203" pitchFamily="34" charset="0"/>
                <a:cs typeface="Times New Roman" panose="02020603050405020304" pitchFamily="18" charset="0"/>
              </a:rPr>
              <a:t>R</a:t>
            </a:r>
            <a:r>
              <a:rPr lang="en-GB" sz="1200" kern="100" dirty="0">
                <a:solidFill>
                  <a:schemeClr val="tx1"/>
                </a:solidFill>
                <a:latin typeface="Bahnschrift Light" panose="020B0502040204020203" pitchFamily="34" charset="0"/>
                <a:cs typeface="Times New Roman" panose="02020603050405020304" pitchFamily="18" charset="0"/>
              </a:rPr>
              <a:t>evenue of 24%, Govt. demand G&amp;S of  26%, other expenditure of 5.5%, grants 2.5% and debt-creating deficit 5% of GDP (consistent with 45% NPV public debt)</a:t>
            </a:r>
            <a:endParaRPr lang="en-US" sz="1200" kern="100" dirty="0">
              <a:latin typeface="Bahnschrift Light" panose="020B0502040204020203" pitchFamily="34" charset="0"/>
              <a:cs typeface="Times New Roman" panose="02020603050405020304" pitchFamily="18" charset="0"/>
            </a:endParaRPr>
          </a:p>
          <a:p>
            <a:pPr marL="560387" lvl="2" indent="-285750">
              <a:lnSpc>
                <a:spcPct val="150000"/>
              </a:lnSpc>
              <a:spcBef>
                <a:spcPct val="0"/>
              </a:spcBef>
              <a:spcAft>
                <a:spcPts val="800"/>
              </a:spcAft>
              <a:buFont typeface="Wingdings" panose="05000000000000000000" pitchFamily="2" charset="2"/>
              <a:buChar char="§"/>
            </a:pPr>
            <a:r>
              <a:rPr lang="en-GB" sz="1200" kern="100" dirty="0">
                <a:latin typeface="Bahnschrift Light" panose="020B0502040204020203" pitchFamily="34" charset="0"/>
                <a:cs typeface="Times New Roman" panose="02020603050405020304" pitchFamily="18" charset="0"/>
              </a:rPr>
              <a:t>A</a:t>
            </a:r>
            <a:r>
              <a:rPr lang="en-GB" sz="1200" kern="100" dirty="0">
                <a:solidFill>
                  <a:schemeClr val="tx1"/>
                </a:solidFill>
                <a:latin typeface="Bahnschrift Light" panose="020B0502040204020203" pitchFamily="34" charset="0"/>
                <a:cs typeface="Times New Roman" panose="02020603050405020304" pitchFamily="18" charset="0"/>
              </a:rPr>
              <a:t>s revenue is slow to rise, debt-creating deficits are for a few years above sustainable, at 7%.</a:t>
            </a:r>
          </a:p>
          <a:p>
            <a:pPr marL="560387" lvl="2" indent="-285750">
              <a:lnSpc>
                <a:spcPct val="150000"/>
              </a:lnSpc>
              <a:spcBef>
                <a:spcPct val="0"/>
              </a:spcBef>
              <a:spcAft>
                <a:spcPts val="800"/>
              </a:spcAft>
              <a:buFont typeface="Wingdings" panose="05000000000000000000" pitchFamily="2" charset="2"/>
              <a:buChar char="§"/>
            </a:pPr>
            <a:r>
              <a:rPr lang="en-US" sz="1200" dirty="0">
                <a:latin typeface="Bahnschrift Light" panose="020B0502040204020203" pitchFamily="34" charset="0"/>
              </a:rPr>
              <a:t>Fiscal consolidation fading thereafter (returning to structural level) after 2026</a:t>
            </a:r>
          </a:p>
          <a:p>
            <a:pPr marL="560387" lvl="2" indent="-285750">
              <a:spcBef>
                <a:spcPct val="0"/>
              </a:spcBef>
              <a:spcAft>
                <a:spcPts val="800"/>
              </a:spcAft>
              <a:buFont typeface="Wingdings" panose="05000000000000000000" pitchFamily="2" charset="2"/>
              <a:buChar char="§"/>
            </a:pPr>
            <a:endParaRPr lang="en-RW" sz="1100" kern="100" dirty="0">
              <a:solidFill>
                <a:schemeClr val="tx1"/>
              </a:solidFill>
              <a:latin typeface="Bahnschrift Light" panose="020B0502040204020203" pitchFamily="34"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533400" y="914400"/>
            <a:ext cx="11201400" cy="290899"/>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rgbClr val="109351"/>
                </a:solidFill>
                <a:latin typeface="Bahnschrift" panose="020B0502040204020203" pitchFamily="34" charset="0"/>
              </a:rPr>
              <a:t>Budget deficit (spending—Govt. demand &amp; other expenditures and revenue) composed into structural, discretional and cyclical deficit to breakdown its effect on final demand</a:t>
            </a:r>
          </a:p>
        </p:txBody>
      </p:sp>
      <p:pic>
        <p:nvPicPr>
          <p:cNvPr id="6" name="Picture 5">
            <a:extLst>
              <a:ext uri="{FF2B5EF4-FFF2-40B4-BE49-F238E27FC236}">
                <a16:creationId xmlns:a16="http://schemas.microsoft.com/office/drawing/2014/main" id="{34042D8A-8961-1D0C-65C6-4F84C6C0592A}"/>
              </a:ext>
            </a:extLst>
          </p:cNvPr>
          <p:cNvPicPr>
            <a:picLocks noChangeAspect="1"/>
          </p:cNvPicPr>
          <p:nvPr/>
        </p:nvPicPr>
        <p:blipFill>
          <a:blip r:embed="rId3"/>
          <a:stretch>
            <a:fillRect/>
          </a:stretch>
        </p:blipFill>
        <p:spPr>
          <a:xfrm>
            <a:off x="7696200" y="1800327"/>
            <a:ext cx="4038600" cy="3960995"/>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617536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C1072-9CC2-F320-1EF2-B76F0FDEDC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765158-3C40-A10C-7DA3-C9086C6C3B26}"/>
              </a:ext>
            </a:extLst>
          </p:cNvPr>
          <p:cNvSpPr>
            <a:spLocks noGrp="1"/>
          </p:cNvSpPr>
          <p:nvPr>
            <p:ph type="sldNum" sz="quarter" idx="12"/>
          </p:nvPr>
        </p:nvSpPr>
        <p:spPr/>
        <p:txBody>
          <a:bodyPr/>
          <a:lstStyle/>
          <a:p>
            <a:fld id="{D97AE203-F84D-4A7F-B161-8561326BE072}" type="slidenum">
              <a:rPr lang="en-US" smtClean="0"/>
              <a:pPr/>
              <a:t>18</a:t>
            </a:fld>
            <a:endParaRPr lang="en-US" dirty="0"/>
          </a:p>
        </p:txBody>
      </p:sp>
      <p:sp>
        <p:nvSpPr>
          <p:cNvPr id="2" name="Title 1">
            <a:extLst>
              <a:ext uri="{FF2B5EF4-FFF2-40B4-BE49-F238E27FC236}">
                <a16:creationId xmlns:a16="http://schemas.microsoft.com/office/drawing/2014/main" id="{8B2EE8DE-2A38-6DE0-0E91-EF4E3DDC6155}"/>
              </a:ext>
            </a:extLst>
          </p:cNvPr>
          <p:cNvSpPr>
            <a:spLocks noGrp="1"/>
          </p:cNvSpPr>
          <p:nvPr>
            <p:ph type="title" idx="4294967295"/>
          </p:nvPr>
        </p:nvSpPr>
        <p:spPr>
          <a:xfrm>
            <a:off x="2895600" y="190500"/>
            <a:ext cx="6934200" cy="598488"/>
          </a:xfrm>
        </p:spPr>
        <p:txBody>
          <a:bodyPr/>
          <a:lstStyle/>
          <a:p>
            <a:r>
              <a:rPr lang="en-GB" sz="2400" b="1" dirty="0">
                <a:solidFill>
                  <a:srgbClr val="008BCC"/>
                </a:solidFill>
                <a:latin typeface="Bahnschrift" panose="020B0502040204020203" pitchFamily="34" charset="0"/>
              </a:rPr>
              <a:t>Fiscal: Budget deficit compos</a:t>
            </a:r>
            <a:r>
              <a:rPr lang="en-GB" sz="2400" dirty="0">
                <a:solidFill>
                  <a:srgbClr val="008BCC"/>
                </a:solidFill>
              </a:rPr>
              <a:t>itions</a:t>
            </a:r>
            <a:endParaRPr lang="en-AE" sz="2400" b="1" dirty="0">
              <a:solidFill>
                <a:srgbClr val="008BCC"/>
              </a:solidFill>
              <a:latin typeface="Bahnschrift" panose="020B0502040204020203" pitchFamily="34" charset="0"/>
            </a:endParaRPr>
          </a:p>
        </p:txBody>
      </p:sp>
      <p:sp>
        <p:nvSpPr>
          <p:cNvPr id="4" name="Content Placeholder 2">
            <a:extLst>
              <a:ext uri="{FF2B5EF4-FFF2-40B4-BE49-F238E27FC236}">
                <a16:creationId xmlns:a16="http://schemas.microsoft.com/office/drawing/2014/main" id="{3AAA0ED7-79BF-0F6E-0DC3-8EBFC30C9FE9}"/>
              </a:ext>
            </a:extLst>
          </p:cNvPr>
          <p:cNvSpPr txBox="1">
            <a:spLocks/>
          </p:cNvSpPr>
          <p:nvPr/>
        </p:nvSpPr>
        <p:spPr>
          <a:xfrm>
            <a:off x="457199" y="904104"/>
            <a:ext cx="10828276" cy="29089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rgbClr val="109351"/>
                </a:solidFill>
                <a:latin typeface="Bahnschrift" panose="020B0502040204020203" pitchFamily="34" charset="0"/>
              </a:rPr>
              <a:t>Govt expenditure (spending—Govt. demand &amp; other expenditures) composed into structural, discretional and cyclical deficit to breakdown its effect on final demand</a:t>
            </a:r>
          </a:p>
        </p:txBody>
      </p:sp>
      <p:pic>
        <p:nvPicPr>
          <p:cNvPr id="8" name="Picture 7">
            <a:extLst>
              <a:ext uri="{FF2B5EF4-FFF2-40B4-BE49-F238E27FC236}">
                <a16:creationId xmlns:a16="http://schemas.microsoft.com/office/drawing/2014/main" id="{E0ED0ADD-2C37-78F7-6A68-86B81DC0F127}"/>
              </a:ext>
            </a:extLst>
          </p:cNvPr>
          <p:cNvPicPr>
            <a:picLocks noChangeAspect="1"/>
          </p:cNvPicPr>
          <p:nvPr/>
        </p:nvPicPr>
        <p:blipFill>
          <a:blip r:embed="rId3"/>
          <a:stretch>
            <a:fillRect/>
          </a:stretch>
        </p:blipFill>
        <p:spPr>
          <a:xfrm>
            <a:off x="7772400" y="1177197"/>
            <a:ext cx="3513075" cy="2603627"/>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B1A31B50-D26F-83A6-D340-694F9EA1784A}"/>
              </a:ext>
            </a:extLst>
          </p:cNvPr>
          <p:cNvPicPr>
            <a:picLocks noChangeAspect="1"/>
          </p:cNvPicPr>
          <p:nvPr/>
        </p:nvPicPr>
        <p:blipFill>
          <a:blip r:embed="rId4"/>
          <a:stretch>
            <a:fillRect/>
          </a:stretch>
        </p:blipFill>
        <p:spPr>
          <a:xfrm>
            <a:off x="7772400" y="3860480"/>
            <a:ext cx="3513075" cy="2516429"/>
          </a:xfrm>
          <a:prstGeom prst="rect">
            <a:avLst/>
          </a:prstGeom>
          <a:ln>
            <a:solidFill>
              <a:schemeClr val="accent5">
                <a:lumMod val="20000"/>
                <a:lumOff val="80000"/>
              </a:schemeClr>
            </a:solidFill>
          </a:ln>
        </p:spPr>
      </p:pic>
      <p:sp>
        <p:nvSpPr>
          <p:cNvPr id="5" name="Content Placeholder 2">
            <a:extLst>
              <a:ext uri="{FF2B5EF4-FFF2-40B4-BE49-F238E27FC236}">
                <a16:creationId xmlns:a16="http://schemas.microsoft.com/office/drawing/2014/main" id="{63E96B2C-DD9B-99FD-86D2-4D5B9FCF8016}"/>
              </a:ext>
            </a:extLst>
          </p:cNvPr>
          <p:cNvSpPr txBox="1">
            <a:spLocks/>
          </p:cNvSpPr>
          <p:nvPr/>
        </p:nvSpPr>
        <p:spPr>
          <a:xfrm>
            <a:off x="457200" y="1177197"/>
            <a:ext cx="7239000" cy="1794603"/>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spcBef>
                <a:spcPct val="0"/>
              </a:spcBef>
              <a:spcAft>
                <a:spcPts val="800"/>
              </a:spcAft>
              <a:buNone/>
            </a:pPr>
            <a:r>
              <a:rPr lang="en-US" sz="1200" b="1" kern="100" dirty="0">
                <a:solidFill>
                  <a:schemeClr val="tx1"/>
                </a:solidFill>
                <a:latin typeface="Bahnschrift" panose="020B0502040204020203" pitchFamily="34" charset="0"/>
                <a:cs typeface="Times New Roman" panose="02020603050405020304" pitchFamily="18" charset="0"/>
              </a:rPr>
              <a:t>Budget deficit (excl. grants, % GDP)</a:t>
            </a:r>
          </a:p>
          <a:p>
            <a:pPr marL="171450" lvl="1" indent="-171450">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Assumed to follow PCI fiscal targets for 2024/25 and 2025/26 with deficit reductions by 2.4% and 2% of GDP, resp. (from an average level of 11.6% of GDP in 2022/23-2023/24). </a:t>
            </a:r>
          </a:p>
          <a:p>
            <a:pPr marL="171450" lvl="1" indent="-171450">
              <a:spcBef>
                <a:spcPct val="0"/>
              </a:spcBef>
              <a:spcAft>
                <a:spcPts val="800"/>
              </a:spcAft>
              <a:buFont typeface="Wingdings" panose="05000000000000000000" pitchFamily="2" charset="2"/>
              <a:buChar char="§"/>
            </a:pPr>
            <a:r>
              <a:rPr lang="en-US" sz="1200" dirty="0">
                <a:solidFill>
                  <a:schemeClr val="tx1"/>
                </a:solidFill>
                <a:latin typeface="Bahnschrift Light" panose="020B0502040204020203" pitchFamily="34" charset="0"/>
              </a:rPr>
              <a:t>After  2025/26, deficit assumed to gradually return toward sustainable level of 7.5% of GDP (compared to around 6% of GDP in post-PCI program projection).</a:t>
            </a:r>
          </a:p>
          <a:p>
            <a:pPr marL="171450" lvl="1" indent="-171450">
              <a:spcBef>
                <a:spcPct val="0"/>
              </a:spcBef>
              <a:spcAft>
                <a:spcPts val="800"/>
              </a:spcAft>
              <a:buFont typeface="Wingdings" panose="05000000000000000000" pitchFamily="2" charset="2"/>
              <a:buChar char="§"/>
            </a:pPr>
            <a:r>
              <a:rPr lang="en-US" sz="1200" dirty="0">
                <a:solidFill>
                  <a:schemeClr val="tx1"/>
                </a:solidFill>
                <a:latin typeface="Bahnschrift Light" panose="020B0502040204020203" pitchFamily="34" charset="0"/>
              </a:rPr>
              <a:t>Large negative effect on demand slowing down output growth in 2025-26, which ends in late 2026 when deficit moves back up to its sustainable level and output growth returns to steady state.. </a:t>
            </a:r>
          </a:p>
        </p:txBody>
      </p:sp>
      <p:sp>
        <p:nvSpPr>
          <p:cNvPr id="7" name="TextBox 6">
            <a:extLst>
              <a:ext uri="{FF2B5EF4-FFF2-40B4-BE49-F238E27FC236}">
                <a16:creationId xmlns:a16="http://schemas.microsoft.com/office/drawing/2014/main" id="{3B6E9F43-CC9B-7C11-E75C-FBE9D07C8759}"/>
              </a:ext>
            </a:extLst>
          </p:cNvPr>
          <p:cNvSpPr txBox="1"/>
          <p:nvPr/>
        </p:nvSpPr>
        <p:spPr>
          <a:xfrm>
            <a:off x="457200" y="3184481"/>
            <a:ext cx="7239000" cy="1167884"/>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panose="020B0502040204020203" pitchFamily="34" charset="0"/>
              </a:rPr>
              <a:t>Government demand of G&amp;S (% of GDP)</a:t>
            </a:r>
          </a:p>
          <a:p>
            <a:pPr marL="171450" indent="-171450">
              <a:lnSpc>
                <a:spcPct val="150000"/>
              </a:lnSpc>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With two-thirds of deficit reduction coming from spending (current, development), govt demand for G&amp;S is forecast below trend, with downward pressure on demand.</a:t>
            </a:r>
            <a:endParaRPr lang="en-RW" sz="1200" kern="100" dirty="0">
              <a:solidFill>
                <a:schemeClr val="tx1"/>
              </a:solidFill>
              <a:latin typeface="Bahnschrift Light" panose="020B0502040204020203" pitchFamily="34" charset="0"/>
              <a:cs typeface="Times New Roman" panose="02020603050405020304" pitchFamily="18"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late 2026, govt demand for G&amp;S returns to sustainable path, ending negative effect on demand.</a:t>
            </a:r>
            <a:endParaRPr lang="en-US" sz="1200" i="1" dirty="0">
              <a:latin typeface="Bahnschrift Light" panose="020B0502040204020203" pitchFamily="34" charset="0"/>
            </a:endParaRPr>
          </a:p>
        </p:txBody>
      </p:sp>
      <p:sp>
        <p:nvSpPr>
          <p:cNvPr id="9" name="TextBox 8">
            <a:extLst>
              <a:ext uri="{FF2B5EF4-FFF2-40B4-BE49-F238E27FC236}">
                <a16:creationId xmlns:a16="http://schemas.microsoft.com/office/drawing/2014/main" id="{D82C056A-ECAF-A9DE-41D7-1E6E9E3D2DA9}"/>
              </a:ext>
            </a:extLst>
          </p:cNvPr>
          <p:cNvSpPr txBox="1"/>
          <p:nvPr/>
        </p:nvSpPr>
        <p:spPr>
          <a:xfrm>
            <a:off x="457199" y="4953000"/>
            <a:ext cx="7200899" cy="1162754"/>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0"/>
              </a:spcAft>
            </a:pPr>
            <a:r>
              <a:rPr lang="en-US" sz="1200" b="1" kern="100" dirty="0">
                <a:latin typeface="Bahnschrift" panose="020B0502040204020203" pitchFamily="34" charset="0"/>
                <a:cs typeface="Times New Roman" panose="02020603050405020304" pitchFamily="18" charset="0"/>
              </a:rPr>
              <a:t>Fiscal “rule” for deficit path after PCI</a:t>
            </a:r>
            <a:endParaRPr lang="en-US" sz="1200" b="0" dirty="0">
              <a:latin typeface="Bahnschrift" panose="020B0502040204020203" pitchFamily="34" charset="0"/>
            </a:endParaRPr>
          </a:p>
          <a:p>
            <a:pPr marR="0">
              <a:lnSpc>
                <a:spcPct val="150000"/>
              </a:lnSpc>
              <a:spcAft>
                <a:spcPts val="0"/>
              </a:spcAft>
            </a:pPr>
            <a:r>
              <a:rPr lang="en-US" sz="1200" dirty="0">
                <a:latin typeface="Bahnschrift Light" panose="020B0502040204020203" pitchFamily="34" charset="0"/>
              </a:rPr>
              <a:t>Sustainable deficit (driven by sustainable PV debt of 70% of GDP, “strong debt-carrying capacity) 7.5% of GDP, with revenue 24%, spending G&amp;S 26%, and other spending 5.5% of GDP (assuming sustainable grants 2.5% of GDP, real growth 7.5%, domestic debt 15%).</a:t>
            </a:r>
            <a:endParaRPr lang="en-US" sz="1200" kern="100" dirty="0">
              <a:latin typeface="Bahnschrift Ligh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176188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2"/>
          </p:nvPr>
        </p:nvSpPr>
        <p:spPr/>
        <p:txBody>
          <a:bodyPr/>
          <a:lstStyle/>
          <a:p>
            <a:fld id="{D97AE203-F84D-4A7F-B161-8561326BE072}" type="slidenum">
              <a:rPr lang="en-US" smtClean="0"/>
              <a:pPr/>
              <a:t>19</a:t>
            </a:fld>
            <a:endParaRPr lang="en-US" dirty="0"/>
          </a:p>
        </p:txBody>
      </p:sp>
      <p:sp>
        <p:nvSpPr>
          <p:cNvPr id="2" name="Title 1">
            <a:extLst>
              <a:ext uri="{FF2B5EF4-FFF2-40B4-BE49-F238E27FC236}">
                <a16:creationId xmlns:a16="http://schemas.microsoft.com/office/drawing/2014/main" id="{F522B948-3F28-94A0-AFF9-22D3A186313C}"/>
              </a:ext>
            </a:extLst>
          </p:cNvPr>
          <p:cNvSpPr>
            <a:spLocks noGrp="1"/>
          </p:cNvSpPr>
          <p:nvPr>
            <p:ph type="title" idx="4294967295"/>
          </p:nvPr>
        </p:nvSpPr>
        <p:spPr>
          <a:xfrm>
            <a:off x="2819400" y="238125"/>
            <a:ext cx="6934200" cy="609600"/>
          </a:xfrm>
        </p:spPr>
        <p:txBody>
          <a:bodyPr/>
          <a:lstStyle/>
          <a:p>
            <a:r>
              <a:rPr lang="en-GB" sz="2400" b="1" dirty="0">
                <a:solidFill>
                  <a:srgbClr val="008BCC"/>
                </a:solidFill>
                <a:latin typeface="Bahnschrift" panose="020B0502040204020203" pitchFamily="34" charset="0"/>
              </a:rPr>
              <a:t>Inflation: Headline CPI and components </a:t>
            </a:r>
            <a:endParaRPr lang="en-AE" sz="2400" b="1" dirty="0">
              <a:solidFill>
                <a:srgbClr val="008BCC"/>
              </a:solidFill>
              <a:latin typeface="Bahnschrift" panose="020B0502040204020203" pitchFamily="34" charset="0"/>
            </a:endParaRPr>
          </a:p>
        </p:txBody>
      </p:sp>
      <p:sp>
        <p:nvSpPr>
          <p:cNvPr id="11" name="TextBox 10">
            <a:extLst>
              <a:ext uri="{FF2B5EF4-FFF2-40B4-BE49-F238E27FC236}">
                <a16:creationId xmlns:a16="http://schemas.microsoft.com/office/drawing/2014/main" id="{46B9D025-CC2E-BA46-942B-5C53E9D9632B}"/>
              </a:ext>
            </a:extLst>
          </p:cNvPr>
          <p:cNvSpPr txBox="1"/>
          <p:nvPr/>
        </p:nvSpPr>
        <p:spPr>
          <a:xfrm>
            <a:off x="609599" y="1306829"/>
            <a:ext cx="5003799" cy="4544834"/>
          </a:xfrm>
          <a:prstGeom prst="rect">
            <a:avLst/>
          </a:prstGeom>
          <a:noFill/>
          <a:ln>
            <a:solidFill>
              <a:schemeClr val="accent5">
                <a:lumMod val="20000"/>
                <a:lumOff val="80000"/>
              </a:schemeClr>
            </a:solidFill>
          </a:ln>
        </p:spPr>
        <p:txBody>
          <a:bodyPr wrap="square">
            <a:spAutoFit/>
          </a:bodyPr>
          <a:lstStyle/>
          <a:p>
            <a:pPr marL="0" marR="0">
              <a:spcAft>
                <a:spcPts val="800"/>
              </a:spcAft>
            </a:pPr>
            <a:r>
              <a:rPr lang="en-US" sz="1200" b="1" kern="100" dirty="0">
                <a:latin typeface="Bahnschrift" panose="020B0502040204020203" pitchFamily="34" charset="0"/>
                <a:ea typeface="Aptos" panose="020B0004020202020204" pitchFamily="34" charset="0"/>
                <a:cs typeface="Times New Roman" panose="02020603050405020304" pitchFamily="18" charset="0"/>
              </a:rPr>
              <a:t>Headline inflation </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(period average) is expected to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subdued</a:t>
            </a:r>
            <a:r>
              <a:rPr lang="en-US" sz="1200" kern="100" dirty="0">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below 5% until 2027</a:t>
            </a:r>
            <a:r>
              <a:rPr lang="en-US" sz="1200" kern="100" dirty="0">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before a gradual return to target of 5% in 2028 d</a:t>
            </a:r>
            <a:r>
              <a:rPr lang="en-US" sz="1200" kern="100" dirty="0">
                <a:latin typeface="Bahnschrift" panose="020B0502040204020203" pitchFamily="34" charset="0"/>
                <a:ea typeface="Aptos" panose="020B0004020202020204" pitchFamily="34" charset="0"/>
                <a:cs typeface="Times New Roman" panose="02020603050405020304" pitchFamily="18" charset="0"/>
              </a:rPr>
              <a:t>riven</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ea typeface="Aptos" panose="020B0004020202020204" pitchFamily="34" charset="0"/>
                <a:cs typeface="Times New Roman" panose="02020603050405020304" pitchFamily="18" charset="0"/>
              </a:rPr>
              <a:t>Recent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drop in food, energy and core inflation followed by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a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reversal in 2023-24 of earlier positive price shocks</a:t>
            </a:r>
          </a:p>
          <a:p>
            <a:pPr marL="285750" marR="0" indent="-285750">
              <a:spcAft>
                <a:spcPts val="800"/>
              </a:spcAft>
              <a:buFont typeface="Wingdings" panose="05000000000000000000" pitchFamily="2" charset="2"/>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Demand-restraining policies</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 (i.e., tight interest rates and fiscal consolidation policy)</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a:t>
            </a:r>
          </a:p>
          <a:p>
            <a:pPr marL="0" marR="0">
              <a:spcAft>
                <a:spcPts val="800"/>
              </a:spcAft>
            </a:pPr>
            <a:r>
              <a:rPr lang="en-US" sz="1200" b="1" kern="100" dirty="0">
                <a:latin typeface="Bahnschrift" panose="020B0502040204020203" pitchFamily="34" charset="0"/>
                <a:cs typeface="Times New Roman" panose="02020603050405020304" pitchFamily="18" charset="0"/>
              </a:rPr>
              <a:t>2025-27—well below 5%:</a:t>
            </a:r>
            <a:endParaRPr lang="en-RW" sz="1200" b="1" kern="100" dirty="0">
              <a:latin typeface="Bahnschrift" panose="020B0502040204020203" pitchFamily="34" charset="0"/>
              <a:cs typeface="Times New Roman" panose="02020603050405020304" pitchFamily="18" charset="0"/>
            </a:endParaRP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effect of increasing RIR and large negative fiscal impulse on demand, hence output</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continued drop in food prices as agriculture returns to normal</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still low trading partner prices, and a small drop in world energy and food prices</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somewhat offset by the CPI-increasing effect of nominal ER depreciation on import prices</a:t>
            </a:r>
            <a:endParaRPr lang="en-RW" sz="1200" kern="100" dirty="0">
              <a:latin typeface="Bahnschrift Light" panose="020B0502040204020203" pitchFamily="34" charset="0"/>
              <a:cs typeface="Times New Roman" panose="02020603050405020304" pitchFamily="18" charset="0"/>
            </a:endParaRPr>
          </a:p>
          <a:p>
            <a:pPr>
              <a:spcAft>
                <a:spcPts val="800"/>
              </a:spcAft>
            </a:pPr>
            <a:r>
              <a:rPr lang="en-US" sz="1200" b="1" kern="100" dirty="0">
                <a:latin typeface="Bahnschrift" panose="020B0502040204020203" pitchFamily="34" charset="0"/>
                <a:cs typeface="Times New Roman" panose="02020603050405020304" pitchFamily="18" charset="0"/>
              </a:rPr>
              <a:t>2028 onward—return to target:      </a:t>
            </a:r>
            <a:endParaRPr lang="en-RW" sz="1200" b="1" kern="100" dirty="0">
              <a:latin typeface="Bahnschrif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Govt demand pick up (as consolidation stops post-PCI)</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Other demand components return to normal</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Interest rate policies push inflation back to target</a:t>
            </a:r>
          </a:p>
        </p:txBody>
      </p:sp>
      <p:pic>
        <p:nvPicPr>
          <p:cNvPr id="19" name="Picture 18">
            <a:extLst>
              <a:ext uri="{FF2B5EF4-FFF2-40B4-BE49-F238E27FC236}">
                <a16:creationId xmlns:a16="http://schemas.microsoft.com/office/drawing/2014/main" id="{7269B86C-FDF8-F8C3-FDA6-63BA7EB6302A}"/>
              </a:ext>
            </a:extLst>
          </p:cNvPr>
          <p:cNvPicPr>
            <a:picLocks noChangeAspect="1"/>
          </p:cNvPicPr>
          <p:nvPr/>
        </p:nvPicPr>
        <p:blipFill>
          <a:blip r:embed="rId3"/>
          <a:stretch>
            <a:fillRect/>
          </a:stretch>
        </p:blipFill>
        <p:spPr>
          <a:xfrm>
            <a:off x="5715000" y="1306829"/>
            <a:ext cx="3048000" cy="2633891"/>
          </a:xfrm>
          <a:prstGeom prst="rect">
            <a:avLst/>
          </a:prstGeom>
          <a:ln>
            <a:solidFill>
              <a:schemeClr val="accent5">
                <a:lumMod val="20000"/>
                <a:lumOff val="80000"/>
              </a:schemeClr>
            </a:solidFill>
          </a:ln>
        </p:spPr>
      </p:pic>
      <p:pic>
        <p:nvPicPr>
          <p:cNvPr id="5" name="Picture 4">
            <a:extLst>
              <a:ext uri="{FF2B5EF4-FFF2-40B4-BE49-F238E27FC236}">
                <a16:creationId xmlns:a16="http://schemas.microsoft.com/office/drawing/2014/main" id="{2F33B6F9-3328-F7CA-D1C6-95084B309530}"/>
              </a:ext>
            </a:extLst>
          </p:cNvPr>
          <p:cNvPicPr>
            <a:picLocks noChangeAspect="1"/>
          </p:cNvPicPr>
          <p:nvPr/>
        </p:nvPicPr>
        <p:blipFill>
          <a:blip r:embed="rId4"/>
          <a:stretch>
            <a:fillRect/>
          </a:stretch>
        </p:blipFill>
        <p:spPr>
          <a:xfrm>
            <a:off x="8864600" y="1306829"/>
            <a:ext cx="2870200" cy="2633891"/>
          </a:xfrm>
          <a:prstGeom prst="rect">
            <a:avLst/>
          </a:prstGeom>
          <a:ln>
            <a:solidFill>
              <a:schemeClr val="accent5">
                <a:lumMod val="20000"/>
                <a:lumOff val="80000"/>
              </a:schemeClr>
            </a:solidFill>
          </a:ln>
        </p:spPr>
      </p:pic>
      <p:pic>
        <p:nvPicPr>
          <p:cNvPr id="7" name="Picture 6">
            <a:extLst>
              <a:ext uri="{FF2B5EF4-FFF2-40B4-BE49-F238E27FC236}">
                <a16:creationId xmlns:a16="http://schemas.microsoft.com/office/drawing/2014/main" id="{FC20914D-8F5B-F8DA-62AD-2943AC25E795}"/>
              </a:ext>
            </a:extLst>
          </p:cNvPr>
          <p:cNvPicPr>
            <a:picLocks noChangeAspect="1"/>
          </p:cNvPicPr>
          <p:nvPr/>
        </p:nvPicPr>
        <p:blipFill>
          <a:blip r:embed="rId5"/>
          <a:stretch>
            <a:fillRect/>
          </a:stretch>
        </p:blipFill>
        <p:spPr>
          <a:xfrm>
            <a:off x="5714999" y="4038600"/>
            <a:ext cx="3048001" cy="2438400"/>
          </a:xfrm>
          <a:prstGeom prst="rect">
            <a:avLst/>
          </a:prstGeom>
          <a:ln>
            <a:solidFill>
              <a:schemeClr val="accent5">
                <a:lumMod val="20000"/>
                <a:lumOff val="80000"/>
              </a:schemeClr>
            </a:solidFill>
          </a:ln>
        </p:spPr>
      </p:pic>
      <p:pic>
        <p:nvPicPr>
          <p:cNvPr id="10" name="Picture 9">
            <a:extLst>
              <a:ext uri="{FF2B5EF4-FFF2-40B4-BE49-F238E27FC236}">
                <a16:creationId xmlns:a16="http://schemas.microsoft.com/office/drawing/2014/main" id="{F5542E1F-415A-9709-0A4F-3CFD0E3FEEEB}"/>
              </a:ext>
            </a:extLst>
          </p:cNvPr>
          <p:cNvPicPr>
            <a:picLocks noChangeAspect="1"/>
          </p:cNvPicPr>
          <p:nvPr/>
        </p:nvPicPr>
        <p:blipFill>
          <a:blip r:embed="rId6"/>
          <a:stretch>
            <a:fillRect/>
          </a:stretch>
        </p:blipFill>
        <p:spPr>
          <a:xfrm>
            <a:off x="8847665" y="4038600"/>
            <a:ext cx="2887135" cy="243840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877559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3A2E-363D-1D2D-E820-83FCF32AA33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8EA807-898D-90E8-2F12-03F3205FA806}"/>
              </a:ext>
            </a:extLst>
          </p:cNvPr>
          <p:cNvSpPr>
            <a:spLocks noGrp="1"/>
          </p:cNvSpPr>
          <p:nvPr>
            <p:ph type="sldNum" sz="quarter" idx="12"/>
          </p:nvPr>
        </p:nvSpPr>
        <p:spPr/>
        <p:txBody>
          <a:bodyPr/>
          <a:lstStyle/>
          <a:p>
            <a:fld id="{D97AE203-F84D-4A7F-B161-8561326BE072}" type="slidenum">
              <a:rPr lang="en-US" smtClean="0"/>
              <a:pPr/>
              <a:t>20</a:t>
            </a:fld>
            <a:endParaRPr lang="en-US" dirty="0"/>
          </a:p>
        </p:txBody>
      </p:sp>
      <p:sp>
        <p:nvSpPr>
          <p:cNvPr id="2" name="Title 1">
            <a:extLst>
              <a:ext uri="{FF2B5EF4-FFF2-40B4-BE49-F238E27FC236}">
                <a16:creationId xmlns:a16="http://schemas.microsoft.com/office/drawing/2014/main" id="{C138AE88-1DDE-E633-6622-331867877A74}"/>
              </a:ext>
            </a:extLst>
          </p:cNvPr>
          <p:cNvSpPr>
            <a:spLocks noGrp="1"/>
          </p:cNvSpPr>
          <p:nvPr>
            <p:ph type="title" idx="4294967295"/>
          </p:nvPr>
        </p:nvSpPr>
        <p:spPr>
          <a:xfrm>
            <a:off x="3111858" y="304800"/>
            <a:ext cx="6870342" cy="598488"/>
          </a:xfrm>
        </p:spPr>
        <p:txBody>
          <a:bodyPr/>
          <a:lstStyle/>
          <a:p>
            <a:r>
              <a:rPr lang="en-US" sz="2400" b="1" dirty="0">
                <a:solidFill>
                  <a:srgbClr val="008BCC"/>
                </a:solidFill>
                <a:latin typeface="Bahnschrift" panose="020B0502040204020203" pitchFamily="34" charset="0"/>
              </a:rPr>
              <a:t>Fiscal impulse and its effect on private demand</a:t>
            </a:r>
            <a:endParaRPr lang="en-AE" sz="2400" b="1" dirty="0">
              <a:solidFill>
                <a:srgbClr val="008BCC"/>
              </a:solidFill>
              <a:latin typeface="Bahnschrift" panose="020B0502040204020203" pitchFamily="34" charset="0"/>
            </a:endParaRPr>
          </a:p>
        </p:txBody>
      </p:sp>
      <p:sp>
        <p:nvSpPr>
          <p:cNvPr id="5" name="TextBox 4">
            <a:extLst>
              <a:ext uri="{FF2B5EF4-FFF2-40B4-BE49-F238E27FC236}">
                <a16:creationId xmlns:a16="http://schemas.microsoft.com/office/drawing/2014/main" id="{63DB7A98-BD55-781F-F1E6-ECD79A1DCD85}"/>
              </a:ext>
            </a:extLst>
          </p:cNvPr>
          <p:cNvSpPr txBox="1"/>
          <p:nvPr/>
        </p:nvSpPr>
        <p:spPr>
          <a:xfrm>
            <a:off x="533399" y="990600"/>
            <a:ext cx="6641742" cy="430887"/>
          </a:xfrm>
          <a:prstGeom prst="rect">
            <a:avLst/>
          </a:prstGeom>
          <a:noFill/>
        </p:spPr>
        <p:txBody>
          <a:bodyPr wrap="square">
            <a:spAutoFit/>
          </a:bodyPr>
          <a:lstStyle/>
          <a:p>
            <a:pPr indent="0" algn="just">
              <a:buNone/>
            </a:pPr>
            <a:r>
              <a:rPr lang="en-GB" sz="1100" b="1" dirty="0">
                <a:solidFill>
                  <a:srgbClr val="109351"/>
                </a:solidFill>
                <a:latin typeface="+mj-lt"/>
              </a:rPr>
              <a:t>Fiscal policy affects final demand (i.e., total output and private investment) through directly: Govt. demand of G&amp;S and indirectly: fiscal impulse created by policy other expenditures in the short run.</a:t>
            </a:r>
          </a:p>
        </p:txBody>
      </p:sp>
      <p:sp>
        <p:nvSpPr>
          <p:cNvPr id="4" name="Content Placeholder 2">
            <a:extLst>
              <a:ext uri="{FF2B5EF4-FFF2-40B4-BE49-F238E27FC236}">
                <a16:creationId xmlns:a16="http://schemas.microsoft.com/office/drawing/2014/main" id="{3405CCB6-3EAB-86B7-B9A0-996D215F8076}"/>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13" name="TextBox 12">
            <a:extLst>
              <a:ext uri="{FF2B5EF4-FFF2-40B4-BE49-F238E27FC236}">
                <a16:creationId xmlns:a16="http://schemas.microsoft.com/office/drawing/2014/main" id="{DB203802-0949-98F8-C140-863EC1349BB6}"/>
              </a:ext>
            </a:extLst>
          </p:cNvPr>
          <p:cNvSpPr txBox="1"/>
          <p:nvPr/>
        </p:nvSpPr>
        <p:spPr>
          <a:xfrm>
            <a:off x="533400" y="1447800"/>
            <a:ext cx="7086600" cy="2481641"/>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demand of G&amp;S (direct effect) :</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2024, govt demand % GDP switches from above to below its structural trend (Implies negative govt demand for 2023-25, fading thereafter)</a:t>
            </a:r>
            <a:endParaRPr lang="en-US" sz="1200" b="1" dirty="0">
              <a:latin typeface="Bahnschrift Light" panose="020B0502040204020203" pitchFamily="34"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Government. Demand below structural trend: induced total GDP growth through  lower final consumption of G&amp;S (i.e. Govt consumption of imported &amp; domestic goods and wages)</a:t>
            </a:r>
          </a:p>
          <a:p>
            <a:pPr marL="171450" indent="-171450">
              <a:lnSpc>
                <a:spcPct val="150000"/>
              </a:lnSpc>
              <a:buFont typeface="Wingdings" panose="05000000000000000000" pitchFamily="2" charset="2"/>
              <a:buChar char="§"/>
            </a:pPr>
            <a:r>
              <a:rPr lang="en-US" sz="1200" dirty="0">
                <a:solidFill>
                  <a:schemeClr val="tx2"/>
                </a:solidFill>
                <a:latin typeface="Bahnschrift Light" panose="020B0502040204020203" pitchFamily="34" charset="0"/>
              </a:rPr>
              <a:t>Contractionary/consolidation policy of a lower deficit induce negative effect on final demand</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 1. lower consumption i.e., imports &amp; domestic goods &amp; services and wages) for 2023-25.</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2. Lower investment demand i.e., cut in Government. capital spending in development activities.</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3. Spillover into reduced public-private partnerships, hence lower private investment demand.</a:t>
            </a:r>
          </a:p>
        </p:txBody>
      </p:sp>
      <p:pic>
        <p:nvPicPr>
          <p:cNvPr id="7" name="Picture 6">
            <a:extLst>
              <a:ext uri="{FF2B5EF4-FFF2-40B4-BE49-F238E27FC236}">
                <a16:creationId xmlns:a16="http://schemas.microsoft.com/office/drawing/2014/main" id="{19BB792A-8E47-F2F6-608F-4284FF045278}"/>
              </a:ext>
            </a:extLst>
          </p:cNvPr>
          <p:cNvPicPr>
            <a:picLocks noChangeAspect="1"/>
          </p:cNvPicPr>
          <p:nvPr/>
        </p:nvPicPr>
        <p:blipFill>
          <a:blip r:embed="rId3"/>
          <a:stretch>
            <a:fillRect/>
          </a:stretch>
        </p:blipFill>
        <p:spPr>
          <a:xfrm>
            <a:off x="7772399" y="1066800"/>
            <a:ext cx="3921063" cy="2671644"/>
          </a:xfrm>
          <a:prstGeom prst="rect">
            <a:avLst/>
          </a:prstGeom>
          <a:ln>
            <a:solidFill>
              <a:schemeClr val="accent5">
                <a:lumMod val="20000"/>
                <a:lumOff val="80000"/>
              </a:schemeClr>
            </a:solidFill>
          </a:ln>
        </p:spPr>
      </p:pic>
      <p:sp>
        <p:nvSpPr>
          <p:cNvPr id="16" name="TextBox 15">
            <a:extLst>
              <a:ext uri="{FF2B5EF4-FFF2-40B4-BE49-F238E27FC236}">
                <a16:creationId xmlns:a16="http://schemas.microsoft.com/office/drawing/2014/main" id="{B4E1333C-3A83-53A3-20A1-53262D0F4599}"/>
              </a:ext>
            </a:extLst>
          </p:cNvPr>
          <p:cNvSpPr txBox="1"/>
          <p:nvPr/>
        </p:nvSpPr>
        <p:spPr>
          <a:xfrm>
            <a:off x="533399" y="3985553"/>
            <a:ext cx="7086600" cy="1993751"/>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other expenditures (indirect effect): </a:t>
            </a:r>
            <a:r>
              <a:rPr lang="en-US" sz="1200" b="1" i="1" dirty="0">
                <a:latin typeface="Bahnschrift Light" panose="020B0502040204020203" pitchFamily="34" charset="0"/>
              </a:rPr>
              <a:t>Fiscal impulse </a:t>
            </a:r>
            <a:r>
              <a:rPr lang="en-US" sz="1200" b="1" dirty="0">
                <a:latin typeface="Bahnschrift Light" panose="020B0502040204020203" pitchFamily="34" charset="0"/>
              </a:rPr>
              <a:t>to final demand</a:t>
            </a:r>
          </a:p>
          <a:p>
            <a:pPr marL="171450" indent="-171450">
              <a:lnSpc>
                <a:spcPct val="150000"/>
              </a:lnSpc>
              <a:buFont typeface="Wingdings" panose="05000000000000000000" pitchFamily="2" charset="2"/>
              <a:buChar char="§"/>
            </a:pPr>
            <a:r>
              <a:rPr lang="en-US" sz="1200" b="1" dirty="0">
                <a:latin typeface="Bahnschrift Light" panose="020B0502040204020203" pitchFamily="34" charset="0"/>
              </a:rPr>
              <a:t>Other Govt. expenditures(% of GDP) </a:t>
            </a:r>
            <a:r>
              <a:rPr lang="en-US" sz="1200" dirty="0">
                <a:latin typeface="Bahnschrift Light" panose="020B0502040204020203" pitchFamily="34" charset="0"/>
              </a:rPr>
              <a:t>temporary cut below structural spending level (5% of GDP) in 2024 before reintroduced back to normal level in 2025-28</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Movement in private investment, apart from own influence, is also driven by private consumption and exports through the output.</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Fiscal impulse makes a small portion of private investment; this is due to spillovers of other expenditures since government demand and investment is reflected in income.</a:t>
            </a:r>
          </a:p>
        </p:txBody>
      </p:sp>
      <p:pic>
        <p:nvPicPr>
          <p:cNvPr id="8" name="Picture 7">
            <a:extLst>
              <a:ext uri="{FF2B5EF4-FFF2-40B4-BE49-F238E27FC236}">
                <a16:creationId xmlns:a16="http://schemas.microsoft.com/office/drawing/2014/main" id="{49B3656A-8F18-BC22-274D-F9AA272CFBEE}"/>
              </a:ext>
            </a:extLst>
          </p:cNvPr>
          <p:cNvPicPr>
            <a:picLocks noChangeAspect="1"/>
          </p:cNvPicPr>
          <p:nvPr/>
        </p:nvPicPr>
        <p:blipFill>
          <a:blip r:embed="rId4"/>
          <a:stretch>
            <a:fillRect/>
          </a:stretch>
        </p:blipFill>
        <p:spPr>
          <a:xfrm>
            <a:off x="7772399" y="3875606"/>
            <a:ext cx="3921064" cy="2343582"/>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3789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5AA3-45A2-7DB1-CAA0-683A13346C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8B4F4E-4984-C848-B72B-7DC90542FCCE}"/>
              </a:ext>
            </a:extLst>
          </p:cNvPr>
          <p:cNvSpPr>
            <a:spLocks noGrp="1"/>
          </p:cNvSpPr>
          <p:nvPr>
            <p:ph type="sldNum" sz="quarter" idx="12"/>
          </p:nvPr>
        </p:nvSpPr>
        <p:spPr/>
        <p:txBody>
          <a:bodyPr/>
          <a:lstStyle/>
          <a:p>
            <a:fld id="{D97AE203-F84D-4A7F-B161-8561326BE072}" type="slidenum">
              <a:rPr lang="en-US" smtClean="0"/>
              <a:pPr/>
              <a:t>21</a:t>
            </a:fld>
            <a:endParaRPr lang="en-US" dirty="0"/>
          </a:p>
        </p:txBody>
      </p:sp>
      <p:sp>
        <p:nvSpPr>
          <p:cNvPr id="2" name="Title 1">
            <a:extLst>
              <a:ext uri="{FF2B5EF4-FFF2-40B4-BE49-F238E27FC236}">
                <a16:creationId xmlns:a16="http://schemas.microsoft.com/office/drawing/2014/main" id="{740CE92A-13E3-72A8-BA05-206DE0F2F409}"/>
              </a:ext>
            </a:extLst>
          </p:cNvPr>
          <p:cNvSpPr>
            <a:spLocks noGrp="1"/>
          </p:cNvSpPr>
          <p:nvPr>
            <p:ph type="title" idx="4294967295"/>
          </p:nvPr>
        </p:nvSpPr>
        <p:spPr>
          <a:xfrm>
            <a:off x="2781300" y="228600"/>
            <a:ext cx="6629400" cy="562005"/>
          </a:xfrm>
        </p:spPr>
        <p:txBody>
          <a:bodyPr>
            <a:normAutofit/>
          </a:bodyPr>
          <a:lstStyle/>
          <a:p>
            <a:pPr algn="ctr"/>
            <a:r>
              <a:rPr lang="en-US" sz="2400" b="1" dirty="0">
                <a:solidFill>
                  <a:srgbClr val="008BCC"/>
                </a:solidFill>
                <a:latin typeface="Bahnschrift" panose="020B0502040204020203" pitchFamily="34" charset="0"/>
              </a:rPr>
              <a:t>Nominal and Real Interest </a:t>
            </a:r>
            <a:r>
              <a:rPr lang="en-US" sz="2400" dirty="0">
                <a:solidFill>
                  <a:srgbClr val="008BCC"/>
                </a:solidFill>
              </a:rPr>
              <a:t>R</a:t>
            </a:r>
            <a:r>
              <a:rPr lang="en-US" sz="2400" b="1" dirty="0">
                <a:solidFill>
                  <a:srgbClr val="008BCC"/>
                </a:solidFill>
                <a:latin typeface="Bahnschrift" panose="020B0502040204020203" pitchFamily="34" charset="0"/>
              </a:rPr>
              <a:t>ates (Inter-Bank)</a:t>
            </a:r>
            <a:endParaRPr lang="en-AE" sz="2400" b="1" dirty="0">
              <a:solidFill>
                <a:srgbClr val="008BCC"/>
              </a:solidFill>
              <a:latin typeface="Bahnschrift" panose="020B0502040204020203" pitchFamily="34" charset="0"/>
            </a:endParaRPr>
          </a:p>
        </p:txBody>
      </p:sp>
      <p:pic>
        <p:nvPicPr>
          <p:cNvPr id="12" name="Picture 11">
            <a:extLst>
              <a:ext uri="{FF2B5EF4-FFF2-40B4-BE49-F238E27FC236}">
                <a16:creationId xmlns:a16="http://schemas.microsoft.com/office/drawing/2014/main" id="{11487125-CB8B-0E6E-7CAA-08402A61B9B7}"/>
              </a:ext>
            </a:extLst>
          </p:cNvPr>
          <p:cNvPicPr>
            <a:picLocks noChangeAspect="1"/>
          </p:cNvPicPr>
          <p:nvPr/>
        </p:nvPicPr>
        <p:blipFill>
          <a:blip r:embed="rId3"/>
          <a:stretch>
            <a:fillRect/>
          </a:stretch>
        </p:blipFill>
        <p:spPr>
          <a:xfrm>
            <a:off x="5867402" y="3851192"/>
            <a:ext cx="3047996" cy="2465940"/>
          </a:xfrm>
          <a:prstGeom prst="rect">
            <a:avLst/>
          </a:prstGeom>
          <a:ln>
            <a:solidFill>
              <a:schemeClr val="accent5">
                <a:lumMod val="20000"/>
                <a:lumOff val="80000"/>
              </a:schemeClr>
            </a:solidFill>
          </a:ln>
        </p:spPr>
      </p:pic>
      <p:pic>
        <p:nvPicPr>
          <p:cNvPr id="14" name="Picture 13">
            <a:extLst>
              <a:ext uri="{FF2B5EF4-FFF2-40B4-BE49-F238E27FC236}">
                <a16:creationId xmlns:a16="http://schemas.microsoft.com/office/drawing/2014/main" id="{C6394B84-7DF8-61F5-4EEC-A1A2773E864D}"/>
              </a:ext>
            </a:extLst>
          </p:cNvPr>
          <p:cNvPicPr>
            <a:picLocks noChangeAspect="1"/>
          </p:cNvPicPr>
          <p:nvPr/>
        </p:nvPicPr>
        <p:blipFill>
          <a:blip r:embed="rId4"/>
          <a:stretch>
            <a:fillRect/>
          </a:stretch>
        </p:blipFill>
        <p:spPr>
          <a:xfrm>
            <a:off x="5867402" y="1212796"/>
            <a:ext cx="3047996" cy="2546322"/>
          </a:xfrm>
          <a:prstGeom prst="rect">
            <a:avLst/>
          </a:prstGeom>
          <a:ln>
            <a:solidFill>
              <a:schemeClr val="accent5">
                <a:lumMod val="20000"/>
                <a:lumOff val="80000"/>
              </a:schemeClr>
            </a:solidFill>
          </a:ln>
        </p:spPr>
      </p:pic>
      <p:sp>
        <p:nvSpPr>
          <p:cNvPr id="4" name="TextBox 3">
            <a:extLst>
              <a:ext uri="{FF2B5EF4-FFF2-40B4-BE49-F238E27FC236}">
                <a16:creationId xmlns:a16="http://schemas.microsoft.com/office/drawing/2014/main" id="{A2233C93-9EE8-EA1B-FFC0-3CE93964E0E1}"/>
              </a:ext>
            </a:extLst>
          </p:cNvPr>
          <p:cNvSpPr txBox="1"/>
          <p:nvPr/>
        </p:nvSpPr>
        <p:spPr>
          <a:xfrm>
            <a:off x="448732" y="3352800"/>
            <a:ext cx="5266267" cy="1672253"/>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Real </a:t>
            </a:r>
            <a:r>
              <a:rPr lang="en-US" sz="1200" b="1" kern="100" dirty="0">
                <a:latin typeface="Bahnschrift" panose="020B0502040204020203" pitchFamily="34" charset="0"/>
                <a:ea typeface="Aptos" panose="020B0004020202020204" pitchFamily="34" charset="0"/>
                <a:cs typeface="Times New Roman" panose="02020603050405020304" pitchFamily="18" charset="0"/>
              </a:rPr>
              <a:t>IB and lending rates</a:t>
            </a:r>
            <a:endParaRPr lang="en-US"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74320" marR="0" indent="-274320">
              <a:spcAft>
                <a:spcPts val="0"/>
              </a:spcAft>
              <a:buFont typeface="Wingdings" panose="05000000000000000000" pitchFamily="2" charset="2"/>
              <a:buChar char="§"/>
            </a:pPr>
            <a:r>
              <a:rPr lang="en-US" sz="1200" kern="100" dirty="0">
                <a:latin typeface="Bahnschrift Light" panose="020B0502040204020203" pitchFamily="34" charset="0"/>
                <a:ea typeface="Aptos" panose="020B0004020202020204" pitchFamily="34" charset="0"/>
                <a:cs typeface="Times New Roman" panose="02020603050405020304" pitchFamily="18" charset="0"/>
              </a:rPr>
              <a:t>Forecast to increase gradually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from below-trend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levels during most of 2022-24, to trend level of around 4% for IB and 12% for lending rate (lending premium remaining around 8%)</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Real interest rates return to normal ending their demand-stimulating effect in past years</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Real lending rates mirror real policy rate through the transmission mechanism</a:t>
            </a:r>
          </a:p>
        </p:txBody>
      </p:sp>
      <p:sp>
        <p:nvSpPr>
          <p:cNvPr id="5" name="TextBox 4">
            <a:extLst>
              <a:ext uri="{FF2B5EF4-FFF2-40B4-BE49-F238E27FC236}">
                <a16:creationId xmlns:a16="http://schemas.microsoft.com/office/drawing/2014/main" id="{3B64A999-AB11-EEE9-6E1B-B231026DA423}"/>
              </a:ext>
            </a:extLst>
          </p:cNvPr>
          <p:cNvSpPr txBox="1"/>
          <p:nvPr/>
        </p:nvSpPr>
        <p:spPr>
          <a:xfrm>
            <a:off x="448732" y="5116803"/>
            <a:ext cx="5266267" cy="1200329"/>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latin typeface="Bahnschrift" panose="020B0502040204020203" pitchFamily="34" charset="0"/>
                <a:cs typeface="Times New Roman" panose="02020603050405020304" pitchFamily="18" charset="0"/>
              </a:rPr>
              <a:t>Interest rate “rule” used in forecast</a:t>
            </a:r>
          </a:p>
          <a:p>
            <a:pPr marL="0" marR="0">
              <a:spcAft>
                <a:spcPts val="0"/>
              </a:spcAft>
            </a:pPr>
            <a:r>
              <a:rPr lang="en-US" sz="1200" kern="100" dirty="0">
                <a:latin typeface="Bahnschrift Light" panose="020B0502040204020203" pitchFamily="34" charset="0"/>
                <a:cs typeface="Times New Roman" panose="02020603050405020304" pitchFamily="18" charset="0"/>
              </a:rPr>
              <a:t>Policy interest rate (interbank) responds to expected inflation deviation from target and output deviation from potential (subject to persistence) but tends to neutral rate, driven by world real interest rate, country premium and inflation target in Rwanda.</a:t>
            </a:r>
          </a:p>
          <a:p>
            <a:pPr marL="285750" lvl="1" indent="-285750">
              <a:spcAft>
                <a:spcPts val="0"/>
              </a:spcAft>
              <a:buFont typeface="Wingdings" panose="05000000000000000000" pitchFamily="2" charset="2"/>
              <a:buChar char="§"/>
            </a:pPr>
            <a:endParaRPr lang="en-US" sz="1200" kern="100" dirty="0">
              <a:latin typeface="Bahnschrift Light" panose="020B0502040204020203"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F651AC9-71F3-34C4-1D3C-47C54D75213C}"/>
              </a:ext>
            </a:extLst>
          </p:cNvPr>
          <p:cNvSpPr txBox="1"/>
          <p:nvPr/>
        </p:nvSpPr>
        <p:spPr>
          <a:xfrm>
            <a:off x="448732" y="1212796"/>
            <a:ext cx="5266268" cy="2041585"/>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a:t>
            </a:r>
            <a:r>
              <a:rPr lang="en-US" sz="1200" b="1" kern="100" dirty="0">
                <a:latin typeface="Bahnschrift" panose="020B0502040204020203" pitchFamily="34" charset="0"/>
                <a:ea typeface="Aptos" panose="020B0004020202020204" pitchFamily="34" charset="0"/>
                <a:cs typeface="Times New Roman" panose="02020603050405020304" pitchFamily="18" charset="0"/>
              </a:rPr>
              <a:t>olicy interest rate (IB rate), nominal terms</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p>
          <a:p>
            <a:pPr marL="285750" lvl="1" indent="-2857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increases totaling 2.5% points during 2022-24 in response to inflation, the IB rate forecast to be lowered in 2d half of 2024 as inflation abates</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In 2024-25, contractionary effect of fiscal consolidation should keep IB at below 7.5% </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2025, IB forecast to move up to above 8% in line with the neutral rate, in turn driven by increasing world real interest rate (1.5%, from negative until early 2023) and Rwanda’s country risk premium (2%) and target core inflation rate (4.5%)</a:t>
            </a:r>
          </a:p>
        </p:txBody>
      </p:sp>
      <p:pic>
        <p:nvPicPr>
          <p:cNvPr id="8" name="Picture 7">
            <a:extLst>
              <a:ext uri="{FF2B5EF4-FFF2-40B4-BE49-F238E27FC236}">
                <a16:creationId xmlns:a16="http://schemas.microsoft.com/office/drawing/2014/main" id="{33941B0B-6C74-9F1B-1D47-4FBDF68D979C}"/>
              </a:ext>
            </a:extLst>
          </p:cNvPr>
          <p:cNvPicPr>
            <a:picLocks noChangeAspect="1"/>
          </p:cNvPicPr>
          <p:nvPr/>
        </p:nvPicPr>
        <p:blipFill>
          <a:blip r:embed="rId5"/>
          <a:stretch>
            <a:fillRect/>
          </a:stretch>
        </p:blipFill>
        <p:spPr>
          <a:xfrm>
            <a:off x="9067801" y="1212796"/>
            <a:ext cx="2675467" cy="2546321"/>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E122A924-2093-B063-669B-08B8A646C0A8}"/>
              </a:ext>
            </a:extLst>
          </p:cNvPr>
          <p:cNvPicPr>
            <a:picLocks noChangeAspect="1"/>
          </p:cNvPicPr>
          <p:nvPr/>
        </p:nvPicPr>
        <p:blipFill>
          <a:blip r:embed="rId6"/>
          <a:stretch>
            <a:fillRect/>
          </a:stretch>
        </p:blipFill>
        <p:spPr>
          <a:xfrm>
            <a:off x="9067801" y="3851192"/>
            <a:ext cx="2675467" cy="246594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1956726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DFB9-FBDD-C647-A1B5-C6DE1DD770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58E160-C9E3-4CB4-5C39-D496B6916A4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A4FA52F1-C418-475A-DF3D-15623C05149D}"/>
              </a:ext>
            </a:extLst>
          </p:cNvPr>
          <p:cNvSpPr>
            <a:spLocks noGrp="1"/>
          </p:cNvSpPr>
          <p:nvPr>
            <p:ph type="title" idx="4294967295"/>
          </p:nvPr>
        </p:nvSpPr>
        <p:spPr>
          <a:xfrm>
            <a:off x="2819400" y="242888"/>
            <a:ext cx="6629400" cy="549275"/>
          </a:xfrm>
        </p:spPr>
        <p:txBody>
          <a:bodyPr/>
          <a:lstStyle/>
          <a:p>
            <a:r>
              <a:rPr lang="en-US" sz="2400" b="1" dirty="0">
                <a:solidFill>
                  <a:srgbClr val="008BCC"/>
                </a:solidFill>
                <a:latin typeface="Bahnschrift" panose="020B0502040204020203" pitchFamily="34" charset="0"/>
              </a:rPr>
              <a:t>Nominal and Real Exchange Rates (ER, RER)</a:t>
            </a:r>
            <a:endParaRPr lang="en-AE" sz="2400" b="1" dirty="0">
              <a:solidFill>
                <a:srgbClr val="008BCC"/>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76F6B2A1-3985-662A-F1C2-3AD6D3062C53}"/>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pic>
        <p:nvPicPr>
          <p:cNvPr id="12" name="Picture 11">
            <a:extLst>
              <a:ext uri="{FF2B5EF4-FFF2-40B4-BE49-F238E27FC236}">
                <a16:creationId xmlns:a16="http://schemas.microsoft.com/office/drawing/2014/main" id="{2D9D69CF-BE40-3B72-8E3A-A16EF5D22CBB}"/>
              </a:ext>
            </a:extLst>
          </p:cNvPr>
          <p:cNvPicPr>
            <a:picLocks noChangeAspect="1"/>
          </p:cNvPicPr>
          <p:nvPr/>
        </p:nvPicPr>
        <p:blipFill>
          <a:blip r:embed="rId2"/>
          <a:stretch>
            <a:fillRect/>
          </a:stretch>
        </p:blipFill>
        <p:spPr>
          <a:xfrm>
            <a:off x="5293856" y="1296366"/>
            <a:ext cx="3485664" cy="2411106"/>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EA9214C8-213B-4B88-5A0E-C119B6DDE9F3}"/>
              </a:ext>
            </a:extLst>
          </p:cNvPr>
          <p:cNvPicPr>
            <a:picLocks noChangeAspect="1"/>
          </p:cNvPicPr>
          <p:nvPr/>
        </p:nvPicPr>
        <p:blipFill>
          <a:blip r:embed="rId3"/>
          <a:stretch>
            <a:fillRect/>
          </a:stretch>
        </p:blipFill>
        <p:spPr>
          <a:xfrm>
            <a:off x="5293856" y="3856567"/>
            <a:ext cx="3485664" cy="2694557"/>
          </a:xfrm>
          <a:prstGeom prst="rect">
            <a:avLst/>
          </a:prstGeom>
          <a:ln>
            <a:solidFill>
              <a:schemeClr val="accent5">
                <a:lumMod val="20000"/>
                <a:lumOff val="80000"/>
              </a:schemeClr>
            </a:solidFill>
          </a:ln>
        </p:spPr>
      </p:pic>
      <p:sp>
        <p:nvSpPr>
          <p:cNvPr id="11" name="TextBox 10">
            <a:extLst>
              <a:ext uri="{FF2B5EF4-FFF2-40B4-BE49-F238E27FC236}">
                <a16:creationId xmlns:a16="http://schemas.microsoft.com/office/drawing/2014/main" id="{DC73D6CA-075C-1036-7F50-6E7391186EB5}"/>
              </a:ext>
            </a:extLst>
          </p:cNvPr>
          <p:cNvSpPr txBox="1"/>
          <p:nvPr/>
        </p:nvSpPr>
        <p:spPr>
          <a:xfrm>
            <a:off x="490240" y="3104798"/>
            <a:ext cx="4522028" cy="1902285"/>
          </a:xfrm>
          <a:prstGeom prst="rect">
            <a:avLst/>
          </a:prstGeom>
          <a:noFill/>
          <a:ln>
            <a:solidFill>
              <a:schemeClr val="accent5">
                <a:lumMod val="20000"/>
                <a:lumOff val="80000"/>
              </a:schemeClr>
            </a:solidFill>
          </a:ln>
        </p:spPr>
        <p:txBody>
          <a:bodyPr wrap="square">
            <a:noAutofit/>
          </a:bodyPr>
          <a:lstStyle>
            <a:defPPr>
              <a:defRPr lang="en-US"/>
            </a:defPPr>
            <a:lvl1pPr marL="0" marR="0">
              <a:lnSpc>
                <a:spcPct val="150000"/>
              </a:lnSpc>
              <a:spcAft>
                <a:spcPts val="800"/>
              </a:spcAft>
              <a:defRPr sz="1200" b="1" kern="100">
                <a:effectLst/>
                <a:latin typeface="Bahnschrift" panose="020B0502040204020203" pitchFamily="34" charset="0"/>
                <a:ea typeface="Aptos" panose="020B0004020202020204" pitchFamily="34" charset="0"/>
                <a:cs typeface="Times New Roman" panose="02020603050405020304" pitchFamily="18" charset="0"/>
              </a:defRPr>
            </a:lvl1pPr>
            <a:lvl2pPr marL="628650" lvl="1" indent="-171450">
              <a:lnSpc>
                <a:spcPct val="150000"/>
              </a:lnSpc>
              <a:spcAft>
                <a:spcPts val="800"/>
              </a:spcAft>
              <a:buFont typeface="Wingdings" panose="05000000000000000000" pitchFamily="2" charset="2"/>
              <a:buChar char="§"/>
              <a:defRPr sz="1200" kern="100">
                <a:latin typeface="Bahnschrift Light" panose="020B0502040204020203" pitchFamily="34" charset="0"/>
                <a:cs typeface="Times New Roman" panose="02020603050405020304" pitchFamily="18" charset="0"/>
              </a:defRPr>
            </a:lvl2pPr>
          </a:lstStyle>
          <a:p>
            <a:pPr>
              <a:lnSpc>
                <a:spcPct val="100000"/>
              </a:lnSpc>
              <a:spcAft>
                <a:spcPts val="0"/>
              </a:spcAft>
            </a:pPr>
            <a:r>
              <a:rPr lang="en-US" dirty="0"/>
              <a:t>Real Exchange Rate (RER):</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High-inflation episode of 2022-23 and slow ER adjustment led to a RER overvaluation.</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Accelerated NER depreciation in 2023-24 more than corrected for earlier overvaluation, leading to some undervaluation in the course of 2024 and beyond, with positive impact on net exports. </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Return to NER target path means RER gradually returns to steady state (no </a:t>
            </a:r>
            <a:r>
              <a:rPr lang="en-US" sz="1400" b="0" dirty="0">
                <a:latin typeface="Bahnschrift Light" panose="020B0502040204020203" pitchFamily="34" charset="0"/>
              </a:rPr>
              <a:t>over/undervaluation). </a:t>
            </a:r>
          </a:p>
        </p:txBody>
      </p:sp>
      <p:sp>
        <p:nvSpPr>
          <p:cNvPr id="13" name="TextBox 12">
            <a:extLst>
              <a:ext uri="{FF2B5EF4-FFF2-40B4-BE49-F238E27FC236}">
                <a16:creationId xmlns:a16="http://schemas.microsoft.com/office/drawing/2014/main" id="{A0469B6A-29C3-795C-0071-532C20E88836}"/>
              </a:ext>
            </a:extLst>
          </p:cNvPr>
          <p:cNvSpPr txBox="1"/>
          <p:nvPr/>
        </p:nvSpPr>
        <p:spPr>
          <a:xfrm>
            <a:off x="532572" y="1296366"/>
            <a:ext cx="4479695" cy="1716356"/>
          </a:xfrm>
          <a:prstGeom prst="rect">
            <a:avLst/>
          </a:prstGeom>
          <a:noFill/>
          <a:ln>
            <a:solidFill>
              <a:schemeClr val="accent5">
                <a:lumMod val="20000"/>
                <a:lumOff val="80000"/>
              </a:schemeClr>
            </a:solidFill>
          </a:ln>
        </p:spPr>
        <p:txBody>
          <a:bodyPr wrap="square">
            <a:no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Nominal Exchange Rates (NER):</a:t>
            </a:r>
          </a:p>
          <a:p>
            <a:pPr marL="171450" marR="0" indent="-1714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slow depreciation during inflationary episode of 2022-23—leading to real overvaluation—rate of depreciation accelerated from mid-2023 to end-2024.</a:t>
            </a:r>
          </a:p>
          <a:p>
            <a:pPr marL="171450" marR="0" indent="-1714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From 2025, ER forecast to return to ER target path of deprecation of some 3% per year, in line with inflation differentials, and no need for further RER depreciation, other things being equal.</a:t>
            </a:r>
          </a:p>
        </p:txBody>
      </p:sp>
      <p:sp>
        <p:nvSpPr>
          <p:cNvPr id="14" name="TextBox 13">
            <a:extLst>
              <a:ext uri="{FF2B5EF4-FFF2-40B4-BE49-F238E27FC236}">
                <a16:creationId xmlns:a16="http://schemas.microsoft.com/office/drawing/2014/main" id="{15A5176F-870F-9141-638F-A130501AADEC}"/>
              </a:ext>
            </a:extLst>
          </p:cNvPr>
          <p:cNvSpPr txBox="1"/>
          <p:nvPr/>
        </p:nvSpPr>
        <p:spPr>
          <a:xfrm>
            <a:off x="490239" y="5099159"/>
            <a:ext cx="4522028" cy="1439753"/>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0"/>
              </a:spcAft>
            </a:pPr>
            <a:r>
              <a:rPr lang="en-US" sz="1200" b="1" kern="100" dirty="0">
                <a:latin typeface="Bahnschrift" panose="020B0502040204020203" pitchFamily="34" charset="0"/>
                <a:cs typeface="Times New Roman" panose="02020603050405020304" pitchFamily="18" charset="0"/>
              </a:rPr>
              <a:t>Exchange rate “rule” used in forecast</a:t>
            </a:r>
            <a:r>
              <a:rPr lang="en-US" sz="1200" b="0" dirty="0">
                <a:latin typeface="Bahnschrift" panose="020B0502040204020203" pitchFamily="34" charset="0"/>
              </a:rPr>
              <a:t>:</a:t>
            </a:r>
          </a:p>
          <a:p>
            <a:pPr marR="0">
              <a:lnSpc>
                <a:spcPct val="150000"/>
              </a:lnSpc>
              <a:spcAft>
                <a:spcPts val="0"/>
              </a:spcAft>
            </a:pPr>
            <a:r>
              <a:rPr lang="en-US" sz="1200" b="0" dirty="0">
                <a:latin typeface="Bahnschrift Light" panose="020B0502040204020203" pitchFamily="34" charset="0"/>
              </a:rPr>
              <a:t>NER gradually moving with inflation differentials and steady state target RER depreciation rate (based on assessment of fundamentals), with only weak response to interest rate differentials.</a:t>
            </a:r>
            <a:endParaRPr lang="en-US" sz="1200" kern="100" dirty="0">
              <a:latin typeface="Bahnschrift Light" panose="020B0502040204020203"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5AADDCCC-B0AF-C7AC-CF3E-1095EA9EC622}"/>
              </a:ext>
            </a:extLst>
          </p:cNvPr>
          <p:cNvPicPr>
            <a:picLocks noChangeAspect="1"/>
          </p:cNvPicPr>
          <p:nvPr/>
        </p:nvPicPr>
        <p:blipFill>
          <a:blip r:embed="rId4"/>
          <a:stretch>
            <a:fillRect/>
          </a:stretch>
        </p:blipFill>
        <p:spPr>
          <a:xfrm>
            <a:off x="8875255" y="3856568"/>
            <a:ext cx="2912533" cy="2694556"/>
          </a:xfrm>
          <a:prstGeom prst="rect">
            <a:avLst/>
          </a:prstGeom>
          <a:ln>
            <a:solidFill>
              <a:schemeClr val="accent5">
                <a:lumMod val="20000"/>
                <a:lumOff val="80000"/>
              </a:schemeClr>
            </a:solidFill>
          </a:ln>
        </p:spPr>
      </p:pic>
      <p:pic>
        <p:nvPicPr>
          <p:cNvPr id="19" name="Picture 18">
            <a:extLst>
              <a:ext uri="{FF2B5EF4-FFF2-40B4-BE49-F238E27FC236}">
                <a16:creationId xmlns:a16="http://schemas.microsoft.com/office/drawing/2014/main" id="{C1A41C2D-3923-3577-CB97-7504AEF59895}"/>
              </a:ext>
            </a:extLst>
          </p:cNvPr>
          <p:cNvPicPr>
            <a:picLocks noChangeAspect="1"/>
          </p:cNvPicPr>
          <p:nvPr/>
        </p:nvPicPr>
        <p:blipFill>
          <a:blip r:embed="rId5"/>
          <a:stretch>
            <a:fillRect/>
          </a:stretch>
        </p:blipFill>
        <p:spPr>
          <a:xfrm>
            <a:off x="8875254" y="1296366"/>
            <a:ext cx="2912533" cy="239522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050810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9282-7046-C4D8-0D18-7B7D8433A4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75EB00-211B-0E7C-613E-8B4B3416D90E}"/>
              </a:ext>
            </a:extLst>
          </p:cNvPr>
          <p:cNvSpPr>
            <a:spLocks noGrp="1"/>
          </p:cNvSpPr>
          <p:nvPr>
            <p:ph type="sldNum" sz="quarter" idx="12"/>
          </p:nvPr>
        </p:nvSpPr>
        <p:spPr/>
        <p:txBody>
          <a:bodyPr/>
          <a:lstStyle/>
          <a:p>
            <a:fld id="{D97AE203-F84D-4A7F-B161-8561326BE072}" type="slidenum">
              <a:rPr lang="en-US" smtClean="0"/>
              <a:pPr/>
              <a:t>23</a:t>
            </a:fld>
            <a:endParaRPr lang="en-US" dirty="0"/>
          </a:p>
        </p:txBody>
      </p:sp>
      <p:sp>
        <p:nvSpPr>
          <p:cNvPr id="2" name="Title 1">
            <a:extLst>
              <a:ext uri="{FF2B5EF4-FFF2-40B4-BE49-F238E27FC236}">
                <a16:creationId xmlns:a16="http://schemas.microsoft.com/office/drawing/2014/main" id="{3E61E4B2-716E-3D87-F285-17B209CE8B46}"/>
              </a:ext>
            </a:extLst>
          </p:cNvPr>
          <p:cNvSpPr>
            <a:spLocks noGrp="1"/>
          </p:cNvSpPr>
          <p:nvPr>
            <p:ph type="title" idx="4294967295"/>
          </p:nvPr>
        </p:nvSpPr>
        <p:spPr>
          <a:xfrm>
            <a:off x="3276600" y="441325"/>
            <a:ext cx="5562600" cy="3968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VIII. Policies driving forecasts</a:t>
            </a:r>
          </a:p>
        </p:txBody>
      </p:sp>
      <p:sp>
        <p:nvSpPr>
          <p:cNvPr id="5" name="Content Placeholder 2">
            <a:extLst>
              <a:ext uri="{FF2B5EF4-FFF2-40B4-BE49-F238E27FC236}">
                <a16:creationId xmlns:a16="http://schemas.microsoft.com/office/drawing/2014/main" id="{2A66A508-DB28-B023-DC0E-D21FBF74CEDE}"/>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8" name="TextBox 7">
            <a:extLst>
              <a:ext uri="{FF2B5EF4-FFF2-40B4-BE49-F238E27FC236}">
                <a16:creationId xmlns:a16="http://schemas.microsoft.com/office/drawing/2014/main" id="{AB8F1E6C-DA97-4A9D-685D-B846CBEB5751}"/>
              </a:ext>
            </a:extLst>
          </p:cNvPr>
          <p:cNvSpPr txBox="1"/>
          <p:nvPr/>
        </p:nvSpPr>
        <p:spPr>
          <a:xfrm>
            <a:off x="609600" y="1219200"/>
            <a:ext cx="10896600" cy="4614084"/>
          </a:xfrm>
          <a:prstGeom prst="rect">
            <a:avLst/>
          </a:prstGeom>
          <a:noFill/>
          <a:ln>
            <a:solidFill>
              <a:schemeClr val="accent1">
                <a:lumMod val="40000"/>
                <a:lumOff val="60000"/>
              </a:schemeClr>
            </a:solidFill>
          </a:ln>
        </p:spPr>
        <p:txBody>
          <a:bodyPr wrap="square" rtlCol="0">
            <a:spAutoFit/>
          </a:bodyPr>
          <a:lstStyle/>
          <a:p>
            <a:pPr>
              <a:lnSpc>
                <a:spcPct val="150000"/>
              </a:lnSpc>
            </a:pPr>
            <a:r>
              <a:rPr lang="en-US" sz="2000" b="1" kern="100" dirty="0">
                <a:solidFill>
                  <a:srgbClr val="109351"/>
                </a:solidFill>
                <a:latin typeface="Bahnschrift" panose="020B0502040204020203" pitchFamily="34" charset="0"/>
                <a:ea typeface="Aptos" panose="020B0004020202020204" pitchFamily="34" charset="0"/>
                <a:cs typeface="Times New Roman" panose="02020603050405020304" pitchFamily="18" charset="0"/>
              </a:rPr>
              <a:t>Real Output growth:</a:t>
            </a:r>
            <a:endParaRPr lang="en-US" sz="1400" b="1" kern="100" dirty="0">
              <a:solidFill>
                <a:srgbClr val="109351"/>
              </a:solidFill>
              <a:latin typeface="Bahnschrift" panose="020B0502040204020203" pitchFamily="34" charset="0"/>
              <a:ea typeface="Aptos" panose="020B0004020202020204" pitchFamily="34" charset="0"/>
              <a:cs typeface="Times New Roman" panose="02020603050405020304" pitchFamily="18" charset="0"/>
            </a:endParaRPr>
          </a:p>
          <a:p>
            <a:pPr>
              <a:lnSpc>
                <a:spcPct val="150000"/>
              </a:lnSpc>
            </a:pPr>
            <a:r>
              <a:rPr lang="en-US" sz="1800" b="1" kern="100" dirty="0">
                <a:solidFill>
                  <a:prstClr val="black"/>
                </a:solidFill>
                <a:latin typeface="Bahnschrift" panose="020B0502040204020203" pitchFamily="34" charset="0"/>
                <a:ea typeface="Aptos" panose="020B0004020202020204" pitchFamily="34" charset="0"/>
                <a:cs typeface="Times New Roman" panose="02020603050405020304" pitchFamily="18" charset="0"/>
              </a:rPr>
              <a:t>S</a:t>
            </a:r>
            <a:r>
              <a:rPr kumimoji="0" lang="en-US" sz="1800" b="1" i="0" u="none" strike="noStrike" kern="100" cap="none" spc="0" normalizeH="0" baseline="0" noProof="0" dirty="0">
                <a:ln>
                  <a:noFill/>
                </a:ln>
                <a:solidFill>
                  <a:prstClr val="black"/>
                </a:solidFill>
                <a:effectLst/>
                <a:uLnTx/>
                <a:uFillTx/>
                <a:latin typeface="Bahnschrift" panose="020B0502040204020203" pitchFamily="34" charset="0"/>
                <a:ea typeface="Aptos" panose="020B0004020202020204" pitchFamily="34" charset="0"/>
                <a:cs typeface="Times New Roman" panose="02020603050405020304" pitchFamily="18" charset="0"/>
              </a:rPr>
              <a:t>lowdown in 2025-26: </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contraction</a:t>
            </a: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 fiscal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policy—</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strong fiscal consolidation </a:t>
            </a:r>
            <a:r>
              <a:rPr lang="en-US" sz="1800" kern="100" dirty="0" err="1">
                <a:solidFill>
                  <a:prstClr val="black"/>
                </a:solidFill>
                <a:latin typeface="Bahnschrift Light" panose="020B0502040204020203" pitchFamily="34" charset="0"/>
                <a:ea typeface="Aptos" panose="020B0004020202020204" pitchFamily="34" charset="0"/>
                <a:cs typeface="Times New Roman" panose="02020603050405020304" pitchFamily="18" charset="0"/>
              </a:rPr>
              <a:t>i.e</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 tight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govt demand for G&amp;S falls and negative fiscal impulse on private demand)</a:t>
            </a:r>
          </a:p>
          <a:p>
            <a:pPr marL="628650" lvl="1" indent="-171450">
              <a:lnSpc>
                <a:spcPct val="150000"/>
              </a:lnSpc>
              <a:buFont typeface="Wingdings" panose="05000000000000000000" pitchFamily="2" charset="2"/>
              <a:buChar char="§"/>
              <a:defRPr/>
            </a:pP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Monetary policy: T</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ight Real interest rates contracting demand</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Exchange rate: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Further RER depreciation to negatively affect net exports.</a:t>
            </a:r>
            <a:endParaRPr lang="en-US" sz="1800" kern="100" noProof="0" dirty="0">
              <a:solidFill>
                <a:prstClr val="black"/>
              </a:solidFill>
              <a:latin typeface="Bahnschrift Light" panose="020B0502040204020203" pitchFamily="34" charset="0"/>
              <a:ea typeface="Aptos" panose="020B0004020202020204" pitchFamily="34" charset="0"/>
              <a:cs typeface="Times New Roman" panose="02020603050405020304" pitchFamily="18" charset="0"/>
            </a:endParaRPr>
          </a:p>
          <a:p>
            <a:pPr lvl="1">
              <a:lnSpc>
                <a:spcPct val="150000"/>
              </a:lnSpc>
              <a:defRPr/>
            </a:pPr>
            <a:endParaRPr kumimoji="0" lang="en-RW"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endParaRPr>
          </a:p>
          <a:p>
            <a:pPr>
              <a:lnSpc>
                <a:spcPct val="150000"/>
              </a:lnSpc>
            </a:pPr>
            <a:r>
              <a:rPr lang="en-US" sz="1600" b="1" kern="100" dirty="0">
                <a:latin typeface="Bahnschrift" panose="020B0502040204020203" pitchFamily="34" charset="0"/>
                <a:ea typeface="Aptos" panose="020B0004020202020204" pitchFamily="34" charset="0"/>
                <a:cs typeface="Times New Roman" panose="02020603050405020304" pitchFamily="18" charset="0"/>
              </a:rPr>
              <a:t>C</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kern="100" dirty="0">
                <a:latin typeface="Bahnschrift Light" panose="020B0502040204020203" pitchFamily="34" charset="0"/>
                <a:ea typeface="Aptos" panose="020B0004020202020204" pitchFamily="34" charset="0"/>
                <a:cs typeface="Times New Roman" panose="02020603050405020304" pitchFamily="18" charset="0"/>
              </a:rPr>
              <a:t>expansionary</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 fiscal demand—end of fiscal consolidation (Govt demand pick up)</a:t>
            </a:r>
          </a:p>
          <a:p>
            <a:pPr marL="628650" lvl="1" indent="-171450">
              <a:lnSpc>
                <a:spcPct val="150000"/>
              </a:lnSpc>
              <a:buFont typeface="Wingdings" panose="05000000000000000000" pitchFamily="2" charset="2"/>
              <a:buChar char="§"/>
            </a:pP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Monetary policy: </a:t>
            </a:r>
            <a:r>
              <a:rPr lang="en-US" sz="1800" kern="100" dirty="0">
                <a:latin typeface="Bahnschrift Light" panose="020B0502040204020203" pitchFamily="34" charset="0"/>
                <a:ea typeface="Aptos" panose="020B0004020202020204" pitchFamily="34" charset="0"/>
                <a:cs typeface="Times New Roman" panose="02020603050405020304" pitchFamily="18" charset="0"/>
              </a:rPr>
              <a:t>Expansionary Real Interest Rate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Exchange rate: </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to exports</a:t>
            </a:r>
            <a:endParaRPr lang="en-US" sz="1800" b="1" kern="100" dirty="0">
              <a:effectLst/>
              <a:latin typeface="Bahnschrif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30538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24</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438400" y="647650"/>
            <a:ext cx="8839200" cy="5492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 Forecast evaluation (latest vs. new forecast)</a:t>
            </a: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DC14A58F-5106-C8F6-D986-844BA0772EDF}"/>
              </a:ext>
            </a:extLst>
          </p:cNvPr>
          <p:cNvSpPr txBox="1">
            <a:spLocks/>
          </p:cNvSpPr>
          <p:nvPr/>
        </p:nvSpPr>
        <p:spPr>
          <a:xfrm>
            <a:off x="2438400" y="1182012"/>
            <a:ext cx="7315200" cy="39687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rgbClr val="109351"/>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296A0F5-D0A6-542C-AF7D-0AC2B6E046F8}"/>
              </a:ext>
            </a:extLst>
          </p:cNvPr>
          <p:cNvSpPr txBox="1"/>
          <p:nvPr/>
        </p:nvSpPr>
        <p:spPr>
          <a:xfrm>
            <a:off x="7315200" y="1662450"/>
            <a:ext cx="4267200" cy="4341958"/>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600" b="1" u="sng" dirty="0">
                <a:solidFill>
                  <a:srgbClr val="109351"/>
                </a:solidFill>
                <a:latin typeface="Bahnschrift Light" panose="020B0502040204020203" pitchFamily="34" charset="0"/>
              </a:rPr>
              <a:t>Nov 2024 vs. Nov 2023 forecast</a:t>
            </a:r>
          </a:p>
          <a:p>
            <a:pPr>
              <a:lnSpc>
                <a:spcPct val="150000"/>
              </a:lnSpc>
            </a:pPr>
            <a:r>
              <a:rPr lang="en-US" sz="1600" b="1" i="1" dirty="0">
                <a:latin typeface="Bahnschrift Light" panose="020B0502040204020203" pitchFamily="34" charset="0"/>
              </a:rPr>
              <a:t>Effect of new observed data/info</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Lower output growth due to tight monetary and fiscal policy.</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More overvalued Exchange Rate (ER) leading to a higher ER depreciation. </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CPI turning to target and but accelerates after 2026.</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A lower budget deficit due to more consolidated fiscal policies.</a:t>
            </a:r>
          </a:p>
        </p:txBody>
      </p:sp>
      <p:pic>
        <p:nvPicPr>
          <p:cNvPr id="11" name="Picture 10">
            <a:extLst>
              <a:ext uri="{FF2B5EF4-FFF2-40B4-BE49-F238E27FC236}">
                <a16:creationId xmlns:a16="http://schemas.microsoft.com/office/drawing/2014/main" id="{F96C8263-8761-931D-87E5-DA8CB882AA4C}"/>
              </a:ext>
            </a:extLst>
          </p:cNvPr>
          <p:cNvPicPr>
            <a:picLocks noChangeAspect="1"/>
          </p:cNvPicPr>
          <p:nvPr/>
        </p:nvPicPr>
        <p:blipFill>
          <a:blip r:embed="rId3"/>
          <a:stretch>
            <a:fillRect/>
          </a:stretch>
        </p:blipFill>
        <p:spPr>
          <a:xfrm>
            <a:off x="1066800" y="1561953"/>
            <a:ext cx="6172200" cy="4648199"/>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220728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DAA0-2284-87D1-F321-AC0FD09E3C3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FF2078-3EB9-C5F0-7970-143EF934F074}"/>
              </a:ext>
            </a:extLst>
          </p:cNvPr>
          <p:cNvSpPr>
            <a:spLocks noGrp="1"/>
          </p:cNvSpPr>
          <p:nvPr>
            <p:ph type="sldNum" sz="quarter" idx="12"/>
          </p:nvPr>
        </p:nvSpPr>
        <p:spPr/>
        <p:txBody>
          <a:bodyPr/>
          <a:lstStyle/>
          <a:p>
            <a:fld id="{D97AE203-F84D-4A7F-B161-8561326BE072}" type="slidenum">
              <a:rPr lang="en-US" smtClean="0"/>
              <a:pPr/>
              <a:t>25</a:t>
            </a:fld>
            <a:endParaRPr lang="en-US" dirty="0"/>
          </a:p>
        </p:txBody>
      </p:sp>
      <p:sp>
        <p:nvSpPr>
          <p:cNvPr id="2" name="Title 1">
            <a:extLst>
              <a:ext uri="{FF2B5EF4-FFF2-40B4-BE49-F238E27FC236}">
                <a16:creationId xmlns:a16="http://schemas.microsoft.com/office/drawing/2014/main" id="{15C0F8AA-B97D-DC41-1036-94BDAA51A751}"/>
              </a:ext>
            </a:extLst>
          </p:cNvPr>
          <p:cNvSpPr>
            <a:spLocks noGrp="1"/>
          </p:cNvSpPr>
          <p:nvPr>
            <p:ph type="title" idx="4294967295"/>
          </p:nvPr>
        </p:nvSpPr>
        <p:spPr>
          <a:xfrm>
            <a:off x="2667000" y="746125"/>
            <a:ext cx="8839200" cy="3968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VIII. Model revision—Effect of recalibration</a:t>
            </a:r>
          </a:p>
        </p:txBody>
      </p:sp>
      <p:sp>
        <p:nvSpPr>
          <p:cNvPr id="5" name="Content Placeholder 2">
            <a:extLst>
              <a:ext uri="{FF2B5EF4-FFF2-40B4-BE49-F238E27FC236}">
                <a16:creationId xmlns:a16="http://schemas.microsoft.com/office/drawing/2014/main" id="{F4AF2C41-745B-2914-8149-03CBB7D6F627}"/>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85BD608F-C07F-6A6A-C26E-1E077561A3E8}"/>
              </a:ext>
            </a:extLst>
          </p:cNvPr>
          <p:cNvSpPr txBox="1">
            <a:spLocks/>
          </p:cNvSpPr>
          <p:nvPr/>
        </p:nvSpPr>
        <p:spPr>
          <a:xfrm>
            <a:off x="2671482" y="1206434"/>
            <a:ext cx="6019800" cy="33890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rgbClr val="109351"/>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D9FA967-B138-F6ED-6048-1680A554DAB6}"/>
              </a:ext>
            </a:extLst>
          </p:cNvPr>
          <p:cNvSpPr txBox="1"/>
          <p:nvPr/>
        </p:nvSpPr>
        <p:spPr>
          <a:xfrm>
            <a:off x="7315200" y="1842404"/>
            <a:ext cx="4166140" cy="4480457"/>
          </a:xfrm>
          <a:prstGeom prst="rect">
            <a:avLst/>
          </a:prstGeom>
          <a:noFill/>
          <a:ln>
            <a:solidFill>
              <a:schemeClr val="accent1">
                <a:lumMod val="40000"/>
                <a:lumOff val="60000"/>
              </a:schemeClr>
            </a:solidFill>
          </a:ln>
        </p:spPr>
        <p:txBody>
          <a:bodyPr wrap="square" rtlCol="0">
            <a:spAutoFit/>
          </a:bodyPr>
          <a:lstStyle/>
          <a:p>
            <a:pPr>
              <a:lnSpc>
                <a:spcPct val="150000"/>
              </a:lnSpc>
            </a:pPr>
            <a:r>
              <a:rPr lang="en-US" sz="1800" b="1" u="sng" dirty="0">
                <a:solidFill>
                  <a:srgbClr val="008BCC"/>
                </a:solidFill>
                <a:latin typeface="Bahnschrift" panose="020B0502040204020203" pitchFamily="34" charset="0"/>
              </a:rPr>
              <a:t>Nov 2024 vs. Sept 2023 forecasts</a:t>
            </a:r>
          </a:p>
          <a:p>
            <a:pPr algn="just">
              <a:lnSpc>
                <a:spcPct val="150000"/>
              </a:lnSpc>
            </a:pPr>
            <a:r>
              <a:rPr lang="en-GB" sz="1600" b="1" dirty="0">
                <a:latin typeface="Bahnschrift" panose="020B0502040204020203" pitchFamily="34" charset="0"/>
              </a:rPr>
              <a:t>Effect of parameter recalibration (Incl. IB rate response to inflation and output gap, UIP and Core CPI persistence) </a:t>
            </a:r>
          </a:p>
          <a:p>
            <a:pPr marL="285750" indent="-285750">
              <a:lnSpc>
                <a:spcPct val="150000"/>
              </a:lnSpc>
              <a:buFont typeface="Wingdings" panose="05000000000000000000" pitchFamily="2" charset="2"/>
              <a:buChar char="§"/>
            </a:pPr>
            <a:r>
              <a:rPr lang="en-US" sz="1400" dirty="0">
                <a:latin typeface="Bahnschrif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A less overvalued Exchange Rate (ER)—A less ER depreciation </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CPI turning to target and more accelerated post-2026.</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Higher GDP growth due to less tight monetary policy.</a:t>
            </a:r>
          </a:p>
        </p:txBody>
      </p:sp>
      <p:pic>
        <p:nvPicPr>
          <p:cNvPr id="11" name="Picture 10">
            <a:extLst>
              <a:ext uri="{FF2B5EF4-FFF2-40B4-BE49-F238E27FC236}">
                <a16:creationId xmlns:a16="http://schemas.microsoft.com/office/drawing/2014/main" id="{651487EB-3E0C-689D-01C9-02AECF465EC0}"/>
              </a:ext>
            </a:extLst>
          </p:cNvPr>
          <p:cNvPicPr>
            <a:picLocks noChangeAspect="1"/>
          </p:cNvPicPr>
          <p:nvPr/>
        </p:nvPicPr>
        <p:blipFill>
          <a:blip r:embed="rId3"/>
          <a:srcRect b="51184"/>
          <a:stretch/>
        </p:blipFill>
        <p:spPr>
          <a:xfrm>
            <a:off x="710660" y="1838394"/>
            <a:ext cx="6452140" cy="2314496"/>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EEA1F833-1F89-4ED3-3DC5-CEC3629E0097}"/>
              </a:ext>
            </a:extLst>
          </p:cNvPr>
          <p:cNvPicPr>
            <a:picLocks noChangeAspect="1"/>
          </p:cNvPicPr>
          <p:nvPr/>
        </p:nvPicPr>
        <p:blipFill>
          <a:blip r:embed="rId3"/>
          <a:srcRect t="60066"/>
          <a:stretch/>
        </p:blipFill>
        <p:spPr>
          <a:xfrm>
            <a:off x="710660" y="4152890"/>
            <a:ext cx="6452140" cy="1893332"/>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2445127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C0E1-48DC-7EBC-571E-D6698B3A83F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7FC8E6-53C0-AEAE-30EB-28ABFD8598A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9656A725-3CE2-543A-41F0-760D0008F6E1}"/>
              </a:ext>
            </a:extLst>
          </p:cNvPr>
          <p:cNvSpPr>
            <a:spLocks noGrp="1"/>
          </p:cNvSpPr>
          <p:nvPr>
            <p:ph type="title" idx="4294967295"/>
          </p:nvPr>
        </p:nvSpPr>
        <p:spPr>
          <a:xfrm>
            <a:off x="1752600" y="838200"/>
            <a:ext cx="9220200" cy="750888"/>
          </a:xfrm>
        </p:spPr>
        <p:txBody>
          <a:bodyPr>
            <a:normAutofit/>
          </a:bodyPr>
          <a:lstStyle/>
          <a:p>
            <a:pPr>
              <a:lnSpc>
                <a:spcPct val="150000"/>
              </a:lnSpc>
            </a:pPr>
            <a:r>
              <a:rPr lang="en-US" sz="2800" b="1" dirty="0">
                <a:solidFill>
                  <a:srgbClr val="008BCC"/>
                </a:solidFill>
                <a:latin typeface="Bahnschrift" panose="020B0502040204020203" pitchFamily="34" charset="0"/>
                <a:cs typeface="+mn-cs"/>
              </a:rPr>
              <a:t>VI. Inputs for intMF projections &amp; discussions </a:t>
            </a:r>
            <a:r>
              <a:rPr lang="en-US" sz="2800" i="1" dirty="0">
                <a:solidFill>
                  <a:srgbClr val="008BCC"/>
                </a:solidFill>
                <a:latin typeface="Bahnschrift" panose="020B0502040204020203" pitchFamily="34" charset="0"/>
                <a:cs typeface="+mn-cs"/>
              </a:rPr>
              <a:t>(template)</a:t>
            </a:r>
            <a:endParaRPr lang="en-GB" sz="2800" i="1" dirty="0">
              <a:solidFill>
                <a:srgbClr val="008BCC"/>
              </a:solidFill>
              <a:latin typeface="Bahnschrift" panose="020B0502040204020203" pitchFamily="34" charset="0"/>
              <a:cs typeface="+mn-cs"/>
            </a:endParaRPr>
          </a:p>
        </p:txBody>
      </p:sp>
      <p:sp>
        <p:nvSpPr>
          <p:cNvPr id="10" name="Content Placeholder 2">
            <a:extLst>
              <a:ext uri="{FF2B5EF4-FFF2-40B4-BE49-F238E27FC236}">
                <a16:creationId xmlns:a16="http://schemas.microsoft.com/office/drawing/2014/main" id="{994A4649-2D17-7D9C-C4CD-020D4DB02760}"/>
              </a:ext>
            </a:extLst>
          </p:cNvPr>
          <p:cNvSpPr txBox="1">
            <a:spLocks/>
          </p:cNvSpPr>
          <p:nvPr/>
        </p:nvSpPr>
        <p:spPr>
          <a:xfrm>
            <a:off x="609600" y="1828800"/>
            <a:ext cx="11049000" cy="4419600"/>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0"/>
              </a:spcBef>
              <a:spcAft>
                <a:spcPts val="600"/>
              </a:spcAft>
              <a:buClr>
                <a:srgbClr val="00B0F0"/>
              </a:buClr>
              <a:buSzPct val="76000"/>
              <a:buFont typeface="Wingdings 3" charset="2"/>
              <a:buNone/>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QMFM forecast is an independent assessment of macro-outlook—incl. interaction of macro policies. Its demand-driven approach complements the mainly supply-driven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projection</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Real GDP</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contractionary impact of fiscal deficit reduction and RIR increase in 2025-26 suggest downward adjustment of GDP growth from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sum of sectoral growth rates:</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GDP growth around 6% in 2025-26 before catch up to 8-9% in 2027-28</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CPI</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the negative impact on demand of the restrictive policies—more than offsetting price-increasing effect of fast NER depreciation—should lead to subdued inflation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CPI rate below 5%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Private demand</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restrictive policies slow down private investment/consumption growth, to consider in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where investment growth is a guess and consumption residual:</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consumption growth much below trend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real investment growth 5-6%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Imports G&amp;S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following domestic demand and GDP—compounded by recent strong RER depreciation--real imports growth is forecast to dip much below trend in 2025-26:   :</a:t>
            </a:r>
          </a:p>
          <a:p>
            <a:pPr marL="1096963" marR="0" lvl="3" indent="-228600" algn="just" defTabSz="914400" rtl="0" eaLnBrk="0" fontAlgn="base" latinLnBrk="0" hangingPunct="0">
              <a:lnSpc>
                <a:spcPct val="100000"/>
              </a:lnSpc>
              <a:spcBef>
                <a:spcPts val="0"/>
              </a:spcBef>
              <a:spcAft>
                <a:spcPct val="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import growth +6% in 2025-26 as check against </a:t>
            </a:r>
            <a:r>
              <a:rPr kumimoji="0" lang="en-GB" sz="1600" b="0" i="0" u="none" strike="noStrike" kern="1200" cap="none" spc="0" normalizeH="0" baseline="0" noProof="0" dirty="0" err="1">
                <a:ln>
                  <a:noFill/>
                </a:ln>
                <a:solidFill>
                  <a:srgbClr val="29C000">
                    <a:lumMod val="75000"/>
                  </a:srgbClr>
                </a:solidFill>
                <a:effectLst/>
                <a:uLnTx/>
                <a:uFillTx/>
                <a:latin typeface="Bahnschrift Light" panose="020B0502040204020203" pitchFamily="34" charset="0"/>
              </a:rPr>
              <a:t>BoP’s</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sum of import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p:txBody>
      </p:sp>
    </p:spTree>
    <p:extLst>
      <p:ext uri="{BB962C8B-B14F-4D97-AF65-F5344CB8AC3E}">
        <p14:creationId xmlns:p14="http://schemas.microsoft.com/office/powerpoint/2010/main" val="1835421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CDDF-C674-4275-B139-0622D56D1AF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377FB4-13FA-AF27-7601-0066DDD2D74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B83C9B37-6A39-4450-A5EC-7697F498AF66}"/>
              </a:ext>
            </a:extLst>
          </p:cNvPr>
          <p:cNvSpPr>
            <a:spLocks noGrp="1"/>
          </p:cNvSpPr>
          <p:nvPr>
            <p:ph type="title" idx="4294967295"/>
          </p:nvPr>
        </p:nvSpPr>
        <p:spPr>
          <a:xfrm>
            <a:off x="1752600" y="576261"/>
            <a:ext cx="10439400" cy="750888"/>
          </a:xfrm>
        </p:spPr>
        <p:txBody>
          <a:bodyPr>
            <a:noAutofit/>
          </a:bodyPr>
          <a:lstStyle/>
          <a:p>
            <a:pPr>
              <a:lnSpc>
                <a:spcPct val="150000"/>
              </a:lnSpc>
            </a:pPr>
            <a:r>
              <a:rPr lang="en-US" sz="2800" b="1" dirty="0">
                <a:solidFill>
                  <a:srgbClr val="008BCC"/>
                </a:solidFill>
                <a:latin typeface="Bahnschrift" panose="020B0502040204020203" pitchFamily="34" charset="0"/>
                <a:cs typeface="+mn-cs"/>
              </a:rPr>
              <a:t>VI. Inputs for intMF projections &amp; discussions (cont’d) </a:t>
            </a:r>
            <a:r>
              <a:rPr lang="en-US" sz="2800" i="1" dirty="0">
                <a:solidFill>
                  <a:srgbClr val="008BCC"/>
                </a:solidFill>
                <a:latin typeface="Bahnschrift" panose="020B0502040204020203" pitchFamily="34" charset="0"/>
                <a:cs typeface="+mn-cs"/>
              </a:rPr>
              <a:t>(template)</a:t>
            </a:r>
            <a:endParaRPr lang="en-GB" sz="2800" i="1" dirty="0">
              <a:solidFill>
                <a:srgbClr val="008BCC"/>
              </a:solidFill>
              <a:latin typeface="Bahnschrift" panose="020B0502040204020203" pitchFamily="34" charset="0"/>
              <a:cs typeface="+mn-cs"/>
            </a:endParaRPr>
          </a:p>
        </p:txBody>
      </p:sp>
      <p:sp>
        <p:nvSpPr>
          <p:cNvPr id="10" name="Content Placeholder 2">
            <a:extLst>
              <a:ext uri="{FF2B5EF4-FFF2-40B4-BE49-F238E27FC236}">
                <a16:creationId xmlns:a16="http://schemas.microsoft.com/office/drawing/2014/main" id="{4E069DDE-7F8E-54BD-BA51-923F487E69FE}"/>
              </a:ext>
            </a:extLst>
          </p:cNvPr>
          <p:cNvSpPr txBox="1">
            <a:spLocks/>
          </p:cNvSpPr>
          <p:nvPr/>
        </p:nvSpPr>
        <p:spPr>
          <a:xfrm>
            <a:off x="609600" y="1509712"/>
            <a:ext cx="10896600" cy="4772027"/>
          </a:xfrm>
          <a:prstGeom prst="rect">
            <a:avLst/>
          </a:prstGeom>
          <a:ln>
            <a:solidFill>
              <a:schemeClr val="accent1">
                <a:lumMod val="40000"/>
                <a:lumOff val="6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Exports G&amp;S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export growth is forecast to return to trend after dip in 2024, helped by recent strong RER depreciation:</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export growth </a:t>
            </a:r>
            <a:r>
              <a:rPr kumimoji="0" lang="en-GB" sz="1400" b="0" i="0" u="sng" strike="noStrike" kern="1200" cap="none" spc="0" normalizeH="0" baseline="0" noProof="0" dirty="0">
                <a:ln>
                  <a:noFill/>
                </a:ln>
                <a:solidFill>
                  <a:srgbClr val="29C000">
                    <a:lumMod val="75000"/>
                  </a:srgbClr>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10% in 2025-26 as check against BoP’s sum of export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Fiscal path</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2024/25─2025/26 reflects PCI fiscal program targets (in % GDP). But the forecast from 2026/27 reflects premise that the deficit and its components be allowed to move gradually to their sustainable levels (for deficit 7.5% of GDP, before grants of 2.5%):</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return to sustainable deficit (and components) of 7.5% of GDP from 2026/27</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Exchange rate</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the forecast reflects NBR’s rule of return to ER path that first corrects for RER overvaluation, then for inflation differential with trading partners (</a:t>
            </a:r>
            <a:r>
              <a:rPr kumimoji="0" lang="en-GB" sz="1400" b="0" i="0" u="sng" strike="noStrike" kern="1200" cap="none" spc="0" normalizeH="0" baseline="0" noProof="0" dirty="0">
                <a:ln>
                  <a:noFill/>
                </a:ln>
                <a:solidFill>
                  <a:prstClr val="black"/>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3% </a:t>
            </a:r>
            <a:r>
              <a:rPr kumimoji="0" lang="en-GB" sz="1400" b="0" i="0" u="none" strike="noStrike" kern="1200" cap="none" spc="0" normalizeH="0" baseline="0" noProof="0" dirty="0" err="1">
                <a:ln>
                  <a:noFill/>
                </a:ln>
                <a:solidFill>
                  <a:prstClr val="black"/>
                </a:solidFill>
                <a:effectLst/>
                <a:uLnTx/>
                <a:uFillTx/>
                <a:latin typeface="Bahnschrift Light" panose="020B0502040204020203" pitchFamily="34" charset="0"/>
              </a:rPr>
              <a:t>py</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The 2022-23 RER overvaluation (due to the inflation surge) was more than corrected in 2024:</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much smaller NER depreciation rate than in 2023-24, i.e. of some 2% p.y.</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Real interest rate</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forecast reflects a rise back to ‘normal’ for real policy (IB) and lending rates (</a:t>
            </a:r>
            <a:r>
              <a:rPr kumimoji="0" lang="en-GB" sz="1400" b="0" i="0" u="sng" strike="noStrike" kern="1200" cap="none" spc="0" normalizeH="0" baseline="0" noProof="0" dirty="0">
                <a:ln>
                  <a:noFill/>
                </a:ln>
                <a:solidFill>
                  <a:prstClr val="black"/>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8% points above real IB) as NBR raised interest rates and inflation plunged in 2024. The RIR rise has contributed to demand restraint in 2024-26. Beyond 2026, RIR reflect higher world RIR (1.5% from 2026, compared to 0% in 2023).</a:t>
            </a:r>
          </a:p>
          <a:p>
            <a:pPr marL="1096963" marR="0" lvl="3" indent="-228600" algn="just" defTabSz="914400" rtl="0" eaLnBrk="0" fontAlgn="base" latinLnBrk="0" hangingPunct="0">
              <a:lnSpc>
                <a:spcPct val="150000"/>
              </a:lnSpc>
              <a:spcBef>
                <a:spcPts val="0"/>
              </a:spcBef>
              <a:spcAft>
                <a:spcPts val="60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how does the forecast RIR affect real private domestic demand?</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p:txBody>
      </p:sp>
    </p:spTree>
    <p:extLst>
      <p:ext uri="{BB962C8B-B14F-4D97-AF65-F5344CB8AC3E}">
        <p14:creationId xmlns:p14="http://schemas.microsoft.com/office/powerpoint/2010/main" val="2299175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rgbClr val="008BCC"/>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rgbClr val="10935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70382D-03F1-B037-8AF8-AE56371093B4}"/>
              </a:ext>
            </a:extLst>
          </p:cNvPr>
          <p:cNvSpPr>
            <a:spLocks noGrp="1"/>
          </p:cNvSpPr>
          <p:nvPr>
            <p:ph type="sldNum" sz="quarter" idx="12"/>
          </p:nvPr>
        </p:nvSpPr>
        <p:spPr/>
        <p:txBody>
          <a:bodyPr/>
          <a:lstStyle/>
          <a:p>
            <a:fld id="{D97AE203-F84D-4A7F-B161-8561326BE072}" type="slidenum">
              <a:rPr lang="en-US" smtClean="0"/>
              <a:pPr/>
              <a:t>29</a:t>
            </a:fld>
            <a:endParaRPr lang="en-US" dirty="0"/>
          </a:p>
        </p:txBody>
      </p:sp>
      <p:sp>
        <p:nvSpPr>
          <p:cNvPr id="2" name="Title 1">
            <a:extLst>
              <a:ext uri="{FF2B5EF4-FFF2-40B4-BE49-F238E27FC236}">
                <a16:creationId xmlns:a16="http://schemas.microsoft.com/office/drawing/2014/main" id="{60C3556C-239C-2032-A4AB-F5EC73F0A12B}"/>
              </a:ext>
            </a:extLst>
          </p:cNvPr>
          <p:cNvSpPr>
            <a:spLocks noGrp="1"/>
          </p:cNvSpPr>
          <p:nvPr>
            <p:ph type="title" idx="4294967295"/>
          </p:nvPr>
        </p:nvSpPr>
        <p:spPr>
          <a:xfrm>
            <a:off x="2819400" y="760926"/>
            <a:ext cx="7010400" cy="609600"/>
          </a:xfrm>
        </p:spPr>
        <p:txBody>
          <a:bodyPr>
            <a:noAutofit/>
          </a:bodyPr>
          <a:lstStyle/>
          <a:p>
            <a:pPr>
              <a:lnSpc>
                <a:spcPct val="150000"/>
              </a:lnSpc>
            </a:pPr>
            <a:r>
              <a:rPr lang="en-US" sz="2800" b="1" dirty="0">
                <a:solidFill>
                  <a:srgbClr val="008BCC"/>
                </a:solidFill>
                <a:latin typeface="Bahnschrift" panose="020B0502040204020203" pitchFamily="34" charset="0"/>
                <a:cs typeface="+mn-cs"/>
              </a:rPr>
              <a:t>X. Data issues and requests &amp; suggestions</a:t>
            </a:r>
            <a:endParaRPr lang="en-RW" sz="2800" b="1" dirty="0">
              <a:solidFill>
                <a:srgbClr val="008BCC"/>
              </a:solidFill>
              <a:latin typeface="Bahnschrift" panose="020B0502040204020203" pitchFamily="34" charset="0"/>
              <a:cs typeface="+mn-cs"/>
            </a:endParaRPr>
          </a:p>
        </p:txBody>
      </p:sp>
      <p:sp>
        <p:nvSpPr>
          <p:cNvPr id="5" name="TextBox 4">
            <a:extLst>
              <a:ext uri="{FF2B5EF4-FFF2-40B4-BE49-F238E27FC236}">
                <a16:creationId xmlns:a16="http://schemas.microsoft.com/office/drawing/2014/main" id="{95F7979F-7F8C-8730-D214-36B5AA930C70}"/>
              </a:ext>
            </a:extLst>
          </p:cNvPr>
          <p:cNvSpPr txBox="1"/>
          <p:nvPr/>
        </p:nvSpPr>
        <p:spPr>
          <a:xfrm>
            <a:off x="1092200" y="1638766"/>
            <a:ext cx="10896600" cy="3831818"/>
          </a:xfrm>
          <a:prstGeom prst="rect">
            <a:avLst/>
          </a:prstGeom>
          <a:noFill/>
        </p:spPr>
        <p:txBody>
          <a:bodyPr wrap="square">
            <a:spAutoFit/>
          </a:bodyPr>
          <a:lstStyle/>
          <a:p>
            <a:pPr algn="just">
              <a:spcBef>
                <a:spcPts val="0"/>
              </a:spcBef>
              <a:spcAft>
                <a:spcPts val="0"/>
              </a:spcAft>
            </a:pPr>
            <a:r>
              <a:rPr lang="en-US" sz="1800" b="1" dirty="0">
                <a:solidFill>
                  <a:srgbClr val="109351"/>
                </a:solidFill>
                <a:latin typeface="Bahnschrift Light" panose="020B0502040204020203" pitchFamily="34" charset="0"/>
              </a:rPr>
              <a:t>Model/Outlook data issues to be addressed</a:t>
            </a:r>
          </a:p>
          <a:p>
            <a:pPr algn="just">
              <a:spcBef>
                <a:spcPts val="0"/>
              </a:spcBef>
              <a:spcAft>
                <a:spcPts val="0"/>
              </a:spcAft>
            </a:pPr>
            <a:endParaRPr lang="en-US" sz="1800" b="1" dirty="0">
              <a:solidFill>
                <a:srgbClr val="0070C0"/>
              </a:solidFill>
              <a:latin typeface="Bahnschrift Light" panose="020B0502040204020203" pitchFamily="34" charset="0"/>
            </a:endParaRP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intMF – fiscal: accurate govt demand for G&amp;S, more timely and reliable Q data, timely Q treasury plan</a:t>
            </a:r>
          </a:p>
          <a:p>
            <a:pPr>
              <a:spcAft>
                <a:spcPts val="800"/>
              </a:spcAft>
            </a:pPr>
            <a:r>
              <a:rPr lang="en-US" sz="1800" dirty="0">
                <a:latin typeface="Bahnschrift Light" panose="020B0502040204020203" pitchFamily="34" charset="0"/>
                <a:ea typeface="Calibri" panose="020F0502020204030204" pitchFamily="34" charset="0"/>
                <a:cs typeface="Times New Roman" panose="02020603050405020304" pitchFamily="18" charset="0"/>
              </a:rPr>
              <a:t>	– debt: timely &amp; complete Q data (showing IMF separately) and projections integrated into intMF</a:t>
            </a: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NA/NISR – discrepancies/anomalies Govt consumption, investment, inventories, final demand deflators</a:t>
            </a: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NBR – more timely Q BoP data, as input for models and intMF </a:t>
            </a:r>
          </a:p>
          <a:p>
            <a:pPr>
              <a:spcAft>
                <a:spcPts val="800"/>
              </a:spcAft>
            </a:pPr>
            <a:r>
              <a:rPr lang="en-US" sz="1800" dirty="0">
                <a:latin typeface="Bahnschrift Light" panose="020B0502040204020203" pitchFamily="34" charset="0"/>
                <a:cs typeface="Times New Roman" panose="02020603050405020304" pitchFamily="18" charset="0"/>
              </a:rPr>
              <a:t>                 NBR-FPAS results, </a:t>
            </a:r>
            <a:r>
              <a:rPr lang="en-US" sz="1800" dirty="0">
                <a:latin typeface="Bahnschrift Light" panose="020B0502040204020203" pitchFamily="34" charset="0"/>
                <a:ea typeface="Calibri" panose="020F0502020204030204" pitchFamily="34" charset="0"/>
                <a:cs typeface="Times New Roman" panose="02020603050405020304" pitchFamily="18" charset="0"/>
              </a:rPr>
              <a:t>analysis of potential output, </a:t>
            </a:r>
            <a:r>
              <a:rPr lang="en-US" sz="1800" dirty="0">
                <a:latin typeface="Bahnschrift Light" panose="020B0502040204020203" pitchFamily="34" charset="0"/>
                <a:cs typeface="Times New Roman" panose="02020603050405020304" pitchFamily="18" charset="0"/>
              </a:rPr>
              <a:t>international interest rates (GPM)</a:t>
            </a:r>
          </a:p>
          <a:p>
            <a:pPr marL="285750" indent="-28575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WEOGAS &amp; GEE in right format– timely sharing by IMF staff,  QoQ projection instead of  YoY</a:t>
            </a:r>
            <a:endParaRPr lang="en-US" sz="1800" b="1" dirty="0">
              <a:solidFill>
                <a:srgbClr val="0070C0"/>
              </a:solidFill>
              <a:latin typeface="Bahnschrift Light" panose="020B0502040204020203" pitchFamily="34" charset="0"/>
            </a:endParaRPr>
          </a:p>
          <a:p>
            <a:pPr marL="342900" indent="-342900">
              <a:spcAft>
                <a:spcPts val="600"/>
              </a:spcAft>
              <a:buFont typeface="Wingdings" panose="05000000000000000000" pitchFamily="2" charset="2"/>
              <a:buChar char="§"/>
            </a:pPr>
            <a:r>
              <a:rPr lang="en-US" sz="1800" dirty="0">
                <a:latin typeface="Bahnschrift Light" panose="020B0502040204020203" pitchFamily="34" charset="0"/>
                <a:cs typeface="Times New Roman" panose="02020603050405020304" pitchFamily="18" charset="0"/>
              </a:rPr>
              <a:t>timely data reconciliation and iterative comparison of forecast results from various tools </a:t>
            </a:r>
          </a:p>
          <a:p>
            <a:pPr>
              <a:spcAft>
                <a:spcPts val="800"/>
              </a:spcAft>
            </a:pPr>
            <a:r>
              <a:rPr lang="en-US" sz="1800" dirty="0">
                <a:latin typeface="Bahnschrift Light" panose="020B0502040204020203" pitchFamily="34" charset="0"/>
                <a:cs typeface="Times New Roman" panose="02020603050405020304" pitchFamily="18" charset="0"/>
              </a:rPr>
              <a:t>     input for intMF well before each Review and each quarter</a:t>
            </a:r>
          </a:p>
        </p:txBody>
      </p:sp>
    </p:spTree>
    <p:extLst>
      <p:ext uri="{BB962C8B-B14F-4D97-AF65-F5344CB8AC3E}">
        <p14:creationId xmlns:p14="http://schemas.microsoft.com/office/powerpoint/2010/main" val="641872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2"/>
          </p:nvPr>
        </p:nvSpPr>
        <p:spPr/>
        <p:txBody>
          <a:bodyPr/>
          <a:lstStyle/>
          <a:p>
            <a:fld id="{D97AE203-F84D-4A7F-B161-8561326BE072}" type="slidenum">
              <a:rPr lang="en-US" smtClean="0"/>
              <a:pPr/>
              <a:t>30</a:t>
            </a:fld>
            <a:endParaRPr lang="en-US" dirty="0"/>
          </a:p>
        </p:txBody>
      </p:sp>
      <p:sp>
        <p:nvSpPr>
          <p:cNvPr id="2" name="Title 1">
            <a:extLst>
              <a:ext uri="{FF2B5EF4-FFF2-40B4-BE49-F238E27FC236}">
                <a16:creationId xmlns:a16="http://schemas.microsoft.com/office/drawing/2014/main" id="{BFBE8807-BD6B-A3ED-9602-BE4FCBAB2C5A}"/>
              </a:ext>
            </a:extLst>
          </p:cNvPr>
          <p:cNvSpPr>
            <a:spLocks noGrp="1"/>
          </p:cNvSpPr>
          <p:nvPr>
            <p:ph type="title" idx="4294967295"/>
          </p:nvPr>
        </p:nvSpPr>
        <p:spPr>
          <a:xfrm>
            <a:off x="2789049" y="284163"/>
            <a:ext cx="6888352" cy="609600"/>
          </a:xfrm>
        </p:spPr>
        <p:txBody>
          <a:bodyPr>
            <a:noAutofit/>
          </a:bodyPr>
          <a:lstStyle/>
          <a:p>
            <a:pPr algn="ctr">
              <a:lnSpc>
                <a:spcPct val="100000"/>
              </a:lnSpc>
            </a:pPr>
            <a:r>
              <a:rPr lang="en-GB" sz="2400" b="1" dirty="0">
                <a:solidFill>
                  <a:srgbClr val="008BCC"/>
                </a:solidFill>
                <a:latin typeface="Bahnschrift" panose="020B0502040204020203" pitchFamily="34" charset="0"/>
                <a:cs typeface="+mn-cs"/>
              </a:rPr>
              <a:t>XI. Alternative scenario: higher foreign food/oil prices (2023-24)</a:t>
            </a:r>
            <a:endParaRPr lang="en-US" sz="2400" b="1" dirty="0">
              <a:solidFill>
                <a:srgbClr val="008BCC"/>
              </a:solidFill>
              <a:latin typeface="Bahnschrift" panose="020B0502040204020203" pitchFamily="34" charset="0"/>
              <a:cs typeface="+mn-cs"/>
            </a:endParaRPr>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510221" y="3615584"/>
            <a:ext cx="5360003" cy="2901692"/>
          </a:xfrm>
          <a:prstGeom prst="rect">
            <a:avLst/>
          </a:prstGeom>
          <a:noFill/>
          <a:ln>
            <a:solidFill>
              <a:schemeClr val="accent1">
                <a:lumMod val="40000"/>
                <a:lumOff val="60000"/>
              </a:schemeClr>
            </a:solidFill>
          </a:ln>
        </p:spPr>
        <p:txBody>
          <a:bodyPr wrap="square" rtlCol="0">
            <a:spAutoFit/>
          </a:bodyPr>
          <a:lstStyle/>
          <a:p>
            <a:pPr>
              <a:lnSpc>
                <a:spcPct val="150000"/>
              </a:lnSpc>
            </a:pPr>
            <a:r>
              <a:rPr lang="en-GB" sz="1200" b="1" dirty="0">
                <a:solidFill>
                  <a:srgbClr val="00B0F0"/>
                </a:solidFill>
                <a:latin typeface="Bahnschrift Light" panose="020B0502040204020203" pitchFamily="34" charset="0"/>
                <a:ea typeface="Calibri" panose="020F0502020204030204" pitchFamily="34" charset="0"/>
              </a:rPr>
              <a:t>Higher-than-WEO foreign food and oil prices in 2023-24</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foreign food and oil prices on average 25% higher than BL</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with peak around end-2023, return to WEO levels from 2025</a:t>
            </a:r>
          </a:p>
          <a:p>
            <a:pPr marL="285750" indent="-285750">
              <a:lnSpc>
                <a:spcPct val="150000"/>
              </a:lnSpc>
              <a:spcAft>
                <a:spcPts val="600"/>
              </a:spcAft>
              <a:buFont typeface="Wingdings" panose="05000000000000000000" pitchFamily="2" charset="2"/>
              <a:buChar char="§"/>
            </a:pPr>
            <a:r>
              <a:rPr lang="en-US" sz="1200" dirty="0">
                <a:latin typeface="Bahnschrift Light" panose="020B0502040204020203" pitchFamily="34" charset="0"/>
              </a:rPr>
              <a:t>no change in fiscal policy</a:t>
            </a:r>
          </a:p>
          <a:p>
            <a:pPr>
              <a:lnSpc>
                <a:spcPct val="150000"/>
              </a:lnSpc>
            </a:pPr>
            <a:r>
              <a:rPr lang="en-GB" sz="1200" b="1" dirty="0">
                <a:solidFill>
                  <a:srgbClr val="00B0F0"/>
                </a:solidFill>
                <a:latin typeface="Bahnschrift Light" panose="020B0502040204020203" pitchFamily="34" charset="0"/>
                <a:ea typeface="Calibri" panose="020F0502020204030204" pitchFamily="34" charset="0"/>
              </a:rPr>
              <a:t>Results in higher headline CPI, little or no effect on output</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headline CPI temporarily higher, reflecting food/oil import shares</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small response policy rate, reversed fast as expected inflation drops</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small positive effect on demand of lower RIR</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mostly offset by negative effect of slightly more appreciated RER</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222" y="1066800"/>
            <a:ext cx="2690178" cy="2501255"/>
          </a:xfrm>
          <a:prstGeom prst="rect">
            <a:avLst/>
          </a:prstGeom>
          <a:ln>
            <a:solidFill>
              <a:schemeClr val="accent1">
                <a:lumMod val="40000"/>
                <a:lumOff val="60000"/>
              </a:schemeClr>
            </a:solidFill>
          </a:ln>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290641" y="1066800"/>
            <a:ext cx="2690178" cy="2501256"/>
          </a:xfrm>
          <a:prstGeom prst="rect">
            <a:avLst/>
          </a:prstGeom>
          <a:ln>
            <a:solidFill>
              <a:schemeClr val="accent1">
                <a:lumMod val="40000"/>
                <a:lumOff val="60000"/>
              </a:schemeClr>
            </a:solidFill>
          </a:ln>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7735" y="1071282"/>
            <a:ext cx="2741474" cy="2856419"/>
          </a:xfrm>
          <a:prstGeom prst="rect">
            <a:avLst/>
          </a:prstGeom>
          <a:ln>
            <a:solidFill>
              <a:schemeClr val="accent1">
                <a:lumMod val="40000"/>
                <a:lumOff val="60000"/>
              </a:schemeClr>
            </a:solidFill>
          </a:ln>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6272" y="1066800"/>
            <a:ext cx="2722161" cy="2627820"/>
          </a:xfrm>
          <a:prstGeom prst="rect">
            <a:avLst/>
          </a:prstGeom>
          <a:ln>
            <a:solidFill>
              <a:schemeClr val="accent1">
                <a:lumMod val="40000"/>
                <a:lumOff val="60000"/>
              </a:schemeClr>
            </a:solidFill>
          </a:ln>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3966" y="3962400"/>
            <a:ext cx="2962306" cy="2308325"/>
          </a:xfrm>
          <a:prstGeom prst="rect">
            <a:avLst/>
          </a:prstGeom>
          <a:ln>
            <a:solidFill>
              <a:schemeClr val="accent1">
                <a:lumMod val="40000"/>
                <a:lumOff val="60000"/>
              </a:schemeClr>
            </a:solidFill>
          </a:ln>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26718" y="3733800"/>
            <a:ext cx="2708084" cy="2308325"/>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3327543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2"/>
          </p:nvPr>
        </p:nvSpPr>
        <p:spPr/>
        <p:txBody>
          <a:bodyPr/>
          <a:lstStyle/>
          <a:p>
            <a:fld id="{D97AE203-F84D-4A7F-B161-8561326BE072}" type="slidenum">
              <a:rPr lang="en-US" smtClean="0"/>
              <a:pPr/>
              <a:t>31</a:t>
            </a:fld>
            <a:endParaRPr lang="en-US" dirty="0"/>
          </a:p>
        </p:txBody>
      </p:sp>
      <p:sp>
        <p:nvSpPr>
          <p:cNvPr id="2" name="Title 1">
            <a:extLst>
              <a:ext uri="{FF2B5EF4-FFF2-40B4-BE49-F238E27FC236}">
                <a16:creationId xmlns:a16="http://schemas.microsoft.com/office/drawing/2014/main" id="{7C5EAC75-6C92-AB65-6348-00D2D6D83AFA}"/>
              </a:ext>
            </a:extLst>
          </p:cNvPr>
          <p:cNvSpPr>
            <a:spLocks noGrp="1"/>
          </p:cNvSpPr>
          <p:nvPr>
            <p:ph type="title" idx="4294967295"/>
          </p:nvPr>
        </p:nvSpPr>
        <p:spPr>
          <a:xfrm>
            <a:off x="2819400" y="98424"/>
            <a:ext cx="6781800" cy="972416"/>
          </a:xfrm>
        </p:spPr>
        <p:txBody>
          <a:bodyPr>
            <a:normAutofit/>
          </a:bodyPr>
          <a:lstStyle/>
          <a:p>
            <a:pPr algn="ctr">
              <a:lnSpc>
                <a:spcPct val="100000"/>
              </a:lnSpc>
            </a:pPr>
            <a:r>
              <a:rPr lang="en-US" sz="2800" b="1" dirty="0">
                <a:solidFill>
                  <a:srgbClr val="008BCC"/>
                </a:solidFill>
                <a:latin typeface="Bahnschrift" panose="020B0502040204020203" pitchFamily="34" charset="0"/>
                <a:cs typeface="+mn-cs"/>
              </a:rPr>
              <a:t>VIII. QMFM: main relationships and transmission mechanisms</a:t>
            </a:r>
            <a:endParaRPr lang="en-AE" sz="2800" b="1" dirty="0">
              <a:solidFill>
                <a:srgbClr val="008BCC"/>
              </a:solidFill>
              <a:latin typeface="Bahnschrift" panose="020B0502040204020203" pitchFamily="34" charset="0"/>
              <a:cs typeface="+mn-cs"/>
            </a:endParaRPr>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70841"/>
            <a:ext cx="10832452" cy="5285510"/>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56809</TotalTime>
  <Words>5138</Words>
  <Application>Microsoft Office PowerPoint</Application>
  <PresentationFormat>Widescreen</PresentationFormat>
  <Paragraphs>370</Paragraphs>
  <Slides>32</Slides>
  <Notes>21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32</vt:i4>
      </vt:variant>
    </vt:vector>
  </HeadingPairs>
  <TitlesOfParts>
    <vt:vector size="49" baseType="lpstr">
      <vt:lpstr>ＭＳ Ｐゴシック</vt:lpstr>
      <vt:lpstr>Arial</vt:lpstr>
      <vt:lpstr>Bahnschrift</vt:lpstr>
      <vt:lpstr>Bahnschrift Condensed</vt:lpstr>
      <vt:lpstr>Bahnschrift Light</vt:lpstr>
      <vt:lpstr>Bahnschrift Light Condensed</vt:lpstr>
      <vt:lpstr>Bahnschrift Light SemiCondensed</vt:lpstr>
      <vt:lpstr>Bahnschrift SemiLight</vt:lpstr>
      <vt:lpstr>Bookman Old Style</vt:lpstr>
      <vt:lpstr>Calibri</vt:lpstr>
      <vt:lpstr>Gill Sans MT</vt:lpstr>
      <vt:lpstr>Symbol</vt:lpstr>
      <vt:lpstr>Wingdings</vt:lpstr>
      <vt:lpstr>Wingdings 3</vt:lpstr>
      <vt:lpstr>2_Origin</vt:lpstr>
      <vt:lpstr>Office Theme</vt:lpstr>
      <vt:lpstr>3_Origin</vt:lpstr>
      <vt:lpstr>PowerPoint Presentation</vt:lpstr>
      <vt:lpstr>Outline/contents</vt:lpstr>
      <vt:lpstr>Acronyms</vt:lpstr>
      <vt:lpstr>Glossary of key terms</vt:lpstr>
      <vt:lpstr>I. Rationale of outlook &amp; underlying QMFM model</vt:lpstr>
      <vt:lpstr>II. Recent macroeconomic developments (2015-2024Q2)                        Final demand (GDP) and components</vt:lpstr>
      <vt:lpstr>II. Recent macroeconomic developments (2015-2024Q2)                                                    Final demand (GDP) and components        </vt:lpstr>
      <vt:lpstr>IV. Recent macroeconomic developments (2015-2023) Final demand (GDP) and components</vt:lpstr>
      <vt:lpstr>Inflation: Consumer Price Index (CPI)</vt:lpstr>
      <vt:lpstr>Fiscal Policy—Deficit and Components</vt:lpstr>
      <vt:lpstr>Policy Interest and Exchange Rates</vt:lpstr>
      <vt:lpstr>IIIa. Current cyclical position as influenced by recent policies</vt:lpstr>
      <vt:lpstr>Summary of policy assumptions underlying forecasts</vt:lpstr>
      <vt:lpstr>IIIb. Domestic policy stance</vt:lpstr>
      <vt:lpstr>IIIc. External environment Assumptions</vt:lpstr>
      <vt:lpstr>IV. Macroeconomic forecast/outlook Final demand—Real GDP</vt:lpstr>
      <vt:lpstr>VI. Macroeconomic forecast/outlook Final demand components</vt:lpstr>
      <vt:lpstr>Fiscal: Budget deficit</vt:lpstr>
      <vt:lpstr>Fiscal: Budget deficit compositions</vt:lpstr>
      <vt:lpstr>Inflation: Headline CPI and components </vt:lpstr>
      <vt:lpstr>Fiscal impulse and its effect on private demand</vt:lpstr>
      <vt:lpstr>Nominal and Real Interest Rates (Inter-Bank)</vt:lpstr>
      <vt:lpstr>Nominal and Real Exchange Rates (ER, RER)</vt:lpstr>
      <vt:lpstr>VIII. Policies driving forecasts</vt:lpstr>
      <vt:lpstr>VII. Forecast evaluation (latest vs. new forecast)</vt:lpstr>
      <vt:lpstr>VIII. Model revision—Effect of recalibration</vt:lpstr>
      <vt:lpstr>VI. Inputs for intMF projections &amp; discussions (template)</vt:lpstr>
      <vt:lpstr>VI. Inputs for intMF projections &amp; discussions (cont’d) (template)</vt:lpstr>
      <vt:lpstr>PowerPoint Presentation</vt:lpstr>
      <vt:lpstr>X. Data issues and requests &amp; suggestions</vt:lpstr>
      <vt:lpstr>XI. Alternative scenario: higher foreign food/oil prices (2023-24)</vt:lpstr>
      <vt:lpstr>VIII. QMFM: main relationships and transmission mechanisms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Evariste MANIRUMVA</cp:lastModifiedBy>
  <cp:revision>1830</cp:revision>
  <cp:lastPrinted>2023-06-23T12:26:08Z</cp:lastPrinted>
  <dcterms:created xsi:type="dcterms:W3CDTF">2011-04-18T20:01:25Z</dcterms:created>
  <dcterms:modified xsi:type="dcterms:W3CDTF">2025-03-04T20:31:43Z</dcterms:modified>
</cp:coreProperties>
</file>