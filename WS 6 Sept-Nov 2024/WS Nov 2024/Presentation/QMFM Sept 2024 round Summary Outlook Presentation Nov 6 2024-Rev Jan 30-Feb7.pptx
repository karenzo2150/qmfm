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  <p:sldMasterId id="2147483910" r:id="rId2"/>
    <p:sldMasterId id="2147483922" r:id="rId3"/>
  </p:sldMasterIdLst>
  <p:notesMasterIdLst>
    <p:notesMasterId r:id="rId35"/>
  </p:notesMasterIdLst>
  <p:handoutMasterIdLst>
    <p:handoutMasterId r:id="rId36"/>
  </p:handoutMasterIdLst>
  <p:sldIdLst>
    <p:sldId id="566" r:id="rId4"/>
    <p:sldId id="547" r:id="rId5"/>
    <p:sldId id="593" r:id="rId6"/>
    <p:sldId id="594" r:id="rId7"/>
    <p:sldId id="584" r:id="rId8"/>
    <p:sldId id="595" r:id="rId9"/>
    <p:sldId id="567" r:id="rId10"/>
    <p:sldId id="587" r:id="rId11"/>
    <p:sldId id="511" r:id="rId12"/>
    <p:sldId id="583" r:id="rId13"/>
    <p:sldId id="588" r:id="rId14"/>
    <p:sldId id="260" r:id="rId15"/>
    <p:sldId id="273" r:id="rId16"/>
    <p:sldId id="591" r:id="rId17"/>
    <p:sldId id="563" r:id="rId18"/>
    <p:sldId id="576" r:id="rId19"/>
    <p:sldId id="592" r:id="rId20"/>
    <p:sldId id="589" r:id="rId21"/>
    <p:sldId id="573" r:id="rId22"/>
    <p:sldId id="572" r:id="rId23"/>
    <p:sldId id="598" r:id="rId24"/>
    <p:sldId id="586" r:id="rId25"/>
    <p:sldId id="565" r:id="rId26"/>
    <p:sldId id="585" r:id="rId27"/>
    <p:sldId id="581" r:id="rId28"/>
    <p:sldId id="597" r:id="rId29"/>
    <p:sldId id="599" r:id="rId30"/>
    <p:sldId id="545" r:id="rId31"/>
    <p:sldId id="569" r:id="rId32"/>
    <p:sldId id="535" r:id="rId33"/>
    <p:sldId id="531" r:id="rId34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66"/>
            <p14:sldId id="547"/>
            <p14:sldId id="593"/>
            <p14:sldId id="594"/>
            <p14:sldId id="584"/>
            <p14:sldId id="595"/>
            <p14:sldId id="567"/>
            <p14:sldId id="587"/>
            <p14:sldId id="511"/>
            <p14:sldId id="583"/>
            <p14:sldId id="588"/>
            <p14:sldId id="260"/>
            <p14:sldId id="273"/>
            <p14:sldId id="591"/>
            <p14:sldId id="563"/>
            <p14:sldId id="576"/>
            <p14:sldId id="592"/>
            <p14:sldId id="589"/>
            <p14:sldId id="573"/>
            <p14:sldId id="572"/>
            <p14:sldId id="598"/>
            <p14:sldId id="586"/>
            <p14:sldId id="565"/>
            <p14:sldId id="585"/>
            <p14:sldId id="581"/>
            <p14:sldId id="597"/>
            <p14:sldId id="599"/>
            <p14:sldId id="545"/>
            <p14:sldId id="569"/>
            <p14:sldId id="535"/>
            <p14:sldId id="5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4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5788" autoAdjust="0"/>
  </p:normalViewPr>
  <p:slideViewPr>
    <p:cSldViewPr>
      <p:cViewPr varScale="1">
        <p:scale>
          <a:sx n="113" d="100"/>
          <a:sy n="113" d="100"/>
        </p:scale>
        <p:origin x="39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microsoft.com/office/2018/10/relationships/authors" Target="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783BB-1414-C279-F950-988665617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2C1AD-D963-60D9-FC97-938A36710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63AC0-3AE0-42E1-7D17-04592A3B6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6F94D-A96F-1875-E58B-64A03AEC0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3594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077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5FFA-F2B7-3365-95C3-12B67632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29277-5966-A8A8-5D70-5638B53F1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544AE-56FD-6F3F-CD78-201681CE5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EF9E3-4C15-B044-4A94-0F8887FFD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095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5FFA-F2B7-3365-95C3-12B67632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29277-5966-A8A8-5D70-5638B53F1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544AE-56FD-6F3F-CD78-201681CE5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EF9E3-4C15-B044-4A94-0F8887FFD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5095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E6F34-62E9-BFDF-5319-04580F714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83404-F4F8-F304-93BC-30882AE53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4553C-4909-3BE1-B278-5310641DA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19405-B1FF-32C9-D218-6FB5EA68C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059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6CB14-89C7-9CB8-C814-D47ADE2D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DC31A-3F96-A69F-83B8-8EEA86913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40A86-4F13-05C0-D66A-E26104579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61931-DE70-E8A5-794D-003FAC9A2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084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more aggregate models, “fiscal impulse” comprises both direct effect of govt spending on G&amp;S and the indirect effect via private consumption and investment (affected by transfers/subsidies and reduced effective revenue collection)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2158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D348-D783-9781-2D90-3C28E68E1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14999-5FCD-E785-316D-375917301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740BB-CFFB-590F-8AC5-3F3757387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CD557-4BB0-94B5-1A10-FDDB84596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083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E109-D787-D4AD-0E8E-BE98CA1D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8DB73-BD56-4FFD-447F-9E08B33D5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EA956D-3852-3CD3-403D-6C8EC57B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BAA10-F97B-3D25-F64A-5B360FC83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4647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977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24E48-EDF1-C7BC-7CC0-16E83AD9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96129-5D31-1D46-33A4-1B9DE4243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21146-F106-A1A2-588A-C198D8852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B3C65-343F-BB1E-892A-25FDCA06C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854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A519-7EFD-EEC6-631F-83AF3D4F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84A19-EE79-200D-37D6-029BC60CB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F5874-FC01-A421-202B-CB03321EE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DDFA4-3E87-2E7E-8AC0-A4ACEB5D0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177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59E-05B9-D6A3-3F43-14BAB4262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303A8-1973-2B75-1023-EECCA94E7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3AACC-F410-C6B2-EE22-CE1F75E40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70157-6736-0F79-FD5C-E0616443B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758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DC360-F110-44E2-0F62-1B6609B26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A62F6-F11B-DC9C-46D8-9BD345FCE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62046-753C-3DA0-FCAD-F1B223273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AE7E3-A275-A5A2-4373-3BF1E1FC3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87495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MINECOFIN can have a different assessment of  path and impact of monetary and ER policies than NBR, just as NBR can have a different assessment of path and impact of fiscal policies.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344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2860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2/10/2025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10/02/2025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98E8-D6C5-21AA-6BC8-21DF08C0A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Bahnschrif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5780B-3089-D83A-54E2-D7AF8145D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latin typeface="Bahnschrif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5AB25-69E8-BE36-9F9F-8E82A54B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</a:lstStyle>
          <a:p>
            <a:fld id="{25418435-C720-449D-B816-40E688690315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6AB43-0058-B846-7D8B-BD965EE8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63B95-7EC7-BF39-7295-153EB3F8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</a:lstStyle>
          <a:p>
            <a:fld id="{D41F6BB1-3072-477A-8416-723305CEF7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609A-5DC2-9CB5-20EE-ABD5D60EC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5375"/>
            <a:ext cx="10515600" cy="4762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800" b="1">
                <a:latin typeface="Bahnschrift" panose="020B0502040204020203" pitchFamily="34" charset="0"/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6BFCD-640D-4D35-1B02-56A84116D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1611B-7B3B-ACE5-6E5A-8CD70355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Bahnschrift Light SemiCondensed" panose="020B0502040204020203" pitchFamily="34" charset="0"/>
              </a:defRPr>
            </a:lvl1pPr>
          </a:lstStyle>
          <a:p>
            <a:fld id="{25418435-C720-449D-B816-40E688690315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6548F-B783-DAD5-5269-FA453BE4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>
              <a:defRPr lang="en-US">
                <a:latin typeface="Bahnschrift Light SemiCondensed" panose="020B0502040204020203" pitchFamily="34" charset="0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390A1-7BD7-E7F2-EED6-F2A9B632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Bahnschrift Light SemiCondensed" panose="020B0502040204020203" pitchFamily="34" charset="0"/>
              </a:defRPr>
            </a:lvl1pPr>
          </a:lstStyle>
          <a:p>
            <a:pPr algn="l"/>
            <a:fld id="{D41F6BB1-3072-477A-8416-723305CEF71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0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BF8A-5B37-336F-B6B2-B255D23A0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538C5-2BF2-AE48-0938-56AA906E6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438EF-68A1-4184-B926-F258578F8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81467-5B20-5F9E-690B-B5351E68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832C8-BAC3-494D-16F0-328212F4E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9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1A09-B7F0-1551-9732-0DFEFB2A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2C291-3262-A69D-0162-C169D140B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8485C-FD72-1F85-A330-8D6B8A678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83A49-8C7E-3F0C-D5D7-5330E5B8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41E6A-AA54-BF30-D3B0-F183CCC3E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3531B-F130-758A-E17A-21547714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1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B23D-AF5A-D2C0-6EA5-ED0269F5F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57275"/>
            <a:ext cx="10515600" cy="633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80E48-4C2D-2B2B-964F-88262B8CE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1081B-AED5-9BDD-42C4-183B4313D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1A8D6-6096-F19A-F31F-B24A328AC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B0B60-C100-5272-3B52-242A1B3EB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E16AFD-2884-82F2-85EF-60CC69B8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4FFB9-BD63-4954-B342-92FD028A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2F79E-888C-E739-A807-CE92E9197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1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68639-7441-C5CC-B004-72F862B44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DB76E-A99C-A9A2-2A56-1D3A3351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6794B-D66C-A3A8-3D89-528001E4D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B1946-7B3C-5D6F-B6B3-05EE80FA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134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858EE5-A6D5-1B17-A565-CBFA0FC33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E5286-4134-96A7-49A6-630AF0CC9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1CF4D-9210-9221-642A-76149DAF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95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A6AA-CD9E-662B-9853-A78C0707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866B5-138B-4FC4-80BF-CF269BE1D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FF8B-6BE8-4754-6044-CCFD98D79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6657F-A1BA-23CB-479C-060203EEA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59696-456E-34AA-C8A0-DEB94CCC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4C4FD-86B3-9465-413E-F37F528F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66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76B08-FF37-9363-2A10-C9CF5D43F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04900"/>
            <a:ext cx="3932237" cy="952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19786-B2A6-AFFE-64E5-9EB2E5304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88F3A-AB52-C920-020A-F635704A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31871-5148-4F43-11B6-3AD6D3420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40A6C-BDA2-7098-2430-EDC3EC90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5EE63-100B-37C2-85F8-2BF65D08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65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FCC2-5904-491E-581A-36BFCBA98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600"/>
            <a:ext cx="10515600" cy="6463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1C980-0C3C-A426-947B-B2E8E1478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C87D3-0BF2-4993-432B-703A2C0E4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6A88F-A729-F1E9-BA06-6AD8DCBB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75B78-BAD5-7D9B-358B-F0AEB5DB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08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D1F69C-82E3-CB06-9B7F-8825185427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B3F83-AAE6-EEDF-B93F-6457BDBE6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7A31A-66D8-8628-1499-FA3DFD08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069D6-F949-7E42-3D3C-2F7AAD7A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3BCEC-62AB-2A95-67F1-87161F1C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18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76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32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2/10/2025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4831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10/02/2025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20597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8636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F5A59-B018-E644-7607-2B768C005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6659"/>
            <a:ext cx="10515600" cy="5232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B2F0B-9D89-A110-3EF3-4D5470AC3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8397"/>
            <a:ext cx="10515600" cy="4628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E6DB9-30EE-BD7A-21FA-9CEA5DE84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ahnschrift Light SemiCondensed" panose="020B0502040204020203" pitchFamily="34" charset="0"/>
              </a:defRPr>
            </a:lvl1pPr>
          </a:lstStyle>
          <a:p>
            <a:fld id="{25418435-C720-449D-B816-40E688690315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C8C5-01D9-BD5B-4B6F-E0D27B6DF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ahnschrift Light SemiCondensed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62C13-4287-8CA5-6198-EE3FEDF66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ahnschrift Light SemiCondensed" panose="020B0502040204020203" pitchFamily="34" charset="0"/>
              </a:defRPr>
            </a:lvl1pPr>
          </a:lstStyle>
          <a:p>
            <a:fld id="{D41F6BB1-3072-477A-8416-723305CEF7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EE7FC1-0F67-52EB-4B9B-BA1536A1B871}"/>
              </a:ext>
            </a:extLst>
          </p:cNvPr>
          <p:cNvSpPr txBox="1"/>
          <p:nvPr userDrawn="1"/>
        </p:nvSpPr>
        <p:spPr>
          <a:xfrm>
            <a:off x="6792685" y="266439"/>
            <a:ext cx="4561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alpha val="26000"/>
                  </a:schemeClr>
                </a:solidFill>
                <a:latin typeface="Bahnschrift Light Condensed" panose="020B0502040204020203" pitchFamily="34" charset="0"/>
              </a:rPr>
              <a:t>Quarterly </a:t>
            </a:r>
            <a:r>
              <a:rPr lang="en-US" sz="2800" b="1" dirty="0" err="1">
                <a:solidFill>
                  <a:schemeClr val="tx1">
                    <a:alpha val="26000"/>
                  </a:schemeClr>
                </a:solidFill>
                <a:latin typeface="Bahnschrift Light Condensed" panose="020B0502040204020203" pitchFamily="34" charset="0"/>
              </a:rPr>
              <a:t>MacroFiscal</a:t>
            </a:r>
            <a:r>
              <a:rPr lang="en-US" sz="2800" b="1" dirty="0">
                <a:solidFill>
                  <a:schemeClr val="tx1">
                    <a:alpha val="26000"/>
                  </a:schemeClr>
                </a:solidFill>
                <a:latin typeface="Bahnschrift Light Condensed" panose="020B0502040204020203" pitchFamily="34" charset="0"/>
              </a:rPr>
              <a:t> Model (QMFM)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85403-7BBD-6A57-0C45-F6343FBA9BF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8440"/>
            <a:ext cx="685800" cy="7528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3D7134-32AC-814F-E326-42F953FCCD1D}"/>
              </a:ext>
            </a:extLst>
          </p:cNvPr>
          <p:cNvSpPr txBox="1"/>
          <p:nvPr userDrawn="1"/>
        </p:nvSpPr>
        <p:spPr>
          <a:xfrm>
            <a:off x="1524000" y="182497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Ministry of Finance and Economic Planning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33E20EA-1628-2B2A-A3E8-BCC8040BE9AF}"/>
              </a:ext>
            </a:extLst>
          </p:cNvPr>
          <p:cNvGrpSpPr/>
          <p:nvPr userDrawn="1"/>
        </p:nvGrpSpPr>
        <p:grpSpPr>
          <a:xfrm>
            <a:off x="11716817" y="2140515"/>
            <a:ext cx="179811" cy="3721558"/>
            <a:chOff x="11773967" y="1367522"/>
            <a:chExt cx="179811" cy="372155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0271194-5E18-B988-8451-55421FB1122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4613219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CEEFD0-3B63-D760-590E-FCFA9EF352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4189445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0EE86D6-C30B-8306-1F11-98F29A7A444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3786690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4870C66-FBF3-3EFE-AA9D-6D111EA8A07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5192" y="3384473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CE828D8-2892-806A-A619-C3B9C0D89F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3020579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9C24050-BCDF-F60D-273C-2253F926891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2577375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64B3EA7-8B35-59B3-A7D4-5F95CA32EC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2194051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9B42D6-2704-1195-5E76-9FEAD5D2232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1770277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F1DE02-10B9-EC4A-03C2-28CCAF5D74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1367522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F5A9003-71C1-28DB-3369-068EC9328229}"/>
                </a:ext>
              </a:extLst>
            </p:cNvPr>
            <p:cNvSpPr/>
            <p:nvPr userDrawn="1"/>
          </p:nvSpPr>
          <p:spPr>
            <a:xfrm>
              <a:off x="11773968" y="1978831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33D68EB-81BE-458F-BD7A-D624523A2772}"/>
                </a:ext>
              </a:extLst>
            </p:cNvPr>
            <p:cNvSpPr/>
            <p:nvPr userDrawn="1"/>
          </p:nvSpPr>
          <p:spPr>
            <a:xfrm>
              <a:off x="11876605" y="2373170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CA9F18B-AF0C-5FB3-9F9B-C8A8829488AC}"/>
                </a:ext>
              </a:extLst>
            </p:cNvPr>
            <p:cNvSpPr/>
            <p:nvPr userDrawn="1"/>
          </p:nvSpPr>
          <p:spPr>
            <a:xfrm>
              <a:off x="11773967" y="2811651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D11D928-D70D-DF9F-B57F-067D5DA97BDF}"/>
                </a:ext>
              </a:extLst>
            </p:cNvPr>
            <p:cNvSpPr/>
            <p:nvPr userDrawn="1"/>
          </p:nvSpPr>
          <p:spPr>
            <a:xfrm>
              <a:off x="11867275" y="3184646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875CCBD-0B8E-F194-AD05-7B99DFCCDA11}"/>
                </a:ext>
              </a:extLst>
            </p:cNvPr>
            <p:cNvSpPr/>
            <p:nvPr userDrawn="1"/>
          </p:nvSpPr>
          <p:spPr>
            <a:xfrm>
              <a:off x="11773967" y="3611809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67C7FE4-EF8A-A30B-8556-3BF9B116FEF7}"/>
                </a:ext>
              </a:extLst>
            </p:cNvPr>
            <p:cNvSpPr/>
            <p:nvPr userDrawn="1"/>
          </p:nvSpPr>
          <p:spPr>
            <a:xfrm>
              <a:off x="11876604" y="3980862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72ED5B-ABBD-0FC1-E9C7-B05B0736DE9D}"/>
                </a:ext>
              </a:extLst>
            </p:cNvPr>
            <p:cNvSpPr/>
            <p:nvPr userDrawn="1"/>
          </p:nvSpPr>
          <p:spPr>
            <a:xfrm>
              <a:off x="11773967" y="439929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8F157A8-F470-DA23-16CF-4BE1AB262AD7}"/>
                </a:ext>
              </a:extLst>
            </p:cNvPr>
            <p:cNvSpPr/>
            <p:nvPr userDrawn="1"/>
          </p:nvSpPr>
          <p:spPr>
            <a:xfrm>
              <a:off x="11867274" y="478223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CE27AEA-9A4A-AABC-29C2-4990604BCA3F}"/>
                </a:ext>
              </a:extLst>
            </p:cNvPr>
            <p:cNvSpPr/>
            <p:nvPr userDrawn="1"/>
          </p:nvSpPr>
          <p:spPr>
            <a:xfrm>
              <a:off x="11876603" y="1566865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0BFDD5D-E9D3-A18F-6C1A-8E36E735BE9F}"/>
              </a:ext>
            </a:extLst>
          </p:cNvPr>
          <p:cNvGrpSpPr/>
          <p:nvPr userDrawn="1"/>
        </p:nvGrpSpPr>
        <p:grpSpPr>
          <a:xfrm>
            <a:off x="277292" y="2140515"/>
            <a:ext cx="179811" cy="3721558"/>
            <a:chOff x="11773967" y="1367522"/>
            <a:chExt cx="179811" cy="3721558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E90D111-1D56-F61F-7AF8-02E148449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4613219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39BF5A0-A616-F9C1-4375-EBDCA6F245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4189445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B0F3FE-3FE9-DBB9-A1AA-5A5EDA61A8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3786690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B5E4C7E-E0C5-3A90-1B7E-250F0F9B79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5192" y="3384473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759E9BC-C992-4034-E847-F368F47127B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3020579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4E36CE0-2FDB-9EE1-7529-DDA254E48C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2577375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13F9AD5-0323-288C-B4BC-00DEEB0143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2194051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C302256-9149-54B8-F58D-102A6CA537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1770277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40005EF-F712-1A4E-8CF7-4B101B9385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1367522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651667B-31CC-F91D-2150-789398A79EA0}"/>
                </a:ext>
              </a:extLst>
            </p:cNvPr>
            <p:cNvSpPr/>
            <p:nvPr userDrawn="1"/>
          </p:nvSpPr>
          <p:spPr>
            <a:xfrm>
              <a:off x="11773968" y="1978831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DB018D8-2EF5-9A97-ECA6-3EAC02944669}"/>
                </a:ext>
              </a:extLst>
            </p:cNvPr>
            <p:cNvSpPr/>
            <p:nvPr userDrawn="1"/>
          </p:nvSpPr>
          <p:spPr>
            <a:xfrm>
              <a:off x="11876605" y="2373170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E3E30C8-9AB4-DCDE-B2B4-CC8A62D3ED7B}"/>
                </a:ext>
              </a:extLst>
            </p:cNvPr>
            <p:cNvSpPr/>
            <p:nvPr userDrawn="1"/>
          </p:nvSpPr>
          <p:spPr>
            <a:xfrm>
              <a:off x="11773967" y="2811651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965E4C7-016D-3E91-47F9-34C38241BE40}"/>
                </a:ext>
              </a:extLst>
            </p:cNvPr>
            <p:cNvSpPr/>
            <p:nvPr userDrawn="1"/>
          </p:nvSpPr>
          <p:spPr>
            <a:xfrm>
              <a:off x="11867275" y="3184646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A216DA0-7AB9-DC0F-EB9B-94A71B678E08}"/>
                </a:ext>
              </a:extLst>
            </p:cNvPr>
            <p:cNvSpPr/>
            <p:nvPr userDrawn="1"/>
          </p:nvSpPr>
          <p:spPr>
            <a:xfrm>
              <a:off x="11773967" y="3611809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EBC524A-0598-5970-3E3A-1A12BB314944}"/>
                </a:ext>
              </a:extLst>
            </p:cNvPr>
            <p:cNvSpPr/>
            <p:nvPr userDrawn="1"/>
          </p:nvSpPr>
          <p:spPr>
            <a:xfrm>
              <a:off x="11876604" y="3980862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ED92E5C-0133-6F6E-3AC4-E3BF08B7133E}"/>
                </a:ext>
              </a:extLst>
            </p:cNvPr>
            <p:cNvSpPr/>
            <p:nvPr userDrawn="1"/>
          </p:nvSpPr>
          <p:spPr>
            <a:xfrm>
              <a:off x="11773967" y="439929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B4C966B-D75E-287C-60AF-D1830CC3F6E1}"/>
                </a:ext>
              </a:extLst>
            </p:cNvPr>
            <p:cNvSpPr/>
            <p:nvPr userDrawn="1"/>
          </p:nvSpPr>
          <p:spPr>
            <a:xfrm>
              <a:off x="11867274" y="478223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AEFA3F1-7B18-877A-99AD-CED79E0ECE78}"/>
                </a:ext>
              </a:extLst>
            </p:cNvPr>
            <p:cNvSpPr/>
            <p:nvPr userDrawn="1"/>
          </p:nvSpPr>
          <p:spPr>
            <a:xfrm>
              <a:off x="11876603" y="1566865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Oval 60">
            <a:extLst>
              <a:ext uri="{FF2B5EF4-FFF2-40B4-BE49-F238E27FC236}">
                <a16:creationId xmlns:a16="http://schemas.microsoft.com/office/drawing/2014/main" id="{E3985124-E079-0DEA-BC3A-5AE9D3FBCF84}"/>
              </a:ext>
            </a:extLst>
          </p:cNvPr>
          <p:cNvSpPr/>
          <p:nvPr userDrawn="1"/>
        </p:nvSpPr>
        <p:spPr>
          <a:xfrm>
            <a:off x="1606550" y="6617616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BCDF17F-7678-886B-BDC1-7D46E0FDC526}"/>
              </a:ext>
            </a:extLst>
          </p:cNvPr>
          <p:cNvSpPr/>
          <p:nvPr userDrawn="1"/>
        </p:nvSpPr>
        <p:spPr>
          <a:xfrm>
            <a:off x="977900" y="6617616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3D20AC5-1E8E-5321-E43D-46B445C65B67}"/>
              </a:ext>
            </a:extLst>
          </p:cNvPr>
          <p:cNvSpPr/>
          <p:nvPr userDrawn="1"/>
        </p:nvSpPr>
        <p:spPr>
          <a:xfrm>
            <a:off x="349250" y="6617616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A80B877-F110-D95C-7DD0-FEBBD1B4BA64}"/>
              </a:ext>
            </a:extLst>
          </p:cNvPr>
          <p:cNvSpPr/>
          <p:nvPr userDrawn="1"/>
        </p:nvSpPr>
        <p:spPr>
          <a:xfrm>
            <a:off x="558800" y="6617616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3F7BB24-25F0-4188-72B0-2D5ED9CFB76E}"/>
              </a:ext>
            </a:extLst>
          </p:cNvPr>
          <p:cNvSpPr/>
          <p:nvPr userDrawn="1"/>
        </p:nvSpPr>
        <p:spPr>
          <a:xfrm>
            <a:off x="768350" y="6617616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7DEBEE4-3529-6BF7-C1EE-1F06689DC266}"/>
              </a:ext>
            </a:extLst>
          </p:cNvPr>
          <p:cNvSpPr/>
          <p:nvPr userDrawn="1"/>
        </p:nvSpPr>
        <p:spPr>
          <a:xfrm>
            <a:off x="1187450" y="6617616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631BAD7-ACD6-558C-7884-5F8B8158569B}"/>
              </a:ext>
            </a:extLst>
          </p:cNvPr>
          <p:cNvSpPr/>
          <p:nvPr userDrawn="1"/>
        </p:nvSpPr>
        <p:spPr>
          <a:xfrm>
            <a:off x="1397000" y="6617616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44534C1-CAD6-EE98-DA4C-80ABB36189FA}"/>
              </a:ext>
            </a:extLst>
          </p:cNvPr>
          <p:cNvSpPr/>
          <p:nvPr userDrawn="1"/>
        </p:nvSpPr>
        <p:spPr>
          <a:xfrm>
            <a:off x="1816100" y="6617616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D273F5C-D33F-EF59-0554-6E5D0016BFBC}"/>
              </a:ext>
            </a:extLst>
          </p:cNvPr>
          <p:cNvSpPr/>
          <p:nvPr userDrawn="1"/>
        </p:nvSpPr>
        <p:spPr>
          <a:xfrm>
            <a:off x="2005561" y="6617616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7062037-C070-A95A-9CED-80046DEC4BEB}"/>
              </a:ext>
            </a:extLst>
          </p:cNvPr>
          <p:cNvSpPr/>
          <p:nvPr userDrawn="1"/>
        </p:nvSpPr>
        <p:spPr>
          <a:xfrm>
            <a:off x="11283950" y="109891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A6AEF5D-0DD5-0B6D-960F-425B1836E1F8}"/>
              </a:ext>
            </a:extLst>
          </p:cNvPr>
          <p:cNvSpPr/>
          <p:nvPr userDrawn="1"/>
        </p:nvSpPr>
        <p:spPr>
          <a:xfrm>
            <a:off x="11493500" y="109891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D6BA97C-413A-8ACF-FA70-F3C46173BD30}"/>
              </a:ext>
            </a:extLst>
          </p:cNvPr>
          <p:cNvSpPr/>
          <p:nvPr userDrawn="1"/>
        </p:nvSpPr>
        <p:spPr>
          <a:xfrm>
            <a:off x="11703050" y="109891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6513DCA-0540-607D-489B-ADAE97DD8FC5}"/>
              </a:ext>
            </a:extLst>
          </p:cNvPr>
          <p:cNvSpPr/>
          <p:nvPr userDrawn="1"/>
        </p:nvSpPr>
        <p:spPr>
          <a:xfrm>
            <a:off x="10655300" y="109891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E5863C7-E4EF-A939-43D8-8A5F26090798}"/>
              </a:ext>
            </a:extLst>
          </p:cNvPr>
          <p:cNvSpPr/>
          <p:nvPr userDrawn="1"/>
        </p:nvSpPr>
        <p:spPr>
          <a:xfrm>
            <a:off x="10864850" y="109891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52C00B1-AA56-6255-E25D-597D9F99820B}"/>
              </a:ext>
            </a:extLst>
          </p:cNvPr>
          <p:cNvSpPr/>
          <p:nvPr userDrawn="1"/>
        </p:nvSpPr>
        <p:spPr>
          <a:xfrm>
            <a:off x="11074400" y="109891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CB4C63B-CD2A-B497-E58A-2767E6C01D10}"/>
              </a:ext>
            </a:extLst>
          </p:cNvPr>
          <p:cNvSpPr/>
          <p:nvPr userDrawn="1"/>
        </p:nvSpPr>
        <p:spPr>
          <a:xfrm>
            <a:off x="10046739" y="109891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9A7A4A1-FD2B-1297-4853-FC278D1569B2}"/>
              </a:ext>
            </a:extLst>
          </p:cNvPr>
          <p:cNvSpPr/>
          <p:nvPr userDrawn="1"/>
        </p:nvSpPr>
        <p:spPr>
          <a:xfrm>
            <a:off x="10256289" y="109891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28E970DA-C16D-69FE-3E8F-9761A3D62978}"/>
              </a:ext>
            </a:extLst>
          </p:cNvPr>
          <p:cNvSpPr/>
          <p:nvPr userDrawn="1"/>
        </p:nvSpPr>
        <p:spPr>
          <a:xfrm>
            <a:off x="10445750" y="109891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9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b="1" kern="1200" smtClean="0">
          <a:solidFill>
            <a:schemeClr val="tx1"/>
          </a:solidFill>
          <a:latin typeface="Bahnschrift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5795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mp"/><Relationship Id="rId7" Type="http://schemas.openxmlformats.org/officeDocument/2006/relationships/image" Target="../media/image45.tm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tmp"/><Relationship Id="rId5" Type="http://schemas.openxmlformats.org/officeDocument/2006/relationships/image" Target="../media/image43.tmp"/><Relationship Id="rId4" Type="http://schemas.openxmlformats.org/officeDocument/2006/relationships/image" Target="../media/image42.tm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6900" y="3475772"/>
            <a:ext cx="8458200" cy="148284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Bahnschrift" panose="020B0502040204020203" pitchFamily="34" charset="0"/>
              </a:rPr>
              <a:t>Quarterly Macro-Fiscal Outlook (QMFO)</a:t>
            </a:r>
          </a:p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Bahnschrift" panose="020B0502040204020203" pitchFamily="34" charset="0"/>
              </a:rPr>
              <a:t>Summary Outlook 2024-27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48000" y="57150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Nov 2024 Round</a:t>
            </a:r>
            <a:endParaRPr lang="en-US" sz="2800" dirty="0">
              <a:solidFill>
                <a:srgbClr val="FF0000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8755-694B-F809-9288-A5B861F3FF33}"/>
              </a:ext>
            </a:extLst>
          </p:cNvPr>
          <p:cNvSpPr txBox="1"/>
          <p:nvPr/>
        </p:nvSpPr>
        <p:spPr>
          <a:xfrm>
            <a:off x="1524001" y="990600"/>
            <a:ext cx="8458200" cy="107721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MINECOFIN Quarterly Macro-Fiscal Model (QMFM)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05857"/>
            <a:ext cx="10261600" cy="549274"/>
          </a:xfrm>
        </p:spPr>
        <p:txBody>
          <a:bodyPr/>
          <a:lstStyle/>
          <a:p>
            <a:r>
              <a:rPr lang="en-GB" sz="3200" b="1" dirty="0">
                <a:latin typeface="Bahnschrift" panose="020B0502040204020203" pitchFamily="34" charset="0"/>
              </a:rPr>
              <a:t>Outline/contents</a:t>
            </a:r>
            <a:endParaRPr lang="en-AE" sz="3200" b="1" dirty="0"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94143-809D-C767-7D9E-2097A352781A}"/>
              </a:ext>
            </a:extLst>
          </p:cNvPr>
          <p:cNvSpPr txBox="1"/>
          <p:nvPr/>
        </p:nvSpPr>
        <p:spPr>
          <a:xfrm>
            <a:off x="685800" y="1219200"/>
            <a:ext cx="113284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Glossary of key terms and acronyms</a:t>
            </a:r>
            <a:endParaRPr lang="en-GB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Recent macroeconomic developments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Macroeconomic forecast assumptions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Macroeconomic forecast/outlook</a:t>
            </a:r>
          </a:p>
          <a:p>
            <a:pPr marL="514350" indent="-514350">
              <a:lnSpc>
                <a:spcPct val="200000"/>
              </a:lnSpc>
              <a:buFontTx/>
              <a:buAutoNum type="romanUcPeriod"/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Forecast evaluation (forecast comparison)</a:t>
            </a:r>
          </a:p>
          <a:p>
            <a:pPr marL="514350" indent="-514350">
              <a:lnSpc>
                <a:spcPct val="200000"/>
              </a:lnSpc>
              <a:buFontTx/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Model revision—Effect of recalibration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j-cs"/>
              </a:rPr>
              <a:t>QMFM interrelation with the macro toolbox (nowcasting, MF)</a:t>
            </a:r>
          </a:p>
          <a:p>
            <a:pPr>
              <a:lnSpc>
                <a:spcPct val="200000"/>
              </a:lnSpc>
            </a:pPr>
            <a:endParaRPr lang="en-GB" sz="20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514350" indent="-514350">
              <a:buAutoNum type="romanUcPeriod"/>
            </a:pPr>
            <a:endParaRPr lang="en-RW" sz="2000" b="1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E66D5-96F8-C776-06D5-E110B7CAB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EE73-C74B-3B84-4080-A52B3299E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Acronyms</a:t>
            </a:r>
            <a:endParaRPr lang="en-AE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55FB16-A2D7-AA50-F4D7-7329FBD67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154AE9-F001-8533-BC32-D910385AC87E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5334000" cy="5334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FPAS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Forecasting and Policy Analysis System (FPAS)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ER: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Exchange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RER: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Real Exchange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IB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 Interbank interest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RIR: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Real Interest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NTF: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Neal Term Forecast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MT and L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T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Medium-Term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Long-Term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YoY, %: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Year on Year Percentage Change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G&amp;S: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goods and services (govt demand, exports, …)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WEO: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World Economic Outlook (by IMF)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GAS: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General Assumptions (in WEO)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GEE: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General Economic Environment (in WEO)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CBO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 Central Budget Office US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7C06F3-7D38-F318-7279-90BF1F4262B5}"/>
              </a:ext>
            </a:extLst>
          </p:cNvPr>
          <p:cNvSpPr txBox="1">
            <a:spLocks/>
          </p:cNvSpPr>
          <p:nvPr/>
        </p:nvSpPr>
        <p:spPr>
          <a:xfrm>
            <a:off x="5791200" y="1143000"/>
            <a:ext cx="5334000" cy="5334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96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2400"/>
            <a:ext cx="10287000" cy="457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Glossary of key terms</a:t>
            </a:r>
            <a:endParaRPr lang="en-AE" sz="24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228600" y="1066800"/>
            <a:ext cx="11760200" cy="56388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Output gap &amp; final demand gaps (+/-):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output Y above/below potential or trend level Y*, i.e., output gap is log(Y/Y*) &gt;&lt; 0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Real interest &amp; real exchange rate gaps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RIR and RER above/below neutral or equilibrium levels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Decomposition of macro aggregates by main drivers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coloured bars in charts show contribution of each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Fiscal deficit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relevant for demand impact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deficit before grants = total expenditure -/- non/tax revenue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Debt anchor &amp; sustainable deficit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debt ratio to GDP target (with LT growth, inflation rates, etc.) drives sustainable debt-creating deficit.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Fiscal stance expansionary/contractionary: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deficit, govt demand G&amp;S in % GDP above/below trend levels (“discretionary” deficit, demand &gt;&lt;0)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Fiscal impulse (on private demand):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mainly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discretionary fiscal deficit affecting consumption &amp; investment   (via income, ‘optimism’)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More/less restrictive monetary policies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(real) interest rates above/below neutral or trend levels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More/less restrictive exchange rate policies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real exchange rate below/above equilibrium or trend level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Role expectations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agents today consider expected macro variables and policies in future (expected inflation, exchange rate, demand gaps,…)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Forward-looking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one or four periods ahead behavioural expectations/speculations  {+1} or {+4 Q}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Persistence: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lag or effect of previous/initial values or behaviours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Trend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(unobserved):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trends of key macro variables are estimated; set steady state trends (to which variables converge in absence of shocks)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Shock: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All other factors not captured by model equation or parameter specification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Decomposition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(level, growth rate, % GDP):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e.g., output (gap) by final demands, GDP growth by components, deficit % of GDP by revenue, exp.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lang="en-GB" sz="1400" b="1" dirty="0">
                <a:solidFill>
                  <a:srgbClr val="192EF7">
                    <a:lumMod val="50000"/>
                  </a:srgbClr>
                </a:solidFill>
                <a:latin typeface="Bahnschrift SemiLight" panose="020B0502040204020203" pitchFamily="34" charset="0"/>
              </a:rPr>
              <a:t>Overvaluation and undervaluation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907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3451-F807-0A0F-1199-16CC6C89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CA196-8B58-7376-E9BC-FCD9FA95F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II. Workings of underlying QMFM model</a:t>
            </a:r>
            <a:endParaRPr lang="en-AE" sz="24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33F254-D5FE-83EA-AD15-7D09DFD77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485FBB-CAC8-34BD-B1D2-7D0D58943C66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557000" cy="54102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b="1" dirty="0">
                <a:latin typeface="Bahnschrift Light" panose="020B0502040204020203" pitchFamily="34" charset="0"/>
                <a:ea typeface="+mn-ea"/>
              </a:rPr>
              <a:t>Macro model is New-Keynesian, ‘semi-structural gap’ of the Forecasting and Policy Analysis System (FPAS)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i="1" dirty="0">
                <a:latin typeface="Bahnschrift Light" panose="020B0502040204020203" pitchFamily="34" charset="0"/>
              </a:rPr>
              <a:t>Provides forecast quarterly forecast for key macro variables </a:t>
            </a:r>
            <a:r>
              <a:rPr lang="en-GB" sz="1400" dirty="0">
                <a:latin typeface="Bahnschrift Light" panose="020B0502040204020203" pitchFamily="34" charset="0"/>
              </a:rPr>
              <a:t>(i.e., output gap, inflation, final demand components,..)</a:t>
            </a:r>
            <a:r>
              <a:rPr lang="en-GB" sz="1400" i="1" dirty="0">
                <a:latin typeface="Bahnschrift Light" panose="020B0502040204020203" pitchFamily="34" charset="0"/>
              </a:rPr>
              <a:t> </a:t>
            </a:r>
            <a:r>
              <a:rPr lang="en-GB" sz="1600" dirty="0">
                <a:latin typeface="Bahnschrift Light" panose="020B0502040204020203" pitchFamily="34" charset="0"/>
              </a:rPr>
              <a:t>as influenced by fiscal, monetary, and exchange rate policies (policy stances), incl. in response to shocks and new developments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emphasis on fiscal variables &amp; deficit components (revenue, govt spending &amp; structural, discretionary, cyclical components)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impact of fiscal and monetary policies inflation, and other macro aggregates on GDP (demand/output gap)</a:t>
            </a:r>
            <a:endParaRPr lang="en-GB" sz="1600" dirty="0">
              <a:latin typeface="Bahnschrift Light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tracing key macro variables(levels) in deviation from trends, potential levels, or targets: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Economic developments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latin typeface="Bahnschrift Light" panose="020B0502040204020203" pitchFamily="34" charset="0"/>
              </a:rPr>
              <a:t> Analysis of observed data to examine the drivers of the patterns in macroeconomic variables.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Estimation of unobserved variables (gaps and trend)—How model fits and explains the history/past developments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i="1" dirty="0">
                <a:latin typeface="Bahnschrift Light" panose="020B0502040204020203" pitchFamily="34" charset="0"/>
              </a:rPr>
              <a:t>Analysis of Initial conditions or recent developments to understand the drivers of the business cycle and trend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Assumptions—i.e., policy stances, policy paths (deficit, interest rates, and ER), NTF,  and external/foreign position.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i="1" dirty="0">
                <a:latin typeface="Bahnschrift Light" panose="020B0502040204020203" pitchFamily="34" charset="0"/>
              </a:rPr>
              <a:t>After shocks and policy responses have worked out, variables return to their trends/potential levels (subject to persistence) determined by their steady-state levels </a:t>
            </a:r>
            <a:r>
              <a:rPr lang="en-GB" sz="1100" dirty="0">
                <a:latin typeface="Bahnschrift Light" panose="020B0502040204020203" pitchFamily="34" charset="0"/>
              </a:rPr>
              <a:t>  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Forecast simulation as </a:t>
            </a:r>
            <a:r>
              <a:rPr lang="en-GB" sz="1400" dirty="0">
                <a:latin typeface="Bahnschrift Light" panose="020B0502040204020203" pitchFamily="34" charset="0"/>
              </a:rPr>
              <a:t>a function of initial condition, policy stance, NTF,  and LT policy assumptions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100" dirty="0">
                <a:latin typeface="Bahnschrift Light" panose="020B0502040204020203" pitchFamily="34" charset="0"/>
              </a:rPr>
              <a:t>Analysis of the forecast of gaps and trends in short-run</a:t>
            </a:r>
          </a:p>
        </p:txBody>
      </p:sp>
    </p:spTree>
    <p:extLst>
      <p:ext uri="{BB962C8B-B14F-4D97-AF65-F5344CB8AC3E}">
        <p14:creationId xmlns:p14="http://schemas.microsoft.com/office/powerpoint/2010/main" val="326271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3451-F807-0A0F-1199-16CC6C89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CA196-8B58-7376-E9BC-FCD9FA95F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I. Rationale of outlook &amp; underlying QMFM model</a:t>
            </a:r>
            <a:endParaRPr lang="en-AE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33F254-D5FE-83EA-AD15-7D09DFD77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485FBB-CAC8-34BD-B1D2-7D0D58943C66}"/>
              </a:ext>
            </a:extLst>
          </p:cNvPr>
          <p:cNvSpPr txBox="1">
            <a:spLocks/>
          </p:cNvSpPr>
          <p:nvPr/>
        </p:nvSpPr>
        <p:spPr>
          <a:xfrm>
            <a:off x="762000" y="1189038"/>
            <a:ext cx="11557000" cy="54102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Regular forecasts 16 quarters ahead for key macro aggregates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(i.e., output, inflation, final demands, ..)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as influenced by fiscal, monetary, and exchange rate policies, incl. in response to shocks and new developments (</a:t>
            </a: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scenario simulations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Emphasis on fiscal and financing/debt policies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, and interaction with monetary and exchange rate policies,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facilitating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policy coordination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between MINECOFIN and NBR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Input for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validated macro-fiscal projections in intMF,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underpinning MT budgets and IMF programs (checks on intMF)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Underlying macro model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is New-Keynesian, ‘semi-structural, gap model, FPAS-type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Uses analysis of </a:t>
            </a: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past observations, estimated trends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to fit model to data; assesses initial condition for forecast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Forecast premises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policy stance (fiscal deficit path, current policy interest rate, and ER), assumptions on external environment, other exogenous, and near-term forecasts for GDP and CPI, depending on other tools and judgment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fter shocks and policy responses have worked out,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variables return gradually to their trends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, determined by their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steady-state levels (outside model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, e.g., potential output growth, equilibrium RER, RIR, CPI target, sustainable deficit).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824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210800" cy="762000"/>
          </a:xfrm>
          <a:ln>
            <a:noFill/>
          </a:ln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IV. Recent macroeconomic developments (2015-2023)</a:t>
            </a:r>
            <a:br>
              <a:rPr lang="en-US" sz="1600" b="1" dirty="0"/>
            </a:br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Final demand (GDP) and components</a:t>
            </a:r>
            <a:endParaRPr lang="en-RW" sz="20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228601" y="1219200"/>
            <a:ext cx="5257799" cy="52578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en-GB" sz="2000" b="1" dirty="0">
                <a:latin typeface="Bahnschrift Light" panose="020B0502040204020203" pitchFamily="34" charset="0"/>
              </a:rPr>
              <a:t>Real GDP,YY % (Top right chart):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Trend growth (2000-19) averaged 7.5%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  <a:latin typeface="Bahnschrift Light" panose="020B0502040204020203" pitchFamily="34" charset="0"/>
              </a:rPr>
              <a:t>During COVID year 2020, GDP dropped 3.4% and was 12% below potential (had trend growth continued) </a:t>
            </a:r>
            <a:r>
              <a:rPr lang="en-GB" sz="1400" dirty="0">
                <a:latin typeface="Bahnschrift Light" panose="020B0502040204020203" pitchFamily="34" charset="0"/>
              </a:rPr>
              <a:t>due to drops in external and domestic demand and supply constraints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Expansionary fiscal policy mitigated COVID output drop and helped subsequent recovery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Global instability, esp. Ukraine-war </a:t>
            </a:r>
            <a:r>
              <a:rPr lang="en-RW" sz="1400" dirty="0">
                <a:latin typeface="Bahnschrift Light" panose="020B0502040204020203" pitchFamily="34" charset="0"/>
              </a:rPr>
              <a:t>slowed down the recovery from 2022Q1 onward</a:t>
            </a:r>
            <a:endParaRPr lang="en-US" sz="1400" dirty="0">
              <a:latin typeface="Bahnschrift Light" panose="020B0502040204020203" pitchFamily="34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Despite a strong bounce back in 2021, GDP estimated 6% below potential in late 2023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E09202-2959-6F0B-0068-581CD4D9D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199" y="4063562"/>
            <a:ext cx="3124200" cy="237807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70CEC8-E3F9-83D2-C9A4-5D76897D5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4063562"/>
            <a:ext cx="3200400" cy="2413438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EEBD19-883A-3453-6D02-5FB7B12FA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219200"/>
            <a:ext cx="4648199" cy="2718147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78049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FDF4C-5E0B-46FF-2DC1-1F0D62F2E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31CF-8231-22FA-9820-839850C2F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210800" cy="762000"/>
          </a:xfrm>
          <a:ln>
            <a:noFill/>
          </a:ln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IV. Recent macroeconomic developments (2015-2023)</a:t>
            </a:r>
            <a:br>
              <a:rPr lang="en-US" sz="1600" b="1" dirty="0"/>
            </a:br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Final demand (GDP) and components</a:t>
            </a:r>
            <a:endParaRPr lang="en-RW" sz="20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F88047-806B-5D31-C65F-50243777F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B51905-B381-2286-37CA-179558F51EC5}"/>
              </a:ext>
            </a:extLst>
          </p:cNvPr>
          <p:cNvSpPr txBox="1"/>
          <p:nvPr/>
        </p:nvSpPr>
        <p:spPr>
          <a:xfrm>
            <a:off x="6571811" y="1219200"/>
            <a:ext cx="5315389" cy="5271571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Bahnschrift Light" panose="020B0502040204020203" pitchFamily="34" charset="0"/>
              </a:rPr>
              <a:t>Real GDP Growth Drivers: Final demand components</a:t>
            </a:r>
            <a:endParaRPr lang="en-US" sz="1400" b="1" dirty="0">
              <a:solidFill>
                <a:srgbClr val="0070C0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Covid years (2020-21): </a:t>
            </a:r>
            <a:r>
              <a:rPr lang="en-US" sz="1200" b="1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Down-turn:</a:t>
            </a:r>
            <a:endParaRPr lang="en-RW" sz="1200" b="1" dirty="0">
              <a:solidFill>
                <a:srgbClr val="000000"/>
              </a:solidFill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GDP </a:t>
            </a:r>
            <a:r>
              <a:rPr lang="en-US" sz="1200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drop mostly attributed to slow growth in real </a:t>
            </a: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and exports</a:t>
            </a:r>
            <a:endParaRPr lang="en-US" sz="1200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a fall in imports and expansionary government demand helped mitigate the downpull on GDP;</a:t>
            </a:r>
            <a:endParaRPr lang="en-RW" sz="1200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</a:t>
            </a:r>
            <a:r>
              <a:rPr lang="en-US" sz="1200" b="1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Sharp  recover</a:t>
            </a: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en-US" sz="1200" b="1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good performance consumption, investment and increased government consumption</a:t>
            </a:r>
          </a:p>
          <a:p>
            <a:pPr indent="-1714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Somewhat expansionary government demand </a:t>
            </a:r>
            <a:endParaRPr lang="en-US" sz="1200" dirty="0">
              <a:solidFill>
                <a:srgbClr val="000000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Exports remained sluggish with a relatively higher imports</a:t>
            </a:r>
            <a:endParaRPr lang="en-RW" sz="1200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</a:t>
            </a:r>
            <a:r>
              <a:rPr lang="en-US" sz="1200" b="1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200" b="1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 down in </a:t>
            </a:r>
            <a:r>
              <a:rPr lang="en-US" sz="1200" b="1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recovery</a:t>
            </a:r>
            <a:r>
              <a:rPr lang="en-US" sz="1200" b="1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RW" sz="1200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</a:t>
            </a: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 consumption and other demand drop</a:t>
            </a:r>
            <a:r>
              <a:rPr lang="en-US" sz="1200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affected by high inflationary episode (jumps in international oil and food prices)</a:t>
            </a:r>
            <a:r>
              <a:rPr lang="en-US" sz="1200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</a:rPr>
              <a:t>Lower effect of govt demand as fiscal consolidation started (though in part thwarted by floods)</a:t>
            </a:r>
            <a:endParaRPr lang="en-RW" sz="1600" dirty="0">
              <a:latin typeface="Bahnschrift Ligh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EA53CE-F23E-55B6-EDC0-53DF3E611A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5" r="6105"/>
          <a:stretch/>
        </p:blipFill>
        <p:spPr>
          <a:xfrm>
            <a:off x="304800" y="1219200"/>
            <a:ext cx="6096000" cy="52578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22623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6683"/>
            <a:ext cx="10261600" cy="549275"/>
          </a:xfrm>
        </p:spPr>
        <p:txBody>
          <a:bodyPr/>
          <a:lstStyle/>
          <a:p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Inflation: Consumer Price Index (CPI)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6BBD95-BE42-4C2A-645F-6CCE272F3517}"/>
              </a:ext>
            </a:extLst>
          </p:cNvPr>
          <p:cNvSpPr txBox="1"/>
          <p:nvPr/>
        </p:nvSpPr>
        <p:spPr>
          <a:xfrm>
            <a:off x="4648200" y="1196296"/>
            <a:ext cx="7311190" cy="4656018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600" b="1" u="sng" dirty="0">
                <a:latin typeface="Bahnschrift Light" panose="020B0502040204020203" pitchFamily="34" charset="0"/>
              </a:rPr>
              <a:t>Headline CPI—drivers </a:t>
            </a:r>
            <a:endParaRPr lang="en-US" sz="1100" b="1" u="sng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Covid years (2020-21)—</a:t>
            </a:r>
            <a:r>
              <a:rPr lang="en-US" sz="1200" b="1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200" b="1" dirty="0"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bove target:</a:t>
            </a: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Relatively slight above target during 2020 induced by higher COVID-related food and core prices (imports)</a:t>
            </a: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less persisting towards 2021 as food pressures ease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(2021-22)—</a:t>
            </a:r>
            <a:r>
              <a:rPr lang="en-US" sz="1200" b="1" dirty="0"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Lower inflation episode:</a:t>
            </a:r>
            <a:endParaRPr lang="en-US" sz="1200" b="1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lower, driven by a still sluggish economy, good agricultural harvests, and less expensive imports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Ukraine-war (2022-23)—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Higher inflation episode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Relatively overshooting above target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200" i="1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food prices</a:t>
            </a: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driven by negative agricultural production gap and other supply shocks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200" i="1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world energy and commodity prices 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i="1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higher c</a:t>
            </a:r>
            <a:r>
              <a:rPr lang="en-US" sz="1200" i="1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ore prices</a:t>
            </a:r>
            <a:r>
              <a:rPr lang="en-US" sz="12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expectations, import prices (in/direct), supply-side shocks (pricing behavior not captured in the model)</a:t>
            </a:r>
            <a:endParaRPr lang="en-US" sz="1200" dirty="0">
              <a:solidFill>
                <a:srgbClr val="000000"/>
              </a:solidFill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2023-24: </a:t>
            </a:r>
            <a:r>
              <a:rPr lang="en-US" sz="1200" b="1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Easing to below target:</a:t>
            </a:r>
          </a:p>
          <a:p>
            <a:pPr marL="171450" indent="-1714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latin typeface="Bahnschrift Light" panose="020B0502040204020203" pitchFamily="34" charset="0"/>
              </a:rPr>
              <a:t>deceleration observed in core and food inflation and fall in energy from 2023Q1.</a:t>
            </a:r>
            <a:endParaRPr lang="en-US" sz="1200" dirty="0">
              <a:solidFill>
                <a:srgbClr val="000000"/>
              </a:solidFill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86DCC2-BB37-5AA1-B5F6-0840D68E5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10" y="1196296"/>
            <a:ext cx="4339390" cy="2641031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AC58E4-62C3-4274-2291-5114D0C50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3966823"/>
            <a:ext cx="4343401" cy="2564492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B5504-7432-7B4D-F75D-07F08F298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8923-3A7C-F33A-B4AA-FA797928C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42886"/>
            <a:ext cx="10261600" cy="549275"/>
          </a:xfrm>
        </p:spPr>
        <p:txBody>
          <a:bodyPr/>
          <a:lstStyle/>
          <a:p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Fiscal Policy—Deficit and components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6F2A58-B9E8-455A-EF1A-18C0010DC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1499CA-53C4-D1B1-1D91-D63F0A5968F2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E7373-7318-B8D0-DF0C-CBF182365D26}"/>
              </a:ext>
            </a:extLst>
          </p:cNvPr>
          <p:cNvSpPr txBox="1">
            <a:spLocks/>
          </p:cNvSpPr>
          <p:nvPr/>
        </p:nvSpPr>
        <p:spPr>
          <a:xfrm>
            <a:off x="254000" y="4084639"/>
            <a:ext cx="11734800" cy="253047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200" b="1" u="sng" dirty="0">
                <a:latin typeface="Bahnschrift" panose="020B0502040204020203" pitchFamily="34" charset="0"/>
              </a:rPr>
              <a:t>Fiscal/budget deficit (excl. grants, % GDP) and Govt demand (%GDP)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>
                <a:latin typeface="Bahnschrift Light" panose="020B0502040204020203" pitchFamily="34" charset="0"/>
              </a:rPr>
              <a:t>Some fiscal consolidation pre-Covid</a:t>
            </a:r>
            <a:r>
              <a:rPr lang="en-US" sz="1200" dirty="0">
                <a:latin typeface="Bahnschrift Light" panose="020B0502040204020203" pitchFamily="34" charset="0"/>
              </a:rPr>
              <a:t>—slightly lowered deficits averaging 10% of GDP in 2015/16—2018/19, mainly through lower spending on G&amp;S (“discretionary”)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>
                <a:latin typeface="Bahnschrift Light" panose="020B0502040204020203" pitchFamily="34" charset="0"/>
              </a:rPr>
              <a:t>Expansionary fiscal stance under Covid</a:t>
            </a:r>
            <a:r>
              <a:rPr lang="en-US" sz="1200" dirty="0">
                <a:latin typeface="Bahnschrift Light" panose="020B0502040204020203" pitchFamily="34" charset="0"/>
              </a:rPr>
              <a:t>—increased deficits averaging 14% of GDP in FY2019/20—2021/22, mainly Covid-related spending on G&amp;S (incl. school construction) and transfers/subsidies, mostly “discretionary” spending and deficit, only small “cyclical” deficit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>
                <a:latin typeface="Bahnschrift Light" panose="020B0502040204020203" pitchFamily="34" charset="0"/>
              </a:rPr>
              <a:t>Start of fiscal consolidation post-Covid</a:t>
            </a:r>
            <a:r>
              <a:rPr lang="en-US" sz="1200" dirty="0">
                <a:latin typeface="Bahnschrift Light" panose="020B0502040204020203" pitchFamily="34" charset="0"/>
              </a:rPr>
              <a:t>—deficit declined to 12% of GDP in FY2022/23, with spending on G&amp;S falling by 3% points of GDP (despite flood-related spending)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Bahnschrift Light" panose="020B0502040204020203" pitchFamily="34" charset="0"/>
              </a:rPr>
              <a:t>Fiscal stance entailed a </a:t>
            </a:r>
            <a:r>
              <a:rPr lang="en-US" sz="1400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sharp drop in real govt demand for G&amp;S</a:t>
            </a:r>
            <a:r>
              <a:rPr lang="en-US" sz="1400" dirty="0">
                <a:solidFill>
                  <a:schemeClr val="tx1"/>
                </a:solidFill>
                <a:latin typeface="Bahnschrift Light" panose="020B0502040204020203" pitchFamily="34" charset="0"/>
              </a:rPr>
              <a:t>,</a:t>
            </a:r>
            <a:r>
              <a:rPr lang="en-US" sz="1400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Bahnschrift Light" panose="020B0502040204020203" pitchFamily="34" charset="0"/>
              </a:rPr>
              <a:t>further exacerbated by surging inflation from early 2022 before falling in 2023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18690A-BF24-AB91-8945-CE300FC1B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219200"/>
            <a:ext cx="4368800" cy="2819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563FA2-4695-B2FD-D819-734F0330B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200" y="1219200"/>
            <a:ext cx="3276600" cy="2819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E65E1E-F9D3-D714-ED2B-5B8A7D295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219200"/>
            <a:ext cx="3886200" cy="2819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0862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D0EC-8FF8-C858-8A0E-7E4B6D663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3F54-8A36-2CA8-13B1-59C23F55B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42886"/>
            <a:ext cx="10261600" cy="549275"/>
          </a:xfrm>
        </p:spPr>
        <p:txBody>
          <a:bodyPr/>
          <a:lstStyle/>
          <a:p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Money Market Rates: Interest and Exchange Rates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EAC289-9043-CB27-940F-3E0A50F184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D7401A-1BB9-557E-7A8C-16508E54FB1F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B422B2-36A5-AAAE-2D29-57EB55564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92924"/>
            <a:ext cx="3124200" cy="25146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A0F065-71F6-A9F4-4BAB-BF011ED4B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1" y="4043198"/>
            <a:ext cx="3657600" cy="2281402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54715E-730A-6FD5-27F2-54E90B04C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541" y="3828393"/>
            <a:ext cx="2971800" cy="25146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7C72BF1-BD25-B449-AA7D-7A781A8740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1219200"/>
            <a:ext cx="3685033" cy="26289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D04C6C-6B85-50A6-D7AE-75D20C60CD04}"/>
              </a:ext>
            </a:extLst>
          </p:cNvPr>
          <p:cNvSpPr txBox="1"/>
          <p:nvPr/>
        </p:nvSpPr>
        <p:spPr>
          <a:xfrm>
            <a:off x="304800" y="1249417"/>
            <a:ext cx="4861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Narrative</a:t>
            </a:r>
            <a:endParaRPr lang="en-R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47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4A30F-F1AF-7A79-492A-E0B0809E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7662-4EC7-436F-F35A-2747C6676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476250"/>
          </a:xfrm>
        </p:spPr>
        <p:txBody>
          <a:bodyPr/>
          <a:lstStyle/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j-cs"/>
              </a:rPr>
              <a:t>Po</a:t>
            </a:r>
            <a:r>
              <a:rPr lang="en-US" dirty="0" err="1">
                <a:solidFill>
                  <a:srgbClr val="192EF7">
                    <a:lumMod val="50000"/>
                  </a:srgbClr>
                </a:solidFill>
                <a:ea typeface="ＭＳ Ｐゴシック" charset="-128"/>
              </a:rPr>
              <a:t>licy</a:t>
            </a:r>
            <a:r>
              <a:rPr lang="en-US" dirty="0">
                <a:solidFill>
                  <a:srgbClr val="192EF7">
                    <a:lumMod val="50000"/>
                  </a:srgbClr>
                </a:solidFill>
                <a:ea typeface="ＭＳ Ｐゴシック" charset="-128"/>
              </a:rPr>
              <a:t> a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j-cs"/>
              </a:rPr>
              <a:t>ssumptions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j-cs"/>
              </a:rPr>
              <a:t> underlying forecasts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0840F-42A8-0F32-C51F-A693B64C4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1" y="1495425"/>
            <a:ext cx="11049000" cy="4953000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600" b="1" dirty="0">
                <a:solidFill>
                  <a:prstClr val="black"/>
                </a:solidFill>
                <a:latin typeface="Bahnschrift" panose="020B0502040204020203" pitchFamily="34" charset="0"/>
              </a:rPr>
              <a:t>Domestic Policy Stance: </a:t>
            </a:r>
          </a:p>
          <a:p>
            <a:pPr marL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Monetary policy stance: </a:t>
            </a:r>
          </a:p>
          <a:p>
            <a:pPr marL="457200"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Policy Rate: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 relatively loose money market rates i.e., accommodative CBR and steered interbank rates for second half of 2024</a:t>
            </a:r>
            <a:endParaRPr lang="en-US" sz="1200" b="1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 marL="457200"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Exchange Rate (ER): Slowdown in 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ER depreciation as in the IMF PCI program of October 2024</a:t>
            </a:r>
          </a:p>
          <a:p>
            <a:pPr marL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Fiscal Policy Stance: 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Fiscal deficit path: </a:t>
            </a:r>
          </a:p>
          <a:p>
            <a:pPr marL="457200" lvl="3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2023/24-2025/26: Re-introduction of 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a strong fiscal consolidation (i.e., contractionary fiscal policy).</a:t>
            </a:r>
          </a:p>
          <a:p>
            <a:pPr marL="457200" lvl="3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2026/27 – onward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: Relatively expansionary fiscal policy that follows a sustainable level of deficit determined by debt creating deficit and grants path</a:t>
            </a:r>
          </a:p>
          <a:p>
            <a:pPr marL="228600" lvl="3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1000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</a:rPr>
              <a:t>External Policy Stance/outlook (2024-27):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Foreign (trading partners) demand: 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slowing down for 2024-25 before showing a  strong </a:t>
            </a: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recovery relative to COVID period.</a:t>
            </a:r>
            <a:endParaRPr lang="en-US" sz="1200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Foreign (trading partners) inflation: 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to remain above target and converging to 2% target around 2027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Foreign (US) interest rates: A relatively less tight monetary policy, however world  interest expected to be tight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Overall global outlook improving, however with more downside risks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endParaRPr lang="en-US" sz="1200" b="1" dirty="0">
              <a:solidFill>
                <a:prstClr val="black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60DBD4-F5A2-421E-AE26-6AA613C1B949}"/>
              </a:ext>
            </a:extLst>
          </p:cNvPr>
          <p:cNvSpPr txBox="1">
            <a:spLocks/>
          </p:cNvSpPr>
          <p:nvPr/>
        </p:nvSpPr>
        <p:spPr>
          <a:xfrm>
            <a:off x="6096000" y="1769269"/>
            <a:ext cx="5153025" cy="4679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 SemiCondensed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4625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FF823-4628-65F3-B834-4DB78DDE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139D-C637-2319-F4D1-1343B7E9B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47625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Forecast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61A8E-C938-9899-B125-5D796138B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9269"/>
            <a:ext cx="5581650" cy="4679156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Domestic Assumptions: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NBR’s monetary (IB-rate), fiscal (deficit path) and ER policy stance and inflation (CPI) position.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Real GDP/ Output: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Output is estimated (Nowcasting) at 7.9% and 5% for 2024 Q3 and Q4 respectively due to ease in demand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IR and ER policy stance: A less tight monetary policy following easy inflation in 2024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(i.e., 7.5% IB rate for Q3)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300" dirty="0">
                <a:solidFill>
                  <a:prstClr val="black"/>
                </a:solidFill>
                <a:latin typeface="Bahnschrift Light" panose="020B0502040204020203" pitchFamily="34" charset="0"/>
              </a:rPr>
              <a:t> </a:t>
            </a:r>
            <a:r>
              <a:rPr lang="en-US" sz="13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ER: 2024 </a:t>
            </a:r>
            <a:r>
              <a:rPr lang="en-US" sz="1300" dirty="0">
                <a:solidFill>
                  <a:prstClr val="black"/>
                </a:solidFill>
                <a:latin typeface="Bahnschrift Light" panose="020B0502040204020203" pitchFamily="34" charset="0"/>
              </a:rPr>
              <a:t>Q3 and Q4—BNR’s 2024 depreciation path i.e., 2024Q4 assuming % ann. depreciation of 9% by 2024 (end-June)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300" dirty="0">
                <a:solidFill>
                  <a:prstClr val="black"/>
                </a:solidFill>
                <a:latin typeface="Bahnschrift Light" panose="020B0502040204020203" pitchFamily="34" charset="0"/>
              </a:rPr>
              <a:t>ER (s) 2024Q3 (Obs. July &amp; Aug and Sept as </a:t>
            </a:r>
            <a:r>
              <a:rPr lang="en-US" sz="1300" dirty="0" err="1">
                <a:solidFill>
                  <a:prstClr val="black"/>
                </a:solidFill>
                <a:latin typeface="Bahnschrift Light" panose="020B0502040204020203" pitchFamily="34" charset="0"/>
              </a:rPr>
              <a:t>eop</a:t>
            </a:r>
            <a:r>
              <a:rPr lang="en-US" sz="1300" dirty="0">
                <a:solidFill>
                  <a:prstClr val="black"/>
                </a:solidFill>
                <a:latin typeface="Bahnschrift Light" panose="020B0502040204020203" pitchFamily="34" charset="0"/>
              </a:rPr>
              <a:t>. 28th Sept) tuned as average of 3 Months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Fiscal policies: Fiscal deficit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as in PCI 2023/24-2025/26 IMF Program (March 2024 Projections)  is expected to gradually return toward a sustainable deficit of 5% of GDP (7.5% excl. grants) rather than 3% as in the post-PCI </a:t>
            </a:r>
            <a:r>
              <a:rPr lang="en-US" sz="1400" dirty="0">
                <a:solidFill>
                  <a:srgbClr val="FF0000"/>
                </a:solidFill>
                <a:latin typeface="Bahnschrift Light" panose="020B0502040204020203" pitchFamily="34" charset="0"/>
              </a:rPr>
              <a:t>IMF Program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300" dirty="0">
                <a:solidFill>
                  <a:prstClr val="black"/>
                </a:solidFill>
                <a:latin typeface="Bahnschrift Light" panose="020B0502040204020203" pitchFamily="34" charset="0"/>
              </a:rPr>
              <a:t>Govt revenue and exogenously taken as per the path agreed upon in the IMF PCI program.</a:t>
            </a:r>
            <a:endParaRPr lang="en-US" sz="1500" dirty="0">
              <a:latin typeface="Bahnschrift Light" panose="020B050204020402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EC0F8C-DCF6-4427-FF8A-01348E2327CE}"/>
              </a:ext>
            </a:extLst>
          </p:cNvPr>
          <p:cNvSpPr txBox="1">
            <a:spLocks/>
          </p:cNvSpPr>
          <p:nvPr/>
        </p:nvSpPr>
        <p:spPr>
          <a:xfrm>
            <a:off x="838200" y="1404938"/>
            <a:ext cx="10515600" cy="34528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smtClean="0">
                <a:solidFill>
                  <a:schemeClr val="tx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BCC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Current Cyclical Position, Policy Stance, and External Environment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540738-290D-47A8-3D96-A01867FAAAE0}"/>
              </a:ext>
            </a:extLst>
          </p:cNvPr>
          <p:cNvSpPr txBox="1">
            <a:spLocks/>
          </p:cNvSpPr>
          <p:nvPr/>
        </p:nvSpPr>
        <p:spPr>
          <a:xfrm>
            <a:off x="6096000" y="1769269"/>
            <a:ext cx="5153025" cy="4679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 Semi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DD8B5B-9541-08F7-DAA6-0258C13C5019}"/>
              </a:ext>
            </a:extLst>
          </p:cNvPr>
          <p:cNvSpPr txBox="1">
            <a:spLocks/>
          </p:cNvSpPr>
          <p:nvPr/>
        </p:nvSpPr>
        <p:spPr>
          <a:xfrm>
            <a:off x="6562725" y="1769269"/>
            <a:ext cx="4686300" cy="46791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External Environment Assumptions:</a:t>
            </a:r>
          </a:p>
          <a:p>
            <a:pPr marL="27432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Rwanda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still enjoys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recovery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in trading partner demand relative to Covid-years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, at 3%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p.y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., well above the trend</a:t>
            </a:r>
          </a:p>
          <a:p>
            <a:pPr marL="27432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 The world economy is slowing down as interest rates are raised in response to inflation before catching up since 2026.</a:t>
            </a:r>
          </a:p>
          <a:p>
            <a:pPr marL="27432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rading partners’ CPI inflation (in US$)—subdued at 1.5% p.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 in the past 5-7 years and projected to return 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remain below the trend level of 2%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in the coming years </a:t>
            </a:r>
          </a:p>
          <a:p>
            <a:pPr marL="27432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World real interest rates are expected to rise from negative around -1% in the past decade to +1% by 2027,</a:t>
            </a:r>
          </a:p>
          <a:p>
            <a:pPr marL="731520" lvl="1" indent="-285750" algn="just" fontAlgn="auto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+mn-cs"/>
              </a:rPr>
              <a:t>transmitting one-for-one to Rwanda’s sovereign borrowing rates.</a:t>
            </a:r>
            <a:endParaRPr kumimoji="0" lang="en-AE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+mn-cs"/>
            </a:endParaRPr>
          </a:p>
          <a:p>
            <a:pPr marL="27432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9478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C548A-56C7-ED85-3503-F56F8A30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CD7D-D79E-58A9-6AF1-362E1213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28600"/>
            <a:ext cx="10591800" cy="762000"/>
          </a:xfrm>
        </p:spPr>
        <p:txBody>
          <a:bodyPr/>
          <a:lstStyle/>
          <a:p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VI. Macroeconomic forecast/outlook</a:t>
            </a:r>
            <a:br>
              <a:rPr lang="en-GB" b="1" dirty="0"/>
            </a:b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Final demand—Real GDP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833507-6E23-1712-E72C-CD2B8F483A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092BCE-4958-3BAA-6800-381806A53BF5}"/>
              </a:ext>
            </a:extLst>
          </p:cNvPr>
          <p:cNvSpPr txBox="1"/>
          <p:nvPr/>
        </p:nvSpPr>
        <p:spPr>
          <a:xfrm>
            <a:off x="152400" y="1176159"/>
            <a:ext cx="6934200" cy="2749471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28600" marR="0" indent="-228600">
              <a:spcAft>
                <a:spcPts val="800"/>
              </a:spcAft>
              <a:buAutoNum type="arabicPeriod"/>
            </a:pPr>
            <a:r>
              <a:rPr lang="en-US" sz="9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GDP </a:t>
            </a: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forecast to</a:t>
            </a:r>
            <a:r>
              <a:rPr lang="en-US" sz="9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slow down markedly in 2025-26, well below potential growth, followed by a catch-up (a bit above potential) in 2027-28, before returning to the regular growth path of 7½%. </a:t>
            </a:r>
          </a:p>
          <a:p>
            <a:pPr marL="228600" marR="0" indent="-228600">
              <a:spcAft>
                <a:spcPts val="800"/>
              </a:spcAft>
              <a:buAutoNum type="arabicPeriod"/>
            </a:pPr>
            <a:r>
              <a:rPr lang="en-US" sz="900" b="1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Cyclical demand position</a:t>
            </a:r>
            <a:r>
              <a:rPr lang="en-US" sz="9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output still below potential level (negative output gap) between 2024-2027 but to 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GDP growth in 2024 is forecast at 7.8% despite a slowdown to 5% </a:t>
            </a:r>
            <a:r>
              <a:rPr lang="en-US" sz="9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2024Q4</a:t>
            </a: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given robustness earlier in 2024. </a:t>
            </a:r>
          </a:p>
          <a:p>
            <a:pPr marL="171450" marR="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Growth so far in 2024 was helped by a still low RIR and still modest fiscal restraint.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9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slowdown in 2025-26 is driven by: </a:t>
            </a:r>
            <a:endParaRPr lang="en-RW" sz="900" b="1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contractionary effect of strong fiscal consolidation, both directly as govt demand for G&amp;S falls, and indirectly through the negative fiscal impulse on private demand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negative impact on demand of increased RIR as the real lending rates return to normal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slightly offsetting positive, but lagged effect on net exports of recent and further RER depreciation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9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US" sz="9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atch up in 2027-28 is driven by:  </a:t>
            </a:r>
            <a:endParaRPr lang="en-RW" sz="900" b="1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 of fiscal consolidation (Govt demand pick up), the negative fiscal impulse stops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 of increase and the start of a slight decrease in RIR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positive impact of more depreciated RER (some undervaluation)         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6B4C95-1EE2-6FAB-7947-959E540B5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195" y="1173531"/>
            <a:ext cx="4891405" cy="2749471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46EB74-18A8-0999-86E9-F1D96877E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1" y="4015335"/>
            <a:ext cx="4419600" cy="253786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483B34-B0D8-323A-35DD-9C14E0D96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168" y="4015335"/>
            <a:ext cx="4255715" cy="253786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8872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28600"/>
            <a:ext cx="10591800" cy="762000"/>
          </a:xfrm>
        </p:spPr>
        <p:txBody>
          <a:bodyPr/>
          <a:lstStyle/>
          <a:p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VI. Macroeconomic forecast/outlook</a:t>
            </a:r>
            <a:br>
              <a:rPr lang="en-GB" b="1" dirty="0"/>
            </a:b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Final demand components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985010-08A1-73D8-E4C4-71032363F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176159"/>
            <a:ext cx="6172200" cy="5300841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2297BD-FECE-C82F-F423-51AAF50D8B40}"/>
              </a:ext>
            </a:extLst>
          </p:cNvPr>
          <p:cNvSpPr txBox="1"/>
          <p:nvPr/>
        </p:nvSpPr>
        <p:spPr>
          <a:xfrm>
            <a:off x="76200" y="1176159"/>
            <a:ext cx="5537200" cy="4450834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Final demand: </a:t>
            </a:r>
            <a:r>
              <a:rPr lang="en-US" sz="1200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private demands are forecast to slow down in 2025-26, returning to normal thereafter</a:t>
            </a:r>
            <a:endParaRPr lang="en-RW" sz="1200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2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consumption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above-trend growth in 2023/early 2024, restrictive policies lower real consumption growth to </a:t>
            </a:r>
            <a:r>
              <a:rPr lang="en-US" sz="1200" u="sng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4% in 2025-26, before it returns to trend growth in line with GDP (7.5%)</a:t>
            </a:r>
            <a:endParaRPr lang="en-US" sz="1200" kern="100" dirty="0"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2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investment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sluggish growth in 2022-23, growth is forecast to be strong in 2024 (above 10%), slowing down to </a:t>
            </a:r>
            <a:r>
              <a:rPr lang="en-US" sz="1200" u="sng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6% in 2025-26 as real lending rates increase; then moves to trend growth</a:t>
            </a:r>
            <a:endParaRPr lang="en-US" sz="1200" kern="100" dirty="0"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2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exports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above trend growth in 2023-24, export growth slows down but gradually as the positive effect of recent RER depreciation keeps export growth above trend the whole period</a:t>
            </a:r>
            <a:endParaRPr lang="en-US" sz="1200" kern="100" dirty="0"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2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govt demand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almost no growth in 2025-26 due to fiscal consolidation, strong pickup thereafter</a:t>
            </a:r>
            <a:endParaRPr lang="en-US" sz="1200" kern="100" dirty="0"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2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imports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follow other demand components (including govt demand) </a:t>
            </a:r>
            <a:endParaRPr lang="en-RW" sz="12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932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38656"/>
            <a:ext cx="10058400" cy="609600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Inflation—Headline CPI and components 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B9D025-CC2E-BA46-942B-5C53E9D9632B}"/>
              </a:ext>
            </a:extLst>
          </p:cNvPr>
          <p:cNvSpPr txBox="1"/>
          <p:nvPr/>
        </p:nvSpPr>
        <p:spPr>
          <a:xfrm>
            <a:off x="203200" y="1219200"/>
            <a:ext cx="5689600" cy="5314275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</a:pPr>
            <a:r>
              <a:rPr lang="en-US" sz="14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Headline inflation </a:t>
            </a:r>
            <a:r>
              <a:rPr lang="en-US" sz="14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(period average) is expected to </a:t>
            </a:r>
            <a:r>
              <a:rPr lang="en-US" sz="1400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</a:t>
            </a:r>
            <a:r>
              <a:rPr lang="en-US" sz="14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400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subdued</a:t>
            </a:r>
            <a:r>
              <a:rPr lang="en-US" sz="1400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below 5% until 2027</a:t>
            </a:r>
            <a:r>
              <a:rPr lang="en-US" sz="1400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before a gradual return to target of 5% in 2028 as a function of :</a:t>
            </a:r>
            <a:endParaRPr lang="en-RW" sz="1400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recent </a:t>
            </a:r>
            <a:r>
              <a:rPr lang="en-US" sz="14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drop in food, energy and core inflation followed by </a:t>
            </a:r>
            <a:r>
              <a:rPr lang="en-US" sz="14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en-US" sz="14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reversal in 2023-24 of earlier positive price shocks</a:t>
            </a:r>
          </a:p>
          <a:p>
            <a:pPr marL="285750" marR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Demand-restraining policies</a:t>
            </a:r>
            <a:r>
              <a:rPr lang="en-US" sz="14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(i.e., tight interest rates and fiscal consolidation policy)</a:t>
            </a:r>
            <a:r>
              <a:rPr lang="en-US" sz="14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spcAft>
                <a:spcPts val="800"/>
              </a:spcAft>
            </a:pPr>
            <a:r>
              <a:rPr lang="en-US" sz="1400" b="1" kern="100" dirty="0">
                <a:latin typeface="Bahnschrift" panose="020B0502040204020203" pitchFamily="34" charset="0"/>
                <a:cs typeface="Times New Roman" panose="02020603050405020304" pitchFamily="18" charset="0"/>
              </a:rPr>
              <a:t>2025-27—well below 5%:</a:t>
            </a:r>
            <a:endParaRPr lang="en-RW" sz="1400" b="1" kern="1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marL="285750" lvl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effect of increasing RIR and large negative fiscal impulse on demand, hence output</a:t>
            </a:r>
          </a:p>
          <a:p>
            <a:pPr marL="285750" lvl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continued drop in food prices as agriculture returns to normal</a:t>
            </a:r>
          </a:p>
          <a:p>
            <a:pPr marL="285750" lvl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still low trading partner prices, and a small drop in world energy and food prices</a:t>
            </a:r>
          </a:p>
          <a:p>
            <a:pPr marL="285750" lvl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somewhat offset by the CPI-increasing effect of nominal ER depreciation on import prices</a:t>
            </a:r>
            <a:endParaRPr lang="en-RW" sz="1400" kern="100" dirty="0">
              <a:latin typeface="Bahnschrift Light" panose="020B0502040204020203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sz="1400" b="1" kern="100" dirty="0">
                <a:latin typeface="Bahnschrift" panose="020B0502040204020203" pitchFamily="34" charset="0"/>
                <a:cs typeface="Times New Roman" panose="02020603050405020304" pitchFamily="18" charset="0"/>
              </a:rPr>
              <a:t>2028 onward—return to target:      </a:t>
            </a:r>
            <a:endParaRPr lang="en-RW" sz="1400" b="1" kern="1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marL="285750" marR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govt demand pick up (as consolidation stops post-PCI)</a:t>
            </a:r>
            <a:endParaRPr lang="en-RW" sz="1400" kern="100" dirty="0">
              <a:latin typeface="Bahnschrift Light" panose="020B0502040204020203" pitchFamily="34" charset="0"/>
              <a:cs typeface="Times New Roman" panose="02020603050405020304" pitchFamily="18" charset="0"/>
            </a:endParaRPr>
          </a:p>
          <a:p>
            <a:pPr marL="285750" marR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other demand components return to normal</a:t>
            </a:r>
            <a:endParaRPr lang="en-RW" sz="1400" kern="100" dirty="0">
              <a:latin typeface="Bahnschrift Light" panose="020B0502040204020203" pitchFamily="34" charset="0"/>
              <a:cs typeface="Times New Roman" panose="02020603050405020304" pitchFamily="18" charset="0"/>
            </a:endParaRPr>
          </a:p>
          <a:p>
            <a:pPr marL="285750" marR="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interest rate policies push inflation back to target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AE8425-1A2B-C3C2-5973-CF4EC26E4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306830"/>
            <a:ext cx="3048000" cy="264414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D99AAE-DDF6-81D7-C9AD-EF3F2796E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4038600"/>
            <a:ext cx="3429000" cy="249487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2CD025-708E-5803-5078-6A0E1816B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4038600"/>
            <a:ext cx="2540000" cy="249487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69B86C-FDF8-F8C3-FDA6-63BA7EB630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1208951"/>
            <a:ext cx="3048000" cy="273177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77559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95AA3-45A2-7DB1-CAA0-683A13346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CE92A-13E3-72A8-BA05-206DE0F2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38656"/>
            <a:ext cx="10058400" cy="609600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Money market rates—Policy interest rates (Inter-Bank)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8B4F4E-4984-C848-B72B-7DC90542F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974B16-87CC-8E2B-D55C-9F31A71F5365}"/>
              </a:ext>
            </a:extLst>
          </p:cNvPr>
          <p:cNvSpPr txBox="1"/>
          <p:nvPr/>
        </p:nvSpPr>
        <p:spPr>
          <a:xfrm>
            <a:off x="296332" y="3124200"/>
            <a:ext cx="7552267" cy="3118803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US" sz="16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 lending rates</a:t>
            </a:r>
            <a:r>
              <a:rPr lang="en-US" sz="16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(IB rate)</a:t>
            </a:r>
            <a:r>
              <a:rPr lang="en-US" sz="16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 </a:t>
            </a:r>
            <a:r>
              <a:rPr lang="en-US" sz="16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expected to go up</a:t>
            </a:r>
            <a:r>
              <a:rPr lang="en-US" sz="16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6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normal (around 12%, for 8% margin above IB rate), but remain above pre-Covid level as world RIR projected to reach 1.5% (from negative in recent years)</a:t>
            </a:r>
            <a:endParaRPr lang="en-RW" sz="16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1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Low real lending rates (below trend) during most of 2022-24 though before rising in recent quarters (as inflation slowed down)</a:t>
            </a:r>
          </a:p>
          <a:p>
            <a:pPr marL="285750" lvl="1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neutral policy (IB) rate—after a temporary drop with low inflation—is expected to go up to 8.5-9% (and 4-4.5% in real terms) as world RIR increases and CPI inflation returns to target</a:t>
            </a:r>
          </a:p>
          <a:p>
            <a:pPr marL="285750" lvl="1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As RIR now returning to normal, induced demand-stimulating effect expected to fade and reverse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750A9E-CF4D-5F3E-CD47-01A2CD7B28D7}"/>
              </a:ext>
            </a:extLst>
          </p:cNvPr>
          <p:cNvSpPr txBox="1"/>
          <p:nvPr/>
        </p:nvSpPr>
        <p:spPr>
          <a:xfrm>
            <a:off x="304799" y="1212004"/>
            <a:ext cx="7543799" cy="1730987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</a:pPr>
            <a:r>
              <a:rPr lang="en-US" sz="12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sz="12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olicy interest rate (IB rate), nominal terms</a:t>
            </a:r>
            <a:r>
              <a:rPr lang="en-US" sz="12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 </a:t>
            </a:r>
          </a:p>
          <a:p>
            <a:pPr marL="285750" lvl="1" indent="-2857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Tight during 2022-24 as inflationary pressures increases before becoming less tight in second half of 2024 when inflation is steered back to its target</a:t>
            </a:r>
          </a:p>
          <a:p>
            <a:pPr marL="285750" lvl="1" indent="-28575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Returns to average neutral rate of </a:t>
            </a:r>
            <a:r>
              <a:rPr lang="en-US" sz="1400" kern="100" dirty="0">
                <a:solidFill>
                  <a:srgbClr val="FF0000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8% </a:t>
            </a:r>
            <a:r>
              <a:rPr lang="en-US" sz="14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for 2025-28 as RIR catch up with trend and CPI inflation returns to target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487125-CB8B-0E6E-7CAA-08402A61B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995" y="3857446"/>
            <a:ext cx="3946275" cy="248606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394B84-7DF8-61F5-4EEC-A1A2773E8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995" y="1212004"/>
            <a:ext cx="3946275" cy="2504543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56726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BDFB9-FBDD-C647-A1B5-C6DE1DD77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52F1-C418-475A-DF3D-15623C051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42886"/>
            <a:ext cx="10261600" cy="549275"/>
          </a:xfrm>
        </p:spPr>
        <p:txBody>
          <a:bodyPr/>
          <a:lstStyle/>
          <a:p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Money Market Rates: Exchange Rates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58E160-C9E3-4CB4-5C39-D496B6916A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6F6B2A1-3985-662A-F1C2-3AD6D3062C53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294E2-4EF4-6D8A-7028-9F82B4FECCA3}"/>
              </a:ext>
            </a:extLst>
          </p:cNvPr>
          <p:cNvSpPr txBox="1"/>
          <p:nvPr/>
        </p:nvSpPr>
        <p:spPr>
          <a:xfrm>
            <a:off x="178238" y="3986337"/>
            <a:ext cx="6755962" cy="2373342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US" sz="1200" b="1" kern="100" dirty="0">
                <a:latin typeface="Bahnschrift" panose="020B0502040204020203" pitchFamily="34" charset="0"/>
                <a:cs typeface="Times New Roman" panose="02020603050405020304" pitchFamily="18" charset="0"/>
              </a:rPr>
              <a:t>Real Exchange Rates</a:t>
            </a:r>
            <a:r>
              <a:rPr lang="en-US" sz="12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 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returns gradually to a path of only correcting for inflation differentials (2% </a:t>
            </a:r>
            <a:r>
              <a:rPr lang="en-US" sz="1200" kern="100" dirty="0" err="1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RW" sz="12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recent real ER overvaluation (mostly from 2022-23 inflation episode) has already been more than corrected with NBR's 2023-24 steep depreciation</a:t>
            </a:r>
            <a:endParaRPr lang="en-RW" sz="12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 to ER policy rule (mostly moving with inflation differentials) which suggests no need </a:t>
            </a:r>
            <a:r>
              <a:rPr lang="en-US" sz="12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of </a:t>
            </a: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further RER depreciation</a:t>
            </a:r>
            <a:endParaRPr lang="en-RW" sz="12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2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PCI, instead, "poses" lingering overvaluation of 15% (which evidence?) requiring more depreciation, as built into PCI projection  2024-28</a:t>
            </a:r>
            <a:endParaRPr lang="en-RW" sz="12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83DAE3-9400-1394-CDEC-48307D21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1295823"/>
            <a:ext cx="3553514" cy="2589031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F98C53-4398-80BF-A632-DA9100141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3986337"/>
            <a:ext cx="4737100" cy="2566863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3A076DC-F5C3-1516-7409-727B20739AD5}"/>
              </a:ext>
            </a:extLst>
          </p:cNvPr>
          <p:cNvSpPr txBox="1"/>
          <p:nvPr/>
        </p:nvSpPr>
        <p:spPr>
          <a:xfrm>
            <a:off x="152400" y="1283887"/>
            <a:ext cx="4533900" cy="147784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Nominal Exchange Rates(NER): </a:t>
            </a:r>
            <a:r>
              <a:rPr lang="en-US" sz="12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shar</a:t>
            </a:r>
            <a:r>
              <a:rPr lang="en-US" sz="1200" b="1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 ER depreciation (overvalued) during inflationary episode 2022-23 before a policy correction (appreciation, under-valued) in 2023-24 until end 2025</a:t>
            </a:r>
            <a:endParaRPr lang="en-US" sz="1200" b="1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E0EA22C-AC8E-4C7C-9E3A-C1629D088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515" y="1283886"/>
            <a:ext cx="3648685" cy="2600967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50810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190753"/>
            <a:ext cx="10439400" cy="598114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Fiscal policy: </a:t>
            </a:r>
            <a:r>
              <a:rPr lang="en-GB" sz="2400" b="1" dirty="0" err="1">
                <a:solidFill>
                  <a:schemeClr val="accent4"/>
                </a:solidFill>
                <a:latin typeface="Bahnschrift" panose="020B0502040204020203" pitchFamily="34" charset="0"/>
              </a:rPr>
              <a:t>Buget</a:t>
            </a: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 deficit and components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173667" y="3820263"/>
            <a:ext cx="8132133" cy="2656738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ts val="800"/>
              </a:spcAft>
              <a:buNone/>
            </a:pPr>
            <a:r>
              <a:rPr lang="en-US" sz="1200" b="1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Budget deficit (excl. grants): </a:t>
            </a:r>
            <a:r>
              <a:rPr lang="en-GB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Reintroduction of post-COVID contractionary fiscal policy in 2024-28 (</a:t>
            </a:r>
            <a:r>
              <a:rPr lang="en-US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above structural level during 2023-early 2024 before falling below structural level in 2024-28)</a:t>
            </a:r>
          </a:p>
          <a:p>
            <a:pPr marL="285750" lvl="1" indent="-285750">
              <a:spcBef>
                <a:spcPct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due a consolidation in Govt recurrent (G&amp;) and some capital spending but keeping alive some key other expenditures (subsides, transfers and policy lending)</a:t>
            </a:r>
            <a:endParaRPr lang="en-GB" sz="1200" kern="100" dirty="0">
              <a:solidFill>
                <a:schemeClr val="tx1"/>
              </a:solidFill>
              <a:latin typeface="Bahnschrift Light" panose="020B0502040204020203" pitchFamily="34" charset="0"/>
              <a:cs typeface="Times New Roman" panose="02020603050405020304" pitchFamily="18" charset="0"/>
            </a:endParaRPr>
          </a:p>
          <a:p>
            <a:pPr marL="0" lvl="1" indent="0">
              <a:spcBef>
                <a:spcPct val="0"/>
              </a:spcBef>
              <a:spcAft>
                <a:spcPts val="800"/>
              </a:spcAft>
              <a:buNone/>
            </a:pPr>
            <a:r>
              <a:rPr lang="en-GB" sz="1200" b="1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From late 2026 to 2028</a:t>
            </a:r>
            <a:r>
              <a:rPr lang="en-GB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, consolidation eases as deficit (increase in Govt. demand) moves back up toward a sustainable path</a:t>
            </a:r>
            <a:r>
              <a:rPr lang="en-US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(</a:t>
            </a:r>
            <a:r>
              <a:rPr lang="en-GB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beyond IMF PCI sustainable deficit and ratios) </a:t>
            </a:r>
          </a:p>
          <a:p>
            <a:pPr marL="560387" lvl="2" indent="-285750">
              <a:spcBef>
                <a:spcPct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GB" sz="16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revenue %GDP of 24%, Govt. demand G&amp;S of  26%, other expenditure of 5.5%, grants 2.5% and debt-creating deficit 5% of GDP (consistent with 45% NPV public debt)</a:t>
            </a:r>
            <a:endParaRPr lang="en-US" sz="1200" kern="100" dirty="0">
              <a:latin typeface="Bahnschrift Light" panose="020B0502040204020203" pitchFamily="34" charset="0"/>
              <a:cs typeface="Times New Roman" panose="02020603050405020304" pitchFamily="18" charset="0"/>
            </a:endParaRPr>
          </a:p>
          <a:p>
            <a:pPr marL="560387" lvl="2" indent="-285750">
              <a:spcBef>
                <a:spcPct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GB" sz="1200" kern="1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esp. as revenue is slow to rise, debt-creating deficits are for a few years above sustainable, at 7%.</a:t>
            </a:r>
            <a:endParaRPr lang="en-RW" sz="1200" kern="100" dirty="0">
              <a:solidFill>
                <a:schemeClr val="tx1"/>
              </a:solidFill>
              <a:latin typeface="Bahnschrift Light" panose="020B0502040204020203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152400" y="1138294"/>
            <a:ext cx="11836400" cy="290899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100" i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Budget deficit (spending—Govt. demand &amp; other expenditures and revenue) composed into structural, discretional and cyclical deficit to breakdown its effect on final demand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2C7DB9-E208-7CB6-789B-0E2128FD09A6}"/>
              </a:ext>
            </a:extLst>
          </p:cNvPr>
          <p:cNvSpPr txBox="1"/>
          <p:nvPr/>
        </p:nvSpPr>
        <p:spPr>
          <a:xfrm>
            <a:off x="173667" y="1436526"/>
            <a:ext cx="4404046" cy="227075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Bahnschrift Light" panose="020B0502040204020203" pitchFamily="34" charset="0"/>
              </a:rPr>
              <a:t>Govt. demand of G&amp;S switches from above to below its structural trend for 2024-28 as other key expenditures (</a:t>
            </a:r>
            <a:r>
              <a:rPr lang="en-US" sz="1200" dirty="0" err="1">
                <a:latin typeface="Bahnschrift Light" panose="020B0502040204020203" pitchFamily="34" charset="0"/>
              </a:rPr>
              <a:t>subsdies</a:t>
            </a:r>
            <a:r>
              <a:rPr lang="en-US" sz="1200" dirty="0">
                <a:latin typeface="Bahnschrift Light" panose="020B0502040204020203" pitchFamily="34" charset="0"/>
              </a:rPr>
              <a:t>, transfers and policy lending) maintained for economic growth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Bahnschrift Light" panose="020B0502040204020203" pitchFamily="34" charset="0"/>
              </a:rPr>
              <a:t>Implies contractionary/consolidation policy of a lower deficit and negative effect on demand (i.e., lower consumption of imports and private investment) 2023-25,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Bahnschrift Light" panose="020B0502040204020203" pitchFamily="34" charset="0"/>
              </a:rPr>
              <a:t>fading thereafter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8580F5-A203-7531-A30C-48AD0C075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433898"/>
            <a:ext cx="3657600" cy="2328557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62BD24D-7C14-6F22-2BE4-7BFBAED99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570" y="1433898"/>
            <a:ext cx="3618230" cy="2328557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E2043F2-5A99-0CDE-2179-2D9F713B3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0570" y="3820263"/>
            <a:ext cx="3592830" cy="2643638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17536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4343400" cy="750514"/>
          </a:xfrm>
        </p:spPr>
        <p:txBody>
          <a:bodyPr/>
          <a:lstStyle/>
          <a:p>
            <a:r>
              <a:rPr lang="en-GB" sz="2400" b="1" dirty="0"/>
              <a:t>  </a:t>
            </a:r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(ii): fiscal impulse affects  output via private demand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AF6A8-A1FC-08FD-607D-366D8C204D63}"/>
              </a:ext>
            </a:extLst>
          </p:cNvPr>
          <p:cNvSpPr txBox="1">
            <a:spLocks/>
          </p:cNvSpPr>
          <p:nvPr/>
        </p:nvSpPr>
        <p:spPr>
          <a:xfrm>
            <a:off x="5638800" y="4617926"/>
            <a:ext cx="5867400" cy="185907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fiscal stance direct and indirect effect on output</a:t>
            </a: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--average negative discretionary deficit of 2% of GDP  during 2023-25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Times New Roman" panose="02020603050405020304" pitchFamily="18" charset="0"/>
              </a:rPr>
              <a:t>--estimated to lower real GDP by some 1.7%, mainly from lower govt demand for G&amp;S (two-thirds) and the remainder from lower private demand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A8341-0CDE-1B55-F22E-BA82C40D4258}"/>
              </a:ext>
            </a:extLst>
          </p:cNvPr>
          <p:cNvSpPr txBox="1"/>
          <p:nvPr/>
        </p:nvSpPr>
        <p:spPr>
          <a:xfrm>
            <a:off x="304800" y="4599265"/>
            <a:ext cx="5003799" cy="151624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t>“fiscal impulse”—mainly discretionary deficit—affects private demand and hence output indirectly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--turns negative from late 2022 for several years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--works on private demand via transfers/subsidies and revenue and ‘optimism effect’ of fiscal stance</a:t>
            </a:r>
            <a:endParaRPr kumimoji="0" lang="en-RW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0E7634-C4F1-798E-919D-FA326A85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1"/>
            <a:ext cx="4343400" cy="3292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82FE92-6EF8-8455-B340-37D8B1FFEE7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2" y="1152331"/>
            <a:ext cx="5105398" cy="329237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8E8912A-FD4D-BECC-5556-35984674AE2E}"/>
              </a:ext>
            </a:extLst>
          </p:cNvPr>
          <p:cNvSpPr txBox="1">
            <a:spLocks/>
          </p:cNvSpPr>
          <p:nvPr/>
        </p:nvSpPr>
        <p:spPr>
          <a:xfrm flipH="1">
            <a:off x="6248402" y="228600"/>
            <a:ext cx="5333998" cy="75051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(i+ii) fiscal stance: total output effect via Govt and private demand</a:t>
            </a:r>
            <a:endParaRPr kumimoji="0" lang="en-AE" sz="2400" b="1" i="0" u="none" strike="noStrike" kern="1200" cap="none" spc="0" normalizeH="0" baseline="0" noProof="0" dirty="0">
              <a:ln>
                <a:noFill/>
              </a:ln>
              <a:solidFill>
                <a:srgbClr val="192EF7">
                  <a:lumMod val="50000"/>
                </a:srgbClr>
              </a:solidFill>
              <a:effectLst/>
              <a:uLnTx/>
              <a:uFillTx/>
              <a:latin typeface="Gill Sans MT"/>
              <a:ea typeface="ＭＳ Ｐゴシック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4429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3A2E-363D-1D2D-E820-83FCF32A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AE88-1DDE-E633-6622-331867877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190753"/>
            <a:ext cx="10439400" cy="598114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Fiscal policy: Effect on final demand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EA807-898D-90E8-2F12-03F3205FA8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225971-3959-B8CB-AEB9-49679FBBEE47}"/>
              </a:ext>
            </a:extLst>
          </p:cNvPr>
          <p:cNvSpPr txBox="1">
            <a:spLocks/>
          </p:cNvSpPr>
          <p:nvPr/>
        </p:nvSpPr>
        <p:spPr>
          <a:xfrm>
            <a:off x="76200" y="3468314"/>
            <a:ext cx="4743966" cy="192415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</a:t>
            </a:r>
            <a:r>
              <a:rPr lang="en-GB" sz="1050" b="1" kern="100" dirty="0" err="1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iscal</a:t>
            </a:r>
            <a:r>
              <a:rPr lang="en-GB" sz="105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path assumed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PCI targets FY2024/25-2025/26 for deficit, revenue, and spending are set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negative govt demand and fiscal impulse entail a growth slowdown in 2025-26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late 2026, the negative fiscal impulse ends, deficit moves back up toward a sustainable path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beyond-PCI sustainable fiscal ratios toward, rev/GDP 24%, govt-</a:t>
            </a:r>
            <a:r>
              <a:rPr lang="en-GB" sz="1050" kern="100" dirty="0" err="1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G&amp;S 26%, other exp 5.5% grants 2.5% and </a:t>
            </a:r>
            <a:r>
              <a:rPr lang="en-GB" sz="1050" i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debt-creating deficit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050" i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5% of GDP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(consistent with 45% NPV public debt)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esp. as revenue is slow to rise</a:t>
            </a:r>
            <a:r>
              <a:rPr lang="en-GB" sz="1050" i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debt-creating deficits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are for a few years above sustainable, at 7%.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B7A98-BD55-781F-F1E6-ECD79A1DCD85}"/>
              </a:ext>
            </a:extLst>
          </p:cNvPr>
          <p:cNvSpPr txBox="1"/>
          <p:nvPr/>
        </p:nvSpPr>
        <p:spPr>
          <a:xfrm>
            <a:off x="152400" y="1151513"/>
            <a:ext cx="117309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100" b="1" dirty="0">
                <a:solidFill>
                  <a:srgbClr val="0070C0"/>
                </a:solidFill>
                <a:latin typeface="+mj-lt"/>
              </a:rPr>
              <a:t>Fiscal policy affects final demand (i.e., total output and private investment) through directly: Govt. demand of G&amp;S and indirectly: fiscal impulse created by policy other expenditures in the short run.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05CCB6-3EAB-86B7-B9A0-996D215F8076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03802-0949-98F8-C140-863EC1349BB6}"/>
              </a:ext>
            </a:extLst>
          </p:cNvPr>
          <p:cNvSpPr txBox="1"/>
          <p:nvPr/>
        </p:nvSpPr>
        <p:spPr>
          <a:xfrm>
            <a:off x="76200" y="2362200"/>
            <a:ext cx="4637086" cy="885755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Bahnschrift Light" panose="020B0502040204020203" pitchFamily="34" charset="0"/>
              </a:rPr>
              <a:t>--from 2024, govt demand % GDP switches from above to below its structural trend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Bahnschrift Light" panose="020B0502040204020203" pitchFamily="34" charset="0"/>
              </a:rPr>
              <a:t>--implies negative govt demand for  2023-25, fading thereafter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A9F9C6-6773-D64C-EE34-2E53768EE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414" y="3894083"/>
            <a:ext cx="3474720" cy="25908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AD84A1-421B-6086-0ACD-A7C913846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3894083"/>
            <a:ext cx="3612330" cy="25908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99053C-9DD0-7701-510D-CD2FA15533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1447800"/>
            <a:ext cx="5143500" cy="23622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7893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29282-7046-C4D8-0D18-7B7D8433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E4B2-716E-3D87-F285-17B209CE8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41325"/>
            <a:ext cx="8839200" cy="39687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VIII. Policies guiding forecasts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75EB00-211B-0E7C-613E-8B4B3416D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66A508-DB28-B023-DC0E-D21FBF74CEDE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F1E6C-DA97-4A9D-685D-B846CBEB5751}"/>
              </a:ext>
            </a:extLst>
          </p:cNvPr>
          <p:cNvSpPr txBox="1"/>
          <p:nvPr/>
        </p:nvSpPr>
        <p:spPr>
          <a:xfrm>
            <a:off x="304800" y="1219200"/>
            <a:ext cx="11849100" cy="479875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kern="100" dirty="0">
                <a:solidFill>
                  <a:srgbClr val="0070C0"/>
                </a:solidFill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Output growth:</a:t>
            </a:r>
            <a:endParaRPr lang="en-US" sz="1800" b="1" kern="100" dirty="0">
              <a:solidFill>
                <a:srgbClr val="0070C0"/>
              </a:solidFill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prstClr val="black"/>
                </a:solidFill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lowdown in 2025-26: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Fiscal policy: </a:t>
            </a:r>
            <a:r>
              <a:rPr lang="en-US" sz="1800" b="1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contraction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fiscal </a:t>
            </a:r>
            <a:r>
              <a:rPr lang="en-US" sz="1800" b="1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policy—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strong fiscal consolidation </a:t>
            </a:r>
            <a:r>
              <a:rPr lang="en-US" sz="1800" kern="100" dirty="0" err="1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i.e</a:t>
            </a:r>
            <a:r>
              <a:rPr lang="en-US" sz="1800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tight 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govt demand for G&amp;S falls, and negative fiscal impulse on private demand)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b="1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Monetary policy: T</a:t>
            </a:r>
            <a:r>
              <a:rPr lang="en-US" sz="1800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ight Real Interests Rate contract demand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Exhange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rate: 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further RER depreciation to negatively affect net exports.</a:t>
            </a:r>
            <a:endParaRPr lang="en-US" sz="1800" kern="100" noProof="0" dirty="0">
              <a:solidFill>
                <a:prstClr val="black"/>
              </a:solidFill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endParaRPr kumimoji="0" lang="en-RW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US" sz="16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atch up in 2027-28: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Fiscal policy: </a:t>
            </a:r>
            <a:r>
              <a:rPr lang="en-US" sz="1800" b="1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expansionary</a:t>
            </a:r>
            <a:r>
              <a:rPr lang="en-US" sz="18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fiscal demand—end of fiscal consolidation (Govt demand pick up)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Monetary policy: Expansionary Real Interest Rate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Exchange rate: </a:t>
            </a:r>
            <a:r>
              <a:rPr lang="en-US" sz="18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Positive impact of more depreciated RER to exports</a:t>
            </a:r>
            <a:endParaRPr lang="en-US" sz="1800" b="1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538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41324"/>
            <a:ext cx="8839200" cy="5492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VII. Forecast evaluation (latest vs. new forecast)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C14A58F-5106-C8F6-D986-844BA0772EDF}"/>
              </a:ext>
            </a:extLst>
          </p:cNvPr>
          <p:cNvSpPr txBox="1">
            <a:spLocks/>
          </p:cNvSpPr>
          <p:nvPr/>
        </p:nvSpPr>
        <p:spPr>
          <a:xfrm>
            <a:off x="1143000" y="1182012"/>
            <a:ext cx="8610600" cy="39687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Main indicators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96A0F5-D0A6-542C-AF7D-0AC2B6E046F8}"/>
              </a:ext>
            </a:extLst>
          </p:cNvPr>
          <p:cNvSpPr txBox="1"/>
          <p:nvPr/>
        </p:nvSpPr>
        <p:spPr>
          <a:xfrm>
            <a:off x="7213600" y="1662450"/>
            <a:ext cx="4775200" cy="4940327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u="sng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Nov 2024 vs. Nov 2023 forecast</a:t>
            </a:r>
          </a:p>
          <a:p>
            <a:pPr>
              <a:lnSpc>
                <a:spcPct val="150000"/>
              </a:lnSpc>
            </a:pPr>
            <a:r>
              <a:rPr lang="en-US" sz="1800" b="1" i="1" dirty="0">
                <a:latin typeface="Bahnschrift Light" panose="020B0502040204020203" pitchFamily="34" charset="0"/>
              </a:rPr>
              <a:t>Effect of new observed data/info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More responsive policy and real interest rates on inflation (recalibrated reaction of IR on inflation)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More overvalued Exchange Rate (ER)—A higher ER depreciation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CPI turning to target and more accelerated post 2026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A lower budget deficit—more consolidated fiscal policies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Lower GDP growth due to tight monetary and fiscal policy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16289-E9C3-BE91-811E-C43F342FE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722606"/>
            <a:ext cx="6832600" cy="4906794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20728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DAA0-2284-87D1-F321-AC0FD09E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0F8AA-B97D-DC41-1036-94BDAA51A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41325"/>
            <a:ext cx="8839200" cy="39687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VIII. Model revision—Effect of recalibration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FF2078-3EB9-C5F0-7970-143EF934F0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AF2C41-745B-2914-8149-03CBB7D6F627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5BD608F-C07F-6A6A-C26E-1E077561A3E8}"/>
              </a:ext>
            </a:extLst>
          </p:cNvPr>
          <p:cNvSpPr txBox="1">
            <a:spLocks/>
          </p:cNvSpPr>
          <p:nvPr/>
        </p:nvSpPr>
        <p:spPr>
          <a:xfrm>
            <a:off x="1143000" y="1140106"/>
            <a:ext cx="6019800" cy="33890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Main indicators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FA967-B138-F6ED-6048-1680A554DAB6}"/>
              </a:ext>
            </a:extLst>
          </p:cNvPr>
          <p:cNvSpPr txBox="1"/>
          <p:nvPr/>
        </p:nvSpPr>
        <p:spPr>
          <a:xfrm>
            <a:off x="7315200" y="1495504"/>
            <a:ext cx="4495800" cy="4295791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u="sng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Nov 2024 vs. Sept 2023 forecasts</a:t>
            </a:r>
          </a:p>
          <a:p>
            <a:pPr algn="just">
              <a:lnSpc>
                <a:spcPct val="150000"/>
              </a:lnSpc>
            </a:pPr>
            <a:r>
              <a:rPr lang="en-GB" sz="1600" b="1" dirty="0">
                <a:latin typeface="Bahnschrift" panose="020B0502040204020203" pitchFamily="34" charset="0"/>
              </a:rPr>
              <a:t>Effect of parameter recalibration (Incl. IB rate response to inflation and output gap, UIP and Core CPI persistence)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More responsive policy and real interest rates on inflation (recalibrated reaction of IR on inflation)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A less overvalued Exchange Rate (ER)—A less ER depreciation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CPI turning to target and more accelerated post 2026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Higher GDP growth due to less tight monetary policy.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1487EB-3E0C-689D-01C9-02AECF465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95504"/>
            <a:ext cx="6858000" cy="503946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5127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84C96-2DDB-9AEE-BF92-AAB06412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5B59F-3F2B-B167-21D0-64EC383E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IX. QMFM inter-twin with macro toolbox (nowcasting, MF…)</a:t>
            </a:r>
            <a:endParaRPr lang="en-GB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4A72F3-B15E-50D8-AC09-B858F590D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1AB29CD-B87E-5056-6100-81504BB9822A}"/>
              </a:ext>
            </a:extLst>
          </p:cNvPr>
          <p:cNvSpPr txBox="1">
            <a:spLocks/>
          </p:cNvSpPr>
          <p:nvPr/>
        </p:nvSpPr>
        <p:spPr>
          <a:xfrm>
            <a:off x="304800" y="1143000"/>
            <a:ext cx="11506200" cy="4876801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</a:pPr>
            <a:r>
              <a:rPr lang="en-GB" dirty="0"/>
              <a:t>Calibration of elasticities and exogenous assumptions (i.e., exogenous growth rates of final demand components) for other macro-tools </a:t>
            </a:r>
          </a:p>
          <a:p>
            <a:pPr algn="just">
              <a:lnSpc>
                <a:spcPct val="200000"/>
              </a:lnSpc>
            </a:pPr>
            <a:r>
              <a:rPr lang="en-GB" dirty="0"/>
              <a:t>During IMF Mission and Projections reviews, the QMFM quarterly estimation is useful to inform annual Real sector/MF </a:t>
            </a:r>
            <a:r>
              <a:rPr lang="en-GB" dirty="0" err="1"/>
              <a:t>Inyear</a:t>
            </a:r>
            <a:r>
              <a:rPr lang="en-GB" dirty="0"/>
              <a:t> projections.</a:t>
            </a:r>
          </a:p>
          <a:p>
            <a:pPr algn="just">
              <a:lnSpc>
                <a:spcPct val="200000"/>
              </a:lnSpc>
            </a:pPr>
            <a:r>
              <a:rPr lang="en-GB" dirty="0"/>
              <a:t> Quarterly estimation of GDP from demand side can be useful to evaluate quarterly nowcasts</a:t>
            </a:r>
          </a:p>
          <a:p>
            <a:pPr algn="just"/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40427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CC0E1-48DC-7EBC-571E-D6698B3A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6A725-3CE2-543A-41F0-760D0008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VI. Inputs for intMF projections &amp; discussions 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(template)</a:t>
            </a:r>
            <a:endParaRPr lang="en-GB" i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7FC8E6-53C0-AEAE-30EB-28ABFD859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94A4649-2D17-7D9C-C4CD-020D4DB02760}"/>
              </a:ext>
            </a:extLst>
          </p:cNvPr>
          <p:cNvSpPr txBox="1">
            <a:spLocks/>
          </p:cNvSpPr>
          <p:nvPr/>
        </p:nvSpPr>
        <p:spPr>
          <a:xfrm>
            <a:off x="76200" y="926528"/>
            <a:ext cx="11734800" cy="5702872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QMFM forecast is independent assessment of macro outlook—incl. interaction of macro policies. Its demand-driven approach complements the mainly supply-driven intMF projection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Real GDP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contractionary impact of fiscal deficit reduction and RIR increase in 2025-26 suggest downward adjustment of GDP growth from intMF sum of sectoral growth rates: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for intMF consider: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GDP growth around 6% in 2025-26 before catch up to 8-9% in 2027-28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CPI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 the negative impact on demand of the restrictive policies—more than offsetting price-increasing effect of fast NER depreciation—should lead to subdued inflation in 2025-26: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for intMF consider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CPI rate below 5% in 2025-26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Private demand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restrictive policies slow down private investment/consumption growth, to consider in intMF where investment growth is a guess and consumption residual: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for intMF consider: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real consumption growth much below trend in 2025-26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		     real investment growth 5-6% in 2025-26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Imports G&amp;S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following domestic demand and GDP—compounded by recent strong RER depreciation--real imports growth is forecast to dip much below trend in 2025-26:   :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for intMF consider: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real import growth +6% in 2025-26 as check against BoP’s sum of import lines 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5421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9CDDF-C674-4275-B139-0622D56D1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C9B37-6A39-4450-A5EC-7697F498A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VI. Inputs for intMF projections &amp; discussions (cont’d) 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(template)</a:t>
            </a:r>
            <a:endParaRPr lang="en-GB" i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377FB4-13FA-AF27-7601-0066DDD2D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E069DDE-7F8E-54BD-BA51-923F487E69FE}"/>
              </a:ext>
            </a:extLst>
          </p:cNvPr>
          <p:cNvSpPr txBox="1">
            <a:spLocks/>
          </p:cNvSpPr>
          <p:nvPr/>
        </p:nvSpPr>
        <p:spPr>
          <a:xfrm>
            <a:off x="76200" y="1066800"/>
            <a:ext cx="11912600" cy="5867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Exports G&amp;S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export growth is forecast to return to trend after dip in 2024, helped by recent strong RER depreciation: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for intMF consider: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real export growth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+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10% in 2025-26 as check against BoP’s sum of export lines 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Fiscal path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2024/25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ＭＳ Ｐゴシック" charset="-128"/>
                <a:cs typeface="+mn-cs"/>
              </a:rPr>
              <a:t>─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2025/26 reflects PCI fiscal program targets (in % GDP). But the forecast from 2026/27 reflects premise that the deficit and its components be allowed to move gradually to their sustainable levels (for deficit 7.5% of GDP, before grants of 2.5%):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for intMF consider: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return to sustainable deficit (and components) of 7.5% of GDP from 2026/27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Exchange rate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the forecast reflects NBR’s rule of return to ER path that first corrects </a:t>
            </a: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for RER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overvaluation, then for inflation differential with trading partners (</a:t>
            </a: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+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3%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py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). The 2022-23 RER overvaluation (due to the inflation surge) was more than corrected in 2024: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for intMF consider: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much smaller NER depreciation rate than in 2023-24, i.e. of some 2% p.y.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ＭＳ Ｐゴシック" charset="-128"/>
                <a:cs typeface="+mn-cs"/>
              </a:rPr>
              <a:t>Real interest rate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forecast reflects a rise back to ‘normal’ for real policy (IB) and lending rates (</a:t>
            </a: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+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8% points above real IB) as NBR raised interest rates and inflation plunged in 2024. The RIR rise has contributed to demand restraint in 2024-26. Beyond 2026, RIR reflect higher world RIR (1.5% from 2026, compared to 0% in 2023).</a:t>
            </a:r>
          </a:p>
          <a:p>
            <a:pPr marL="1096963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3A900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for intMF consider: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75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how does the forecast RIR affect real private domestic demand?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Char char="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175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556C-239C-2032-A4AB-F5EC73F0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261600" cy="60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X. Data issues and requests &amp; suggestions</a:t>
            </a:r>
            <a:endParaRPr lang="en-RW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0382D-03F1-B037-8AF8-AE5637109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7979F-7F8C-8730-D214-36B5AA930C70}"/>
              </a:ext>
            </a:extLst>
          </p:cNvPr>
          <p:cNvSpPr txBox="1"/>
          <p:nvPr/>
        </p:nvSpPr>
        <p:spPr>
          <a:xfrm>
            <a:off x="1092200" y="1295400"/>
            <a:ext cx="1089660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+mn-lt"/>
              </a:rPr>
              <a:t>Model/Outlook data issues to be addressed</a:t>
            </a: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 – fiscal: accurate govt demand for G&amp;S, more timely and reliable Q data, timely Q treasury plan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– debt: timely &amp; complete Q data (showing IMF separately) and projections integrated into intMF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NA/NISR – discrepancies/anomalies Govt consumption, investment, inventories, final demand deflators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NBR – more timely Q BoP data, as input for models and intMF 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                 NBR-FPAS results, 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analysis of potential output, 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international interest rates (GPM)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WEOGAS &amp; GEE in right format– timely sharing by IMF staff,  QoQ projection instead of  YoY</a:t>
            </a:r>
            <a:endParaRPr lang="en-US" sz="1800" b="1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timely data reconciliation and iterative comparison of forecast results from various tools 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     input for intMF well before each Review and each quarter</a:t>
            </a:r>
          </a:p>
        </p:txBody>
      </p:sp>
    </p:spTree>
    <p:extLst>
      <p:ext uri="{BB962C8B-B14F-4D97-AF65-F5344CB8AC3E}">
        <p14:creationId xmlns:p14="http://schemas.microsoft.com/office/powerpoint/2010/main" val="641872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84158"/>
            <a:ext cx="10457873" cy="60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XI. Alternative scenario: higher foreign food/oil prices (2023-24)</a:t>
            </a:r>
            <a:endParaRPr lang="en-US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4072126"/>
            <a:ext cx="6095999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98737"/>
            <a:ext cx="9880600" cy="533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VIII. QMFM: main relationships and transmission mechanisms </a:t>
            </a:r>
            <a:endParaRPr lang="en-AE" sz="24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008" y="762000"/>
            <a:ext cx="12192000" cy="6158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50121</TotalTime>
  <Words>4790</Words>
  <Application>Microsoft Office PowerPoint</Application>
  <PresentationFormat>Widescreen</PresentationFormat>
  <Paragraphs>350</Paragraphs>
  <Slides>31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52" baseType="lpstr">
      <vt:lpstr>ＭＳ Ｐゴシック</vt:lpstr>
      <vt:lpstr>Aptos</vt:lpstr>
      <vt:lpstr>Aptos Narrow</vt:lpstr>
      <vt:lpstr>Arial</vt:lpstr>
      <vt:lpstr>Bahnschrift</vt:lpstr>
      <vt:lpstr>Bahnschrift Condensed</vt:lpstr>
      <vt:lpstr>Bahnschrift Light</vt:lpstr>
      <vt:lpstr>Bahnschrift Light Condensed</vt:lpstr>
      <vt:lpstr>Bahnschrift Light SemiCondensed</vt:lpstr>
      <vt:lpstr>Bahnschrift SemiLight</vt:lpstr>
      <vt:lpstr>Bookman Old Style</vt:lpstr>
      <vt:lpstr>Calibri</vt:lpstr>
      <vt:lpstr>Courier New</vt:lpstr>
      <vt:lpstr>Gill Sans MT</vt:lpstr>
      <vt:lpstr>Symbol</vt:lpstr>
      <vt:lpstr>Times New Roman</vt:lpstr>
      <vt:lpstr>Wingdings</vt:lpstr>
      <vt:lpstr>Wingdings 3</vt:lpstr>
      <vt:lpstr>2_Origin</vt:lpstr>
      <vt:lpstr>Office Theme</vt:lpstr>
      <vt:lpstr>3_Origin</vt:lpstr>
      <vt:lpstr>PowerPoint Presentation</vt:lpstr>
      <vt:lpstr>Outline/contents</vt:lpstr>
      <vt:lpstr>Acronyms</vt:lpstr>
      <vt:lpstr>Glossary of key terms</vt:lpstr>
      <vt:lpstr>II. Workings of underlying QMFM model</vt:lpstr>
      <vt:lpstr>I. Rationale of outlook &amp; underlying QMFM model</vt:lpstr>
      <vt:lpstr>IV. Recent macroeconomic developments (2015-2023) Final demand (GDP) and components</vt:lpstr>
      <vt:lpstr>IV. Recent macroeconomic developments (2015-2023) Final demand (GDP) and components</vt:lpstr>
      <vt:lpstr>Inflation: Consumer Price Index (CPI)</vt:lpstr>
      <vt:lpstr>Fiscal Policy—Deficit and components</vt:lpstr>
      <vt:lpstr>Money Market Rates: Interest and Exchange Rates</vt:lpstr>
      <vt:lpstr>Policy assumptions underlying forecasts</vt:lpstr>
      <vt:lpstr>Forecast Assumptions</vt:lpstr>
      <vt:lpstr>VI. Macroeconomic forecast/outlook Final demand—Real GDP</vt:lpstr>
      <vt:lpstr>VI. Macroeconomic forecast/outlook Final demand components</vt:lpstr>
      <vt:lpstr>Inflation—Headline CPI and components </vt:lpstr>
      <vt:lpstr>Money market rates—Policy interest rates (Inter-Bank)</vt:lpstr>
      <vt:lpstr>Money Market Rates: Exchange Rates</vt:lpstr>
      <vt:lpstr>Fiscal policy: Buget deficit and components</vt:lpstr>
      <vt:lpstr>  (ii): fiscal impulse affects  output via private demand</vt:lpstr>
      <vt:lpstr>Fiscal policy: Effect on final demand</vt:lpstr>
      <vt:lpstr>VIII. Policies guiding forecasts</vt:lpstr>
      <vt:lpstr>VII. Forecast evaluation (latest vs. new forecast)</vt:lpstr>
      <vt:lpstr>VIII. Model revision—Effect of recalibration</vt:lpstr>
      <vt:lpstr>IX. QMFM inter-twin with macro toolbox (nowcasting, MF…)</vt:lpstr>
      <vt:lpstr>VI. Inputs for intMF projections &amp; discussions (template)</vt:lpstr>
      <vt:lpstr>VI. Inputs for intMF projections &amp; discussions (cont’d) (template)</vt:lpstr>
      <vt:lpstr>PowerPoint Presentation</vt:lpstr>
      <vt:lpstr>X. Data issues and requests &amp; suggestions</vt:lpstr>
      <vt:lpstr>XI. Alternative scenario: higher foreign food/oil prices (2023-24)</vt:lpstr>
      <vt:lpstr>VIII. QMFM: main relationships and transmission mechanisms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1749</cp:revision>
  <cp:lastPrinted>2023-06-23T12:26:08Z</cp:lastPrinted>
  <dcterms:created xsi:type="dcterms:W3CDTF">2011-04-18T20:01:25Z</dcterms:created>
  <dcterms:modified xsi:type="dcterms:W3CDTF">2025-02-10T11:02:57Z</dcterms:modified>
</cp:coreProperties>
</file>