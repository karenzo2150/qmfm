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bookmarkIdSeed="3">
  <p:sldMasterIdLst>
    <p:sldMasterId id="2147483716" r:id="rId1"/>
  </p:sldMasterIdLst>
  <p:notesMasterIdLst>
    <p:notesMasterId r:id="rId31"/>
  </p:notesMasterIdLst>
  <p:handoutMasterIdLst>
    <p:handoutMasterId r:id="rId32"/>
  </p:handoutMasterIdLst>
  <p:sldIdLst>
    <p:sldId id="566" r:id="rId2"/>
    <p:sldId id="547" r:id="rId3"/>
    <p:sldId id="565" r:id="rId4"/>
    <p:sldId id="579" r:id="rId5"/>
    <p:sldId id="567" r:id="rId6"/>
    <p:sldId id="511" r:id="rId7"/>
    <p:sldId id="555" r:id="rId8"/>
    <p:sldId id="561" r:id="rId9"/>
    <p:sldId id="556" r:id="rId10"/>
    <p:sldId id="560" r:id="rId11"/>
    <p:sldId id="578" r:id="rId12"/>
    <p:sldId id="562" r:id="rId13"/>
    <p:sldId id="563" r:id="rId14"/>
    <p:sldId id="564" r:id="rId15"/>
    <p:sldId id="576" r:id="rId16"/>
    <p:sldId id="575" r:id="rId17"/>
    <p:sldId id="574" r:id="rId18"/>
    <p:sldId id="573" r:id="rId19"/>
    <p:sldId id="572" r:id="rId20"/>
    <p:sldId id="577" r:id="rId21"/>
    <p:sldId id="557" r:id="rId22"/>
    <p:sldId id="568" r:id="rId23"/>
    <p:sldId id="571" r:id="rId24"/>
    <p:sldId id="570" r:id="rId25"/>
    <p:sldId id="523" r:id="rId26"/>
    <p:sldId id="569" r:id="rId27"/>
    <p:sldId id="535" r:id="rId28"/>
    <p:sldId id="531" r:id="rId29"/>
    <p:sldId id="545" r:id="rId30"/>
  </p:sldIdLst>
  <p:sldSz cx="12192000" cy="6858000"/>
  <p:notesSz cx="7102475" cy="93884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EFA106F-A1D2-4A8C-B134-8F2A12C21D33}">
          <p14:sldIdLst>
            <p14:sldId id="566"/>
            <p14:sldId id="547"/>
            <p14:sldId id="565"/>
            <p14:sldId id="579"/>
            <p14:sldId id="567"/>
            <p14:sldId id="511"/>
            <p14:sldId id="555"/>
            <p14:sldId id="561"/>
            <p14:sldId id="556"/>
            <p14:sldId id="560"/>
            <p14:sldId id="578"/>
            <p14:sldId id="562"/>
            <p14:sldId id="563"/>
            <p14:sldId id="564"/>
            <p14:sldId id="576"/>
            <p14:sldId id="575"/>
            <p14:sldId id="574"/>
            <p14:sldId id="573"/>
            <p14:sldId id="572"/>
            <p14:sldId id="577"/>
            <p14:sldId id="557"/>
            <p14:sldId id="568"/>
            <p14:sldId id="571"/>
            <p14:sldId id="570"/>
            <p14:sldId id="523"/>
            <p14:sldId id="569"/>
            <p14:sldId id="535"/>
            <p14:sldId id="531"/>
            <p14:sldId id="54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7" userDrawn="1">
          <p15:clr>
            <a:srgbClr val="A4A3A4"/>
          </p15:clr>
        </p15:guide>
        <p15:guide id="2" pos="2238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56D2716-681C-0ED8-9BD4-37117C3B4FB8}" name="arend Kouwenaar" initials="aK" userId="adbbcea973320f35" providerId="Windows Live"/>
  <p188:author id="{FE78AC8B-25A4-2FA1-255B-A2BA7B6FF7E8}" name="Manirumva, Evariste" initials="ME" userId="S::emanirumva@icipe.org::fbb618da-2b8a-4a66-b30b-f0e53196d74f" providerId="AD"/>
  <p188:author id="{D5143AD7-E749-5E1E-371D-A585C0C727CD}" name="User" initials="U" userId="User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variste MANIRUMVA" initials="EM" lastIdx="4" clrIdx="0">
    <p:extLst>
      <p:ext uri="{19B8F6BF-5375-455C-9EA6-DF929625EA0E}">
        <p15:presenceInfo xmlns:p15="http://schemas.microsoft.com/office/powerpoint/2012/main" userId="S-1-5-21-367653040-3284563744-1480659140-5515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BC0A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0" autoAdjust="0"/>
    <p:restoredTop sz="95788" autoAdjust="0"/>
  </p:normalViewPr>
  <p:slideViewPr>
    <p:cSldViewPr>
      <p:cViewPr varScale="1">
        <p:scale>
          <a:sx n="95" d="100"/>
          <a:sy n="95" d="100"/>
        </p:scale>
        <p:origin x="634" y="5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55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-2196" y="-102"/>
      </p:cViewPr>
      <p:guideLst>
        <p:guide orient="horz" pos="2957"/>
        <p:guide pos="223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38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7" y="5"/>
            <a:ext cx="3078382" cy="469587"/>
          </a:xfrm>
          <a:prstGeom prst="rect">
            <a:avLst/>
          </a:prstGeom>
        </p:spPr>
        <p:txBody>
          <a:bodyPr vert="horz" wrap="square" lIns="91433" tIns="45717" rIns="91433" bIns="45717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2491" y="5"/>
            <a:ext cx="3078382" cy="469587"/>
          </a:xfrm>
          <a:prstGeom prst="rect">
            <a:avLst/>
          </a:prstGeom>
        </p:spPr>
        <p:txBody>
          <a:bodyPr vert="horz" wrap="square" lIns="91433" tIns="45717" rIns="91433" bIns="45717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952391-E811-40BD-BF31-152F5CC3E0D7}" type="datetime1">
              <a:rPr lang="en-US"/>
              <a:pPr/>
              <a:t>3/6/2024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7" y="8917280"/>
            <a:ext cx="3078382" cy="469587"/>
          </a:xfrm>
          <a:prstGeom prst="rect">
            <a:avLst/>
          </a:prstGeom>
        </p:spPr>
        <p:txBody>
          <a:bodyPr vert="horz" wrap="square" lIns="91433" tIns="45717" rIns="91433" bIns="45717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2491" y="8917280"/>
            <a:ext cx="3078382" cy="469587"/>
          </a:xfrm>
          <a:prstGeom prst="rect">
            <a:avLst/>
          </a:prstGeom>
        </p:spPr>
        <p:txBody>
          <a:bodyPr vert="horz" wrap="square" lIns="91433" tIns="45717" rIns="91433" bIns="45717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C8EE828-0B52-48BD-AC30-C13AE1823DC9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25950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7" y="5"/>
            <a:ext cx="3078382" cy="469587"/>
          </a:xfrm>
          <a:prstGeom prst="rect">
            <a:avLst/>
          </a:prstGeom>
        </p:spPr>
        <p:txBody>
          <a:bodyPr vert="horz" wrap="square" lIns="92823" tIns="46413" rIns="92823" bIns="46413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2491" y="5"/>
            <a:ext cx="3078382" cy="469587"/>
          </a:xfrm>
          <a:prstGeom prst="rect">
            <a:avLst/>
          </a:prstGeom>
        </p:spPr>
        <p:txBody>
          <a:bodyPr vert="horz" wrap="square" lIns="92823" tIns="46413" rIns="92823" bIns="46413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fld id="{91EC5310-AD28-478C-9D1F-55544C92CB9A}" type="datetime1">
              <a:rPr lang="en-US"/>
              <a:pPr/>
              <a:t>3/6/2024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04850"/>
            <a:ext cx="6261100" cy="3521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2823" tIns="46413" rIns="92823" bIns="46413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893" y="4460256"/>
            <a:ext cx="5680694" cy="4224651"/>
          </a:xfrm>
          <a:prstGeom prst="rect">
            <a:avLst/>
          </a:prstGeom>
        </p:spPr>
        <p:txBody>
          <a:bodyPr vert="horz" wrap="square" lIns="92823" tIns="46413" rIns="92823" bIns="46413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7" y="8917280"/>
            <a:ext cx="3078382" cy="469587"/>
          </a:xfrm>
          <a:prstGeom prst="rect">
            <a:avLst/>
          </a:prstGeom>
        </p:spPr>
        <p:txBody>
          <a:bodyPr vert="horz" wrap="square" lIns="92823" tIns="46413" rIns="92823" bIns="46413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2491" y="8917280"/>
            <a:ext cx="3078382" cy="469587"/>
          </a:xfrm>
          <a:prstGeom prst="rect">
            <a:avLst/>
          </a:prstGeom>
        </p:spPr>
        <p:txBody>
          <a:bodyPr vert="horz" wrap="square" lIns="92823" tIns="46413" rIns="92823" bIns="46413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fld id="{21D82EB7-C704-4A63-B645-1186AD9BB91E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50154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47C504-C68F-4932-B214-1C432888EE05}" type="slidenum">
              <a:rPr lang="en-GB" smtClean="0"/>
              <a:pPr>
                <a:defRPr/>
              </a:pPr>
              <a:t>0</a:t>
            </a:fld>
            <a:endParaRPr lang="en-GB" dirty="0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20688" y="704850"/>
            <a:ext cx="6261100" cy="35210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267620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82789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49775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10772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06735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QMFM sustainable debt-creating deficit is 5% of GDP under assumptions of: debt/GDP target of 55% (45% in NPV terms, o/w 10% domestic and 35% foreign debt, grant element 22%), real GDP growth 7.5% p.y., trading partner inflation 2% p.y., and trend RER depreciation rate 0%. The structural deficit consists of revenue 21%, government consumption 13%,government  investment 11%, and other spending 5% of GDP.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64708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78083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1319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5134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tuned GDP down in 2023Q1 (nowcast), and tuned cons down too (shock)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60725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tuned GDP down in 2023Q1 (nowcast), and tuned cons down too (shock)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2945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Output gap and Fiscal Impulse in last Chart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15048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more aggregate models, “fiscal impulse” comprises both direct effect of govt spending on G&amp;S and the indirect effect via private consumption and investment (affected by transfers/subsidies and reduced effective revenue collection)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21587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illustration of fiscal impulse in relation to output/gap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14820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5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MINECOFIN can have a different assessment of  path and impact of monetary and ER policies than NBR, just as NBR can have a different assessment of path and impact of fiscal policies.</a:t>
            </a:r>
            <a:endParaRPr lang="en-R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15344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96630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7069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47C504-C68F-4932-B214-1C432888EE05}" type="slidenum">
              <a:rPr lang="en-GB" smtClean="0"/>
              <a:pPr>
                <a:defRPr/>
              </a:pPr>
              <a:t>28</a:t>
            </a:fld>
            <a:endParaRPr lang="en-GB" dirty="0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576406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6172200"/>
            <a:ext cx="121920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3454400" y="1371600"/>
            <a:ext cx="8331200" cy="236220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3454400" y="1371600"/>
            <a:ext cx="304800" cy="23622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7" name="Subtitle 2"/>
          <p:cNvSpPr txBox="1">
            <a:spLocks/>
          </p:cNvSpPr>
          <p:nvPr userDrawn="1"/>
        </p:nvSpPr>
        <p:spPr>
          <a:xfrm>
            <a:off x="3860800" y="1371600"/>
            <a:ext cx="7924800" cy="23622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charset="0"/>
              <a:buNone/>
            </a:pPr>
            <a:r>
              <a:rPr lang="en-US" sz="2600" b="1" dirty="0">
                <a:latin typeface="Gill Sans MT" charset="0"/>
                <a:cs typeface="Times New Roman" charset="0"/>
              </a:rPr>
              <a:t>Rwanda CAADP Post Compact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charset="0"/>
              <a:buNone/>
            </a:pPr>
            <a:r>
              <a:rPr lang="en-US" sz="2600" b="1" dirty="0">
                <a:latin typeface="Gill Sans MT" charset="0"/>
                <a:cs typeface="Times New Roman" charset="0"/>
              </a:rPr>
              <a:t>High-Level Stakeholder Meeting</a:t>
            </a:r>
          </a:p>
        </p:txBody>
      </p:sp>
      <p:pic>
        <p:nvPicPr>
          <p:cNvPr id="10" name="Picture 1" descr="armoirie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 rot="10800000" flipH="1" flipV="1">
            <a:off x="304800" y="1350964"/>
            <a:ext cx="2946400" cy="2382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ubtitle 8"/>
          <p:cNvSpPr txBox="1">
            <a:spLocks/>
          </p:cNvSpPr>
          <p:nvPr userDrawn="1"/>
        </p:nvSpPr>
        <p:spPr>
          <a:xfrm>
            <a:off x="3860800" y="6248400"/>
            <a:ext cx="7823200" cy="6096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r">
              <a:spcBef>
                <a:spcPts val="600"/>
              </a:spcBef>
              <a:buClr>
                <a:schemeClr val="accent1"/>
              </a:buClr>
              <a:buSzPct val="76000"/>
              <a:buFont typeface="Symbol" charset="2"/>
              <a:buNone/>
            </a:pPr>
            <a:endParaRPr lang="en-US" sz="1000" dirty="0">
              <a:solidFill>
                <a:schemeClr val="bg2"/>
              </a:solidFill>
              <a:latin typeface="Bookman Old Style" charset="0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3454400" y="4191000"/>
            <a:ext cx="304800" cy="990600"/>
          </a:xfrm>
          <a:prstGeom prst="rect">
            <a:avLst/>
          </a:prstGeom>
          <a:solidFill>
            <a:schemeClr val="accent3"/>
          </a:solidFill>
          <a:ln w="6350" cap="rnd" cmpd="sng" algn="ctr">
            <a:solidFill>
              <a:schemeClr val="accent3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3450167" y="4191000"/>
            <a:ext cx="8343900" cy="990600"/>
          </a:xfrm>
          <a:prstGeom prst="rect">
            <a:avLst/>
          </a:prstGeom>
          <a:noFill/>
          <a:ln w="6350" cap="rnd" cmpd="sng" algn="ctr">
            <a:solidFill>
              <a:schemeClr val="accent3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860800" y="4267200"/>
            <a:ext cx="7823199" cy="457200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r">
              <a:defRPr sz="24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860800" y="4724400"/>
            <a:ext cx="7823199" cy="457200"/>
          </a:xfrm>
        </p:spPr>
        <p:txBody>
          <a:bodyPr/>
          <a:lstStyle>
            <a:lvl1pPr marL="0" indent="0" algn="r">
              <a:buNone/>
              <a:defRPr sz="20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traight Connector 2"/>
          <p:cNvSpPr>
            <a:spLocks noChangeShapeType="1"/>
          </p:cNvSpPr>
          <p:nvPr userDrawn="1"/>
        </p:nvSpPr>
        <p:spPr bwMode="auto">
          <a:xfrm>
            <a:off x="1625601" y="1066800"/>
            <a:ext cx="10240433" cy="0"/>
          </a:xfrm>
          <a:prstGeom prst="line">
            <a:avLst/>
          </a:prstGeom>
          <a:ln w="57150"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228600"/>
            <a:ext cx="10261600" cy="838200"/>
          </a:xfrm>
          <a:prstGeom prst="rect">
            <a:avLst/>
          </a:prstGeom>
        </p:spPr>
        <p:txBody>
          <a:bodyPr anchor="b" anchorCtr="0"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9347200" y="6416676"/>
            <a:ext cx="2641600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/>
                </a:solidFill>
                <a:latin typeface="Gill Sans MT" charset="0"/>
              </a:defRPr>
            </a:lvl1pPr>
          </a:lstStyle>
          <a:p>
            <a:fld id="{D97AE203-F84D-4A7F-B161-8561326BE072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endParaRPr lang="en-GB" dirty="0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fld id="{970CC022-FA3D-4B6F-94CC-171F6923194E}" type="slidenum">
              <a:rPr lang="en-GB"/>
              <a:pPr/>
              <a:t>‹#›</a:t>
            </a:fld>
            <a:endParaRPr lang="en-GB" dirty="0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fld id="{0C3105CC-1B2D-4903-971E-6A5C773A19C5}" type="datetime1">
              <a:rPr lang="en-US"/>
              <a:pPr/>
              <a:t>3/6/2024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07D18-9295-5C12-B7F8-D8E376409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83A11-90E3-6BC7-796C-FBF7B4348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E7D45-0C98-9643-133E-7CF04135A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79336-2E43-44A0-ADE1-7669CAFC9F7E}" type="datetimeFigureOut">
              <a:rPr lang="x-none" smtClean="0"/>
              <a:t>06/03/2024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FCEDC-4AD8-AC4F-ED12-34EC3D3DB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255A3-94B7-8CEE-EB38-2E387C050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878F0-BBE9-411C-9D0D-17F9871AB4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651388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203200" y="1219200"/>
            <a:ext cx="11379200" cy="4910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203201" y="6629400"/>
            <a:ext cx="11741151" cy="0"/>
          </a:xfrm>
          <a:prstGeom prst="line">
            <a:avLst/>
          </a:prstGeom>
          <a:ln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pic>
        <p:nvPicPr>
          <p:cNvPr id="1028" name="Picture 1" descr="armoirie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 rot="10800000" flipH="1" flipV="1">
            <a:off x="203200" y="152400"/>
            <a:ext cx="1016000" cy="82073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6" r:id="rId1"/>
    <p:sldLayoutId id="2147483907" r:id="rId2"/>
    <p:sldLayoutId id="2147483908" r:id="rId3"/>
    <p:sldLayoutId id="2147483909" r:id="rId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tx2"/>
          </a:solidFill>
          <a:latin typeface="+mj-lt"/>
          <a:ea typeface="ＭＳ Ｐゴシック" charset="-128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6000"/>
        <a:buFont typeface="Wingdings 3" charset="2"/>
        <a:buChar char="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1pPr>
      <a:lvl2pPr marL="547688" indent="-27305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6000"/>
        <a:buFont typeface="Wingdings 3" charset="2"/>
        <a:buChar char=""/>
        <a:defRPr sz="2000" kern="1200">
          <a:solidFill>
            <a:schemeClr val="tx2"/>
          </a:solidFill>
          <a:latin typeface="+mn-lt"/>
          <a:ea typeface="ＭＳ Ｐゴシック" charset="-128"/>
          <a:cs typeface="+mn-cs"/>
        </a:defRPr>
      </a:lvl2pPr>
      <a:lvl3pPr marL="822325" indent="-228600" algn="l" rtl="0" eaLnBrk="0" fontAlgn="base" hangingPunct="0">
        <a:spcBef>
          <a:spcPts val="500"/>
        </a:spcBef>
        <a:spcAft>
          <a:spcPct val="0"/>
        </a:spcAft>
        <a:buClr>
          <a:srgbClr val="BCBCBC"/>
        </a:buClr>
        <a:buSzPct val="76000"/>
        <a:buFont typeface="Wingdings 3" charset="2"/>
        <a:buChar char="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096963" indent="-228600" algn="l" rtl="0" eaLnBrk="0" fontAlgn="base" hangingPunct="0">
        <a:spcBef>
          <a:spcPts val="400"/>
        </a:spcBef>
        <a:spcAft>
          <a:spcPct val="0"/>
        </a:spcAft>
        <a:buClr>
          <a:srgbClr val="23A900"/>
        </a:buClr>
        <a:buSzPct val="70000"/>
        <a:buFont typeface="Wingdings" charset="2"/>
        <a:buChar char="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1371600" indent="-228600" algn="l" rtl="0" eaLnBrk="0" fontAlgn="base" hangingPunct="0">
        <a:spcBef>
          <a:spcPts val="300"/>
        </a:spcBef>
        <a:spcAft>
          <a:spcPct val="0"/>
        </a:spcAft>
        <a:buClr>
          <a:schemeClr val="accent2"/>
        </a:buClr>
        <a:buSzPct val="70000"/>
        <a:buFont typeface="Wingdings" charset="2"/>
        <a:buChar char=""/>
        <a:defRPr sz="16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emf"/><Relationship Id="rId5" Type="http://schemas.openxmlformats.org/officeDocument/2006/relationships/image" Target="../media/image13.emf"/><Relationship Id="rId4" Type="http://schemas.openxmlformats.org/officeDocument/2006/relationships/image" Target="../media/image12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emf"/><Relationship Id="rId4" Type="http://schemas.openxmlformats.org/officeDocument/2006/relationships/image" Target="../media/image22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emf"/><Relationship Id="rId4" Type="http://schemas.openxmlformats.org/officeDocument/2006/relationships/image" Target="../media/image32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emf"/><Relationship Id="rId5" Type="http://schemas.openxmlformats.org/officeDocument/2006/relationships/image" Target="../media/image40.emf"/><Relationship Id="rId4" Type="http://schemas.openxmlformats.org/officeDocument/2006/relationships/image" Target="../media/image39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emf"/><Relationship Id="rId4" Type="http://schemas.openxmlformats.org/officeDocument/2006/relationships/image" Target="../media/image44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emf"/><Relationship Id="rId4" Type="http://schemas.openxmlformats.org/officeDocument/2006/relationships/image" Target="../media/image44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emf"/><Relationship Id="rId4" Type="http://schemas.openxmlformats.org/officeDocument/2006/relationships/image" Target="../media/image48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emf"/><Relationship Id="rId2" Type="http://schemas.openxmlformats.org/officeDocument/2006/relationships/image" Target="../media/image50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emf"/><Relationship Id="rId4" Type="http://schemas.openxmlformats.org/officeDocument/2006/relationships/image" Target="../media/image52.e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tmp"/><Relationship Id="rId7" Type="http://schemas.openxmlformats.org/officeDocument/2006/relationships/image" Target="../media/image59.tmp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tmp"/><Relationship Id="rId5" Type="http://schemas.openxmlformats.org/officeDocument/2006/relationships/image" Target="../media/image57.tmp"/><Relationship Id="rId4" Type="http://schemas.openxmlformats.org/officeDocument/2006/relationships/image" Target="../media/image56.tmp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65"/>
          <p:cNvSpPr>
            <a:spLocks noChangeArrowheads="1"/>
          </p:cNvSpPr>
          <p:nvPr/>
        </p:nvSpPr>
        <p:spPr bwMode="auto">
          <a:xfrm>
            <a:off x="1524001" y="4868025"/>
            <a:ext cx="184731" cy="600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br>
              <a:rPr lang="en-GB" sz="900" dirty="0"/>
            </a:br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1866900" y="3475772"/>
            <a:ext cx="8458200" cy="1482842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GB" sz="3200" b="1" dirty="0">
                <a:solidFill>
                  <a:srgbClr val="002060"/>
                </a:solidFill>
                <a:latin typeface="+mn-lt"/>
              </a:rPr>
              <a:t>Quarterly Macro-Fiscal Outlook (QMFO)</a:t>
            </a:r>
          </a:p>
          <a:p>
            <a:pPr algn="ctr">
              <a:lnSpc>
                <a:spcPct val="150000"/>
              </a:lnSpc>
              <a:defRPr/>
            </a:pPr>
            <a:r>
              <a:rPr lang="en-GB" sz="3200" b="1" dirty="0">
                <a:solidFill>
                  <a:srgbClr val="002060"/>
                </a:solidFill>
                <a:latin typeface="+mn-lt"/>
              </a:rPr>
              <a:t>Summary Outlook Presentation 2023-26</a:t>
            </a:r>
          </a:p>
        </p:txBody>
      </p:sp>
      <p:cxnSp>
        <p:nvCxnSpPr>
          <p:cNvPr id="7" name="Straight Connector 6"/>
          <p:cNvCxnSpPr/>
          <p:nvPr/>
        </p:nvCxnSpPr>
        <p:spPr>
          <a:xfrm rot="10800000">
            <a:off x="2362200" y="3048000"/>
            <a:ext cx="7543800" cy="1588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048000" y="5715000"/>
            <a:ext cx="586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4">
                    <a:lumMod val="50000"/>
                  </a:schemeClr>
                </a:solidFill>
                <a:latin typeface="+mn-lt"/>
              </a:rPr>
              <a:t>Nov/Dec 2023 Round</a:t>
            </a:r>
            <a:endParaRPr lang="en-US" sz="28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578755-694B-F809-9288-A5B861F3FF33}"/>
              </a:ext>
            </a:extLst>
          </p:cNvPr>
          <p:cNvSpPr txBox="1"/>
          <p:nvPr/>
        </p:nvSpPr>
        <p:spPr>
          <a:xfrm>
            <a:off x="1524001" y="990600"/>
            <a:ext cx="8458200" cy="1077218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GB" sz="3200" b="1" dirty="0">
                <a:solidFill>
                  <a:schemeClr val="accent4">
                    <a:lumMod val="50000"/>
                  </a:schemeClr>
                </a:solidFill>
                <a:latin typeface="+mn-lt"/>
              </a:rPr>
              <a:t>MINECOFIN Quarterly Macro-Fiscal Model (QMFM)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2D1E2-CA9D-BA89-EEEC-51D78AD38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305857"/>
            <a:ext cx="10261600" cy="549274"/>
          </a:xfrm>
        </p:spPr>
        <p:txBody>
          <a:bodyPr/>
          <a:lstStyle/>
          <a:p>
            <a:r>
              <a:rPr lang="en-GB" b="1" dirty="0"/>
              <a:t>Outline/contents</a:t>
            </a:r>
            <a:endParaRPr lang="en-AE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C85A4-DDE9-C3B5-5A35-6FA477425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6C95DA-AC08-36FA-592F-0A9D270D4B58}"/>
              </a:ext>
            </a:extLst>
          </p:cNvPr>
          <p:cNvSpPr txBox="1">
            <a:spLocks/>
          </p:cNvSpPr>
          <p:nvPr/>
        </p:nvSpPr>
        <p:spPr>
          <a:xfrm>
            <a:off x="457200" y="1143000"/>
            <a:ext cx="10896600" cy="53340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endParaRPr lang="en-GB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294143-809D-C767-7D9E-2097A352781A}"/>
              </a:ext>
            </a:extLst>
          </p:cNvPr>
          <p:cNvSpPr txBox="1"/>
          <p:nvPr/>
        </p:nvSpPr>
        <p:spPr>
          <a:xfrm>
            <a:off x="609600" y="1016927"/>
            <a:ext cx="11328400" cy="5801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AutoNum type="romanUcPeriod"/>
            </a:pPr>
            <a:r>
              <a:rPr lang="en-GB" sz="1800" b="1" dirty="0">
                <a:latin typeface="+mn-lt"/>
              </a:rPr>
              <a:t>Rationale of outlook &amp; underlying model</a:t>
            </a:r>
          </a:p>
          <a:p>
            <a:pPr marL="514350" indent="-514350">
              <a:lnSpc>
                <a:spcPct val="150000"/>
              </a:lnSpc>
              <a:buAutoNum type="romanUcPeriod"/>
            </a:pPr>
            <a:r>
              <a:rPr lang="en-US" sz="1800" b="1" dirty="0">
                <a:latin typeface="+mn-lt"/>
              </a:rPr>
              <a:t>Recent macroeconomic developments</a:t>
            </a:r>
          </a:p>
          <a:p>
            <a:pPr marL="514350" indent="-514350">
              <a:lnSpc>
                <a:spcPct val="150000"/>
              </a:lnSpc>
              <a:buAutoNum type="romanUcPeriod"/>
            </a:pPr>
            <a:r>
              <a:rPr lang="en-US" sz="1800" b="1" dirty="0">
                <a:latin typeface="+mn-lt"/>
              </a:rPr>
              <a:t>Macroeconomic forecast assumptions</a:t>
            </a:r>
          </a:p>
          <a:p>
            <a:pPr marL="971550" lvl="1" indent="-5143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400" b="1" dirty="0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Summary current cyclical position &amp; policy stance &amp; external environment</a:t>
            </a:r>
          </a:p>
          <a:p>
            <a:pPr marL="971550" lvl="1" indent="-5143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400" b="1" dirty="0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External environment assumptions</a:t>
            </a:r>
          </a:p>
          <a:p>
            <a:pPr marL="971550" lvl="1" indent="-5143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400" b="1" dirty="0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Domestic environment assumptions</a:t>
            </a:r>
            <a:endParaRPr lang="en-US" sz="1400" b="1" dirty="0">
              <a:solidFill>
                <a:schemeClr val="accent4">
                  <a:lumMod val="50000"/>
                </a:schemeClr>
              </a:solidFill>
              <a:latin typeface="+mn-lt"/>
              <a:cs typeface="+mj-cs"/>
            </a:endParaRPr>
          </a:p>
          <a:p>
            <a:pPr marL="514350" indent="-514350">
              <a:lnSpc>
                <a:spcPct val="150000"/>
              </a:lnSpc>
              <a:buAutoNum type="romanUcPeriod"/>
            </a:pPr>
            <a:r>
              <a:rPr lang="en-US" sz="1800" b="1" dirty="0"/>
              <a:t>Macroeconomic forecast/outlook</a:t>
            </a:r>
          </a:p>
          <a:p>
            <a:pPr marL="971550" lvl="1" indent="-5143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400" b="1" dirty="0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Summary of macroeconomic forecast/outlook </a:t>
            </a:r>
            <a:r>
              <a:rPr lang="en-GB" sz="900" b="1" dirty="0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(2023Q3-2027Q4)</a:t>
            </a:r>
          </a:p>
          <a:p>
            <a:pPr marL="971550" lvl="1" indent="-5143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400" b="1" dirty="0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Output and cyclical position</a:t>
            </a:r>
          </a:p>
          <a:p>
            <a:pPr marL="971550" lvl="1" indent="-5143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400" b="1" dirty="0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Fiscal stance, deficit and components</a:t>
            </a:r>
          </a:p>
          <a:p>
            <a:pPr marL="971550" lvl="1" indent="-5143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400" b="1" dirty="0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Inflation-headline CPI and components</a:t>
            </a:r>
          </a:p>
          <a:p>
            <a:pPr marL="971550" lvl="1" indent="-5143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400" b="1" dirty="0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Monetary policy–interest rates and exchange rates</a:t>
            </a:r>
            <a:endParaRPr lang="en-GB" sz="1400" b="1" dirty="0">
              <a:latin typeface="+mn-lt"/>
            </a:endParaRPr>
          </a:p>
          <a:p>
            <a:pPr marL="514350" indent="-514350">
              <a:lnSpc>
                <a:spcPct val="150000"/>
              </a:lnSpc>
              <a:buAutoNum type="romanUcPeriod"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j-cs"/>
              </a:rPr>
              <a:t>Data issues and requests &amp; suggestions</a:t>
            </a:r>
            <a:endParaRPr lang="en-GB" sz="1100" b="1" dirty="0"/>
          </a:p>
          <a:p>
            <a:pPr marL="514350" indent="-514350">
              <a:lnSpc>
                <a:spcPct val="150000"/>
              </a:lnSpc>
              <a:buAutoNum type="romanUcPeriod"/>
            </a:pPr>
            <a:r>
              <a:rPr kumimoji="0" lang="en-GB" sz="1800" b="1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0"/>
                <a:ea typeface="ＭＳ Ｐゴシック" charset="-128"/>
                <a:cs typeface="+mj-cs"/>
              </a:rPr>
              <a:t> </a:t>
            </a: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0"/>
                <a:ea typeface="ＭＳ Ｐゴシック" charset="-128"/>
                <a:cs typeface="+mj-cs"/>
              </a:rPr>
              <a:t>Alternative scenario</a:t>
            </a:r>
            <a:r>
              <a:rPr lang="en-GB" sz="1800" b="1" dirty="0">
                <a:solidFill>
                  <a:prstClr val="black"/>
                </a:solidFill>
                <a:latin typeface="Gill Sans MT" panose="020B0502020104020203" pitchFamily="34" charset="0"/>
                <a:cs typeface="+mj-cs"/>
              </a:rPr>
              <a:t>s</a:t>
            </a: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 pitchFamily="34" charset="0"/>
              <a:ea typeface="ＭＳ Ｐゴシック" charset="-128"/>
              <a:cs typeface="+mj-cs"/>
            </a:endParaRPr>
          </a:p>
          <a:p>
            <a:pPr marL="514350" indent="-514350">
              <a:lnSpc>
                <a:spcPct val="150000"/>
              </a:lnSpc>
              <a:buAutoNum type="romanUcPeriod"/>
            </a:pPr>
            <a:r>
              <a:rPr lang="en-US" sz="1600" b="1" dirty="0">
                <a:solidFill>
                  <a:prstClr val="black"/>
                </a:solidFill>
                <a:latin typeface="Gill Sans MT"/>
                <a:cs typeface="+mj-cs"/>
              </a:rPr>
              <a:t>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j-cs"/>
              </a:rPr>
              <a:t>QMFM: main relationships and transmission mechanisms </a:t>
            </a:r>
            <a:endParaRPr lang="en-GB" sz="1600" b="1" dirty="0"/>
          </a:p>
          <a:p>
            <a:pPr marL="514350" indent="-514350">
              <a:buAutoNum type="romanUcPeriod"/>
            </a:pPr>
            <a:endParaRPr lang="en-RW" sz="2000" dirty="0"/>
          </a:p>
        </p:txBody>
      </p:sp>
    </p:spTree>
    <p:extLst>
      <p:ext uri="{BB962C8B-B14F-4D97-AF65-F5344CB8AC3E}">
        <p14:creationId xmlns:p14="http://schemas.microsoft.com/office/powerpoint/2010/main" val="2837343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2D1E2-CA9D-BA89-EEEC-51D78AD38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2075"/>
            <a:ext cx="10261600" cy="838200"/>
          </a:xfrm>
        </p:spPr>
        <p:txBody>
          <a:bodyPr/>
          <a:lstStyle/>
          <a:p>
            <a:r>
              <a:rPr lang="en-GB" b="1" dirty="0"/>
              <a:t>I. Rationale of outlook &amp; underlying model</a:t>
            </a:r>
            <a:endParaRPr lang="en-AE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C85A4-DDE9-C3B5-5A35-6FA477425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6C95DA-AC08-36FA-592F-0A9D270D4B58}"/>
              </a:ext>
            </a:extLst>
          </p:cNvPr>
          <p:cNvSpPr txBox="1">
            <a:spLocks/>
          </p:cNvSpPr>
          <p:nvPr/>
        </p:nvSpPr>
        <p:spPr>
          <a:xfrm>
            <a:off x="457200" y="1143000"/>
            <a:ext cx="10972800" cy="53340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000" i="1" dirty="0"/>
              <a:t>provide forecast 16 quarters ahead for key macro variables </a:t>
            </a:r>
            <a:r>
              <a:rPr lang="en-GB" sz="1800" dirty="0"/>
              <a:t>(i.e., output, inflation, final demands)</a:t>
            </a:r>
            <a:r>
              <a:rPr lang="en-GB" sz="1800" i="1" dirty="0"/>
              <a:t> </a:t>
            </a:r>
            <a:r>
              <a:rPr lang="en-GB" sz="2000" dirty="0"/>
              <a:t>as influenced by fiscal, monetary, and exchange rate policies, incl. in response to shocks and new developments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000" dirty="0"/>
              <a:t>emphasis on fiscal and financing/debt variables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000" i="1" dirty="0"/>
              <a:t>simulate alternative policy scenarios, </a:t>
            </a:r>
            <a:r>
              <a:rPr lang="en-GB" sz="2000" dirty="0"/>
              <a:t>analyze policy implications, and make policy recommendations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000" i="1" dirty="0"/>
              <a:t>provide input for the </a:t>
            </a:r>
            <a:r>
              <a:rPr lang="en-US" sz="2000" i="1" dirty="0"/>
              <a:t>validated macro-fiscal projections </a:t>
            </a:r>
            <a:r>
              <a:rPr lang="en-US" sz="2000" dirty="0"/>
              <a:t>underpinning the (medium-term) Budgets and IMF-supported programs, comp</a:t>
            </a:r>
            <a:r>
              <a:rPr lang="en-GB" sz="2000" dirty="0"/>
              <a:t>lementing the intMF and other macro projection tools 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000" i="1" dirty="0"/>
              <a:t>facilitate policy coordination </a:t>
            </a:r>
            <a:r>
              <a:rPr lang="en-US" sz="2000" dirty="0"/>
              <a:t>between MINECOFIN and NBR; IMF mission preparation; and policy debate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000" i="1" dirty="0"/>
              <a:t>use of tool </a:t>
            </a:r>
            <a:r>
              <a:rPr lang="en-GB" sz="2000" dirty="0"/>
              <a:t>Quarterly Macro Fiscal Model: New-Keynesian, ‘semi-structural’, ‘gap’ model:</a:t>
            </a:r>
          </a:p>
          <a:p>
            <a:pPr lvl="1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600" dirty="0"/>
              <a:t>emphasis on fiscal variables &amp; deficit components (revenue, govt spending &amp; structural, discretionary, cyclical components)</a:t>
            </a:r>
          </a:p>
          <a:p>
            <a:pPr lvl="1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600" dirty="0"/>
              <a:t>tracing key macro variables in deviation from trends, potential levels, or targets: </a:t>
            </a:r>
          </a:p>
          <a:p>
            <a:pPr lvl="1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600" dirty="0"/>
              <a:t>after shocks and policy responses have worked out, variables return to their trends (subject to persistence) which converge to their steady state levels  </a:t>
            </a:r>
          </a:p>
          <a:p>
            <a:pPr marL="274638" lvl="1" indent="0">
              <a:spcAft>
                <a:spcPts val="600"/>
              </a:spcAft>
              <a:buNone/>
            </a:pPr>
            <a:r>
              <a:rPr lang="en-GB" sz="1400" dirty="0"/>
              <a:t>                      outside model: potential growth, neutral interest rate, equilibrium real exchange rate change, sustainable deficit, target inflation rate</a:t>
            </a:r>
          </a:p>
        </p:txBody>
      </p:sp>
    </p:spTree>
    <p:extLst>
      <p:ext uri="{BB962C8B-B14F-4D97-AF65-F5344CB8AC3E}">
        <p14:creationId xmlns:p14="http://schemas.microsoft.com/office/powerpoint/2010/main" val="3220728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2D1E2-CA9D-BA89-EEEC-51D78AD38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2075"/>
            <a:ext cx="10261600" cy="838200"/>
          </a:xfrm>
        </p:spPr>
        <p:txBody>
          <a:bodyPr/>
          <a:lstStyle/>
          <a:p>
            <a:r>
              <a:rPr lang="en-GB" b="1" dirty="0"/>
              <a:t>I. Rationale of outlook &amp; underlying model</a:t>
            </a:r>
            <a:br>
              <a:rPr lang="en-GB" b="1" dirty="0"/>
            </a:b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Key concepts in the gap model (glossary)</a:t>
            </a:r>
            <a:endParaRPr lang="en-AE" sz="2000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C85A4-DDE9-C3B5-5A35-6FA477425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6C95DA-AC08-36FA-592F-0A9D270D4B58}"/>
              </a:ext>
            </a:extLst>
          </p:cNvPr>
          <p:cNvSpPr txBox="1">
            <a:spLocks/>
          </p:cNvSpPr>
          <p:nvPr/>
        </p:nvSpPr>
        <p:spPr>
          <a:xfrm>
            <a:off x="457200" y="1143000"/>
            <a:ext cx="11201400" cy="53340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chemeClr val="accent4">
                    <a:lumMod val="50000"/>
                  </a:schemeClr>
                </a:solidFill>
              </a:rPr>
              <a:t>Output gap &amp; final demand gaps (+/-): </a:t>
            </a:r>
            <a:r>
              <a:rPr lang="en-GB" sz="2000" dirty="0"/>
              <a:t>above/below potential or trend level</a:t>
            </a:r>
          </a:p>
          <a:p>
            <a:pPr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chemeClr val="accent4">
                    <a:lumMod val="50000"/>
                  </a:schemeClr>
                </a:solidFill>
              </a:rPr>
              <a:t>Real interest &amp; real exchange rate gaps</a:t>
            </a:r>
            <a:r>
              <a:rPr lang="en-GB" sz="2000" dirty="0"/>
              <a:t>: RIR and RER above/below neutral or equilibrium levels</a:t>
            </a:r>
          </a:p>
          <a:p>
            <a:pPr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chemeClr val="accent4">
                    <a:lumMod val="50000"/>
                  </a:schemeClr>
                </a:solidFill>
              </a:rPr>
              <a:t>Fiscal deficit </a:t>
            </a:r>
            <a:r>
              <a:rPr lang="en-GB" sz="2000" dirty="0"/>
              <a:t>relevant for demand impact: deficit before grants, total expenditure -/- non/tax revenue</a:t>
            </a:r>
          </a:p>
          <a:p>
            <a:pPr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chemeClr val="accent4">
                    <a:lumMod val="50000"/>
                  </a:schemeClr>
                </a:solidFill>
              </a:rPr>
              <a:t>Debt anchor &amp; sustainable deficit</a:t>
            </a:r>
            <a:r>
              <a:rPr lang="en-GB" sz="2000" dirty="0"/>
              <a:t>: debt/GDP target (with LT growth, inflation rates, etc.) drives sustainable debt-creating deficit </a:t>
            </a:r>
          </a:p>
          <a:p>
            <a:pPr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chemeClr val="accent4">
                    <a:lumMod val="50000"/>
                  </a:schemeClr>
                </a:solidFill>
              </a:rPr>
              <a:t>Fiscal stance expansionary/contractionary: </a:t>
            </a:r>
            <a:r>
              <a:rPr lang="en-GB" sz="2000" dirty="0"/>
              <a:t>deficit and govt demand for G&amp;S in % of GDP above/below trend </a:t>
            </a:r>
            <a:r>
              <a:rPr lang="en-GB" sz="1600" dirty="0"/>
              <a:t>(“discretionary” deficit </a:t>
            </a:r>
            <a:r>
              <a:rPr lang="en-GB" sz="1600"/>
              <a:t>and “discretionary” govt </a:t>
            </a:r>
            <a:r>
              <a:rPr lang="en-GB" sz="1600" dirty="0"/>
              <a:t>demand for G&amp;S in % of GDP above/below zero) </a:t>
            </a:r>
          </a:p>
          <a:p>
            <a:pPr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chemeClr val="accent4">
                    <a:lumMod val="50000"/>
                  </a:schemeClr>
                </a:solidFill>
              </a:rPr>
              <a:t>More/less restrictive monetary policies</a:t>
            </a:r>
            <a:r>
              <a:rPr lang="en-GB" sz="2000" dirty="0"/>
              <a:t>: (real) interest rates above/below neutral or trend levels</a:t>
            </a:r>
          </a:p>
          <a:p>
            <a:pPr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chemeClr val="accent4">
                    <a:lumMod val="50000"/>
                  </a:schemeClr>
                </a:solidFill>
              </a:rPr>
              <a:t>More/less restrictive exchange rate policies</a:t>
            </a:r>
            <a:r>
              <a:rPr lang="en-GB" sz="2000" dirty="0"/>
              <a:t> : real exchange rate below/above equilibrium or trend level</a:t>
            </a:r>
            <a:endParaRPr lang="en-GB" sz="2000" dirty="0">
              <a:solidFill>
                <a:schemeClr val="accent4">
                  <a:lumMod val="50000"/>
                </a:schemeClr>
              </a:solidFill>
            </a:endParaRP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chemeClr val="accent4">
                    <a:lumMod val="50000"/>
                  </a:schemeClr>
                </a:solidFill>
              </a:rPr>
              <a:t>Role of expectations</a:t>
            </a:r>
            <a:r>
              <a:rPr lang="en-GB" sz="2000" dirty="0">
                <a:solidFill>
                  <a:srgbClr val="002060"/>
                </a:solidFill>
              </a:rPr>
              <a:t>:</a:t>
            </a:r>
            <a:r>
              <a:rPr lang="en-GB" sz="2000" dirty="0"/>
              <a:t> agents today take into account expected macro variables and policies in periods ahead (e.g., expected inflation, exchange rate, final demand gaps,…)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3107259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C94FF-3715-83D7-A3A5-F73D7D616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 dirty="0"/>
              <a:t>1I. Recent macroeconomic developments</a:t>
            </a:r>
            <a:r>
              <a:rPr lang="en-US" sz="2400" dirty="0"/>
              <a:t> </a:t>
            </a:r>
            <a:r>
              <a:rPr lang="en-US" sz="1800" dirty="0"/>
              <a:t>(2015-2023Q2)</a:t>
            </a:r>
            <a:br>
              <a:rPr lang="en-US" sz="1600" b="1" dirty="0"/>
            </a:b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Real GDP/Output</a:t>
            </a:r>
            <a:endParaRPr lang="en-RW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FBB090-AFD0-7F99-80A5-8B5522B2B0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4FADF2-D58D-3533-D198-2489EABB42A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1159718"/>
            <a:ext cx="3505200" cy="2417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656309-AB20-5277-6C61-67F364BE90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371" y="1181100"/>
            <a:ext cx="3135629" cy="24362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29C76D3-DD4D-7593-516B-AD5C495D431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1147474"/>
            <a:ext cx="3581400" cy="243622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1DDEE4A-9C67-3AC4-5A2E-AC24191F73B5}"/>
              </a:ext>
            </a:extLst>
          </p:cNvPr>
          <p:cNvSpPr txBox="1">
            <a:spLocks/>
          </p:cNvSpPr>
          <p:nvPr/>
        </p:nvSpPr>
        <p:spPr>
          <a:xfrm>
            <a:off x="5638800" y="3812270"/>
            <a:ext cx="6162040" cy="2604406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r>
              <a:rPr lang="en-GB" sz="1400" b="1" dirty="0"/>
              <a:t>Real GDP,  (YoY %)</a:t>
            </a:r>
          </a:p>
          <a:p>
            <a:pPr lvl="1" algn="just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200" dirty="0"/>
              <a:t>trend growth (2000-19) averaged 7.5%</a:t>
            </a:r>
          </a:p>
          <a:p>
            <a:pPr lvl="1" algn="just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200" dirty="0">
                <a:solidFill>
                  <a:schemeClr val="tx1"/>
                </a:solidFill>
              </a:rPr>
              <a:t>in COVID year 2020, GDP dropped 3.4% and was 12% below potential (had trend growth continued) </a:t>
            </a:r>
            <a:r>
              <a:rPr lang="en-GB" sz="1200" dirty="0"/>
              <a:t>due to drops in external and domestic demand and supply constraints 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200" dirty="0"/>
              <a:t>expansionary fiscal policy mitigated Covid output drop and helped subsequent recovery</a:t>
            </a:r>
          </a:p>
          <a:p>
            <a:pPr lvl="1" algn="just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200" dirty="0"/>
              <a:t>global instability, esp. Ukraine-war, </a:t>
            </a:r>
            <a:r>
              <a:rPr lang="en-RW" sz="1200" dirty="0"/>
              <a:t>slowed down the recovery from 2022Q1 onward</a:t>
            </a:r>
            <a:endParaRPr lang="en-US" sz="1200" dirty="0"/>
          </a:p>
          <a:p>
            <a:pPr lvl="1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200" dirty="0"/>
              <a:t>despite strong bounce back in 2021, GDP estimated 6% below potential in late 2023</a:t>
            </a:r>
            <a:endParaRPr lang="en-US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32DF4F-AA63-16AB-331E-F94546F0B860}"/>
              </a:ext>
            </a:extLst>
          </p:cNvPr>
          <p:cNvSpPr txBox="1"/>
          <p:nvPr/>
        </p:nvSpPr>
        <p:spPr>
          <a:xfrm>
            <a:off x="293370" y="3810000"/>
            <a:ext cx="5269229" cy="2769989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marL="0" lvl="1" algn="just" eaLnBrk="0" hangingPunct="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76000"/>
            </a:pPr>
            <a:r>
              <a:rPr lang="en-US" sz="1400" b="1" dirty="0">
                <a:latin typeface="+mn-lt"/>
              </a:rPr>
              <a:t>Output gap drivers </a:t>
            </a:r>
          </a:p>
          <a:p>
            <a:pPr algn="just">
              <a:spcBef>
                <a:spcPts val="60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70C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Covid years (2020-21)</a:t>
            </a:r>
            <a:endParaRPr lang="en-RW" sz="10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indent="-1714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consumption and investment accounted for most of the GDP drop and negative output gap</a:t>
            </a:r>
            <a:endParaRPr lang="en-US" sz="1000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714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fall in imports and expansionary government demand helped mitigate the downpull on GDP;</a:t>
            </a:r>
            <a:endParaRPr lang="en-RW" sz="10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70C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Immediate post-Covid (2021-22)</a:t>
            </a:r>
            <a:endParaRPr lang="en-US" sz="1000" b="1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714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consumption and investment contributed most to the recovery</a:t>
            </a:r>
            <a:endParaRPr lang="en-US" sz="1000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714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supported by continued government demand, while exports remained sluggish</a:t>
            </a:r>
            <a:endParaRPr lang="en-RW" sz="10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70C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Ukraine-war (2022-23)</a:t>
            </a:r>
            <a:endParaRPr lang="en-RW" sz="10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714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post-Covid recovery slowed down due to jumps in international oil and food prices, causing high inflation and drop in real consumption and other demand</a:t>
            </a:r>
            <a:endParaRPr lang="en-US" sz="1000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714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</a:rPr>
              <a:t>fiscal consolidation started (though in part thwarted by floods) and lowered the expansionary effect of govt demand</a:t>
            </a:r>
            <a:endParaRPr lang="en-RW" sz="11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780490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2D1E2-CA9D-BA89-EEEC-51D78AD38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380999"/>
            <a:ext cx="10261600" cy="549275"/>
          </a:xfrm>
        </p:spPr>
        <p:txBody>
          <a:bodyPr/>
          <a:lstStyle/>
          <a:p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Fiscal policies and deficit components</a:t>
            </a:r>
            <a:endParaRPr lang="en-AE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C85A4-DDE9-C3B5-5A35-6FA477425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6C95DA-AC08-36FA-592F-0A9D270D4B58}"/>
              </a:ext>
            </a:extLst>
          </p:cNvPr>
          <p:cNvSpPr txBox="1">
            <a:spLocks/>
          </p:cNvSpPr>
          <p:nvPr/>
        </p:nvSpPr>
        <p:spPr>
          <a:xfrm>
            <a:off x="609600" y="1066800"/>
            <a:ext cx="10896600" cy="55626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endParaRPr lang="en-US" b="1" dirty="0"/>
          </a:p>
          <a:p>
            <a:pPr marL="0" indent="0" algn="just">
              <a:spcAft>
                <a:spcPts val="600"/>
              </a:spcAft>
              <a:buNone/>
            </a:pPr>
            <a:endParaRPr lang="en-US" b="1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81AB16D-B314-3DAD-0E05-999CF27A5DCF}"/>
              </a:ext>
            </a:extLst>
          </p:cNvPr>
          <p:cNvSpPr txBox="1">
            <a:spLocks/>
          </p:cNvSpPr>
          <p:nvPr/>
        </p:nvSpPr>
        <p:spPr>
          <a:xfrm>
            <a:off x="457201" y="4239895"/>
            <a:ext cx="11560446" cy="2237105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r>
              <a:rPr lang="en-US" sz="1200" b="1" dirty="0"/>
              <a:t>Fiscal deficit (before grants, % GDP, GFS-1986) and Govt demand (%GDP)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200" b="1" dirty="0"/>
              <a:t>some fiscal consolidation pre-Covid</a:t>
            </a:r>
            <a:r>
              <a:rPr lang="en-US" sz="1200" dirty="0"/>
              <a:t>—slightly lowered deficits averaging 10% of GDP in FY2015/16—2018/19, mainly through lower spending on G&amp;S (“discretionary”)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200" b="1" dirty="0"/>
              <a:t>expansionary fiscal stance under Covid</a:t>
            </a:r>
            <a:r>
              <a:rPr lang="en-US" sz="1200" dirty="0"/>
              <a:t>—increased deficits averaging 14% of GDP in FY2019/20—2021/22, mainly Covid-related spending on G&amp;S (incl. school construction) and transfers/subsidies, mostly “discretionary” spending and deficit, only small “cyclical” deficit 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200" b="1" dirty="0"/>
              <a:t>start of fiscal consolidation post-Covid</a:t>
            </a:r>
            <a:r>
              <a:rPr lang="en-US" sz="1200" dirty="0"/>
              <a:t>—deficit declined to 12% of GDP in FY2022/23, with spending on G&amp;S falling by 3% points of GDP (despite flood-related spending)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</a:rPr>
              <a:t>fiscal stance entailed </a:t>
            </a:r>
            <a:r>
              <a:rPr lang="en-US" sz="1200" b="1" dirty="0">
                <a:solidFill>
                  <a:schemeClr val="tx1"/>
                </a:solidFill>
              </a:rPr>
              <a:t>sharp drop in real govt demand for G&amp;S</a:t>
            </a:r>
            <a:r>
              <a:rPr lang="en-US" sz="1200" dirty="0">
                <a:solidFill>
                  <a:schemeClr val="tx1"/>
                </a:solidFill>
              </a:rPr>
              <a:t>,</a:t>
            </a:r>
            <a:r>
              <a:rPr lang="en-US" sz="1200" b="1" dirty="0">
                <a:solidFill>
                  <a:schemeClr val="tx1"/>
                </a:solidFill>
              </a:rPr>
              <a:t> </a:t>
            </a:r>
            <a:r>
              <a:rPr lang="en-US" sz="1200" dirty="0">
                <a:solidFill>
                  <a:schemeClr val="tx1"/>
                </a:solidFill>
              </a:rPr>
              <a:t>further exacerbated by surging inflation from early 2022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611B4CD-C5B6-ACA8-B4E0-A9E13E08C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5800" y="1207770"/>
            <a:ext cx="3618580" cy="275463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1313822-106D-7CFF-3909-60C65049C2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1219200"/>
            <a:ext cx="3547111" cy="2743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9B0BBC5-195E-7C4D-DA7F-E063F64CA2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295400"/>
            <a:ext cx="3544220" cy="2639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175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C94FF-3715-83D7-A3A5-F73D7D616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409481"/>
            <a:ext cx="10261600" cy="509980"/>
          </a:xfrm>
        </p:spPr>
        <p:txBody>
          <a:bodyPr/>
          <a:lstStyle/>
          <a:p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Inflation—headline CPI </a:t>
            </a:r>
            <a:endParaRPr lang="en-RW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FBB090-AFD0-7F99-80A5-8B5522B2B0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1DDEE4A-9C67-3AC4-5A2E-AC24191F73B5}"/>
              </a:ext>
            </a:extLst>
          </p:cNvPr>
          <p:cNvSpPr txBox="1">
            <a:spLocks/>
          </p:cNvSpPr>
          <p:nvPr/>
        </p:nvSpPr>
        <p:spPr>
          <a:xfrm>
            <a:off x="7315200" y="3686567"/>
            <a:ext cx="4673600" cy="2942834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r>
              <a:rPr lang="en-GB" sz="1400" b="1" dirty="0"/>
              <a:t>CPI ,  </a:t>
            </a:r>
            <a:r>
              <a:rPr lang="en-GB" sz="1050" b="1" dirty="0"/>
              <a:t>YoY %</a:t>
            </a:r>
          </a:p>
          <a:p>
            <a:pPr algn="just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200" dirty="0"/>
              <a:t>highly volatile,  mostly driven by factors unrelated to business cycle (</a:t>
            </a:r>
            <a:r>
              <a:rPr lang="en-US" sz="1100" dirty="0"/>
              <a:t>e.g., agriculture &amp; weather shocks, energy), output gap has only modest influence</a:t>
            </a:r>
          </a:p>
          <a:p>
            <a:pPr algn="just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</a:rPr>
              <a:t>food &amp; energy prices contribute most to volatility, directly and indirectly</a:t>
            </a:r>
          </a:p>
          <a:p>
            <a:pPr marL="273050" lvl="1" algn="just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</a:rPr>
              <a:t>each inflation component has its own drivers (charts)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200" dirty="0"/>
              <a:t>recent surge in inflation: weak harvests, soaring world food and energy prices, other domestic supply-side shocks….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200" dirty="0"/>
              <a:t>deceleration observed in core and food inflation, fall in energy from 2023Q1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32DF4F-AA63-16AB-331E-F94546F0B860}"/>
              </a:ext>
            </a:extLst>
          </p:cNvPr>
          <p:cNvSpPr txBox="1"/>
          <p:nvPr/>
        </p:nvSpPr>
        <p:spPr>
          <a:xfrm>
            <a:off x="3733800" y="3704827"/>
            <a:ext cx="3505200" cy="2585323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just" eaLnBrk="0" hangingPunct="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76000"/>
            </a:pPr>
            <a:r>
              <a:rPr lang="en-US" sz="1400" b="1" dirty="0">
                <a:latin typeface="+mn-lt"/>
              </a:rPr>
              <a:t>Headline CPI—drivers  (left chart)</a:t>
            </a:r>
            <a:endParaRPr lang="en-US" sz="1050" b="1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0070C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Covid years (2020-21)</a:t>
            </a:r>
          </a:p>
          <a:p>
            <a:pPr marL="171450" indent="-1714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above target during 2020 induced by higher COVID-related food and core prices (imports)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0070C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Immediate post-Covid (2021-22)</a:t>
            </a:r>
            <a:endParaRPr lang="en-US" sz="1100" b="1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indent="-1714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lower, driven by still sluggish economy, good agricultural harvests, and less expensive imports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ill Sans MT"/>
                <a:ea typeface="Calibri" panose="020F0502020204030204" pitchFamily="34" charset="0"/>
                <a:cs typeface="Times New Roman" panose="02020603050405020304" pitchFamily="18" charset="0"/>
              </a:rPr>
              <a:t>Ukraine-war (2022-23)</a:t>
            </a:r>
          </a:p>
          <a:p>
            <a:pPr marL="171450" indent="-171450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1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sharply increasing </a:t>
            </a:r>
            <a:r>
              <a:rPr lang="en-US" sz="1100" i="1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food prices</a:t>
            </a:r>
            <a:r>
              <a:rPr lang="en-US" sz="11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: driven by negative agricultural production gap and other supply shocks</a:t>
            </a:r>
          </a:p>
          <a:p>
            <a:pPr marL="171450" indent="-171450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1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sharply increasing </a:t>
            </a:r>
            <a:r>
              <a:rPr lang="en-US" sz="1100" i="1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world energy and commodity prices </a:t>
            </a:r>
            <a:endParaRPr lang="en-RW" sz="1100" i="1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i="1" dirty="0">
                <a:solidFill>
                  <a:srgbClr val="00000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higher c</a:t>
            </a:r>
            <a:r>
              <a:rPr lang="en-US" sz="1100" i="1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ore prices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: expectations, import prices (in/direct), supply-side shocks (pricing behavior not captured in model)</a:t>
            </a:r>
            <a:endParaRPr lang="en-US" sz="1100" dirty="0">
              <a:solidFill>
                <a:srgbClr val="000000"/>
              </a:solidFill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219C67-8853-96F0-5F09-ACC5A3F627B2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693529"/>
            <a:ext cx="3352800" cy="278347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E206D10-3E90-9AEE-B85A-34DD26EE88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611" y="1179066"/>
            <a:ext cx="3048000" cy="24362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4FDBE65-806C-0051-222B-9CE011F37E4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2320" y="1177288"/>
            <a:ext cx="2849880" cy="243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00875A6-BDFF-8CEB-7780-DF590F60DB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2136" y="1203010"/>
            <a:ext cx="3048000" cy="23583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930476B-44A0-E21C-FFED-4C6E968AA0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16215" y="1255137"/>
            <a:ext cx="2639790" cy="2326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521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2D1E2-CA9D-BA89-EEEC-51D78AD38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324833"/>
            <a:ext cx="10261600" cy="533399"/>
          </a:xfrm>
        </p:spPr>
        <p:txBody>
          <a:bodyPr/>
          <a:lstStyle/>
          <a:p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Monetary policies: IB and lending interest rates, nominal and real</a:t>
            </a:r>
            <a:endParaRPr lang="en-AE" sz="20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C85A4-DDE9-C3B5-5A35-6FA477425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6C95DA-AC08-36FA-592F-0A9D270D4B58}"/>
              </a:ext>
            </a:extLst>
          </p:cNvPr>
          <p:cNvSpPr txBox="1">
            <a:spLocks/>
          </p:cNvSpPr>
          <p:nvPr/>
        </p:nvSpPr>
        <p:spPr>
          <a:xfrm>
            <a:off x="220517" y="4080164"/>
            <a:ext cx="6432946" cy="2396836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r>
              <a:rPr lang="en-GB" sz="1600" b="1" dirty="0"/>
              <a:t>Real interest rates, % 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rose during Covid 2020-21, when inflation was subdued and the IB was lowered only once, by 0.5% 2020, in response to the Covid downturn</a:t>
            </a:r>
            <a:endParaRPr lang="en-US" sz="14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since </a:t>
            </a:r>
            <a:r>
              <a:rPr lang="en-GB" sz="1400" dirty="0">
                <a:ea typeface="Times New Roman" panose="02020603050405020304" pitchFamily="18" charset="0"/>
                <a:cs typeface="Times New Roman" panose="02020603050405020304" pitchFamily="18" charset="0"/>
              </a:rPr>
              <a:t>mid-2021, </a:t>
            </a:r>
            <a:r>
              <a:rPr lang="en-GB" sz="1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below trends; IB even negative in most of 2022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dirty="0">
                <a:ea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sz="1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mid-2022, went back up sharply as nominal interest rates were moved up and inflation declined </a:t>
            </a:r>
          </a:p>
          <a:p>
            <a:pPr marL="273050" lvl="1" algn="just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tx1"/>
                </a:solidFill>
                <a:cs typeface="Times New Roman" panose="02020603050405020304" pitchFamily="18" charset="0"/>
              </a:rPr>
              <a:t>real lending rates followed IB, and after a low point of 7% in mid-2022 reached some 12% by 2023Q3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GB" sz="1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7E1615-531C-AEF9-06E9-D884240219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517" y="1170969"/>
            <a:ext cx="4587010" cy="2826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B236BF-68AD-7C89-A666-225794B75D4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0545" y="1184823"/>
            <a:ext cx="3494809" cy="28381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0117744-5DEB-5DB7-3E70-6628127161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3846" y="1145003"/>
            <a:ext cx="3603573" cy="2877998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6A2B117-8381-BB07-8CFB-C0970E7114CA}"/>
              </a:ext>
            </a:extLst>
          </p:cNvPr>
          <p:cNvSpPr txBox="1">
            <a:spLocks/>
          </p:cNvSpPr>
          <p:nvPr/>
        </p:nvSpPr>
        <p:spPr>
          <a:xfrm>
            <a:off x="6853990" y="4080164"/>
            <a:ext cx="5292982" cy="2244436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r>
              <a:rPr lang="en-GB" sz="1600" b="1" dirty="0"/>
              <a:t>IB (effective ‘policy’ rate) </a:t>
            </a:r>
          </a:p>
          <a:p>
            <a:pPr algn="just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dirty="0"/>
              <a:t>since 2017 and esp. through 2020-21, IB was on a downward path and below its trend (‘neutral’) level of around 7% </a:t>
            </a:r>
          </a:p>
          <a:p>
            <a:pPr algn="just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dirty="0"/>
              <a:t>since early 2022 to 2023, CBR raised stepwise from 4.5% to 7.5% in response to inflation—IB rate followed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dirty="0"/>
              <a:t>IB rate almost back to neutral rate by mid-2023 </a:t>
            </a:r>
          </a:p>
          <a:p>
            <a:pPr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GB" sz="1400" dirty="0">
              <a:latin typeface="Times New Roman" panose="02020603050405020304" pitchFamily="18" charset="0"/>
            </a:endParaRPr>
          </a:p>
          <a:p>
            <a:pPr marL="0" indent="0" algn="just">
              <a:spcAft>
                <a:spcPts val="600"/>
              </a:spcAft>
              <a:buNone/>
            </a:pPr>
            <a:r>
              <a:rPr lang="en-GB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8647928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2D1E2-CA9D-BA89-EEEC-51D78AD38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5669" y="406688"/>
            <a:ext cx="10261600" cy="488951"/>
          </a:xfrm>
        </p:spPr>
        <p:txBody>
          <a:bodyPr/>
          <a:lstStyle/>
          <a:p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Exchange rates: nominal and real</a:t>
            </a:r>
            <a:endParaRPr lang="en-AE" b="1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C85A4-DDE9-C3B5-5A35-6FA477425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6C95DA-AC08-36FA-592F-0A9D270D4B58}"/>
              </a:ext>
            </a:extLst>
          </p:cNvPr>
          <p:cNvSpPr txBox="1">
            <a:spLocks/>
          </p:cNvSpPr>
          <p:nvPr/>
        </p:nvSpPr>
        <p:spPr>
          <a:xfrm>
            <a:off x="5867400" y="4114800"/>
            <a:ext cx="5715000" cy="2301876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r>
              <a:rPr lang="en-US" sz="1400" b="1" dirty="0"/>
              <a:t>nominal Exchange Rate (ER), </a:t>
            </a:r>
            <a:r>
              <a:rPr lang="en-US" sz="1000" b="1" dirty="0"/>
              <a:t>QoQ %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dirty="0"/>
              <a:t>since late 2022, the ER depreciation rate has moved up sharply in line with the target ER depreciation rate</a:t>
            </a:r>
          </a:p>
          <a:p>
            <a:pPr marL="273050" lvl="1" algn="just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tx1"/>
                </a:solidFill>
              </a:rPr>
              <a:t>driven largely by high domestic inflation relative to trading partners, in addition to other factors (interest-rate differentials, trend RER depreciation rate, …) </a:t>
            </a:r>
          </a:p>
          <a:p>
            <a:pPr marL="0" indent="0" algn="just">
              <a:spcAft>
                <a:spcPts val="600"/>
              </a:spcAft>
              <a:buNone/>
            </a:pPr>
            <a:endParaRPr lang="en-GB" sz="1400" dirty="0">
              <a:latin typeface="Times New Roman" panose="02020603050405020304" pitchFamily="18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6A2B117-8381-BB07-8CFB-C0970E7114CA}"/>
              </a:ext>
            </a:extLst>
          </p:cNvPr>
          <p:cNvSpPr txBox="1">
            <a:spLocks/>
          </p:cNvSpPr>
          <p:nvPr/>
        </p:nvSpPr>
        <p:spPr>
          <a:xfrm>
            <a:off x="76200" y="4114800"/>
            <a:ext cx="5638800" cy="2301876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r>
              <a:rPr lang="en-US" sz="1400" b="1" dirty="0"/>
              <a:t>real exchange rate (RER), </a:t>
            </a:r>
            <a:r>
              <a:rPr lang="en-US" sz="1000" b="1" dirty="0"/>
              <a:t>QoQ %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dirty="0"/>
              <a:t>from mid-2020, the faster nominal depreciation (+) and subdued inflation more than reversed the earlier RER appreciation (-)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dirty="0"/>
              <a:t>however, from late 2021 till 2022Q3, modest nominal depreciation and surge in core inflation lowered RER, to well below trend, more than offsetting the earlier increase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dirty="0"/>
              <a:t>acceleration of nominal depreciation since late 2022 resulted in a sharp increase in the rate of RER depreciation</a:t>
            </a:r>
            <a:endParaRPr lang="en-GB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E483D1-9AB9-464C-EA38-3392D752B7D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76" y="1209148"/>
            <a:ext cx="4019321" cy="2829452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EB0A423-175E-7342-DA25-233C349DBDA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3813" y="1187977"/>
            <a:ext cx="4003456" cy="29268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0F16FE5-15B6-D0B5-A2F8-76CC4BF18A7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1857" y="1209148"/>
            <a:ext cx="3288030" cy="29268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017963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2D1E2-CA9D-BA89-EEEC-51D78AD38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92075"/>
            <a:ext cx="10414000" cy="838200"/>
          </a:xfrm>
        </p:spPr>
        <p:txBody>
          <a:bodyPr/>
          <a:lstStyle/>
          <a:p>
            <a:r>
              <a:rPr lang="en-US" b="1" dirty="0"/>
              <a:t>III. Macroeconomic Forecast Assumptions </a:t>
            </a:r>
            <a:br>
              <a:rPr lang="en-US" b="1" dirty="0"/>
            </a:b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Summary current cyclical position &amp; policy stance &amp; external environment</a:t>
            </a:r>
            <a:endParaRPr lang="en-AE" sz="20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C85A4-DDE9-C3B5-5A35-6FA477425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6C95DA-AC08-36FA-592F-0A9D270D4B58}"/>
              </a:ext>
            </a:extLst>
          </p:cNvPr>
          <p:cNvSpPr txBox="1">
            <a:spLocks/>
          </p:cNvSpPr>
          <p:nvPr/>
        </p:nvSpPr>
        <p:spPr>
          <a:xfrm>
            <a:off x="609600" y="1143000"/>
            <a:ext cx="10896600" cy="54864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C9B4C0-ECF5-C038-96C2-D0753F470035}"/>
              </a:ext>
            </a:extLst>
          </p:cNvPr>
          <p:cNvSpPr txBox="1"/>
          <p:nvPr/>
        </p:nvSpPr>
        <p:spPr>
          <a:xfrm>
            <a:off x="381000" y="1219100"/>
            <a:ext cx="11557000" cy="5902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GB" sz="1600" b="1" dirty="0">
                <a:solidFill>
                  <a:srgbClr val="2F5496"/>
                </a:solidFill>
                <a:latin typeface="+mn-lt"/>
                <a:cs typeface="Times New Roman" panose="02020603050405020304" pitchFamily="18" charset="0"/>
              </a:rPr>
              <a:t>GDP/Output, </a:t>
            </a:r>
            <a:r>
              <a:rPr lang="en-GB" sz="1050" dirty="0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YoY %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GB" sz="1400" dirty="0">
                <a:solidFill>
                  <a:prstClr val="black"/>
                </a:solidFill>
                <a:latin typeface="Gill Sans MT"/>
              </a:rPr>
              <a:t>estimated slower growth of 6% in 2023 (due to </a:t>
            </a:r>
            <a:r>
              <a:rPr lang="en-US" sz="1200" dirty="0">
                <a:solidFill>
                  <a:prstClr val="black"/>
                </a:solidFill>
                <a:latin typeface="Gill Sans MT"/>
              </a:rPr>
              <a:t>Ukraine war shocks, inflation surge, weak agricultural performance</a:t>
            </a:r>
            <a:r>
              <a:rPr lang="en-US" sz="1400" dirty="0">
                <a:solidFill>
                  <a:prstClr val="black"/>
                </a:solidFill>
                <a:latin typeface="Gill Sans MT"/>
              </a:rPr>
              <a:t>)</a:t>
            </a:r>
            <a:endParaRPr lang="en-GB" sz="1400" dirty="0">
              <a:solidFill>
                <a:prstClr val="black"/>
              </a:solidFill>
              <a:latin typeface="Gill Sans MT"/>
            </a:endParaRPr>
          </a:p>
          <a:p>
            <a:pPr marL="800100" lvl="1" indent="-342900">
              <a:buFont typeface="Wingdings" panose="05000000000000000000" pitchFamily="2" charset="2"/>
              <a:buChar char="§"/>
              <a:defRPr/>
            </a:pPr>
            <a:r>
              <a:rPr lang="en-US" sz="1400" dirty="0">
                <a:solidFill>
                  <a:prstClr val="black"/>
                </a:solidFill>
                <a:latin typeface="Gill Sans MT"/>
              </a:rPr>
              <a:t>estimated output gap </a:t>
            </a:r>
            <a:r>
              <a:rPr lang="en-US" sz="1100" dirty="0">
                <a:solidFill>
                  <a:prstClr val="black"/>
                </a:solidFill>
                <a:latin typeface="Gill Sans MT"/>
              </a:rPr>
              <a:t>(below estimated potential output) </a:t>
            </a:r>
            <a:r>
              <a:rPr lang="en-US" sz="1400" dirty="0">
                <a:solidFill>
                  <a:prstClr val="black"/>
                </a:solidFill>
                <a:latin typeface="Gill Sans MT"/>
              </a:rPr>
              <a:t>of -6% of GDP by mid-2023</a:t>
            </a:r>
          </a:p>
          <a:p>
            <a:pPr>
              <a:lnSpc>
                <a:spcPct val="150000"/>
              </a:lnSpc>
              <a:defRPr/>
            </a:pPr>
            <a:r>
              <a:rPr lang="en-US" sz="1600" b="1" dirty="0">
                <a:solidFill>
                  <a:srgbClr val="2F5496"/>
                </a:solidFill>
                <a:latin typeface="+mn-lt"/>
                <a:cs typeface="Times New Roman" panose="02020603050405020304" pitchFamily="18" charset="0"/>
              </a:rPr>
              <a:t>Inflation—headline  CPI  </a:t>
            </a:r>
            <a:r>
              <a:rPr lang="en-US" sz="1100" dirty="0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QoQ %</a:t>
            </a:r>
          </a:p>
          <a:p>
            <a:pPr marL="800100" lvl="1" indent="-342900">
              <a:buFont typeface="Wingdings" panose="05000000000000000000" pitchFamily="2" charset="2"/>
              <a:buChar char="§"/>
              <a:defRPr/>
            </a:pPr>
            <a:r>
              <a:rPr lang="en-GB" sz="1400" dirty="0">
                <a:solidFill>
                  <a:prstClr val="black"/>
                </a:solidFill>
                <a:latin typeface="Gill Sans MT"/>
              </a:rPr>
              <a:t>expected to end at just above 10% in 2023—downward path from its peak of 25.6% in 2022Q2 driven by:</a:t>
            </a:r>
          </a:p>
          <a:p>
            <a:pPr marL="1200150" lvl="2" indent="-285750">
              <a:buFont typeface="Wingdings" panose="05000000000000000000" pitchFamily="2" charset="2"/>
              <a:buChar char="§"/>
              <a:defRPr/>
            </a:pPr>
            <a:r>
              <a:rPr lang="en-GB" sz="1400" dirty="0">
                <a:solidFill>
                  <a:prstClr val="black"/>
                </a:solidFill>
                <a:latin typeface="Gill Sans MT"/>
              </a:rPr>
              <a:t>easing food price increases, falling energy prices</a:t>
            </a:r>
          </a:p>
          <a:p>
            <a:pPr marL="1200150" lvl="2" indent="-285750">
              <a:buFont typeface="Wingdings" panose="05000000000000000000" pitchFamily="2" charset="2"/>
              <a:buChar char="§"/>
              <a:defRPr/>
            </a:pPr>
            <a:r>
              <a:rPr lang="en-US" sz="1400" dirty="0">
                <a:solidFill>
                  <a:prstClr val="black"/>
                </a:solidFill>
                <a:latin typeface="Gill Sans MT"/>
              </a:rPr>
              <a:t>fading core-price shocks and tighter macroeconomic policies</a:t>
            </a:r>
          </a:p>
          <a:p>
            <a:pPr>
              <a:lnSpc>
                <a:spcPct val="150000"/>
              </a:lnSpc>
              <a:defRPr/>
            </a:pPr>
            <a:r>
              <a:rPr lang="en-GB" sz="1600" b="1" dirty="0">
                <a:solidFill>
                  <a:srgbClr val="2F5496"/>
                </a:solidFill>
                <a:latin typeface="+mn-lt"/>
                <a:cs typeface="Times New Roman" panose="02020603050405020304" pitchFamily="18" charset="0"/>
              </a:rPr>
              <a:t>Fiscal policy stance—</a:t>
            </a:r>
            <a:r>
              <a:rPr lang="en-GB" sz="1600" b="1" i="1" dirty="0">
                <a:solidFill>
                  <a:srgbClr val="2F5496"/>
                </a:solidFill>
                <a:latin typeface="+mn-lt"/>
                <a:cs typeface="Times New Roman" panose="02020603050405020304" pitchFamily="18" charset="0"/>
              </a:rPr>
              <a:t>deficit excl. grants </a:t>
            </a:r>
            <a:r>
              <a:rPr lang="en-GB" sz="1600" b="1" dirty="0">
                <a:solidFill>
                  <a:srgbClr val="2F5496"/>
                </a:solidFill>
                <a:latin typeface="+mn-lt"/>
                <a:cs typeface="Times New Roman" panose="02020603050405020304" pitchFamily="18" charset="0"/>
              </a:rPr>
              <a:t>and govt demand</a:t>
            </a:r>
            <a:r>
              <a:rPr lang="en-GB" sz="1400" b="1" dirty="0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  </a:t>
            </a:r>
            <a:r>
              <a:rPr lang="en-GB" sz="1050" dirty="0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%GDP</a:t>
            </a:r>
            <a:endParaRPr lang="en-GB" sz="1050" dirty="0">
              <a:solidFill>
                <a:prstClr val="black"/>
              </a:solidFill>
              <a:latin typeface="Gill Sans MT"/>
            </a:endParaRPr>
          </a:p>
          <a:p>
            <a:pPr marL="800100" lvl="1" indent="-342900">
              <a:buFont typeface="Wingdings" panose="05000000000000000000" pitchFamily="2" charset="2"/>
              <a:buChar char="§"/>
              <a:defRPr/>
            </a:pPr>
            <a:r>
              <a:rPr lang="en-GB" sz="1400" dirty="0">
                <a:solidFill>
                  <a:prstClr val="black"/>
                </a:solidFill>
                <a:latin typeface="Gill Sans MT"/>
              </a:rPr>
              <a:t>fiscal consolidation of 2022/23 reinforced with next two Budgets: </a:t>
            </a:r>
            <a:r>
              <a:rPr lang="en-US" sz="1400" dirty="0">
                <a:solidFill>
                  <a:prstClr val="black"/>
                </a:solidFill>
                <a:latin typeface="Gill Sans MT"/>
              </a:rPr>
              <a:t> deficit reductions of 1% of GDP in 2023/24 and further 1% of GDP in 2024/25</a:t>
            </a:r>
            <a:endParaRPr lang="en-GB" sz="1400" dirty="0">
              <a:solidFill>
                <a:prstClr val="black"/>
              </a:solidFill>
              <a:latin typeface="Gill Sans MT"/>
            </a:endParaRPr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400" dirty="0">
                <a:solidFill>
                  <a:prstClr val="black"/>
                </a:solidFill>
                <a:latin typeface="Gill Sans MT"/>
              </a:rPr>
              <a:t>shift in fiscal stance from expansionary (2019/20</a:t>
            </a:r>
            <a:r>
              <a:rPr lang="en-US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−</a:t>
            </a:r>
            <a:r>
              <a:rPr lang="en-US" sz="1400" dirty="0">
                <a:solidFill>
                  <a:prstClr val="black"/>
                </a:solidFill>
                <a:latin typeface="Gill Sans MT"/>
              </a:rPr>
              <a:t>2021/22) to contractionary (2022/23-2024/25), mostly borne by lower govt demand for G&amp;S</a:t>
            </a:r>
          </a:p>
          <a:p>
            <a:pPr marL="1200150" lvl="2" indent="-285750">
              <a:buFont typeface="Wingdings" panose="05000000000000000000" pitchFamily="2" charset="2"/>
              <a:buChar char="Ø"/>
              <a:defRPr/>
            </a:pPr>
            <a:r>
              <a:rPr lang="en-US" sz="1400" dirty="0">
                <a:solidFill>
                  <a:prstClr val="black"/>
                </a:solidFill>
                <a:latin typeface="Gill Sans MT"/>
              </a:rPr>
              <a:t>switch average fiscal deficit: from 2% of GDP above trend to 2% of GDP below trend, with average total effect on output of +/-1.7% of GDP</a:t>
            </a:r>
            <a:endParaRPr lang="en-GB" sz="1400" dirty="0">
              <a:solidFill>
                <a:prstClr val="black"/>
              </a:solidFill>
              <a:latin typeface="Gill Sans MT"/>
            </a:endParaRPr>
          </a:p>
          <a:p>
            <a:pPr>
              <a:lnSpc>
                <a:spcPct val="150000"/>
              </a:lnSpc>
              <a:defRPr/>
            </a:pPr>
            <a:r>
              <a:rPr lang="en-GB" sz="1600" b="1" dirty="0">
                <a:solidFill>
                  <a:srgbClr val="2F5496"/>
                </a:solidFill>
                <a:latin typeface="+mn-lt"/>
                <a:cs typeface="Times New Roman" panose="02020603050405020304" pitchFamily="18" charset="0"/>
              </a:rPr>
              <a:t>Monetary—interest &amp; exchange rate policy stance  </a:t>
            </a:r>
            <a:r>
              <a:rPr lang="en-GB" sz="1050" dirty="0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QoQ %</a:t>
            </a:r>
            <a:endParaRPr lang="en-GB" sz="1200" dirty="0">
              <a:solidFill>
                <a:schemeClr val="accent4">
                  <a:lumMod val="50000"/>
                </a:schemeClr>
              </a:solidFill>
              <a:latin typeface="+mn-lt"/>
              <a:cs typeface="+mj-cs"/>
            </a:endParaRPr>
          </a:p>
          <a:p>
            <a:pPr marL="800100" lvl="1" indent="-342900">
              <a:buFont typeface="Wingdings" panose="05000000000000000000" pitchFamily="2" charset="2"/>
              <a:buChar char="§"/>
              <a:defRPr/>
            </a:pPr>
            <a:r>
              <a:rPr lang="en-GB" sz="1400" dirty="0">
                <a:solidFill>
                  <a:prstClr val="black"/>
                </a:solidFill>
                <a:latin typeface="Gill Sans MT"/>
              </a:rPr>
              <a:t>modestly tight monetary (policy amidst decelerating domestic inflation)—</a:t>
            </a:r>
            <a:r>
              <a:rPr lang="en-US" sz="1400" dirty="0">
                <a:solidFill>
                  <a:prstClr val="black"/>
                </a:solidFill>
                <a:latin typeface="Gill Sans MT"/>
              </a:rPr>
              <a:t>almost back to the neutral interest rate</a:t>
            </a:r>
          </a:p>
          <a:p>
            <a:pPr marL="800100" lvl="1" indent="-342900">
              <a:buFont typeface="Wingdings" panose="05000000000000000000" pitchFamily="2" charset="2"/>
              <a:buChar char="§"/>
              <a:defRPr/>
            </a:pPr>
            <a:r>
              <a:rPr lang="en-US" sz="1400" dirty="0">
                <a:solidFill>
                  <a:prstClr val="black"/>
                </a:solidFill>
                <a:latin typeface="Gill Sans MT"/>
              </a:rPr>
              <a:t>real interest rate (RIR-IB) almost positive—still  below its trend of 3%—helped to stem private demand in 2023 </a:t>
            </a:r>
            <a:r>
              <a:rPr lang="en-US" sz="1000" dirty="0">
                <a:solidFill>
                  <a:prstClr val="black"/>
                </a:solidFill>
                <a:latin typeface="Gill Sans MT"/>
              </a:rPr>
              <a:t>(though consumption and investment responded little to changes)</a:t>
            </a:r>
            <a:endParaRPr lang="en-GB" sz="1200" dirty="0">
              <a:solidFill>
                <a:prstClr val="black"/>
              </a:solidFill>
              <a:latin typeface="Gill Sans M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sz="1400" dirty="0">
                <a:solidFill>
                  <a:prstClr val="black"/>
                </a:solidFill>
                <a:latin typeface="Gill Sans MT"/>
              </a:rPr>
              <a:t>2023 acceleration of nominal ER depreciation largely offset Rwanda’s recent high inflation differential, reversing the overvaluation since late 2021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sz="1400" dirty="0">
                <a:solidFill>
                  <a:prstClr val="black"/>
                </a:solidFill>
                <a:latin typeface="Gill Sans MT"/>
              </a:rPr>
              <a:t>this has raised real exchange rate back to its trend by 2023Q3—positively affecting net exports</a:t>
            </a:r>
            <a:endParaRPr lang="en-US" sz="1600" dirty="0">
              <a:solidFill>
                <a:prstClr val="black"/>
              </a:solidFill>
              <a:latin typeface="Gill Sans MT"/>
            </a:endParaRPr>
          </a:p>
          <a:p>
            <a:pPr>
              <a:lnSpc>
                <a:spcPct val="150000"/>
              </a:lnSpc>
              <a:defRPr/>
            </a:pPr>
            <a:r>
              <a:rPr lang="en-GB" sz="1600" b="1" dirty="0">
                <a:solidFill>
                  <a:srgbClr val="2F5496"/>
                </a:solidFill>
                <a:latin typeface="+mn-lt"/>
                <a:cs typeface="Times New Roman" panose="02020603050405020304" pitchFamily="18" charset="0"/>
              </a:rPr>
              <a:t>External environment </a:t>
            </a:r>
            <a:r>
              <a:rPr lang="en-GB" sz="1050" dirty="0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(WEO projected)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GB" sz="1400" dirty="0">
                <a:solidFill>
                  <a:prstClr val="black"/>
                </a:solidFill>
                <a:latin typeface="Gill Sans MT"/>
              </a:rPr>
              <a:t>overall, more favourable external environment thanks to recovering foreign demand, easing world food and oil prices &amp; trading partner CPIs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endParaRPr lang="en-US" sz="1400" dirty="0">
              <a:solidFill>
                <a:prstClr val="black"/>
              </a:solidFill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2791968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6E48A-ACEE-51EB-B834-992F80F10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228600"/>
            <a:ext cx="10261600" cy="685800"/>
          </a:xfrm>
        </p:spPr>
        <p:txBody>
          <a:bodyPr/>
          <a:lstStyle/>
          <a:p>
            <a:r>
              <a:rPr lang="en-GB" sz="2000" b="1" dirty="0">
                <a:solidFill>
                  <a:srgbClr val="0070C0"/>
                </a:solidFill>
              </a:rPr>
              <a:t>External environment assumptions</a:t>
            </a:r>
            <a:endParaRPr lang="en-AE" sz="2000" b="1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EC34D-CC97-3D7D-A18A-8A80FC2EAA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77357A2-BC7F-DEA1-E1F9-C481EA57A693}"/>
              </a:ext>
            </a:extLst>
          </p:cNvPr>
          <p:cNvSpPr txBox="1">
            <a:spLocks/>
          </p:cNvSpPr>
          <p:nvPr/>
        </p:nvSpPr>
        <p:spPr>
          <a:xfrm>
            <a:off x="4809067" y="4295583"/>
            <a:ext cx="3259666" cy="2182067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indent="-285750">
              <a:spcBef>
                <a:spcPts val="3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800" dirty="0"/>
              <a:t>World real interest rates are expected to rise from negative around -1% in the past </a:t>
            </a:r>
            <a:r>
              <a:rPr lang="en-US" sz="1600" dirty="0"/>
              <a:t>decade</a:t>
            </a:r>
            <a:r>
              <a:rPr lang="en-US" sz="1800" dirty="0"/>
              <a:t> to +1% by 2027,</a:t>
            </a:r>
          </a:p>
          <a:p>
            <a:pPr marL="274320" indent="-285750">
              <a:spcBef>
                <a:spcPts val="3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800" dirty="0"/>
              <a:t>increase likely transmitting one-for-one to Rwanda’s sovereign borrowing rates</a:t>
            </a:r>
            <a:endParaRPr lang="en-GB" sz="1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5E27BE-9404-C370-027C-CC987668662F}"/>
              </a:ext>
            </a:extLst>
          </p:cNvPr>
          <p:cNvSpPr txBox="1"/>
          <p:nvPr/>
        </p:nvSpPr>
        <p:spPr>
          <a:xfrm>
            <a:off x="914400" y="4295583"/>
            <a:ext cx="3505200" cy="2121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85750" algn="just">
              <a:spcBef>
                <a:spcPts val="3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GB" sz="1800" dirty="0">
                <a:latin typeface="+mn-lt"/>
              </a:rPr>
              <a:t>World economy slowing down as interest rates are raised in response to inflation</a:t>
            </a:r>
          </a:p>
          <a:p>
            <a:pPr marL="274320" indent="-285750" algn="just">
              <a:spcBef>
                <a:spcPts val="3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GB" sz="1800" dirty="0">
                <a:latin typeface="+mn-lt"/>
              </a:rPr>
              <a:t>Rwanda still enjoys recovery in trading partner demand relative to Covid-years, at 3% p.y., well above trend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B14C2A-2CC5-2CF7-555D-E64A5656523F}"/>
              </a:ext>
            </a:extLst>
          </p:cNvPr>
          <p:cNvSpPr txBox="1"/>
          <p:nvPr/>
        </p:nvSpPr>
        <p:spPr>
          <a:xfrm>
            <a:off x="8610600" y="4295583"/>
            <a:ext cx="2963334" cy="2121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85750" eaLnBrk="0" hangingPunct="0">
              <a:spcBef>
                <a:spcPts val="300"/>
              </a:spcBef>
              <a:spcAft>
                <a:spcPts val="400"/>
              </a:spcAft>
              <a:buClr>
                <a:schemeClr val="accent1"/>
              </a:buClr>
              <a:buSzPct val="76000"/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</a:rPr>
              <a:t>trading partners’ CPI inflation (in US$)—subdued at 1.5% p.y. in the past 5-7 years</a:t>
            </a:r>
          </a:p>
          <a:p>
            <a:pPr marL="274320" indent="-285750" eaLnBrk="0" hangingPunct="0">
              <a:spcBef>
                <a:spcPts val="300"/>
              </a:spcBef>
              <a:spcAft>
                <a:spcPts val="400"/>
              </a:spcAft>
              <a:buClr>
                <a:schemeClr val="accent1"/>
              </a:buClr>
              <a:buSzPct val="76000"/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</a:rPr>
              <a:t>projected to return to its trend level of 2% in the coming years </a:t>
            </a:r>
            <a:endParaRPr lang="en-AE" sz="1800" dirty="0"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E47C1F-109D-4B1C-BC30-E6FA8F1951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6366" y="1985513"/>
            <a:ext cx="2892214" cy="2218567"/>
          </a:xfrm>
          <a:prstGeom prst="rect">
            <a:avLst/>
          </a:prstGeom>
          <a:effectLst>
            <a:glow rad="50800">
              <a:srgbClr val="FFC000">
                <a:lumMod val="60000"/>
                <a:lumOff val="40000"/>
              </a:srgbClr>
            </a:glo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5A14C92-C839-2E1A-5392-CF1059982B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8333" y="1985664"/>
            <a:ext cx="3200400" cy="2218567"/>
          </a:xfrm>
          <a:prstGeom prst="rect">
            <a:avLst/>
          </a:prstGeom>
          <a:effectLst>
            <a:glow rad="50800">
              <a:srgbClr val="FFC000">
                <a:lumMod val="60000"/>
                <a:lumOff val="40000"/>
              </a:srgbClr>
            </a:glo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1A0FEE-4416-9197-6107-19EDC8DA69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981200"/>
            <a:ext cx="3352800" cy="2223031"/>
          </a:xfrm>
          <a:prstGeom prst="rect">
            <a:avLst/>
          </a:prstGeom>
          <a:effectLst>
            <a:glow rad="50800">
              <a:srgbClr val="FFC000">
                <a:lumMod val="60000"/>
                <a:lumOff val="40000"/>
              </a:srgbClr>
            </a:glo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3E3C7CE-A7F7-E6C9-1342-1428AAC53EC2}"/>
              </a:ext>
            </a:extLst>
          </p:cNvPr>
          <p:cNvSpPr txBox="1"/>
          <p:nvPr/>
        </p:nvSpPr>
        <p:spPr>
          <a:xfrm>
            <a:off x="609600" y="1205506"/>
            <a:ext cx="10659534" cy="3389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914400">
              <a:lnSpc>
                <a:spcPct val="107000"/>
              </a:lnSpc>
              <a:spcAft>
                <a:spcPts val="800"/>
              </a:spcAft>
            </a:pPr>
            <a:r>
              <a:rPr lang="en-GB" sz="1600" b="1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overall outlook is improving</a:t>
            </a:r>
            <a:r>
              <a:rPr lang="en-GB" sz="16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after the Covid-Ukraine crises, but with downside risks.</a:t>
            </a:r>
            <a:endParaRPr lang="en-RW" sz="16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883921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6E48A-ACEE-51EB-B834-992F80F10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228600"/>
            <a:ext cx="10261600" cy="706020"/>
          </a:xfrm>
        </p:spPr>
        <p:txBody>
          <a:bodyPr/>
          <a:lstStyle/>
          <a:p>
            <a:r>
              <a:rPr lang="en-GB" sz="2000" b="1" dirty="0">
                <a:solidFill>
                  <a:schemeClr val="accent4">
                    <a:lumMod val="50000"/>
                  </a:schemeClr>
                </a:solidFill>
              </a:rPr>
              <a:t>Domestic environment assumptions</a:t>
            </a:r>
            <a:endParaRPr lang="en-AE" sz="20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EC34D-CC97-3D7D-A18A-8A80FC2EAA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B12E18-8FD6-EE83-F9B4-F774C96DF151}"/>
              </a:ext>
            </a:extLst>
          </p:cNvPr>
          <p:cNvSpPr txBox="1"/>
          <p:nvPr/>
        </p:nvSpPr>
        <p:spPr>
          <a:xfrm>
            <a:off x="1371600" y="1447800"/>
            <a:ext cx="6629400" cy="4216539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2F5496"/>
                </a:solidFill>
                <a:effectLst/>
                <a:uLnTx/>
                <a:uFillTx/>
                <a:latin typeface="Gill Sans MT"/>
                <a:ea typeface="ＭＳ Ｐゴシック" charset="-128"/>
                <a:cs typeface="Times New Roman" panose="02020603050405020304" pitchFamily="18" charset="0"/>
              </a:rPr>
              <a:t>Nov. 2023 forecast round: “tuning” near-term policies, nowcasts and some shocks</a:t>
            </a:r>
          </a:p>
          <a:p>
            <a:pPr marL="342900" marR="0" lvl="0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fiscal consolidation: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deficits before grants ‘set’ at PCI targets of 10.8% of GDP for 2023/24 and 9.7 % of GDP for 2025/26</a:t>
            </a:r>
          </a:p>
          <a:p>
            <a:pPr marL="800100" marR="0" lvl="1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beyond PCI, deficits (before grants) driven by fiscal anchor determined by  target debt/GDP ratios, that is sustainable level of 8% of GDP</a:t>
            </a:r>
          </a:p>
          <a:p>
            <a:pPr marL="342900" marR="0" lvl="0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policy interest rate (IB): maintained at 8% for 2023Q4; </a:t>
            </a:r>
            <a:r>
              <a:rPr lang="en-GB" sz="1600" dirty="0">
                <a:latin typeface="Gill Sans MT"/>
              </a:rPr>
              <a:t>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hereafter: follows policy interest rate (IB) rule</a:t>
            </a:r>
          </a:p>
          <a:p>
            <a:pPr marL="342900" marR="0" lvl="0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exchange rate: tune current-year PCI-program targeted annual depreciation</a:t>
            </a:r>
          </a:p>
          <a:p>
            <a:pPr marL="800100" marR="0" lvl="1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e.g. path in 2023: </a:t>
            </a:r>
            <a:r>
              <a:rPr lang="en-GB" sz="1200" dirty="0">
                <a:latin typeface="Gill Sans MT"/>
              </a:rPr>
              <a:t>first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 set at 7% y-o-y  in Nov 2022,  increased to 15% y-on-y in April 2023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ill Sans MT"/>
              <a:ea typeface="ＭＳ Ｐゴシック" charset="-128"/>
              <a:cs typeface="+mn-cs"/>
            </a:endParaRPr>
          </a:p>
          <a:p>
            <a:pPr marL="342900" marR="0" lvl="0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GDP next two quarters:  tuned with “now/forecasting” </a:t>
            </a:r>
          </a:p>
          <a:p>
            <a:pPr marL="342900" marR="0" lvl="0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agriculture: expected return to normal and fading of domestic food price shocks</a:t>
            </a:r>
          </a:p>
          <a:p>
            <a:pPr marL="342900" marR="0" lvl="0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core CPI: current quarter tuned, using preliminary price info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9AF90A-CB99-7998-3709-17616CCD0F5F}"/>
              </a:ext>
            </a:extLst>
          </p:cNvPr>
          <p:cNvSpPr txBox="1"/>
          <p:nvPr/>
        </p:nvSpPr>
        <p:spPr>
          <a:xfrm>
            <a:off x="8153400" y="3733800"/>
            <a:ext cx="3835400" cy="78483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  <a:latin typeface="Gill Sans MT"/>
              </a:rPr>
              <a:t>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ote: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2023/24 and 2024/25 Budget deficits and spending on G&amp;S have been tuned based on the semester breakdown of annual figures (because the projected quarterly breakdown is not available), hence quarters are the same within the semester</a:t>
            </a:r>
            <a:endParaRPr lang="en-RW" dirty="0"/>
          </a:p>
        </p:txBody>
      </p:sp>
    </p:spTree>
    <p:extLst>
      <p:ext uri="{BB962C8B-B14F-4D97-AF65-F5344CB8AC3E}">
        <p14:creationId xmlns:p14="http://schemas.microsoft.com/office/powerpoint/2010/main" val="3628238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6E48A-ACEE-51EB-B834-992F80F10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176044"/>
            <a:ext cx="10261600" cy="890756"/>
          </a:xfrm>
        </p:spPr>
        <p:txBody>
          <a:bodyPr/>
          <a:lstStyle/>
          <a:p>
            <a:r>
              <a:rPr lang="en-GB" b="1" dirty="0"/>
              <a:t>IV. Macroeconomic forecast/outlook</a:t>
            </a:r>
            <a:br>
              <a:rPr lang="en-GB" b="1" dirty="0"/>
            </a:br>
            <a:r>
              <a:rPr lang="en-GB" sz="2000" b="1" dirty="0">
                <a:solidFill>
                  <a:schemeClr val="accent4">
                    <a:lumMod val="50000"/>
                  </a:schemeClr>
                </a:solidFill>
              </a:rPr>
              <a:t>Summary of macroeconomic forecast/outlook </a:t>
            </a:r>
            <a:r>
              <a:rPr lang="en-GB" sz="1100" b="1" dirty="0">
                <a:solidFill>
                  <a:schemeClr val="accent4">
                    <a:lumMod val="50000"/>
                  </a:schemeClr>
                </a:solidFill>
              </a:rPr>
              <a:t>(2023Q3-2027Q4)</a:t>
            </a:r>
            <a:endParaRPr lang="en-AE" sz="20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EC34D-CC97-3D7D-A18A-8A80FC2EAA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472B94-CB25-7A89-96DA-FE0CF0D81BDA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contrast="21000"/>
          </a:blip>
          <a:stretch>
            <a:fillRect/>
          </a:stretch>
        </p:blipFill>
        <p:spPr>
          <a:xfrm>
            <a:off x="451358" y="1200150"/>
            <a:ext cx="6863842" cy="251124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C18DEC5-1FAB-D500-293A-700C1FD54A78}"/>
              </a:ext>
            </a:extLst>
          </p:cNvPr>
          <p:cNvSpPr txBox="1"/>
          <p:nvPr/>
        </p:nvSpPr>
        <p:spPr>
          <a:xfrm>
            <a:off x="5867400" y="3862189"/>
            <a:ext cx="6121401" cy="2660472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rgbClr val="2F5496"/>
                </a:solidFill>
                <a:latin typeface="+mn-lt"/>
                <a:cs typeface="Times New Roman" panose="02020603050405020304" pitchFamily="18" charset="0"/>
              </a:rPr>
              <a:t>fiscal policies 2023/24-2024/25 (PCI)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1400" b="1" dirty="0">
                <a:solidFill>
                  <a:srgbClr val="002060"/>
                </a:solidFill>
                <a:latin typeface="+mn-lt"/>
                <a:cs typeface="Times New Roman" panose="02020603050405020304" pitchFamily="18" charset="0"/>
              </a:rPr>
              <a:t>fiscal consolidation</a:t>
            </a:r>
            <a:r>
              <a:rPr lang="en-GB" sz="1400" dirty="0">
                <a:latin typeface="+mn-lt"/>
              </a:rPr>
              <a:t>—</a:t>
            </a:r>
            <a:r>
              <a:rPr lang="en-US" sz="1400" dirty="0">
                <a:latin typeface="+mn-lt"/>
              </a:rPr>
              <a:t>negative discretionary spending (belo</a:t>
            </a:r>
            <a:r>
              <a:rPr lang="en-GB" sz="1400" dirty="0">
                <a:latin typeface="+mn-lt"/>
              </a:rPr>
              <a:t>w-trend govt demand) and negative effect on private demand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latin typeface="+mn-lt"/>
              </a:rPr>
              <a:t>expected negative effect on output (GDP) by some 1.7%</a:t>
            </a:r>
            <a:endParaRPr lang="en-GB" sz="1200" dirty="0">
              <a:latin typeface="+mn-lt"/>
            </a:endParaRPr>
          </a:p>
          <a:p>
            <a:r>
              <a:rPr lang="en-GB" sz="1400" b="1" dirty="0">
                <a:solidFill>
                  <a:srgbClr val="2F5496"/>
                </a:solidFill>
                <a:latin typeface="+mn-lt"/>
                <a:cs typeface="Times New Roman" panose="02020603050405020304" pitchFamily="18" charset="0"/>
              </a:rPr>
              <a:t>fiscal policies from 2025/26 onward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1400" b="1" dirty="0">
                <a:solidFill>
                  <a:srgbClr val="002060"/>
                </a:solidFill>
                <a:latin typeface="+mn-lt"/>
                <a:cs typeface="Times New Roman" panose="02020603050405020304" pitchFamily="18" charset="0"/>
              </a:rPr>
              <a:t>return to sustainable deficit</a:t>
            </a:r>
            <a:r>
              <a:rPr lang="en-GB" sz="1400" dirty="0">
                <a:latin typeface="+mn-lt"/>
              </a:rPr>
              <a:t>—somewhat higher deficits than in 2023/34-2025/26, with gradually less negative discretionary govt demand and less negative impact on private demand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1200" dirty="0">
                <a:latin typeface="+mn-lt"/>
              </a:rPr>
              <a:t>expected small positively effect on output (GDP)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1E101B-BE1B-580B-85E9-5551D31CAA9D}"/>
              </a:ext>
            </a:extLst>
          </p:cNvPr>
          <p:cNvSpPr txBox="1"/>
          <p:nvPr/>
        </p:nvSpPr>
        <p:spPr>
          <a:xfrm>
            <a:off x="203198" y="3862189"/>
            <a:ext cx="5435601" cy="2639633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b="1" dirty="0">
                <a:solidFill>
                  <a:srgbClr val="2F5496"/>
                </a:solidFill>
                <a:latin typeface="+mn-lt"/>
                <a:cs typeface="Times New Roman" panose="02020603050405020304" pitchFamily="18" charset="0"/>
              </a:rPr>
              <a:t>Overall: modestly tight fiscal and monetary policies and still low RER contain demand and help lower inflation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400" dirty="0">
                <a:latin typeface="+mn-lt"/>
                <a:ea typeface="Calibri" panose="020F0502020204030204" pitchFamily="34" charset="0"/>
              </a:rPr>
              <a:t> headline CPI</a:t>
            </a:r>
            <a:r>
              <a:rPr lang="en-GB" sz="1400" dirty="0">
                <a:effectLst/>
                <a:latin typeface="+mn-lt"/>
                <a:ea typeface="Calibri" panose="020F0502020204030204" pitchFamily="34" charset="0"/>
              </a:rPr>
              <a:t> to continue declin</a:t>
            </a:r>
            <a:r>
              <a:rPr lang="en-GB" sz="1400" dirty="0">
                <a:latin typeface="+mn-lt"/>
                <a:ea typeface="Calibri" panose="020F0502020204030204" pitchFamily="34" charset="0"/>
              </a:rPr>
              <a:t>ing, near</a:t>
            </a:r>
            <a:r>
              <a:rPr lang="en-GB" sz="1400" dirty="0">
                <a:effectLst/>
                <a:latin typeface="+mn-lt"/>
                <a:ea typeface="Calibri" panose="020F0502020204030204" pitchFamily="34" charset="0"/>
              </a:rPr>
              <a:t> 5% target by end-2024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400" dirty="0">
                <a:latin typeface="+mn-lt"/>
                <a:ea typeface="Calibri" panose="020F0502020204030204" pitchFamily="34" charset="0"/>
              </a:rPr>
              <a:t> GDP slowdown induced by recent inflation and policy response  to continue for a few quarters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400" dirty="0">
                <a:effectLst/>
                <a:latin typeface="+mn-lt"/>
                <a:ea typeface="Calibri" panose="020F0502020204030204" pitchFamily="34" charset="0"/>
              </a:rPr>
              <a:t> from mid-2024, GDP growth to pick up above trend till late 2026, helped by temporarily lower interest rates, high RER and a bit less restrictive fiscal from 2025/26;  </a:t>
            </a:r>
            <a:r>
              <a:rPr lang="en-GB" sz="1400" dirty="0">
                <a:latin typeface="+mn-lt"/>
                <a:ea typeface="Calibri" panose="020F0502020204030204" pitchFamily="34" charset="0"/>
              </a:rPr>
              <a:t>return to trend from 2027</a:t>
            </a:r>
            <a:endParaRPr lang="en-GB" sz="1400" dirty="0">
              <a:effectLst/>
              <a:latin typeface="+mn-lt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29328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25B51-9F35-563B-B454-D804ED60B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153531"/>
            <a:ext cx="10261600" cy="684669"/>
          </a:xfrm>
        </p:spPr>
        <p:txBody>
          <a:bodyPr/>
          <a:lstStyle/>
          <a:p>
            <a:r>
              <a:rPr lang="en-GB" sz="2400" b="1" dirty="0">
                <a:solidFill>
                  <a:schemeClr val="accent4">
                    <a:lumMod val="50000"/>
                  </a:schemeClr>
                </a:solidFill>
              </a:rPr>
              <a:t>Forecast—Output and cyclical position</a:t>
            </a:r>
            <a:r>
              <a:rPr lang="en-GB" sz="20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GB" sz="2000" b="1" dirty="0">
                <a:solidFill>
                  <a:srgbClr val="002060"/>
                </a:solidFill>
              </a:rPr>
              <a:t>(GDP growth)</a:t>
            </a:r>
            <a:endParaRPr lang="en-AE" sz="2000" b="1" dirty="0">
              <a:solidFill>
                <a:srgbClr val="00206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C60EEB-4D2C-ABC6-3CBF-810371A48C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DB21F50-4750-8FFC-95EB-0C9188E69407}"/>
              </a:ext>
            </a:extLst>
          </p:cNvPr>
          <p:cNvSpPr txBox="1">
            <a:spLocks/>
          </p:cNvSpPr>
          <p:nvPr/>
        </p:nvSpPr>
        <p:spPr>
          <a:xfrm>
            <a:off x="228600" y="3733800"/>
            <a:ext cx="6502400" cy="2793085"/>
          </a:xfrm>
          <a:prstGeom prst="rect">
            <a:avLst/>
          </a:prstGeom>
        </p:spPr>
        <p:txBody>
          <a:bodyPr/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433087-66B3-FFF7-5052-3B4AA24BC58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399" y="2814266"/>
            <a:ext cx="6477001" cy="360241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C4E6DE7-A98B-B707-E9A7-BECAB9107B38}"/>
              </a:ext>
            </a:extLst>
          </p:cNvPr>
          <p:cNvSpPr txBox="1"/>
          <p:nvPr/>
        </p:nvSpPr>
        <p:spPr>
          <a:xfrm>
            <a:off x="6832601" y="1371326"/>
            <a:ext cx="5029199" cy="1092607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200" b="1" dirty="0">
                <a:solidFill>
                  <a:srgbClr val="2F5496"/>
                </a:solidFill>
                <a:latin typeface="+mn-lt"/>
                <a:cs typeface="Times New Roman" panose="02020603050405020304" pitchFamily="18" charset="0"/>
              </a:rPr>
              <a:t>growth of final demand components of GDP </a:t>
            </a:r>
            <a:r>
              <a:rPr lang="en-GB" sz="1200" dirty="0">
                <a:solidFill>
                  <a:srgbClr val="2F5496"/>
                </a:solidFill>
                <a:latin typeface="+mn-lt"/>
                <a:cs typeface="Times New Roman" panose="02020603050405020304" pitchFamily="18" charset="0"/>
              </a:rPr>
              <a:t>(Table LHS)</a:t>
            </a:r>
            <a:endParaRPr lang="en-GB" sz="1200" dirty="0">
              <a:effectLst/>
              <a:latin typeface="+mn-lt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GB" sz="1200" dirty="0">
                <a:latin typeface="+mn-lt"/>
                <a:ea typeface="Calibri" panose="020F0502020204030204" pitchFamily="34" charset="0"/>
              </a:rPr>
              <a:t>--</a:t>
            </a:r>
            <a:r>
              <a:rPr lang="en-GB" sz="1200" dirty="0">
                <a:effectLst/>
                <a:latin typeface="+mn-lt"/>
                <a:ea typeface="Calibri" panose="020F0502020204030204" pitchFamily="34" charset="0"/>
              </a:rPr>
              <a:t>relatively sharp fluctuations post-Covid period, esp. in investment, </a:t>
            </a:r>
          </a:p>
          <a:p>
            <a:pPr>
              <a:lnSpc>
                <a:spcPct val="150000"/>
              </a:lnSpc>
            </a:pPr>
            <a:r>
              <a:rPr lang="en-GB" sz="1200" dirty="0">
                <a:latin typeface="+mn-lt"/>
                <a:ea typeface="Calibri" panose="020F0502020204030204" pitchFamily="34" charset="0"/>
              </a:rPr>
              <a:t>--</a:t>
            </a:r>
            <a:r>
              <a:rPr lang="en-GB" sz="1200" dirty="0">
                <a:effectLst/>
                <a:latin typeface="+mn-lt"/>
                <a:ea typeface="Calibri" panose="020F0502020204030204" pitchFamily="34" charset="0"/>
              </a:rPr>
              <a:t>by late 2025 all final demands converge to their steady state levels</a:t>
            </a:r>
            <a:endParaRPr lang="en-RW" sz="1200" dirty="0">
              <a:latin typeface="+mn-lt"/>
            </a:endParaRPr>
          </a:p>
          <a:p>
            <a:endParaRPr lang="en-RW" sz="1100" b="1" dirty="0"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BCDB91-4745-EE53-F35F-FDAD6B7A982C}"/>
              </a:ext>
            </a:extLst>
          </p:cNvPr>
          <p:cNvSpPr txBox="1"/>
          <p:nvPr/>
        </p:nvSpPr>
        <p:spPr>
          <a:xfrm>
            <a:off x="457200" y="3124200"/>
            <a:ext cx="4876800" cy="2757422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b="1" dirty="0">
                <a:solidFill>
                  <a:srgbClr val="2F5496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2022-23 sluggish GDP growth, driven by</a:t>
            </a:r>
            <a:endParaRPr lang="en-RW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2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--consumption recovery from Covid interrupted by Ukraine-war, inflation surge and restrictive policy response</a:t>
            </a: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GB" sz="12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--</a:t>
            </a:r>
            <a:r>
              <a:rPr lang="en-GB" sz="12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post-Covid fiscal consolidation with negative fiscal </a:t>
            </a:r>
            <a:r>
              <a:rPr lang="en-GB" sz="12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effect &amp; </a:t>
            </a:r>
            <a:r>
              <a:rPr lang="en-GB" sz="12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impulse</a:t>
            </a:r>
            <a:endParaRPr lang="en-RW" sz="12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1400" b="1" dirty="0">
                <a:solidFill>
                  <a:srgbClr val="2F5496"/>
                </a:solidFill>
                <a:latin typeface="+mn-lt"/>
                <a:cs typeface="Times New Roman" panose="02020603050405020304" pitchFamily="18" charset="0"/>
              </a:rPr>
              <a:t>2024-26 growth above trend, driven by</a:t>
            </a:r>
            <a:endParaRPr lang="en-GB" sz="1400" b="1" dirty="0">
              <a:solidFill>
                <a:srgbClr val="2F5496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1200" dirty="0">
                <a:latin typeface="+mn-lt"/>
                <a:cs typeface="Times New Roman" panose="02020603050405020304" pitchFamily="18" charset="0"/>
              </a:rPr>
              <a:t>--remaining output gap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1200" dirty="0">
                <a:latin typeface="+mn-lt"/>
                <a:cs typeface="Times New Roman" panose="02020603050405020304" pitchFamily="18" charset="0"/>
              </a:rPr>
              <a:t>--less restrictive fiscal policies as deficit gradually back to (a bit higher) sustainable level and govt demand for G&amp;S back to normal</a:t>
            </a:r>
            <a:endParaRPr lang="en-RW" sz="1200" dirty="0">
              <a:latin typeface="+mn-lt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1200" dirty="0">
                <a:latin typeface="+mn-lt"/>
                <a:cs typeface="Times New Roman" panose="02020603050405020304" pitchFamily="18" charset="0"/>
              </a:rPr>
              <a:t>--exports helped by high RER</a:t>
            </a: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RW" sz="1200" dirty="0">
              <a:latin typeface="+mn-lt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b="1" dirty="0">
                <a:solidFill>
                  <a:srgbClr val="2F5496"/>
                </a:solidFill>
                <a:latin typeface="+mn-lt"/>
                <a:cs typeface="Times New Roman" panose="02020603050405020304" pitchFamily="18" charset="0"/>
              </a:rPr>
              <a:t>from 2027, back to trend growth of 7.5%</a:t>
            </a:r>
            <a:endParaRPr lang="en-RW" sz="1400" b="1" dirty="0">
              <a:solidFill>
                <a:srgbClr val="2F5496"/>
              </a:solidFill>
              <a:latin typeface="+mn-lt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200" dirty="0">
                <a:latin typeface="+mn-lt"/>
                <a:cs typeface="Times New Roman" panose="02020603050405020304" pitchFamily="18" charset="0"/>
              </a:rPr>
              <a:t>--no indication that Covid has permanently reduced potential output and its growth</a:t>
            </a:r>
            <a:endParaRPr lang="en-RW" sz="12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DBE715-68A1-15B8-C028-F853978C8B6F}"/>
              </a:ext>
            </a:extLst>
          </p:cNvPr>
          <p:cNvSpPr txBox="1"/>
          <p:nvPr/>
        </p:nvSpPr>
        <p:spPr>
          <a:xfrm>
            <a:off x="381001" y="1383049"/>
            <a:ext cx="5562600" cy="26161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RW" sz="1100" dirty="0">
              <a:latin typeface="+mn-lt"/>
            </a:endParaRPr>
          </a:p>
        </p:txBody>
      </p:sp>
      <p:pic>
        <p:nvPicPr>
          <p:cNvPr id="11" name="Picture 10" descr="A group of people with numbers&#10;&#10;Description automatically generated">
            <a:extLst>
              <a:ext uri="{FF2B5EF4-FFF2-40B4-BE49-F238E27FC236}">
                <a16:creationId xmlns:a16="http://schemas.microsoft.com/office/drawing/2014/main" id="{16D4262C-EE53-9416-5FB6-A17E0B73EC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2000"/>
                    </a14:imgEffect>
                    <a14:imgEffect>
                      <a14:brightnessContrast contrast="2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1" y="1281179"/>
            <a:ext cx="6502400" cy="1646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1856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2B948-3F28-94A0-AFF9-22D3A1863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92851"/>
            <a:ext cx="10058400" cy="609600"/>
          </a:xfrm>
        </p:spPr>
        <p:txBody>
          <a:bodyPr/>
          <a:lstStyle/>
          <a:p>
            <a:r>
              <a:rPr lang="en-GB" sz="2400" b="1" dirty="0">
                <a:solidFill>
                  <a:schemeClr val="accent4">
                    <a:lumMod val="50000"/>
                  </a:schemeClr>
                </a:solidFill>
              </a:rPr>
              <a:t>Forecast—cyclical total demand driving GDP</a:t>
            </a:r>
            <a:endParaRPr lang="en-AE" sz="24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ECA724-04CE-0978-4E96-A52B52FFCB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CE53A78-6149-73BC-44A9-99D9F5188F33}"/>
              </a:ext>
            </a:extLst>
          </p:cNvPr>
          <p:cNvSpPr txBox="1">
            <a:spLocks/>
          </p:cNvSpPr>
          <p:nvPr/>
        </p:nvSpPr>
        <p:spPr>
          <a:xfrm>
            <a:off x="289560" y="3733800"/>
            <a:ext cx="6361112" cy="2370138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/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600" b="1" dirty="0">
                <a:solidFill>
                  <a:srgbClr val="0070C0"/>
                </a:solidFill>
                <a:effectLst/>
                <a:ea typeface="Calibri" panose="020F0502020204030204" pitchFamily="34" charset="0"/>
              </a:rPr>
              <a:t>Output-below-potential (negative gap) declines gradually</a:t>
            </a:r>
            <a:endParaRPr lang="en-RW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74638" lvl="1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chemeClr val="tx1"/>
                </a:solidFill>
                <a:cs typeface="Times New Roman" panose="02020603050405020304" pitchFamily="18" charset="0"/>
              </a:rPr>
              <a:t>--lessening down pull from consumption which goes back to normal</a:t>
            </a:r>
            <a:endParaRPr lang="en-RW" sz="14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274638" lvl="1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chemeClr val="tx1"/>
                </a:solidFill>
                <a:cs typeface="Times New Roman" panose="02020603050405020304" pitchFamily="18" charset="0"/>
              </a:rPr>
              <a:t>--large initial down pull from reduction in real government spending, but</a:t>
            </a:r>
            <a:r>
              <a:rPr lang="en-US" sz="1400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GB" sz="1400" dirty="0">
                <a:solidFill>
                  <a:schemeClr val="tx1"/>
                </a:solidFill>
                <a:cs typeface="Times New Roman" panose="02020603050405020304" pitchFamily="18" charset="0"/>
              </a:rPr>
              <a:t>gradually disappearing from mid-2024 </a:t>
            </a:r>
            <a:endParaRPr lang="en-RW" sz="14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274638" lvl="1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chemeClr val="tx1"/>
                </a:solidFill>
                <a:cs typeface="Times New Roman" panose="02020603050405020304" pitchFamily="18" charset="0"/>
              </a:rPr>
              <a:t>--exports helped by increased RER </a:t>
            </a:r>
            <a:endParaRPr lang="en-RW" sz="14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E30E72-497C-AE6F-5585-325F5D20F41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8609" y="1363662"/>
            <a:ext cx="5050971" cy="474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C6BE4F4-E2EE-53F9-3208-4B39F8E017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8797" y="1223169"/>
            <a:ext cx="3401875" cy="23241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31B033B-F303-BBE2-E42F-5D6CF7E2AECC}"/>
              </a:ext>
            </a:extLst>
          </p:cNvPr>
          <p:cNvSpPr txBox="1"/>
          <p:nvPr/>
        </p:nvSpPr>
        <p:spPr>
          <a:xfrm>
            <a:off x="312420" y="1219200"/>
            <a:ext cx="2758440" cy="1508105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latin typeface="+mn-lt"/>
              </a:rPr>
              <a:t>--output gap closing in as output (level) approaching its trend by 2026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+mn-lt"/>
              </a:rPr>
              <a:t>--output gap moves around zero trend when its level catches trend</a:t>
            </a:r>
          </a:p>
          <a:p>
            <a:r>
              <a:rPr lang="en-US" sz="2000" dirty="0"/>
              <a:t>  </a:t>
            </a:r>
            <a:endParaRPr lang="en-RW" sz="2000" dirty="0"/>
          </a:p>
        </p:txBody>
      </p:sp>
    </p:spTree>
    <p:extLst>
      <p:ext uri="{BB962C8B-B14F-4D97-AF65-F5344CB8AC3E}">
        <p14:creationId xmlns:p14="http://schemas.microsoft.com/office/powerpoint/2010/main" val="8775595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E215E-A221-5C2E-C78F-32828EC4B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228600"/>
            <a:ext cx="10490200" cy="685800"/>
          </a:xfrm>
        </p:spPr>
        <p:txBody>
          <a:bodyPr/>
          <a:lstStyle/>
          <a:p>
            <a:r>
              <a:rPr lang="en-GB" sz="2400" b="1" dirty="0">
                <a:solidFill>
                  <a:schemeClr val="accent4">
                    <a:lumMod val="50000"/>
                  </a:schemeClr>
                </a:solidFill>
              </a:rPr>
              <a:t>Private consumption and cyclical position</a:t>
            </a:r>
            <a:endParaRPr lang="en-AE" sz="24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C77F28-182D-EA72-A954-E1C43EFFCE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58DA28E-0F28-523A-7B3F-93FC9CDE1E03}"/>
              </a:ext>
            </a:extLst>
          </p:cNvPr>
          <p:cNvSpPr txBox="1">
            <a:spLocks/>
          </p:cNvSpPr>
          <p:nvPr/>
        </p:nvSpPr>
        <p:spPr>
          <a:xfrm>
            <a:off x="5562600" y="4918922"/>
            <a:ext cx="6518910" cy="1600200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2F549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Consumption gap   </a:t>
            </a:r>
          </a:p>
          <a:p>
            <a:pPr marL="274638" lvl="1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chemeClr val="tx1"/>
                </a:solidFill>
                <a:cs typeface="Times New Roman" panose="02020603050405020304" pitchFamily="18" charset="0"/>
              </a:rPr>
              <a:t>--estimated  to recover from recent low levels but remains restrained in 2024      </a:t>
            </a:r>
          </a:p>
          <a:p>
            <a:pPr marL="274638" lvl="1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chemeClr val="tx1"/>
                </a:solidFill>
                <a:cs typeface="Times New Roman" panose="02020603050405020304" pitchFamily="18" charset="0"/>
              </a:rPr>
              <a:t>     (by low GDP growth and contractionary fiscal stance in 2023-24)</a:t>
            </a:r>
          </a:p>
          <a:p>
            <a:pPr marL="274638" lvl="1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chemeClr val="tx1"/>
                </a:solidFill>
                <a:cs typeface="Times New Roman" panose="02020603050405020304" pitchFamily="18" charset="0"/>
              </a:rPr>
              <a:t>--returns to trend growth in late 2026 when fiscal and monetary policy become somewhat less restrictive. </a:t>
            </a:r>
            <a:endParaRPr lang="en-AE" sz="14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C4DA25-5C9F-F1F8-8B9C-3CE84D7513B0}"/>
              </a:ext>
            </a:extLst>
          </p:cNvPr>
          <p:cNvSpPr txBox="1"/>
          <p:nvPr/>
        </p:nvSpPr>
        <p:spPr>
          <a:xfrm rot="10800000" flipV="1">
            <a:off x="609600" y="4786128"/>
            <a:ext cx="4419600" cy="1643335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800" b="1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Consumption back to trend, drivers</a:t>
            </a:r>
            <a:endParaRPr lang="en-RW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74638" lvl="1" ea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400" dirty="0">
                <a:latin typeface="+mn-lt"/>
                <a:cs typeface="Times New Roman" panose="02020603050405020304" pitchFamily="18" charset="0"/>
              </a:rPr>
              <a:t>--persistence, lagged effect</a:t>
            </a:r>
            <a:endParaRPr lang="en-RW" sz="1400" dirty="0">
              <a:latin typeface="+mn-lt"/>
              <a:cs typeface="Times New Roman" panose="02020603050405020304" pitchFamily="18" charset="0"/>
            </a:endParaRPr>
          </a:p>
          <a:p>
            <a:pPr marL="274638" lvl="1" ea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400" dirty="0">
                <a:latin typeface="+mn-lt"/>
                <a:cs typeface="Times New Roman" panose="02020603050405020304" pitchFamily="18" charset="0"/>
              </a:rPr>
              <a:t>--expectations</a:t>
            </a:r>
            <a:endParaRPr lang="en-RW" sz="1400" dirty="0">
              <a:latin typeface="+mn-lt"/>
              <a:cs typeface="Times New Roman" panose="02020603050405020304" pitchFamily="18" charset="0"/>
            </a:endParaRPr>
          </a:p>
          <a:p>
            <a:pPr marL="274638" lvl="1" ea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400" dirty="0">
                <a:latin typeface="+mn-lt"/>
                <a:cs typeface="Times New Roman" panose="02020603050405020304" pitchFamily="18" charset="0"/>
              </a:rPr>
              <a:t>--income, proxied by real GDP</a:t>
            </a:r>
            <a:endParaRPr lang="en-RW" sz="1400" dirty="0">
              <a:latin typeface="+mn-lt"/>
              <a:cs typeface="Times New Roman" panose="02020603050405020304" pitchFamily="18" charset="0"/>
            </a:endParaRPr>
          </a:p>
          <a:p>
            <a:pPr marL="274638" lvl="1" ea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US" sz="1400" dirty="0">
                <a:latin typeface="+mn-lt"/>
                <a:cs typeface="Times New Roman" panose="02020603050405020304" pitchFamily="18" charset="0"/>
              </a:rPr>
              <a:t>--negative fiscal impulse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44ECB2-07F6-60CD-DC4B-AD14555190E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1219200"/>
            <a:ext cx="5740581" cy="352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47599E0-43B9-8A97-9961-3FB3ADED8D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342567"/>
            <a:ext cx="4419600" cy="3397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771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E215E-A221-5C2E-C78F-32828EC4B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152400"/>
            <a:ext cx="10490200" cy="685800"/>
          </a:xfrm>
        </p:spPr>
        <p:txBody>
          <a:bodyPr/>
          <a:lstStyle/>
          <a:p>
            <a:r>
              <a:rPr lang="en-GB" sz="2400" b="1" dirty="0">
                <a:solidFill>
                  <a:schemeClr val="accent4">
                    <a:lumMod val="50000"/>
                  </a:schemeClr>
                </a:solidFill>
              </a:rPr>
              <a:t>Private investment, exports &amp; imports and cyclical position</a:t>
            </a:r>
            <a:endParaRPr lang="en-AE" sz="24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C77F28-182D-EA72-A954-E1C43EFFCE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58DA28E-0F28-523A-7B3F-93FC9CDE1E03}"/>
              </a:ext>
            </a:extLst>
          </p:cNvPr>
          <p:cNvSpPr txBox="1">
            <a:spLocks/>
          </p:cNvSpPr>
          <p:nvPr/>
        </p:nvSpPr>
        <p:spPr>
          <a:xfrm>
            <a:off x="5791200" y="1066800"/>
            <a:ext cx="6324600" cy="18288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lang="en-AE" sz="1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7BADC8-8422-27C0-9760-793C3E801DA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235347"/>
            <a:ext cx="3810000" cy="3026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23A081A-9059-307A-69E0-E707058113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1" y="1235347"/>
            <a:ext cx="3886199" cy="303185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DFC1168-07DA-C4EC-42DD-0BEB388C2B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1" y="1321526"/>
            <a:ext cx="3505199" cy="294567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966F8FF-5F2D-9443-4B75-9B5C17AD66D2}"/>
              </a:ext>
            </a:extLst>
          </p:cNvPr>
          <p:cNvSpPr txBox="1"/>
          <p:nvPr/>
        </p:nvSpPr>
        <p:spPr>
          <a:xfrm>
            <a:off x="381000" y="4495800"/>
            <a:ext cx="3886198" cy="1415772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1400" b="1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Private investment returns to trend</a:t>
            </a:r>
            <a:endParaRPr lang="en-RW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200" u="sng" dirty="0">
                <a:solidFill>
                  <a:srgbClr val="2F5496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US" sz="1200" u="sng" dirty="0">
                <a:solidFill>
                  <a:srgbClr val="2F5496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ain drivers</a:t>
            </a:r>
            <a:r>
              <a:rPr lang="en-US" sz="1200" dirty="0">
                <a:solidFill>
                  <a:srgbClr val="2F5496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RW" sz="12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74638" lvl="1" eaLnBrk="0" hangingPunct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200" dirty="0">
                <a:latin typeface="+mn-lt"/>
                <a:cs typeface="Times New Roman" panose="02020603050405020304" pitchFamily="18" charset="0"/>
              </a:rPr>
              <a:t>--persistence (lag) and expectations</a:t>
            </a:r>
            <a:endParaRPr lang="en-RW" sz="1200" dirty="0">
              <a:latin typeface="+mn-lt"/>
              <a:cs typeface="Times New Roman" panose="02020603050405020304" pitchFamily="18" charset="0"/>
            </a:endParaRPr>
          </a:p>
          <a:p>
            <a:pPr marL="274638" lvl="1" eaLnBrk="0" hangingPunct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200" dirty="0">
                <a:latin typeface="+mn-lt"/>
                <a:cs typeface="Times New Roman" panose="02020603050405020304" pitchFamily="18" charset="0"/>
              </a:rPr>
              <a:t>--small effect of real interest rate (RIR)</a:t>
            </a:r>
            <a:endParaRPr lang="en-RW" sz="1200" dirty="0">
              <a:latin typeface="+mn-lt"/>
              <a:cs typeface="Times New Roman" panose="02020603050405020304" pitchFamily="18" charset="0"/>
            </a:endParaRPr>
          </a:p>
          <a:p>
            <a:pPr marL="274638" lvl="1" eaLnBrk="0" hangingPunct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US" sz="1200" dirty="0">
                <a:latin typeface="+mn-lt"/>
                <a:cs typeface="Times New Roman" panose="02020603050405020304" pitchFamily="18" charset="0"/>
              </a:rPr>
              <a:t>--no RER effect </a:t>
            </a:r>
            <a:r>
              <a:rPr lang="en-US" sz="1000" dirty="0">
                <a:latin typeface="+mn-lt"/>
                <a:cs typeface="Times New Roman" panose="02020603050405020304" pitchFamily="18" charset="0"/>
              </a:rPr>
              <a:t>(zero weight in </a:t>
            </a:r>
            <a:r>
              <a:rPr lang="en-US" sz="1000" b="1" dirty="0">
                <a:latin typeface="+mn-lt"/>
                <a:cs typeface="Times New Roman" panose="02020603050405020304" pitchFamily="18" charset="0"/>
              </a:rPr>
              <a:t>M</a:t>
            </a:r>
            <a:r>
              <a:rPr lang="en-US" sz="1000" dirty="0">
                <a:latin typeface="+mn-lt"/>
                <a:cs typeface="Times New Roman" panose="02020603050405020304" pitchFamily="18" charset="0"/>
              </a:rPr>
              <a:t>onetary </a:t>
            </a:r>
            <a:r>
              <a:rPr lang="en-US" sz="1000" b="1" dirty="0">
                <a:latin typeface="+mn-lt"/>
                <a:cs typeface="Times New Roman" panose="02020603050405020304" pitchFamily="18" charset="0"/>
              </a:rPr>
              <a:t>C</a:t>
            </a:r>
            <a:r>
              <a:rPr lang="en-US" sz="1000" dirty="0">
                <a:latin typeface="+mn-lt"/>
                <a:cs typeface="Times New Roman" panose="02020603050405020304" pitchFamily="18" charset="0"/>
              </a:rPr>
              <a:t>onditions </a:t>
            </a:r>
            <a:r>
              <a:rPr lang="en-US" sz="1000" b="1" dirty="0">
                <a:latin typeface="+mn-lt"/>
                <a:cs typeface="Times New Roman" panose="02020603050405020304" pitchFamily="18" charset="0"/>
              </a:rPr>
              <a:t>I</a:t>
            </a:r>
            <a:r>
              <a:rPr lang="en-US" sz="1000" dirty="0">
                <a:latin typeface="+mn-lt"/>
                <a:cs typeface="Times New Roman" panose="02020603050405020304" pitchFamily="18" charset="0"/>
              </a:rPr>
              <a:t>ndex)</a:t>
            </a:r>
            <a:endParaRPr lang="en-RW" sz="1000" dirty="0">
              <a:latin typeface="+mn-lt"/>
              <a:cs typeface="Times New Roman" panose="02020603050405020304" pitchFamily="18" charset="0"/>
            </a:endParaRPr>
          </a:p>
          <a:p>
            <a:pPr marL="274638" lvl="1" eaLnBrk="0" hangingPunct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200" dirty="0">
                <a:latin typeface="+mn-lt"/>
                <a:cs typeface="Times New Roman" panose="02020603050405020304" pitchFamily="18" charset="0"/>
              </a:rPr>
              <a:t>--small income effect (proxied by real GDP)</a:t>
            </a:r>
            <a:endParaRPr lang="en-RW" sz="1200" dirty="0">
              <a:latin typeface="+mn-lt"/>
              <a:cs typeface="Times New Roman" panose="02020603050405020304" pitchFamily="18" charset="0"/>
            </a:endParaRPr>
          </a:p>
          <a:p>
            <a:pPr marL="274638" lvl="1" eaLnBrk="0" hangingPunct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200" dirty="0">
                <a:latin typeface="+mn-lt"/>
                <a:cs typeface="Times New Roman" panose="02020603050405020304" pitchFamily="18" charset="0"/>
              </a:rPr>
              <a:t>--small effect of fiscal impulse</a:t>
            </a:r>
            <a:endParaRPr lang="en-RW" sz="12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AA50828-7363-40A9-6EE3-EAB01E9C5945}"/>
              </a:ext>
            </a:extLst>
          </p:cNvPr>
          <p:cNvSpPr txBox="1"/>
          <p:nvPr/>
        </p:nvSpPr>
        <p:spPr>
          <a:xfrm>
            <a:off x="4343400" y="4495800"/>
            <a:ext cx="3886199" cy="161602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b="1" dirty="0">
                <a:solidFill>
                  <a:srgbClr val="2F549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Exports return to trend</a:t>
            </a:r>
            <a:endParaRPr lang="en-RW" sz="1600" b="1" dirty="0">
              <a:solidFill>
                <a:srgbClr val="2F549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u="sng" dirty="0">
                <a:solidFill>
                  <a:srgbClr val="2F5496"/>
                </a:solidFill>
                <a:latin typeface="+mn-lt"/>
                <a:cs typeface="Times New Roman" panose="02020603050405020304" pitchFamily="18" charset="0"/>
              </a:rPr>
              <a:t>main drivers:</a:t>
            </a:r>
            <a:endParaRPr lang="en-RW" sz="1400" u="sng" dirty="0">
              <a:solidFill>
                <a:srgbClr val="2F5496"/>
              </a:solidFill>
              <a:latin typeface="+mn-lt"/>
              <a:cs typeface="Times New Roman" panose="02020603050405020304" pitchFamily="18" charset="0"/>
            </a:endParaRPr>
          </a:p>
          <a:p>
            <a:pPr marL="274638" lvl="1" ea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200" dirty="0">
                <a:latin typeface="+mn-lt"/>
                <a:cs typeface="Times New Roman" panose="02020603050405020304" pitchFamily="18" charset="0"/>
              </a:rPr>
              <a:t>--persistence (lag)</a:t>
            </a:r>
            <a:endParaRPr lang="en-RW" sz="1200" dirty="0">
              <a:latin typeface="+mn-lt"/>
              <a:cs typeface="Times New Roman" panose="02020603050405020304" pitchFamily="18" charset="0"/>
            </a:endParaRPr>
          </a:p>
          <a:p>
            <a:pPr marL="274638" lvl="1" ea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200" dirty="0">
                <a:latin typeface="+mn-lt"/>
                <a:cs typeface="Times New Roman" panose="02020603050405020304" pitchFamily="18" charset="0"/>
              </a:rPr>
              <a:t>--expectations</a:t>
            </a:r>
            <a:endParaRPr lang="en-RW" sz="1200" dirty="0">
              <a:latin typeface="+mn-lt"/>
              <a:cs typeface="Times New Roman" panose="02020603050405020304" pitchFamily="18" charset="0"/>
            </a:endParaRPr>
          </a:p>
          <a:p>
            <a:pPr marL="274638" lvl="1" ea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200" dirty="0">
                <a:latin typeface="+mn-lt"/>
                <a:cs typeface="Times New Roman" panose="02020603050405020304" pitchFamily="18" charset="0"/>
              </a:rPr>
              <a:t>--foreign demand (mainly relevant for tourism, albeit with small coefficient)</a:t>
            </a:r>
            <a:endParaRPr lang="en-RW" sz="1200" dirty="0">
              <a:latin typeface="+mn-lt"/>
              <a:cs typeface="Times New Roman" panose="02020603050405020304" pitchFamily="18" charset="0"/>
            </a:endParaRPr>
          </a:p>
          <a:p>
            <a:pPr marL="274638" lvl="1" ea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200" dirty="0">
                <a:latin typeface="+mn-lt"/>
                <a:cs typeface="Times New Roman" panose="02020603050405020304" pitchFamily="18" charset="0"/>
              </a:rPr>
              <a:t>--earlier down pull from RER overvaluation disappears</a:t>
            </a:r>
            <a:endParaRPr lang="en-RW" sz="12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FE41C08-EE54-A31E-786F-9D35C38BF9DE}"/>
              </a:ext>
            </a:extLst>
          </p:cNvPr>
          <p:cNvSpPr txBox="1"/>
          <p:nvPr/>
        </p:nvSpPr>
        <p:spPr>
          <a:xfrm>
            <a:off x="8409213" y="4493143"/>
            <a:ext cx="3505199" cy="161602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b="1" dirty="0">
                <a:solidFill>
                  <a:srgbClr val="2F549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demand returns to trend</a:t>
            </a:r>
            <a:endParaRPr lang="en-RW" sz="1400" b="1" dirty="0">
              <a:solidFill>
                <a:srgbClr val="2F549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u="sng" dirty="0">
                <a:solidFill>
                  <a:srgbClr val="2F5496"/>
                </a:solidFill>
                <a:latin typeface="+mn-lt"/>
                <a:cs typeface="Times New Roman" panose="02020603050405020304" pitchFamily="18" charset="0"/>
              </a:rPr>
              <a:t>main drivers:</a:t>
            </a:r>
            <a:endParaRPr lang="en-RW" sz="1400" u="sng" dirty="0">
              <a:solidFill>
                <a:srgbClr val="2F5496"/>
              </a:solidFill>
              <a:latin typeface="+mn-lt"/>
              <a:cs typeface="Times New Roman" panose="02020603050405020304" pitchFamily="18" charset="0"/>
            </a:endParaRPr>
          </a:p>
          <a:p>
            <a:pPr marL="274638" lvl="1" ea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200" dirty="0">
                <a:latin typeface="+mn-lt"/>
                <a:cs typeface="Times New Roman" panose="02020603050405020304" pitchFamily="18" charset="0"/>
              </a:rPr>
              <a:t>--final demand components, esp. consumption, govt demand, investment</a:t>
            </a:r>
            <a:endParaRPr lang="en-RW" sz="1200" dirty="0">
              <a:latin typeface="+mn-lt"/>
              <a:cs typeface="Times New Roman" panose="02020603050405020304" pitchFamily="18" charset="0"/>
            </a:endParaRPr>
          </a:p>
          <a:p>
            <a:pPr marL="274638" lvl="1" ea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200" dirty="0">
                <a:latin typeface="+mn-lt"/>
                <a:cs typeface="Times New Roman" panose="02020603050405020304" pitchFamily="18" charset="0"/>
              </a:rPr>
              <a:t>--RER effect reverses to negative as real depreciation (lower overvaluation) reduces imports</a:t>
            </a:r>
            <a:endParaRPr lang="en-RW" sz="1200" dirty="0">
              <a:latin typeface="+mn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77593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2B948-3F28-94A0-AFF9-22D3A1863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28600"/>
            <a:ext cx="10439400" cy="750514"/>
          </a:xfrm>
        </p:spPr>
        <p:txBody>
          <a:bodyPr/>
          <a:lstStyle/>
          <a:p>
            <a:r>
              <a:rPr lang="en-GB" sz="2400" b="1" dirty="0">
                <a:solidFill>
                  <a:schemeClr val="accent4">
                    <a:lumMod val="50000"/>
                  </a:schemeClr>
                </a:solidFill>
              </a:rPr>
              <a:t>Fiscal stance (i): govt demand for G&amp;S affects output directly</a:t>
            </a:r>
            <a:endParaRPr lang="en-AE" sz="24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ECA724-04CE-0978-4E96-A52B52FFCB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1FBA286-B9C2-0395-5CDE-596191958C6F}"/>
              </a:ext>
            </a:extLst>
          </p:cNvPr>
          <p:cNvSpPr txBox="1">
            <a:spLocks/>
          </p:cNvSpPr>
          <p:nvPr/>
        </p:nvSpPr>
        <p:spPr>
          <a:xfrm>
            <a:off x="152400" y="4124947"/>
            <a:ext cx="5943600" cy="2123453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/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GB" sz="16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Government demand for G&amp;S </a:t>
            </a:r>
            <a:r>
              <a:rPr lang="en-GB" sz="1600" i="1" dirty="0"/>
              <a:t>(direct) </a:t>
            </a:r>
            <a:r>
              <a:rPr lang="en-GB" sz="1600" dirty="0"/>
              <a:t>(</a:t>
            </a:r>
            <a:r>
              <a:rPr lang="en-GB" sz="1600" u="sng" dirty="0"/>
              <a:t>+</a:t>
            </a:r>
            <a:r>
              <a:rPr lang="en-GB" sz="1600" dirty="0"/>
              <a:t> 23% of GDP):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1400" dirty="0">
                <a:cs typeface="Times New Roman" panose="02020603050405020304" pitchFamily="18" charset="0"/>
              </a:rPr>
              <a:t>--deficit reduction in fiscal program FY2023/24 and 2024/25 mostly from ending has Covid and post-Covid crisis-related spending on G&amp;S and investment cuts</a:t>
            </a:r>
            <a:endParaRPr lang="en-GB" sz="1400" dirty="0">
              <a:effectLst/>
              <a:ea typeface="Calibri" panose="020F050202020403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1400" dirty="0">
                <a:ea typeface="Calibri" panose="020F0502020204030204" pitchFamily="34" charset="0"/>
              </a:rPr>
              <a:t>--discretionary govt demand turning from above trend (expansionary) to below trend (contractionary)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1400" dirty="0"/>
              <a:t>--significant negative effect on demand, forecast to last till early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DCCAC2-6233-0EF9-ABEA-F7674370836D}"/>
              </a:ext>
            </a:extLst>
          </p:cNvPr>
          <p:cNvSpPr txBox="1"/>
          <p:nvPr/>
        </p:nvSpPr>
        <p:spPr>
          <a:xfrm>
            <a:off x="394019" y="1173090"/>
            <a:ext cx="116547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just">
              <a:buNone/>
            </a:pPr>
            <a:r>
              <a:rPr lang="en-GB" sz="1600" b="1" dirty="0">
                <a:solidFill>
                  <a:srgbClr val="0070C0"/>
                </a:solidFill>
                <a:latin typeface="+mn-lt"/>
              </a:rPr>
              <a:t>Fi</a:t>
            </a:r>
            <a:r>
              <a:rPr lang="en-GB" sz="1800" b="1" dirty="0">
                <a:solidFill>
                  <a:srgbClr val="0070C0"/>
                </a:solidFill>
                <a:latin typeface="+mn-lt"/>
              </a:rPr>
              <a:t>scal policies affecting output in short-run via several channels captured in the model</a:t>
            </a: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: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28DCE5C-B184-5784-80FB-8F6265A85C30}"/>
              </a:ext>
            </a:extLst>
          </p:cNvPr>
          <p:cNvSpPr txBox="1">
            <a:spLocks/>
          </p:cNvSpPr>
          <p:nvPr/>
        </p:nvSpPr>
        <p:spPr>
          <a:xfrm>
            <a:off x="308674" y="1260708"/>
            <a:ext cx="6092126" cy="750514"/>
          </a:xfrm>
          <a:prstGeom prst="rect">
            <a:avLst/>
          </a:prstGeom>
        </p:spPr>
        <p:txBody>
          <a:bodyPr/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§"/>
            </a:pPr>
            <a:endParaRPr lang="en-GB" sz="16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DD93EFC-47FC-E595-3B4D-5FF3CB56A215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276600" y="1676400"/>
            <a:ext cx="2819400" cy="231456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C2C7DB9-E208-7CB6-789B-0E2128FD09A6}"/>
              </a:ext>
            </a:extLst>
          </p:cNvPr>
          <p:cNvSpPr txBox="1"/>
          <p:nvPr/>
        </p:nvSpPr>
        <p:spPr>
          <a:xfrm>
            <a:off x="308674" y="1701694"/>
            <a:ext cx="2663126" cy="1444754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latin typeface="+mn-lt"/>
              </a:rPr>
              <a:t>--from 2023Q2, govt demand % GDP switches from above to below its structural trend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+mn-lt"/>
              </a:rPr>
              <a:t>--implies negative govt </a:t>
            </a:r>
            <a:r>
              <a:rPr lang="en-US" sz="1200">
                <a:latin typeface="+mn-lt"/>
              </a:rPr>
              <a:t>demand in </a:t>
            </a:r>
            <a:r>
              <a:rPr lang="en-US" sz="1200" dirty="0">
                <a:latin typeface="+mn-lt"/>
              </a:rPr>
              <a:t>2023-25, fading thereafter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44B9E96-2ED8-FAA1-29D5-CA2CE60735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200" y="1701694"/>
            <a:ext cx="5257799" cy="4474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5365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2B948-3F28-94A0-AFF9-22D3A1863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228600"/>
            <a:ext cx="4343400" cy="750514"/>
          </a:xfrm>
        </p:spPr>
        <p:txBody>
          <a:bodyPr/>
          <a:lstStyle/>
          <a:p>
            <a:r>
              <a:rPr lang="en-GB" sz="2400" b="1" dirty="0"/>
              <a:t>  </a:t>
            </a:r>
            <a:r>
              <a:rPr lang="en-GB" sz="2400" b="1" dirty="0">
                <a:solidFill>
                  <a:schemeClr val="accent4">
                    <a:lumMod val="50000"/>
                  </a:schemeClr>
                </a:solidFill>
              </a:rPr>
              <a:t>(ii): fiscal impulse affects  output via private demand</a:t>
            </a:r>
            <a:endParaRPr lang="en-AE" sz="24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ECA724-04CE-0978-4E96-A52B52FFCB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2AAF6A8-A1FC-08FD-607D-366D8C204D63}"/>
              </a:ext>
            </a:extLst>
          </p:cNvPr>
          <p:cNvSpPr txBox="1">
            <a:spLocks/>
          </p:cNvSpPr>
          <p:nvPr/>
        </p:nvSpPr>
        <p:spPr>
          <a:xfrm>
            <a:off x="5638800" y="4617926"/>
            <a:ext cx="5867400" cy="1859074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/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1800" b="1" dirty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f</a:t>
            </a:r>
            <a:r>
              <a:rPr lang="en-US" sz="18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iscal stance direct and indirect effect on output</a:t>
            </a:r>
            <a:r>
              <a:rPr lang="en-GB" sz="1600" i="1" dirty="0"/>
              <a:t>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1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--average negative discretionary deficit of </a:t>
            </a:r>
            <a:r>
              <a:rPr lang="en-GB" sz="1400" dirty="0"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GB" sz="1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% of GDP  during 2023-25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1400" dirty="0">
                <a:cs typeface="Times New Roman" panose="02020603050405020304" pitchFamily="18" charset="0"/>
              </a:rPr>
              <a:t>--estimated to lower real GDP by some 1.7%, mainly from lower govt demand for G&amp;S (two-thirds) and the remainder from lower private demand</a:t>
            </a:r>
            <a:endParaRPr lang="en-GB" sz="11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0A8341-0CDE-1B55-F22E-BA82C40D4258}"/>
              </a:ext>
            </a:extLst>
          </p:cNvPr>
          <p:cNvSpPr txBox="1"/>
          <p:nvPr/>
        </p:nvSpPr>
        <p:spPr>
          <a:xfrm>
            <a:off x="304800" y="4599265"/>
            <a:ext cx="5003799" cy="1516249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“fiscal impulse”—mainly discretionary deficit—affects private demand and hence output indirectly</a:t>
            </a:r>
          </a:p>
          <a:p>
            <a:pPr>
              <a:lnSpc>
                <a:spcPct val="150000"/>
              </a:lnSpc>
            </a:pPr>
            <a:r>
              <a:rPr lang="en-GB" sz="1400" dirty="0">
                <a:latin typeface="+mn-lt"/>
              </a:rPr>
              <a:t>--turns negative from late 2022 for several years</a:t>
            </a:r>
          </a:p>
          <a:p>
            <a:pPr>
              <a:lnSpc>
                <a:spcPct val="150000"/>
              </a:lnSpc>
            </a:pPr>
            <a:r>
              <a:rPr lang="en-GB" sz="1400" dirty="0">
                <a:latin typeface="+mn-lt"/>
              </a:rPr>
              <a:t>--works on private demand via transfers/subsidies and revenue and ‘optimism effect’ of fiscal stance</a:t>
            </a:r>
            <a:endParaRPr lang="en-RW" sz="1400" dirty="0">
              <a:latin typeface="+mn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0E7634-C4F1-798E-919D-FA326A8587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143001"/>
            <a:ext cx="4343400" cy="329237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082FE92-6EF8-8455-B340-37D8B1FFEE7A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7035802" y="1223591"/>
            <a:ext cx="4089398" cy="3292378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78E8912A-FD4D-BECC-5556-35984674AE2E}"/>
              </a:ext>
            </a:extLst>
          </p:cNvPr>
          <p:cNvSpPr txBox="1">
            <a:spLocks/>
          </p:cNvSpPr>
          <p:nvPr/>
        </p:nvSpPr>
        <p:spPr>
          <a:xfrm flipH="1">
            <a:off x="6248402" y="228600"/>
            <a:ext cx="5333998" cy="750514"/>
          </a:xfrm>
          <a:prstGeom prst="rect">
            <a:avLst/>
          </a:prstGeom>
        </p:spPr>
        <p:txBody>
          <a:bodyPr anchor="b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+mn-lt"/>
                <a:ea typeface="ＭＳ Ｐゴシック" charset="-128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  <a:ea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  <a:ea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  <a:ea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  <a:ea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9pPr>
          </a:lstStyle>
          <a:p>
            <a:r>
              <a:rPr lang="en-GB" sz="2400" b="1" dirty="0"/>
              <a:t>  </a:t>
            </a:r>
            <a:r>
              <a:rPr lang="en-GB" sz="2400" b="1" dirty="0">
                <a:solidFill>
                  <a:schemeClr val="accent4">
                    <a:lumMod val="50000"/>
                  </a:schemeClr>
                </a:solidFill>
              </a:rPr>
              <a:t>(i+ii) fiscal stance: total output effect via Govt and private demand</a:t>
            </a:r>
            <a:endParaRPr lang="en-AE" sz="2400" b="1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44292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0CAD2-6D14-9D72-E8A6-67BC40D34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381000"/>
            <a:ext cx="10591800" cy="609600"/>
          </a:xfrm>
        </p:spPr>
        <p:txBody>
          <a:bodyPr/>
          <a:lstStyle/>
          <a:p>
            <a:r>
              <a:rPr lang="en-GB" sz="2400" b="1" dirty="0">
                <a:solidFill>
                  <a:schemeClr val="accent4">
                    <a:lumMod val="50000"/>
                  </a:schemeClr>
                </a:solidFill>
              </a:rPr>
              <a:t>Fiscal stance: deficit and its components </a:t>
            </a:r>
            <a:r>
              <a:rPr lang="en-GB" sz="2000" dirty="0"/>
              <a:t>(revenue,  spending) and model decompositions (structural, cyclical, discretionary) </a:t>
            </a:r>
            <a:endParaRPr lang="en-AE" sz="2400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CDF8F7-7F5E-7D6D-E3E8-C142EB7C92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B9B0D37-7B64-4005-540D-EA41278FCF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3385" y="1219200"/>
            <a:ext cx="2971800" cy="286171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8B94BFA-AEA7-E15F-7BE9-C3779C0443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3134" y="1371600"/>
            <a:ext cx="3048000" cy="270931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7584A55-7457-1385-0B36-42E61E3E83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3145" y="1143000"/>
            <a:ext cx="2479787" cy="286171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B6C5D83-496E-B2D7-0292-2EEC3D98C304}"/>
              </a:ext>
            </a:extLst>
          </p:cNvPr>
          <p:cNvSpPr txBox="1"/>
          <p:nvPr/>
        </p:nvSpPr>
        <p:spPr>
          <a:xfrm>
            <a:off x="228600" y="4210048"/>
            <a:ext cx="5798331" cy="188494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en-US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Budget deficit (excl. grants), %GDP (revenue, demand G&amp;S, other exp.)</a:t>
            </a:r>
            <a:endParaRPr lang="en-GB" sz="1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GB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--</a:t>
            </a:r>
            <a:r>
              <a:rPr lang="en-GB" sz="1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2023/24-2024/25 deficits tuned </a:t>
            </a:r>
            <a:r>
              <a:rPr lang="en-GB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at 10.8% and 9.7% of GDP (~PCI program)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GB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--i</a:t>
            </a:r>
            <a:r>
              <a:rPr lang="en-GB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mplies negative discretionary deficit (below trend or sustainable level)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GB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--</a:t>
            </a:r>
            <a:r>
              <a:rPr lang="en-GB" sz="1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beyond P</a:t>
            </a:r>
            <a:r>
              <a:rPr lang="en-GB" sz="1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CI-program (from 2025/26), deficits return to 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sustainable levels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(from debt/GDP anchor, i.e., 8% of GDP o/w: 5% debt-creating deficit)</a:t>
            </a:r>
            <a:endParaRPr lang="en-US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--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constituent parts (revenue, demand, oexp) gradually toward structural levels</a:t>
            </a:r>
            <a:endParaRPr lang="en-US" sz="1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E5D980F-D41E-E30B-723D-7481BB8DE8AF}"/>
              </a:ext>
            </a:extLst>
          </p:cNvPr>
          <p:cNvSpPr txBox="1"/>
          <p:nvPr/>
        </p:nvSpPr>
        <p:spPr>
          <a:xfrm>
            <a:off x="6096000" y="4210048"/>
            <a:ext cx="5867400" cy="2077492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Budget deficit (excl. grants), %GDP </a:t>
            </a:r>
            <a:r>
              <a:rPr lang="en-US" sz="1200" dirty="0">
                <a:latin typeface="+mn-lt"/>
              </a:rPr>
              <a:t>(</a:t>
            </a:r>
            <a:r>
              <a:rPr lang="en-US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structural, cyclical, discretionary)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--structural deficit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sustainable level of 8% of GDP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--fiscal consolidation 2023/24-2024/25 means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discretionary deficit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--mainly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via negative discretionary govt demand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G&amp;S (in part ‘offset’ by below-trend revenue)</a:t>
            </a:r>
          </a:p>
          <a:p>
            <a:pPr lvl="1"/>
            <a:endParaRPr lang="en-RW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B2F732-1E65-53B6-4352-D6BF049A061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19198"/>
            <a:ext cx="2927996" cy="27432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179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C94FF-3715-83D7-A3A5-F73D7D616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39630"/>
            <a:ext cx="10261600" cy="709056"/>
          </a:xfrm>
        </p:spPr>
        <p:txBody>
          <a:bodyPr/>
          <a:lstStyle/>
          <a:p>
            <a:r>
              <a:rPr lang="en-GB" sz="2400" b="1" dirty="0">
                <a:solidFill>
                  <a:schemeClr val="accent4">
                    <a:lumMod val="50000"/>
                  </a:schemeClr>
                </a:solidFill>
              </a:rPr>
              <a:t>Forecast—</a:t>
            </a:r>
            <a:r>
              <a:rPr lang="en-US" sz="2400" b="1" dirty="0">
                <a:solidFill>
                  <a:schemeClr val="accent4">
                    <a:lumMod val="50000"/>
                  </a:schemeClr>
                </a:solidFill>
              </a:rPr>
              <a:t>Inflation outlook</a:t>
            </a:r>
            <a:endParaRPr lang="en-RW" sz="24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FBB090-AFD0-7F99-80A5-8B5522B2B0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1DDEE4A-9C67-3AC4-5A2E-AC24191F73B5}"/>
              </a:ext>
            </a:extLst>
          </p:cNvPr>
          <p:cNvSpPr txBox="1">
            <a:spLocks/>
          </p:cNvSpPr>
          <p:nvPr/>
        </p:nvSpPr>
        <p:spPr>
          <a:xfrm>
            <a:off x="9369971" y="4191000"/>
            <a:ext cx="2735000" cy="2362199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Energy CPI </a:t>
            </a:r>
            <a:r>
              <a:rPr lang="en-GB" sz="1400" dirty="0">
                <a:solidFill>
                  <a:srgbClr val="0070C0"/>
                </a:solidFill>
                <a:latin typeface="Times New Roman" panose="02020603050405020304" pitchFamily="18" charset="0"/>
              </a:rPr>
              <a:t>(QoQ %)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400" dirty="0"/>
              <a:t>--rapid drop, mainly driven by direct effect of imported energy prices (projected to fall throughout 2023-27)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400" dirty="0"/>
              <a:t>--</a:t>
            </a:r>
            <a:r>
              <a:rPr lang="en-GB" sz="1400" dirty="0"/>
              <a:t>exchange rate depreciation exerts some upward pressure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400" dirty="0"/>
              <a:t>--shocks (incl. due to pump price changes) to disappear from  2024</a:t>
            </a:r>
            <a:endParaRPr lang="en-US" sz="1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32DF4F-AA63-16AB-331E-F94546F0B860}"/>
              </a:ext>
            </a:extLst>
          </p:cNvPr>
          <p:cNvSpPr txBox="1"/>
          <p:nvPr/>
        </p:nvSpPr>
        <p:spPr>
          <a:xfrm>
            <a:off x="187743" y="4191000"/>
            <a:ext cx="3229071" cy="1831271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just" ea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6000"/>
            </a:pPr>
            <a:r>
              <a:rPr lang="en-US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Headline CPI </a:t>
            </a:r>
            <a:r>
              <a:rPr lang="en-US" sz="1400" dirty="0">
                <a:solidFill>
                  <a:srgbClr val="0070C0"/>
                </a:solidFill>
                <a:latin typeface="Times New Roman" panose="02020603050405020304" pitchFamily="18" charset="0"/>
              </a:rPr>
              <a:t>(YoY %)</a:t>
            </a:r>
          </a:p>
          <a:p>
            <a:pPr algn="just" eaLnBrk="0" hangingPunct="0">
              <a:spcBef>
                <a:spcPts val="600"/>
              </a:spcBef>
              <a:spcAft>
                <a:spcPts val="0"/>
              </a:spcAft>
              <a:buSzPct val="76000"/>
            </a:pPr>
            <a:r>
              <a:rPr lang="en-US" sz="1400" dirty="0">
                <a:latin typeface="+mn-lt"/>
              </a:rPr>
              <a:t>--forecast to continue declining but with a modest flare-up in 2023Q4</a:t>
            </a:r>
          </a:p>
          <a:p>
            <a:pPr algn="just" eaLnBrk="0" hangingPunct="0">
              <a:spcBef>
                <a:spcPts val="600"/>
              </a:spcBef>
              <a:spcAft>
                <a:spcPts val="0"/>
              </a:spcAft>
              <a:buSzPct val="76000"/>
            </a:pPr>
            <a:r>
              <a:rPr lang="en-US" sz="1400" dirty="0">
                <a:latin typeface="+mn-lt"/>
              </a:rPr>
              <a:t>--and</a:t>
            </a:r>
            <a:r>
              <a:rPr lang="en-GB" sz="1400" dirty="0">
                <a:latin typeface="+mn-lt"/>
              </a:rPr>
              <a:t> decline below 5% from 2024Q4</a:t>
            </a:r>
          </a:p>
          <a:p>
            <a:pPr lvl="0" algn="just" eaLnBrk="0" hangingPunct="0">
              <a:spcBef>
                <a:spcPts val="600"/>
              </a:spcBef>
              <a:spcAft>
                <a:spcPts val="0"/>
              </a:spcAft>
              <a:buSzPct val="76000"/>
            </a:pPr>
            <a:r>
              <a:rPr lang="en-US" sz="1400" dirty="0">
                <a:latin typeface="+mn-lt"/>
              </a:rPr>
              <a:t>--</a:t>
            </a:r>
            <a:r>
              <a:rPr lang="en-GB" sz="1400" dirty="0">
                <a:latin typeface="+mn-lt"/>
              </a:rPr>
              <a:t>largest contribution from moderation in food and energy price increases (even fall in food prices)</a:t>
            </a:r>
            <a:endParaRPr lang="en-RW" sz="1400" dirty="0"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3F1C98-FA90-800E-0C31-C327BA4A6C2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743" y="1212498"/>
            <a:ext cx="3177539" cy="2749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A558905-8201-547F-43B6-EB47176A394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1956" y="1177286"/>
            <a:ext cx="2882448" cy="274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FEDEA8D-B745-AC39-B2F0-B650BE6B523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0373" y="1199057"/>
            <a:ext cx="2641600" cy="2394028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6032E123-4540-5366-9A0D-47DB3257AEAB}"/>
              </a:ext>
            </a:extLst>
          </p:cNvPr>
          <p:cNvSpPr txBox="1">
            <a:spLocks/>
          </p:cNvSpPr>
          <p:nvPr/>
        </p:nvSpPr>
        <p:spPr>
          <a:xfrm>
            <a:off x="6373517" y="4198641"/>
            <a:ext cx="2894570" cy="2400597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Food CPI  </a:t>
            </a:r>
            <a:r>
              <a:rPr lang="en-GB" sz="1400" dirty="0">
                <a:solidFill>
                  <a:srgbClr val="0070C0"/>
                </a:solidFill>
                <a:latin typeface="Times New Roman" panose="02020603050405020304" pitchFamily="18" charset="0"/>
              </a:rPr>
              <a:t>(QoQ %)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GB" sz="1400" dirty="0"/>
              <a:t>--fast drop, mainly driven by fading negative agricultural output gaps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US" sz="1400" dirty="0"/>
              <a:t>--upward </a:t>
            </a:r>
            <a:r>
              <a:rPr lang="en-GB" sz="1400" dirty="0"/>
              <a:t>direct effect of imported food prices (due to ER depreciation),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US" sz="1400" dirty="0"/>
              <a:t>--earlier </a:t>
            </a:r>
            <a:r>
              <a:rPr lang="en-GB" sz="1400" dirty="0"/>
              <a:t>shocks  (supply-side factors), already small in late 2023 are forecast to disappear from 2024</a:t>
            </a:r>
            <a:endParaRPr lang="en-US" sz="1400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50282A89-5A54-B4AC-E129-FCCC9913F783}"/>
              </a:ext>
            </a:extLst>
          </p:cNvPr>
          <p:cNvSpPr txBox="1">
            <a:spLocks/>
          </p:cNvSpPr>
          <p:nvPr/>
        </p:nvSpPr>
        <p:spPr>
          <a:xfrm>
            <a:off x="3518697" y="4191000"/>
            <a:ext cx="2735001" cy="1905000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Core CPI </a:t>
            </a:r>
            <a:r>
              <a:rPr lang="en-GB" sz="1400" dirty="0">
                <a:solidFill>
                  <a:srgbClr val="0070C0"/>
                </a:solidFill>
                <a:latin typeface="Times New Roman" panose="02020603050405020304" pitchFamily="18" charset="0"/>
              </a:rPr>
              <a:t>(QoQ %)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400" dirty="0"/>
              <a:t>--gradual drop, driven by expectations, small upward direct effects of import prices and RER</a:t>
            </a:r>
            <a:r>
              <a:rPr lang="en-US" sz="1400" dirty="0"/>
              <a:t> 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US" sz="1400" dirty="0"/>
              <a:t>--falls in mid-2025 slightly below its target of 4.5% (down-pull from remaining negative output gap) 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17BCF4E-18DC-848F-B4AB-2D497C09AC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4161" y="1141867"/>
            <a:ext cx="2913926" cy="274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7861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C94FF-3715-83D7-A3A5-F73D7D616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304800"/>
            <a:ext cx="10261600" cy="573277"/>
          </a:xfrm>
        </p:spPr>
        <p:txBody>
          <a:bodyPr/>
          <a:lstStyle/>
          <a:p>
            <a:r>
              <a:rPr lang="en-GB" sz="2400" b="1" dirty="0">
                <a:solidFill>
                  <a:schemeClr val="accent4">
                    <a:lumMod val="50000"/>
                  </a:schemeClr>
                </a:solidFill>
              </a:rPr>
              <a:t>Forecast—</a:t>
            </a:r>
            <a:r>
              <a:rPr lang="en-US" sz="2400" b="1" dirty="0">
                <a:solidFill>
                  <a:schemeClr val="accent4">
                    <a:lumMod val="50000"/>
                  </a:schemeClr>
                </a:solidFill>
              </a:rPr>
              <a:t>Inflation outlook</a:t>
            </a:r>
            <a:endParaRPr lang="en-RW" sz="24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FBB090-AFD0-7F99-80A5-8B5522B2B0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1DDEE4A-9C67-3AC4-5A2E-AC24191F73B5}"/>
              </a:ext>
            </a:extLst>
          </p:cNvPr>
          <p:cNvSpPr txBox="1">
            <a:spLocks/>
          </p:cNvSpPr>
          <p:nvPr/>
        </p:nvSpPr>
        <p:spPr>
          <a:xfrm>
            <a:off x="9369971" y="4191000"/>
            <a:ext cx="2735000" cy="2362199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energy CPI </a:t>
            </a:r>
            <a:r>
              <a:rPr lang="en-GB" sz="1400" dirty="0">
                <a:solidFill>
                  <a:srgbClr val="0070C0"/>
                </a:solidFill>
                <a:latin typeface="Times New Roman" panose="02020603050405020304" pitchFamily="18" charset="0"/>
              </a:rPr>
              <a:t>(QoQ%)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400" dirty="0"/>
              <a:t>--rapid drop, mainly driven by direct effect of imported energy prices (projected to fall throughout 2023-27)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400" dirty="0"/>
              <a:t>--</a:t>
            </a:r>
            <a:r>
              <a:rPr lang="en-GB" sz="1400" dirty="0"/>
              <a:t>exchange rate depreciation exerts some upward pressure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400" dirty="0"/>
              <a:t>--shocks (incl. due to pump price changes) to disappear from  2024</a:t>
            </a:r>
            <a:endParaRPr lang="en-US" sz="1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32DF4F-AA63-16AB-331E-F94546F0B860}"/>
              </a:ext>
            </a:extLst>
          </p:cNvPr>
          <p:cNvSpPr txBox="1"/>
          <p:nvPr/>
        </p:nvSpPr>
        <p:spPr>
          <a:xfrm>
            <a:off x="187743" y="4191000"/>
            <a:ext cx="3229071" cy="1831271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just" ea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6000"/>
            </a:pPr>
            <a:r>
              <a:rPr lang="en-US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headline CPI </a:t>
            </a:r>
            <a:r>
              <a:rPr lang="en-US" sz="1400" dirty="0">
                <a:solidFill>
                  <a:srgbClr val="0070C0"/>
                </a:solidFill>
                <a:latin typeface="Times New Roman" panose="02020603050405020304" pitchFamily="18" charset="0"/>
              </a:rPr>
              <a:t>(YoY%)</a:t>
            </a:r>
          </a:p>
          <a:p>
            <a:pPr algn="just" eaLnBrk="0" hangingPunct="0">
              <a:spcBef>
                <a:spcPts val="600"/>
              </a:spcBef>
              <a:spcAft>
                <a:spcPts val="0"/>
              </a:spcAft>
              <a:buSzPct val="76000"/>
            </a:pPr>
            <a:r>
              <a:rPr lang="en-US" sz="1400" dirty="0">
                <a:latin typeface="+mn-lt"/>
              </a:rPr>
              <a:t>--forecast to continue declining but with a modest flare-up in 2023Q4</a:t>
            </a:r>
          </a:p>
          <a:p>
            <a:pPr algn="just" eaLnBrk="0" hangingPunct="0">
              <a:spcBef>
                <a:spcPts val="600"/>
              </a:spcBef>
              <a:spcAft>
                <a:spcPts val="0"/>
              </a:spcAft>
              <a:buSzPct val="76000"/>
            </a:pPr>
            <a:r>
              <a:rPr lang="en-US" sz="1400" dirty="0">
                <a:latin typeface="+mn-lt"/>
              </a:rPr>
              <a:t>--and</a:t>
            </a:r>
            <a:r>
              <a:rPr lang="en-GB" sz="1400" dirty="0">
                <a:latin typeface="+mn-lt"/>
              </a:rPr>
              <a:t> decline to below 5% from 2024Q4</a:t>
            </a:r>
          </a:p>
          <a:p>
            <a:pPr lvl="0" algn="just" eaLnBrk="0" hangingPunct="0">
              <a:spcBef>
                <a:spcPts val="600"/>
              </a:spcBef>
              <a:spcAft>
                <a:spcPts val="0"/>
              </a:spcAft>
              <a:buSzPct val="76000"/>
            </a:pPr>
            <a:r>
              <a:rPr lang="en-US" sz="1400" dirty="0">
                <a:latin typeface="+mn-lt"/>
              </a:rPr>
              <a:t>--</a:t>
            </a:r>
            <a:r>
              <a:rPr lang="en-GB" sz="1400" dirty="0">
                <a:latin typeface="+mn-lt"/>
              </a:rPr>
              <a:t>largest contribution from moderation in food and energy price increases (even fall in food prices)</a:t>
            </a:r>
            <a:endParaRPr lang="en-RW" sz="1400" dirty="0"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3F1C98-FA90-800E-0C31-C327BA4A6C2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743" y="1212498"/>
            <a:ext cx="3177539" cy="2749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A558905-8201-547F-43B6-EB47176A394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1956" y="1177286"/>
            <a:ext cx="2882448" cy="274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FEDEA8D-B745-AC39-B2F0-B650BE6B523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0373" y="1199057"/>
            <a:ext cx="2641600" cy="2728154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6032E123-4540-5366-9A0D-47DB3257AEAB}"/>
              </a:ext>
            </a:extLst>
          </p:cNvPr>
          <p:cNvSpPr txBox="1">
            <a:spLocks/>
          </p:cNvSpPr>
          <p:nvPr/>
        </p:nvSpPr>
        <p:spPr>
          <a:xfrm>
            <a:off x="6373517" y="4198641"/>
            <a:ext cx="2894570" cy="2400597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food CPI  </a:t>
            </a:r>
            <a:r>
              <a:rPr lang="en-GB" sz="1400" dirty="0">
                <a:solidFill>
                  <a:srgbClr val="0070C0"/>
                </a:solidFill>
                <a:latin typeface="Times New Roman" panose="02020603050405020304" pitchFamily="18" charset="0"/>
              </a:rPr>
              <a:t>(QoQ%)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GB" sz="1400" dirty="0"/>
              <a:t>--fast drop, mainly driven by fading negative agricultural output gaps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US" sz="1400" dirty="0"/>
              <a:t>--upward </a:t>
            </a:r>
            <a:r>
              <a:rPr lang="en-GB" sz="1400" dirty="0"/>
              <a:t>direct effect of imported food prices (due to ER depreciation),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US" sz="1400" dirty="0"/>
              <a:t>--earlier </a:t>
            </a:r>
            <a:r>
              <a:rPr lang="en-GB" sz="1400" dirty="0"/>
              <a:t>shocks  (supply-side factors), already small in late 2023 are forecast to disappear from 2024</a:t>
            </a:r>
            <a:endParaRPr lang="en-US" sz="1400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50282A89-5A54-B4AC-E129-FCCC9913F783}"/>
              </a:ext>
            </a:extLst>
          </p:cNvPr>
          <p:cNvSpPr txBox="1">
            <a:spLocks/>
          </p:cNvSpPr>
          <p:nvPr/>
        </p:nvSpPr>
        <p:spPr>
          <a:xfrm>
            <a:off x="3518697" y="4191000"/>
            <a:ext cx="2735001" cy="1905000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core CPI </a:t>
            </a:r>
            <a:r>
              <a:rPr lang="en-GB" sz="1400" dirty="0">
                <a:solidFill>
                  <a:srgbClr val="0070C0"/>
                </a:solidFill>
                <a:latin typeface="Times New Roman" panose="02020603050405020304" pitchFamily="18" charset="0"/>
              </a:rPr>
              <a:t>(QoQ%)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GB" sz="1400" dirty="0"/>
              <a:t>--gradual drop, driven by expectations, small upward direct effects of import prices and RER</a:t>
            </a:r>
            <a:r>
              <a:rPr lang="en-US" sz="1400" dirty="0"/>
              <a:t> 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US" sz="1400" dirty="0"/>
              <a:t>--falls in mid-2025 slightly below its target of 4.5% (down-pull from remaining negative output gap) 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17BCF4E-18DC-848F-B4AB-2D497C09AC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4161" y="1141867"/>
            <a:ext cx="2913926" cy="2785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2883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C94FF-3715-83D7-A3A5-F73D7D616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39630"/>
            <a:ext cx="10261600" cy="709056"/>
          </a:xfrm>
        </p:spPr>
        <p:txBody>
          <a:bodyPr/>
          <a:lstStyle/>
          <a:p>
            <a:r>
              <a:rPr lang="en-GB" sz="2400" b="1" dirty="0">
                <a:solidFill>
                  <a:schemeClr val="accent4">
                    <a:lumMod val="50000"/>
                  </a:schemeClr>
                </a:solidFill>
              </a:rPr>
              <a:t>Forecast—</a:t>
            </a:r>
            <a:r>
              <a:rPr lang="en-US" sz="2400" b="1" dirty="0">
                <a:solidFill>
                  <a:schemeClr val="accent4">
                    <a:lumMod val="50000"/>
                  </a:schemeClr>
                </a:solidFill>
              </a:rPr>
              <a:t>interest rates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j-cs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j-cs"/>
              </a:rPr>
              <a:t>(interbank rate (IB) and lending rate)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Gill Sans MT"/>
                <a:ea typeface="ＭＳ Ｐゴシック" charset="-128"/>
                <a:cs typeface="+mj-cs"/>
              </a:rPr>
              <a:t> </a:t>
            </a:r>
            <a:endParaRPr lang="en-RW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1DDEE4A-9C67-3AC4-5A2E-AC24191F73B5}"/>
              </a:ext>
            </a:extLst>
          </p:cNvPr>
          <p:cNvSpPr txBox="1">
            <a:spLocks/>
          </p:cNvSpPr>
          <p:nvPr/>
        </p:nvSpPr>
        <p:spPr>
          <a:xfrm>
            <a:off x="9126466" y="3743102"/>
            <a:ext cx="2872976" cy="2657697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real lending rate, %</a:t>
            </a:r>
          </a:p>
          <a:p>
            <a:pPr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--4Q forward average RIR(IB) + lending premium (+ 9% points above IB)</a:t>
            </a:r>
          </a:p>
          <a:p>
            <a:pPr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--RIR (as steered by CBR) transmitted to real lending rate</a:t>
            </a:r>
          </a:p>
          <a:p>
            <a:pPr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--after below-trend during and after Covid (as inflation surged 2022-23),</a:t>
            </a:r>
          </a:p>
          <a:p>
            <a:pPr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--to go back near trend from 2024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32DF4F-AA63-16AB-331E-F94546F0B860}"/>
              </a:ext>
            </a:extLst>
          </p:cNvPr>
          <p:cNvSpPr txBox="1"/>
          <p:nvPr/>
        </p:nvSpPr>
        <p:spPr>
          <a:xfrm>
            <a:off x="192558" y="3810000"/>
            <a:ext cx="2913926" cy="2245487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just" ea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6000"/>
            </a:pP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IB rate, %</a:t>
            </a:r>
            <a:endParaRPr lang="en-US" sz="1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--tuned for Q4 2023, assuming NBR would keep its CBR unchanged from August 2023</a:t>
            </a:r>
            <a:endParaRPr lang="en-RW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--about 0.5% points above the CBR</a:t>
            </a:r>
          </a:p>
          <a:p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--IB trend/neutral level (</a:t>
            </a:r>
            <a:r>
              <a:rPr lang="en-US" sz="14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+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7.5%) (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 foreign RIR  1%), country risk premium (2%), and core inflation target (4.5%)</a:t>
            </a:r>
            <a:endParaRPr lang="en-RW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6032E123-4540-5366-9A0D-47DB3257AEAB}"/>
              </a:ext>
            </a:extLst>
          </p:cNvPr>
          <p:cNvSpPr txBox="1">
            <a:spLocks/>
          </p:cNvSpPr>
          <p:nvPr/>
        </p:nvSpPr>
        <p:spPr>
          <a:xfrm>
            <a:off x="6364550" y="3744361"/>
            <a:ext cx="2740872" cy="2657697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RIR−IB rate, %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--after significant drop, even negative (early 2021−mid-2023), </a:t>
            </a:r>
          </a:p>
          <a:p>
            <a:pPr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--forecast to continue rising until mid-2025 as inflation eases</a:t>
            </a:r>
          </a:p>
          <a:p>
            <a:pPr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--then remain near its trend level of 2.5-3%  </a:t>
            </a:r>
          </a:p>
          <a:p>
            <a:pPr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--slightly drop below trend in late 2025, as </a:t>
            </a:r>
            <a:r>
              <a:rPr lang="en-GB" sz="1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inflation slightly up as govt demand </a:t>
            </a:r>
            <a:r>
              <a:rPr lang="en-GB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returns to trend</a:t>
            </a:r>
            <a:endParaRPr lang="en-GB" sz="1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50282A89-5A54-B4AC-E129-FCCC9913F783}"/>
              </a:ext>
            </a:extLst>
          </p:cNvPr>
          <p:cNvSpPr txBox="1">
            <a:spLocks/>
          </p:cNvSpPr>
          <p:nvPr/>
        </p:nvSpPr>
        <p:spPr>
          <a:xfrm>
            <a:off x="3217335" y="3744361"/>
            <a:ext cx="3036364" cy="2732639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d</a:t>
            </a:r>
            <a:r>
              <a:rPr lang="en-US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rivers of policy rule in 2024</a:t>
            </a:r>
            <a:endParaRPr lang="en-RW" sz="14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--expected inflation deviation from target (-)</a:t>
            </a:r>
            <a:endParaRPr lang="en-RW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--negative output gap (-)</a:t>
            </a:r>
            <a:endParaRPr lang="en-RW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--pull from neutral rate (7.5%) (+)</a:t>
            </a:r>
            <a:endParaRPr lang="en-RW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--gradual changes (lagged effect)</a:t>
            </a:r>
          </a:p>
          <a:p>
            <a:pPr marL="0" indent="0">
              <a:lnSpc>
                <a:spcPct val="107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IB rate, %</a:t>
            </a:r>
            <a:endParaRPr lang="en-US" sz="1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7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--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gradually lowered from peak of </a:t>
            </a:r>
            <a:r>
              <a:rPr lang="en-GB" sz="1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8% in August 2023 to </a:t>
            </a:r>
            <a:r>
              <a:rPr lang="en-GB" sz="1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6.5% in late 2024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7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(inflation drops,  - output gap remains)</a:t>
            </a:r>
          </a:p>
          <a:p>
            <a:pPr marL="0" indent="0" eaLnBrk="1" hangingPunct="1">
              <a:lnSpc>
                <a:spcPct val="107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defRPr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--from mid-2025, toward neutral level </a:t>
            </a:r>
            <a:endParaRPr lang="en-GB" sz="1400" dirty="0">
              <a:solidFill>
                <a:srgbClr val="2F549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C6A6C3-593C-B257-E7E0-E51CE12DDE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026" y="1217450"/>
            <a:ext cx="2913925" cy="244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6DFAB52-42A7-4FCB-9010-D4BE664149C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229" y="1176107"/>
            <a:ext cx="3045638" cy="2440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2D3AFFD-DE9E-B7B4-618D-5886C5E60D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0711" y="1217450"/>
            <a:ext cx="2641600" cy="23988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8054E6F-7917-A35D-4308-76839E09F2B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5422" y="1232689"/>
            <a:ext cx="2872976" cy="23835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369205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C94FF-3715-83D7-A3A5-F73D7D616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181031"/>
            <a:ext cx="10261600" cy="709056"/>
          </a:xfrm>
        </p:spPr>
        <p:txBody>
          <a:bodyPr/>
          <a:lstStyle/>
          <a:p>
            <a:r>
              <a:rPr lang="en-GB" sz="2400" b="1" dirty="0">
                <a:solidFill>
                  <a:schemeClr val="accent4">
                    <a:lumMod val="50000"/>
                  </a:schemeClr>
                </a:solidFill>
              </a:rPr>
              <a:t>Forecast—</a:t>
            </a:r>
            <a:r>
              <a:rPr lang="en-US" sz="2400" b="1" dirty="0">
                <a:solidFill>
                  <a:schemeClr val="accent4">
                    <a:lumMod val="50000"/>
                  </a:schemeClr>
                </a:solidFill>
              </a:rPr>
              <a:t>Nominal and Real Exchange Rate </a:t>
            </a:r>
            <a:r>
              <a:rPr lang="en-US" sz="2000" dirty="0">
                <a:solidFill>
                  <a:schemeClr val="accent4">
                    <a:lumMod val="50000"/>
                  </a:schemeClr>
                </a:solidFill>
              </a:rPr>
              <a:t>(ER &amp; RER)</a:t>
            </a:r>
            <a:endParaRPr lang="en-RW" sz="20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FBB090-AFD0-7F99-80A5-8B5522B2B0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1DDEE4A-9C67-3AC4-5A2E-AC24191F73B5}"/>
              </a:ext>
            </a:extLst>
          </p:cNvPr>
          <p:cNvSpPr txBox="1">
            <a:spLocks/>
          </p:cNvSpPr>
          <p:nvPr/>
        </p:nvSpPr>
        <p:spPr>
          <a:xfrm>
            <a:off x="6019800" y="3872624"/>
            <a:ext cx="5958599" cy="2544051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RER, QoQ%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/>
              <a:t>--slowdown in pace of RER depreciation (from peak in 2023) to return gradually to its trend (0%)</a:t>
            </a:r>
          </a:p>
          <a:p>
            <a:pPr marL="0" indent="0">
              <a:lnSpc>
                <a:spcPct val="150000"/>
              </a:lnSpc>
              <a:spcAft>
                <a:spcPts val="0"/>
              </a:spcAft>
              <a:buNone/>
            </a:pPr>
            <a:r>
              <a:rPr lang="en-GB" sz="1400" dirty="0"/>
              <a:t>--fast reversal of sharp RER decline during 2021-22—with perhaps some overshooting—is forecast to increase net exports and demand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/>
              <a:t>--return to trend RER change implies current positive RER gap disappears by 2027 and positive effect on net imports ends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50282A89-5A54-B4AC-E129-FCCC9913F783}"/>
              </a:ext>
            </a:extLst>
          </p:cNvPr>
          <p:cNvSpPr txBox="1">
            <a:spLocks/>
          </p:cNvSpPr>
          <p:nvPr/>
        </p:nvSpPr>
        <p:spPr>
          <a:xfrm>
            <a:off x="202163" y="3872625"/>
            <a:ext cx="5512837" cy="2529434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nominal ER, QoQ%</a:t>
            </a: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600" dirty="0"/>
              <a:t>--forecast reflects NBR’s flexible exchange rate policy and hybrid rule in practice </a:t>
            </a:r>
            <a:r>
              <a:rPr lang="en-GB" sz="1400" dirty="0"/>
              <a:t>(</a:t>
            </a:r>
            <a:r>
              <a:rPr lang="en-GB" sz="1400" dirty="0">
                <a:effectLst/>
                <a:ea typeface="Calibri" panose="020F0502020204030204" pitchFamily="34" charset="0"/>
              </a:rPr>
              <a:t>steering ER to target ER so RER gradually matches target depreciation rate, in turn driven by inflation differentials and trend RER change (0%) )</a:t>
            </a:r>
            <a:endParaRPr lang="en-US" sz="1400" dirty="0">
              <a:cs typeface="Times New Roman" panose="02020603050405020304" pitchFamily="18" charset="0"/>
            </a:endParaRPr>
          </a:p>
          <a:p>
            <a:pPr marL="0" inden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sz="1600" dirty="0">
                <a:effectLst/>
                <a:ea typeface="Calibri" panose="020F0502020204030204" pitchFamily="34" charset="0"/>
              </a:rPr>
              <a:t>--after faster-than-target depreciation in 2023 </a:t>
            </a:r>
            <a:r>
              <a:rPr lang="en-GB" sz="1400" dirty="0">
                <a:effectLst/>
                <a:ea typeface="Calibri" panose="020F0502020204030204" pitchFamily="34" charset="0"/>
              </a:rPr>
              <a:t>(av. annualized 15%),</a:t>
            </a:r>
          </a:p>
          <a:p>
            <a:pPr marL="0" inden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sz="1600" dirty="0">
                <a:ea typeface="Calibri" panose="020F0502020204030204" pitchFamily="34" charset="0"/>
              </a:rPr>
              <a:t> </a:t>
            </a:r>
            <a:r>
              <a:rPr lang="en-GB" sz="1600" dirty="0">
                <a:effectLst/>
                <a:ea typeface="Calibri" panose="020F0502020204030204" pitchFamily="34" charset="0"/>
              </a:rPr>
              <a:t>returns gradually to target ER depreciation rate</a:t>
            </a:r>
          </a:p>
          <a:p>
            <a:pPr marL="0" indent="0">
              <a:spcBef>
                <a:spcPct val="0"/>
              </a:spcBef>
              <a:buNone/>
            </a:pPr>
            <a:r>
              <a:rPr lang="en-GB" sz="1600" dirty="0">
                <a:ea typeface="Calibri" panose="020F0502020204030204" pitchFamily="34" charset="0"/>
              </a:rPr>
              <a:t>--contributing to reversal of </a:t>
            </a:r>
            <a:r>
              <a:rPr lang="en-GB" sz="1600" dirty="0">
                <a:effectLst/>
                <a:ea typeface="Calibri" panose="020F0502020204030204" pitchFamily="34" charset="0"/>
              </a:rPr>
              <a:t>recent overvaluation due to surge in inflation</a:t>
            </a:r>
            <a:endParaRPr lang="en-GB" sz="1600" dirty="0">
              <a:ea typeface="Calibri" panose="020F0502020204030204" pitchFamily="34" charset="0"/>
            </a:endParaRPr>
          </a:p>
          <a:p>
            <a:pPr marL="0" indent="0">
              <a:spcBef>
                <a:spcPct val="0"/>
              </a:spcBef>
              <a:buNone/>
            </a:pPr>
            <a:endParaRPr lang="en-GB" sz="1600" dirty="0">
              <a:effectLst/>
              <a:ea typeface="Calibri" panose="020F0502020204030204" pitchFamily="34" charset="0"/>
            </a:endParaRPr>
          </a:p>
          <a:p>
            <a:pPr marL="0" indent="0">
              <a:spcBef>
                <a:spcPct val="0"/>
              </a:spcBef>
              <a:buNone/>
            </a:pPr>
            <a:endParaRPr lang="en-GB" sz="1200" dirty="0">
              <a:solidFill>
                <a:srgbClr val="2F549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C87422B-804D-407E-9BF6-3203420BA1D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5307" y="1200899"/>
            <a:ext cx="2994698" cy="254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6A6DDAC-6990-8F42-48B4-8E1E739F5C2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6205" y="1239510"/>
            <a:ext cx="2957195" cy="2406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2E6DBBB-4947-2F2C-BC34-AFF0D065A3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7995" y="1220564"/>
            <a:ext cx="3073205" cy="252943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01EC83C-D273-9B2B-59D4-F2EDC010BB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163" y="1239510"/>
            <a:ext cx="2371725" cy="2505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9250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EAC75-6C92-AB65-6348-00D2D6D83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304800"/>
            <a:ext cx="9728200" cy="533400"/>
          </a:xfrm>
        </p:spPr>
        <p:txBody>
          <a:bodyPr/>
          <a:lstStyle/>
          <a:p>
            <a:r>
              <a:rPr lang="en-GB" sz="2400" b="1" dirty="0">
                <a:latin typeface="Gill Sans MT" panose="020B0502020104020203" pitchFamily="34" charset="0"/>
              </a:rPr>
              <a:t>V. Comparison with Integrated Macro Framework </a:t>
            </a:r>
            <a:r>
              <a:rPr lang="en-GB" sz="2000" dirty="0">
                <a:latin typeface="Gill Sans MT" panose="020B0502020104020203" pitchFamily="34" charset="0"/>
              </a:rPr>
              <a:t>(intMF)</a:t>
            </a:r>
            <a:endParaRPr lang="en-AE" sz="2400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CDF8F7-7F5E-7D6D-E3E8-C142EB7C92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E3094E-1336-0995-9656-8BC6EB6A5231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62128" y="1219200"/>
            <a:ext cx="6367272" cy="51974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A39F510-5DC4-1731-C553-7FA3528B4B78}"/>
              </a:ext>
            </a:extLst>
          </p:cNvPr>
          <p:cNvSpPr txBox="1"/>
          <p:nvPr/>
        </p:nvSpPr>
        <p:spPr>
          <a:xfrm>
            <a:off x="6742723" y="1233854"/>
            <a:ext cx="5257800" cy="4919295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1800" b="1" dirty="0">
                <a:solidFill>
                  <a:srgbClr val="00206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comparison with latest intMF projection </a:t>
            </a:r>
            <a:r>
              <a:rPr lang="en-US" sz="1400" b="1" dirty="0">
                <a:solidFill>
                  <a:srgbClr val="00206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(PCI)</a:t>
            </a:r>
          </a:p>
          <a:p>
            <a:pPr marL="342900" lvl="0" indent="-3429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4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process of reconciling results from different tools, in iterative manner (at least for each PCI review)</a:t>
            </a:r>
          </a:p>
          <a:p>
            <a:pPr marL="342900" lvl="0" indent="-3429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4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QMFM better traces final demands and output in ST, smooth behavioral functions</a:t>
            </a:r>
          </a:p>
          <a:p>
            <a:pPr marL="342900" lvl="0" indent="-3429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4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intMF has private investment exogenous, consumption residual, can lead to implausible projection, volatility</a:t>
            </a:r>
          </a:p>
          <a:p>
            <a:pPr lvl="0">
              <a:lnSpc>
                <a:spcPct val="150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sz="1600" b="1" dirty="0">
                <a:solidFill>
                  <a:srgbClr val="002060"/>
                </a:solidFill>
                <a:latin typeface="+mn-lt"/>
                <a:cs typeface="Times New Roman" panose="02020603050405020304" pitchFamily="18" charset="0"/>
              </a:rPr>
              <a:t>illustrative current comparison</a:t>
            </a:r>
          </a:p>
          <a:p>
            <a:pPr marL="342900" lvl="0" indent="-3429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4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QMFM CPI inflation more accurate as it traces inflation by quarter</a:t>
            </a:r>
            <a:endParaRPr lang="en-RW" sz="12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4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QMFM: </a:t>
            </a:r>
            <a:r>
              <a:rPr lang="en-US" sz="1400" dirty="0">
                <a:solidFill>
                  <a:srgbClr val="0070C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higher</a:t>
            </a:r>
            <a:r>
              <a:rPr lang="en-US" sz="14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post-PCI fiscal deficits </a:t>
            </a:r>
            <a:r>
              <a:rPr lang="en-US" sz="12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(in line w debt/GFDP targets)</a:t>
            </a:r>
            <a:endParaRPr lang="en-US" sz="14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4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QMFM:</a:t>
            </a:r>
            <a:r>
              <a:rPr lang="en-US" sz="14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much</a:t>
            </a:r>
            <a:r>
              <a:rPr lang="en-US" sz="14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0070C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lower</a:t>
            </a:r>
            <a:r>
              <a:rPr lang="en-US" sz="14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post-2023 </a:t>
            </a:r>
            <a:r>
              <a:rPr lang="en-US" sz="14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ER </a:t>
            </a:r>
            <a:r>
              <a:rPr lang="en-US" sz="14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depreciation than intMF</a:t>
            </a:r>
          </a:p>
          <a:p>
            <a:pPr lvl="0">
              <a:spcAft>
                <a:spcPts val="800"/>
              </a:spcAft>
              <a:tabLst>
                <a:tab pos="457200" algn="l"/>
              </a:tabLst>
            </a:pPr>
            <a:r>
              <a:rPr lang="en-US" sz="12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     (which assumes large pre-Covid RER overvaluation needs to be corrected)</a:t>
            </a:r>
            <a:endParaRPr lang="en-US" sz="12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4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some differences due to measurement of govt demand in NA vs Budget and anomalies in inventories in NA, NA deflators, …… </a:t>
            </a:r>
            <a:r>
              <a:rPr lang="en-US" sz="12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(to be resolved by NISR)</a:t>
            </a:r>
          </a:p>
          <a:p>
            <a:pPr marL="342900" lvl="0" indent="-3429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endParaRPr lang="en-RW" sz="12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92478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3556C-239C-2032-A4AB-F5EC73F0A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VI. Data issues and requests &amp; suggestions</a:t>
            </a:r>
            <a:endParaRPr lang="en-RW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70382D-03F1-B037-8AF8-AE56371093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F7979F-7F8C-8730-D214-36B5AA930C70}"/>
              </a:ext>
            </a:extLst>
          </p:cNvPr>
          <p:cNvSpPr txBox="1"/>
          <p:nvPr/>
        </p:nvSpPr>
        <p:spPr>
          <a:xfrm>
            <a:off x="1092200" y="1295400"/>
            <a:ext cx="108966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rgbClr val="0070C0"/>
                </a:solidFill>
                <a:latin typeface="+mn-lt"/>
              </a:rPr>
              <a:t>Model/Outlook data issues to be addressed</a:t>
            </a:r>
            <a:endParaRPr lang="en-US" sz="18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</a:pPr>
            <a:endParaRPr lang="en-US" sz="18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intMF – fiscal (govt demand for G&amp;S, quality Q data, timely Q treasury plan), GDP/final demand deflators</a:t>
            </a:r>
          </a:p>
          <a:p>
            <a:pPr lvl="1">
              <a:spcAft>
                <a:spcPts val="800"/>
              </a:spcAft>
            </a:pPr>
            <a:r>
              <a:rPr lang="en-US" sz="1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         debt data &amp; projections (timely &amp; complete incl. Q data and projections integrated into intMF)</a:t>
            </a: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NA/NISR – discrepancies/anomalies Govt consumption, investment, inventories, final demand deflators</a:t>
            </a: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NBR – timely monetary survey and interest rates, </a:t>
            </a:r>
          </a:p>
          <a:p>
            <a:pPr>
              <a:spcAft>
                <a:spcPts val="800"/>
              </a:spcAft>
            </a:pPr>
            <a:r>
              <a:rPr lang="en-US" sz="1800" dirty="0">
                <a:latin typeface="+mn-lt"/>
                <a:cs typeface="Times New Roman" panose="02020603050405020304" pitchFamily="18" charset="0"/>
              </a:rPr>
              <a:t>                NBR-FPAS results, </a:t>
            </a:r>
            <a:r>
              <a:rPr lang="en-US" sz="1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analysis of potential output, 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international interest rates (GPM)</a:t>
            </a: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WEOGAS &amp; GEE in right format– timely sharing by IMF staff,  QoQ projection instead of YoY</a:t>
            </a:r>
            <a:endParaRPr lang="en-US" sz="1800" b="1" dirty="0">
              <a:solidFill>
                <a:srgbClr val="0070C0"/>
              </a:solidFill>
              <a:latin typeface="+mn-lt"/>
            </a:endParaRP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latin typeface="+mn-lt"/>
                <a:cs typeface="Times New Roman" panose="02020603050405020304" pitchFamily="18" charset="0"/>
              </a:rPr>
              <a:t>timely data reconciliation and iterative comparison of forecast results of various tools, as input for intMF,  well before each Review and each quarter</a:t>
            </a:r>
          </a:p>
        </p:txBody>
      </p:sp>
    </p:spTree>
    <p:extLst>
      <p:ext uri="{BB962C8B-B14F-4D97-AF65-F5344CB8AC3E}">
        <p14:creationId xmlns:p14="http://schemas.microsoft.com/office/powerpoint/2010/main" val="6418726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E8807-BD6B-A3ED-9602-BE4FCBAB2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0927" y="228600"/>
            <a:ext cx="10457873" cy="762000"/>
          </a:xfrm>
        </p:spPr>
        <p:txBody>
          <a:bodyPr/>
          <a:lstStyle/>
          <a:p>
            <a:r>
              <a:rPr lang="en-GB" b="1" dirty="0">
                <a:latin typeface="Gill Sans MT" panose="020B0502020104020203" pitchFamily="34" charset="0"/>
              </a:rPr>
              <a:t>VII. Alternative scenario: higher foreign food/oil prices </a:t>
            </a:r>
            <a:r>
              <a:rPr lang="en-GB" sz="2000" dirty="0">
                <a:latin typeface="Gill Sans MT" panose="020B0502020104020203" pitchFamily="34" charset="0"/>
              </a:rPr>
              <a:t>(2023-24)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FFE418-E4FE-37F1-555E-0751EC4B48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309FB4-CAA2-9888-339D-0BF98DAD9D8C}"/>
              </a:ext>
            </a:extLst>
          </p:cNvPr>
          <p:cNvSpPr txBox="1"/>
          <p:nvPr/>
        </p:nvSpPr>
        <p:spPr>
          <a:xfrm rot="10800000" flipV="1">
            <a:off x="76200" y="4072126"/>
            <a:ext cx="6095999" cy="24776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Higher-than-WEO foreign food and oil prices in 2023-24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Gill Sans MT" panose="020B0502020104020203" pitchFamily="34" charset="0"/>
              </a:rPr>
              <a:t>foreign food and oil prices on average 25% higher than BL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Gill Sans MT" panose="020B0502020104020203" pitchFamily="34" charset="0"/>
              </a:rPr>
              <a:t>with peak around end-2023, return to WEO levels from 2025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dirty="0">
                <a:latin typeface="Gill Sans MT" panose="020B0502020104020203" pitchFamily="34" charset="0"/>
              </a:rPr>
              <a:t>no change in fiscal policy</a:t>
            </a:r>
          </a:p>
          <a:p>
            <a:r>
              <a:rPr lang="en-GB" sz="16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Results in higher headline CPI, little or no effect on output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Gill Sans MT" panose="020B0502020104020203" pitchFamily="34" charset="0"/>
              </a:rPr>
              <a:t>headline CPI temporarily higher, reflecting food/oil import shares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Gill Sans MT" panose="020B0502020104020203" pitchFamily="34" charset="0"/>
              </a:rPr>
              <a:t>small response policy rate, reversed fast as expected inflation drops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Gill Sans MT" panose="020B0502020104020203" pitchFamily="34" charset="0"/>
              </a:rPr>
              <a:t>small positive effect on demand of lower RIR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Gill Sans MT" panose="020B0502020104020203" pitchFamily="34" charset="0"/>
              </a:rPr>
              <a:t>mostly offset by negative effect of slightly more appreciated RER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Gill Sans MT" panose="020B0502020104020203" pitchFamily="34" charset="0"/>
              </a:rPr>
              <a:t>overall effect on GDP is very small, less than 0.2% </a:t>
            </a:r>
          </a:p>
        </p:txBody>
      </p:sp>
      <p:pic>
        <p:nvPicPr>
          <p:cNvPr id="6" name="Picture 5" descr="Chart, line chart&#10;&#10;Description automatically generated">
            <a:extLst>
              <a:ext uri="{FF2B5EF4-FFF2-40B4-BE49-F238E27FC236}">
                <a16:creationId xmlns:a16="http://schemas.microsoft.com/office/drawing/2014/main" id="{B580BD2F-649E-60FA-633D-03324DE6B0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461146"/>
            <a:ext cx="2636649" cy="2501255"/>
          </a:xfrm>
          <a:prstGeom prst="rect">
            <a:avLst/>
          </a:prstGeom>
        </p:spPr>
      </p:pic>
      <p:pic>
        <p:nvPicPr>
          <p:cNvPr id="8" name="Picture 7" descr="Chart, line chart&#10;&#10;Description automatically generated">
            <a:extLst>
              <a:ext uri="{FF2B5EF4-FFF2-40B4-BE49-F238E27FC236}">
                <a16:creationId xmlns:a16="http://schemas.microsoft.com/office/drawing/2014/main" id="{889A9DE6-9BFC-6A53-38AD-C47A1425745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1353" y="1461146"/>
            <a:ext cx="2643324" cy="2501256"/>
          </a:xfrm>
          <a:prstGeom prst="rect">
            <a:avLst/>
          </a:prstGeom>
        </p:spPr>
      </p:pic>
      <p:pic>
        <p:nvPicPr>
          <p:cNvPr id="10" name="Picture 9" descr="Chart, line chart&#10;&#10;Description automatically generated">
            <a:extLst>
              <a:ext uri="{FF2B5EF4-FFF2-40B4-BE49-F238E27FC236}">
                <a16:creationId xmlns:a16="http://schemas.microsoft.com/office/drawing/2014/main" id="{F6EB5B70-CE75-4FDF-6C04-C834BE64FB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199" y="1371601"/>
            <a:ext cx="2741474" cy="2856419"/>
          </a:xfrm>
          <a:prstGeom prst="rect">
            <a:avLst/>
          </a:prstGeom>
        </p:spPr>
      </p:pic>
      <p:pic>
        <p:nvPicPr>
          <p:cNvPr id="15" name="Picture 14" descr="Chart, line chart&#10;&#10;Description automatically generated">
            <a:extLst>
              <a:ext uri="{FF2B5EF4-FFF2-40B4-BE49-F238E27FC236}">
                <a16:creationId xmlns:a16="http://schemas.microsoft.com/office/drawing/2014/main" id="{02925C9B-2BDC-4C9B-9C7D-72DD591BE9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7828" y="1600200"/>
            <a:ext cx="2655454" cy="2627820"/>
          </a:xfrm>
          <a:prstGeom prst="rect">
            <a:avLst/>
          </a:prstGeom>
        </p:spPr>
      </p:pic>
      <p:pic>
        <p:nvPicPr>
          <p:cNvPr id="18" name="Picture 17" descr="Chart, line chart&#10;&#10;Description automatically generated">
            <a:extLst>
              <a:ext uri="{FF2B5EF4-FFF2-40B4-BE49-F238E27FC236}">
                <a16:creationId xmlns:a16="http://schemas.microsoft.com/office/drawing/2014/main" id="{52BB3907-ABDC-4994-C0FA-C0740D7B47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397275"/>
            <a:ext cx="2895600" cy="2308325"/>
          </a:xfrm>
          <a:prstGeom prst="rect">
            <a:avLst/>
          </a:prstGeom>
        </p:spPr>
      </p:pic>
      <p:pic>
        <p:nvPicPr>
          <p:cNvPr id="19" name="Picture 18" descr="Chart, line chart&#10;&#10;Description automatically generated">
            <a:extLst>
              <a:ext uri="{FF2B5EF4-FFF2-40B4-BE49-F238E27FC236}">
                <a16:creationId xmlns:a16="http://schemas.microsoft.com/office/drawing/2014/main" id="{DA0C3106-E3A5-B8F3-5DA5-36C26B5C43A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0716" y="4413645"/>
            <a:ext cx="2708084" cy="230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5430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EAC75-6C92-AB65-6348-00D2D6D83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0"/>
            <a:ext cx="9880600" cy="609600"/>
          </a:xfrm>
        </p:spPr>
        <p:txBody>
          <a:bodyPr/>
          <a:lstStyle/>
          <a:p>
            <a:r>
              <a:rPr lang="en-US" sz="2400" b="1" dirty="0"/>
              <a:t>VIII. QMFM: main relationships and transmission mechanisms </a:t>
            </a:r>
            <a:endParaRPr lang="en-AE" sz="2400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CDF8F7-7F5E-7D6D-E3E8-C142EB7C92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27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5B370B-B524-55B7-8DFA-989DF55857A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2238" y="762000"/>
            <a:ext cx="12192000" cy="61583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745581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65"/>
          <p:cNvSpPr>
            <a:spLocks noChangeArrowheads="1"/>
          </p:cNvSpPr>
          <p:nvPr/>
        </p:nvSpPr>
        <p:spPr bwMode="auto">
          <a:xfrm>
            <a:off x="1524001" y="4868025"/>
            <a:ext cx="184731" cy="600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br>
              <a:rPr lang="en-GB" sz="900" dirty="0"/>
            </a:br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1752600" y="1143001"/>
            <a:ext cx="8458200" cy="4078039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algn="ctr">
              <a:defRPr/>
            </a:pPr>
            <a:endParaRPr lang="en-US" sz="3300" b="1" dirty="0">
              <a:solidFill>
                <a:schemeClr val="accent6">
                  <a:lumMod val="50000"/>
                </a:schemeClr>
              </a:solidFill>
              <a:latin typeface="Bookman Old Style" pitchFamily="18" charset="0"/>
              <a:cs typeface="Arial" pitchFamily="34" charset="0"/>
            </a:endParaRPr>
          </a:p>
          <a:p>
            <a:pPr algn="ctr">
              <a:defRPr/>
            </a:pPr>
            <a:endParaRPr lang="en-GB" sz="4000" b="1" dirty="0">
              <a:solidFill>
                <a:schemeClr val="accent4">
                  <a:lumMod val="75000"/>
                </a:schemeClr>
              </a:solidFill>
            </a:endParaRPr>
          </a:p>
          <a:p>
            <a:pPr algn="ctr">
              <a:defRPr/>
            </a:pPr>
            <a:r>
              <a:rPr lang="en-GB" sz="3200" b="1" dirty="0">
                <a:solidFill>
                  <a:schemeClr val="accent4">
                    <a:lumMod val="75000"/>
                  </a:schemeClr>
                </a:solidFill>
                <a:latin typeface="+mn-lt"/>
              </a:rPr>
              <a:t>THANK YOU</a:t>
            </a:r>
          </a:p>
          <a:p>
            <a:pPr algn="ctr">
              <a:defRPr/>
            </a:pPr>
            <a:endParaRPr lang="en-GB" sz="3200" b="1" dirty="0">
              <a:solidFill>
                <a:schemeClr val="accent4">
                  <a:lumMod val="75000"/>
                </a:schemeClr>
              </a:solidFill>
            </a:endParaRPr>
          </a:p>
          <a:p>
            <a:pPr algn="ctr">
              <a:defRPr/>
            </a:pPr>
            <a:endParaRPr lang="en-US" sz="3600" b="1" dirty="0">
              <a:latin typeface="Calibri" pitchFamily="34" charset="0"/>
              <a:cs typeface="Arial" pitchFamily="34" charset="0"/>
            </a:endParaRPr>
          </a:p>
          <a:p>
            <a:pPr algn="ctr">
              <a:defRPr/>
            </a:pPr>
            <a:endParaRPr lang="en-US" sz="4000" b="1" dirty="0">
              <a:solidFill>
                <a:schemeClr val="accent2">
                  <a:lumMod val="50000"/>
                </a:schemeClr>
              </a:solidFill>
              <a:latin typeface="Calibri" pitchFamily="34" charset="0"/>
              <a:cs typeface="Arial" pitchFamily="34" charset="0"/>
            </a:endParaRPr>
          </a:p>
          <a:p>
            <a:pPr algn="r">
              <a:defRPr/>
            </a:pPr>
            <a:endParaRPr lang="en-GB" i="1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defRPr/>
            </a:pPr>
            <a:endParaRPr lang="en-US" sz="2200" b="1" dirty="0">
              <a:latin typeface="Calibri" pitchFamily="34" charset="0"/>
              <a:cs typeface="Arial" pitchFamily="34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 rot="10800000">
            <a:off x="2362200" y="3048000"/>
            <a:ext cx="7543800" cy="1588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10168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2_Origin">
  <a:themeElements>
    <a:clrScheme name="SPU colour scheme">
      <a:dk1>
        <a:sysClr val="windowText" lastClr="000000"/>
      </a:dk1>
      <a:lt1>
        <a:srgbClr val="FFFFFF"/>
      </a:lt1>
      <a:dk2>
        <a:srgbClr val="464653"/>
      </a:dk2>
      <a:lt2>
        <a:srgbClr val="DDE9EC"/>
      </a:lt2>
      <a:accent1>
        <a:srgbClr val="00B0F0"/>
      </a:accent1>
      <a:accent2>
        <a:srgbClr val="29C000"/>
      </a:accent2>
      <a:accent3>
        <a:srgbClr val="FFFF00"/>
      </a:accent3>
      <a:accent4>
        <a:srgbClr val="192EF7"/>
      </a:accent4>
      <a:accent5>
        <a:srgbClr val="F6C120"/>
      </a:accent5>
      <a:accent6>
        <a:srgbClr val="638BAD"/>
      </a:accent6>
      <a:hlink>
        <a:srgbClr val="518592"/>
      </a:hlink>
      <a:folHlink>
        <a:srgbClr val="7F7F7F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39913</TotalTime>
  <Words>4537</Words>
  <Application>Microsoft Office PowerPoint</Application>
  <PresentationFormat>Widescreen</PresentationFormat>
  <Paragraphs>383</Paragraphs>
  <Slides>29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9" baseType="lpstr">
      <vt:lpstr>ＭＳ Ｐゴシック</vt:lpstr>
      <vt:lpstr>Arial</vt:lpstr>
      <vt:lpstr>Bookman Old Style</vt:lpstr>
      <vt:lpstr>Calibri</vt:lpstr>
      <vt:lpstr>Gill Sans MT</vt:lpstr>
      <vt:lpstr>Symbol</vt:lpstr>
      <vt:lpstr>Times New Roman</vt:lpstr>
      <vt:lpstr>Wingdings</vt:lpstr>
      <vt:lpstr>Wingdings 3</vt:lpstr>
      <vt:lpstr>2_Origin</vt:lpstr>
      <vt:lpstr>PowerPoint Presentation</vt:lpstr>
      <vt:lpstr>Outline/contents</vt:lpstr>
      <vt:lpstr>I. Rationale of outlook &amp; underlying model</vt:lpstr>
      <vt:lpstr>I. Rationale of outlook &amp; underlying model Key concepts in the gap model (glossary)</vt:lpstr>
      <vt:lpstr>1I. Recent macroeconomic developments (2015-2023Q2) Real GDP/Output</vt:lpstr>
      <vt:lpstr>Fiscal policies and deficit components</vt:lpstr>
      <vt:lpstr>Inflation—headline CPI </vt:lpstr>
      <vt:lpstr>Monetary policies: IB and lending interest rates, nominal and real</vt:lpstr>
      <vt:lpstr>Exchange rates: nominal and real</vt:lpstr>
      <vt:lpstr>III. Macroeconomic Forecast Assumptions  Summary current cyclical position &amp; policy stance &amp; external environment</vt:lpstr>
      <vt:lpstr>External environment assumptions</vt:lpstr>
      <vt:lpstr>Domestic environment assumptions</vt:lpstr>
      <vt:lpstr>IV. Macroeconomic forecast/outlook Summary of macroeconomic forecast/outlook (2023Q3-2027Q4)</vt:lpstr>
      <vt:lpstr>Forecast—Output and cyclical position (GDP growth)</vt:lpstr>
      <vt:lpstr>Forecast—cyclical total demand driving GDP</vt:lpstr>
      <vt:lpstr>Private consumption and cyclical position</vt:lpstr>
      <vt:lpstr>Private investment, exports &amp; imports and cyclical position</vt:lpstr>
      <vt:lpstr>Fiscal stance (i): govt demand for G&amp;S affects output directly</vt:lpstr>
      <vt:lpstr>  (ii): fiscal impulse affects  output via private demand</vt:lpstr>
      <vt:lpstr>Fiscal stance: deficit and its components (revenue,  spending) and model decompositions (structural, cyclical, discretionary) </vt:lpstr>
      <vt:lpstr>Forecast—Inflation outlook</vt:lpstr>
      <vt:lpstr>Forecast—Inflation outlook</vt:lpstr>
      <vt:lpstr>Forecast—interest rates (interbank rate (IB) and lending rate) </vt:lpstr>
      <vt:lpstr>Forecast—Nominal and Real Exchange Rate (ER &amp; RER)</vt:lpstr>
      <vt:lpstr>V. Comparison with Integrated Macro Framework (intMF)</vt:lpstr>
      <vt:lpstr>VI. Data issues and requests &amp; suggestions</vt:lpstr>
      <vt:lpstr>VII. Alternative scenario: higher foreign food/oil prices (2023-24)</vt:lpstr>
      <vt:lpstr>VIII. QMFM: main relationships and transmission mechanisms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Economic Presentation</dc:title>
  <dc:creator>leorugwa</dc:creator>
  <cp:lastModifiedBy>Evariste MANIRUMVA</cp:lastModifiedBy>
  <cp:revision>1581</cp:revision>
  <cp:lastPrinted>2023-06-23T12:26:08Z</cp:lastPrinted>
  <dcterms:created xsi:type="dcterms:W3CDTF">2011-04-18T20:01:25Z</dcterms:created>
  <dcterms:modified xsi:type="dcterms:W3CDTF">2024-03-06T07:40:56Z</dcterms:modified>
</cp:coreProperties>
</file>