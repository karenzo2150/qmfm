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</p:sldMasterIdLst>
  <p:notesMasterIdLst>
    <p:notesMasterId r:id="rId37"/>
  </p:notesMasterIdLst>
  <p:handoutMasterIdLst>
    <p:handoutMasterId r:id="rId38"/>
  </p:handoutMasterIdLst>
  <p:sldIdLst>
    <p:sldId id="540" r:id="rId2"/>
    <p:sldId id="547" r:id="rId3"/>
    <p:sldId id="553" r:id="rId4"/>
    <p:sldId id="511" r:id="rId5"/>
    <p:sldId id="554" r:id="rId6"/>
    <p:sldId id="555" r:id="rId7"/>
    <p:sldId id="548" r:id="rId8"/>
    <p:sldId id="512" r:id="rId9"/>
    <p:sldId id="516" r:id="rId10"/>
    <p:sldId id="549" r:id="rId11"/>
    <p:sldId id="552" r:id="rId12"/>
    <p:sldId id="524" r:id="rId13"/>
    <p:sldId id="513" r:id="rId14"/>
    <p:sldId id="515" r:id="rId15"/>
    <p:sldId id="514" r:id="rId16"/>
    <p:sldId id="551" r:id="rId17"/>
    <p:sldId id="517" r:id="rId18"/>
    <p:sldId id="541" r:id="rId19"/>
    <p:sldId id="538" r:id="rId20"/>
    <p:sldId id="544" r:id="rId21"/>
    <p:sldId id="542" r:id="rId22"/>
    <p:sldId id="539" r:id="rId23"/>
    <p:sldId id="526" r:id="rId24"/>
    <p:sldId id="401" r:id="rId25"/>
    <p:sldId id="525" r:id="rId26"/>
    <p:sldId id="527" r:id="rId27"/>
    <p:sldId id="528" r:id="rId28"/>
    <p:sldId id="530" r:id="rId29"/>
    <p:sldId id="532" r:id="rId30"/>
    <p:sldId id="521" r:id="rId31"/>
    <p:sldId id="523" r:id="rId32"/>
    <p:sldId id="536" r:id="rId33"/>
    <p:sldId id="535" r:id="rId34"/>
    <p:sldId id="531" r:id="rId35"/>
    <p:sldId id="545" r:id="rId36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40"/>
            <p14:sldId id="547"/>
            <p14:sldId id="553"/>
            <p14:sldId id="511"/>
            <p14:sldId id="554"/>
            <p14:sldId id="555"/>
            <p14:sldId id="548"/>
            <p14:sldId id="512"/>
            <p14:sldId id="516"/>
            <p14:sldId id="549"/>
            <p14:sldId id="552"/>
            <p14:sldId id="524"/>
            <p14:sldId id="513"/>
            <p14:sldId id="515"/>
            <p14:sldId id="514"/>
            <p14:sldId id="551"/>
            <p14:sldId id="517"/>
            <p14:sldId id="541"/>
            <p14:sldId id="538"/>
            <p14:sldId id="544"/>
            <p14:sldId id="542"/>
            <p14:sldId id="539"/>
            <p14:sldId id="526"/>
            <p14:sldId id="401"/>
            <p14:sldId id="525"/>
            <p14:sldId id="527"/>
            <p14:sldId id="528"/>
            <p14:sldId id="530"/>
            <p14:sldId id="532"/>
            <p14:sldId id="521"/>
            <p14:sldId id="523"/>
            <p14:sldId id="536"/>
            <p14:sldId id="535"/>
            <p14:sldId id="531"/>
            <p14:sldId id="5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3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0" autoAdjust="0"/>
    <p:restoredTop sz="95788" autoAdjust="0"/>
  </p:normalViewPr>
  <p:slideViewPr>
    <p:cSldViewPr>
      <p:cViewPr varScale="1">
        <p:scale>
          <a:sx n="100" d="100"/>
          <a:sy n="100" d="100"/>
        </p:scale>
        <p:origin x="247" y="2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nd Kouwenaar" userId="adbbcea973320f35" providerId="LiveId" clId="{6D69E769-FB29-481B-B42C-0BD6B1F80B55}"/>
    <pc:docChg chg="custSel addSld delSld modSld sldOrd modSection">
      <pc:chgData name="arend Kouwenaar" userId="adbbcea973320f35" providerId="LiveId" clId="{6D69E769-FB29-481B-B42C-0BD6B1F80B55}" dt="2024-01-13T20:59:04.478" v="602" actId="313"/>
      <pc:docMkLst>
        <pc:docMk/>
      </pc:docMkLst>
      <pc:sldChg chg="modSp mod">
        <pc:chgData name="arend Kouwenaar" userId="adbbcea973320f35" providerId="LiveId" clId="{6D69E769-FB29-481B-B42C-0BD6B1F80B55}" dt="2024-01-13T20:50:00.076" v="69" actId="113"/>
        <pc:sldMkLst>
          <pc:docMk/>
          <pc:sldMk cId="255769279" sldId="512"/>
        </pc:sldMkLst>
        <pc:spChg chg="mod">
          <ac:chgData name="arend Kouwenaar" userId="adbbcea973320f35" providerId="LiveId" clId="{6D69E769-FB29-481B-B42C-0BD6B1F80B55}" dt="2024-01-13T20:50:00.076" v="69" actId="113"/>
          <ac:spMkLst>
            <pc:docMk/>
            <pc:sldMk cId="255769279" sldId="512"/>
            <ac:spMk id="2" creationId="{0966E48A-ACEE-51EB-B834-992F80F1053E}"/>
          </ac:spMkLst>
        </pc:spChg>
      </pc:sldChg>
      <pc:sldChg chg="modSp mod">
        <pc:chgData name="arend Kouwenaar" userId="adbbcea973320f35" providerId="LiveId" clId="{6D69E769-FB29-481B-B42C-0BD6B1F80B55}" dt="2024-01-13T20:59:04.478" v="602" actId="313"/>
        <pc:sldMkLst>
          <pc:docMk/>
          <pc:sldMk cId="1243637648" sldId="514"/>
        </pc:sldMkLst>
        <pc:spChg chg="mod">
          <ac:chgData name="arend Kouwenaar" userId="adbbcea973320f35" providerId="LiveId" clId="{6D69E769-FB29-481B-B42C-0BD6B1F80B55}" dt="2024-01-13T20:59:04.478" v="602" actId="313"/>
          <ac:spMkLst>
            <pc:docMk/>
            <pc:sldMk cId="1243637648" sldId="514"/>
            <ac:spMk id="4" creationId="{D58DA28E-0F28-523A-7B3F-93FC9CDE1E03}"/>
          </ac:spMkLst>
        </pc:spChg>
      </pc:sldChg>
      <pc:sldChg chg="modSp mod ord">
        <pc:chgData name="arend Kouwenaar" userId="adbbcea973320f35" providerId="LiveId" clId="{6D69E769-FB29-481B-B42C-0BD6B1F80B55}" dt="2024-01-13T20:57:00.595" v="601" actId="20577"/>
        <pc:sldMkLst>
          <pc:docMk/>
          <pc:sldMk cId="3552405016" sldId="524"/>
        </pc:sldMkLst>
        <pc:spChg chg="mod">
          <ac:chgData name="arend Kouwenaar" userId="adbbcea973320f35" providerId="LiveId" clId="{6D69E769-FB29-481B-B42C-0BD6B1F80B55}" dt="2024-01-13T20:57:00.595" v="601" actId="20577"/>
          <ac:spMkLst>
            <pc:docMk/>
            <pc:sldMk cId="3552405016" sldId="524"/>
            <ac:spMk id="2" creationId="{0966E48A-ACEE-51EB-B834-992F80F1053E}"/>
          </ac:spMkLst>
        </pc:spChg>
        <pc:spChg chg="mod">
          <ac:chgData name="arend Kouwenaar" userId="adbbcea973320f35" providerId="LiveId" clId="{6D69E769-FB29-481B-B42C-0BD6B1F80B55}" dt="2024-01-13T20:56:44.880" v="597" actId="20577"/>
          <ac:spMkLst>
            <pc:docMk/>
            <pc:sldMk cId="3552405016" sldId="524"/>
            <ac:spMk id="8" creationId="{D4C16519-51F5-5EFF-CB74-11E7C7EAA74B}"/>
          </ac:spMkLst>
        </pc:spChg>
      </pc:sldChg>
      <pc:sldChg chg="modSp mod">
        <pc:chgData name="arend Kouwenaar" userId="adbbcea973320f35" providerId="LiveId" clId="{6D69E769-FB29-481B-B42C-0BD6B1F80B55}" dt="2024-01-13T20:49:15.902" v="57" actId="20577"/>
        <pc:sldMkLst>
          <pc:docMk/>
          <pc:sldMk cId="0" sldId="540"/>
        </pc:sldMkLst>
        <pc:spChg chg="mod">
          <ac:chgData name="arend Kouwenaar" userId="adbbcea973320f35" providerId="LiveId" clId="{6D69E769-FB29-481B-B42C-0BD6B1F80B55}" dt="2024-01-13T20:49:15.902" v="57" actId="20577"/>
          <ac:spMkLst>
            <pc:docMk/>
            <pc:sldMk cId="0" sldId="540"/>
            <ac:spMk id="2" creationId="{00000000-0000-0000-0000-000000000000}"/>
          </ac:spMkLst>
        </pc:spChg>
      </pc:sldChg>
      <pc:sldChg chg="modSp del mod">
        <pc:chgData name="arend Kouwenaar" userId="adbbcea973320f35" providerId="LiveId" clId="{6D69E769-FB29-481B-B42C-0BD6B1F80B55}" dt="2024-01-13T20:51:48.097" v="137" actId="2696"/>
        <pc:sldMkLst>
          <pc:docMk/>
          <pc:sldMk cId="4082881742" sldId="550"/>
        </pc:sldMkLst>
        <pc:spChg chg="mod">
          <ac:chgData name="arend Kouwenaar" userId="adbbcea973320f35" providerId="LiveId" clId="{6D69E769-FB29-481B-B42C-0BD6B1F80B55}" dt="2024-01-13T20:50:10.692" v="70" actId="20577"/>
          <ac:spMkLst>
            <pc:docMk/>
            <pc:sldMk cId="4082881742" sldId="550"/>
            <ac:spMk id="2" creationId="{0966E48A-ACEE-51EB-B834-992F80F1053E}"/>
          </ac:spMkLst>
        </pc:spChg>
      </pc:sldChg>
      <pc:sldChg chg="modSp add mod">
        <pc:chgData name="arend Kouwenaar" userId="adbbcea973320f35" providerId="LiveId" clId="{6D69E769-FB29-481B-B42C-0BD6B1F80B55}" dt="2024-01-13T20:56:57.461" v="599" actId="20577"/>
        <pc:sldMkLst>
          <pc:docMk/>
          <pc:sldMk cId="3016540304" sldId="552"/>
        </pc:sldMkLst>
        <pc:spChg chg="mod">
          <ac:chgData name="arend Kouwenaar" userId="adbbcea973320f35" providerId="LiveId" clId="{6D69E769-FB29-481B-B42C-0BD6B1F80B55}" dt="2024-01-13T20:56:57.461" v="599" actId="20577"/>
          <ac:spMkLst>
            <pc:docMk/>
            <pc:sldMk cId="3016540304" sldId="552"/>
            <ac:spMk id="2" creationId="{0966E48A-ACEE-51EB-B834-992F80F1053E}"/>
          </ac:spMkLst>
        </pc:spChg>
        <pc:spChg chg="mod">
          <ac:chgData name="arend Kouwenaar" userId="adbbcea973320f35" providerId="LiveId" clId="{6D69E769-FB29-481B-B42C-0BD6B1F80B55}" dt="2024-01-13T20:51:41.009" v="136" actId="21"/>
          <ac:spMkLst>
            <pc:docMk/>
            <pc:sldMk cId="3016540304" sldId="552"/>
            <ac:spMk id="8" creationId="{D4C16519-51F5-5EFF-CB74-11E7C7EAA74B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1-25T11:27:18.081" idx="2">
    <p:pos x="6336" y="720"/>
    <p:text>Gdem gap and gdem_y %GDP which one potrays fiscal policy better?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1-26T12:00:09.188" idx="3">
    <p:pos x="2669" y="2851"/>
    <p:text>why important? desirable to curb inflation?</p:text>
    <p:extLst>
      <p:ext uri="{C676402C-5697-4E1C-873F-D02D1690AC5C}">
        <p15:threadingInfo xmlns:p15="http://schemas.microsoft.com/office/powerpoint/2012/main" timeZoneBias="-1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1/26/2024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1/26/2024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MINECOFIN can have a different assessment of  path and impact of monetary and ER policies than NBR, just as NBR can have a different assessment of path and impact of fiscal policies.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33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QMFM model is originated or derived from a canonical-new Keynesian reduced form model (log-linearized equations of a micro-founded model)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26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673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QMFM sustainable debt-creating deficit is 5% of GDP under assumptions of: debt/GDP target of 55% (45% in NPV terms, o/w 10% domestic and 35% foreign debt, grant element 22%), real GDP growth 7.5% </a:t>
            </a:r>
            <a:r>
              <a:rPr lang="en-US" dirty="0" err="1"/>
              <a:t>p.y</a:t>
            </a:r>
            <a:r>
              <a:rPr lang="en-US" dirty="0"/>
              <a:t>., trading partner inflation 2% </a:t>
            </a:r>
            <a:r>
              <a:rPr lang="en-US" dirty="0" err="1"/>
              <a:t>p.y</a:t>
            </a:r>
            <a:r>
              <a:rPr lang="en-US" dirty="0"/>
              <a:t>., and trend RER depreciation rate 0%. The structural deficit consists of revenue 21%, government consumption 13%,government  investment 11%, and other spending 5% of GDP.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70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2505">
              <a:defRPr/>
            </a:pPr>
            <a:r>
              <a:rPr lang="en-US" dirty="0"/>
              <a:t>Isssue temporary sharp deficit reduction creating volatility in output gap and inflation (and RIR, RER)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05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31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72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94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more aggregate models, “fiscal impulse” comprises both direct effect of govt spending on G&amp;S and the indirect effect via private consumption and investment (affected by transfers/subsidies and reduced effective revenue collection)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587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93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820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5034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Rationale of relative (food, energy) and therefore relative core price</a:t>
            </a:r>
          </a:p>
          <a:p>
            <a:pPr defTabSz="932505">
              <a:defRPr/>
            </a:pPr>
            <a:r>
              <a:rPr lang="en-US" dirty="0"/>
              <a:t>Main message inflation: easing from interest rate and fiscal tightening (and abating shocks); reverse tightening of govt increases demand, output and a temporary above target inflation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361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effect small as import share small for country (larger for urban)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9875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360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 IB not 7.4 in Q1 2023? We must convert back i= log(1+IB). Maybe need some IB smoothing, with lower drop in face of negative outputgap from govt demand?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999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explains RIR overshooting (above trend) in 2023? And below trend after2025-26?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976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Seeming overshooting of RER (then some undershooting) desirable? Can it smoothened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550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9">
              <a:defRPr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Both RIR and RER return gradually to their steady states of RIR of 2.5% and RER depreciation rate of 0%. (</a:t>
            </a:r>
            <a:r>
              <a:rPr lang="en-US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or is it 2% ie rstar 0%+country premium 2% CHECK). Should rstar_ss be raised to 0.5%?)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353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34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1/26/2024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26/01/2024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tmp"/><Relationship Id="rId5" Type="http://schemas.openxmlformats.org/officeDocument/2006/relationships/image" Target="../media/image16.tmp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2.docx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Document1.docx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Document3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2.xml"/><Relationship Id="rId4" Type="http://schemas.openxmlformats.org/officeDocument/2006/relationships/image" Target="../media/image3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tm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mp"/><Relationship Id="rId7" Type="http://schemas.openxmlformats.org/officeDocument/2006/relationships/image" Target="../media/image66.tmp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tmp"/><Relationship Id="rId5" Type="http://schemas.openxmlformats.org/officeDocument/2006/relationships/image" Target="../media/image64.tmp"/><Relationship Id="rId4" Type="http://schemas.openxmlformats.org/officeDocument/2006/relationships/image" Target="../media/image63.tm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905000" y="914400"/>
            <a:ext cx="8458200" cy="1754326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600" b="1" dirty="0">
                <a:solidFill>
                  <a:srgbClr val="002060"/>
                </a:solidFill>
                <a:latin typeface="+mn-lt"/>
              </a:rPr>
              <a:t>Quarterly Macro-Fiscal Outlook</a:t>
            </a:r>
          </a:p>
          <a:p>
            <a:pPr algn="ctr">
              <a:defRPr/>
            </a:pPr>
            <a:endParaRPr lang="en-GB" sz="3600" b="1" dirty="0">
              <a:solidFill>
                <a:srgbClr val="002060"/>
              </a:solidFill>
              <a:latin typeface="+mn-lt"/>
            </a:endParaRPr>
          </a:p>
          <a:p>
            <a:pPr algn="ctr">
              <a:defRPr/>
            </a:pPr>
            <a:r>
              <a:rPr lang="en-GB" sz="3600" b="1" dirty="0">
                <a:solidFill>
                  <a:srgbClr val="002060"/>
                </a:solidFill>
                <a:latin typeface="+mn-lt"/>
              </a:rPr>
              <a:t>Summary Forecast 2023-26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686050" y="4495800"/>
            <a:ext cx="681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+mn-lt"/>
              </a:rPr>
              <a:t>June 2, 2023 </a:t>
            </a:r>
            <a:r>
              <a:rPr lang="en-US" sz="2800" dirty="0">
                <a:solidFill>
                  <a:srgbClr val="FF0000"/>
                </a:solidFill>
                <a:latin typeface="+mn-lt"/>
              </a:rPr>
              <a:t>(rev. structure Aug.2023)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I. Rationale of outlook &amp; underlying model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/>
              <a:t>Provide forecast for 16 quarters ahead for key macro variables (</a:t>
            </a:r>
            <a:r>
              <a:rPr lang="en-GB" sz="1800" dirty="0" err="1"/>
              <a:t>i.e</a:t>
            </a:r>
            <a:r>
              <a:rPr lang="en-GB" sz="1800" dirty="0"/>
              <a:t>,. output, inflation, final demand…...) as influenced by fiscal, monetary, and exchange rate policies, incl. in response to shocks and new developments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rgbClr val="FF0000"/>
                </a:solidFill>
              </a:rPr>
              <a:t>Simulate alternative policy scenarios suggest policy implications &amp; recommendations.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/>
              <a:t>Provide input to (Qo or Ann. assumptions),  and complement, other tools projections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validate macro-fiscal projections that underpin the (medium-term) Budgets and IMF-supported programs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facilitate coordination of policies between MINECOFIN </a:t>
            </a:r>
            <a:endParaRPr lang="en-GB" sz="1400" dirty="0"/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/>
              <a:t>Tool/model: Quarterly Macro Fiscal Model (QMFM), a so-called “gap” model: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800" dirty="0"/>
              <a:t>special emphasis on </a:t>
            </a:r>
            <a:r>
              <a:rPr lang="en-GB" sz="1800" i="1" dirty="0">
                <a:solidFill>
                  <a:srgbClr val="FFC000"/>
                </a:solidFill>
              </a:rPr>
              <a:t>fiscal deficit indicators &amp; components</a:t>
            </a:r>
            <a:r>
              <a:rPr lang="en-GB" sz="1800" dirty="0">
                <a:solidFill>
                  <a:srgbClr val="FFC000"/>
                </a:solidFill>
              </a:rPr>
              <a:t> (revenue, Govt spending &amp; structural, discretional, cyclical)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800" dirty="0"/>
              <a:t>tracing key macro variables in </a:t>
            </a:r>
            <a:r>
              <a:rPr lang="en-GB" sz="1800" i="1" dirty="0"/>
              <a:t>deviation from trends</a:t>
            </a:r>
            <a:r>
              <a:rPr lang="en-GB" sz="1800" dirty="0"/>
              <a:t>, potential levels, or targets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800" dirty="0"/>
              <a:t>after shocks and policy responses, variables return </a:t>
            </a:r>
            <a:r>
              <a:rPr lang="en-GB" sz="1800" dirty="0">
                <a:solidFill>
                  <a:srgbClr val="FFC000"/>
                </a:solidFill>
              </a:rPr>
              <a:t>to their LT trends subject to persistence/lags &amp; </a:t>
            </a:r>
            <a:r>
              <a:rPr lang="en-GB" sz="1800" dirty="0" err="1">
                <a:solidFill>
                  <a:srgbClr val="FFC000"/>
                </a:solidFill>
              </a:rPr>
              <a:t>s.states</a:t>
            </a:r>
            <a:r>
              <a:rPr lang="en-GB" sz="1800" dirty="0">
                <a:solidFill>
                  <a:srgbClr val="FFC000"/>
                </a:solidFill>
              </a:rPr>
              <a:t>. 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800" dirty="0"/>
              <a:t>trends converge to </a:t>
            </a:r>
            <a:r>
              <a:rPr lang="en-GB" sz="1800" i="1" dirty="0"/>
              <a:t>steady states (</a:t>
            </a:r>
            <a:r>
              <a:rPr lang="en-GB" sz="1800" i="1" dirty="0">
                <a:solidFill>
                  <a:srgbClr val="FF0000"/>
                </a:solidFill>
              </a:rPr>
              <a:t>outside model</a:t>
            </a:r>
            <a:r>
              <a:rPr lang="en-GB" sz="1800" i="1" dirty="0"/>
              <a:t>)</a:t>
            </a:r>
            <a:r>
              <a:rPr lang="en-GB" sz="1800" dirty="0"/>
              <a:t>, e.g., potential output growth, interest and exchange rates </a:t>
            </a:r>
            <a:r>
              <a:rPr lang="en-GB" sz="1800" dirty="0">
                <a:solidFill>
                  <a:srgbClr val="FFC000"/>
                </a:solidFill>
              </a:rPr>
              <a:t>neutral rate &amp; target</a:t>
            </a:r>
            <a:r>
              <a:rPr lang="en-GB" sz="1800" dirty="0"/>
              <a:t>,  sustainable deficit level and target inflation….</a:t>
            </a:r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556C-239C-2032-A4AB-F5EC73F0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Model/Qo outlook rationale &amp; requests + recommendations </a:t>
            </a:r>
            <a:endParaRPr lang="en-RW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382D-03F1-B037-8AF8-AE5637109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7979F-7F8C-8730-D214-36B5AA930C70}"/>
              </a:ext>
            </a:extLst>
          </p:cNvPr>
          <p:cNvSpPr txBox="1"/>
          <p:nvPr/>
        </p:nvSpPr>
        <p:spPr>
          <a:xfrm>
            <a:off x="990600" y="1447800"/>
            <a:ext cx="108966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4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quarterly Outlook—produced along with results of macro framework and NBR forecasting tools</a:t>
            </a:r>
          </a:p>
          <a:p>
            <a:pPr lvl="1">
              <a:spcAft>
                <a:spcPts val="800"/>
              </a:spcAft>
            </a:pPr>
            <a:r>
              <a:rPr lang="en-US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—</a:t>
            </a:r>
            <a:r>
              <a:rPr lang="en-US" sz="1800" i="1" dirty="0">
                <a:solidFill>
                  <a:srgbClr val="1F4E79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should help in framing macro economic assumptions for </a:t>
            </a:r>
            <a:r>
              <a:rPr lang="en-US" sz="1800" i="1" dirty="0" err="1">
                <a:solidFill>
                  <a:srgbClr val="1F4E79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InMF</a:t>
            </a:r>
            <a:r>
              <a:rPr lang="en-US" sz="1800" i="1" dirty="0">
                <a:solidFill>
                  <a:srgbClr val="1F4E79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and other tools </a:t>
            </a:r>
            <a:endParaRPr lang="en-US" sz="1800" i="1" dirty="0">
              <a:solidFill>
                <a:srgbClr val="1F4E7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>
              <a:spcAft>
                <a:spcPts val="800"/>
              </a:spcAft>
            </a:pPr>
            <a:r>
              <a:rPr lang="en-US" sz="18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—should help generate the validated macro-fiscal projections that underpin the (medium-term) Budgets and IMF-supported programs and facilitate coordination of policies between MINECOFIN and NBR. </a:t>
            </a:r>
          </a:p>
          <a:p>
            <a:pPr lvl="1">
              <a:spcAft>
                <a:spcPts val="800"/>
              </a:spcAft>
            </a:pPr>
            <a:r>
              <a:rPr lang="en-US" sz="18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—</a:t>
            </a:r>
            <a:r>
              <a:rPr lang="en-US" sz="1800" i="1" dirty="0">
                <a:solidFill>
                  <a:srgbClr val="1F4E79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en-US" sz="18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 the process of reconciling the results from various tools, iterative policy scenarios are run, and recommendations formulated outside the Outlook. </a:t>
            </a:r>
          </a:p>
          <a:p>
            <a:pPr lvl="1">
              <a:spcAft>
                <a:spcPts val="800"/>
              </a:spcAft>
            </a:pPr>
            <a:r>
              <a:rPr lang="en-US" sz="18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—MINECOFIN’s independent assessment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8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 the macro-outlook and the effects and interactions of fiscal with other policies—which may differ from those in other tools</a:t>
            </a:r>
          </a:p>
          <a:p>
            <a:pPr lvl="1">
              <a:spcAft>
                <a:spcPts val="800"/>
              </a:spcAft>
            </a:pPr>
            <a:r>
              <a:rPr lang="en-US" sz="18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—should further enhance the macroeconomic analysis and policy debate</a:t>
            </a:r>
          </a:p>
          <a:p>
            <a:pPr>
              <a:spcAft>
                <a:spcPts val="800"/>
              </a:spcAft>
            </a:pPr>
            <a:r>
              <a:rPr lang="en-US" i="1" u="sng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plea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NBR-FPAS inflation &amp; ER outlook 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Fiscal (Qo treasury plan for 2023/24 is not available) and Debt stock actual or provisional data</a:t>
            </a:r>
          </a:p>
          <a:p>
            <a:pPr>
              <a:spcAft>
                <a:spcPts val="800"/>
              </a:spcAft>
            </a:pP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277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(2017-23)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00B0F0"/>
                </a:solidFill>
              </a:rPr>
              <a:t>Fiscal policy indictors</a:t>
            </a:r>
            <a:endParaRPr lang="en-AE" b="1" dirty="0">
              <a:solidFill>
                <a:srgbClr val="00B0F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09020-722A-2530-E06A-654D71AEDEE1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219200"/>
            <a:ext cx="3962401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1AB16D-B314-3DAD-0E05-999CF27A5DCF}"/>
              </a:ext>
            </a:extLst>
          </p:cNvPr>
          <p:cNvSpPr txBox="1">
            <a:spLocks/>
          </p:cNvSpPr>
          <p:nvPr/>
        </p:nvSpPr>
        <p:spPr>
          <a:xfrm>
            <a:off x="4648200" y="3886200"/>
            <a:ext cx="7439297" cy="2667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Fiscal deficit (%GDP) and Govt demand (level &amp; %GDP)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fiscal consolidation</a:t>
            </a:r>
            <a:r>
              <a:rPr lang="en-US" sz="1200" dirty="0"/>
              <a:t>—with a decreasing deficit of 10% average for 2015/16—2018/19, mainly driven by Govt demand discretion spending (i.e., use of goods and services..)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expansionary fiscal</a:t>
            </a:r>
            <a:r>
              <a:rPr lang="en-US" sz="1200" dirty="0"/>
              <a:t>—with increased deficit for FY 2019/20—2021/22 of 14.1% average triggered  by Covid-spending &amp; </a:t>
            </a:r>
            <a:r>
              <a:rPr lang="en-US" sz="1200" dirty="0" err="1"/>
              <a:t>discr</a:t>
            </a:r>
            <a:r>
              <a:rPr lang="en-US" sz="1200" dirty="0"/>
              <a:t>. Govt spending incl. NINFA, (i.e.,. mass School constructions) and use goods and services,  mostly related to foreign finance portion.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revived fiscal consolidation</a:t>
            </a:r>
            <a:r>
              <a:rPr lang="en-US" sz="1200" dirty="0"/>
              <a:t>—with deficit declining of 12%—10.8% for FY 2022/23—2023/24, driven by a reduction in capital spending, and net lending (equities and shares (Euro bond investment projects), and loans(B/s support funds)).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0000"/>
                </a:solidFill>
              </a:rPr>
              <a:t>Govt demand deflated in real terms by a surging inflation from 2022, but inflated again by  floods response for last quarter of FY 2022/23. </a:t>
            </a:r>
          </a:p>
          <a:p>
            <a:pPr marL="274638" lvl="1" indent="0" algn="just">
              <a:spcAft>
                <a:spcPts val="600"/>
              </a:spcAft>
              <a:buNone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9C0252-A6B9-69B0-300B-73CFC3E8C8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4038600"/>
            <a:ext cx="3886201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05CC71-1A84-705F-FBDF-AA695FBE11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234440"/>
            <a:ext cx="3557450" cy="2514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BAF7FF-6266-71A8-8444-F92C05249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368" y="1371600"/>
            <a:ext cx="3092632" cy="236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Recent macroeconomic developments </a:t>
            </a:r>
            <a:r>
              <a:rPr lang="en-US" b="1" dirty="0" err="1"/>
              <a:t>cnt</a:t>
            </a:r>
            <a:r>
              <a:rPr lang="en-US" b="1" dirty="0"/>
              <a:t>’</a:t>
            </a:r>
            <a:br>
              <a:rPr lang="en-US" b="1" dirty="0"/>
            </a:br>
            <a:r>
              <a:rPr lang="en-US" sz="2000" b="1" dirty="0">
                <a:solidFill>
                  <a:srgbClr val="00B0F0"/>
                </a:solidFill>
              </a:rPr>
              <a:t>Real GDP/Output</a:t>
            </a:r>
            <a:endParaRPr lang="en-RW" dirty="0">
              <a:solidFill>
                <a:srgbClr val="00B0F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4FADF2-D58D-3533-D198-2489EABB42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731623"/>
            <a:ext cx="3505200" cy="282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56309-AB20-5277-6C61-67F364BE9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1181100"/>
            <a:ext cx="2754629" cy="2436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9C76D3-DD4D-7593-516B-AD5C495D43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181101"/>
            <a:ext cx="3200401" cy="243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370E46-4BA6-140C-A840-C2D003E419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181100"/>
            <a:ext cx="2667000" cy="243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7DA663-E192-CFB8-52E2-106730AEA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800" y="1181098"/>
            <a:ext cx="2667000" cy="2400301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7086600" y="3695696"/>
            <a:ext cx="4714240" cy="2857503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Real GDP,  (YoY %)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averaged to 7.5% during 2000-19 and estimated a bit below potential in 2019; 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Contracted/dropped by 3.4% and was 12% below potential level had </a:t>
            </a:r>
            <a:r>
              <a:rPr lang="en-GB" sz="1200" dirty="0">
                <a:solidFill>
                  <a:srgbClr val="FF0000"/>
                </a:solidFill>
              </a:rPr>
              <a:t>normal growth (potential) of 7.5% continued</a:t>
            </a:r>
            <a:r>
              <a:rPr lang="en-GB" sz="1200" dirty="0"/>
              <a:t> during COVID-2020 due to  supply constraints and drops in external and domestic demand.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expansionary fiscal policy helped in subsequent recovery of economy, despite strong bounce back in 2021 economy is estimated below potential.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Global instability such Ukraine War affected domestic economy </a:t>
            </a:r>
            <a:r>
              <a:rPr lang="en-RW" sz="1200" dirty="0"/>
              <a:t>slowed down the recovery from 2022Q1 onward</a:t>
            </a:r>
            <a:r>
              <a:rPr lang="en-US" sz="12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3810000" y="3699506"/>
            <a:ext cx="335280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Output gap drivers </a:t>
            </a:r>
            <a:endParaRPr lang="en-US" sz="1050" b="1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  <a:endParaRPr lang="en-RW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accounted for most of the GDP drop and output gap</a:t>
            </a:r>
            <a:endParaRPr lang="en-US" sz="105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fall in imports and expansionary government demand helped mitigate the </a:t>
            </a:r>
            <a:r>
              <a:rPr lang="en-US" sz="1050" dirty="0" err="1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downpull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on GDP</a:t>
            </a:r>
            <a:endParaRPr lang="en-RW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contributed most to the recovery</a:t>
            </a:r>
            <a:endParaRPr lang="en-US" sz="105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supported by continued government demand, while exports remained sluggish</a:t>
            </a:r>
            <a:endParaRPr lang="en-RW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5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endParaRPr lang="en-RW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post-Covid recovery slowed down due to jumps in international oil and food prices, causing high inflation and drop in real consumption and other demand</a:t>
            </a:r>
            <a:endParaRPr lang="en-US" sz="105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fiscal consolidation started (though in part thwarted by floods) and lowered the expansionary effect of govt demand</a:t>
            </a:r>
            <a:endParaRPr lang="en-RW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633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Recent macroeconomic developments </a:t>
            </a:r>
            <a:r>
              <a:rPr lang="en-US" b="1" dirty="0" err="1"/>
              <a:t>cnt</a:t>
            </a:r>
            <a:r>
              <a:rPr lang="en-US" b="1" dirty="0"/>
              <a:t>’</a:t>
            </a:r>
            <a:br>
              <a:rPr lang="en-US" b="1" dirty="0"/>
            </a:br>
            <a:r>
              <a:rPr lang="en-US" sz="2000" b="1" dirty="0">
                <a:solidFill>
                  <a:srgbClr val="00B0F0"/>
                </a:solidFill>
              </a:rPr>
              <a:t>Inflation—CPI </a:t>
            </a:r>
            <a:endParaRPr lang="en-RW" dirty="0">
              <a:solidFill>
                <a:srgbClr val="00B0F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7086600" y="3695696"/>
            <a:ext cx="4865370" cy="2857503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CPI,  (YoY %)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highly volatile,  mostly driven by factors (i.e., </a:t>
            </a:r>
            <a:r>
              <a:rPr lang="en-US" sz="1200" dirty="0" err="1"/>
              <a:t>agric</a:t>
            </a:r>
            <a:r>
              <a:rPr lang="en-US" sz="1200" dirty="0"/>
              <a:t> &amp; weather shocks) unrelated to business cycle (</a:t>
            </a:r>
            <a:r>
              <a:rPr lang="en-US" sz="1100" dirty="0">
                <a:solidFill>
                  <a:srgbClr val="FF0000"/>
                </a:solidFill>
              </a:rPr>
              <a:t>i.e., not consistent with a still -</a:t>
            </a:r>
            <a:r>
              <a:rPr lang="en-US" sz="1100" dirty="0" err="1">
                <a:solidFill>
                  <a:srgbClr val="FF0000"/>
                </a:solidFill>
              </a:rPr>
              <a:t>ve</a:t>
            </a:r>
            <a:r>
              <a:rPr lang="en-US" sz="1100" dirty="0">
                <a:solidFill>
                  <a:srgbClr val="FF0000"/>
                </a:solidFill>
              </a:rPr>
              <a:t> output gap)</a:t>
            </a:r>
            <a:endParaRPr lang="en-US" sz="1200" dirty="0">
              <a:solidFill>
                <a:srgbClr val="FF0000"/>
              </a:solidFill>
            </a:endParaRP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800" dirty="0"/>
              <a:t>main factors incl. weather-induced fluctuations in harvests and agricultural prices, openness and dependence on imports, especially for food and petroleum products with volatile international prices, and lack of competition in many markets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food and energy are main drivers of this volatility inflation directly and indirectly.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recent surge in inflation was more driven by weak harvests coincided with soaring of world food and energy prices.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i="1" dirty="0"/>
              <a:t>deceleration observed through a drop in components since 2023Q1.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3733800" y="3704827"/>
            <a:ext cx="3352800" cy="302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Headline—CPI drivers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 &amp; before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above target</a:t>
            </a: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driven by food prices in 2017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 driven a fall in food prices for 2018-19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above target during in 2020 induced by higher </a:t>
            </a:r>
            <a:r>
              <a:rPr lang="en-US" sz="1050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COVID-related food and core prices (imports)?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 driven by recovery in terms of good </a:t>
            </a:r>
            <a:r>
              <a:rPr lang="en-US" sz="105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agric</a:t>
            </a: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harvest and less expensive imports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endParaRPr lang="en-RW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c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ore prices (driven by </a:t>
            </a:r>
            <a:r>
              <a:rPr lang="en-US" sz="105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 induced shocks than standard factors i.e., output gap)—</a:t>
            </a:r>
            <a:r>
              <a:rPr lang="en-US" sz="1000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weak output gap relation to P.C relation–weak  </a:t>
            </a:r>
            <a:r>
              <a:rPr lang="en-US" sz="1000" i="1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monetary policy </a:t>
            </a:r>
            <a:r>
              <a:rPr lang="en-US" sz="1000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to output to inflation?</a:t>
            </a: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food prices: negatively driven by agricultural production gap and </a:t>
            </a:r>
            <a:r>
              <a:rPr lang="en-US" sz="105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agric</a:t>
            </a: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-related shocks</a:t>
            </a: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international energy and commodity prices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RW" sz="12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19C67-8853-96F0-5F09-ACC5A3F627B2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93529"/>
            <a:ext cx="3352800" cy="2783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206D10-3E90-9AEE-B85A-34DD26EE8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" y="1181098"/>
            <a:ext cx="3048000" cy="2436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FDBE65-806C-0051-222B-9CE011F37E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320" y="1177288"/>
            <a:ext cx="2849880" cy="243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FCF0BB-6956-9B7C-BC8B-006DAE85A3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490" y="1257304"/>
            <a:ext cx="2983865" cy="2356209"/>
          </a:xfrm>
          <a:prstGeom prst="rect">
            <a:avLst/>
          </a:prstGeom>
        </p:spPr>
      </p:pic>
      <p:pic>
        <p:nvPicPr>
          <p:cNvPr id="13" name="Picture 12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5C5EA492-2242-DF9D-34D7-A3FFEB6E3C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99" y="1257304"/>
            <a:ext cx="2604771" cy="243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21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2. Summary recent/current policy stance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9B4C0-ECF5-C038-96C2-D0753F470035}"/>
              </a:ext>
            </a:extLst>
          </p:cNvPr>
          <p:cNvSpPr txBox="1"/>
          <p:nvPr/>
        </p:nvSpPr>
        <p:spPr>
          <a:xfrm>
            <a:off x="381000" y="1219100"/>
            <a:ext cx="11506200" cy="5682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algn="just">
              <a:lnSpc>
                <a:spcPct val="107000"/>
              </a:lnSpc>
              <a:spcAft>
                <a:spcPts val="800"/>
              </a:spcAft>
            </a:pPr>
            <a:r>
              <a:rPr lang="en-GB" sz="1600" b="1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Initial condition: recent past developments/trends (2017-2022)</a:t>
            </a:r>
            <a:endParaRPr lang="en-GB" sz="1600" b="1" i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accelerated domestic inflation, (from lower levels ex-ante 2021), ER depreciation (overvaluation) amidst domestic shocks &amp; unfavourable global environment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tight domestic &amp; global monetary policies post COVID (RIR and foreign interest rates loose before 2020)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expansionary fiscal policy counter shocks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GDP below 7.5% trend (2000-19), just above trend (2019) due to Govt demand and substantially contracted to negative during COVID</a:t>
            </a:r>
            <a:endParaRPr lang="en-GB" sz="16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320" algn="just">
              <a:lnSpc>
                <a:spcPct val="107000"/>
              </a:lnSpc>
              <a:spcAft>
                <a:spcPts val="800"/>
              </a:spcAft>
            </a:pPr>
            <a:r>
              <a:rPr lang="en-GB" sz="1600" b="1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Current &amp; near-term policy stance (2023-24)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cs typeface="Times New Roman" panose="02020603050405020304" pitchFamily="18" charset="0"/>
              </a:rPr>
              <a:t>improving and favourable global environment in terms of recovering foreign demand, easing world food and oil prices &amp; trading partner's CPI.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odestly tight monetary policy</a:t>
            </a: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amidst decelerating domestic inflation</a:t>
            </a:r>
            <a:endParaRPr lang="en-GB" sz="16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fiscal consolidation in 2022/23 reinforced with the FY2023/24 Budget,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xchange rate policy entailing initially some overvaluation have helped contain domestic demand and bring inflation down in 2023, and should continue doing so in the near future. 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inflation (shocks) abates, room for procyclical policies to demand/GDP growth back to its potential level, stabilize the fiscal deficit at its sustainable level, and stabilize the RER.</a:t>
            </a:r>
          </a:p>
          <a:p>
            <a:pPr marL="274320" algn="just">
              <a:lnSpc>
                <a:spcPct val="107000"/>
              </a:lnSpc>
              <a:spcAft>
                <a:spcPts val="800"/>
              </a:spcAft>
            </a:pPr>
            <a:endParaRPr lang="en-RW" sz="16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260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6199"/>
            <a:ext cx="10210800" cy="838200"/>
          </a:xfrm>
        </p:spPr>
        <p:txBody>
          <a:bodyPr/>
          <a:lstStyle/>
          <a:p>
            <a:r>
              <a:rPr lang="en-GB" b="1" dirty="0"/>
              <a:t>3. Forecast assumptions (tunes) 2023Q3-2024Q1 </a:t>
            </a:r>
            <a:r>
              <a:rPr lang="en-GB" dirty="0">
                <a:solidFill>
                  <a:srgbClr val="FF0000"/>
                </a:solidFill>
              </a:rPr>
              <a:t>slightly</a:t>
            </a:r>
            <a:r>
              <a:rPr lang="en-GB" b="1" dirty="0">
                <a:solidFill>
                  <a:srgbClr val="FF0000"/>
                </a:solidFill>
              </a:rPr>
              <a:t> r</a:t>
            </a:r>
            <a:r>
              <a:rPr lang="en-GB" dirty="0">
                <a:solidFill>
                  <a:srgbClr val="FF0000"/>
                </a:solidFill>
              </a:rPr>
              <a:t>evised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11201400" cy="504507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Font typeface="Wingdings" panose="05000000000000000000" pitchFamily="2" charset="2"/>
              <a:buNone/>
            </a:pPr>
            <a:endParaRPr lang="en-A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1F52A-5E85-2D1F-F7D4-AE63E3F5EA83}"/>
              </a:ext>
            </a:extLst>
          </p:cNvPr>
          <p:cNvSpPr txBox="1"/>
          <p:nvPr/>
        </p:nvSpPr>
        <p:spPr>
          <a:xfrm>
            <a:off x="1143001" y="1295400"/>
            <a:ext cx="5638799" cy="46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+mn-lt"/>
              </a:rPr>
              <a:t>The forecasts are conditional on exogenous and judgmental assumptions: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</a:rPr>
              <a:t>external environment (foreign prices, demand, food/oil prices, interest rates, 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</a:rPr>
              <a:t>domestic trends and gaps distilled from historic data (quarterly 2006-23)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</a:rPr>
              <a:t>domestic near-term forecasts (now/forecast GDP,  latest CPI,  judgements…)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</a:rPr>
              <a:t>recently observed shocks disappear, e.g., agriculture normalizes and food and core price shocks are abating.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7BED9A-4000-1202-EA3D-312F978502A2}"/>
              </a:ext>
            </a:extLst>
          </p:cNvPr>
          <p:cNvSpPr txBox="1"/>
          <p:nvPr/>
        </p:nvSpPr>
        <p:spPr>
          <a:xfrm>
            <a:off x="6934200" y="1219200"/>
            <a:ext cx="5054600" cy="4024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rgbClr val="FFC000"/>
                </a:solidFill>
                <a:latin typeface="+mn-lt"/>
                <a:ea typeface="Calibri" panose="020F0502020204030204" pitchFamily="34" charset="0"/>
              </a:rPr>
              <a:t>Forecast conditional on exogenous judgment assumptions incl.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FFC000"/>
                </a:solidFill>
                <a:effectLst/>
                <a:latin typeface="+mn-lt"/>
                <a:ea typeface="Calibri" panose="020F0502020204030204" pitchFamily="34" charset="0"/>
              </a:rPr>
              <a:t>WEO forecasts for external variables (e.g., foreign prices, demand,..);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C000"/>
                </a:solidFill>
                <a:effectLst/>
                <a:latin typeface="+mn-lt"/>
                <a:ea typeface="Calibri" panose="020F0502020204030204" pitchFamily="34" charset="0"/>
              </a:rPr>
              <a:t>domestic trends (e.g., GDP, real interest rates,..) as derived from data and judgment;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C000"/>
                </a:solidFill>
                <a:effectLst/>
                <a:latin typeface="+mn-lt"/>
                <a:ea typeface="Calibri" panose="020F0502020204030204" pitchFamily="34" charset="0"/>
              </a:rPr>
              <a:t>near-term now/forecasts or estimates from other tools, sources or judgment (GDP, CPI, shocks);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C000"/>
                </a:solidFill>
                <a:latin typeface="+mn-lt"/>
                <a:ea typeface="Calibri" panose="020F0502020204030204" pitchFamily="34" charset="0"/>
              </a:rPr>
              <a:t>k</a:t>
            </a:r>
            <a:r>
              <a:rPr lang="en-US" sz="1400" dirty="0">
                <a:solidFill>
                  <a:srgbClr val="FFC000"/>
                </a:solidFill>
                <a:effectLst/>
                <a:latin typeface="+mn-lt"/>
                <a:ea typeface="Calibri" panose="020F0502020204030204" pitchFamily="34" charset="0"/>
              </a:rPr>
              <a:t>nown/observed or expected fiscal policies (deficit, revenue, spending) for two fiscal years and monetary and exchange rate policies for current and possibly next quarter.</a:t>
            </a:r>
            <a:endParaRPr lang="en-RW" sz="1800" dirty="0">
              <a:solidFill>
                <a:srgbClr val="FFC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769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b="1" dirty="0"/>
              <a:t>3.1 External environment/outlook 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09067" y="4295583"/>
            <a:ext cx="3259666" cy="2182067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World real interest rates are expected to rise from negative around -1% in the past decade to +1% by 2027, with the increase likely transmitting one-for-one to Rwanda’s sovereign borrowing rates</a:t>
            </a:r>
            <a:endParaRPr lang="en-GB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914400" y="4295583"/>
            <a:ext cx="3505200" cy="212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World economy slowing down as interest rates are raised in response to inflation</a:t>
            </a:r>
          </a:p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Rwanda still enjoys recovery in trading partner demand relative to Covid-years, at 3% p.y., well above trend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8610600" y="4295583"/>
            <a:ext cx="29633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algn="just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Trading partners’ CPI inflation (in US$)—subdued at 1.5% </a:t>
            </a:r>
            <a:r>
              <a:rPr lang="en-US" sz="1800" dirty="0" err="1">
                <a:latin typeface="+mn-lt"/>
              </a:rPr>
              <a:t>p.y</a:t>
            </a:r>
            <a:r>
              <a:rPr lang="en-US" sz="1800" dirty="0">
                <a:latin typeface="+mn-lt"/>
              </a:rPr>
              <a:t>. in the past 5-7 years—is projected to return to its trend level of 2% in the coming years </a:t>
            </a:r>
            <a:endParaRPr lang="en-AE" sz="18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47C1F-109D-4B1C-BC30-E6FA8F195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366" y="1985513"/>
            <a:ext cx="2892214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A14C92-C839-2E1A-5392-CF1059982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33" y="1985664"/>
            <a:ext cx="3200400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A0FEE-4416-9197-6107-19EDC8DA69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81200"/>
            <a:ext cx="3352800" cy="2223031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E3C7CE-A7F7-E6C9-1342-1428AAC53EC2}"/>
              </a:ext>
            </a:extLst>
          </p:cNvPr>
          <p:cNvSpPr txBox="1"/>
          <p:nvPr/>
        </p:nvSpPr>
        <p:spPr>
          <a:xfrm>
            <a:off x="914400" y="1219200"/>
            <a:ext cx="10659534" cy="66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 algn="just"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overall outlook is improving</a:t>
            </a:r>
            <a:r>
              <a:rPr lang="en-GB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after the Covid-Ukraine crises, but with downside risks.</a:t>
            </a:r>
            <a:r>
              <a:rPr lang="en-GB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W</a:t>
            </a:r>
            <a:r>
              <a:rPr lang="en-GB" sz="1800" dirty="0">
                <a:effectLst/>
                <a:latin typeface="+mn-lt"/>
                <a:ea typeface="Calibri" panose="020F0502020204030204" pitchFamily="34" charset="0"/>
              </a:rPr>
              <a:t>orld economy is slowing down due to world </a:t>
            </a:r>
            <a:r>
              <a:rPr lang="en-GB" sz="1800" dirty="0">
                <a:latin typeface="+mn-lt"/>
                <a:ea typeface="Calibri" panose="020F0502020204030204" pitchFamily="34" charset="0"/>
              </a:rPr>
              <a:t>increased </a:t>
            </a:r>
            <a:r>
              <a:rPr lang="en-GB" sz="1800" dirty="0">
                <a:effectLst/>
                <a:latin typeface="+mn-lt"/>
                <a:ea typeface="Calibri" panose="020F0502020204030204" pitchFamily="34" charset="0"/>
              </a:rPr>
              <a:t>interest rate in response to inflation</a:t>
            </a:r>
            <a:endParaRPr lang="en-RW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7849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b="1" dirty="0"/>
              <a:t>3.2 Domestic environment assumptions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12E18-8FD6-EE83-F9B4-F774C96DF151}"/>
              </a:ext>
            </a:extLst>
          </p:cNvPr>
          <p:cNvSpPr txBox="1"/>
          <p:nvPr/>
        </p:nvSpPr>
        <p:spPr>
          <a:xfrm>
            <a:off x="6858000" y="1371600"/>
            <a:ext cx="5130800" cy="467820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GB" sz="1600" i="1" dirty="0">
                <a:latin typeface="+mn-lt"/>
              </a:rPr>
              <a:t>Current fiscal, monetary, and exchange rate policies (in part “tuned”):</a:t>
            </a: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+mn-lt"/>
              </a:rPr>
              <a:t>post-Covid consolidation and winding down of crisis-related spending since 2021/22 reinforced in 2023/24 Budget,</a:t>
            </a:r>
            <a:endParaRPr lang="en-US" sz="1600" dirty="0">
              <a:solidFill>
                <a:srgbClr val="FF0000"/>
              </a:solidFill>
              <a:latin typeface="+mn-lt"/>
            </a:endParaRPr>
          </a:p>
          <a:p>
            <a:pPr marL="800100" lvl="1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</a:rPr>
              <a:t>a further reduction in the deficit before grants to 10.8% of GDP in 2023/24, and to 9.7 % by 2025/26</a:t>
            </a:r>
          </a:p>
          <a:p>
            <a:pPr marL="800100" lvl="1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0000"/>
                </a:solidFill>
                <a:latin typeface="+mn-lt"/>
              </a:rPr>
              <a:t>fiscal deficit (excl. grants) assumed return to 8% level  for beyond PCI program (2025/26-2026/27)</a:t>
            </a: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</a:rPr>
              <a:t>maintenance of current level of policy interest rate (interbank rate) for 2023Q4 (8%)</a:t>
            </a: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</a:rPr>
              <a:t>somewhat faster exchange rate depreciation in 2023 (than 2022), </a:t>
            </a:r>
            <a:r>
              <a:rPr lang="en-US" sz="1600" dirty="0">
                <a:latin typeface="+mn-lt"/>
              </a:rPr>
              <a:t>based on statements and the IMF PCI program targets </a:t>
            </a:r>
            <a:r>
              <a:rPr lang="en-US" sz="1200" dirty="0">
                <a:solidFill>
                  <a:srgbClr val="008013"/>
                </a:solidFill>
                <a:latin typeface="+mn-lt"/>
              </a:rPr>
              <a:t>(i.e., Q4 is </a:t>
            </a:r>
            <a:r>
              <a:rPr lang="en-US" sz="1200" b="0" i="0" dirty="0">
                <a:solidFill>
                  <a:srgbClr val="008013"/>
                </a:solidFill>
                <a:effectLst/>
                <a:latin typeface="+mn-lt"/>
              </a:rPr>
              <a:t>NBR = IMF program forecast --15% </a:t>
            </a:r>
            <a:r>
              <a:rPr lang="en-US" sz="1200" b="0" i="0" dirty="0" err="1">
                <a:solidFill>
                  <a:srgbClr val="008013"/>
                </a:solidFill>
                <a:effectLst/>
                <a:latin typeface="+mn-lt"/>
              </a:rPr>
              <a:t>eopER</a:t>
            </a:r>
            <a:r>
              <a:rPr lang="en-US" sz="1200" b="0" i="0" dirty="0">
                <a:solidFill>
                  <a:srgbClr val="008013"/>
                </a:solidFill>
                <a:effectLst/>
                <a:latin typeface="+mn-lt"/>
              </a:rPr>
              <a:t> </a:t>
            </a:r>
            <a:r>
              <a:rPr lang="en-US" sz="1200" b="0" i="0" dirty="0" err="1">
                <a:solidFill>
                  <a:srgbClr val="008013"/>
                </a:solidFill>
                <a:effectLst/>
                <a:latin typeface="+mn-lt"/>
              </a:rPr>
              <a:t>depr</a:t>
            </a:r>
            <a:r>
              <a:rPr lang="en-US" sz="1200" b="0" i="0" dirty="0">
                <a:solidFill>
                  <a:srgbClr val="008013"/>
                </a:solidFill>
                <a:effectLst/>
                <a:latin typeface="+mn-lt"/>
              </a:rPr>
              <a:t> in 2023, </a:t>
            </a:r>
            <a:r>
              <a:rPr lang="en-US" sz="1200" b="0" i="0" dirty="0" err="1">
                <a:solidFill>
                  <a:srgbClr val="008013"/>
                </a:solidFill>
                <a:effectLst/>
                <a:latin typeface="+mn-lt"/>
              </a:rPr>
              <a:t>quarterlized</a:t>
            </a:r>
            <a:r>
              <a:rPr lang="en-US" sz="1200" dirty="0">
                <a:solidFill>
                  <a:srgbClr val="008013"/>
                </a:solidFill>
                <a:latin typeface="+mn-lt"/>
              </a:rPr>
              <a:t> and </a:t>
            </a:r>
            <a:r>
              <a:rPr lang="en-US" sz="1200" b="0" i="0" dirty="0">
                <a:solidFill>
                  <a:srgbClr val="008013"/>
                </a:solidFill>
                <a:effectLst/>
                <a:latin typeface="+mn-lt"/>
              </a:rPr>
              <a:t>applied to Q3 p.a.)</a:t>
            </a:r>
            <a:endParaRPr lang="en-GB" sz="1200" dirty="0">
              <a:latin typeface="+mn-lt"/>
            </a:endParaRP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</a:rPr>
              <a:t>expected return to normal of agricultural harvests and domestic food prices and rep. shocks during 2023Q4-24Q1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AB190132-970F-21FA-781A-5CAC4F24F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944318"/>
              </p:ext>
            </p:extLst>
          </p:nvPr>
        </p:nvGraphicFramePr>
        <p:xfrm>
          <a:off x="457200" y="1371600"/>
          <a:ext cx="628015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280812" imgH="3784112" progId="Word.Document.12">
                  <p:embed/>
                </p:oleObj>
              </mc:Choice>
              <mc:Fallback>
                <p:oleObj name="Document" r:id="rId3" imgW="6280812" imgH="37841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1371600"/>
                        <a:ext cx="6280150" cy="403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E9AF90A-CB99-7998-3709-17616CCD0F5F}"/>
              </a:ext>
            </a:extLst>
          </p:cNvPr>
          <p:cNvSpPr txBox="1"/>
          <p:nvPr/>
        </p:nvSpPr>
        <p:spPr>
          <a:xfrm>
            <a:off x="533400" y="5334000"/>
            <a:ext cx="6203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The 2023/24 and 2024/25 Budget deficits and spending on G&amp;S have been tuned based on the semester breakdown of annual figures (because the projected quarterly breakdown is not available), hence quarters are the same within the semester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4275266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b="1" dirty="0"/>
              <a:t>III. Summary of macroeconomic forecast/outlook </a:t>
            </a:r>
            <a:r>
              <a:rPr lang="en-GB" sz="2000" b="1" dirty="0"/>
              <a:t>(2023Q3-2027Q4  </a:t>
            </a:r>
            <a:r>
              <a:rPr lang="en-GB" sz="2000" dirty="0">
                <a:solidFill>
                  <a:srgbClr val="FF0000"/>
                </a:solidFill>
              </a:rPr>
              <a:t>new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6519-51F5-5EFF-CB74-11E7C7EAA74B}"/>
              </a:ext>
            </a:extLst>
          </p:cNvPr>
          <p:cNvSpPr txBox="1"/>
          <p:nvPr/>
        </p:nvSpPr>
        <p:spPr>
          <a:xfrm>
            <a:off x="368808" y="3605123"/>
            <a:ext cx="5269992" cy="32778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i="1" dirty="0">
                <a:effectLst/>
                <a:latin typeface="+mn-lt"/>
                <a:ea typeface="Calibri" panose="020F0502020204030204" pitchFamily="34" charset="0"/>
              </a:rPr>
              <a:t>combination of modestly tight fiscal and monetary policies and still low RER in 2023 and early 2024 should help contain domestic demand and lower inflation</a:t>
            </a:r>
            <a:r>
              <a:rPr lang="en-GB" sz="1600" i="1" dirty="0">
                <a:effectLst/>
                <a:latin typeface="+mn-lt"/>
                <a:ea typeface="Calibri" panose="020F0502020204030204" pitchFamily="34" charset="0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  <a:ea typeface="Calibri" panose="020F0502020204030204" pitchFamily="34" charset="0"/>
              </a:rPr>
              <a:t> a</a:t>
            </a:r>
            <a:r>
              <a:rPr lang="en-GB" sz="1600" dirty="0">
                <a:effectLst/>
                <a:latin typeface="+mn-lt"/>
                <a:ea typeface="Calibri" panose="020F0502020204030204" pitchFamily="34" charset="0"/>
              </a:rPr>
              <a:t>s inflation abates to close to the 5% target from earlier 2024Q2</a:t>
            </a:r>
            <a:r>
              <a:rPr lang="en-GB" sz="1600" dirty="0">
                <a:latin typeface="+mn-lt"/>
                <a:ea typeface="Calibri" panose="020F0502020204030204" pitchFamily="34" charset="0"/>
              </a:rPr>
              <a:t>.</a:t>
            </a:r>
            <a:endParaRPr lang="en-GB" sz="1600" dirty="0">
              <a:effectLst/>
              <a:latin typeface="+mn-lt"/>
              <a:ea typeface="Calibri" panose="020F0502020204030204" pitchFamily="34" charset="0"/>
            </a:endParaRPr>
          </a:p>
          <a:p>
            <a:pPr marL="457200" lvl="2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 temporarily lower interest rates (IB) &amp; RIR and higher RER should raise GDP growth temporarily above its trend in 2024-25, and back to its trend </a:t>
            </a:r>
            <a:r>
              <a:rPr lang="en-GB" sz="1400" dirty="0">
                <a:latin typeface="+mn-lt"/>
                <a:ea typeface="Calibri" panose="020F0502020204030204" pitchFamily="34" charset="0"/>
              </a:rPr>
              <a:t>afterwards towards 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2027. </a:t>
            </a:r>
            <a:endParaRPr lang="en-GB" sz="20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72B94-CB25-7A89-96DA-FE0CF0D81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8" y="1276350"/>
            <a:ext cx="5269992" cy="2485390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D51F56B-BF85-D276-7FC1-D630B1DE0A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421011"/>
              </p:ext>
            </p:extLst>
          </p:nvPr>
        </p:nvGraphicFramePr>
        <p:xfrm>
          <a:off x="5791200" y="1295400"/>
          <a:ext cx="6197600" cy="2208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520349" imgH="2711108" progId="Word.Document.12">
                  <p:embed/>
                </p:oleObj>
              </mc:Choice>
              <mc:Fallback>
                <p:oleObj name="Document" r:id="rId4" imgW="6520349" imgH="27111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91200" y="1295400"/>
                        <a:ext cx="6197600" cy="2208106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D841451-1183-749F-28BA-2B7CCA64A6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716319"/>
              </p:ext>
            </p:extLst>
          </p:nvPr>
        </p:nvGraphicFramePr>
        <p:xfrm>
          <a:off x="5892800" y="4095751"/>
          <a:ext cx="6096000" cy="2381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6527542" imgH="2797437" progId="Word.Document.12">
                  <p:embed/>
                </p:oleObj>
              </mc:Choice>
              <mc:Fallback>
                <p:oleObj name="Document" r:id="rId6" imgW="6527542" imgH="27974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92800" y="4095751"/>
                        <a:ext cx="6096000" cy="2381249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31D918C-614D-81D5-4160-172E552A9F57}"/>
              </a:ext>
            </a:extLst>
          </p:cNvPr>
          <p:cNvSpPr txBox="1"/>
          <p:nvPr/>
        </p:nvSpPr>
        <p:spPr>
          <a:xfrm>
            <a:off x="5810250" y="3589883"/>
            <a:ext cx="619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The temporary above-trend growth for two years from mid-2024 is mostly driven by private consumption and return to normal of government demand</a:t>
            </a:r>
            <a:endParaRPr lang="en-RW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6540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b="1" dirty="0"/>
              <a:t>III. Macroeconomic forecast narrative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6519-51F5-5EFF-CB74-11E7C7EAA74B}"/>
              </a:ext>
            </a:extLst>
          </p:cNvPr>
          <p:cNvSpPr txBox="1"/>
          <p:nvPr/>
        </p:nvSpPr>
        <p:spPr>
          <a:xfrm>
            <a:off x="304800" y="1828800"/>
            <a:ext cx="11684000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Macroeconomic aggregates and their key components and drivers: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Output growth and cyclical position</a:t>
            </a:r>
            <a:endParaRPr lang="en-GB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Private demand and cyclical position</a:t>
            </a:r>
            <a:endParaRPr lang="en-GB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Government demand and deficit, structural, cyclical and discretionary components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Inflation and components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Nominal and real interest rates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Nominal and real ex</a:t>
            </a:r>
            <a:r>
              <a:rPr lang="en-GB" sz="2400" dirty="0"/>
              <a:t>change</a:t>
            </a:r>
            <a:r>
              <a:rPr lang="en-GB" dirty="0"/>
              <a:t> rates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52405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5B51-9F35-563B-B454-D804ED60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3531"/>
            <a:ext cx="10261600" cy="684669"/>
          </a:xfrm>
        </p:spPr>
        <p:txBody>
          <a:bodyPr/>
          <a:lstStyle/>
          <a:p>
            <a:r>
              <a:rPr lang="en-GB" b="1" dirty="0"/>
              <a:t>Forecast—Output and cyclical position </a:t>
            </a:r>
            <a:r>
              <a:rPr lang="en-GB" dirty="0"/>
              <a:t>(GDP growth)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60EEB-4D2C-ABC6-3CBF-810371A48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B21F50-4750-8FFC-95EB-0C9188E69407}"/>
              </a:ext>
            </a:extLst>
          </p:cNvPr>
          <p:cNvSpPr txBox="1">
            <a:spLocks/>
          </p:cNvSpPr>
          <p:nvPr/>
        </p:nvSpPr>
        <p:spPr>
          <a:xfrm>
            <a:off x="228600" y="3733800"/>
            <a:ext cx="6502400" cy="2793085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33087-66B3-FFF7-5052-3B4AA24BC5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743200"/>
            <a:ext cx="5029200" cy="37071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FE48E0A-A899-A2C3-F6C6-4EB4B1EF7D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95126"/>
              </p:ext>
            </p:extLst>
          </p:nvPr>
        </p:nvGraphicFramePr>
        <p:xfrm>
          <a:off x="228600" y="1295400"/>
          <a:ext cx="6502400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361737" imgH="2237734" progId="Word.Document.12">
                  <p:embed/>
                </p:oleObj>
              </mc:Choice>
              <mc:Fallback>
                <p:oleObj name="Document" r:id="rId4" imgW="6361737" imgH="2237734" progId="Word.Documen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A7E0DB89-6259-9BBC-A563-2A5A1D9828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600" y="1295400"/>
                        <a:ext cx="6502400" cy="2238375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C4E6DE7-A98B-B707-E9A7-BECAB9107B38}"/>
              </a:ext>
            </a:extLst>
          </p:cNvPr>
          <p:cNvSpPr txBox="1"/>
          <p:nvPr/>
        </p:nvSpPr>
        <p:spPr>
          <a:xfrm>
            <a:off x="6858000" y="1295400"/>
            <a:ext cx="5029200" cy="138499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The growth of the final demand components of GDP are shown in </a:t>
            </a:r>
            <a:r>
              <a:rPr lang="en-GB" sz="14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</a:rPr>
              <a:t>Table 6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,</a:t>
            </a:r>
          </a:p>
          <a:p>
            <a:r>
              <a:rPr lang="en-GB" sz="1400" dirty="0">
                <a:latin typeface="+mn-lt"/>
                <a:ea typeface="Calibri" panose="020F0502020204030204" pitchFamily="34" charset="0"/>
              </a:rPr>
              <a:t>---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highlighting the relatively sharp fluctuations in the post-Covid period—especially in investment, </a:t>
            </a:r>
          </a:p>
          <a:p>
            <a:r>
              <a:rPr lang="en-GB" sz="1400" dirty="0">
                <a:latin typeface="+mn-lt"/>
                <a:ea typeface="Calibri" panose="020F0502020204030204" pitchFamily="34" charset="0"/>
              </a:rPr>
              <a:t>---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by mid-2025 all final demands (except Govt demand) are converging to their steady state growth rates</a:t>
            </a:r>
            <a:endParaRPr lang="en-RW" sz="18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CDB91-4745-EE53-F35F-FDAD6B7A982C}"/>
              </a:ext>
            </a:extLst>
          </p:cNvPr>
          <p:cNvSpPr txBox="1"/>
          <p:nvPr/>
        </p:nvSpPr>
        <p:spPr>
          <a:xfrm>
            <a:off x="203200" y="3657600"/>
            <a:ext cx="6527800" cy="2956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2022-24 sluggish growth, driven by: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--consumption recovery from Covid interrupted by Ukraine-war and inflation surge and restrictive policy response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--post-Covid fiscal consolidation with negative fiscal impulse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2024-26 growth above trend, driven by: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--less restrictive fiscal policies as deficit gradually back to (higher) sustainable level and govt demand for G&amp;S back to normal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--exports helped by high RER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2027, back to trend growth of 7.5%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--there is no indication that Covid has permanently reduced </a:t>
            </a:r>
            <a:r>
              <a:rPr lang="en-GB" sz="1600" dirty="0" err="1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poterntial</a:t>
            </a:r>
            <a:r>
              <a:rPr lang="en-GB" sz="16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output and its growth</a:t>
            </a: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900768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058400" cy="762000"/>
          </a:xfrm>
        </p:spPr>
        <p:txBody>
          <a:bodyPr/>
          <a:lstStyle/>
          <a:p>
            <a:r>
              <a:rPr lang="en-GB" b="1" dirty="0"/>
              <a:t>Forecast—cyclical total demand driving GDP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E53A78-6149-73BC-44A9-99D9F5188F33}"/>
              </a:ext>
            </a:extLst>
          </p:cNvPr>
          <p:cNvSpPr txBox="1">
            <a:spLocks/>
          </p:cNvSpPr>
          <p:nvPr/>
        </p:nvSpPr>
        <p:spPr>
          <a:xfrm>
            <a:off x="289560" y="3733800"/>
            <a:ext cx="6361112" cy="2370138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Output-below-potential (negative gap) and its components</a:t>
            </a:r>
          </a:p>
          <a:p>
            <a:pPr marL="0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1600" b="1" dirty="0">
                <a:solidFill>
                  <a:srgbClr val="2F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Negative output gap declines gradually:</a:t>
            </a:r>
            <a:endParaRPr lang="en-RW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14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--lessening down pull from consumption which goes back to normal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14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--large initial down pull from reduction in real government spending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14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--but gradually disappearing from mid-2024 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14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--exports helped by increasing REER 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30E72-497C-AE6F-5585-325F5D20F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609" y="1363662"/>
            <a:ext cx="5050971" cy="474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6BE4F4-E2EE-53F9-3208-4B39F8E01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797" y="1223169"/>
            <a:ext cx="3401875" cy="2324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1B033B-F303-BBE2-E42F-5D6CF7E2AECC}"/>
              </a:ext>
            </a:extLst>
          </p:cNvPr>
          <p:cNvSpPr txBox="1"/>
          <p:nvPr/>
        </p:nvSpPr>
        <p:spPr>
          <a:xfrm>
            <a:off x="312420" y="1219200"/>
            <a:ext cx="2758440" cy="169277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+mn-lt"/>
              </a:rPr>
              <a:t>--output gap closing in as output (level) approaching its trend.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+mn-lt"/>
              </a:rPr>
              <a:t>--output moves around  zero trend when its level catches trend</a:t>
            </a:r>
          </a:p>
          <a:p>
            <a:r>
              <a:rPr lang="en-US" sz="2000" dirty="0"/>
              <a:t>  </a:t>
            </a: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1781778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b="1" dirty="0"/>
              <a:t>Private consumption and cyclical position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562600" y="4918922"/>
            <a:ext cx="6518910" cy="16002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gap: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F5496"/>
                </a:solidFill>
                <a:cs typeface="Times New Roman" panose="02020603050405020304" pitchFamily="18" charset="0"/>
              </a:rPr>
              <a:t>--estimated  to recover from recent low levels but remains restrained in 2024      </a:t>
            </a:r>
          </a:p>
          <a:p>
            <a:pPr marL="27463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F5496"/>
                </a:solidFill>
                <a:cs typeface="Times New Roman" panose="02020603050405020304" pitchFamily="18" charset="0"/>
              </a:rPr>
              <a:t>---by low GDP growth and negative fiscal impulse in 2023-24.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F5496"/>
                </a:solidFill>
                <a:cs typeface="Times New Roman" panose="02020603050405020304" pitchFamily="18" charset="0"/>
              </a:rPr>
              <a:t>---returns to trend growth late in 2026 when fiscal and monetary policy becomes less restrictive. </a:t>
            </a:r>
            <a:endParaRPr lang="en-AE" sz="1600" dirty="0">
              <a:solidFill>
                <a:srgbClr val="2F549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DA25-5C9F-F1F8-8B9C-3CE84D7513B0}"/>
              </a:ext>
            </a:extLst>
          </p:cNvPr>
          <p:cNvSpPr txBox="1"/>
          <p:nvPr/>
        </p:nvSpPr>
        <p:spPr>
          <a:xfrm rot="10800000" flipV="1">
            <a:off x="609600" y="4921005"/>
            <a:ext cx="4419600" cy="137358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back to trend, drivers: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--persistence, lagged effect</a:t>
            </a:r>
            <a:endParaRPr lang="en-RW" sz="16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--expectations</a:t>
            </a:r>
            <a:endParaRPr lang="en-RW" sz="16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--income, proxied by real GDP</a:t>
            </a:r>
            <a:endParaRPr lang="en-RW" sz="16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</a:rPr>
              <a:t>--negative fiscal impulse</a:t>
            </a:r>
            <a:endParaRPr lang="en-US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4ECB2-07F6-60CD-DC4B-AD14555190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19200"/>
            <a:ext cx="5740581" cy="352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7599E0-43B9-8A97-9961-3FB3ADED8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42567"/>
            <a:ext cx="4419600" cy="339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37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sz="2400" b="1" dirty="0"/>
              <a:t>Private investment, exports &amp; imports and cyclical position </a:t>
            </a:r>
            <a:r>
              <a:rPr lang="en-GB" sz="2400" dirty="0">
                <a:solidFill>
                  <a:srgbClr val="FF0000"/>
                </a:solidFill>
              </a:rPr>
              <a:t>new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AE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BADC8-8422-27C0-9760-793C3E801D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35347"/>
            <a:ext cx="3810000" cy="302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3A081A-9059-307A-69E0-E70705811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1" y="1235347"/>
            <a:ext cx="3886199" cy="30318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FC1168-07DA-C4EC-42DD-0BEB388C2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1" y="1321526"/>
            <a:ext cx="3505199" cy="294567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66F8FF-5F2D-9443-4B75-9B5C17AD66D2}"/>
              </a:ext>
            </a:extLst>
          </p:cNvPr>
          <p:cNvSpPr txBox="1"/>
          <p:nvPr/>
        </p:nvSpPr>
        <p:spPr>
          <a:xfrm>
            <a:off x="381000" y="4495800"/>
            <a:ext cx="3810000" cy="206210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investment returns to trend level and growth path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u="sng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Main drivers</a:t>
            </a:r>
            <a:r>
              <a:rPr lang="en-US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 persistence (lag)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--expectations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--real interest rate (RIR) effect is very small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7030A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--RER has no effect (zero wight in monetary conditions index)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--small income, effect (proxied by real GDP)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--fiscal impulse has very small effect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A50828-7363-40A9-6EE3-EAB01E9C5945}"/>
              </a:ext>
            </a:extLst>
          </p:cNvPr>
          <p:cNvSpPr txBox="1"/>
          <p:nvPr/>
        </p:nvSpPr>
        <p:spPr>
          <a:xfrm>
            <a:off x="4343400" y="4495800"/>
            <a:ext cx="3886199" cy="208666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Exports return to trend level and growth path:</a:t>
            </a:r>
            <a:endParaRPr lang="en-RW" sz="1800" b="1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--persistence (lag)</a:t>
            </a:r>
            <a:endParaRPr lang="en-RW" sz="1400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400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--foreign demand (mainly relevant for tourism, albeit with small coefficient)</a:t>
            </a:r>
            <a:endParaRPr lang="en-RW" sz="1400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--down pull from RER overvaluation disappears</a:t>
            </a:r>
            <a:endParaRPr lang="en-RW" sz="1400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E41C08-EE54-A31E-786F-9D35C38BF9DE}"/>
              </a:ext>
            </a:extLst>
          </p:cNvPr>
          <p:cNvSpPr txBox="1"/>
          <p:nvPr/>
        </p:nvSpPr>
        <p:spPr>
          <a:xfrm>
            <a:off x="8409213" y="4493143"/>
            <a:ext cx="3505199" cy="196355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demand (for goods and services) returns to trend level and growth path:</a:t>
            </a:r>
            <a:endParaRPr lang="en-RW" sz="1600" b="1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--final demand components, esp. consumption, govt demand, investment</a:t>
            </a:r>
            <a:endParaRPr lang="en-RW" sz="1200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--RER effect reverses to negative as real depreciation (lower overvaluation) reduces imports</a:t>
            </a:r>
            <a:endParaRPr lang="en-RW" sz="1200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340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r>
              <a:rPr lang="en-GB" b="1" dirty="0"/>
              <a:t>Fiscal stance (i): govt demand for G&amp;S affects output directly</a:t>
            </a:r>
            <a:endParaRPr lang="en-AE" sz="20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156274" y="3990969"/>
            <a:ext cx="6244526" cy="2502261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Government demand for G&amp;S </a:t>
            </a:r>
            <a:r>
              <a:rPr lang="en-GB" sz="1600" i="1" dirty="0"/>
              <a:t>(direct) </a:t>
            </a:r>
            <a:r>
              <a:rPr lang="en-GB" sz="1600" dirty="0"/>
              <a:t>(</a:t>
            </a:r>
            <a:r>
              <a:rPr lang="en-GB" sz="1600" u="sng" dirty="0"/>
              <a:t>+</a:t>
            </a:r>
            <a:r>
              <a:rPr lang="en-GB" sz="1600" dirty="0"/>
              <a:t> 23% of GDP):</a:t>
            </a:r>
          </a:p>
          <a:p>
            <a:pPr marL="0" indent="0" algn="just">
              <a:buNone/>
            </a:pPr>
            <a:r>
              <a:rPr lang="en-GB" sz="1400" dirty="0">
                <a:effectLst/>
                <a:ea typeface="Calibri" panose="020F0502020204030204" pitchFamily="34" charset="0"/>
              </a:rPr>
              <a:t>---current fiscal program envisages a reduction in the deficit (consolidation) to 10.8% of GDP in 2023/24 and to 9.7% in 2024/25, </a:t>
            </a:r>
          </a:p>
          <a:p>
            <a:pPr marL="274638" lvl="1" indent="0" algn="just">
              <a:buNone/>
            </a:pPr>
            <a:r>
              <a:rPr lang="en-GB" sz="1400" dirty="0">
                <a:ea typeface="Calibri" panose="020F0502020204030204" pitchFamily="34" charset="0"/>
              </a:rPr>
              <a:t> </a:t>
            </a:r>
            <a:r>
              <a:rPr lang="en-GB" sz="1200" dirty="0">
                <a:ea typeface="Calibri" panose="020F0502020204030204" pitchFamily="34" charset="0"/>
              </a:rPr>
              <a:t>---</a:t>
            </a:r>
            <a:r>
              <a:rPr lang="en-GB" sz="1200" dirty="0">
                <a:effectLst/>
                <a:ea typeface="Calibri" panose="020F0502020204030204" pitchFamily="34" charset="0"/>
              </a:rPr>
              <a:t>well below that in Covid and immediate post-Covid years (averaging 14% of GDP in 2019/20-2021/22).</a:t>
            </a:r>
          </a:p>
          <a:p>
            <a:pPr marL="0" indent="0" algn="just">
              <a:buNone/>
            </a:pPr>
            <a:r>
              <a:rPr lang="en-GB" sz="1400" dirty="0">
                <a:ea typeface="Calibri" panose="020F0502020204030204" pitchFamily="34" charset="0"/>
              </a:rPr>
              <a:t>--c</a:t>
            </a:r>
            <a:r>
              <a:rPr lang="en-GB" sz="1400" dirty="0">
                <a:effectLst/>
                <a:ea typeface="Calibri" panose="020F0502020204030204" pitchFamily="34" charset="0"/>
              </a:rPr>
              <a:t>onsolidation achieved mainly via the ending of discretionary, crisis-related spending and cuts in investment,</a:t>
            </a:r>
          </a:p>
          <a:p>
            <a:pPr marL="274638" lvl="1" indent="0" algn="just">
              <a:buNone/>
            </a:pPr>
            <a:r>
              <a:rPr lang="en-GB" sz="1200" dirty="0">
                <a:effectLst/>
                <a:ea typeface="Calibri" panose="020F0502020204030204" pitchFamily="34" charset="0"/>
              </a:rPr>
              <a:t> ---translate in a significant reduction in real government demand for G&amp;S, lowering aggregate demand and helping contain inflation.</a:t>
            </a:r>
          </a:p>
          <a:p>
            <a:pPr marL="0" indent="0" algn="just">
              <a:buNone/>
            </a:pPr>
            <a:r>
              <a:rPr lang="en-GB" sz="1200" dirty="0"/>
              <a:t>---large negative effect on demand—consumption &amp; imports is estimated to last till early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156274" y="1153057"/>
            <a:ext cx="11654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4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Fiscal policies (“fiscal stance”) affect output in the short-run via several channels captured in the model: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D93EFC-47FC-E595-3B4D-5FF3CB56A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664970"/>
            <a:ext cx="3505200" cy="22536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2C7DB9-E208-7CB6-789B-0E2128FD09A6}"/>
              </a:ext>
            </a:extLst>
          </p:cNvPr>
          <p:cNvSpPr txBox="1"/>
          <p:nvPr/>
        </p:nvSpPr>
        <p:spPr>
          <a:xfrm>
            <a:off x="308674" y="1701694"/>
            <a:ext cx="2434526" cy="15370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+mn-lt"/>
              </a:rPr>
              <a:t>--</a:t>
            </a:r>
            <a:r>
              <a:rPr lang="en-US" sz="1200" dirty="0">
                <a:latin typeface="+mn-lt"/>
              </a:rPr>
              <a:t>Govt. demand, % GDP level is below its structural trend 2023Q2-2027—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--Implies a negative gap and a fiscal consolidation post 2023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4B9E96-2ED8-FAA1-29D5-CA2CE6073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701694"/>
            <a:ext cx="5257799" cy="447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11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28600"/>
            <a:ext cx="10668000" cy="750514"/>
          </a:xfrm>
        </p:spPr>
        <p:txBody>
          <a:bodyPr/>
          <a:lstStyle/>
          <a:p>
            <a:r>
              <a:rPr lang="en-GB" b="1" dirty="0"/>
              <a:t>  Fiscal stance (ii): fiscal impulse affects output </a:t>
            </a:r>
            <a:r>
              <a:rPr lang="en-GB" sz="2400" b="1" dirty="0"/>
              <a:t>via private demand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381001" y="3872774"/>
            <a:ext cx="5867400" cy="260422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iscal stance total effect on output</a:t>
            </a:r>
            <a:r>
              <a:rPr lang="en-GB" sz="1600" b="1" dirty="0">
                <a:solidFill>
                  <a:schemeClr val="accent1"/>
                </a:solidFill>
              </a:rPr>
              <a:t> </a:t>
            </a:r>
            <a:r>
              <a:rPr lang="en-GB" sz="1600" i="1" dirty="0"/>
              <a:t>(direct &amp; indirect):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>
                <a:effectLst/>
                <a:ea typeface="Calibri" panose="020F0502020204030204" pitchFamily="34" charset="0"/>
              </a:rPr>
              <a:t>combination of lower government demand and a negative fiscal impulse </a:t>
            </a:r>
            <a:endParaRPr lang="en-GB" sz="1800" dirty="0">
              <a:ea typeface="Calibri" panose="020F0502020204030204" pitchFamily="34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ea typeface="Calibri" panose="020F0502020204030204" pitchFamily="34" charset="0"/>
              </a:rPr>
              <a:t>Estimated to have </a:t>
            </a:r>
            <a:r>
              <a:rPr lang="en-GB" sz="1400" dirty="0">
                <a:solidFill>
                  <a:srgbClr val="FF0000"/>
                </a:solidFill>
                <a:effectLst/>
                <a:ea typeface="Calibri" panose="020F0502020204030204" pitchFamily="34" charset="0"/>
              </a:rPr>
              <a:t>an important (desirable?) </a:t>
            </a:r>
            <a:r>
              <a:rPr lang="en-GB" sz="1400" dirty="0">
                <a:effectLst/>
                <a:ea typeface="Calibri" panose="020F0502020204030204" pitchFamily="34" charset="0"/>
              </a:rPr>
              <a:t>negative effect on output during 2023/24-2025/26 </a:t>
            </a:r>
            <a:endParaRPr lang="en-GB" sz="12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average negative discretionary deficit of 1½% of GDP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estimated </a:t>
            </a:r>
            <a:r>
              <a:rPr lang="en-GB" sz="1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 se 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lower real GDP by some 1.2%, mainly from lower government for G&amp;S </a:t>
            </a:r>
            <a:r>
              <a:rPr lang="en-GB" sz="1400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(0.66?) 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 the remainder </a:t>
            </a:r>
            <a:r>
              <a:rPr lang="en-GB" sz="1400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(0.5?) 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 lower private demand.</a:t>
            </a:r>
            <a:endParaRPr lang="en-RW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A8341-0CDE-1B55-F22E-BA82C40D4258}"/>
              </a:ext>
            </a:extLst>
          </p:cNvPr>
          <p:cNvSpPr txBox="1"/>
          <p:nvPr/>
        </p:nvSpPr>
        <p:spPr>
          <a:xfrm>
            <a:off x="6781800" y="4581971"/>
            <a:ext cx="4724400" cy="141577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Fiscal stance total effect on output </a:t>
            </a:r>
            <a:r>
              <a:rPr lang="en-US" sz="1600" i="1" dirty="0">
                <a:latin typeface="+mn-lt"/>
              </a:rPr>
              <a:t>(indirect)</a:t>
            </a:r>
          </a:p>
          <a:p>
            <a:r>
              <a:rPr lang="en-GB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“fiscal impulse”—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deficit </a:t>
            </a:r>
            <a:r>
              <a:rPr lang="en-GB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affecting private demand and hence output </a:t>
            </a:r>
            <a:r>
              <a:rPr lang="en-GB" sz="1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indirectly</a:t>
            </a:r>
            <a:r>
              <a:rPr lang="en-GB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</a:p>
          <a:p>
            <a:r>
              <a:rPr lang="en-GB" sz="12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</a:rPr>
              <a:t>---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positive on average in 2020-22, </a:t>
            </a:r>
          </a:p>
          <a:p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---turns negative from late 2022 onward </a:t>
            </a:r>
            <a:endParaRPr lang="en-GB" sz="1200" dirty="0">
              <a:latin typeface="+mn-lt"/>
              <a:ea typeface="Calibri" panose="020F0502020204030204" pitchFamily="34" charset="0"/>
            </a:endParaRPr>
          </a:p>
          <a:p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---remains so for several years before fading out by 2027</a:t>
            </a:r>
            <a:endParaRPr lang="en-RW" sz="1600" dirty="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0E7634-C4F1-798E-919D-FA326A85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2" y="1295400"/>
            <a:ext cx="4312920" cy="3200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82FE92-6EF8-8455-B340-37D8B1FFE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295400"/>
            <a:ext cx="44958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3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04800"/>
            <a:ext cx="10744200" cy="609600"/>
          </a:xfrm>
        </p:spPr>
        <p:txBody>
          <a:bodyPr/>
          <a:lstStyle/>
          <a:p>
            <a:r>
              <a:rPr lang="en-GB" b="1" dirty="0"/>
              <a:t>Fiscal stance: </a:t>
            </a:r>
            <a:r>
              <a:rPr lang="en-GB" dirty="0"/>
              <a:t>govt demand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‘</a:t>
            </a:r>
            <a:r>
              <a:rPr lang="en-GB" dirty="0"/>
              <a:t>fiscal impulse’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</a:t>
            </a:r>
            <a:r>
              <a:rPr lang="en-GB" sz="2400" dirty="0"/>
              <a:t>estimated effect on output</a:t>
            </a:r>
            <a:br>
              <a:rPr lang="en-GB" sz="2400" dirty="0"/>
            </a:br>
            <a:r>
              <a:rPr lang="en-GB" sz="2000" dirty="0">
                <a:solidFill>
                  <a:srgbClr val="FF0000"/>
                </a:solidFill>
              </a:rPr>
              <a:t>do we still need this? Discussed in the above slide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D4CEA-2ADC-E661-DA3B-389EDBD6B758}"/>
              </a:ext>
            </a:extLst>
          </p:cNvPr>
          <p:cNvSpPr txBox="1"/>
          <p:nvPr/>
        </p:nvSpPr>
        <p:spPr>
          <a:xfrm>
            <a:off x="7086600" y="1295400"/>
            <a:ext cx="4419600" cy="5138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chemeClr val="accent1"/>
                </a:solidFill>
              </a:rPr>
              <a:t>Combined effect: offsetting output gap during Covid, reverse impact due to ongoing tightening thereafter</a:t>
            </a:r>
            <a:endParaRPr lang="en-GB" sz="18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discretionary govt demand (G&amp;S) affects output </a:t>
            </a:r>
            <a:r>
              <a:rPr lang="en-GB" sz="1600" i="1" dirty="0"/>
              <a:t>directly</a:t>
            </a:r>
            <a:r>
              <a:rPr lang="en-GB" sz="1600" dirty="0"/>
              <a:t> (after imports)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during COVID, govt demand of 2 % of GDP on average increased output by almost 1.5 % of GDP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‘fiscal impulse’ in % of GDP” affected output </a:t>
            </a:r>
            <a:r>
              <a:rPr lang="en-GB" sz="1600" i="1" dirty="0"/>
              <a:t>indirectly </a:t>
            </a:r>
            <a:r>
              <a:rPr lang="en-GB" sz="1600" dirty="0"/>
              <a:t>via private demand by almost ½ % of GDP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reverse impact is expected from the fiscal tightening under PCI from 2022/23 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D889D-2CE6-66FE-448F-2D61AE205F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6451600" cy="49638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6969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81000"/>
            <a:ext cx="10591800" cy="609600"/>
          </a:xfrm>
        </p:spPr>
        <p:txBody>
          <a:bodyPr/>
          <a:lstStyle/>
          <a:p>
            <a:r>
              <a:rPr lang="en-GB" sz="2400" b="1" dirty="0"/>
              <a:t>Fiscal stance: deficit and its components </a:t>
            </a:r>
            <a:r>
              <a:rPr lang="en-GB" sz="2000" dirty="0"/>
              <a:t>(revenue,  spending) &amp; model decompositions (structural, discretional &amp; cyclical) 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FF08F-8A35-9763-9C22-CE8AAC6E4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17" y="1230629"/>
            <a:ext cx="31242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9B0D37-7B64-4005-540D-EA41278FC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385" y="1295400"/>
            <a:ext cx="2971800" cy="26022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B94BFA-AEA7-E15F-7BE9-C3779C044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134" y="1371600"/>
            <a:ext cx="3048000" cy="25260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584A55-7457-1385-0B36-42E61E3E83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7615" y="1295400"/>
            <a:ext cx="2362200" cy="19005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6C5D83-496E-B2D7-0292-2EEC3D98C304}"/>
              </a:ext>
            </a:extLst>
          </p:cNvPr>
          <p:cNvSpPr txBox="1"/>
          <p:nvPr/>
        </p:nvSpPr>
        <p:spPr>
          <a:xfrm>
            <a:off x="182618" y="4191000"/>
            <a:ext cx="5567198" cy="236988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lower deficit </a:t>
            </a:r>
            <a:r>
              <a:rPr lang="en-GB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2023/24-2024/25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(</a:t>
            </a:r>
            <a:r>
              <a:rPr lang="en-GB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tuned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10.8% &amp; 9.7% of GDP in 2025/26, down from 12% for 2022/23 </a:t>
            </a:r>
            <a:r>
              <a:rPr lang="en-GB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inline 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fiscal consolidation in the IMF PCI program</a:t>
            </a:r>
          </a:p>
          <a:p>
            <a:pPr lvl="1">
              <a:spcAft>
                <a:spcPts val="0"/>
              </a:spcAft>
            </a:pPr>
            <a:r>
              <a:rPr lang="en-GB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show a sharp reduction in deficit (before grants) and spending on G&amp;S, as discretionary spending is reversed from Covid-years.</a:t>
            </a:r>
          </a:p>
          <a:p>
            <a:pPr>
              <a:spcAft>
                <a:spcPts val="0"/>
              </a:spcAft>
            </a:pP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---</a:t>
            </a:r>
            <a:r>
              <a:rPr lang="en-GB" sz="1400" b="1" dirty="0">
                <a:latin typeface="Times New Roman" panose="02020603050405020304" pitchFamily="18" charset="0"/>
                <a:ea typeface="Calibri" panose="020F0502020204030204" pitchFamily="34" charset="0"/>
              </a:rPr>
              <a:t>post </a:t>
            </a:r>
            <a:r>
              <a:rPr lang="en-GB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tuned PCI-program (2025/26 onward);</a:t>
            </a:r>
          </a:p>
          <a:p>
            <a:pPr lvl="1"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---fiscal deficit to converge to a sustainable deficit (before grants) of 8%  and </a:t>
            </a:r>
          </a:p>
          <a:p>
            <a:pPr lvl="1"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--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constituent parts (revenue, spending,…) are forecast to gradually move to their structural levels</a:t>
            </a:r>
          </a:p>
          <a:p>
            <a:pPr lvl="1">
              <a:spcAft>
                <a:spcPts val="0"/>
              </a:spcAft>
            </a:pP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GB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Thus the QMFM does not follow the post-PCI fiscal projection, which much overshoots Rwanda’s debt/GDP anchor, as stated in the PCI. Instead, the QMFM fiscal path is consistent with the PCI debt/GDP anchor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D980F-D41E-E30B-723D-7481BB8DE8AF}"/>
              </a:ext>
            </a:extLst>
          </p:cNvPr>
          <p:cNvSpPr txBox="1"/>
          <p:nvPr/>
        </p:nvSpPr>
        <p:spPr>
          <a:xfrm>
            <a:off x="6096000" y="4267200"/>
            <a:ext cx="5867400" cy="261610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+mn-lt"/>
              </a:rPr>
              <a:t>Budget deficit, % GDP decomposed into </a:t>
            </a:r>
            <a:r>
              <a:rPr lang="en-US" sz="2000" dirty="0">
                <a:latin typeface="+mn-lt"/>
              </a:rPr>
              <a:t>structural, discretional and cyclical deficits</a:t>
            </a:r>
          </a:p>
          <a:p>
            <a:r>
              <a:rPr lang="en-US" sz="2000" dirty="0">
                <a:latin typeface="+mn-lt"/>
              </a:rPr>
              <a:t>--structural deficit evolving at 11 % average </a:t>
            </a:r>
          </a:p>
          <a:p>
            <a:pPr lvl="1"/>
            <a:r>
              <a:rPr lang="en-US" sz="1600" dirty="0">
                <a:latin typeface="+mn-lt"/>
              </a:rPr>
              <a:t>--volatility in deficit mostly dominated by discretional deficit( Govt. demand for G&amp;S and other expenditure (</a:t>
            </a:r>
            <a:r>
              <a:rPr lang="en-US" sz="1600" dirty="0" err="1">
                <a:latin typeface="+mn-lt"/>
              </a:rPr>
              <a:t>tranfers</a:t>
            </a:r>
            <a:r>
              <a:rPr lang="en-US" sz="1600" dirty="0">
                <a:latin typeface="+mn-lt"/>
              </a:rPr>
              <a:t>, </a:t>
            </a:r>
            <a:r>
              <a:rPr lang="en-US" sz="1600" dirty="0" err="1">
                <a:latin typeface="+mn-lt"/>
              </a:rPr>
              <a:t>subsdies</a:t>
            </a:r>
            <a:r>
              <a:rPr lang="en-US" sz="1600" dirty="0">
                <a:latin typeface="+mn-lt"/>
              </a:rPr>
              <a:t> and net lending)</a:t>
            </a:r>
          </a:p>
          <a:p>
            <a:pPr lvl="1"/>
            <a:r>
              <a:rPr lang="en-US" sz="1600" dirty="0">
                <a:latin typeface="+mn-lt"/>
              </a:rPr>
              <a:t>--reduction in deficit driven by a fall in discretional spending </a:t>
            </a:r>
            <a:r>
              <a:rPr lang="en-US" sz="1600">
                <a:latin typeface="+mn-lt"/>
              </a:rPr>
              <a:t>for post 2023</a:t>
            </a:r>
            <a:endParaRPr lang="en-US" sz="1600" dirty="0">
              <a:latin typeface="+mn-lt"/>
            </a:endParaRPr>
          </a:p>
          <a:p>
            <a:pPr lvl="1"/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880655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04800"/>
            <a:ext cx="10820400" cy="609600"/>
          </a:xfrm>
        </p:spPr>
        <p:txBody>
          <a:bodyPr/>
          <a:lstStyle/>
          <a:p>
            <a:r>
              <a:rPr lang="en-GB" sz="2400" b="1" dirty="0"/>
              <a:t>Fiscal stance: deficit and its components </a:t>
            </a:r>
            <a:r>
              <a:rPr lang="en-GB" sz="2000" dirty="0"/>
              <a:t>(discretionary, cyclical, structural)</a:t>
            </a:r>
            <a:endParaRPr lang="en-AE" sz="20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D4CEA-2ADC-E661-DA3B-389EDBD6B758}"/>
              </a:ext>
            </a:extLst>
          </p:cNvPr>
          <p:cNvSpPr txBox="1"/>
          <p:nvPr/>
        </p:nvSpPr>
        <p:spPr>
          <a:xfrm>
            <a:off x="203199" y="1543110"/>
            <a:ext cx="5623731" cy="78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reductions in discretionary (demand G&amp;S, other..) spending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losses in (non-tax), revenue, are gradually being offset </a:t>
            </a:r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05036-6D7E-A32A-15CB-82518DCD289F}"/>
              </a:ext>
            </a:extLst>
          </p:cNvPr>
          <p:cNvSpPr txBox="1"/>
          <p:nvPr/>
        </p:nvSpPr>
        <p:spPr>
          <a:xfrm>
            <a:off x="76200" y="1143000"/>
            <a:ext cx="1203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20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Deficit discretionary &amp; cyclical components forecast (w. near-term program), phasing out gradually </a:t>
            </a:r>
            <a:endParaRPr lang="en-GB" sz="2000" i="1" dirty="0">
              <a:latin typeface="Gill Sans MT" panose="020B05020201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267FD6-822B-4717-981E-AA043E001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99" y="2417132"/>
            <a:ext cx="5511801" cy="45062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AC221-FB52-5041-C4C5-7C7652409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889" y="1524000"/>
            <a:ext cx="5623731" cy="457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84EF88-3A08-DE80-8057-BE1893902D41}"/>
              </a:ext>
            </a:extLst>
          </p:cNvPr>
          <p:cNvSpPr txBox="1"/>
          <p:nvPr/>
        </p:nvSpPr>
        <p:spPr>
          <a:xfrm>
            <a:off x="6248400" y="6094677"/>
            <a:ext cx="5943600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Cyclical deficit components phase out as output gap goes to zero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432285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88DC-3DF3-0DDD-98BC-0D18EBCD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07818"/>
            <a:ext cx="10261600" cy="6096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Inflation outlook </a:t>
            </a:r>
            <a:r>
              <a:rPr lang="en-US" dirty="0"/>
              <a:t>(overview)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F341B1-8569-6382-12CE-9A6DEAC1A2CB}"/>
              </a:ext>
            </a:extLst>
          </p:cNvPr>
          <p:cNvSpPr txBox="1"/>
          <p:nvPr/>
        </p:nvSpPr>
        <p:spPr>
          <a:xfrm>
            <a:off x="5791201" y="1129844"/>
            <a:ext cx="64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</a:rPr>
              <a:t>decline in q-on-q inflation translates into less fast drop in y-on-y inflation, estimated to peak in Q4 2022 and dropping to below 5% in Q1 2024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Gill Sans MT" panose="020B0502020104020203" pitchFamily="34" charset="0"/>
                <a:ea typeface="Calibri" panose="020F0502020204030204" pitchFamily="34" charset="0"/>
              </a:rPr>
              <a:t>all components drop, while drop in food prices contributes most</a:t>
            </a:r>
            <a:endParaRPr lang="en-GB" sz="1800" dirty="0">
              <a:latin typeface="Gill Sans MT" panose="020B0502020104020203" pitchFamily="34" charset="0"/>
              <a:ea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201358-B5C8-53BA-0F80-856B6C8536EC}"/>
              </a:ext>
            </a:extLst>
          </p:cNvPr>
          <p:cNvSpPr txBox="1"/>
          <p:nvPr/>
        </p:nvSpPr>
        <p:spPr>
          <a:xfrm>
            <a:off x="2438400" y="4876800"/>
            <a:ext cx="609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230547-2FD4-A2EA-FD07-BDD7EA5A3B52}"/>
              </a:ext>
            </a:extLst>
          </p:cNvPr>
          <p:cNvSpPr txBox="1"/>
          <p:nvPr/>
        </p:nvSpPr>
        <p:spPr>
          <a:xfrm rot="10800000" flipV="1">
            <a:off x="0" y="4575754"/>
            <a:ext cx="5638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Headline CPI components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</a:rPr>
              <a:t>q-on-q annualized inflation is forecast to decline gradually in 2023 after peak in Q2 2022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</a:rPr>
              <a:t>predicated on recent shocks abating and inflation expectations being countered by NBR action and fiscal restraint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>
              <a:latin typeface="Gill Sans MT" panose="020B05020201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1487C8-65B7-E277-AF5B-B47ADDB54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30" y="1129844"/>
            <a:ext cx="5162034" cy="31512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ED2779-0EE9-790F-B3FB-E2FB0C5A8D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322916"/>
            <a:ext cx="6070599" cy="410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504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620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Core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72206" y="5046201"/>
            <a:ext cx="5542793" cy="140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CPI core down from peak 2022 Q4;  main drivers: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down-pull effect from remaining output gap disappearing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strong effect of expectations and persistence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no direct effect of import prices as ~ constant in RWF terms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019800" y="1219200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Direct effect foreign import prices and ER on CPI core: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prices continue declining for most of 2023-26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depreciation raises RWF prices, but net direct effect is small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144837-B4B7-A234-1CAB-9C1C0CF50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04900"/>
            <a:ext cx="5486401" cy="37821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4001D8-57F6-BCEB-CE12-AF6442304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60529"/>
            <a:ext cx="6019800" cy="462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84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3106"/>
            <a:ext cx="10261600" cy="681294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Food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5221689"/>
            <a:ext cx="6019800" cy="140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CPI food down from peak in 2022 Q4; main drivers: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agricultural output is forecast to normalize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imported food prices projected to continue declining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offsetting effect of lessening RER overvaluation (faster depr.)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477000" y="1295401"/>
            <a:ext cx="5717023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Direct effect of foreign prices and ER on food CPI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food prices continue declining for most of 2023-26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depreciation raises RWF prices but net direct effect is small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E4C541-8B2F-9A0C-B01E-CEB896094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219200"/>
            <a:ext cx="5943599" cy="396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BCFC4E-EC57-AD08-2824-4642FC3FE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776" y="2514600"/>
            <a:ext cx="571702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15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54702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Energy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2399" y="5462951"/>
            <a:ext cx="5943600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CPI energy down from peak in 2022 Q2; main drivers: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imported energy prices projected to continue declining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offsetting effect of lessening RER overvaluation (faster depr.)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172200" y="1066800"/>
            <a:ext cx="5943600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Direct effect foreign import prices and ER on energy CPI: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energy prices continue declining for most of 2023-26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depreciation raises RWF prices, but net direct effect is small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B1E5A0-0812-B8C8-60D7-D7A675CC4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101251"/>
            <a:ext cx="5943601" cy="4243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820990-83DC-B956-2C96-089655EE9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399" y="2209799"/>
            <a:ext cx="5867401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71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418" y="228600"/>
            <a:ext cx="10261600" cy="672015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Policy interest rate </a:t>
            </a:r>
            <a:r>
              <a:rPr lang="en-US" dirty="0"/>
              <a:t>(interbank rate, IB)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0" y="4631985"/>
            <a:ext cx="5715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Policy rate (IB) influenced by NBR with its CBR: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IB followed closely the 2% points CBR increases in 2022,, enacted to combat inflation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IB forecast to go down after peak in Q1 2023 given falling inflation and still high and rising output gap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from 2024, back to trend driven by a ‘neutral’ rate of </a:t>
            </a:r>
            <a:r>
              <a:rPr lang="en-US" sz="1600" u="sng" dirty="0">
                <a:latin typeface="Gill Sans MT" panose="020B0502020104020203" pitchFamily="34" charset="0"/>
              </a:rPr>
              <a:t>almost </a:t>
            </a:r>
            <a:r>
              <a:rPr lang="en-US" sz="1600" dirty="0">
                <a:latin typeface="Gill Sans MT" panose="020B0502020104020203" pitchFamily="34" charset="0"/>
              </a:rPr>
              <a:t>7%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increased policy rate should raise RIR and stem 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410200" y="1234550"/>
            <a:ext cx="6705601" cy="140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Policy rate (IB) driven by  rule: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responding to both inflation deviation (from 5% target) and the output gap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gradual interest rate changes (lagged effect)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pulled to ‘neutral’ rate of 7% (foreign real rate, country risk, core inflation)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86877D-653C-2ABB-FED3-710BDF6C3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74" y="2743200"/>
            <a:ext cx="6477000" cy="4038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ACDDEE-DF60-E8F1-519D-BE3EC7045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143001"/>
            <a:ext cx="44577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15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Real interest rate </a:t>
            </a:r>
            <a:r>
              <a:rPr lang="en-US" dirty="0"/>
              <a:t>(RIR) (policy and lending rates)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2396" y="4614287"/>
            <a:ext cx="579120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RIR policy rate (IB) (~ core-inflation one Q ahead)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forecast to continue rising and become positive from mid-2023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thus, correcting sharply below-trend levels since late 2021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after 2024, drops to zero as inflation a bit above target (as deficit and govt demand go back up to steady state levels)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then returning toward trend and ‘neutral’ rate of some 2%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real lending rate (including </a:t>
            </a:r>
            <a:r>
              <a:rPr lang="en-US" sz="1600" u="sng" dirty="0">
                <a:latin typeface="Gill Sans MT" panose="020B0502020104020203" pitchFamily="34" charset="0"/>
              </a:rPr>
              <a:t>~ </a:t>
            </a:r>
            <a:r>
              <a:rPr lang="en-US" sz="1600" dirty="0">
                <a:latin typeface="Gill Sans MT" panose="020B0502020104020203" pitchFamily="34" charset="0"/>
              </a:rPr>
              <a:t>8% premium) also back to trend. ending the pull-up effect on private 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867400" y="1109086"/>
            <a:ext cx="632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RIR policy rate (IB) components: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after sharp drop due to inflation surge in 2022, RIR starts rising from mid-2022 as policy rate increases and (expected) inflation declines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overshoots RIR trend (2%) a bit in 2023 as inflation drops fast, then undershoots RIR trend a bit as inflation temporarily above target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EDAF04-C0EE-6F27-17A3-B29958E0B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97" y="1234551"/>
            <a:ext cx="5410200" cy="318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ECEA59-7406-29B2-8008-140166F67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514599"/>
            <a:ext cx="5867400" cy="434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52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Nominal exchange rate </a:t>
            </a:r>
            <a:r>
              <a:rPr lang="en-US" dirty="0"/>
              <a:t>(ER)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498" y="4642786"/>
            <a:ext cx="50899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ER policy reflected in forecast: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reflects NBR’s flexible ER policy, and hybrid rule: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ER steered toward target ER so that RER gradually falls in line with its target or trend depreciation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some response to domestic-foreign interest differentials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in 2023, before ER steered back to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trend depreciation rate converges to </a:t>
            </a:r>
            <a:r>
              <a:rPr lang="en-US" sz="1600" u="sng" dirty="0">
                <a:latin typeface="Gill Sans MT" panose="020B0502020104020203" pitchFamily="34" charset="0"/>
              </a:rPr>
              <a:t>3</a:t>
            </a:r>
            <a:r>
              <a:rPr lang="en-US" sz="1600" dirty="0">
                <a:latin typeface="Gill Sans MT" panose="020B0502020104020203" pitchFamily="34" charset="0"/>
              </a:rPr>
              <a:t>% p.y.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486400" y="1234550"/>
            <a:ext cx="670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Exchange rate policy “rule” </a:t>
            </a:r>
            <a:endParaRPr lang="en-GB" sz="1600" dirty="0">
              <a:solidFill>
                <a:srgbClr val="FF0000"/>
              </a:solidFill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mainly driven by nominal ER target, expectations, and somewhat by domestic-foreign interest rate differentials.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target driven by trend RER depr. rate (0%) and inflation differential (2%)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56A8E1-5DF8-32EC-5444-F4E233721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49" y="1234551"/>
            <a:ext cx="4800598" cy="3032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219298-36DB-6A98-5359-F42D4F03A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425325"/>
            <a:ext cx="6431282" cy="402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5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Real exchange rate </a:t>
            </a:r>
            <a:r>
              <a:rPr lang="en-US" dirty="0"/>
              <a:t>(RER, q-on-q change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-76200" y="4687379"/>
            <a:ext cx="5892798" cy="1895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RER results from ER, CPI_core and foreign CPI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forecast to switch from real appreciation in 2022 and early 2023 to real depreciation from mid-2023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returning toward trend RER depreciation rate (0%) thereafter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pull-down effect on demand (from RER appreciation in most of 2022) becomes pull-up from 2023 on as RER returns to trend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791200" y="1108299"/>
            <a:ext cx="640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RER components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after sharp decline in RER since Q3 2021 as core inflation surged,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RER is forecast to increase from Q2 2023 on for several quarters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before returning to its trend (0%), with some temporary undershooting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83D265-9501-AA28-6E62-9D04CEC83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7" y="1219200"/>
            <a:ext cx="4724403" cy="3423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8C0236-EC49-5EA7-37FA-0053643CE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9" y="2590800"/>
            <a:ext cx="6172201" cy="430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44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EED9-CBB1-EE91-3038-6C7FEDA6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 anchor="b" anchorCtr="0"/>
          <a:lstStyle/>
          <a:p>
            <a:r>
              <a:rPr lang="en-GB" b="1" dirty="0">
                <a:latin typeface="Gill Sans MT" panose="020B0502020104020203" pitchFamily="34" charset="0"/>
              </a:rPr>
              <a:t>Summary of policy stance and forecast outlook</a:t>
            </a:r>
            <a:endParaRPr lang="en-AE" b="1" dirty="0">
              <a:latin typeface="Gill Sans MT" panose="020B05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DFE1AB-566B-84E0-11B3-DF3D9204B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61A70-5620-A72D-97D8-4EA8896A0C8F}"/>
              </a:ext>
            </a:extLst>
          </p:cNvPr>
          <p:cNvSpPr txBox="1"/>
          <p:nvPr/>
        </p:nvSpPr>
        <p:spPr>
          <a:xfrm>
            <a:off x="100632" y="1141627"/>
            <a:ext cx="11888168" cy="552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Policy stance underlying the forecast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maintenance of recently increased policy interest rate (tuned for 2023Q</a:t>
            </a:r>
            <a:r>
              <a:rPr lang="en-US" sz="1800" dirty="0">
                <a:solidFill>
                  <a:srgbClr val="C00000"/>
                </a:solidFill>
                <a:effectLst/>
                <a:latin typeface="+mn-lt"/>
                <a:ea typeface="Calibri" panose="020F0502020204030204" pitchFamily="34" charset="0"/>
              </a:rPr>
              <a:t>2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)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somewhat faster rate of exchange rate depreciation in 2023 (tuned for 2023Q</a:t>
            </a:r>
            <a:r>
              <a:rPr lang="en-US" sz="1800" dirty="0">
                <a:solidFill>
                  <a:srgbClr val="C00000"/>
                </a:solidFill>
                <a:effectLst/>
                <a:latin typeface="+mn-lt"/>
                <a:ea typeface="Calibri" panose="020F0502020204030204" pitchFamily="34" charset="0"/>
              </a:rPr>
              <a:t>1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Calibri" panose="020F0502020204030204" pitchFamily="34" charset="0"/>
              </a:rPr>
              <a:t>reduction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 fiscal deficit (before grants) to 12% of GDP in 2023Q</a:t>
            </a:r>
            <a:r>
              <a:rPr lang="en-US" sz="1800" dirty="0">
                <a:solidFill>
                  <a:srgbClr val="C00000"/>
                </a:solidFill>
                <a:effectLst/>
                <a:latin typeface="+mn-lt"/>
                <a:ea typeface="Calibri" panose="020F0502020204030204" pitchFamily="34" charset="0"/>
              </a:rPr>
              <a:t>1-2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, then to 9.6% in </a:t>
            </a:r>
            <a:r>
              <a:rPr lang="en-US" sz="1800" dirty="0">
                <a:solidFill>
                  <a:srgbClr val="C00000"/>
                </a:solidFill>
                <a:effectLst/>
                <a:latin typeface="+mn-lt"/>
                <a:ea typeface="Calibri" panose="020F0502020204030204" pitchFamily="34" charset="0"/>
              </a:rPr>
              <a:t>2023/24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 (both tuned), then return to sustainable level of around 11% of GDP (unlike PCI, much lower deficit path through 2030)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p</a:t>
            </a:r>
            <a:r>
              <a:rPr lang="en-US" sz="1800" dirty="0">
                <a:latin typeface="+mn-lt"/>
                <a:ea typeface="Calibri" panose="020F0502020204030204" pitchFamily="34" charset="0"/>
              </a:rPr>
              <a:t>ositive 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fiscal stance—2% of GDP on average </a:t>
            </a:r>
            <a:r>
              <a:rPr lang="en-US" sz="1800" dirty="0">
                <a:latin typeface="+mn-lt"/>
                <a:ea typeface="Calibri" panose="020F0502020204030204" pitchFamily="34" charset="0"/>
              </a:rPr>
              <a:t>in 2019/20-2021/22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—replaced by negative stance from 2022/23, then positive again in 2024/25 as deficit returns to sustainable level</a:t>
            </a:r>
            <a:endParaRPr lang="en-US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 of key macro indicators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RIR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forecast to rise (albeit from a low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negative level) and exert less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upward pressure on private demand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RER</a:t>
            </a:r>
            <a:r>
              <a:rPr lang="en-US" sz="20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forecasted to have faster depreciation and affect positively domestic demand (and trade balance G&amp;S)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Headline inflation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(peaked in Q4 2022) forecast to decline gradually in 2023 as food and energy prices are forecast to continue falling from their peaks in 2d half of 2022; and to be close to 5% target from 2024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GDP growth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 to pick up to average 8.5% in 2023-24 before returning to its trend of 7.5% annually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Output back to potential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as low (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</a:rPr>
              <a:t>albeit rising) RIR</a:t>
            </a:r>
            <a:r>
              <a:rPr lang="en-GB" sz="2000" dirty="0">
                <a:latin typeface="+mn-lt"/>
                <a:ea typeface="Calibri" panose="020F0502020204030204" pitchFamily="34" charset="0"/>
              </a:rPr>
              <a:t> and 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</a:rPr>
              <a:t>rising (of albeit still low) RER, keep demand up; this is countered in 2022/23-2023/24 by temporarily lower deficit, and output is back to potential only in 2026</a:t>
            </a:r>
          </a:p>
          <a:p>
            <a:pPr>
              <a:spcAft>
                <a:spcPts val="600"/>
              </a:spcAft>
            </a:pPr>
            <a:r>
              <a:rPr lang="en-GB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Issue:</a:t>
            </a:r>
            <a:r>
              <a:rPr lang="en-GB" sz="20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solidFill>
                  <a:schemeClr val="accent2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address volatility (govt demand, output, inflation…) by smoothen govt deficit closer to sustainable level ?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401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Comparison with Macro Framework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F6E41-DE78-E4C2-5B42-F06E9B942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78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Comparison with Macroeconomic Framework (MF)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EC216E-2E2A-24C6-3CD9-FC63942760AD}"/>
              </a:ext>
            </a:extLst>
          </p:cNvPr>
          <p:cNvSpPr txBox="1"/>
          <p:nvPr/>
        </p:nvSpPr>
        <p:spPr>
          <a:xfrm>
            <a:off x="381000" y="1371600"/>
            <a:ext cx="11607800" cy="5135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Illustrative comparison with April 2023 projection (PCI-RSF)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+mn-lt"/>
                <a:ea typeface="Calibri" panose="020F0502020204030204" pitchFamily="34" charset="0"/>
              </a:rPr>
              <a:t>compared to MF,  the annualized QMFM result has: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  <a:ea typeface="Calibri" panose="020F0502020204030204" pitchFamily="34" charset="0"/>
              </a:rPr>
              <a:t>lower volatility in final demand components, especially for consumption, investment and imports (MF needs consumption-savings checks)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alibri" panose="020F0502020204030204" pitchFamily="34" charset="0"/>
              </a:rPr>
              <a:t>lower average CPI inflation in 2023-24, as QMFM captures the impact of the large negative fiscal stance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alibri" panose="020F0502020204030204" pitchFamily="34" charset="0"/>
              </a:rPr>
              <a:t>lower ER depreciation from 2024, as it forecast zero RER depreciation in medium term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+mn-lt"/>
                <a:ea typeface="Calibri" panose="020F0502020204030204" pitchFamily="34" charset="0"/>
              </a:rPr>
              <a:t> (MF has real depreciations each year in 2024-26, over 20% cumulatively; cp. to QMFM 6%)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alibri" panose="020F0502020204030204" pitchFamily="34" charset="0"/>
              </a:rPr>
              <a:t>higher fiscal deficits from CY 2024—returning to sustainable level--while MF-PCI has deficit much below that for 5 years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63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Alternative scenario: higher foreign food/oil prices </a:t>
            </a:r>
            <a:r>
              <a:rPr lang="en-GB" sz="2000" dirty="0">
                <a:latin typeface="Gill Sans MT" panose="020B0502020104020203" pitchFamily="34" charset="0"/>
              </a:rPr>
              <a:t>(2023-24)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3995182"/>
            <a:ext cx="609599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0"/>
            <a:ext cx="9880600" cy="609600"/>
          </a:xfrm>
        </p:spPr>
        <p:txBody>
          <a:bodyPr/>
          <a:lstStyle/>
          <a:p>
            <a:r>
              <a:rPr lang="en-US" b="1" dirty="0"/>
              <a:t>QMFM: main relationships and transmission mechanisms 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599"/>
            <a:ext cx="12192000" cy="6539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36638</TotalTime>
  <Words>4956</Words>
  <Application>Microsoft Office PowerPoint</Application>
  <PresentationFormat>Widescreen</PresentationFormat>
  <Paragraphs>402</Paragraphs>
  <Slides>35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ＭＳ Ｐゴシック</vt:lpstr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2_Origin</vt:lpstr>
      <vt:lpstr>Document</vt:lpstr>
      <vt:lpstr>PowerPoint Presentation</vt:lpstr>
      <vt:lpstr>I. Rationale of outlook &amp; underlying model</vt:lpstr>
      <vt:lpstr>Model/Qo outlook rationale &amp; requests + recommendations </vt:lpstr>
      <vt:lpstr>1I. Recent macroeconomic developments (2017-23) new Fiscal policy indictors</vt:lpstr>
      <vt:lpstr>Recent macroeconomic developments cnt’ Real GDP/Output</vt:lpstr>
      <vt:lpstr>Recent macroeconomic developments cnt’ Inflation—CPI </vt:lpstr>
      <vt:lpstr>2. Summary recent/current policy stance new</vt:lpstr>
      <vt:lpstr>3. Forecast assumptions (tunes) 2023Q3-2024Q1 slightly revised</vt:lpstr>
      <vt:lpstr>3.1 External environment/outlook </vt:lpstr>
      <vt:lpstr>3.2 Domestic environment assumptions</vt:lpstr>
      <vt:lpstr>III. Summary of macroeconomic forecast/outlook (2023Q3-2027Q4  new</vt:lpstr>
      <vt:lpstr>III. Macroeconomic forecast narrative</vt:lpstr>
      <vt:lpstr>Forecast—Output and cyclical position (GDP growth)</vt:lpstr>
      <vt:lpstr>Forecast—cyclical total demand driving GDP</vt:lpstr>
      <vt:lpstr>Private consumption and cyclical position</vt:lpstr>
      <vt:lpstr>Private investment, exports &amp; imports and cyclical position new</vt:lpstr>
      <vt:lpstr>Fiscal stance (i): govt demand for G&amp;S affects output directly</vt:lpstr>
      <vt:lpstr>  Fiscal stance (ii): fiscal impulse affects output via private demand</vt:lpstr>
      <vt:lpstr>Fiscal stance: govt demand and ‘fiscal impulse’─estimated effect on output do we still need this? Discussed in the above slide</vt:lpstr>
      <vt:lpstr>Fiscal stance: deficit and its components (revenue,  spending) &amp; model decompositions (structural, discretional &amp; cyclical) </vt:lpstr>
      <vt:lpstr>Fiscal stance: deficit and its components (discretionary, cyclical, structural)</vt:lpstr>
      <vt:lpstr>Forecast—Inflation outlook (overview)</vt:lpstr>
      <vt:lpstr>Forecast—Core inflation (q-on-q annualized)</vt:lpstr>
      <vt:lpstr>Forecast—Food inflation (q-on-q annualized)</vt:lpstr>
      <vt:lpstr>Forecast—Energy inflation (q-on-q annualized)</vt:lpstr>
      <vt:lpstr>Forecast—Policy interest rate (interbank rate, IB)</vt:lpstr>
      <vt:lpstr>Forecast—Real interest rate (RIR) (policy and lending rates)</vt:lpstr>
      <vt:lpstr>Forecast—Nominal exchange rate (ER)</vt:lpstr>
      <vt:lpstr>Forecast—Real exchange rate (RER, q-on-q change annualized)</vt:lpstr>
      <vt:lpstr>Summary of policy stance and forecast outlook</vt:lpstr>
      <vt:lpstr>Comparison with Macro Framework</vt:lpstr>
      <vt:lpstr>Comparison with Macroeconomic Framework (MF)</vt:lpstr>
      <vt:lpstr>Alternative scenario: higher foreign food/oil prices (2023-24)</vt:lpstr>
      <vt:lpstr>QMFM: main relationships and transmission mechanisms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1311</cp:revision>
  <cp:lastPrinted>2023-06-23T12:26:08Z</cp:lastPrinted>
  <dcterms:created xsi:type="dcterms:W3CDTF">2011-04-18T20:01:25Z</dcterms:created>
  <dcterms:modified xsi:type="dcterms:W3CDTF">2024-01-26T13:34:13Z</dcterms:modified>
</cp:coreProperties>
</file>