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2B_F2FAC97D.xml" ContentType="application/vnd.ms-powerpoint.comments+xml"/>
  <Override PartName="/ppt/comments/modernComment_231_6F267B12.xml" ContentType="application/vnd.ms-powerpoint.comments+xml"/>
  <Override PartName="/ppt/comments/modernComment_230_10A434AE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9"/>
  </p:notesMasterIdLst>
  <p:handoutMasterIdLst>
    <p:handoutMasterId r:id="rId30"/>
  </p:handoutMasterIdLst>
  <p:sldIdLst>
    <p:sldId id="566" r:id="rId2"/>
    <p:sldId id="547" r:id="rId3"/>
    <p:sldId id="565" r:id="rId4"/>
    <p:sldId id="567" r:id="rId5"/>
    <p:sldId id="511" r:id="rId6"/>
    <p:sldId id="555" r:id="rId7"/>
    <p:sldId id="561" r:id="rId8"/>
    <p:sldId id="556" r:id="rId9"/>
    <p:sldId id="560" r:id="rId10"/>
    <p:sldId id="516" r:id="rId11"/>
    <p:sldId id="562" r:id="rId12"/>
    <p:sldId id="563" r:id="rId13"/>
    <p:sldId id="564" r:id="rId14"/>
    <p:sldId id="515" r:id="rId15"/>
    <p:sldId id="514" r:id="rId16"/>
    <p:sldId id="551" r:id="rId17"/>
    <p:sldId id="517" r:id="rId18"/>
    <p:sldId id="541" r:id="rId19"/>
    <p:sldId id="544" r:id="rId20"/>
    <p:sldId id="557" r:id="rId21"/>
    <p:sldId id="559" r:id="rId22"/>
    <p:sldId id="558" r:id="rId23"/>
    <p:sldId id="523" r:id="rId24"/>
    <p:sldId id="553" r:id="rId25"/>
    <p:sldId id="535" r:id="rId26"/>
    <p:sldId id="531" r:id="rId27"/>
    <p:sldId id="545" r:id="rId28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65"/>
            <p14:sldId id="567"/>
            <p14:sldId id="511"/>
            <p14:sldId id="555"/>
            <p14:sldId id="561"/>
            <p14:sldId id="556"/>
            <p14:sldId id="560"/>
            <p14:sldId id="516"/>
            <p14:sldId id="562"/>
            <p14:sldId id="563"/>
            <p14:sldId id="564"/>
            <p14:sldId id="515"/>
            <p14:sldId id="514"/>
            <p14:sldId id="551"/>
            <p14:sldId id="517"/>
            <p14:sldId id="541"/>
            <p14:sldId id="544"/>
            <p14:sldId id="557"/>
            <p14:sldId id="559"/>
            <p14:sldId id="558"/>
            <p14:sldId id="523"/>
            <p14:sldId id="553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5396" autoAdjust="0"/>
  </p:normalViewPr>
  <p:slideViewPr>
    <p:cSldViewPr>
      <p:cViewPr varScale="1">
        <p:scale>
          <a:sx n="95" d="100"/>
          <a:sy n="95" d="100"/>
        </p:scale>
        <p:origin x="634" y="4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comments/modernComment_22B_F2FAC9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F8DDC-AF7E-4D53-A872-143F6FAC060F}" authorId="{D56D2716-681C-0ED8-9BD4-37117C3B4FB8}" created="2024-01-30T02:42:41.828">
    <pc:sldMkLst xmlns:pc="http://schemas.microsoft.com/office/powerpoint/2013/main/command">
      <pc:docMk/>
      <pc:sldMk cId="4076521853" sldId="555"/>
    </pc:sldMkLst>
    <p188:txBody>
      <a:bodyPr/>
      <a:lstStyle/>
      <a:p>
        <a:r>
          <a:rPr lang="en-US"/>
          <a:t>[main factors incl. weather-induced fluctuations in harvests and agricultural prices, openness and dependence on imports, especially for food and petroleum products with volatile international prices, and lack of competition in many markets]</a:t>
        </a:r>
      </a:p>
    </p188:txBody>
  </p188:cm>
</p188:cmLst>
</file>

<file path=ppt/comments/modernComment_230_10A434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0F3CE-93E3-4C1D-9E52-EB119C359615}" authorId="{D56D2716-681C-0ED8-9BD4-37117C3B4FB8}" created="2024-01-30T02:59:35.6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9196846" sldId="560"/>
      <ac:spMk id="6" creationId="{C6C9B4C0-ECF5-C038-96C2-D0753F470035}"/>
    </ac:deMkLst>
    <p188:txBody>
      <a:bodyPr/>
      <a:lstStyle/>
      <a:p>
        <a:r>
          <a:rPr lang="en-US"/>
          <a:t>Floods: tiny impact</a:t>
        </a:r>
      </a:p>
    </p188:txBody>
  </p188:cm>
</p188:cmLst>
</file>

<file path=ppt/comments/modernComment_231_6F267B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9734A9-64BD-48A8-8800-6AD25EAF20E4}" authorId="{D56D2716-681C-0ED8-9BD4-37117C3B4FB8}" created="2024-01-30T02:43:22.3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64792850" sldId="561"/>
      <ac:spMk id="10" creationId="{B6A2B117-8381-BB07-8CFB-C0970E7114CA}"/>
    </ac:deMkLst>
    <p188:txBody>
      <a:bodyPr/>
      <a:lstStyle/>
      <a:p>
        <a:r>
          <a:rPr lang="en-US"/>
          <a:t>Drop: interest rates move gradually, the rule has a heavy weight for the lagged interest rate while trending back to the neutral rate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</a:t>
            </a:r>
            <a:r>
              <a:rPr lang="en-US" dirty="0" err="1"/>
              <a:t>p.y</a:t>
            </a:r>
            <a:r>
              <a:rPr lang="en-US" dirty="0"/>
              <a:t>., trading partner inflation 2% </a:t>
            </a:r>
            <a:r>
              <a:rPr lang="en-US" dirty="0" err="1"/>
              <a:t>p.y</a:t>
            </a:r>
            <a:r>
              <a:rPr lang="en-US" dirty="0"/>
              <a:t>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1/31/2024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31/01/2024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microsoft.com/office/2018/10/relationships/comments" Target="../comments/modernComment_22B_F2FAC97D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microsoft.com/office/2018/10/relationships/comments" Target="../comments/modernComment_231_6F267B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30_10A434AE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Document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Document1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7" Type="http://schemas.openxmlformats.org/officeDocument/2006/relationships/image" Target="../media/image60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tmp"/><Relationship Id="rId5" Type="http://schemas.openxmlformats.org/officeDocument/2006/relationships/image" Target="../media/image58.tmp"/><Relationship Id="rId4" Type="http://schemas.openxmlformats.org/officeDocument/2006/relationships/image" Target="../media/image57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Nov/Dec 2023 Round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b="1" dirty="0"/>
              <a:t>Outline/contents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09600" y="1016927"/>
            <a:ext cx="11328400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romanUcPeriod"/>
            </a:pPr>
            <a:r>
              <a:rPr lang="en-GB" sz="1800" b="1" dirty="0">
                <a:latin typeface="+mn-lt"/>
              </a:rPr>
              <a:t>Rationale of outlook &amp; underlying model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Recent macroeconomic developments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Macroeconomic forecast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current cyclical position &amp; policy stance &amp; </a:t>
            </a:r>
            <a:r>
              <a:rPr lang="en-US" sz="1400" b="1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ExtEnv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Domestic environment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External environment assumptions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/>
              <a:t>Macroeconomic forecast/outlook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of macroeconomic forecast/outlook </a:t>
            </a:r>
            <a:r>
              <a:rPr lang="en-GB" sz="9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(2023Q3-2027Q4)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Output and cyclical position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Fiscal deficit and components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Inflation-headline CPI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Monetary policy –interest and exchange rates</a:t>
            </a:r>
            <a:endParaRPr lang="en-GB" sz="1400" b="1" dirty="0">
              <a:latin typeface="+mn-lt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Data issues and requests &amp; suggestions</a:t>
            </a:r>
            <a:endParaRPr lang="en-GB" sz="1100" b="1" dirty="0"/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GB" sz="11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Alternative scenario</a:t>
            </a:r>
            <a:r>
              <a:rPr lang="en-GB" sz="1800" b="1" dirty="0">
                <a:solidFill>
                  <a:prstClr val="black"/>
                </a:solidFill>
                <a:latin typeface="Gill Sans MT" panose="020B0502020104020203" pitchFamily="34" charset="0"/>
                <a:cs typeface="+mj-cs"/>
              </a:rPr>
              <a:t>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+mj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QMFM: main relationships and transmission mechanisms </a:t>
            </a:r>
            <a:endParaRPr lang="en-GB" sz="1600" b="1" dirty="0"/>
          </a:p>
          <a:p>
            <a:pPr marL="514350" indent="-514350">
              <a:buAutoNum type="romanUcPeriod"/>
            </a:pP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 forecast for key macro variables </a:t>
            </a:r>
            <a:r>
              <a:rPr lang="en-GB" sz="1800" dirty="0"/>
              <a:t>(i.e.,. output, inflation, final demand…...)</a:t>
            </a:r>
            <a:r>
              <a:rPr lang="en-GB" sz="1800" i="1" dirty="0"/>
              <a:t> </a:t>
            </a:r>
            <a:r>
              <a:rPr lang="en-GB" sz="2000" i="1" dirty="0"/>
              <a:t>for </a:t>
            </a:r>
            <a:r>
              <a:rPr lang="en-GB" sz="2000" dirty="0"/>
              <a:t>16 quarters ahead as influenced by </a:t>
            </a:r>
            <a:r>
              <a:rPr lang="en-GB" sz="2000" i="1" dirty="0"/>
              <a:t>fiscal, monetary, and exchange rate policies</a:t>
            </a:r>
            <a:r>
              <a:rPr lang="en-GB" sz="2000" dirty="0"/>
              <a:t>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simulate alternative policy scenarios suggest policy implications &amp; recommendations.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input for the </a:t>
            </a:r>
            <a:r>
              <a:rPr lang="en-US" sz="2000" dirty="0"/>
              <a:t>validated macro-fiscal projections underpinning the (medium-term) Budgets and IMF-supported programs,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comp</a:t>
            </a:r>
            <a:r>
              <a:rPr lang="en-GB" sz="1600" dirty="0"/>
              <a:t>lementing the intMF and other macro projection tools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facilitate policy coordination between MINECOFIN and NBR; IMF mission preparation; policy debate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tool/model: Quarterly Macro Fiscal Model, a so-called “gap” model: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emphasis on fiscal variables &amp; deficit components (revenue, govt spending &amp; structural, discretionary, cyclical components)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tracing key macro variables in deviation from trends, potential levels, or targets: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after shocks and policy responses, variables return to their LT trends subject to persistence/lags (outside model) </a:t>
            </a:r>
          </a:p>
          <a:p>
            <a:pPr marL="549275" lvl="2" indent="0" algn="just">
              <a:spcAft>
                <a:spcPts val="600"/>
              </a:spcAft>
              <a:buNone/>
            </a:pPr>
            <a:r>
              <a:rPr lang="en-GB" sz="1200" i="1" dirty="0"/>
              <a:t>trends/targets incl. potential growth, neutral interest rate, equilibrium real exchange rate change, sustainable deficit, target inflation rate….</a:t>
            </a:r>
          </a:p>
        </p:txBody>
      </p:sp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1I. Recent macroeconomic developments</a:t>
            </a:r>
            <a:r>
              <a:rPr lang="en-US" sz="2400" dirty="0"/>
              <a:t> (2017-23Q2)</a:t>
            </a:r>
            <a:br>
              <a:rPr lang="en-US" sz="20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159718"/>
            <a:ext cx="3505200" cy="24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3135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47474"/>
            <a:ext cx="3581400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60440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(YoY %)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trend growth (2000-19) averaged 7.5%</a:t>
            </a:r>
          </a:p>
          <a:p>
            <a:pPr marL="274638" lvl="1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in COVID 2020, GDP dropped 3.4% and was 12% below potential (had trend growth continued) </a:t>
            </a:r>
            <a:r>
              <a:rPr lang="en-GB" sz="1200" dirty="0"/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mitigated Covid output drop and helped subsequent recovery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instability, esp. Ukraine-war, </a:t>
            </a:r>
            <a:r>
              <a:rPr lang="en-RW" sz="1200" dirty="0"/>
              <a:t>slowed down the recovery from 2022Q1 onward</a:t>
            </a: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despite strong bounce back in 2021, GDP estimated 6% below potential in late 2023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</a:t>
            </a:r>
            <a:br>
              <a:rPr lang="en-US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 and deficit components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(2015/16-2022/23)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57201" y="4239895"/>
            <a:ext cx="11560446" cy="223710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dirty="0"/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[some fiscal consolidation pre-Covid</a:t>
            </a:r>
            <a:r>
              <a:rPr lang="en-US" sz="1200" dirty="0"/>
              <a:t>—slightly lowered deficits averaging 10% of GDP in FY2015/16—2018/19, mainly through lower spending on G&amp;S (“discretionary”)]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 stance under Covid</a:t>
            </a:r>
            <a:r>
              <a:rPr lang="en-US" sz="1200" dirty="0"/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start of fiscal consolidation post-Covid</a:t>
            </a:r>
            <a:r>
              <a:rPr lang="en-US" sz="1200" dirty="0"/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fiscal stance entailed </a:t>
            </a:r>
            <a:r>
              <a:rPr lang="en-US" sz="1200" b="1" dirty="0">
                <a:solidFill>
                  <a:schemeClr val="tx1"/>
                </a:solidFill>
              </a:rPr>
              <a:t>sharp drop in real govt demand for G&amp;S, </a:t>
            </a:r>
            <a:r>
              <a:rPr lang="en-US" sz="1200" dirty="0">
                <a:solidFill>
                  <a:schemeClr val="tx1"/>
                </a:solidFill>
              </a:rPr>
              <a:t>further exacerbated by surging inflation from early 2022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1B4CD-C5B6-ACA8-B4E0-A9E13E08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207770"/>
            <a:ext cx="3618580" cy="2754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13822-106D-7CFF-3909-60C65049C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19200"/>
            <a:ext cx="354711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12860"/>
            <a:ext cx="10261600" cy="509980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Inflation—headline 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86567"/>
            <a:ext cx="4673600" cy="29428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 ,  </a:t>
            </a:r>
            <a:r>
              <a:rPr lang="en-GB" sz="1050" b="1" dirty="0"/>
              <a:t>YoY %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unrelated to business cycle (</a:t>
            </a:r>
            <a:r>
              <a:rPr lang="en-US" sz="1100" dirty="0"/>
              <a:t>e.g., agric. &amp; weather shocks, energy), output gap has only modest influence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&amp; energy prices contribute most to volatility, directly and indirectly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each inflation component has its own drivers (charts)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inflation: weak harvests, soaring world food and energy prices, other domestic supply-side shocks….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deceleration observed in core and food inflation, fall in energy from 2023Q1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5853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Headline CPI—drivers  (left chart)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1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lower, driven by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world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energy and commodity prices </a:t>
            </a:r>
            <a:endParaRPr lang="en-RW" sz="1100" i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1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model)</a:t>
            </a:r>
            <a:endParaRPr lang="en-US" sz="110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11" y="1179066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75A6-BDFF-8CEB-7780-DF590F60D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136" y="1203010"/>
            <a:ext cx="3048000" cy="235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0476B-44A0-E21C-FFED-4C6E968AA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6215" y="1255137"/>
            <a:ext cx="2639790" cy="23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08" y="266700"/>
            <a:ext cx="10261600" cy="533399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 (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): market interest rates </a:t>
            </a:r>
            <a:r>
              <a:rPr lang="en-US" sz="1600" dirty="0"/>
              <a:t>(2019-23)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3968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Real interest rates, %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rose during Covid 2020-21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when inflation was subdued and the IB was lowered only once, by 0.5% 2020, in response to the Covid downturn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i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GB" sz="14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mid-2021</a:t>
            </a:r>
            <a:r>
              <a:rPr lang="en-GB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below trends; IB even negative in most of 2022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mid-2022, went back up sharply as nominal interest rates were moved up and inflation declined 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i="1" dirty="0">
                <a:solidFill>
                  <a:schemeClr val="tx1"/>
                </a:solidFill>
                <a:cs typeface="Times New Roman" panose="02020603050405020304" pitchFamily="18" charset="0"/>
              </a:rPr>
              <a:t>real lending rates followed IB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, and after a low point of 7% in mid-2022 reached some 12% by 2023Q3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2444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IB (effective ‘policy’ rate)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2017 and esp. through 2020-21, IB was on a downward path and below its trend (‘neutral’) level of some 6.5-7%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early 2022 to 2023, CBR raised stepwise from 4.5% to 7.5% in response to inflation—IB rate followed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IB rate almost back to neutral rate by mid-2023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69" y="317497"/>
            <a:ext cx="10261600" cy="488951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 (ii): exchange rates </a:t>
            </a:r>
            <a:r>
              <a:rPr lang="en-US" sz="1600" dirty="0"/>
              <a:t>(2019-23)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867400" y="4114800"/>
            <a:ext cx="5715000" cy="20920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nominal Exchange Rate (ER), </a:t>
            </a:r>
            <a:r>
              <a:rPr lang="en-US" sz="1000" b="1" dirty="0" err="1"/>
              <a:t>QoQ</a:t>
            </a:r>
            <a:r>
              <a:rPr lang="en-US" sz="1000" b="1" dirty="0"/>
              <a:t>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late 2022, the ER depreciation rate has moved up sharply in line with the target ER depreciation rate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driven largely by high domestic inflation relative to trading partners, in addition to other factors (interest-rate differentials, trend RER depreciation rate,..) 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76200" y="4114800"/>
            <a:ext cx="56388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Real exchange rate (RER), </a:t>
            </a:r>
            <a:r>
              <a:rPr lang="en-US" sz="1000" b="1" dirty="0" err="1"/>
              <a:t>QoQ</a:t>
            </a:r>
            <a:r>
              <a:rPr lang="en-US" sz="1000" b="1" dirty="0"/>
              <a:t>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from mid-2020, the faster nominal depreciation (+) and subdued inflation more than reversed the earlier RER appreciation (-)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however, from late 2021 till 2022Q3, modest nominal depreciation and surge in core inflation lowered RER, to well below trend, more than offsetting the earlier increase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acceleration of nominal depreciation since late 2022 resulted in a sharp increase in the rate of RER depreciation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6" y="1209148"/>
            <a:ext cx="4019321" cy="253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13" y="1187977"/>
            <a:ext cx="4003456" cy="271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7" y="1209148"/>
            <a:ext cx="328803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/>
              <a:t>III. Macroeconomic Forecast Assumptions 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Summary current cyclical position &amp; policy stance &amp;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ExtEnv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57000" cy="568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GDP/Output,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YoY %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estimated slower growth of 6% in 2023 (due to 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Ukraine war shocks, inflation surge, weak agricultural performance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)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estimated output gap </a:t>
            </a:r>
            <a:r>
              <a:rPr lang="en-US" sz="1100" dirty="0">
                <a:solidFill>
                  <a:prstClr val="black"/>
                </a:solidFill>
                <a:latin typeface="Gill Sans MT"/>
              </a:rPr>
              <a:t>(below estimated potential output)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of -7% of GDP by end-2023</a:t>
            </a: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Inflation—headline  CPI, </a:t>
            </a:r>
            <a:r>
              <a:rPr lang="en-US" sz="110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expected to end at just above 10% in 2023—downward path from its peak of 25.6% in 2022Q2 driven by: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easing food price increases, falling energy prices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fading core-price shocks and tighter macroeconomic policies.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policy stance—deficit excl. grants, govt demand</a:t>
            </a: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%GDP</a:t>
            </a:r>
            <a:endParaRPr lang="en-GB" sz="105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fiscal </a:t>
            </a:r>
            <a:r>
              <a:rPr lang="en-GB" sz="1400" i="1" dirty="0">
                <a:solidFill>
                  <a:prstClr val="black"/>
                </a:solidFill>
                <a:latin typeface="Gill Sans MT"/>
              </a:rPr>
              <a:t>consolidation of 2022/23 reinforced with next two Budgets</a:t>
            </a:r>
            <a:r>
              <a:rPr lang="en-GB" sz="1400" dirty="0">
                <a:solidFill>
                  <a:prstClr val="black"/>
                </a:solidFill>
                <a:latin typeface="Gill Sans MT"/>
              </a:rPr>
              <a:t>: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deficit reductions of 1% of GDP in FY2023/24, further 1% of GDP in FY2024/25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shift from </a:t>
            </a:r>
            <a:r>
              <a:rPr lang="en-US" sz="1400" i="1" dirty="0">
                <a:solidFill>
                  <a:prstClr val="black"/>
                </a:solidFill>
                <a:latin typeface="Gill Sans MT"/>
              </a:rPr>
              <a:t>expansionary to contractionary fiscal stance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btn. 2020-22 and 2023-25</a:t>
            </a:r>
            <a:r>
              <a:rPr lang="en-US" sz="1400" dirty="0">
                <a:solidFill>
                  <a:srgbClr val="C00000"/>
                </a:solidFill>
                <a:latin typeface="Gill Sans MT"/>
              </a:rPr>
              <a:t>,  </a:t>
            </a:r>
            <a:r>
              <a:rPr lang="en-US" sz="1200" dirty="0">
                <a:solidFill>
                  <a:srgbClr val="C00000"/>
                </a:solidFill>
                <a:latin typeface="Gill Sans MT"/>
              </a:rPr>
              <a:t>mostly borne by lower govt demand for G&amp;S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fiscal stance switches from +2% to -2% of GDP, with an average total effect on output of +/-1.7% of GDP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Monetary—interest &amp; exchange rate policy stance, </a:t>
            </a:r>
            <a:r>
              <a:rPr lang="en-GB" sz="105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  <a:endParaRPr lang="en-GB" sz="1200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modestly tight monetary (policy amidst decelerating domestic inflation)—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almost back to the neutral interest rate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real interest rate (RIR-IB) almost positive—still  below its trend of 3%—helped to stem private demand in 2023 </a:t>
            </a:r>
            <a:r>
              <a:rPr lang="en-US" sz="1000" dirty="0">
                <a:solidFill>
                  <a:prstClr val="black"/>
                </a:solidFill>
                <a:latin typeface="Gill Sans MT"/>
              </a:rPr>
              <a:t>(though consumption and investment responded little to changes)</a:t>
            </a:r>
            <a:endParaRPr lang="en-GB" sz="12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2023 acceleration of nominal ER depreciation largely offset Rwanda’s recent high inflation differential, reversing the overvaluation since late 2021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this has raised real exchange rate back to its trend by 2023Q3—positively affecting net exports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External environment (WEO projected)</a:t>
            </a:r>
            <a:endParaRPr lang="en-GB" sz="16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overall, more favourable external environment thanks to recovering foreign demand, easing world food and oil prices &amp; trading partner's CPI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External environment assumptions </a:t>
            </a:r>
            <a:r>
              <a:rPr lang="en-GB" sz="1000" b="1" dirty="0">
                <a:solidFill>
                  <a:schemeClr val="accent4">
                    <a:lumMod val="50000"/>
                  </a:schemeClr>
                </a:solidFill>
              </a:rPr>
              <a:t>(IMF WEO-GAS &amp; GEE)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68332" y="4295583"/>
            <a:ext cx="3200400" cy="218206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5496"/>
                </a:solidFill>
                <a:cs typeface="Times New Roman" panose="02020603050405020304" pitchFamily="18" charset="0"/>
              </a:rPr>
              <a:t>foreign real interest rates</a:t>
            </a:r>
            <a:r>
              <a:rPr lang="en-US" sz="1800" dirty="0"/>
              <a:t>—</a:t>
            </a:r>
            <a:r>
              <a:rPr lang="en-US" sz="1100" dirty="0"/>
              <a:t>US RIR, %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past </a:t>
            </a:r>
            <a:r>
              <a:rPr lang="en-US" sz="1400" b="1" dirty="0"/>
              <a:t>decade</a:t>
            </a:r>
            <a:r>
              <a:rPr lang="en-US" sz="1600" b="1" dirty="0"/>
              <a:t> to </a:t>
            </a:r>
            <a:r>
              <a:rPr lang="en-US" sz="1200" b="1" dirty="0"/>
              <a:t>2027 </a:t>
            </a:r>
            <a:r>
              <a:rPr lang="en-US" sz="1600" dirty="0"/>
              <a:t>–</a:t>
            </a:r>
            <a:r>
              <a:rPr lang="en-US" sz="1400" dirty="0"/>
              <a:t>projected  to rise from negative around -1% to +1% 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implies a one-for-one transmission to Rwanda’s sovereign borrowing rates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429000" cy="22057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</a:pPr>
            <a:r>
              <a:rPr lang="en-GB" sz="11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foreign demand</a:t>
            </a:r>
            <a:r>
              <a:rPr lang="en-GB" sz="1400" dirty="0">
                <a:latin typeface="+mn-lt"/>
              </a:rPr>
              <a:t>—</a:t>
            </a:r>
            <a:r>
              <a:rPr lang="en-GB" sz="1200" dirty="0">
                <a:latin typeface="+mn-lt"/>
              </a:rPr>
              <a:t>trading partners’ GDP</a:t>
            </a:r>
            <a:r>
              <a:rPr lang="en-GB" sz="1400" dirty="0">
                <a:latin typeface="+mn-lt"/>
              </a:rPr>
              <a:t>, </a:t>
            </a:r>
            <a:r>
              <a:rPr lang="en-GB" sz="600" dirty="0">
                <a:latin typeface="+mn-lt"/>
              </a:rPr>
              <a:t>YoY %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recovered post covid but slowing down as interest rates raised in response to inflation since mid-2022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recovery in relative to Covid-years, at 3% p.y., well above trend </a:t>
            </a:r>
          </a:p>
          <a:p>
            <a:pPr marL="731520" lvl="1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100" dirty="0">
                <a:latin typeface="+mn-lt"/>
              </a:rPr>
              <a:t>positively affected domestic demand 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below trend—negatively affect domestic demand from 2024 until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593664" y="4295583"/>
            <a:ext cx="3141136" cy="226985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foreign inflation</a:t>
            </a:r>
            <a:r>
              <a:rPr lang="en-US" sz="1600" b="1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trading  partners’ CPI inflation, in US$ (</a:t>
            </a:r>
            <a:r>
              <a:rPr lang="en-US" sz="1050" dirty="0">
                <a:latin typeface="+mn-lt"/>
              </a:rPr>
              <a:t>YoY %)</a:t>
            </a:r>
            <a:endParaRPr lang="en-US" sz="1600" b="1" dirty="0">
              <a:latin typeface="+mn-lt"/>
            </a:endParaRP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400" dirty="0">
                <a:latin typeface="+mn-lt"/>
              </a:rPr>
              <a:t>subdued at 1.4% </a:t>
            </a:r>
            <a:r>
              <a:rPr lang="en-GB" sz="1400" dirty="0" err="1">
                <a:latin typeface="+mn-lt"/>
              </a:rPr>
              <a:t>p.y</a:t>
            </a:r>
            <a:r>
              <a:rPr lang="en-GB" sz="1400" dirty="0">
                <a:latin typeface="+mn-lt"/>
              </a:rPr>
              <a:t>. during 2016-22 before flaring up in 2023</a:t>
            </a:r>
            <a:endParaRPr lang="en-US" sz="1400" dirty="0">
              <a:latin typeface="+mn-lt"/>
            </a:endParaRP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+mn-lt"/>
              </a:rPr>
              <a:t>2024-onward</a:t>
            </a:r>
            <a:r>
              <a:rPr lang="en-US" sz="18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projected to return to its trend level of 2%.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food &amp; energy prices slowing down (below trend) post 2024</a:t>
            </a:r>
            <a:endParaRPr lang="en-AE" sz="16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914400" y="1215602"/>
            <a:ext cx="10659534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improving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after the Covid-Ukraine crises, but with downside risks. </a:t>
            </a:r>
            <a:r>
              <a:rPr lang="en-GB" sz="14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400" i="1" dirty="0">
                <a:effectLst/>
                <a:latin typeface="+mn-lt"/>
                <a:ea typeface="Calibri" panose="020F0502020204030204" pitchFamily="34" charset="0"/>
              </a:rPr>
              <a:t>orld economy slowing down due to tight monetary policies in response to inflation</a:t>
            </a:r>
            <a:endParaRPr lang="en-RW" sz="2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Domestic environment assumptions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1371600" y="1447800"/>
            <a:ext cx="5715000" cy="421653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Nov. 2023 forecast round: “tuning” near-term policies, nowcasts and some shocks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consolidation: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deficits before grants ‘set’ at PCI targets of 10.8% of GDP for 2023/24 and 9.7 % of GDP for 2025/26</a:t>
            </a:r>
          </a:p>
          <a:p>
            <a:pPr marL="800100" marR="0" lvl="1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beyond PCI, deficits (excl. grants) driven by fiscal anchor determined by  target debt/GDP ratios, that is sustainable level of 8% of GDP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policy interest rate (IB): maintained at 8% for 2023Q4 (after interest rate policy rile)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exchange rate: tune current-year PCI-program targeted annual depreciation.</a:t>
            </a:r>
          </a:p>
          <a:p>
            <a:pPr marL="800100" marR="0" lvl="1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e.g., path in 2023: originally 7% y-o-y,  increased to 15% y-on-y in April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 next two quarters:  tuned with “now/forecasting”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agriculture: expected return to normal and fading of domestic food price shocks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core CPI: current quarter tuned, using preliminary price info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7239000" y="3733800"/>
            <a:ext cx="4749800" cy="7848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6044"/>
            <a:ext cx="10261600" cy="890756"/>
          </a:xfrm>
        </p:spPr>
        <p:txBody>
          <a:bodyPr/>
          <a:lstStyle/>
          <a:p>
            <a:r>
              <a:rPr lang="en-GB" b="1" dirty="0"/>
              <a:t>IV. Macroeconomic forecast/outlook</a:t>
            </a:r>
            <a:br>
              <a:rPr lang="en-GB" b="1" dirty="0"/>
            </a:b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Summary of macroeconomic forecast/outlook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</a:rPr>
              <a:t>(2023Q3-2027Q4)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68808" y="3605123"/>
            <a:ext cx="5269992" cy="27238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latin typeface="+mn-lt"/>
                <a:cs typeface="Times New Roman" panose="02020603050405020304" pitchFamily="18" charset="0"/>
              </a:rPr>
              <a:t>combination of modestly </a:t>
            </a:r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tight fiscal and monetary policies</a:t>
            </a:r>
            <a:r>
              <a:rPr lang="en-GB" sz="1400" b="1" dirty="0">
                <a:latin typeface="+mn-lt"/>
                <a:cs typeface="Times New Roman" panose="02020603050405020304" pitchFamily="18" charset="0"/>
              </a:rPr>
              <a:t> and still low RER in 2023-early 2024 should help contain domestic demand and lower inflation</a:t>
            </a:r>
            <a:r>
              <a:rPr lang="en-GB" sz="1600" b="1" i="1" dirty="0">
                <a:effectLst/>
                <a:latin typeface="+mn-lt"/>
                <a:ea typeface="Calibri" panose="020F0502020204030204" pitchFamily="34" charset="0"/>
              </a:rPr>
              <a:t>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 a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s inflation abates to close to the 5% target from earlier 2024Q2</a:t>
            </a:r>
            <a:r>
              <a:rPr lang="en-GB" sz="1200" dirty="0">
                <a:latin typeface="+mn-lt"/>
                <a:ea typeface="Calibri" panose="020F0502020204030204" pitchFamily="34" charset="0"/>
              </a:rPr>
              <a:t>. </a:t>
            </a:r>
            <a:endParaRPr lang="en-GB" sz="1200" dirty="0">
              <a:effectLst/>
              <a:latin typeface="+mn-lt"/>
              <a:ea typeface="Calibri" panose="020F0502020204030204" pitchFamily="34" charset="0"/>
            </a:endParaRPr>
          </a:p>
          <a:p>
            <a:pPr marL="28575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temporarily lower interest rates (IB) &amp; RIR and higher RER should </a:t>
            </a:r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raise GDP growth temporarily above its trend in 2024-25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, and back to its trend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afterwards towards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2027. </a:t>
            </a:r>
            <a:endParaRPr lang="en-GB" sz="20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15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D918C-614D-81D5-4160-172E552A9F57}"/>
              </a:ext>
            </a:extLst>
          </p:cNvPr>
          <p:cNvSpPr txBox="1"/>
          <p:nvPr/>
        </p:nvSpPr>
        <p:spPr>
          <a:xfrm>
            <a:off x="5873752" y="3374290"/>
            <a:ext cx="6142118" cy="46166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effectLst/>
                <a:latin typeface="+mn-lt"/>
                <a:ea typeface="Calibri" panose="020F0502020204030204" pitchFamily="34" charset="0"/>
              </a:rPr>
              <a:t>temporary above-trend growth for two years from mid-2024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is mostly driven by private consumption and return to normal of government demand</a:t>
            </a:r>
            <a:endParaRPr lang="en-RW" sz="1600" dirty="0">
              <a:latin typeface="+mn-lt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1ABF6EC-4EF2-AF30-F317-6BE202DEE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2800" y="1277664"/>
          <a:ext cx="6115050" cy="205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01286" imgH="2690964" progId="Word.Document.12">
                  <p:embed/>
                </p:oleObj>
              </mc:Choice>
              <mc:Fallback>
                <p:oleObj name="Document" r:id="rId4" imgW="6501286" imgH="2690964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1ABF6EC-4EF2-AF30-F317-6BE202DE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2800" y="1277664"/>
                        <a:ext cx="6115050" cy="205660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5873751" y="3962400"/>
            <a:ext cx="6115049" cy="23680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fiscal policies </a:t>
            </a:r>
            <a:r>
              <a:rPr lang="en-GB" sz="11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(2023/24-2025/26 &amp; onward)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</a:t>
            </a:r>
            <a:r>
              <a:rPr lang="en-GB" sz="1400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negative discretional spending (</a:t>
            </a:r>
            <a:r>
              <a:rPr lang="en-GB" sz="1400" dirty="0">
                <a:latin typeface="+mn-lt"/>
              </a:rPr>
              <a:t>combination of lower Govt. demand and a negative effect on private demand)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C00000"/>
                </a:solidFill>
                <a:latin typeface="+mn-lt"/>
              </a:rPr>
              <a:t>shall induce a negative effect on output/GDP by some 1.2%</a:t>
            </a:r>
            <a:endParaRPr lang="en-GB" sz="1200" dirty="0">
              <a:solidFill>
                <a:srgbClr val="C00000"/>
              </a:solidFill>
              <a:latin typeface="+mn-lt"/>
            </a:endParaRPr>
          </a:p>
          <a:p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2025/26 onward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 estimated to die out—</a:t>
            </a:r>
            <a:r>
              <a:rPr lang="en-GB" sz="1400" dirty="0">
                <a:latin typeface="+mn-lt"/>
              </a:rPr>
              <a:t>positive discretional spending (gradually positive Govt. demand and fiscal impulse)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C00000"/>
                </a:solidFill>
                <a:latin typeface="+mn-lt"/>
              </a:rPr>
              <a:t>should positively affect output/GDP</a:t>
            </a: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Forecast—Output and cyclical position </a:t>
            </a:r>
            <a:r>
              <a:rPr lang="en-GB" sz="1600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590800"/>
            <a:ext cx="5029200" cy="36165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FE48E0A-A899-A2C3-F6C6-4EB4B1EF7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295400"/>
          <a:ext cx="65024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61737" imgH="2237734" progId="Word.Document.12">
                  <p:embed/>
                </p:oleObj>
              </mc:Choice>
              <mc:Fallback>
                <p:oleObj name="Document" r:id="rId4" imgW="6361737" imgH="2237734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FE48E0A-A899-A2C3-F6C6-4EB4B1EF7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6502400" cy="223837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925733" y="1295400"/>
            <a:ext cx="5029200" cy="11849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>
                <a:effectLst/>
                <a:latin typeface="+mn-lt"/>
                <a:ea typeface="Calibri" panose="020F0502020204030204" pitchFamily="34" charset="0"/>
              </a:rPr>
              <a:t>growth of the final demand </a:t>
            </a:r>
            <a:r>
              <a:rPr lang="en-GB" sz="1100" b="1" dirty="0">
                <a:latin typeface="+mn-lt"/>
                <a:ea typeface="Calibri" panose="020F0502020204030204" pitchFamily="34" charset="0"/>
              </a:rPr>
              <a:t>&amp; </a:t>
            </a:r>
            <a:r>
              <a:rPr lang="en-GB" sz="1100" b="1" dirty="0">
                <a:effectLst/>
                <a:latin typeface="+mn-lt"/>
                <a:ea typeface="Calibri" panose="020F0502020204030204" pitchFamily="34" charset="0"/>
              </a:rPr>
              <a:t>components of GD</a:t>
            </a:r>
            <a:r>
              <a:rPr lang="en-GB" sz="1100" b="1" dirty="0">
                <a:latin typeface="+mn-lt"/>
                <a:ea typeface="Calibri" panose="020F0502020204030204" pitchFamily="34" charset="0"/>
              </a:rPr>
              <a:t>P</a:t>
            </a:r>
            <a:r>
              <a:rPr lang="en-GB" sz="11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GB" sz="5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Table 6</a:t>
            </a:r>
            <a:r>
              <a:rPr lang="en-GB" sz="500" dirty="0">
                <a:effectLst/>
                <a:latin typeface="+mn-lt"/>
                <a:ea typeface="Calibri" panose="020F0502020204030204" pitchFamily="34" charset="0"/>
              </a:rPr>
              <a:t>,</a:t>
            </a:r>
          </a:p>
          <a:p>
            <a:endParaRPr lang="en-GB" sz="500" dirty="0">
              <a:effectLst/>
              <a:latin typeface="+mn-lt"/>
              <a:ea typeface="Calibri" panose="020F0502020204030204" pitchFamily="34" charset="0"/>
            </a:endParaRPr>
          </a:p>
          <a:p>
            <a:r>
              <a:rPr lang="en-US" sz="1100" dirty="0">
                <a:latin typeface="+mn-lt"/>
              </a:rPr>
              <a:t>GDP is estimated to be 7% below potential at end-2023,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due to both incomplete recovery from Covid and sluggish growth in 2022-23. </a:t>
            </a:r>
          </a:p>
          <a:p>
            <a:r>
              <a:rPr lang="en-US" sz="1100" dirty="0">
                <a:latin typeface="+mn-lt"/>
              </a:rPr>
              <a:t>Output growth is expected to be a bit faster than trend in 2024-26 driven by: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 a full recovery of consumption and government demand. </a:t>
            </a:r>
            <a:endParaRPr lang="en-RW" sz="11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203200" y="3657600"/>
            <a:ext cx="6527800" cy="254973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2022-23 sluggish GDP growth, driven by: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Ukraine-war, inflation surge and restrictive policy response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---post-Covid fiscal consolidation with negative fiscal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effect &amp;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impulse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2024-26 growth above trend, driven by: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---less restrictive fiscal policies as deficit gradually back to (higher) sustainable level and govt demand for G&amp;S back to normal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--exports helped by high RER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 2027, back to trend growth of 7.5%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---there is no indication that Covid has permanently reduced potential output and its growth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18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429" y="304800"/>
            <a:ext cx="10058400" cy="53340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Forecast—cyclical total demand driving GDP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and its components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GB" sz="1600" b="1" dirty="0">
                <a:solidFill>
                  <a:srgbClr val="2F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egative output gap gradually declines: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--growing (less negative) consumption which goes back to normal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--gradually increasing (less down pull) Govt. spending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m</a:t>
            </a: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id-2024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--exports helped by REER depreciation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5081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closing in as output (level) approaching its trend by 2026.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moves around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7" y="228600"/>
            <a:ext cx="10363623" cy="575522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Private consumption and cyclical position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42620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gap: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--estimated to recover from recent low levels but remains restrained in 2024      </a:t>
            </a:r>
          </a:p>
          <a:p>
            <a:pPr marL="549275" lvl="2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---due to low GDP growth and negative fiscal impulse in 2023-24.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---returns to trend growth late in 2026 when </a:t>
            </a:r>
            <a:r>
              <a:rPr lang="en-GB" sz="1400" i="1" dirty="0">
                <a:solidFill>
                  <a:schemeClr val="tx1"/>
                </a:solidFill>
                <a:cs typeface="Times New Roman" panose="02020603050405020304" pitchFamily="18" charset="0"/>
              </a:rPr>
              <a:t>fiscal and monetary policy becomes again less restrictive. </a:t>
            </a:r>
            <a:endParaRPr lang="en-AE" sz="14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786128"/>
            <a:ext cx="4419600" cy="16433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drivers: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--negative fiscal impulse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61652"/>
            <a:ext cx="10490200" cy="552748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Private investment, exports &amp; imports and cyclical position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10000" cy="200054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rivate investment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sz="1400" b="1" u="sng" dirty="0">
              <a:solidFill>
                <a:srgbClr val="2F5496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u="sng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Main drivers</a:t>
            </a:r>
            <a:r>
              <a:rPr lang="en-US" sz="12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b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 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--real interest rate (RIR) effect is very small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--RER has no effect (zero wight in monetary conditions index)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income, effect (proxied by real GDP)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--fiscal impulse has very small effect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182928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GB" sz="1400" b="1" u="sng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--down pull from RER overvaluation disappears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82928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 demand (for goods and services)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GB" sz="1400" b="1" u="sng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57465"/>
            <a:ext cx="10210799" cy="470594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Fiscal stance (i): govt demand for G&amp;S affects output directly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3990969"/>
            <a:ext cx="6244526" cy="250226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100" dirty="0"/>
              <a:t>(</a:t>
            </a:r>
            <a:r>
              <a:rPr lang="en-GB" sz="1100" u="sng" dirty="0"/>
              <a:t>+</a:t>
            </a:r>
            <a:r>
              <a:rPr lang="en-GB" sz="1100" dirty="0"/>
              <a:t> 23% of GDP):</a:t>
            </a:r>
            <a:endParaRPr lang="en-GB" sz="1600" dirty="0"/>
          </a:p>
          <a:p>
            <a:pPr marL="0" indent="0" algn="just">
              <a:buNone/>
            </a:pPr>
            <a:r>
              <a:rPr lang="en-GB" sz="1400" dirty="0">
                <a:cs typeface="Times New Roman" panose="02020603050405020304" pitchFamily="18" charset="0"/>
              </a:rPr>
              <a:t>---current fiscal program envisages a reduction in the deficit (consolidation) to 10.8% of GDP in 2023/24 and to 9.7% in 2024/25</a:t>
            </a:r>
            <a:r>
              <a:rPr lang="en-GB" sz="1400" dirty="0">
                <a:effectLst/>
                <a:ea typeface="Calibri" panose="020F0502020204030204" pitchFamily="34" charset="0"/>
              </a:rPr>
              <a:t>, </a:t>
            </a:r>
          </a:p>
          <a:p>
            <a:pPr marL="274638" lvl="1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 </a:t>
            </a:r>
            <a:r>
              <a:rPr lang="en-GB" sz="1200" dirty="0"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ea typeface="Calibri" panose="020F0502020204030204" pitchFamily="34" charset="0"/>
              </a:rPr>
              <a:t>well below that in Covid and immediate post-Covid years (averaging 14% of GDP in 2019/20-2021/22).</a:t>
            </a:r>
          </a:p>
          <a:p>
            <a:pPr marL="0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--c</a:t>
            </a:r>
            <a:r>
              <a:rPr lang="en-GB" sz="1400" dirty="0">
                <a:effectLst/>
                <a:ea typeface="Calibri" panose="020F0502020204030204" pitchFamily="34" charset="0"/>
              </a:rPr>
              <a:t>onsolidation achieved mainly via the ending of discretionary, crisis-related spending and cuts in investment,</a:t>
            </a:r>
          </a:p>
          <a:p>
            <a:pPr marL="274638" lvl="1" indent="0" algn="just">
              <a:buNone/>
            </a:pPr>
            <a:r>
              <a:rPr lang="en-GB" sz="1200" dirty="0">
                <a:effectLst/>
                <a:ea typeface="Calibri" panose="020F0502020204030204" pitchFamily="34" charset="0"/>
              </a:rPr>
              <a:t> ---translate in a significant reduction in real government demand for G&amp;S, lowering aggregate demand and helping contain inflation.</a:t>
            </a:r>
          </a:p>
          <a:p>
            <a:pPr marL="0" indent="0" algn="just">
              <a:buNone/>
            </a:pPr>
            <a:r>
              <a:rPr lang="en-GB" sz="1200" dirty="0"/>
              <a:t>---large negative effect on demand—consumption &amp; imports is estimated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61529" y="1143000"/>
            <a:ext cx="11654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400" b="1" i="1" dirty="0">
                <a:latin typeface="Times New Roman" panose="02020603050405020304" pitchFamily="18" charset="0"/>
              </a:rPr>
              <a:t>Fiscal policies (“fiscal stance”) affect output in the short-run via several channels captured in the model: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676400"/>
            <a:ext cx="3505200" cy="2253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434526" cy="15370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</a:t>
            </a:r>
            <a:r>
              <a:rPr lang="en-US" sz="1200" dirty="0">
                <a:latin typeface="+mn-lt"/>
              </a:rPr>
              <a:t>Govt. demand, % GDP level is below its structural </a:t>
            </a:r>
            <a:r>
              <a:rPr lang="en-US" sz="1200">
                <a:latin typeface="+mn-lt"/>
              </a:rPr>
              <a:t>trend 2023Q2-2027</a:t>
            </a:r>
            <a:endParaRPr lang="en-US" sz="12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a negative gap and a fiscal consolidation post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5385"/>
            <a:ext cx="10617200" cy="445714"/>
          </a:xfrm>
        </p:spPr>
        <p:txBody>
          <a:bodyPr/>
          <a:lstStyle/>
          <a:p>
            <a:r>
              <a:rPr lang="en-GB" b="1" dirty="0"/>
              <a:t>  </a:t>
            </a: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Fiscal stance (ii): fiscal impulse affects output via private demand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3962400"/>
            <a:ext cx="6172200" cy="26042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total effect on output</a:t>
            </a:r>
            <a:r>
              <a:rPr lang="en-GB" sz="1600" b="1" dirty="0">
                <a:solidFill>
                  <a:schemeClr val="accent1"/>
                </a:solidFill>
              </a:rPr>
              <a:t> </a:t>
            </a:r>
            <a:r>
              <a:rPr lang="en-GB" sz="1600" i="1" dirty="0"/>
              <a:t>(direct &amp; 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</a:rPr>
              <a:t>combination of lower government demand and a negative fiscal impulse </a:t>
            </a:r>
            <a:endParaRPr lang="en-GB" sz="1800" dirty="0">
              <a:ea typeface="Calibri" panose="020F0502020204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a typeface="Calibri" panose="020F0502020204030204" pitchFamily="34" charset="0"/>
              </a:rPr>
              <a:t>e</a:t>
            </a:r>
            <a:r>
              <a:rPr lang="en-GB" sz="1400" dirty="0">
                <a:effectLst/>
                <a:ea typeface="Calibri" panose="020F0502020204030204" pitchFamily="34" charset="0"/>
              </a:rPr>
              <a:t>stimated to have </a:t>
            </a:r>
            <a:r>
              <a:rPr lang="en-GB" sz="14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an important (desirable) </a:t>
            </a:r>
            <a:r>
              <a:rPr lang="en-GB" sz="1400" dirty="0">
                <a:effectLst/>
                <a:ea typeface="Calibri" panose="020F0502020204030204" pitchFamily="34" charset="0"/>
              </a:rPr>
              <a:t>negative effect on output during 2023/24-2025/26 </a:t>
            </a:r>
            <a:endParaRPr lang="en-GB" sz="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average negative discretionary deficit of 1½% of GDP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estimated </a:t>
            </a:r>
            <a:r>
              <a:rPr lang="en-GB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 se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lower real GDP by some 1.2%, mainly from lower government for G&amp;S </a:t>
            </a:r>
            <a:r>
              <a:rPr lang="en-GB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(0.66) and the remainder (0.5)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lower private demand.</a:t>
            </a:r>
            <a:endParaRPr lang="en-RW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81000" y="4515969"/>
            <a:ext cx="4724400" cy="156786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deficit 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affecting private demand and hence output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indirectly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endParaRPr lang="en-GB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positive on average in 2020-22, 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---turns negative from late 2022 onward </a:t>
            </a:r>
            <a:endParaRPr lang="en-GB" sz="1200" dirty="0"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---remains so for several years before fading out by 2027</a:t>
            </a:r>
            <a:endParaRPr lang="en-RW" sz="16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8088"/>
            <a:ext cx="43129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294" y="1251557"/>
            <a:ext cx="4495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53211"/>
            <a:ext cx="10410934" cy="537557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Fiscal stance: deficit and its components</a:t>
            </a:r>
            <a:r>
              <a:rPr lang="en-GB" sz="2400" b="1" dirty="0"/>
              <a:t> </a:t>
            </a:r>
            <a:r>
              <a:rPr lang="en-GB" sz="1800" dirty="0"/>
              <a:t>(revenue, spending)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F08F-8A35-9763-9C22-CE8AAC6E4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17" y="1230629"/>
            <a:ext cx="3124200" cy="2350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5" y="1314450"/>
            <a:ext cx="2971800" cy="2602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134" y="1371600"/>
            <a:ext cx="3048000" cy="2526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597" y="1306829"/>
            <a:ext cx="2479787" cy="23507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3821429"/>
            <a:ext cx="5567198" cy="258352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 GDP (revenue &amp; demand/spending)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deficit </a:t>
            </a:r>
            <a:r>
              <a:rPr lang="en-GB" sz="12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 2023/24-2024/25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(10.8% &amp; 9.7% of GDP in 2025/26, down from 12% for 2022/23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inline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the IMF PCI program)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show a sharp reduction in deficit (before grants) and spending on G&amp;S, as discretionary spending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reduces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b="1" dirty="0">
                <a:latin typeface="+mn-lt"/>
                <a:ea typeface="Calibri" panose="020F0502020204030204" pitchFamily="34" charset="0"/>
              </a:rPr>
              <a:t>post </a:t>
            </a:r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tuned PCI-program (2025/26 onward)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---fiscal deficit to converge to a sustainable deficit (before grants) of 8%  and 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constituent parts (revenue, spending,…) are forecast to gradually move to their structural levels</a:t>
            </a:r>
            <a:endParaRPr lang="en-US" sz="1200" dirty="0">
              <a:latin typeface="+mn-lt"/>
              <a:ea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67200"/>
            <a:ext cx="5867400" cy="20390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deficit, % GDP </a:t>
            </a:r>
            <a:r>
              <a:rPr lang="en-US" sz="1200" dirty="0">
                <a:latin typeface="+mn-lt"/>
              </a:rPr>
              <a:t>(</a:t>
            </a:r>
            <a:r>
              <a:rPr lang="en-US" sz="900" dirty="0">
                <a:latin typeface="+mn-lt"/>
              </a:rPr>
              <a:t>structural</a:t>
            </a:r>
            <a:r>
              <a:rPr lang="en-US" sz="1050" dirty="0">
                <a:latin typeface="+mn-lt"/>
              </a:rPr>
              <a:t>, discretional and cyclical)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---structural deficit evolving 8% average sustainable level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+mn-lt"/>
              </a:rPr>
              <a:t>--volatility in deficit mostly dominated by discretional spending (Govt. demand for G&amp;S and other expenditure </a:t>
            </a:r>
            <a:r>
              <a:rPr lang="en-US" sz="1100" dirty="0">
                <a:latin typeface="+mn-lt"/>
              </a:rPr>
              <a:t>(</a:t>
            </a:r>
            <a:r>
              <a:rPr lang="en-US" sz="1100" dirty="0" err="1">
                <a:latin typeface="+mn-lt"/>
              </a:rPr>
              <a:t>i.e</a:t>
            </a:r>
            <a:r>
              <a:rPr lang="en-US" sz="1100" dirty="0">
                <a:latin typeface="+mn-lt"/>
              </a:rPr>
              <a:t>, transfers, subsidies and net lending)</a:t>
            </a:r>
            <a:endParaRPr lang="en-US" sz="1400" dirty="0"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lang="en-US" sz="1400" i="1" dirty="0">
                <a:latin typeface="+mn-lt"/>
              </a:rPr>
              <a:t>---reduction in deficit (consolidation) driven by a fall in discretional spending for post 2023</a:t>
            </a:r>
            <a:endParaRPr lang="en-RW" i="1" dirty="0"/>
          </a:p>
        </p:txBody>
      </p:sp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</a:t>
            </a:r>
            <a:r>
              <a:rPr lang="en-US" sz="1400" b="1" dirty="0">
                <a:solidFill>
                  <a:prstClr val="black"/>
                </a:solidFill>
                <a:latin typeface="Gill Sans MT"/>
              </a:rPr>
              <a:t>h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eadline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CPI &amp; components)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3695697"/>
            <a:ext cx="2608427" cy="2384579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energy-CPI,  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/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rapid drop (from a peak in 2022Q4) is mainly driven by direct effect of imported energy prices which are projected to fall throughout 2023-27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200" dirty="0"/>
              <a:t>---</a:t>
            </a:r>
            <a:r>
              <a:rPr lang="en-GB" sz="1050" dirty="0"/>
              <a:t>exchange rate depreciation exerts some upward pressure, but offset by drop in foreign energy prices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/>
              <a:t>---shocks projected to disappear since 2024Q1(typically large especially in 2022-23, reflecting the Oct 2023 pump price increase)</a:t>
            </a:r>
            <a:endParaRPr 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2" y="3771952"/>
            <a:ext cx="3177539" cy="230832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headline—CPI, (YoY %)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US" sz="1050" b="1" dirty="0">
                <a:latin typeface="+mn-lt"/>
              </a:rPr>
              <a:t>for late 2023 – early 2024 </a:t>
            </a:r>
            <a:r>
              <a:rPr lang="en-US" sz="1050" dirty="0">
                <a:latin typeface="+mn-lt"/>
              </a:rPr>
              <a:t>(</a:t>
            </a:r>
            <a:r>
              <a:rPr lang="en-GB" sz="1050" dirty="0">
                <a:latin typeface="+mn-lt"/>
              </a:rPr>
              <a:t>having peaked in 2022Q2)</a:t>
            </a:r>
            <a:r>
              <a:rPr lang="en-US" sz="1050" dirty="0">
                <a:latin typeface="+mn-lt"/>
              </a:rPr>
              <a:t> </a:t>
            </a:r>
            <a:r>
              <a:rPr lang="en-US" sz="1050" b="1" dirty="0">
                <a:latin typeface="+mn-lt"/>
              </a:rPr>
              <a:t>forecasted to continue declining but with a modest flare-up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GB" sz="1050" b="1" dirty="0">
                <a:latin typeface="+mn-lt"/>
              </a:rPr>
              <a:t>from 2024Q2, should decline below 5%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+mn-lt"/>
              </a:rPr>
              <a:t>   --modest drop in world food and oil prices,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+mn-lt"/>
              </a:rPr>
              <a:t>   --improved domestic food supply &amp; earlier shocks fading</a:t>
            </a:r>
            <a:endParaRPr lang="en-US" sz="1050" dirty="0">
              <a:latin typeface="+mn-lt"/>
            </a:endParaRP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GB" sz="1050" dirty="0">
                <a:latin typeface="+mn-lt"/>
              </a:rPr>
              <a:t>largest contribution comes from the moderate food price increases, even with a short period of falling prices.</a:t>
            </a:r>
            <a:endParaRPr lang="en-RW" sz="12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46710"/>
            <a:ext cx="3177539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015" y="1227366"/>
            <a:ext cx="2816860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227366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3741735"/>
            <a:ext cx="2894570" cy="233854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food-CPI,  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/>
              <a:t>---</a:t>
            </a:r>
            <a:r>
              <a:rPr lang="en-GB" sz="1000" dirty="0">
                <a:effectLst/>
                <a:ea typeface="Calibri" panose="020F0502020204030204" pitchFamily="34" charset="0"/>
              </a:rPr>
              <a:t>rapid drop (from a peak in 2022Q4) is mainly driven by declining negative agricultural output gaps (which in part drove prices up from late 2021 to late 2023),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/>
              <a:t>---</a:t>
            </a:r>
            <a:r>
              <a:rPr lang="en-GB" sz="1100" dirty="0">
                <a:effectLst/>
                <a:ea typeface="Calibri" panose="020F0502020204030204" pitchFamily="34" charset="0"/>
              </a:rPr>
              <a:t>direct effect of imported food prices is upward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>
                <a:ea typeface="Calibri" panose="020F0502020204030204" pitchFamily="34" charset="0"/>
              </a:rPr>
              <a:t>---</a:t>
            </a:r>
            <a:r>
              <a:rPr lang="en-GB" sz="1100" dirty="0">
                <a:effectLst/>
                <a:ea typeface="Calibri" panose="020F0502020204030204" pitchFamily="34" charset="0"/>
              </a:rPr>
              <a:t>indirect effect of the food RER gap is downward </a:t>
            </a:r>
            <a:r>
              <a:rPr lang="en-US" sz="1100" dirty="0"/>
              <a:t>falls in mid-2025 slightly below its target of 4.5%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/>
              <a:t>---</a:t>
            </a:r>
            <a:r>
              <a:rPr lang="en-GB" sz="1100" dirty="0"/>
              <a:t>s</a:t>
            </a:r>
            <a:r>
              <a:rPr lang="en-GB" sz="1100" dirty="0">
                <a:effectLst/>
                <a:ea typeface="Calibri" panose="020F0502020204030204" pitchFamily="34" charset="0"/>
              </a:rPr>
              <a:t>hocks, already small in 2024, are forecast to subside in the near term </a:t>
            </a:r>
            <a:endParaRPr lang="en-US" sz="11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485099" y="3741735"/>
            <a:ext cx="2768600" cy="233854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core-CPI,  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/>
              <a:t>---gradual drop driven by inflationary expectations, small upward direct effects of import prices and REER</a:t>
            </a:r>
            <a:r>
              <a:rPr lang="en-US" sz="1050" dirty="0"/>
              <a:t>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</a:rPr>
              <a:t>--</a:t>
            </a:r>
            <a:r>
              <a:rPr lang="en-GB" sz="800" dirty="0">
                <a:effectLst/>
                <a:ea typeface="Calibri" panose="020F0502020204030204" pitchFamily="34" charset="0"/>
              </a:rPr>
              <a:t>small downward effect of persisting post-Covid negative output gap and gradual subsiding of shocks</a:t>
            </a:r>
            <a:endParaRPr lang="en-US" sz="800" dirty="0">
              <a:solidFill>
                <a:srgbClr val="C0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sz="1050" dirty="0"/>
              <a:t>---falls in mid-2025 slightly below its target of 4.5%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US" sz="650" dirty="0"/>
              <a:t>--</a:t>
            </a:r>
            <a:r>
              <a:rPr lang="en-US" sz="900" dirty="0"/>
              <a:t>down-pull from remaining negative output gap,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charset="-128"/>
                <a:cs typeface="+mn-cs"/>
              </a:rPr>
              <a:t>---somewhat overshoots in 2026-27 (to.5.5%) as a small positive output gap emerges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t>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220797"/>
            <a:ext cx="2913926" cy="240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81000"/>
            <a:ext cx="10261600" cy="492745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Policy interest rate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rate, IB)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216273" y="3544556"/>
            <a:ext cx="2762125" cy="285624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b="1" dirty="0">
                <a:cs typeface="Times New Roman" panose="02020603050405020304" pitchFamily="18" charset="0"/>
              </a:rPr>
              <a:t>---</a:t>
            </a:r>
            <a:r>
              <a:rPr lang="en-GB" sz="1200" dirty="0">
                <a:cs typeface="Times New Roman" panose="02020603050405020304" pitchFamily="18" charset="0"/>
              </a:rPr>
              <a:t>4Qos forward average RIR(IB) + lending premium (+ 9% points above the IB rate)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/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movement in the RIR (as affected by NBR policies) is transmitted to the</a:t>
            </a:r>
            <a:r>
              <a:rPr lang="en-GB" sz="1050" b="1" dirty="0">
                <a:effectLst/>
                <a:ea typeface="Calibri" panose="020F0502020204030204" pitchFamily="34" charset="0"/>
              </a:rPr>
              <a:t> real lending rate</a:t>
            </a:r>
            <a:r>
              <a:rPr lang="en-GB" sz="1050" dirty="0">
                <a:effectLst/>
                <a:ea typeface="Calibri" panose="020F0502020204030204" pitchFamily="34" charset="0"/>
              </a:rPr>
              <a:t> </a:t>
            </a:r>
            <a:r>
              <a:rPr lang="en-GB" sz="1050" b="1" i="1" dirty="0">
                <a:effectLst/>
                <a:ea typeface="Calibri" panose="020F0502020204030204" pitchFamily="34" charset="0"/>
              </a:rPr>
              <a:t>for private demand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ea typeface="Calibri" panose="020F0502020204030204" pitchFamily="34" charset="0"/>
              </a:rPr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above trend during Covid and much below trend, even negative, when inflation surged in 2022-23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ea typeface="Calibri" panose="020F0502020204030204" pitchFamily="34" charset="0"/>
              </a:rPr>
              <a:t>---</a:t>
            </a:r>
            <a:r>
              <a:rPr lang="en-GB" sz="1050" b="1" dirty="0">
                <a:effectLst/>
                <a:ea typeface="Calibri" panose="020F0502020204030204" pitchFamily="34" charset="0"/>
              </a:rPr>
              <a:t>forecast to rise to close to its trend level in 2023, with a depressing (increasingly less positive) effect on private demand</a:t>
            </a:r>
            <a:endParaRPr lang="en-GB" sz="1050" b="1" i="1" dirty="0">
              <a:ea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70026" y="3544556"/>
            <a:ext cx="2936458" cy="219579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assumed unchanged </a:t>
            </a:r>
            <a:r>
              <a:rPr lang="en-US" sz="1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 Q4 2023, assuming NBR would keep its CBR unchanged from August 2023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 </a:t>
            </a:r>
            <a:r>
              <a:rPr lang="en-US" sz="1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(equal to repo rate; CBR not shown separately)</a:t>
            </a:r>
          </a:p>
          <a:p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--IB trend/neutral level </a:t>
            </a:r>
            <a:r>
              <a:rPr lang="en-US" sz="1050" dirty="0">
                <a:effectLst/>
                <a:latin typeface="+mn-lt"/>
                <a:ea typeface="Calibri" panose="020F0502020204030204" pitchFamily="34" charset="0"/>
              </a:rPr>
              <a:t>(7.5%</a:t>
            </a:r>
            <a:r>
              <a:rPr lang="en-US" sz="1100" dirty="0">
                <a:effectLst/>
                <a:latin typeface="+mn-lt"/>
                <a:ea typeface="Calibri" panose="020F0502020204030204" pitchFamily="34" charset="0"/>
              </a:rPr>
              <a:t>), </a:t>
            </a:r>
            <a:endParaRPr lang="en-US" sz="1400" dirty="0">
              <a:effectLst/>
              <a:latin typeface="+mn-lt"/>
              <a:ea typeface="Calibri" panose="020F0502020204030204" pitchFamily="34" charset="0"/>
            </a:endParaRPr>
          </a:p>
          <a:p>
            <a:pPr marL="182562" lvl="1">
              <a:lnSpc>
                <a:spcPct val="107000"/>
              </a:lnSpc>
              <a:spcAft>
                <a:spcPts val="600"/>
              </a:spcAft>
              <a:defRPr/>
            </a:pPr>
            <a:r>
              <a:rPr lang="en-US" sz="1000" dirty="0">
                <a:latin typeface="+mn-lt"/>
                <a:cs typeface="Times New Roman" panose="02020603050405020304" pitchFamily="18" charset="0"/>
              </a:rPr>
              <a:t>--determined by trend foreign RIR (0-0.5%), country risk premium (2%), and core inflation target (4.5%)</a:t>
            </a:r>
            <a:endParaRPr lang="en-RW" sz="1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544555"/>
            <a:ext cx="2740872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RIR—IB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cs typeface="Times New Roman" panose="02020603050405020304" pitchFamily="18" charset="0"/>
              </a:rPr>
              <a:t>---significant drop into negative territory since early 2021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cs typeface="Times New Roman" panose="02020603050405020304" pitchFamily="18" charset="0"/>
              </a:rPr>
              <a:t>--high inflation and lagged interest policy response</a:t>
            </a:r>
            <a:r>
              <a:rPr lang="en-GB" sz="8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cs typeface="Times New Roman" panose="02020603050405020304" pitchFamily="18" charset="0"/>
              </a:rPr>
              <a:t>---forecast to pick up on late 2022 level, as nominal interest rates rise and inflation eases,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cs typeface="Times New Roman" panose="02020603050405020304" pitchFamily="18" charset="0"/>
              </a:rPr>
              <a:t>---forecast to remain below its trend level of 2-2.5% and even slightly drop in mid-2025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ea typeface="Calibri" panose="020F0502020204030204" pitchFamily="34" charset="0"/>
              </a:rPr>
              <a:t>--</a:t>
            </a:r>
            <a:r>
              <a:rPr lang="en-GB" sz="9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as inflation flares up temporarily due to demand pressure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196238" y="3544556"/>
            <a:ext cx="3057461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2024: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--expected inflation deviation from target (-)</a:t>
            </a:r>
            <a:endParaRPr lang="en-RW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--negative output gap (-)</a:t>
            </a:r>
            <a:endParaRPr lang="en-RW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--pull from neutral interest rate (7%) (+)</a:t>
            </a:r>
            <a:endParaRPr lang="en-RW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--gradual interest rate changes,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200" b="1" dirty="0">
                <a:effectLst/>
                <a:ea typeface="Calibri" panose="020F0502020204030204" pitchFamily="34" charset="0"/>
              </a:rPr>
              <a:t>IB rate, %</a:t>
            </a:r>
            <a:endParaRPr lang="en-US" sz="12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ＭＳ Ｐゴシック" charset="-128"/>
                <a:cs typeface="Times New Roman" panose="02020603050405020304" pitchFamily="18" charset="0"/>
              </a:rPr>
              <a:t>gradually lowered from its peak of close to 8% in August 2023 to around 6½% in late 2024 </a:t>
            </a:r>
            <a:endParaRPr kumimoji="0" lang="en-RW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ＭＳ Ｐゴシック" charset="-128"/>
              <a:cs typeface="Times New Roman" panose="02020603050405020304" pitchFamily="18" charset="0"/>
            </a:endParaRPr>
          </a:p>
          <a:p>
            <a:pPr marL="182562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--as inflation drops below the 5% target and a negative output gap remains.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100" dirty="0">
                <a:cs typeface="Times New Roman" panose="02020603050405020304" pitchFamily="18" charset="0"/>
              </a:rPr>
              <a:t>from mid-2025, converges to its trend/neutral level (7.5%</a:t>
            </a:r>
            <a:endParaRPr lang="en-RW" sz="11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25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238" y="1220078"/>
            <a:ext cx="3045638" cy="225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21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90"/>
            <a:ext cx="2872976" cy="2196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451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84821"/>
            <a:ext cx="10261600" cy="507362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Nominal and Real Exchange Rate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(ER &amp; RER)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943600" y="3544556"/>
            <a:ext cx="6034799" cy="287212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QoQ%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---slowdown in the pace of depreciation (from its high in 2023) to return gradually to its (zero) trend level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---upward correction in 2022-23 estimated to favourably affect net exports and demand </a:t>
            </a:r>
            <a:r>
              <a:rPr lang="en-GB" sz="1200" dirty="0"/>
              <a:t>(reversing a sharp RER decline during 2021-22)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---</a:t>
            </a:r>
            <a:r>
              <a:rPr lang="en-GB" sz="1400" b="1" dirty="0"/>
              <a:t>rise to its trend level (</a:t>
            </a:r>
            <a:r>
              <a:rPr lang="en-GB" sz="1200" b="1" dirty="0"/>
              <a:t>with some overshooting in 2024</a:t>
            </a:r>
            <a:r>
              <a:rPr lang="en-GB" sz="1400" b="1" dirty="0"/>
              <a:t>) and to affect demand favourably in 2023-24.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/>
              <a:t> ---after overvalued RER had a downward effect on net exports demand in 2021 when the economy emerged from Covid</a:t>
            </a:r>
            <a:endParaRPr lang="en-RW" sz="105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13603" y="3544556"/>
            <a:ext cx="5577598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nominal ER,  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---forecast reflects NBR’s flexible exchange rate policy and its hybrid rule in practice </a:t>
            </a:r>
          </a:p>
          <a:p>
            <a:pPr marL="274638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ea typeface="Calibri" panose="020F0502020204030204" pitchFamily="34" charset="0"/>
              </a:rPr>
              <a:t>--</a:t>
            </a:r>
            <a:r>
              <a:rPr lang="en-GB" sz="1000" dirty="0">
                <a:effectLst/>
                <a:ea typeface="Calibri" panose="020F0502020204030204" pitchFamily="34" charset="0"/>
              </a:rPr>
              <a:t>steering the ER to the </a:t>
            </a:r>
            <a:r>
              <a:rPr lang="en-GB" sz="1000" b="1" dirty="0">
                <a:solidFill>
                  <a:srgbClr val="4472C4"/>
                </a:solidFill>
                <a:effectLst/>
                <a:ea typeface="Calibri" panose="020F0502020204030204" pitchFamily="34" charset="0"/>
              </a:rPr>
              <a:t>target ER</a:t>
            </a:r>
            <a:r>
              <a:rPr lang="en-GB" sz="1000" dirty="0">
                <a:effectLst/>
                <a:ea typeface="Calibri" panose="020F0502020204030204" pitchFamily="34" charset="0"/>
              </a:rPr>
              <a:t> such that the RER gradually matches the target depreciation rate</a:t>
            </a:r>
            <a:endParaRPr lang="en-US" sz="1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---continue its recent fast depreciation than target (</a:t>
            </a:r>
            <a:r>
              <a:rPr lang="en-GB" sz="1200" dirty="0">
                <a:effectLst/>
                <a:ea typeface="Calibri" panose="020F0502020204030204" pitchFamily="34" charset="0"/>
              </a:rPr>
              <a:t>annualized 15% for most of 2023</a:t>
            </a:r>
            <a:r>
              <a:rPr lang="en-GB" sz="1600" dirty="0">
                <a:effectLst/>
                <a:ea typeface="Calibri" panose="020F0502020204030204" pitchFamily="34" charset="0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a typeface="Calibri" panose="020F0502020204030204" pitchFamily="34" charset="0"/>
              </a:rPr>
              <a:t>---</a:t>
            </a:r>
            <a:r>
              <a:rPr lang="en-GB" sz="1600" dirty="0">
                <a:effectLst/>
                <a:ea typeface="Calibri" panose="020F0502020204030204" pitchFamily="34" charset="0"/>
              </a:rPr>
              <a:t>correcting for the recent overvaluation due to high domestic inflation. </a:t>
            </a:r>
            <a:endParaRPr lang="en-GB" sz="1600" dirty="0"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---th</a:t>
            </a:r>
            <a:r>
              <a:rPr lang="en-GB" sz="1600" dirty="0">
                <a:ea typeface="Calibri" panose="020F0502020204030204" pitchFamily="34" charset="0"/>
              </a:rPr>
              <a:t>en</a:t>
            </a:r>
            <a:r>
              <a:rPr lang="en-GB" sz="1600" dirty="0">
                <a:effectLst/>
                <a:ea typeface="Calibri" panose="020F0502020204030204" pitchFamily="34" charset="0"/>
              </a:rPr>
              <a:t> returns gradually to the target ER depreciation rate</a:t>
            </a: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0900"/>
            <a:ext cx="3062605" cy="20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03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795" y="1250020"/>
            <a:ext cx="3149405" cy="20370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72" y="1250021"/>
            <a:ext cx="2371725" cy="20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5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sz="2400" b="1" dirty="0">
                <a:latin typeface="Gill Sans MT" panose="020B0502020104020203" pitchFamily="34" charset="0"/>
              </a:rPr>
              <a:t>V. Comparison with Integrated Macro Framework </a:t>
            </a:r>
            <a:r>
              <a:rPr lang="en-GB" sz="2000" dirty="0">
                <a:latin typeface="Gill Sans MT" panose="020B0502020104020203" pitchFamily="34" charset="0"/>
              </a:rPr>
              <a:t>(</a:t>
            </a:r>
            <a:r>
              <a:rPr lang="en-GB" sz="2000" dirty="0" err="1">
                <a:latin typeface="Gill Sans MT" panose="020B0502020104020203" pitchFamily="34" charset="0"/>
              </a:rPr>
              <a:t>intMF</a:t>
            </a:r>
            <a:r>
              <a:rPr lang="en-GB" sz="2000" dirty="0">
                <a:latin typeface="Gill Sans MT" panose="020B0502020104020203" pitchFamily="34" charset="0"/>
              </a:rPr>
              <a:t>)</a:t>
            </a:r>
            <a:r>
              <a:rPr lang="en-GB" sz="2400" b="1" dirty="0">
                <a:latin typeface="Gill Sans MT" panose="020B0502020104020203" pitchFamily="34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Gill Sans MT" panose="020B0502020104020203" pitchFamily="34" charset="0"/>
              </a:rPr>
              <a:t>(to update)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3094E-1336-0995-9656-8BC6EB6A523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2128" y="1219200"/>
            <a:ext cx="6367272" cy="5197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F510-5DC4-1731-C553-7FA3528B4B78}"/>
              </a:ext>
            </a:extLst>
          </p:cNvPr>
          <p:cNvSpPr txBox="1"/>
          <p:nvPr/>
        </p:nvSpPr>
        <p:spPr>
          <a:xfrm>
            <a:off x="6781800" y="1219200"/>
            <a:ext cx="5257800" cy="498598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8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comparison with latest intMF projection </a:t>
            </a:r>
            <a:r>
              <a:rPr lang="en-US" sz="14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(PCI)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process of reconciling results from different tools, in iterative manner (at least for each Review)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 better traces final demands and output in ST, smooth behavioral functions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has private investment exogenous, consumption residual, can lead to implausible projection, volatility</a:t>
            </a:r>
          </a:p>
          <a:p>
            <a:pPr lvl="0">
              <a:lnSpc>
                <a:spcPct val="150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600" b="1" dirty="0">
                <a:solidFill>
                  <a:srgbClr val="0070C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current comparison</a:t>
            </a: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average CPI inflation in 2023, more accurate as it traces inflation by quarter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QMFM: </a:t>
            </a:r>
            <a:r>
              <a:rPr lang="en-US" sz="16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</a:t>
            </a: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post-PCI fiscal deficits </a:t>
            </a:r>
            <a:r>
              <a:rPr lang="en-US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(sustainable level) </a:t>
            </a: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1600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</a:t>
            </a: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post-2023 </a:t>
            </a: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ER </a:t>
            </a: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depreciation than intMF</a:t>
            </a:r>
          </a:p>
          <a:p>
            <a:pPr lvl="0">
              <a:spcAft>
                <a:spcPts val="800"/>
              </a:spcAft>
              <a:tabLst>
                <a:tab pos="457200" algn="l"/>
              </a:tabLst>
            </a:pPr>
            <a:r>
              <a:rPr lang="en-US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 (assumes large pre-Covid RER overvaluation to be corrected)</a:t>
            </a:r>
            <a:endParaRPr lang="en-US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some differences due to measurement of govt demand in NA vs Budget and anomalies in inventories in NA (to be resolved by NISR)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data inputs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</a:t>
            </a: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–debt  stock, fiscal (deficit, Govt demand (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g&amp;s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investiment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–GDP and Govt. consumption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BNR-monetary survey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–interest and exchange rates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—foreign/trading patterners projections (i.e., output, interest rates, prices)</a:t>
            </a:r>
          </a:p>
          <a:p>
            <a:pPr>
              <a:spcAft>
                <a:spcPts val="800"/>
              </a:spcAft>
            </a:pPr>
            <a:endParaRPr lang="en-US" sz="1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data issues and requests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Model results (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proj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.) on key macro indicators compared/cross-checked with 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 for consistency </a:t>
            </a:r>
          </a:p>
          <a:p>
            <a:pPr marL="628650" lvl="1" indent="-1714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so imperative to get full consistent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earlier ahead of model forecast round (i.e., fiscal (Qo treasury plan for 2023/24 is not available) and Debt stock –actual  or provisional data)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inconsistency—diff. definition between NA &amp; budget Govt consumption (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NA overestimation of Govt cons by considering part of Govt investment as consumption)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pending NISR corrections,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(real &amp; fiscal) should reflect/follow QMFM treatment (i.e., 80% govt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invBudget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and rest added on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consNA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NBR-FPAS inflation &amp; ER ann. outlook for model ‘’tuning judgment’’</a:t>
            </a:r>
          </a:p>
        </p:txBody>
      </p:sp>
    </p:spTree>
    <p:extLst>
      <p:ext uri="{BB962C8B-B14F-4D97-AF65-F5344CB8AC3E}">
        <p14:creationId xmlns:p14="http://schemas.microsoft.com/office/powerpoint/2010/main" val="3565047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38970</TotalTime>
  <Words>4569</Words>
  <Application>Microsoft Office PowerPoint</Application>
  <PresentationFormat>Widescreen</PresentationFormat>
  <Paragraphs>394</Paragraphs>
  <Slides>27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Document</vt:lpstr>
      <vt:lpstr>PowerPoint Presentation</vt:lpstr>
      <vt:lpstr>Outline/contents</vt:lpstr>
      <vt:lpstr>I. Rationale of outlook &amp; underlying model</vt:lpstr>
      <vt:lpstr>1I. Recent macroeconomic developments (2017-23Q2) Real GDP/Output</vt:lpstr>
      <vt:lpstr>1I. Recent macroeconomic developments  Fiscal policies and deficit components (2015/16-2022/23)</vt:lpstr>
      <vt:lpstr>Inflation—headline CPI </vt:lpstr>
      <vt:lpstr>Monetary policies (i): market interest rates (2019-23)</vt:lpstr>
      <vt:lpstr>Monetary policies (ii): exchange rates (2019-23)</vt:lpstr>
      <vt:lpstr>III. Macroeconomic Forecast Assumptions  Summary current cyclical position &amp; policy stance &amp; ExtEnv</vt:lpstr>
      <vt:lpstr>External environment assumptions (IMF WEO-GAS &amp; GEE)</vt:lpstr>
      <vt:lpstr>Domestic environment assumptions</vt:lpstr>
      <vt:lpstr>IV. Macroeconomic forecast/outlook Summary of macroeconomic forecast/outlook (2023Q3-2027Q4)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</vt:lpstr>
      <vt:lpstr>Fiscal stance (i): govt demand for G&amp;S affects output directly</vt:lpstr>
      <vt:lpstr>  Fiscal stance (ii): fiscal impulse affects output via private demand</vt:lpstr>
      <vt:lpstr>Fiscal stance: deficit and its components (revenue, spending)</vt:lpstr>
      <vt:lpstr>Forecast—Inflation (headline CPI &amp; components)</vt:lpstr>
      <vt:lpstr>Forecast—Policy interest rate (interbank rate, IB) </vt:lpstr>
      <vt:lpstr>Forecast—Nominal and Real Exchange Rate (ER &amp; RER)</vt:lpstr>
      <vt:lpstr>V. Comparison with Integrated Macro Framework (intMF) (to update)</vt:lpstr>
      <vt:lpstr>VI. Data issues and requests &amp; suggestions</vt:lpstr>
      <vt:lpstr>VII. Alternative scenario: higher foreign food/oil prices (2023-24)</vt:lpstr>
      <vt:lpstr>VIII. 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1550</cp:revision>
  <cp:lastPrinted>2023-06-23T12:26:08Z</cp:lastPrinted>
  <dcterms:created xsi:type="dcterms:W3CDTF">2011-04-18T20:01:25Z</dcterms:created>
  <dcterms:modified xsi:type="dcterms:W3CDTF">2024-01-31T19:24:26Z</dcterms:modified>
</cp:coreProperties>
</file>