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16" r:id="rId1"/>
  </p:sldMasterIdLst>
  <p:notesMasterIdLst>
    <p:notesMasterId r:id="rId34"/>
  </p:notesMasterIdLst>
  <p:handoutMasterIdLst>
    <p:handoutMasterId r:id="rId35"/>
  </p:handoutMasterIdLst>
  <p:sldIdLst>
    <p:sldId id="540" r:id="rId2"/>
    <p:sldId id="547" r:id="rId3"/>
    <p:sldId id="511" r:id="rId4"/>
    <p:sldId id="548" r:id="rId5"/>
    <p:sldId id="512" r:id="rId6"/>
    <p:sldId id="516" r:id="rId7"/>
    <p:sldId id="549" r:id="rId8"/>
    <p:sldId id="552" r:id="rId9"/>
    <p:sldId id="524" r:id="rId10"/>
    <p:sldId id="513" r:id="rId11"/>
    <p:sldId id="515" r:id="rId12"/>
    <p:sldId id="514" r:id="rId13"/>
    <p:sldId id="551" r:id="rId14"/>
    <p:sldId id="517" r:id="rId15"/>
    <p:sldId id="541" r:id="rId16"/>
    <p:sldId id="538" r:id="rId17"/>
    <p:sldId id="544" r:id="rId18"/>
    <p:sldId id="542" r:id="rId19"/>
    <p:sldId id="539" r:id="rId20"/>
    <p:sldId id="526" r:id="rId21"/>
    <p:sldId id="401" r:id="rId22"/>
    <p:sldId id="525" r:id="rId23"/>
    <p:sldId id="527" r:id="rId24"/>
    <p:sldId id="528" r:id="rId25"/>
    <p:sldId id="530" r:id="rId26"/>
    <p:sldId id="532" r:id="rId27"/>
    <p:sldId id="521" r:id="rId28"/>
    <p:sldId id="523" r:id="rId29"/>
    <p:sldId id="536" r:id="rId30"/>
    <p:sldId id="535" r:id="rId31"/>
    <p:sldId id="531" r:id="rId32"/>
    <p:sldId id="545" r:id="rId33"/>
  </p:sldIdLst>
  <p:sldSz cx="12192000" cy="6858000"/>
  <p:notesSz cx="7102475" cy="9388475"/>
  <p:defaultTextStyle>
    <a:defPPr>
      <a:defRPr lang="en-US"/>
    </a:defPPr>
    <a:lvl1pPr algn="l" rtl="0" fontAlgn="base">
      <a:spcBef>
        <a:spcPct val="0"/>
      </a:spcBef>
      <a:spcAft>
        <a:spcPct val="0"/>
      </a:spcAft>
      <a:defRPr sz="2400" kern="1200">
        <a:solidFill>
          <a:schemeClr val="tx1"/>
        </a:solidFill>
        <a:latin typeface="Arial" charset="0"/>
        <a:ea typeface="ＭＳ Ｐゴシック" charset="-128"/>
        <a:cs typeface="+mn-cs"/>
      </a:defRPr>
    </a:lvl1pPr>
    <a:lvl2pPr marL="457200" algn="l" rtl="0" fontAlgn="base">
      <a:spcBef>
        <a:spcPct val="0"/>
      </a:spcBef>
      <a:spcAft>
        <a:spcPct val="0"/>
      </a:spcAft>
      <a:defRPr sz="2400" kern="1200">
        <a:solidFill>
          <a:schemeClr val="tx1"/>
        </a:solidFill>
        <a:latin typeface="Arial" charset="0"/>
        <a:ea typeface="ＭＳ Ｐゴシック" charset="-128"/>
        <a:cs typeface="+mn-cs"/>
      </a:defRPr>
    </a:lvl2pPr>
    <a:lvl3pPr marL="914400" algn="l" rtl="0" fontAlgn="base">
      <a:spcBef>
        <a:spcPct val="0"/>
      </a:spcBef>
      <a:spcAft>
        <a:spcPct val="0"/>
      </a:spcAft>
      <a:defRPr sz="2400" kern="1200">
        <a:solidFill>
          <a:schemeClr val="tx1"/>
        </a:solidFill>
        <a:latin typeface="Arial" charset="0"/>
        <a:ea typeface="ＭＳ Ｐゴシック" charset="-128"/>
        <a:cs typeface="+mn-cs"/>
      </a:defRPr>
    </a:lvl3pPr>
    <a:lvl4pPr marL="1371600" algn="l" rtl="0" fontAlgn="base">
      <a:spcBef>
        <a:spcPct val="0"/>
      </a:spcBef>
      <a:spcAft>
        <a:spcPct val="0"/>
      </a:spcAft>
      <a:defRPr sz="2400" kern="1200">
        <a:solidFill>
          <a:schemeClr val="tx1"/>
        </a:solidFill>
        <a:latin typeface="Arial" charset="0"/>
        <a:ea typeface="ＭＳ Ｐゴシック" charset="-128"/>
        <a:cs typeface="+mn-cs"/>
      </a:defRPr>
    </a:lvl4pPr>
    <a:lvl5pPr marL="1828800" algn="l" rtl="0" fontAlgn="base">
      <a:spcBef>
        <a:spcPct val="0"/>
      </a:spcBef>
      <a:spcAft>
        <a:spcPct val="0"/>
      </a:spcAft>
      <a:defRPr sz="2400" kern="1200">
        <a:solidFill>
          <a:schemeClr val="tx1"/>
        </a:solidFill>
        <a:latin typeface="Arial" charset="0"/>
        <a:ea typeface="ＭＳ Ｐゴシック" charset="-128"/>
        <a:cs typeface="+mn-cs"/>
      </a:defRPr>
    </a:lvl5pPr>
    <a:lvl6pPr marL="2286000" algn="l" defTabSz="914400" rtl="0" eaLnBrk="1" latinLnBrk="0" hangingPunct="1">
      <a:defRPr sz="2400" kern="1200">
        <a:solidFill>
          <a:schemeClr val="tx1"/>
        </a:solidFill>
        <a:latin typeface="Arial" charset="0"/>
        <a:ea typeface="ＭＳ Ｐゴシック" charset="-128"/>
        <a:cs typeface="+mn-cs"/>
      </a:defRPr>
    </a:lvl6pPr>
    <a:lvl7pPr marL="2743200" algn="l" defTabSz="914400" rtl="0" eaLnBrk="1" latinLnBrk="0" hangingPunct="1">
      <a:defRPr sz="2400" kern="1200">
        <a:solidFill>
          <a:schemeClr val="tx1"/>
        </a:solidFill>
        <a:latin typeface="Arial" charset="0"/>
        <a:ea typeface="ＭＳ Ｐゴシック" charset="-128"/>
        <a:cs typeface="+mn-cs"/>
      </a:defRPr>
    </a:lvl7pPr>
    <a:lvl8pPr marL="3200400" algn="l" defTabSz="914400" rtl="0" eaLnBrk="1" latinLnBrk="0" hangingPunct="1">
      <a:defRPr sz="2400" kern="1200">
        <a:solidFill>
          <a:schemeClr val="tx1"/>
        </a:solidFill>
        <a:latin typeface="Arial" charset="0"/>
        <a:ea typeface="ＭＳ Ｐゴシック" charset="-128"/>
        <a:cs typeface="+mn-cs"/>
      </a:defRPr>
    </a:lvl8pPr>
    <a:lvl9pPr marL="3657600" algn="l" defTabSz="914400" rtl="0" eaLnBrk="1" latinLnBrk="0" hangingPunct="1">
      <a:defRPr sz="2400" kern="1200">
        <a:solidFill>
          <a:schemeClr val="tx1"/>
        </a:solidFill>
        <a:latin typeface="Arial" charset="0"/>
        <a:ea typeface="ＭＳ Ｐゴシック" charset="-128"/>
        <a:cs typeface="+mn-cs"/>
      </a:defRPr>
    </a:lvl9pPr>
  </p:defaultTextStyle>
  <p:extLst>
    <p:ext uri="{521415D9-36F7-43E2-AB2F-B90AF26B5E84}">
      <p14:sectionLst xmlns:p14="http://schemas.microsoft.com/office/powerpoint/2010/main">
        <p14:section name="Default Section" id="{4EFA106F-A1D2-4A8C-B134-8F2A12C21D33}">
          <p14:sldIdLst>
            <p14:sldId id="540"/>
            <p14:sldId id="547"/>
            <p14:sldId id="511"/>
            <p14:sldId id="548"/>
            <p14:sldId id="512"/>
            <p14:sldId id="516"/>
            <p14:sldId id="549"/>
            <p14:sldId id="552"/>
            <p14:sldId id="524"/>
            <p14:sldId id="513"/>
            <p14:sldId id="515"/>
            <p14:sldId id="514"/>
            <p14:sldId id="551"/>
            <p14:sldId id="517"/>
            <p14:sldId id="541"/>
            <p14:sldId id="538"/>
            <p14:sldId id="544"/>
            <p14:sldId id="542"/>
            <p14:sldId id="539"/>
            <p14:sldId id="526"/>
            <p14:sldId id="401"/>
            <p14:sldId id="525"/>
            <p14:sldId id="527"/>
            <p14:sldId id="528"/>
            <p14:sldId id="530"/>
            <p14:sldId id="532"/>
            <p14:sldId id="521"/>
            <p14:sldId id="523"/>
            <p14:sldId id="536"/>
            <p14:sldId id="535"/>
            <p14:sldId id="531"/>
            <p14:sldId id="54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57" userDrawn="1">
          <p15:clr>
            <a:srgbClr val="A4A3A4"/>
          </p15:clr>
        </p15:guide>
        <p15:guide id="2" pos="2238"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56D2716-681C-0ED8-9BD4-37117C3B4FB8}" name="arend Kouwenaar" initials="aK" userId="adbbcea973320f35" providerId="Windows Live"/>
  <p188:author id="{FE78AC8B-25A4-2FA1-255B-A2BA7B6FF7E8}" name="Manirumva, Evariste" initials="ME" userId="S::emanirumva@icipe.org::fbb618da-2b8a-4a66-b30b-f0e53196d74f" providerId="AD"/>
  <p188:author id="{D5143AD7-E749-5E1E-371D-A585C0C727CD}" name="User" initials="U" userId="User"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BC0A"/>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093" autoAdjust="0"/>
    <p:restoredTop sz="93450" autoAdjust="0"/>
  </p:normalViewPr>
  <p:slideViewPr>
    <p:cSldViewPr>
      <p:cViewPr varScale="1">
        <p:scale>
          <a:sx n="106" d="100"/>
          <a:sy n="106" d="100"/>
        </p:scale>
        <p:origin x="324" y="114"/>
      </p:cViewPr>
      <p:guideLst>
        <p:guide orient="horz" pos="2160"/>
        <p:guide pos="3840"/>
      </p:guideLst>
    </p:cSldViewPr>
  </p:slideViewPr>
  <p:outlineViewPr>
    <p:cViewPr>
      <p:scale>
        <a:sx n="33" d="100"/>
        <a:sy n="33" d="100"/>
      </p:scale>
      <p:origin x="0" y="558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76" d="100"/>
          <a:sy n="76" d="100"/>
        </p:scale>
        <p:origin x="-2196" y="-102"/>
      </p:cViewPr>
      <p:guideLst>
        <p:guide orient="horz" pos="2957"/>
        <p:guide pos="223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end Kouwenaar" userId="adbbcea973320f35" providerId="LiveId" clId="{6D69E769-FB29-481B-B42C-0BD6B1F80B55}"/>
    <pc:docChg chg="custSel addSld delSld modSld sldOrd modSection">
      <pc:chgData name="arend Kouwenaar" userId="adbbcea973320f35" providerId="LiveId" clId="{6D69E769-FB29-481B-B42C-0BD6B1F80B55}" dt="2024-01-13T20:59:04.478" v="602" actId="313"/>
      <pc:docMkLst>
        <pc:docMk/>
      </pc:docMkLst>
      <pc:sldChg chg="modSp mod">
        <pc:chgData name="arend Kouwenaar" userId="adbbcea973320f35" providerId="LiveId" clId="{6D69E769-FB29-481B-B42C-0BD6B1F80B55}" dt="2024-01-13T20:50:00.076" v="69" actId="113"/>
        <pc:sldMkLst>
          <pc:docMk/>
          <pc:sldMk cId="255769279" sldId="512"/>
        </pc:sldMkLst>
        <pc:spChg chg="mod">
          <ac:chgData name="arend Kouwenaar" userId="adbbcea973320f35" providerId="LiveId" clId="{6D69E769-FB29-481B-B42C-0BD6B1F80B55}" dt="2024-01-13T20:50:00.076" v="69" actId="113"/>
          <ac:spMkLst>
            <pc:docMk/>
            <pc:sldMk cId="255769279" sldId="512"/>
            <ac:spMk id="2" creationId="{0966E48A-ACEE-51EB-B834-992F80F1053E}"/>
          </ac:spMkLst>
        </pc:spChg>
      </pc:sldChg>
      <pc:sldChg chg="modSp mod">
        <pc:chgData name="arend Kouwenaar" userId="adbbcea973320f35" providerId="LiveId" clId="{6D69E769-FB29-481B-B42C-0BD6B1F80B55}" dt="2024-01-13T20:59:04.478" v="602" actId="313"/>
        <pc:sldMkLst>
          <pc:docMk/>
          <pc:sldMk cId="1243637648" sldId="514"/>
        </pc:sldMkLst>
        <pc:spChg chg="mod">
          <ac:chgData name="arend Kouwenaar" userId="adbbcea973320f35" providerId="LiveId" clId="{6D69E769-FB29-481B-B42C-0BD6B1F80B55}" dt="2024-01-13T20:59:04.478" v="602" actId="313"/>
          <ac:spMkLst>
            <pc:docMk/>
            <pc:sldMk cId="1243637648" sldId="514"/>
            <ac:spMk id="4" creationId="{D58DA28E-0F28-523A-7B3F-93FC9CDE1E03}"/>
          </ac:spMkLst>
        </pc:spChg>
      </pc:sldChg>
      <pc:sldChg chg="modSp mod ord">
        <pc:chgData name="arend Kouwenaar" userId="adbbcea973320f35" providerId="LiveId" clId="{6D69E769-FB29-481B-B42C-0BD6B1F80B55}" dt="2024-01-13T20:57:00.595" v="601" actId="20577"/>
        <pc:sldMkLst>
          <pc:docMk/>
          <pc:sldMk cId="3552405016" sldId="524"/>
        </pc:sldMkLst>
        <pc:spChg chg="mod">
          <ac:chgData name="arend Kouwenaar" userId="adbbcea973320f35" providerId="LiveId" clId="{6D69E769-FB29-481B-B42C-0BD6B1F80B55}" dt="2024-01-13T20:57:00.595" v="601" actId="20577"/>
          <ac:spMkLst>
            <pc:docMk/>
            <pc:sldMk cId="3552405016" sldId="524"/>
            <ac:spMk id="2" creationId="{0966E48A-ACEE-51EB-B834-992F80F1053E}"/>
          </ac:spMkLst>
        </pc:spChg>
        <pc:spChg chg="mod">
          <ac:chgData name="arend Kouwenaar" userId="adbbcea973320f35" providerId="LiveId" clId="{6D69E769-FB29-481B-B42C-0BD6B1F80B55}" dt="2024-01-13T20:56:44.880" v="597" actId="20577"/>
          <ac:spMkLst>
            <pc:docMk/>
            <pc:sldMk cId="3552405016" sldId="524"/>
            <ac:spMk id="8" creationId="{D4C16519-51F5-5EFF-CB74-11E7C7EAA74B}"/>
          </ac:spMkLst>
        </pc:spChg>
      </pc:sldChg>
      <pc:sldChg chg="modSp mod">
        <pc:chgData name="arend Kouwenaar" userId="adbbcea973320f35" providerId="LiveId" clId="{6D69E769-FB29-481B-B42C-0BD6B1F80B55}" dt="2024-01-13T20:49:15.902" v="57" actId="20577"/>
        <pc:sldMkLst>
          <pc:docMk/>
          <pc:sldMk cId="0" sldId="540"/>
        </pc:sldMkLst>
        <pc:spChg chg="mod">
          <ac:chgData name="arend Kouwenaar" userId="adbbcea973320f35" providerId="LiveId" clId="{6D69E769-FB29-481B-B42C-0BD6B1F80B55}" dt="2024-01-13T20:49:15.902" v="57" actId="20577"/>
          <ac:spMkLst>
            <pc:docMk/>
            <pc:sldMk cId="0" sldId="540"/>
            <ac:spMk id="2" creationId="{00000000-0000-0000-0000-000000000000}"/>
          </ac:spMkLst>
        </pc:spChg>
      </pc:sldChg>
      <pc:sldChg chg="modSp del mod">
        <pc:chgData name="arend Kouwenaar" userId="adbbcea973320f35" providerId="LiveId" clId="{6D69E769-FB29-481B-B42C-0BD6B1F80B55}" dt="2024-01-13T20:51:48.097" v="137" actId="2696"/>
        <pc:sldMkLst>
          <pc:docMk/>
          <pc:sldMk cId="4082881742" sldId="550"/>
        </pc:sldMkLst>
        <pc:spChg chg="mod">
          <ac:chgData name="arend Kouwenaar" userId="adbbcea973320f35" providerId="LiveId" clId="{6D69E769-FB29-481B-B42C-0BD6B1F80B55}" dt="2024-01-13T20:50:10.692" v="70" actId="20577"/>
          <ac:spMkLst>
            <pc:docMk/>
            <pc:sldMk cId="4082881742" sldId="550"/>
            <ac:spMk id="2" creationId="{0966E48A-ACEE-51EB-B834-992F80F1053E}"/>
          </ac:spMkLst>
        </pc:spChg>
      </pc:sldChg>
      <pc:sldChg chg="modSp add mod">
        <pc:chgData name="arend Kouwenaar" userId="adbbcea973320f35" providerId="LiveId" clId="{6D69E769-FB29-481B-B42C-0BD6B1F80B55}" dt="2024-01-13T20:56:57.461" v="599" actId="20577"/>
        <pc:sldMkLst>
          <pc:docMk/>
          <pc:sldMk cId="3016540304" sldId="552"/>
        </pc:sldMkLst>
        <pc:spChg chg="mod">
          <ac:chgData name="arend Kouwenaar" userId="adbbcea973320f35" providerId="LiveId" clId="{6D69E769-FB29-481B-B42C-0BD6B1F80B55}" dt="2024-01-13T20:56:57.461" v="599" actId="20577"/>
          <ac:spMkLst>
            <pc:docMk/>
            <pc:sldMk cId="3016540304" sldId="552"/>
            <ac:spMk id="2" creationId="{0966E48A-ACEE-51EB-B834-992F80F1053E}"/>
          </ac:spMkLst>
        </pc:spChg>
        <pc:spChg chg="mod">
          <ac:chgData name="arend Kouwenaar" userId="adbbcea973320f35" providerId="LiveId" clId="{6D69E769-FB29-481B-B42C-0BD6B1F80B55}" dt="2024-01-13T20:51:41.009" v="136" actId="21"/>
          <ac:spMkLst>
            <pc:docMk/>
            <pc:sldMk cId="3016540304" sldId="552"/>
            <ac:spMk id="8" creationId="{D4C16519-51F5-5EFF-CB74-11E7C7EAA74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7" y="5"/>
            <a:ext cx="3078382" cy="469587"/>
          </a:xfrm>
          <a:prstGeom prst="rect">
            <a:avLst/>
          </a:prstGeom>
        </p:spPr>
        <p:txBody>
          <a:bodyPr vert="horz" wrap="square" lIns="91433" tIns="45717" rIns="91433" bIns="45717" numCol="1" anchor="t" anchorCtr="0" compatLnSpc="1">
            <a:prstTxWarp prst="textNoShape">
              <a:avLst/>
            </a:prstTxWarp>
          </a:bodyPr>
          <a:lstStyle>
            <a:lvl1pPr>
              <a:defRPr sz="1200"/>
            </a:lvl1pPr>
          </a:lstStyle>
          <a:p>
            <a:endParaRPr lang="en-US" dirty="0"/>
          </a:p>
        </p:txBody>
      </p:sp>
      <p:sp>
        <p:nvSpPr>
          <p:cNvPr id="3" name="Date Placeholder 2"/>
          <p:cNvSpPr>
            <a:spLocks noGrp="1"/>
          </p:cNvSpPr>
          <p:nvPr>
            <p:ph type="dt" sz="quarter" idx="1"/>
          </p:nvPr>
        </p:nvSpPr>
        <p:spPr>
          <a:xfrm>
            <a:off x="4022491" y="5"/>
            <a:ext cx="3078382" cy="469587"/>
          </a:xfrm>
          <a:prstGeom prst="rect">
            <a:avLst/>
          </a:prstGeom>
        </p:spPr>
        <p:txBody>
          <a:bodyPr vert="horz" wrap="square" lIns="91433" tIns="45717" rIns="91433" bIns="45717" numCol="1" anchor="t" anchorCtr="0" compatLnSpc="1">
            <a:prstTxWarp prst="textNoShape">
              <a:avLst/>
            </a:prstTxWarp>
          </a:bodyPr>
          <a:lstStyle>
            <a:lvl1pPr algn="r">
              <a:defRPr sz="1200"/>
            </a:lvl1pPr>
          </a:lstStyle>
          <a:p>
            <a:fld id="{EC952391-E811-40BD-BF31-152F5CC3E0D7}" type="datetime1">
              <a:rPr lang="en-US"/>
              <a:pPr/>
              <a:t>1/13/2024</a:t>
            </a:fld>
            <a:endParaRPr lang="en-US" dirty="0"/>
          </a:p>
        </p:txBody>
      </p:sp>
      <p:sp>
        <p:nvSpPr>
          <p:cNvPr id="4" name="Footer Placeholder 3"/>
          <p:cNvSpPr>
            <a:spLocks noGrp="1"/>
          </p:cNvSpPr>
          <p:nvPr>
            <p:ph type="ftr" sz="quarter" idx="2"/>
          </p:nvPr>
        </p:nvSpPr>
        <p:spPr>
          <a:xfrm>
            <a:off x="7" y="8917280"/>
            <a:ext cx="3078382" cy="469587"/>
          </a:xfrm>
          <a:prstGeom prst="rect">
            <a:avLst/>
          </a:prstGeom>
        </p:spPr>
        <p:txBody>
          <a:bodyPr vert="horz" wrap="square" lIns="91433" tIns="45717" rIns="91433" bIns="45717" numCol="1" anchor="b" anchorCtr="0" compatLnSpc="1">
            <a:prstTxWarp prst="textNoShape">
              <a:avLst/>
            </a:prstTxWarp>
          </a:bodyPr>
          <a:lstStyle>
            <a:lvl1pPr>
              <a:defRPr sz="1200"/>
            </a:lvl1pPr>
          </a:lstStyle>
          <a:p>
            <a:endParaRPr lang="en-US" dirty="0"/>
          </a:p>
        </p:txBody>
      </p:sp>
      <p:sp>
        <p:nvSpPr>
          <p:cNvPr id="5" name="Slide Number Placeholder 4"/>
          <p:cNvSpPr>
            <a:spLocks noGrp="1"/>
          </p:cNvSpPr>
          <p:nvPr>
            <p:ph type="sldNum" sz="quarter" idx="3"/>
          </p:nvPr>
        </p:nvSpPr>
        <p:spPr>
          <a:xfrm>
            <a:off x="4022491" y="8917280"/>
            <a:ext cx="3078382" cy="469587"/>
          </a:xfrm>
          <a:prstGeom prst="rect">
            <a:avLst/>
          </a:prstGeom>
        </p:spPr>
        <p:txBody>
          <a:bodyPr vert="horz" wrap="square" lIns="91433" tIns="45717" rIns="91433" bIns="45717" numCol="1" anchor="b" anchorCtr="0" compatLnSpc="1">
            <a:prstTxWarp prst="textNoShape">
              <a:avLst/>
            </a:prstTxWarp>
          </a:bodyPr>
          <a:lstStyle>
            <a:lvl1pPr algn="r">
              <a:defRPr sz="1200"/>
            </a:lvl1pPr>
          </a:lstStyle>
          <a:p>
            <a:fld id="{5C8EE828-0B52-48BD-AC30-C13AE1823DC9}" type="slidenum">
              <a:rPr lang="en-US"/>
              <a:pPr/>
              <a:t>‹#›</a:t>
            </a:fld>
            <a:endParaRPr lang="en-US" dirty="0"/>
          </a:p>
        </p:txBody>
      </p:sp>
    </p:spTree>
    <p:extLst>
      <p:ext uri="{BB962C8B-B14F-4D97-AF65-F5344CB8AC3E}">
        <p14:creationId xmlns:p14="http://schemas.microsoft.com/office/powerpoint/2010/main" val="39525950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7" y="5"/>
            <a:ext cx="3078382" cy="469587"/>
          </a:xfrm>
          <a:prstGeom prst="rect">
            <a:avLst/>
          </a:prstGeom>
        </p:spPr>
        <p:txBody>
          <a:bodyPr vert="horz" wrap="square" lIns="92823" tIns="46413" rIns="92823" bIns="46413" numCol="1" anchor="t" anchorCtr="0" compatLnSpc="1">
            <a:prstTxWarp prst="textNoShape">
              <a:avLst/>
            </a:prstTxWarp>
          </a:bodyPr>
          <a:lstStyle>
            <a:lvl1pPr>
              <a:defRPr sz="1200">
                <a:latin typeface="Calibri" charset="0"/>
              </a:defRPr>
            </a:lvl1pPr>
          </a:lstStyle>
          <a:p>
            <a:endParaRPr lang="en-US" dirty="0"/>
          </a:p>
        </p:txBody>
      </p:sp>
      <p:sp>
        <p:nvSpPr>
          <p:cNvPr id="3" name="Date Placeholder 2"/>
          <p:cNvSpPr>
            <a:spLocks noGrp="1"/>
          </p:cNvSpPr>
          <p:nvPr>
            <p:ph type="dt" idx="1"/>
          </p:nvPr>
        </p:nvSpPr>
        <p:spPr>
          <a:xfrm>
            <a:off x="4022491" y="5"/>
            <a:ext cx="3078382" cy="469587"/>
          </a:xfrm>
          <a:prstGeom prst="rect">
            <a:avLst/>
          </a:prstGeom>
        </p:spPr>
        <p:txBody>
          <a:bodyPr vert="horz" wrap="square" lIns="92823" tIns="46413" rIns="92823" bIns="46413" numCol="1" anchor="t" anchorCtr="0" compatLnSpc="1">
            <a:prstTxWarp prst="textNoShape">
              <a:avLst/>
            </a:prstTxWarp>
          </a:bodyPr>
          <a:lstStyle>
            <a:lvl1pPr algn="r">
              <a:defRPr sz="1200">
                <a:latin typeface="Calibri" charset="0"/>
              </a:defRPr>
            </a:lvl1pPr>
          </a:lstStyle>
          <a:p>
            <a:fld id="{91EC5310-AD28-478C-9D1F-55544C92CB9A}" type="datetime1">
              <a:rPr lang="en-US"/>
              <a:pPr/>
              <a:t>1/13/2024</a:t>
            </a:fld>
            <a:endParaRPr lang="en-US" dirty="0"/>
          </a:p>
        </p:txBody>
      </p:sp>
      <p:sp>
        <p:nvSpPr>
          <p:cNvPr id="4" name="Slide Image Placeholder 3"/>
          <p:cNvSpPr>
            <a:spLocks noGrp="1" noRot="1" noChangeAspect="1"/>
          </p:cNvSpPr>
          <p:nvPr>
            <p:ph type="sldImg" idx="2"/>
          </p:nvPr>
        </p:nvSpPr>
        <p:spPr>
          <a:xfrm>
            <a:off x="420688" y="704850"/>
            <a:ext cx="6261100" cy="3521075"/>
          </a:xfrm>
          <a:prstGeom prst="rect">
            <a:avLst/>
          </a:prstGeom>
          <a:noFill/>
          <a:ln w="12700">
            <a:solidFill>
              <a:prstClr val="black"/>
            </a:solidFill>
          </a:ln>
        </p:spPr>
        <p:txBody>
          <a:bodyPr vert="horz" wrap="square" lIns="92823" tIns="46413" rIns="92823" bIns="46413" numCol="1" anchor="ctr" anchorCtr="0" compatLnSpc="1">
            <a:prstTxWarp prst="textNoShape">
              <a:avLst/>
            </a:prstTxWarp>
          </a:bodyPr>
          <a:lstStyle/>
          <a:p>
            <a:pPr lvl="0"/>
            <a:endParaRPr lang="en-US" dirty="0"/>
          </a:p>
        </p:txBody>
      </p:sp>
      <p:sp>
        <p:nvSpPr>
          <p:cNvPr id="5" name="Notes Placeholder 4"/>
          <p:cNvSpPr>
            <a:spLocks noGrp="1"/>
          </p:cNvSpPr>
          <p:nvPr>
            <p:ph type="body" sz="quarter" idx="3"/>
          </p:nvPr>
        </p:nvSpPr>
        <p:spPr>
          <a:xfrm>
            <a:off x="710893" y="4460256"/>
            <a:ext cx="5680694" cy="4224651"/>
          </a:xfrm>
          <a:prstGeom prst="rect">
            <a:avLst/>
          </a:prstGeom>
        </p:spPr>
        <p:txBody>
          <a:bodyPr vert="horz" wrap="square" lIns="92823" tIns="46413" rIns="92823" bIns="46413" numCol="1" anchor="t" anchorCtr="0" compatLnSpc="1">
            <a:prstTxWarp prst="textNoShape">
              <a:avLst/>
            </a:prstTxWarp>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7" y="8917280"/>
            <a:ext cx="3078382" cy="469587"/>
          </a:xfrm>
          <a:prstGeom prst="rect">
            <a:avLst/>
          </a:prstGeom>
        </p:spPr>
        <p:txBody>
          <a:bodyPr vert="horz" wrap="square" lIns="92823" tIns="46413" rIns="92823" bIns="46413" numCol="1" anchor="b" anchorCtr="0" compatLnSpc="1">
            <a:prstTxWarp prst="textNoShape">
              <a:avLst/>
            </a:prstTxWarp>
          </a:bodyPr>
          <a:lstStyle>
            <a:lvl1pPr>
              <a:defRPr sz="1200">
                <a:latin typeface="Calibri" charset="0"/>
              </a:defRPr>
            </a:lvl1pPr>
          </a:lstStyle>
          <a:p>
            <a:endParaRPr lang="en-US" dirty="0"/>
          </a:p>
        </p:txBody>
      </p:sp>
      <p:sp>
        <p:nvSpPr>
          <p:cNvPr id="7" name="Slide Number Placeholder 6"/>
          <p:cNvSpPr>
            <a:spLocks noGrp="1"/>
          </p:cNvSpPr>
          <p:nvPr>
            <p:ph type="sldNum" sz="quarter" idx="5"/>
          </p:nvPr>
        </p:nvSpPr>
        <p:spPr>
          <a:xfrm>
            <a:off x="4022491" y="8917280"/>
            <a:ext cx="3078382" cy="469587"/>
          </a:xfrm>
          <a:prstGeom prst="rect">
            <a:avLst/>
          </a:prstGeom>
        </p:spPr>
        <p:txBody>
          <a:bodyPr vert="horz" wrap="square" lIns="92823" tIns="46413" rIns="92823" bIns="46413" numCol="1" anchor="b" anchorCtr="0" compatLnSpc="1">
            <a:prstTxWarp prst="textNoShape">
              <a:avLst/>
            </a:prstTxWarp>
          </a:bodyPr>
          <a:lstStyle>
            <a:lvl1pPr algn="r">
              <a:defRPr sz="1200">
                <a:latin typeface="Calibri" charset="0"/>
              </a:defRPr>
            </a:lvl1pPr>
          </a:lstStyle>
          <a:p>
            <a:fld id="{21D82EB7-C704-4A63-B645-1186AD9BB91E}" type="slidenum">
              <a:rPr lang="en-US"/>
              <a:pPr/>
              <a:t>‹#›</a:t>
            </a:fld>
            <a:endParaRPr lang="en-US" dirty="0"/>
          </a:p>
        </p:txBody>
      </p:sp>
    </p:spTree>
    <p:extLst>
      <p:ext uri="{BB962C8B-B14F-4D97-AF65-F5344CB8AC3E}">
        <p14:creationId xmlns:p14="http://schemas.microsoft.com/office/powerpoint/2010/main" val="278250154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128"/>
        <a:cs typeface="+mn-cs"/>
      </a:defRPr>
    </a:lvl1pPr>
    <a:lvl2pPr marL="457200" algn="l" rtl="0" eaLnBrk="0" fontAlgn="base" hangingPunct="0">
      <a:spcBef>
        <a:spcPct val="30000"/>
      </a:spcBef>
      <a:spcAft>
        <a:spcPct val="0"/>
      </a:spcAft>
      <a:defRPr sz="1200" kern="1200">
        <a:solidFill>
          <a:schemeClr val="tx1"/>
        </a:solidFill>
        <a:latin typeface="+mn-lt"/>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p:txBody>
          <a:bodyPr/>
          <a:lstStyle/>
          <a:p>
            <a:pPr>
              <a:defRPr/>
            </a:pPr>
            <a:fld id="{C047C504-C68F-4932-B214-1C432888EE05}" type="slidenum">
              <a:rPr lang="en-GB" smtClean="0"/>
              <a:pPr>
                <a:defRPr/>
              </a:pPr>
              <a:t>0</a:t>
            </a:fld>
            <a:endParaRPr lang="en-GB" dirty="0"/>
          </a:p>
        </p:txBody>
      </p:sp>
      <p:sp>
        <p:nvSpPr>
          <p:cNvPr id="19459" name="Rectangle 2"/>
          <p:cNvSpPr>
            <a:spLocks noGrp="1" noRot="1" noChangeAspect="1" noChangeArrowheads="1" noTextEdit="1"/>
          </p:cNvSpPr>
          <p:nvPr>
            <p:ph type="sldImg"/>
          </p:nvPr>
        </p:nvSpPr>
        <p:spPr bwMode="auto">
          <a:xfrm>
            <a:off x="420688" y="704850"/>
            <a:ext cx="6261100" cy="3521075"/>
          </a:xfrm>
          <a:noFill/>
          <a:ln>
            <a:solidFill>
              <a:srgbClr val="000000"/>
            </a:solidFill>
            <a:miter lim="800000"/>
            <a:headEnd/>
            <a:tailEnd/>
          </a:ln>
        </p:spPr>
      </p:sp>
      <p:sp>
        <p:nvSpPr>
          <p:cNvPr id="1946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fr-FR" dirty="0"/>
          </a:p>
        </p:txBody>
      </p:sp>
    </p:spTree>
    <p:extLst>
      <p:ext uri="{BB962C8B-B14F-4D97-AF65-F5344CB8AC3E}">
        <p14:creationId xmlns:p14="http://schemas.microsoft.com/office/powerpoint/2010/main" val="25267620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QMFM model is originated or derived from a canonical-new Keynesian reduced form model (log-linearized equations of a micro-founded model)</a:t>
            </a:r>
            <a:endParaRPr lang="en-AE"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4</a:t>
            </a:fld>
            <a:endParaRPr lang="en-US" dirty="0"/>
          </a:p>
        </p:txBody>
      </p:sp>
    </p:spTree>
    <p:extLst>
      <p:ext uri="{BB962C8B-B14F-4D97-AF65-F5344CB8AC3E}">
        <p14:creationId xmlns:p14="http://schemas.microsoft.com/office/powerpoint/2010/main" val="21352636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2505">
              <a:defRPr/>
            </a:pPr>
            <a:r>
              <a:rPr lang="en-US" dirty="0"/>
              <a:t>Isssue temporary sharp deficit reduction creating volatility in output gap and inflation (and RIR, RER)</a:t>
            </a:r>
          </a:p>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6</a:t>
            </a:fld>
            <a:endParaRPr lang="en-US" dirty="0"/>
          </a:p>
        </p:txBody>
      </p:sp>
    </p:spTree>
    <p:extLst>
      <p:ext uri="{BB962C8B-B14F-4D97-AF65-F5344CB8AC3E}">
        <p14:creationId xmlns:p14="http://schemas.microsoft.com/office/powerpoint/2010/main" val="31964708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2505">
              <a:defRPr/>
            </a:pPr>
            <a:r>
              <a:rPr lang="en-US" dirty="0"/>
              <a:t>Isssue temporary sharp deficit reduction creating volatility in output gap and inflation (and RIR, RER)</a:t>
            </a:r>
          </a:p>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7</a:t>
            </a:fld>
            <a:endParaRPr lang="en-US" dirty="0"/>
          </a:p>
        </p:txBody>
      </p:sp>
    </p:spTree>
    <p:extLst>
      <p:ext uri="{BB962C8B-B14F-4D97-AF65-F5344CB8AC3E}">
        <p14:creationId xmlns:p14="http://schemas.microsoft.com/office/powerpoint/2010/main" val="33478083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2505">
              <a:defRPr/>
            </a:pPr>
            <a:r>
              <a:rPr lang="en-US" dirty="0"/>
              <a:t>Isssue temporary sharp deficit reduction creating volatility in output gap and inflation (and RIR, RER)</a:t>
            </a:r>
          </a:p>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8</a:t>
            </a:fld>
            <a:endParaRPr lang="en-US" dirty="0"/>
          </a:p>
        </p:txBody>
      </p:sp>
    </p:spTree>
    <p:extLst>
      <p:ext uri="{BB962C8B-B14F-4D97-AF65-F5344CB8AC3E}">
        <p14:creationId xmlns:p14="http://schemas.microsoft.com/office/powerpoint/2010/main" val="2657805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9</a:t>
            </a:fld>
            <a:endParaRPr lang="en-US" dirty="0"/>
          </a:p>
        </p:txBody>
      </p:sp>
    </p:spTree>
    <p:extLst>
      <p:ext uri="{BB962C8B-B14F-4D97-AF65-F5344CB8AC3E}">
        <p14:creationId xmlns:p14="http://schemas.microsoft.com/office/powerpoint/2010/main" val="26951319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10</a:t>
            </a:fld>
            <a:endParaRPr lang="en-US" dirty="0"/>
          </a:p>
        </p:txBody>
      </p:sp>
    </p:spTree>
    <p:extLst>
      <p:ext uri="{BB962C8B-B14F-4D97-AF65-F5344CB8AC3E}">
        <p14:creationId xmlns:p14="http://schemas.microsoft.com/office/powerpoint/2010/main" val="20535134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tuned GDP down in 2023Q1 (nowcast), and tuned cons down too (shock)</a:t>
            </a:r>
          </a:p>
        </p:txBody>
      </p:sp>
      <p:sp>
        <p:nvSpPr>
          <p:cNvPr id="4" name="Slide Number Placeholder 3"/>
          <p:cNvSpPr>
            <a:spLocks noGrp="1"/>
          </p:cNvSpPr>
          <p:nvPr>
            <p:ph type="sldNum" sz="quarter" idx="5"/>
          </p:nvPr>
        </p:nvSpPr>
        <p:spPr/>
        <p:txBody>
          <a:bodyPr/>
          <a:lstStyle/>
          <a:p>
            <a:fld id="{21D82EB7-C704-4A63-B645-1186AD9BB91E}" type="slidenum">
              <a:rPr lang="en-US" smtClean="0"/>
              <a:pPr/>
              <a:t>11</a:t>
            </a:fld>
            <a:endParaRPr lang="en-US" dirty="0"/>
          </a:p>
        </p:txBody>
      </p:sp>
    </p:spTree>
    <p:extLst>
      <p:ext uri="{BB962C8B-B14F-4D97-AF65-F5344CB8AC3E}">
        <p14:creationId xmlns:p14="http://schemas.microsoft.com/office/powerpoint/2010/main" val="18660725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tuned GDP down in 2023Q1 (nowcast), and tuned cons down too (shock)</a:t>
            </a:r>
          </a:p>
        </p:txBody>
      </p:sp>
      <p:sp>
        <p:nvSpPr>
          <p:cNvPr id="4" name="Slide Number Placeholder 3"/>
          <p:cNvSpPr>
            <a:spLocks noGrp="1"/>
          </p:cNvSpPr>
          <p:nvPr>
            <p:ph type="sldNum" sz="quarter" idx="5"/>
          </p:nvPr>
        </p:nvSpPr>
        <p:spPr/>
        <p:txBody>
          <a:bodyPr/>
          <a:lstStyle/>
          <a:p>
            <a:fld id="{21D82EB7-C704-4A63-B645-1186AD9BB91E}" type="slidenum">
              <a:rPr lang="en-US" smtClean="0"/>
              <a:pPr/>
              <a:t>12</a:t>
            </a:fld>
            <a:endParaRPr lang="en-US" dirty="0"/>
          </a:p>
        </p:txBody>
      </p:sp>
    </p:spTree>
    <p:extLst>
      <p:ext uri="{BB962C8B-B14F-4D97-AF65-F5344CB8AC3E}">
        <p14:creationId xmlns:p14="http://schemas.microsoft.com/office/powerpoint/2010/main" val="20672945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Output gap and Fiscal Impulse in last Chart</a:t>
            </a:r>
          </a:p>
        </p:txBody>
      </p:sp>
      <p:sp>
        <p:nvSpPr>
          <p:cNvPr id="4" name="Slide Number Placeholder 3"/>
          <p:cNvSpPr>
            <a:spLocks noGrp="1"/>
          </p:cNvSpPr>
          <p:nvPr>
            <p:ph type="sldNum" sz="quarter" idx="5"/>
          </p:nvPr>
        </p:nvSpPr>
        <p:spPr/>
        <p:txBody>
          <a:bodyPr/>
          <a:lstStyle/>
          <a:p>
            <a:fld id="{21D82EB7-C704-4A63-B645-1186AD9BB91E}" type="slidenum">
              <a:rPr lang="en-US" smtClean="0"/>
              <a:pPr/>
              <a:t>13</a:t>
            </a:fld>
            <a:endParaRPr lang="en-US" dirty="0"/>
          </a:p>
        </p:txBody>
      </p:sp>
    </p:spTree>
    <p:extLst>
      <p:ext uri="{BB962C8B-B14F-4D97-AF65-F5344CB8AC3E}">
        <p14:creationId xmlns:p14="http://schemas.microsoft.com/office/powerpoint/2010/main" val="9615048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more aggregate models, “fiscal impulse” comprises both direct effect of govt spending on G&amp;S and the indirect effect via private consumption and investment (affected by transfers/subsidies and reduced effective revenue collection)</a:t>
            </a:r>
          </a:p>
        </p:txBody>
      </p:sp>
      <p:sp>
        <p:nvSpPr>
          <p:cNvPr id="4" name="Slide Number Placeholder 3"/>
          <p:cNvSpPr>
            <a:spLocks noGrp="1"/>
          </p:cNvSpPr>
          <p:nvPr>
            <p:ph type="sldNum" sz="quarter" idx="5"/>
          </p:nvPr>
        </p:nvSpPr>
        <p:spPr/>
        <p:txBody>
          <a:bodyPr/>
          <a:lstStyle/>
          <a:p>
            <a:fld id="{21D82EB7-C704-4A63-B645-1186AD9BB91E}" type="slidenum">
              <a:rPr lang="en-US" smtClean="0"/>
              <a:pPr/>
              <a:t>14</a:t>
            </a:fld>
            <a:endParaRPr lang="en-US" dirty="0"/>
          </a:p>
        </p:txBody>
      </p:sp>
    </p:spTree>
    <p:extLst>
      <p:ext uri="{BB962C8B-B14F-4D97-AF65-F5344CB8AC3E}">
        <p14:creationId xmlns:p14="http://schemas.microsoft.com/office/powerpoint/2010/main" val="6721587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illustration of fiscal impulse in relation to output/gap</a:t>
            </a:r>
          </a:p>
        </p:txBody>
      </p:sp>
      <p:sp>
        <p:nvSpPr>
          <p:cNvPr id="4" name="Slide Number Placeholder 3"/>
          <p:cNvSpPr>
            <a:spLocks noGrp="1"/>
          </p:cNvSpPr>
          <p:nvPr>
            <p:ph type="sldNum" sz="quarter" idx="5"/>
          </p:nvPr>
        </p:nvSpPr>
        <p:spPr/>
        <p:txBody>
          <a:bodyPr/>
          <a:lstStyle/>
          <a:p>
            <a:fld id="{21D82EB7-C704-4A63-B645-1186AD9BB91E}" type="slidenum">
              <a:rPr lang="en-US" smtClean="0"/>
              <a:pPr/>
              <a:t>15</a:t>
            </a:fld>
            <a:endParaRPr lang="en-US" dirty="0"/>
          </a:p>
        </p:txBody>
      </p:sp>
    </p:spTree>
    <p:extLst>
      <p:ext uri="{BB962C8B-B14F-4D97-AF65-F5344CB8AC3E}">
        <p14:creationId xmlns:p14="http://schemas.microsoft.com/office/powerpoint/2010/main" val="804939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illustration of fiscal impulse in relation to output/gap</a:t>
            </a:r>
          </a:p>
        </p:txBody>
      </p:sp>
      <p:sp>
        <p:nvSpPr>
          <p:cNvPr id="4" name="Slide Number Placeholder 3"/>
          <p:cNvSpPr>
            <a:spLocks noGrp="1"/>
          </p:cNvSpPr>
          <p:nvPr>
            <p:ph type="sldNum" sz="quarter" idx="5"/>
          </p:nvPr>
        </p:nvSpPr>
        <p:spPr/>
        <p:txBody>
          <a:bodyPr/>
          <a:lstStyle/>
          <a:p>
            <a:fld id="{21D82EB7-C704-4A63-B645-1186AD9BB91E}" type="slidenum">
              <a:rPr lang="en-US" smtClean="0"/>
              <a:pPr/>
              <a:t>16</a:t>
            </a:fld>
            <a:endParaRPr lang="en-US" dirty="0"/>
          </a:p>
        </p:txBody>
      </p:sp>
    </p:spTree>
    <p:extLst>
      <p:ext uri="{BB962C8B-B14F-4D97-AF65-F5344CB8AC3E}">
        <p14:creationId xmlns:p14="http://schemas.microsoft.com/office/powerpoint/2010/main" val="36314820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illustration of fiscal impulse in relation to output/gap</a:t>
            </a:r>
          </a:p>
        </p:txBody>
      </p:sp>
      <p:sp>
        <p:nvSpPr>
          <p:cNvPr id="4" name="Slide Number Placeholder 3"/>
          <p:cNvSpPr>
            <a:spLocks noGrp="1"/>
          </p:cNvSpPr>
          <p:nvPr>
            <p:ph type="sldNum" sz="quarter" idx="5"/>
          </p:nvPr>
        </p:nvSpPr>
        <p:spPr/>
        <p:txBody>
          <a:bodyPr/>
          <a:lstStyle/>
          <a:p>
            <a:fld id="{21D82EB7-C704-4A63-B645-1186AD9BB91E}" type="slidenum">
              <a:rPr lang="en-US" smtClean="0"/>
              <a:pPr/>
              <a:t>17</a:t>
            </a:fld>
            <a:endParaRPr lang="en-US" dirty="0"/>
          </a:p>
        </p:txBody>
      </p:sp>
    </p:spTree>
    <p:extLst>
      <p:ext uri="{BB962C8B-B14F-4D97-AF65-F5344CB8AC3E}">
        <p14:creationId xmlns:p14="http://schemas.microsoft.com/office/powerpoint/2010/main" val="11665034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Rationale of relative (food, energy) and therefore relative core price</a:t>
            </a:r>
          </a:p>
          <a:p>
            <a:pPr defTabSz="932505">
              <a:defRPr/>
            </a:pPr>
            <a:r>
              <a:rPr lang="en-US" dirty="0"/>
              <a:t>Main message inflation: easing from interest rate and fiscal tightening (and abating shocks); reverse tightening of govt increases demand, output and a temporary above target inflation</a:t>
            </a:r>
          </a:p>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18</a:t>
            </a:fld>
            <a:endParaRPr lang="en-US" dirty="0"/>
          </a:p>
        </p:txBody>
      </p:sp>
    </p:spTree>
    <p:extLst>
      <p:ext uri="{BB962C8B-B14F-4D97-AF65-F5344CB8AC3E}">
        <p14:creationId xmlns:p14="http://schemas.microsoft.com/office/powerpoint/2010/main" val="19796361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effect small as import share small for country (larger for urban)</a:t>
            </a:r>
          </a:p>
        </p:txBody>
      </p:sp>
      <p:sp>
        <p:nvSpPr>
          <p:cNvPr id="4" name="Slide Number Placeholder 3"/>
          <p:cNvSpPr>
            <a:spLocks noGrp="1"/>
          </p:cNvSpPr>
          <p:nvPr>
            <p:ph type="sldNum" sz="quarter" idx="5"/>
          </p:nvPr>
        </p:nvSpPr>
        <p:spPr/>
        <p:txBody>
          <a:bodyPr/>
          <a:lstStyle/>
          <a:p>
            <a:fld id="{21D82EB7-C704-4A63-B645-1186AD9BB91E}" type="slidenum">
              <a:rPr lang="en-US" smtClean="0"/>
              <a:pPr/>
              <a:t>20</a:t>
            </a:fld>
            <a:endParaRPr lang="en-US" dirty="0"/>
          </a:p>
        </p:txBody>
      </p:sp>
    </p:spTree>
    <p:extLst>
      <p:ext uri="{BB962C8B-B14F-4D97-AF65-F5344CB8AC3E}">
        <p14:creationId xmlns:p14="http://schemas.microsoft.com/office/powerpoint/2010/main" val="16879875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21</a:t>
            </a:fld>
            <a:endParaRPr lang="en-US" dirty="0"/>
          </a:p>
        </p:txBody>
      </p:sp>
    </p:spTree>
    <p:extLst>
      <p:ext uri="{BB962C8B-B14F-4D97-AF65-F5344CB8AC3E}">
        <p14:creationId xmlns:p14="http://schemas.microsoft.com/office/powerpoint/2010/main" val="40303605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IB not 7.4 in Q1 2023? We must convert back i= log(1+IB). Maybe need some IB smoothing, with lower drop in face of negative outputgap from govt demand?</a:t>
            </a:r>
          </a:p>
        </p:txBody>
      </p:sp>
      <p:sp>
        <p:nvSpPr>
          <p:cNvPr id="4" name="Slide Number Placeholder 3"/>
          <p:cNvSpPr>
            <a:spLocks noGrp="1"/>
          </p:cNvSpPr>
          <p:nvPr>
            <p:ph type="sldNum" sz="quarter" idx="5"/>
          </p:nvPr>
        </p:nvSpPr>
        <p:spPr/>
        <p:txBody>
          <a:bodyPr/>
          <a:lstStyle/>
          <a:p>
            <a:fld id="{21D82EB7-C704-4A63-B645-1186AD9BB91E}" type="slidenum">
              <a:rPr lang="en-US" smtClean="0"/>
              <a:pPr/>
              <a:t>22</a:t>
            </a:fld>
            <a:endParaRPr lang="en-US" dirty="0"/>
          </a:p>
        </p:txBody>
      </p:sp>
    </p:spTree>
    <p:extLst>
      <p:ext uri="{BB962C8B-B14F-4D97-AF65-F5344CB8AC3E}">
        <p14:creationId xmlns:p14="http://schemas.microsoft.com/office/powerpoint/2010/main" val="2562999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explains RIR overshooting (above trend) in 2023? And below trend after2025-26?</a:t>
            </a:r>
          </a:p>
        </p:txBody>
      </p:sp>
      <p:sp>
        <p:nvSpPr>
          <p:cNvPr id="4" name="Slide Number Placeholder 3"/>
          <p:cNvSpPr>
            <a:spLocks noGrp="1"/>
          </p:cNvSpPr>
          <p:nvPr>
            <p:ph type="sldNum" sz="quarter" idx="5"/>
          </p:nvPr>
        </p:nvSpPr>
        <p:spPr/>
        <p:txBody>
          <a:bodyPr/>
          <a:lstStyle/>
          <a:p>
            <a:fld id="{21D82EB7-C704-4A63-B645-1186AD9BB91E}" type="slidenum">
              <a:rPr lang="en-US" smtClean="0"/>
              <a:pPr/>
              <a:t>23</a:t>
            </a:fld>
            <a:endParaRPr lang="en-US" dirty="0"/>
          </a:p>
        </p:txBody>
      </p:sp>
    </p:spTree>
    <p:extLst>
      <p:ext uri="{BB962C8B-B14F-4D97-AF65-F5344CB8AC3E}">
        <p14:creationId xmlns:p14="http://schemas.microsoft.com/office/powerpoint/2010/main" val="926976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Seeming overshooting of RER (then some undershooting) desirable? Can it smoothened</a:t>
            </a:r>
          </a:p>
        </p:txBody>
      </p:sp>
      <p:sp>
        <p:nvSpPr>
          <p:cNvPr id="4" name="Slide Number Placeholder 3"/>
          <p:cNvSpPr>
            <a:spLocks noGrp="1"/>
          </p:cNvSpPr>
          <p:nvPr>
            <p:ph type="sldNum" sz="quarter" idx="5"/>
          </p:nvPr>
        </p:nvSpPr>
        <p:spPr/>
        <p:txBody>
          <a:bodyPr/>
          <a:lstStyle/>
          <a:p>
            <a:fld id="{21D82EB7-C704-4A63-B645-1186AD9BB91E}" type="slidenum">
              <a:rPr lang="en-US" smtClean="0"/>
              <a:pPr/>
              <a:t>25</a:t>
            </a:fld>
            <a:endParaRPr lang="en-US" dirty="0"/>
          </a:p>
        </p:txBody>
      </p:sp>
    </p:spTree>
    <p:extLst>
      <p:ext uri="{BB962C8B-B14F-4D97-AF65-F5344CB8AC3E}">
        <p14:creationId xmlns:p14="http://schemas.microsoft.com/office/powerpoint/2010/main" val="1103550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4339">
              <a:defRPr/>
            </a:pPr>
            <a:r>
              <a:rPr lang="en-US" dirty="0">
                <a:ea typeface="Calibri" panose="020F0502020204030204" pitchFamily="34" charset="0"/>
                <a:cs typeface="Times New Roman" panose="02020603050405020304" pitchFamily="18" charset="0"/>
              </a:rPr>
              <a:t>Both RIR and RER return gradually to their steady states of RIR of 2.5% and RER depreciation rate of 0%. (</a:t>
            </a:r>
            <a:r>
              <a:rPr lang="en-US" dirty="0">
                <a:solidFill>
                  <a:srgbClr val="FF0000"/>
                </a:solidFill>
                <a:ea typeface="Calibri" panose="020F0502020204030204" pitchFamily="34" charset="0"/>
                <a:cs typeface="Times New Roman" panose="02020603050405020304" pitchFamily="18" charset="0"/>
              </a:rPr>
              <a:t>or is it 2% ie rstar 0%+country premium 2% CHECK). Should rstar_ss be raised to 0.5%?)</a:t>
            </a:r>
          </a:p>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26</a:t>
            </a:fld>
            <a:endParaRPr lang="en-US" dirty="0"/>
          </a:p>
        </p:txBody>
      </p:sp>
    </p:spTree>
    <p:extLst>
      <p:ext uri="{BB962C8B-B14F-4D97-AF65-F5344CB8AC3E}">
        <p14:creationId xmlns:p14="http://schemas.microsoft.com/office/powerpoint/2010/main" val="22818353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29</a:t>
            </a:fld>
            <a:endParaRPr lang="en-US" dirty="0"/>
          </a:p>
        </p:txBody>
      </p:sp>
    </p:spTree>
    <p:extLst>
      <p:ext uri="{BB962C8B-B14F-4D97-AF65-F5344CB8AC3E}">
        <p14:creationId xmlns:p14="http://schemas.microsoft.com/office/powerpoint/2010/main" val="26296630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D82EB7-C704-4A63-B645-1186AD9BB91E}" type="slidenum">
              <a:rPr lang="en-US" smtClean="0"/>
              <a:pPr/>
              <a:t>30</a:t>
            </a:fld>
            <a:endParaRPr lang="en-US" dirty="0"/>
          </a:p>
        </p:txBody>
      </p:sp>
    </p:spTree>
    <p:extLst>
      <p:ext uri="{BB962C8B-B14F-4D97-AF65-F5344CB8AC3E}">
        <p14:creationId xmlns:p14="http://schemas.microsoft.com/office/powerpoint/2010/main" val="31557069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p:txBody>
          <a:bodyPr/>
          <a:lstStyle/>
          <a:p>
            <a:pPr>
              <a:defRPr/>
            </a:pPr>
            <a:fld id="{C047C504-C68F-4932-B214-1C432888EE05}" type="slidenum">
              <a:rPr lang="en-GB" smtClean="0"/>
              <a:pPr>
                <a:defRPr/>
              </a:pPr>
              <a:t>31</a:t>
            </a:fld>
            <a:endParaRPr lang="en-GB" dirty="0"/>
          </a:p>
        </p:txBody>
      </p:sp>
      <p:sp>
        <p:nvSpPr>
          <p:cNvPr id="1945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946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fr-FR" dirty="0"/>
          </a:p>
        </p:txBody>
      </p:sp>
    </p:spTree>
    <p:extLst>
      <p:ext uri="{BB962C8B-B14F-4D97-AF65-F5344CB8AC3E}">
        <p14:creationId xmlns:p14="http://schemas.microsoft.com/office/powerpoint/2010/main" val="35576406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userDrawn="1"/>
        </p:nvSpPr>
        <p:spPr>
          <a:xfrm>
            <a:off x="0" y="6172200"/>
            <a:ext cx="121920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5" name="Rectangle 4"/>
          <p:cNvSpPr/>
          <p:nvPr userDrawn="1"/>
        </p:nvSpPr>
        <p:spPr>
          <a:xfrm>
            <a:off x="3454400" y="1371600"/>
            <a:ext cx="8331200" cy="236220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6" name="Rectangle 5"/>
          <p:cNvSpPr/>
          <p:nvPr userDrawn="1"/>
        </p:nvSpPr>
        <p:spPr>
          <a:xfrm>
            <a:off x="3454400" y="1371600"/>
            <a:ext cx="304800" cy="23622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7" name="Subtitle 2"/>
          <p:cNvSpPr txBox="1">
            <a:spLocks/>
          </p:cNvSpPr>
          <p:nvPr userDrawn="1"/>
        </p:nvSpPr>
        <p:spPr>
          <a:xfrm>
            <a:off x="3860800" y="1371600"/>
            <a:ext cx="7924800" cy="2362200"/>
          </a:xfrm>
          <a:prstGeom prst="rect">
            <a:avLst/>
          </a:prstGeom>
        </p:spPr>
        <p:txBody>
          <a:bodyPr anchor="ctr">
            <a:normAutofit/>
          </a:bodyPr>
          <a:lstStyle/>
          <a:p>
            <a:pPr marL="342900" indent="-342900">
              <a:spcBef>
                <a:spcPts val="600"/>
              </a:spcBef>
              <a:spcAft>
                <a:spcPts val="600"/>
              </a:spcAft>
              <a:buFont typeface="Arial" charset="0"/>
              <a:buNone/>
            </a:pPr>
            <a:r>
              <a:rPr lang="en-US" sz="2600" b="1" dirty="0">
                <a:latin typeface="Gill Sans MT" charset="0"/>
                <a:cs typeface="Times New Roman" charset="0"/>
              </a:rPr>
              <a:t>Rwanda CAADP Post Compact</a:t>
            </a:r>
          </a:p>
          <a:p>
            <a:pPr marL="342900" indent="-342900">
              <a:spcBef>
                <a:spcPts val="600"/>
              </a:spcBef>
              <a:spcAft>
                <a:spcPts val="600"/>
              </a:spcAft>
              <a:buFont typeface="Arial" charset="0"/>
              <a:buNone/>
            </a:pPr>
            <a:r>
              <a:rPr lang="en-US" sz="2600" b="1" dirty="0">
                <a:latin typeface="Gill Sans MT" charset="0"/>
                <a:cs typeface="Times New Roman" charset="0"/>
              </a:rPr>
              <a:t>High-Level Stakeholder Meeting</a:t>
            </a:r>
          </a:p>
        </p:txBody>
      </p:sp>
      <p:pic>
        <p:nvPicPr>
          <p:cNvPr id="10" name="Picture 1" descr="armoirie"/>
          <p:cNvPicPr>
            <a:picLocks noChangeAspect="1" noChangeArrowheads="1"/>
          </p:cNvPicPr>
          <p:nvPr userDrawn="1"/>
        </p:nvPicPr>
        <p:blipFill>
          <a:blip r:embed="rId2" cstate="print"/>
          <a:srcRect/>
          <a:stretch>
            <a:fillRect/>
          </a:stretch>
        </p:blipFill>
        <p:spPr bwMode="auto">
          <a:xfrm rot="10800000" flipH="1" flipV="1">
            <a:off x="304800" y="1350964"/>
            <a:ext cx="2946400" cy="2382837"/>
          </a:xfrm>
          <a:prstGeom prst="rect">
            <a:avLst/>
          </a:prstGeom>
          <a:noFill/>
          <a:ln w="9525">
            <a:noFill/>
            <a:miter lim="800000"/>
            <a:headEnd/>
            <a:tailEnd/>
          </a:ln>
        </p:spPr>
      </p:pic>
      <p:sp>
        <p:nvSpPr>
          <p:cNvPr id="11" name="Subtitle 8"/>
          <p:cNvSpPr txBox="1">
            <a:spLocks/>
          </p:cNvSpPr>
          <p:nvPr userDrawn="1"/>
        </p:nvSpPr>
        <p:spPr>
          <a:xfrm>
            <a:off x="3860800" y="6248400"/>
            <a:ext cx="7823200" cy="609600"/>
          </a:xfrm>
          <a:prstGeom prst="rect">
            <a:avLst/>
          </a:prstGeom>
        </p:spPr>
        <p:txBody>
          <a:bodyPr>
            <a:normAutofit/>
          </a:bodyPr>
          <a:lstStyle/>
          <a:p>
            <a:pPr algn="r">
              <a:spcBef>
                <a:spcPts val="600"/>
              </a:spcBef>
              <a:buClr>
                <a:schemeClr val="accent1"/>
              </a:buClr>
              <a:buSzPct val="76000"/>
              <a:buFont typeface="Symbol" charset="2"/>
              <a:buNone/>
            </a:pPr>
            <a:endParaRPr lang="en-US" sz="1000" dirty="0">
              <a:solidFill>
                <a:schemeClr val="bg2"/>
              </a:solidFill>
              <a:latin typeface="Bookman Old Style" charset="0"/>
            </a:endParaRPr>
          </a:p>
        </p:txBody>
      </p:sp>
      <p:sp>
        <p:nvSpPr>
          <p:cNvPr id="12" name="Rectangle 11"/>
          <p:cNvSpPr/>
          <p:nvPr userDrawn="1"/>
        </p:nvSpPr>
        <p:spPr>
          <a:xfrm>
            <a:off x="3454400" y="4191000"/>
            <a:ext cx="304800" cy="990600"/>
          </a:xfrm>
          <a:prstGeom prst="rect">
            <a:avLst/>
          </a:prstGeom>
          <a:solidFill>
            <a:schemeClr val="accent3"/>
          </a:solidFill>
          <a:ln w="6350" cap="rnd" cmpd="sng" algn="ctr">
            <a:solidFill>
              <a:schemeClr val="accent3"/>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13" name="Rectangle 12"/>
          <p:cNvSpPr/>
          <p:nvPr userDrawn="1"/>
        </p:nvSpPr>
        <p:spPr>
          <a:xfrm>
            <a:off x="3450167" y="4191000"/>
            <a:ext cx="8343900" cy="990600"/>
          </a:xfrm>
          <a:prstGeom prst="rect">
            <a:avLst/>
          </a:prstGeom>
          <a:noFill/>
          <a:ln w="6350" cap="rnd" cmpd="sng" algn="ctr">
            <a:solidFill>
              <a:schemeClr val="accent3"/>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1800" dirty="0">
              <a:solidFill>
                <a:srgbClr val="FFFFFF"/>
              </a:solidFill>
              <a:ea typeface="ＭＳ Ｐゴシック" charset="-128"/>
            </a:endParaRPr>
          </a:p>
        </p:txBody>
      </p:sp>
      <p:sp>
        <p:nvSpPr>
          <p:cNvPr id="8" name="Title 7"/>
          <p:cNvSpPr>
            <a:spLocks noGrp="1"/>
          </p:cNvSpPr>
          <p:nvPr>
            <p:ph type="ctrTitle"/>
          </p:nvPr>
        </p:nvSpPr>
        <p:spPr>
          <a:xfrm>
            <a:off x="3860800" y="4267200"/>
            <a:ext cx="7823199" cy="457200"/>
          </a:xfrm>
          <a:prstGeom prst="rect">
            <a:avLst/>
          </a:prstGeom>
        </p:spPr>
        <p:txBody>
          <a:bodyPr anchor="t" anchorCtr="0">
            <a:normAutofit/>
          </a:bodyPr>
          <a:lstStyle>
            <a:lvl1pPr algn="r">
              <a:defRPr sz="2400" baseline="0">
                <a:solidFill>
                  <a:schemeClr val="tx1"/>
                </a:solidFill>
                <a:latin typeface="+mn-lt"/>
              </a:defRPr>
            </a:lvl1pPr>
          </a:lstStyle>
          <a:p>
            <a:r>
              <a:rPr lang="en-US"/>
              <a:t>Click to edit Master title style</a:t>
            </a:r>
            <a:endParaRPr lang="en-US" dirty="0"/>
          </a:p>
        </p:txBody>
      </p:sp>
      <p:sp>
        <p:nvSpPr>
          <p:cNvPr id="9" name="Subtitle 8"/>
          <p:cNvSpPr>
            <a:spLocks noGrp="1"/>
          </p:cNvSpPr>
          <p:nvPr>
            <p:ph type="subTitle" idx="1"/>
          </p:nvPr>
        </p:nvSpPr>
        <p:spPr>
          <a:xfrm>
            <a:off x="3860800" y="4724400"/>
            <a:ext cx="7823199" cy="457200"/>
          </a:xfrm>
        </p:spPr>
        <p:txBody>
          <a:bodyPr/>
          <a:lstStyle>
            <a:lvl1pPr marL="0" indent="0" algn="r">
              <a:buNone/>
              <a:defRPr sz="2000" baseline="0">
                <a:solidFill>
                  <a:schemeClr val="tx2"/>
                </a:solidFill>
                <a:latin typeface="+mn-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4_Title Only">
    <p:spTree>
      <p:nvGrpSpPr>
        <p:cNvPr id="1" name=""/>
        <p:cNvGrpSpPr/>
        <p:nvPr/>
      </p:nvGrpSpPr>
      <p:grpSpPr>
        <a:xfrm>
          <a:off x="0" y="0"/>
          <a:ext cx="0" cy="0"/>
          <a:chOff x="0" y="0"/>
          <a:chExt cx="0" cy="0"/>
        </a:xfrm>
      </p:grpSpPr>
      <p:sp>
        <p:nvSpPr>
          <p:cNvPr id="3" name="Straight Connector 2"/>
          <p:cNvSpPr>
            <a:spLocks noChangeShapeType="1"/>
          </p:cNvSpPr>
          <p:nvPr userDrawn="1"/>
        </p:nvSpPr>
        <p:spPr bwMode="auto">
          <a:xfrm>
            <a:off x="1625601" y="1066800"/>
            <a:ext cx="10240433" cy="0"/>
          </a:xfrm>
          <a:prstGeom prst="line">
            <a:avLst/>
          </a:prstGeom>
          <a:ln w="57150">
            <a:headEnd type="none" w="med" len="med"/>
            <a:tailEnd type="none" w="med" len="med"/>
          </a:ln>
        </p:spPr>
        <p:style>
          <a:lnRef idx="1">
            <a:schemeClr val="accent2"/>
          </a:lnRef>
          <a:fillRef idx="0">
            <a:schemeClr val="accent2"/>
          </a:fillRef>
          <a:effectRef idx="0">
            <a:schemeClr val="accent2"/>
          </a:effectRef>
          <a:fontRef idx="minor">
            <a:schemeClr val="tx1"/>
          </a:fontRef>
        </p:style>
        <p:txBody>
          <a:bodyPr/>
          <a:lstStyle/>
          <a:p>
            <a:pPr fontAlgn="auto">
              <a:spcBef>
                <a:spcPts val="0"/>
              </a:spcBef>
              <a:spcAft>
                <a:spcPts val="0"/>
              </a:spcAft>
              <a:defRPr/>
            </a:pPr>
            <a:endParaRPr lang="en-US" sz="1800" dirty="0">
              <a:ln>
                <a:solidFill>
                  <a:schemeClr val="tx1"/>
                </a:solidFill>
              </a:ln>
            </a:endParaRPr>
          </a:p>
        </p:txBody>
      </p:sp>
      <p:sp>
        <p:nvSpPr>
          <p:cNvPr id="2" name="Title 1"/>
          <p:cNvSpPr>
            <a:spLocks noGrp="1"/>
          </p:cNvSpPr>
          <p:nvPr>
            <p:ph type="title"/>
          </p:nvPr>
        </p:nvSpPr>
        <p:spPr>
          <a:xfrm>
            <a:off x="1625600" y="228600"/>
            <a:ext cx="10261600" cy="838200"/>
          </a:xfrm>
          <a:prstGeom prst="rect">
            <a:avLst/>
          </a:prstGeom>
        </p:spPr>
        <p:txBody>
          <a:bodyPr anchor="b" anchorCtr="0"/>
          <a:lstStyle>
            <a:lvl1pPr>
              <a:defRPr sz="2800">
                <a:solidFill>
                  <a:schemeClr val="tx1"/>
                </a:solidFill>
                <a:latin typeface="+mn-lt"/>
              </a:defRPr>
            </a:lvl1pPr>
          </a:lstStyle>
          <a:p>
            <a:r>
              <a:rPr lang="en-US" dirty="0"/>
              <a:t>Click to edit Master title style</a:t>
            </a:r>
          </a:p>
        </p:txBody>
      </p:sp>
      <p:sp>
        <p:nvSpPr>
          <p:cNvPr id="4" name="Slide Number Placeholder 5"/>
          <p:cNvSpPr>
            <a:spLocks noGrp="1"/>
          </p:cNvSpPr>
          <p:nvPr>
            <p:ph type="sldNum" sz="quarter" idx="10"/>
          </p:nvPr>
        </p:nvSpPr>
        <p:spPr>
          <a:xfrm>
            <a:off x="9347200" y="6416676"/>
            <a:ext cx="2641600" cy="365125"/>
          </a:xfrm>
          <a:prstGeom prst="rect">
            <a:avLst/>
          </a:prstGeom>
        </p:spPr>
        <p:txBody>
          <a:bodyPr vert="horz" wrap="square" lIns="91440" tIns="45720" rIns="91440" bIns="45720" numCol="1" anchor="b" anchorCtr="0" compatLnSpc="1">
            <a:prstTxWarp prst="textNoShape">
              <a:avLst/>
            </a:prstTxWarp>
          </a:bodyPr>
          <a:lstStyle>
            <a:lvl1pPr algn="r">
              <a:defRPr sz="1000">
                <a:solidFill>
                  <a:schemeClr val="tx2"/>
                </a:solidFill>
                <a:latin typeface="Gill Sans MT" charset="0"/>
              </a:defRPr>
            </a:lvl1pPr>
          </a:lstStyle>
          <a:p>
            <a:fld id="{D97AE203-F84D-4A7F-B161-8561326BE072}" type="slidenum">
              <a:rPr lang="en-US"/>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xfrm>
            <a:off x="4165600" y="6248400"/>
            <a:ext cx="3860800" cy="457200"/>
          </a:xfrm>
          <a:prstGeom prst="rect">
            <a:avLst/>
          </a:prstGeom>
        </p:spPr>
        <p:txBody>
          <a:bodyPr vert="horz" wrap="square" lIns="91440" tIns="45720" rIns="91440" bIns="45720" numCol="1" anchor="t" anchorCtr="0" compatLnSpc="1">
            <a:prstTxWarp prst="textNoShape">
              <a:avLst/>
            </a:prstTxWarp>
          </a:bodyPr>
          <a:lstStyle>
            <a:lvl1pPr>
              <a:defRPr sz="1800"/>
            </a:lvl1pPr>
          </a:lstStyle>
          <a:p>
            <a:endParaRPr lang="en-GB" dirty="0"/>
          </a:p>
        </p:txBody>
      </p:sp>
      <p:sp>
        <p:nvSpPr>
          <p:cNvPr id="3" name="Rectangle 3"/>
          <p:cNvSpPr>
            <a:spLocks noGrp="1" noChangeArrowheads="1"/>
          </p:cNvSpPr>
          <p:nvPr>
            <p:ph type="sldNum" sz="quarter" idx="11"/>
          </p:nvPr>
        </p:nvSpPr>
        <p:spPr>
          <a:xfrm>
            <a:off x="8737600" y="6248400"/>
            <a:ext cx="2844800" cy="457200"/>
          </a:xfrm>
          <a:prstGeom prst="rect">
            <a:avLst/>
          </a:prstGeom>
        </p:spPr>
        <p:txBody>
          <a:bodyPr vert="horz" wrap="square" lIns="91440" tIns="45720" rIns="91440" bIns="45720" numCol="1" anchor="t" anchorCtr="0" compatLnSpc="1">
            <a:prstTxWarp prst="textNoShape">
              <a:avLst/>
            </a:prstTxWarp>
          </a:bodyPr>
          <a:lstStyle>
            <a:lvl1pPr>
              <a:defRPr sz="1800"/>
            </a:lvl1pPr>
          </a:lstStyle>
          <a:p>
            <a:fld id="{970CC022-FA3D-4B6F-94CC-171F6923194E}" type="slidenum">
              <a:rPr lang="en-GB"/>
              <a:pPr/>
              <a:t>‹#›</a:t>
            </a:fld>
            <a:endParaRPr lang="en-GB" dirty="0"/>
          </a:p>
        </p:txBody>
      </p:sp>
      <p:sp>
        <p:nvSpPr>
          <p:cNvPr id="4" name="Rectangle 16"/>
          <p:cNvSpPr>
            <a:spLocks noGrp="1" noChangeArrowheads="1"/>
          </p:cNvSpPr>
          <p:nvPr>
            <p:ph type="dt" sz="half" idx="12"/>
          </p:nvPr>
        </p:nvSpPr>
        <p:spPr>
          <a:xfrm>
            <a:off x="609600" y="6245225"/>
            <a:ext cx="2844800" cy="476250"/>
          </a:xfrm>
          <a:prstGeom prst="rect">
            <a:avLst/>
          </a:prstGeom>
        </p:spPr>
        <p:txBody>
          <a:bodyPr vert="horz" wrap="square" lIns="91440" tIns="45720" rIns="91440" bIns="45720" numCol="1" anchor="t" anchorCtr="0" compatLnSpc="1">
            <a:prstTxWarp prst="textNoShape">
              <a:avLst/>
            </a:prstTxWarp>
          </a:bodyPr>
          <a:lstStyle>
            <a:lvl1pPr>
              <a:defRPr sz="1800"/>
            </a:lvl1pPr>
          </a:lstStyle>
          <a:p>
            <a:fld id="{0C3105CC-1B2D-4903-971E-6A5C773A19C5}" type="datetime1">
              <a:rPr lang="en-US"/>
              <a:pPr/>
              <a:t>1/13/2024</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07D18-9295-5C12-B7F8-D8E3764091E6}"/>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88A83A11-90E3-6BC7-796C-FBF7B43488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650E7D45-0C98-9643-133E-7CF04135AD1C}"/>
              </a:ext>
            </a:extLst>
          </p:cNvPr>
          <p:cNvSpPr>
            <a:spLocks noGrp="1"/>
          </p:cNvSpPr>
          <p:nvPr>
            <p:ph type="dt" sz="half" idx="10"/>
          </p:nvPr>
        </p:nvSpPr>
        <p:spPr/>
        <p:txBody>
          <a:bodyPr/>
          <a:lstStyle/>
          <a:p>
            <a:fld id="{32B79336-2E43-44A0-ADE1-7669CAFC9F7E}" type="datetimeFigureOut">
              <a:rPr lang="x-none" smtClean="0"/>
              <a:t>1/13/2024</a:t>
            </a:fld>
            <a:endParaRPr lang="x-none"/>
          </a:p>
        </p:txBody>
      </p:sp>
      <p:sp>
        <p:nvSpPr>
          <p:cNvPr id="5" name="Footer Placeholder 4">
            <a:extLst>
              <a:ext uri="{FF2B5EF4-FFF2-40B4-BE49-F238E27FC236}">
                <a16:creationId xmlns:a16="http://schemas.microsoft.com/office/drawing/2014/main" id="{AE0FCEDC-4AD8-AC4F-ED12-34EC3D3DB4B4}"/>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713255A3-94B7-8CEE-EB38-2E387C050E75}"/>
              </a:ext>
            </a:extLst>
          </p:cNvPr>
          <p:cNvSpPr>
            <a:spLocks noGrp="1"/>
          </p:cNvSpPr>
          <p:nvPr>
            <p:ph type="sldNum" sz="quarter" idx="12"/>
          </p:nvPr>
        </p:nvSpPr>
        <p:spPr/>
        <p:txBody>
          <a:bodyPr/>
          <a:lstStyle/>
          <a:p>
            <a:fld id="{018878F0-BBE9-411C-9D0D-17F9871AB48D}" type="slidenum">
              <a:rPr lang="x-none" smtClean="0"/>
              <a:t>‹#›</a:t>
            </a:fld>
            <a:endParaRPr lang="x-none"/>
          </a:p>
        </p:txBody>
      </p:sp>
    </p:spTree>
    <p:extLst>
      <p:ext uri="{BB962C8B-B14F-4D97-AF65-F5344CB8AC3E}">
        <p14:creationId xmlns:p14="http://schemas.microsoft.com/office/powerpoint/2010/main" val="165138841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12"/>
          <p:cNvSpPr>
            <a:spLocks noGrp="1"/>
          </p:cNvSpPr>
          <p:nvPr>
            <p:ph type="body" idx="1"/>
          </p:nvPr>
        </p:nvSpPr>
        <p:spPr bwMode="auto">
          <a:xfrm>
            <a:off x="203200" y="1219200"/>
            <a:ext cx="11379200" cy="4910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28" name="Straight Connector 27"/>
          <p:cNvSpPr>
            <a:spLocks noChangeShapeType="1"/>
          </p:cNvSpPr>
          <p:nvPr/>
        </p:nvSpPr>
        <p:spPr bwMode="auto">
          <a:xfrm>
            <a:off x="203201" y="6629400"/>
            <a:ext cx="11741151" cy="0"/>
          </a:xfrm>
          <a:prstGeom prst="line">
            <a:avLst/>
          </a:prstGeom>
          <a:ln>
            <a:solidFill>
              <a:schemeClr val="tx2"/>
            </a:solidFill>
            <a:headEnd type="none" w="med" len="med"/>
            <a:tailEnd type="none" w="med" len="med"/>
          </a:ln>
        </p:spPr>
        <p:style>
          <a:lnRef idx="1">
            <a:schemeClr val="dk1"/>
          </a:lnRef>
          <a:fillRef idx="0">
            <a:schemeClr val="dk1"/>
          </a:fillRef>
          <a:effectRef idx="0">
            <a:schemeClr val="dk1"/>
          </a:effectRef>
          <a:fontRef idx="minor">
            <a:schemeClr val="tx1"/>
          </a:fontRef>
        </p:style>
        <p:txBody>
          <a:bodyPr/>
          <a:lstStyle/>
          <a:p>
            <a:pPr fontAlgn="auto">
              <a:spcBef>
                <a:spcPts val="0"/>
              </a:spcBef>
              <a:spcAft>
                <a:spcPts val="0"/>
              </a:spcAft>
              <a:defRPr/>
            </a:pPr>
            <a:endParaRPr lang="en-US" sz="1800" dirty="0"/>
          </a:p>
        </p:txBody>
      </p:sp>
      <p:pic>
        <p:nvPicPr>
          <p:cNvPr id="1028" name="Picture 1" descr="armoirie"/>
          <p:cNvPicPr>
            <a:picLocks noChangeAspect="1" noChangeArrowheads="1"/>
          </p:cNvPicPr>
          <p:nvPr/>
        </p:nvPicPr>
        <p:blipFill>
          <a:blip r:embed="rId6" cstate="print"/>
          <a:srcRect/>
          <a:stretch>
            <a:fillRect/>
          </a:stretch>
        </p:blipFill>
        <p:spPr bwMode="auto">
          <a:xfrm rot="10800000" flipH="1" flipV="1">
            <a:off x="203200" y="152400"/>
            <a:ext cx="1016000" cy="820738"/>
          </a:xfrm>
          <a:prstGeom prst="rect">
            <a:avLst/>
          </a:prstGeom>
          <a:noFill/>
          <a:ln w="9525">
            <a:solidFill>
              <a:schemeClr val="bg1"/>
            </a:solidFill>
            <a:miter lim="800000"/>
            <a:headEnd/>
            <a:tailEnd/>
          </a:ln>
        </p:spPr>
      </p:pic>
    </p:spTree>
  </p:cSld>
  <p:clrMap bg1="lt1" tx1="dk1" bg2="lt2" tx2="dk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Lst>
  <p:hf hdr="0" ftr="0" dt="0"/>
  <p:txStyles>
    <p:titleStyle>
      <a:lvl1pPr algn="l" rtl="0" eaLnBrk="0" fontAlgn="base" hangingPunct="0">
        <a:spcBef>
          <a:spcPct val="0"/>
        </a:spcBef>
        <a:spcAft>
          <a:spcPct val="0"/>
        </a:spcAft>
        <a:defRPr sz="3200" kern="1200">
          <a:solidFill>
            <a:schemeClr val="tx2"/>
          </a:solidFill>
          <a:latin typeface="+mj-lt"/>
          <a:ea typeface="ＭＳ Ｐゴシック" charset="-128"/>
          <a:cs typeface="+mj-cs"/>
        </a:defRPr>
      </a:lvl1pPr>
      <a:lvl2pPr algn="l" rtl="0" eaLnBrk="0" fontAlgn="base" hangingPunct="0">
        <a:spcBef>
          <a:spcPct val="0"/>
        </a:spcBef>
        <a:spcAft>
          <a:spcPct val="0"/>
        </a:spcAft>
        <a:defRPr sz="3200">
          <a:solidFill>
            <a:schemeClr val="tx2"/>
          </a:solidFill>
          <a:latin typeface="Bookman Old Style" pitchFamily="18" charset="0"/>
          <a:ea typeface="ＭＳ Ｐゴシック" charset="-128"/>
        </a:defRPr>
      </a:lvl2pPr>
      <a:lvl3pPr algn="l" rtl="0" eaLnBrk="0" fontAlgn="base" hangingPunct="0">
        <a:spcBef>
          <a:spcPct val="0"/>
        </a:spcBef>
        <a:spcAft>
          <a:spcPct val="0"/>
        </a:spcAft>
        <a:defRPr sz="3200">
          <a:solidFill>
            <a:schemeClr val="tx2"/>
          </a:solidFill>
          <a:latin typeface="Bookman Old Style" pitchFamily="18" charset="0"/>
          <a:ea typeface="ＭＳ Ｐゴシック" charset="-128"/>
        </a:defRPr>
      </a:lvl3pPr>
      <a:lvl4pPr algn="l" rtl="0" eaLnBrk="0" fontAlgn="base" hangingPunct="0">
        <a:spcBef>
          <a:spcPct val="0"/>
        </a:spcBef>
        <a:spcAft>
          <a:spcPct val="0"/>
        </a:spcAft>
        <a:defRPr sz="3200">
          <a:solidFill>
            <a:schemeClr val="tx2"/>
          </a:solidFill>
          <a:latin typeface="Bookman Old Style" pitchFamily="18" charset="0"/>
          <a:ea typeface="ＭＳ Ｐゴシック" charset="-128"/>
        </a:defRPr>
      </a:lvl4pPr>
      <a:lvl5pPr algn="l" rtl="0" eaLnBrk="0" fontAlgn="base" hangingPunct="0">
        <a:spcBef>
          <a:spcPct val="0"/>
        </a:spcBef>
        <a:spcAft>
          <a:spcPct val="0"/>
        </a:spcAft>
        <a:defRPr sz="3200">
          <a:solidFill>
            <a:schemeClr val="tx2"/>
          </a:solidFill>
          <a:latin typeface="Bookman Old Style" pitchFamily="18" charset="0"/>
          <a:ea typeface="ＭＳ Ｐゴシック" charset="-128"/>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p:titleStyle>
    <p:body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image" Target="../media/image4.tmp"/><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6.tmp"/></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tmp"/><Relationship Id="rId7" Type="http://schemas.openxmlformats.org/officeDocument/2006/relationships/image" Target="../media/image38.tmp"/><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7.tmp"/><Relationship Id="rId5" Type="http://schemas.openxmlformats.org/officeDocument/2006/relationships/image" Target="../media/image36.tmp"/><Relationship Id="rId4" Type="http://schemas.openxmlformats.org/officeDocument/2006/relationships/image" Target="../media/image35.tmp"/></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65"/>
          <p:cNvSpPr>
            <a:spLocks noChangeArrowheads="1"/>
          </p:cNvSpPr>
          <p:nvPr/>
        </p:nvSpPr>
        <p:spPr bwMode="auto">
          <a:xfrm>
            <a:off x="1524001" y="4868025"/>
            <a:ext cx="184731" cy="600164"/>
          </a:xfrm>
          <a:prstGeom prst="rect">
            <a:avLst/>
          </a:prstGeom>
          <a:noFill/>
          <a:ln w="9525">
            <a:noFill/>
            <a:miter lim="800000"/>
            <a:headEnd/>
            <a:tailEnd/>
          </a:ln>
        </p:spPr>
        <p:txBody>
          <a:bodyPr wrap="none" anchor="ctr">
            <a:spAutoFit/>
          </a:bodyPr>
          <a:lstStyle/>
          <a:p>
            <a:br>
              <a:rPr lang="en-GB" sz="900" dirty="0"/>
            </a:br>
            <a:endParaRPr lang="en-GB" dirty="0"/>
          </a:p>
        </p:txBody>
      </p:sp>
      <p:sp>
        <p:nvSpPr>
          <p:cNvPr id="6" name="TextBox 5"/>
          <p:cNvSpPr txBox="1"/>
          <p:nvPr/>
        </p:nvSpPr>
        <p:spPr>
          <a:xfrm>
            <a:off x="1905000" y="914400"/>
            <a:ext cx="8458200" cy="1754326"/>
          </a:xfrm>
          <a:prstGeom prst="rect">
            <a:avLst/>
          </a:prstGeom>
          <a:noFill/>
          <a:ln w="28575">
            <a:noFill/>
          </a:ln>
        </p:spPr>
        <p:txBody>
          <a:bodyPr>
            <a:spAutoFit/>
          </a:bodyPr>
          <a:lstStyle/>
          <a:p>
            <a:pPr algn="ctr">
              <a:defRPr/>
            </a:pPr>
            <a:r>
              <a:rPr lang="en-GB" sz="3600" b="1" dirty="0">
                <a:solidFill>
                  <a:srgbClr val="002060"/>
                </a:solidFill>
                <a:latin typeface="+mn-lt"/>
              </a:rPr>
              <a:t>Quarterly Macro-Fiscal Outlook</a:t>
            </a:r>
          </a:p>
          <a:p>
            <a:pPr algn="ctr">
              <a:defRPr/>
            </a:pPr>
            <a:endParaRPr lang="en-GB" sz="3600" b="1" dirty="0">
              <a:solidFill>
                <a:srgbClr val="002060"/>
              </a:solidFill>
              <a:latin typeface="+mn-lt"/>
            </a:endParaRPr>
          </a:p>
          <a:p>
            <a:pPr algn="ctr">
              <a:defRPr/>
            </a:pPr>
            <a:r>
              <a:rPr lang="en-GB" sz="3600" b="1" dirty="0">
                <a:solidFill>
                  <a:srgbClr val="002060"/>
                </a:solidFill>
                <a:latin typeface="+mn-lt"/>
              </a:rPr>
              <a:t>Summary Forecast 2023-26</a:t>
            </a:r>
          </a:p>
        </p:txBody>
      </p:sp>
      <p:cxnSp>
        <p:nvCxnSpPr>
          <p:cNvPr id="7" name="Straight Connector 6"/>
          <p:cNvCxnSpPr/>
          <p:nvPr/>
        </p:nvCxnSpPr>
        <p:spPr>
          <a:xfrm rot="10800000">
            <a:off x="2362200" y="3048000"/>
            <a:ext cx="7543800" cy="1588"/>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2686050" y="4495800"/>
            <a:ext cx="6819900" cy="523220"/>
          </a:xfrm>
          <a:prstGeom prst="rect">
            <a:avLst/>
          </a:prstGeom>
          <a:noFill/>
        </p:spPr>
        <p:txBody>
          <a:bodyPr wrap="square" rtlCol="0">
            <a:spAutoFit/>
          </a:bodyPr>
          <a:lstStyle/>
          <a:p>
            <a:pPr algn="ctr"/>
            <a:r>
              <a:rPr lang="en-US" sz="2800" dirty="0">
                <a:solidFill>
                  <a:srgbClr val="002060"/>
                </a:solidFill>
                <a:latin typeface="+mn-lt"/>
              </a:rPr>
              <a:t>June 2, 2023 </a:t>
            </a:r>
            <a:r>
              <a:rPr lang="en-US" sz="2800" dirty="0">
                <a:solidFill>
                  <a:srgbClr val="FF0000"/>
                </a:solidFill>
                <a:latin typeface="+mn-lt"/>
              </a:rPr>
              <a:t>(rev. structure Aug.2023)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2D1E2-CA9D-BA89-EEEC-51D78AD3808C}"/>
              </a:ext>
            </a:extLst>
          </p:cNvPr>
          <p:cNvSpPr>
            <a:spLocks noGrp="1"/>
          </p:cNvSpPr>
          <p:nvPr>
            <p:ph type="title"/>
          </p:nvPr>
        </p:nvSpPr>
        <p:spPr>
          <a:xfrm>
            <a:off x="1676400" y="92075"/>
            <a:ext cx="10261600" cy="838200"/>
          </a:xfrm>
        </p:spPr>
        <p:txBody>
          <a:bodyPr/>
          <a:lstStyle/>
          <a:p>
            <a:r>
              <a:rPr lang="en-GB" b="1" dirty="0"/>
              <a:t>Rationale Outlook and underlying model</a:t>
            </a:r>
            <a:endParaRPr lang="en-AE" b="1" dirty="0"/>
          </a:p>
        </p:txBody>
      </p:sp>
      <p:sp>
        <p:nvSpPr>
          <p:cNvPr id="3" name="Slide Number Placeholder 2">
            <a:extLst>
              <a:ext uri="{FF2B5EF4-FFF2-40B4-BE49-F238E27FC236}">
                <a16:creationId xmlns:a16="http://schemas.microsoft.com/office/drawing/2014/main" id="{8F2C85A4-DDE9-C3B5-5A35-6FA477425280}"/>
              </a:ext>
            </a:extLst>
          </p:cNvPr>
          <p:cNvSpPr>
            <a:spLocks noGrp="1"/>
          </p:cNvSpPr>
          <p:nvPr>
            <p:ph type="sldNum" sz="quarter" idx="10"/>
          </p:nvPr>
        </p:nvSpPr>
        <p:spPr/>
        <p:txBody>
          <a:bodyPr/>
          <a:lstStyle/>
          <a:p>
            <a:fld id="{D97AE203-F84D-4A7F-B161-8561326BE072}" type="slidenum">
              <a:rPr lang="en-US" smtClean="0"/>
              <a:pPr/>
              <a:t>1</a:t>
            </a:fld>
            <a:endParaRPr lang="en-US" dirty="0"/>
          </a:p>
        </p:txBody>
      </p:sp>
      <p:sp>
        <p:nvSpPr>
          <p:cNvPr id="5" name="Content Placeholder 2">
            <a:extLst>
              <a:ext uri="{FF2B5EF4-FFF2-40B4-BE49-F238E27FC236}">
                <a16:creationId xmlns:a16="http://schemas.microsoft.com/office/drawing/2014/main" id="{9B6C95DA-AC08-36FA-592F-0A9D270D4B58}"/>
              </a:ext>
            </a:extLst>
          </p:cNvPr>
          <p:cNvSpPr txBox="1">
            <a:spLocks/>
          </p:cNvSpPr>
          <p:nvPr/>
        </p:nvSpPr>
        <p:spPr>
          <a:xfrm>
            <a:off x="609600" y="1143000"/>
            <a:ext cx="10896600" cy="54864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lgn="just">
              <a:spcAft>
                <a:spcPts val="600"/>
              </a:spcAft>
              <a:buFont typeface="Wingdings" panose="05000000000000000000" pitchFamily="2" charset="2"/>
              <a:buChar char="§"/>
            </a:pPr>
            <a:r>
              <a:rPr lang="en-GB" sz="2600" dirty="0"/>
              <a:t>Provide forecast for 16 quarters ahead for key macro variables (output, inflation, final demands, ...) as influenced by fiscal, monetary, and exchange rate policies, including in response to shocks and new developments</a:t>
            </a:r>
          </a:p>
          <a:p>
            <a:pPr algn="just">
              <a:spcAft>
                <a:spcPts val="600"/>
              </a:spcAft>
              <a:buFont typeface="Wingdings" panose="05000000000000000000" pitchFamily="2" charset="2"/>
              <a:buChar char="§"/>
            </a:pPr>
            <a:r>
              <a:rPr lang="en-GB" sz="2600" dirty="0"/>
              <a:t>Provide alternative policy scenarios and suggest policy implications</a:t>
            </a:r>
          </a:p>
          <a:p>
            <a:pPr algn="just">
              <a:spcAft>
                <a:spcPts val="600"/>
              </a:spcAft>
              <a:buFont typeface="Wingdings" panose="05000000000000000000" pitchFamily="2" charset="2"/>
              <a:buChar char="§"/>
            </a:pPr>
            <a:r>
              <a:rPr lang="en-GB" sz="2600" dirty="0"/>
              <a:t>Provide input to, and complement, other projections</a:t>
            </a:r>
          </a:p>
          <a:p>
            <a:pPr algn="just">
              <a:spcAft>
                <a:spcPts val="600"/>
              </a:spcAft>
              <a:buFont typeface="Wingdings" panose="05000000000000000000" pitchFamily="2" charset="2"/>
              <a:buChar char="§"/>
            </a:pPr>
            <a:r>
              <a:rPr lang="en-GB" sz="2600" dirty="0"/>
              <a:t>Tool: Quarterly Macro Fiscal Model, a so-called “gap” model:</a:t>
            </a:r>
          </a:p>
          <a:p>
            <a:pPr lvl="2" algn="just">
              <a:spcAft>
                <a:spcPts val="600"/>
              </a:spcAft>
              <a:buFont typeface="Wingdings" panose="05000000000000000000" pitchFamily="2" charset="2"/>
              <a:buChar char="Ø"/>
            </a:pPr>
            <a:r>
              <a:rPr lang="en-GB" dirty="0"/>
              <a:t>special emphasis on </a:t>
            </a:r>
            <a:r>
              <a:rPr lang="en-GB" i="1" dirty="0"/>
              <a:t>fiscal deficit and components</a:t>
            </a:r>
            <a:r>
              <a:rPr lang="en-GB" dirty="0"/>
              <a:t> (rev, exp, oexp; struct, discr, cycl)</a:t>
            </a:r>
          </a:p>
          <a:p>
            <a:pPr lvl="2" algn="just">
              <a:spcAft>
                <a:spcPts val="600"/>
              </a:spcAft>
              <a:buFont typeface="Wingdings" panose="05000000000000000000" pitchFamily="2" charset="2"/>
              <a:buChar char="Ø"/>
            </a:pPr>
            <a:r>
              <a:rPr lang="en-GB" dirty="0"/>
              <a:t>tracing macro variables in </a:t>
            </a:r>
            <a:r>
              <a:rPr lang="en-GB" i="1" dirty="0"/>
              <a:t>deviation from trends</a:t>
            </a:r>
            <a:r>
              <a:rPr lang="en-GB" dirty="0"/>
              <a:t>, potential levels, or targets</a:t>
            </a:r>
          </a:p>
          <a:p>
            <a:pPr lvl="2" algn="just">
              <a:spcAft>
                <a:spcPts val="600"/>
              </a:spcAft>
              <a:buFont typeface="Wingdings" panose="05000000000000000000" pitchFamily="2" charset="2"/>
              <a:buChar char="Ø"/>
            </a:pPr>
            <a:r>
              <a:rPr lang="en-GB" dirty="0"/>
              <a:t>after shocks and policy responses, variables return to their trends</a:t>
            </a:r>
          </a:p>
          <a:p>
            <a:pPr lvl="2" algn="just">
              <a:spcAft>
                <a:spcPts val="600"/>
              </a:spcAft>
              <a:buFont typeface="Wingdings" panose="05000000000000000000" pitchFamily="2" charset="2"/>
              <a:buChar char="Ø"/>
            </a:pPr>
            <a:r>
              <a:rPr lang="en-GB" dirty="0"/>
              <a:t>trends converge to </a:t>
            </a:r>
            <a:r>
              <a:rPr lang="en-GB" i="1" dirty="0"/>
              <a:t>steady states (outside model)</a:t>
            </a:r>
            <a:r>
              <a:rPr lang="en-GB" dirty="0"/>
              <a:t>, e.g., potential output growth, real interest and exchange rates, sustainable deficit, and target inflation….</a:t>
            </a:r>
          </a:p>
        </p:txBody>
      </p:sp>
    </p:spTree>
    <p:extLst>
      <p:ext uri="{BB962C8B-B14F-4D97-AF65-F5344CB8AC3E}">
        <p14:creationId xmlns:p14="http://schemas.microsoft.com/office/powerpoint/2010/main" val="2837343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2D1E2-CA9D-BA89-EEEC-51D78AD3808C}"/>
              </a:ext>
            </a:extLst>
          </p:cNvPr>
          <p:cNvSpPr>
            <a:spLocks noGrp="1"/>
          </p:cNvSpPr>
          <p:nvPr>
            <p:ph type="title"/>
          </p:nvPr>
        </p:nvSpPr>
        <p:spPr>
          <a:xfrm>
            <a:off x="1676400" y="92075"/>
            <a:ext cx="10261600" cy="838200"/>
          </a:xfrm>
        </p:spPr>
        <p:txBody>
          <a:bodyPr/>
          <a:lstStyle/>
          <a:p>
            <a:r>
              <a:rPr lang="en-US" b="1" dirty="0"/>
              <a:t>1. Recent macroeconomic developments</a:t>
            </a:r>
            <a:r>
              <a:rPr lang="en-US" dirty="0"/>
              <a:t> (2019-23) </a:t>
            </a:r>
            <a:r>
              <a:rPr lang="en-US" dirty="0">
                <a:solidFill>
                  <a:srgbClr val="FF0000"/>
                </a:solidFill>
              </a:rPr>
              <a:t>new</a:t>
            </a:r>
            <a:endParaRPr lang="en-AE" b="1" dirty="0">
              <a:solidFill>
                <a:srgbClr val="FF0000"/>
              </a:solidFill>
            </a:endParaRPr>
          </a:p>
        </p:txBody>
      </p:sp>
      <p:sp>
        <p:nvSpPr>
          <p:cNvPr id="3" name="Slide Number Placeholder 2">
            <a:extLst>
              <a:ext uri="{FF2B5EF4-FFF2-40B4-BE49-F238E27FC236}">
                <a16:creationId xmlns:a16="http://schemas.microsoft.com/office/drawing/2014/main" id="{8F2C85A4-DDE9-C3B5-5A35-6FA477425280}"/>
              </a:ext>
            </a:extLst>
          </p:cNvPr>
          <p:cNvSpPr>
            <a:spLocks noGrp="1"/>
          </p:cNvSpPr>
          <p:nvPr>
            <p:ph type="sldNum" sz="quarter" idx="10"/>
          </p:nvPr>
        </p:nvSpPr>
        <p:spPr/>
        <p:txBody>
          <a:bodyPr/>
          <a:lstStyle/>
          <a:p>
            <a:fld id="{D97AE203-F84D-4A7F-B161-8561326BE072}" type="slidenum">
              <a:rPr lang="en-US" smtClean="0"/>
              <a:pPr/>
              <a:t>2</a:t>
            </a:fld>
            <a:endParaRPr lang="en-US" dirty="0"/>
          </a:p>
        </p:txBody>
      </p:sp>
      <p:sp>
        <p:nvSpPr>
          <p:cNvPr id="5" name="Content Placeholder 2">
            <a:extLst>
              <a:ext uri="{FF2B5EF4-FFF2-40B4-BE49-F238E27FC236}">
                <a16:creationId xmlns:a16="http://schemas.microsoft.com/office/drawing/2014/main" id="{9B6C95DA-AC08-36FA-592F-0A9D270D4B58}"/>
              </a:ext>
            </a:extLst>
          </p:cNvPr>
          <p:cNvSpPr txBox="1">
            <a:spLocks/>
          </p:cNvSpPr>
          <p:nvPr/>
        </p:nvSpPr>
        <p:spPr>
          <a:xfrm>
            <a:off x="609600" y="1143000"/>
            <a:ext cx="10896600" cy="54864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spcAft>
                <a:spcPts val="600"/>
              </a:spcAft>
              <a:buNone/>
            </a:pPr>
            <a:r>
              <a:rPr lang="en-US" dirty="0"/>
              <a:t>Background</a:t>
            </a:r>
          </a:p>
          <a:p>
            <a:pPr algn="just">
              <a:spcAft>
                <a:spcPts val="600"/>
              </a:spcAft>
              <a:buFont typeface="Wingdings" panose="05000000000000000000" pitchFamily="2" charset="2"/>
              <a:buChar char="§"/>
            </a:pPr>
            <a:r>
              <a:rPr lang="en-US" dirty="0"/>
              <a:t>analysis of trends and policy stance</a:t>
            </a:r>
          </a:p>
          <a:p>
            <a:pPr algn="just">
              <a:spcAft>
                <a:spcPts val="600"/>
              </a:spcAft>
              <a:buFont typeface="Wingdings" panose="05000000000000000000" pitchFamily="2" charset="2"/>
              <a:buChar char="§"/>
            </a:pPr>
            <a:r>
              <a:rPr lang="en-GB" dirty="0"/>
              <a:t>focus on fiscal policies </a:t>
            </a:r>
            <a:r>
              <a:rPr lang="en-US" dirty="0"/>
              <a:t>as captured in model </a:t>
            </a:r>
          </a:p>
          <a:p>
            <a:pPr algn="just">
              <a:spcAft>
                <a:spcPts val="600"/>
              </a:spcAft>
              <a:buFont typeface="Wingdings" panose="05000000000000000000" pitchFamily="2" charset="2"/>
              <a:buChar char="§"/>
            </a:pPr>
            <a:r>
              <a:rPr lang="en-GB" dirty="0"/>
              <a:t>output/final demands and inflation</a:t>
            </a:r>
          </a:p>
        </p:txBody>
      </p:sp>
    </p:spTree>
    <p:extLst>
      <p:ext uri="{BB962C8B-B14F-4D97-AF65-F5344CB8AC3E}">
        <p14:creationId xmlns:p14="http://schemas.microsoft.com/office/powerpoint/2010/main" val="2166175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2D1E2-CA9D-BA89-EEEC-51D78AD3808C}"/>
              </a:ext>
            </a:extLst>
          </p:cNvPr>
          <p:cNvSpPr>
            <a:spLocks noGrp="1"/>
          </p:cNvSpPr>
          <p:nvPr>
            <p:ph type="title"/>
          </p:nvPr>
        </p:nvSpPr>
        <p:spPr>
          <a:xfrm>
            <a:off x="1676400" y="92075"/>
            <a:ext cx="10261600" cy="838200"/>
          </a:xfrm>
        </p:spPr>
        <p:txBody>
          <a:bodyPr/>
          <a:lstStyle/>
          <a:p>
            <a:r>
              <a:rPr lang="en-US" b="1" dirty="0"/>
              <a:t>2. Current policy stance/initial condition </a:t>
            </a:r>
            <a:r>
              <a:rPr lang="en-US" dirty="0">
                <a:solidFill>
                  <a:srgbClr val="FF0000"/>
                </a:solidFill>
              </a:rPr>
              <a:t>new</a:t>
            </a:r>
            <a:endParaRPr lang="en-AE" b="1" dirty="0">
              <a:solidFill>
                <a:srgbClr val="FF0000"/>
              </a:solidFill>
            </a:endParaRPr>
          </a:p>
        </p:txBody>
      </p:sp>
      <p:sp>
        <p:nvSpPr>
          <p:cNvPr id="3" name="Slide Number Placeholder 2">
            <a:extLst>
              <a:ext uri="{FF2B5EF4-FFF2-40B4-BE49-F238E27FC236}">
                <a16:creationId xmlns:a16="http://schemas.microsoft.com/office/drawing/2014/main" id="{8F2C85A4-DDE9-C3B5-5A35-6FA477425280}"/>
              </a:ext>
            </a:extLst>
          </p:cNvPr>
          <p:cNvSpPr>
            <a:spLocks noGrp="1"/>
          </p:cNvSpPr>
          <p:nvPr>
            <p:ph type="sldNum" sz="quarter" idx="10"/>
          </p:nvPr>
        </p:nvSpPr>
        <p:spPr/>
        <p:txBody>
          <a:bodyPr/>
          <a:lstStyle/>
          <a:p>
            <a:fld id="{D97AE203-F84D-4A7F-B161-8561326BE072}" type="slidenum">
              <a:rPr lang="en-US" smtClean="0"/>
              <a:pPr/>
              <a:t>3</a:t>
            </a:fld>
            <a:endParaRPr lang="en-US" dirty="0"/>
          </a:p>
        </p:txBody>
      </p:sp>
      <p:sp>
        <p:nvSpPr>
          <p:cNvPr id="5" name="Content Placeholder 2">
            <a:extLst>
              <a:ext uri="{FF2B5EF4-FFF2-40B4-BE49-F238E27FC236}">
                <a16:creationId xmlns:a16="http://schemas.microsoft.com/office/drawing/2014/main" id="{9B6C95DA-AC08-36FA-592F-0A9D270D4B58}"/>
              </a:ext>
            </a:extLst>
          </p:cNvPr>
          <p:cNvSpPr txBox="1">
            <a:spLocks/>
          </p:cNvSpPr>
          <p:nvPr/>
        </p:nvSpPr>
        <p:spPr>
          <a:xfrm>
            <a:off x="609600" y="1143000"/>
            <a:ext cx="10896600" cy="54864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lgn="just">
              <a:spcAft>
                <a:spcPts val="600"/>
              </a:spcAft>
              <a:buFont typeface="Wingdings" panose="05000000000000000000" pitchFamily="2" charset="2"/>
              <a:buChar char="§"/>
            </a:pPr>
            <a:endParaRPr lang="en-GB" dirty="0"/>
          </a:p>
        </p:txBody>
      </p:sp>
    </p:spTree>
    <p:extLst>
      <p:ext uri="{BB962C8B-B14F-4D97-AF65-F5344CB8AC3E}">
        <p14:creationId xmlns:p14="http://schemas.microsoft.com/office/powerpoint/2010/main" val="2980260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6E48A-ACEE-51EB-B834-992F80F1053E}"/>
              </a:ext>
            </a:extLst>
          </p:cNvPr>
          <p:cNvSpPr>
            <a:spLocks noGrp="1"/>
          </p:cNvSpPr>
          <p:nvPr>
            <p:ph type="title"/>
          </p:nvPr>
        </p:nvSpPr>
        <p:spPr>
          <a:xfrm>
            <a:off x="1625600" y="228600"/>
            <a:ext cx="10261600" cy="609600"/>
          </a:xfrm>
        </p:spPr>
        <p:txBody>
          <a:bodyPr/>
          <a:lstStyle/>
          <a:p>
            <a:r>
              <a:rPr lang="en-GB" b="1" dirty="0"/>
              <a:t>3. Forecast assumptions </a:t>
            </a:r>
            <a:r>
              <a:rPr lang="en-GB" dirty="0">
                <a:solidFill>
                  <a:srgbClr val="FF0000"/>
                </a:solidFill>
              </a:rPr>
              <a:t>slightly</a:t>
            </a:r>
            <a:r>
              <a:rPr lang="en-GB" b="1" dirty="0">
                <a:solidFill>
                  <a:srgbClr val="FF0000"/>
                </a:solidFill>
              </a:rPr>
              <a:t> r</a:t>
            </a:r>
            <a:r>
              <a:rPr lang="en-GB" dirty="0">
                <a:solidFill>
                  <a:srgbClr val="FF0000"/>
                </a:solidFill>
              </a:rPr>
              <a:t>evised</a:t>
            </a:r>
            <a:endParaRPr lang="en-AE" dirty="0">
              <a:solidFill>
                <a:srgbClr val="FF0000"/>
              </a:solidFill>
            </a:endParaRPr>
          </a:p>
        </p:txBody>
      </p:sp>
      <p:sp>
        <p:nvSpPr>
          <p:cNvPr id="3" name="Slide Number Placeholder 2">
            <a:extLst>
              <a:ext uri="{FF2B5EF4-FFF2-40B4-BE49-F238E27FC236}">
                <a16:creationId xmlns:a16="http://schemas.microsoft.com/office/drawing/2014/main" id="{60CEC34D-CC97-3D7D-A18A-8A80FC2EAA0E}"/>
              </a:ext>
            </a:extLst>
          </p:cNvPr>
          <p:cNvSpPr>
            <a:spLocks noGrp="1"/>
          </p:cNvSpPr>
          <p:nvPr>
            <p:ph type="sldNum" sz="quarter" idx="10"/>
          </p:nvPr>
        </p:nvSpPr>
        <p:spPr/>
        <p:txBody>
          <a:bodyPr/>
          <a:lstStyle/>
          <a:p>
            <a:fld id="{D97AE203-F84D-4A7F-B161-8561326BE072}" type="slidenum">
              <a:rPr lang="en-US" smtClean="0"/>
              <a:pPr/>
              <a:t>4</a:t>
            </a:fld>
            <a:endParaRPr lang="en-US" dirty="0"/>
          </a:p>
        </p:txBody>
      </p:sp>
      <p:sp>
        <p:nvSpPr>
          <p:cNvPr id="4" name="Content Placeholder 2">
            <a:extLst>
              <a:ext uri="{FF2B5EF4-FFF2-40B4-BE49-F238E27FC236}">
                <a16:creationId xmlns:a16="http://schemas.microsoft.com/office/drawing/2014/main" id="{C77357A2-BC7F-DEA1-E1F9-C481EA57A693}"/>
              </a:ext>
            </a:extLst>
          </p:cNvPr>
          <p:cNvSpPr txBox="1">
            <a:spLocks/>
          </p:cNvSpPr>
          <p:nvPr/>
        </p:nvSpPr>
        <p:spPr>
          <a:xfrm>
            <a:off x="609600" y="1371600"/>
            <a:ext cx="11201400" cy="5045076"/>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spcAft>
                <a:spcPts val="600"/>
              </a:spcAft>
              <a:buFont typeface="Wingdings" panose="05000000000000000000" pitchFamily="2" charset="2"/>
              <a:buNone/>
            </a:pPr>
            <a:r>
              <a:rPr lang="en-GB" sz="2600" dirty="0"/>
              <a:t>The forecasts are conditional on exogenous and judgemental assumptions:</a:t>
            </a:r>
          </a:p>
          <a:p>
            <a:pPr algn="just">
              <a:spcAft>
                <a:spcPts val="600"/>
              </a:spcAft>
              <a:buFont typeface="Wingdings" panose="05000000000000000000" pitchFamily="2" charset="2"/>
              <a:buChar char="§"/>
            </a:pPr>
            <a:r>
              <a:rPr lang="en-GB" sz="2600" dirty="0"/>
              <a:t>external environment (foreign prices, demand, food/oil prices, interest rates, )</a:t>
            </a:r>
          </a:p>
          <a:p>
            <a:pPr algn="just">
              <a:spcAft>
                <a:spcPts val="600"/>
              </a:spcAft>
              <a:buFont typeface="Wingdings" panose="05000000000000000000" pitchFamily="2" charset="2"/>
              <a:buChar char="§"/>
            </a:pPr>
            <a:r>
              <a:rPr lang="en-GB" sz="2600" dirty="0"/>
              <a:t>domestic trends and gaps distilled from historic data (quarterly 2006-23) </a:t>
            </a:r>
          </a:p>
          <a:p>
            <a:pPr algn="just">
              <a:spcAft>
                <a:spcPts val="600"/>
              </a:spcAft>
              <a:buFont typeface="Wingdings" panose="05000000000000000000" pitchFamily="2" charset="2"/>
              <a:buChar char="§"/>
            </a:pPr>
            <a:r>
              <a:rPr lang="en-GB" sz="2600" dirty="0"/>
              <a:t>domestic near-term forecasts (now/forecast GDP, latest CPI,  judgements…) </a:t>
            </a:r>
          </a:p>
          <a:p>
            <a:pPr algn="just">
              <a:spcAft>
                <a:spcPts val="600"/>
              </a:spcAft>
              <a:buFont typeface="Wingdings" panose="05000000000000000000" pitchFamily="2" charset="2"/>
              <a:buChar char="§"/>
            </a:pPr>
            <a:r>
              <a:rPr lang="en-GB" sz="2600" dirty="0"/>
              <a:t>domestic known or expected policies (e.g., fiscal and interest rate) and</a:t>
            </a:r>
          </a:p>
          <a:p>
            <a:pPr marL="0" indent="0" algn="just">
              <a:spcAft>
                <a:spcPts val="600"/>
              </a:spcAft>
              <a:buNone/>
            </a:pPr>
            <a:r>
              <a:rPr lang="en-GB" sz="2600" dirty="0"/>
              <a:t>assumptions on continuation of recent shocks (e.g., in agriculture, core inflation)</a:t>
            </a:r>
          </a:p>
          <a:p>
            <a:pPr marL="0" indent="0" algn="just">
              <a:buNone/>
            </a:pPr>
            <a:endParaRPr lang="en-AE" dirty="0"/>
          </a:p>
        </p:txBody>
      </p:sp>
    </p:spTree>
    <p:extLst>
      <p:ext uri="{BB962C8B-B14F-4D97-AF65-F5344CB8AC3E}">
        <p14:creationId xmlns:p14="http://schemas.microsoft.com/office/powerpoint/2010/main" val="255769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6E48A-ACEE-51EB-B834-992F80F1053E}"/>
              </a:ext>
            </a:extLst>
          </p:cNvPr>
          <p:cNvSpPr>
            <a:spLocks noGrp="1"/>
          </p:cNvSpPr>
          <p:nvPr>
            <p:ph type="title"/>
          </p:nvPr>
        </p:nvSpPr>
        <p:spPr>
          <a:xfrm>
            <a:off x="1625600" y="228600"/>
            <a:ext cx="10261600" cy="685800"/>
          </a:xfrm>
        </p:spPr>
        <p:txBody>
          <a:bodyPr/>
          <a:lstStyle/>
          <a:p>
            <a:r>
              <a:rPr lang="en-GB" b="1" dirty="0"/>
              <a:t>External environment </a:t>
            </a:r>
            <a:endParaRPr lang="en-AE" b="1" dirty="0"/>
          </a:p>
        </p:txBody>
      </p:sp>
      <p:sp>
        <p:nvSpPr>
          <p:cNvPr id="3" name="Slide Number Placeholder 2">
            <a:extLst>
              <a:ext uri="{FF2B5EF4-FFF2-40B4-BE49-F238E27FC236}">
                <a16:creationId xmlns:a16="http://schemas.microsoft.com/office/drawing/2014/main" id="{60CEC34D-CC97-3D7D-A18A-8A80FC2EAA0E}"/>
              </a:ext>
            </a:extLst>
          </p:cNvPr>
          <p:cNvSpPr>
            <a:spLocks noGrp="1"/>
          </p:cNvSpPr>
          <p:nvPr>
            <p:ph type="sldNum" sz="quarter" idx="10"/>
          </p:nvPr>
        </p:nvSpPr>
        <p:spPr/>
        <p:txBody>
          <a:bodyPr/>
          <a:lstStyle/>
          <a:p>
            <a:fld id="{D97AE203-F84D-4A7F-B161-8561326BE072}" type="slidenum">
              <a:rPr lang="en-US" smtClean="0"/>
              <a:pPr/>
              <a:t>5</a:t>
            </a:fld>
            <a:endParaRPr lang="en-US" dirty="0"/>
          </a:p>
        </p:txBody>
      </p:sp>
      <p:sp>
        <p:nvSpPr>
          <p:cNvPr id="4" name="Content Placeholder 2">
            <a:extLst>
              <a:ext uri="{FF2B5EF4-FFF2-40B4-BE49-F238E27FC236}">
                <a16:creationId xmlns:a16="http://schemas.microsoft.com/office/drawing/2014/main" id="{C77357A2-BC7F-DEA1-E1F9-C481EA57A693}"/>
              </a:ext>
            </a:extLst>
          </p:cNvPr>
          <p:cNvSpPr txBox="1">
            <a:spLocks/>
          </p:cNvSpPr>
          <p:nvPr/>
        </p:nvSpPr>
        <p:spPr>
          <a:xfrm>
            <a:off x="4800600" y="4150758"/>
            <a:ext cx="3200400" cy="190565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274320" indent="-285750" algn="just">
              <a:spcBef>
                <a:spcPts val="300"/>
              </a:spcBef>
              <a:spcAft>
                <a:spcPts val="400"/>
              </a:spcAft>
              <a:buFont typeface="Arial" panose="020B0604020202020204" pitchFamily="34" charset="0"/>
              <a:buChar char="•"/>
            </a:pPr>
            <a:r>
              <a:rPr lang="en-GB" sz="1800" dirty="0"/>
              <a:t>World real interest rates are projected to increase from negative in the past decade to close to zero in the near term, and latest WEO foresees around 1% for MT</a:t>
            </a:r>
          </a:p>
        </p:txBody>
      </p:sp>
      <p:pic>
        <p:nvPicPr>
          <p:cNvPr id="7" name="Picture 6" descr="Chart, line chart&#10;&#10;Description automatically generated">
            <a:extLst>
              <a:ext uri="{FF2B5EF4-FFF2-40B4-BE49-F238E27FC236}">
                <a16:creationId xmlns:a16="http://schemas.microsoft.com/office/drawing/2014/main" id="{0D3816F1-012E-3147-640F-AB15DAE3FE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9754" y="1519537"/>
            <a:ext cx="3095045" cy="2286000"/>
          </a:xfrm>
          <a:prstGeom prst="rect">
            <a:avLst/>
          </a:prstGeom>
          <a:effectLst>
            <a:glow rad="127000">
              <a:schemeClr val="accent5">
                <a:lumMod val="20000"/>
                <a:lumOff val="80000"/>
              </a:schemeClr>
            </a:glow>
          </a:effectLst>
        </p:spPr>
      </p:pic>
      <p:sp>
        <p:nvSpPr>
          <p:cNvPr id="13" name="TextBox 12">
            <a:extLst>
              <a:ext uri="{FF2B5EF4-FFF2-40B4-BE49-F238E27FC236}">
                <a16:creationId xmlns:a16="http://schemas.microsoft.com/office/drawing/2014/main" id="{825E27BE-9404-C370-027C-CC987668662F}"/>
              </a:ext>
            </a:extLst>
          </p:cNvPr>
          <p:cNvSpPr txBox="1"/>
          <p:nvPr/>
        </p:nvSpPr>
        <p:spPr>
          <a:xfrm>
            <a:off x="914400" y="4038600"/>
            <a:ext cx="3352800" cy="2121093"/>
          </a:xfrm>
          <a:prstGeom prst="rect">
            <a:avLst/>
          </a:prstGeom>
          <a:noFill/>
        </p:spPr>
        <p:txBody>
          <a:bodyPr wrap="square" rtlCol="0">
            <a:spAutoFit/>
          </a:bodyPr>
          <a:lstStyle/>
          <a:p>
            <a:pPr marL="274320" indent="-285750" algn="just">
              <a:spcBef>
                <a:spcPts val="300"/>
              </a:spcBef>
              <a:spcAft>
                <a:spcPts val="400"/>
              </a:spcAft>
              <a:buFont typeface="Arial" panose="020B0604020202020204" pitchFamily="34" charset="0"/>
              <a:buChar char="•"/>
            </a:pPr>
            <a:r>
              <a:rPr lang="en-GB" sz="1800" dirty="0">
                <a:latin typeface="+mn-lt"/>
              </a:rPr>
              <a:t>World economy slowing down as interest rates are raised in response to inflation</a:t>
            </a:r>
          </a:p>
          <a:p>
            <a:pPr marL="274320" indent="-285750" algn="just">
              <a:spcBef>
                <a:spcPts val="300"/>
              </a:spcBef>
              <a:spcAft>
                <a:spcPts val="400"/>
              </a:spcAft>
              <a:buFont typeface="Arial" panose="020B0604020202020204" pitchFamily="34" charset="0"/>
              <a:buChar char="•"/>
            </a:pPr>
            <a:r>
              <a:rPr lang="en-GB" sz="1800" dirty="0">
                <a:latin typeface="+mn-lt"/>
              </a:rPr>
              <a:t>Rwanda still enjoys recovery in trading partner demand relative to Covid-years, at 3% p.y., well above trend</a:t>
            </a:r>
          </a:p>
        </p:txBody>
      </p:sp>
      <p:sp>
        <p:nvSpPr>
          <p:cNvPr id="15" name="TextBox 14">
            <a:extLst>
              <a:ext uri="{FF2B5EF4-FFF2-40B4-BE49-F238E27FC236}">
                <a16:creationId xmlns:a16="http://schemas.microsoft.com/office/drawing/2014/main" id="{EDB14C2A-2CC5-2CF7-555D-E64A5656523F}"/>
              </a:ext>
            </a:extLst>
          </p:cNvPr>
          <p:cNvSpPr txBox="1"/>
          <p:nvPr/>
        </p:nvSpPr>
        <p:spPr>
          <a:xfrm>
            <a:off x="8458200" y="4150758"/>
            <a:ext cx="2819400" cy="1844095"/>
          </a:xfrm>
          <a:prstGeom prst="rect">
            <a:avLst/>
          </a:prstGeom>
          <a:noFill/>
        </p:spPr>
        <p:txBody>
          <a:bodyPr wrap="square" rtlCol="0">
            <a:spAutoFit/>
          </a:bodyPr>
          <a:lstStyle/>
          <a:p>
            <a:pPr marL="274320" indent="-285750" algn="just" eaLnBrk="0" hangingPunct="0">
              <a:spcBef>
                <a:spcPts val="300"/>
              </a:spcBef>
              <a:spcAft>
                <a:spcPts val="400"/>
              </a:spcAft>
              <a:buClr>
                <a:schemeClr val="accent1"/>
              </a:buClr>
              <a:buSzPct val="76000"/>
              <a:buFont typeface="Arial" panose="020B0604020202020204" pitchFamily="34" charset="0"/>
              <a:buChar char="•"/>
            </a:pPr>
            <a:r>
              <a:rPr lang="en-GB" sz="1800" dirty="0">
                <a:latin typeface="+mn-lt"/>
              </a:rPr>
              <a:t>Trading partners’ CPI (in US$) was subdued at 1.5% py in past 5-7 years</a:t>
            </a:r>
          </a:p>
          <a:p>
            <a:pPr marL="274320" indent="-285750" algn="just" eaLnBrk="0" hangingPunct="0">
              <a:spcBef>
                <a:spcPts val="300"/>
              </a:spcBef>
              <a:spcAft>
                <a:spcPts val="400"/>
              </a:spcAft>
              <a:buClr>
                <a:schemeClr val="accent1"/>
              </a:buClr>
              <a:buSzPct val="76000"/>
              <a:buFont typeface="Arial" panose="020B0604020202020204" pitchFamily="34" charset="0"/>
              <a:buChar char="•"/>
            </a:pPr>
            <a:r>
              <a:rPr lang="en-GB" sz="1800" dirty="0">
                <a:latin typeface="+mn-lt"/>
              </a:rPr>
              <a:t>Projected to return to more normal level of 3% in coming years</a:t>
            </a:r>
            <a:endParaRPr lang="en-AE" sz="1800" dirty="0">
              <a:latin typeface="+mn-lt"/>
            </a:endParaRPr>
          </a:p>
        </p:txBody>
      </p:sp>
      <p:pic>
        <p:nvPicPr>
          <p:cNvPr id="16" name="Picture 15" descr="Chart, line chart&#10;&#10;Description automatically generated">
            <a:extLst>
              <a:ext uri="{FF2B5EF4-FFF2-40B4-BE49-F238E27FC236}">
                <a16:creationId xmlns:a16="http://schemas.microsoft.com/office/drawing/2014/main" id="{1BAABEE4-1924-CB6D-8E54-7A24F0228F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10600" y="1516836"/>
            <a:ext cx="3200400" cy="2369364"/>
          </a:xfrm>
          <a:prstGeom prst="rect">
            <a:avLst/>
          </a:prstGeom>
          <a:effectLst>
            <a:glow rad="127000">
              <a:schemeClr val="accent5">
                <a:lumMod val="20000"/>
                <a:lumOff val="80000"/>
              </a:schemeClr>
            </a:glow>
          </a:effectLst>
        </p:spPr>
      </p:pic>
      <p:pic>
        <p:nvPicPr>
          <p:cNvPr id="8" name="Picture 7">
            <a:extLst>
              <a:ext uri="{FF2B5EF4-FFF2-40B4-BE49-F238E27FC236}">
                <a16:creationId xmlns:a16="http://schemas.microsoft.com/office/drawing/2014/main" id="{0537FC3D-CB21-FF02-89C6-9E38EE94F8A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42999" y="1516836"/>
            <a:ext cx="3095045" cy="2286000"/>
          </a:xfrm>
          <a:prstGeom prst="rect">
            <a:avLst/>
          </a:prstGeom>
          <a:effectLst>
            <a:glow rad="127000">
              <a:schemeClr val="accent5">
                <a:lumMod val="20000"/>
                <a:lumOff val="80000"/>
              </a:schemeClr>
            </a:glow>
          </a:effectLst>
        </p:spPr>
      </p:pic>
    </p:spTree>
    <p:extLst>
      <p:ext uri="{BB962C8B-B14F-4D97-AF65-F5344CB8AC3E}">
        <p14:creationId xmlns:p14="http://schemas.microsoft.com/office/powerpoint/2010/main" val="1227849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6E48A-ACEE-51EB-B834-992F80F1053E}"/>
              </a:ext>
            </a:extLst>
          </p:cNvPr>
          <p:cNvSpPr>
            <a:spLocks noGrp="1"/>
          </p:cNvSpPr>
          <p:nvPr>
            <p:ph type="title"/>
          </p:nvPr>
        </p:nvSpPr>
        <p:spPr>
          <a:xfrm>
            <a:off x="1625600" y="228600"/>
            <a:ext cx="10261600" cy="706020"/>
          </a:xfrm>
        </p:spPr>
        <p:txBody>
          <a:bodyPr/>
          <a:lstStyle/>
          <a:p>
            <a:r>
              <a:rPr lang="en-GB" b="1" dirty="0"/>
              <a:t>Domestic environment</a:t>
            </a:r>
            <a:endParaRPr lang="en-AE" b="1" dirty="0">
              <a:solidFill>
                <a:srgbClr val="FF0000"/>
              </a:solidFill>
            </a:endParaRPr>
          </a:p>
        </p:txBody>
      </p:sp>
      <p:sp>
        <p:nvSpPr>
          <p:cNvPr id="3" name="Slide Number Placeholder 2">
            <a:extLst>
              <a:ext uri="{FF2B5EF4-FFF2-40B4-BE49-F238E27FC236}">
                <a16:creationId xmlns:a16="http://schemas.microsoft.com/office/drawing/2014/main" id="{60CEC34D-CC97-3D7D-A18A-8A80FC2EAA0E}"/>
              </a:ext>
            </a:extLst>
          </p:cNvPr>
          <p:cNvSpPr>
            <a:spLocks noGrp="1"/>
          </p:cNvSpPr>
          <p:nvPr>
            <p:ph type="sldNum" sz="quarter" idx="10"/>
          </p:nvPr>
        </p:nvSpPr>
        <p:spPr/>
        <p:txBody>
          <a:bodyPr/>
          <a:lstStyle/>
          <a:p>
            <a:fld id="{D97AE203-F84D-4A7F-B161-8561326BE072}" type="slidenum">
              <a:rPr lang="en-US" smtClean="0"/>
              <a:pPr/>
              <a:t>6</a:t>
            </a:fld>
            <a:endParaRPr lang="en-US" dirty="0"/>
          </a:p>
        </p:txBody>
      </p:sp>
      <p:sp>
        <p:nvSpPr>
          <p:cNvPr id="8" name="TextBox 7">
            <a:extLst>
              <a:ext uri="{FF2B5EF4-FFF2-40B4-BE49-F238E27FC236}">
                <a16:creationId xmlns:a16="http://schemas.microsoft.com/office/drawing/2014/main" id="{D4C16519-51F5-5EFF-CB74-11E7C7EAA74B}"/>
              </a:ext>
            </a:extLst>
          </p:cNvPr>
          <p:cNvSpPr txBox="1"/>
          <p:nvPr/>
        </p:nvSpPr>
        <p:spPr>
          <a:xfrm>
            <a:off x="304800" y="1828800"/>
            <a:ext cx="11684000" cy="4847481"/>
          </a:xfrm>
          <a:prstGeom prst="rect">
            <a:avLst/>
          </a:prstGeom>
          <a:noFill/>
        </p:spPr>
        <p:txBody>
          <a:bodyPr wrap="square">
            <a:spAutoFit/>
          </a:bodyPr>
          <a:lstStyle/>
          <a:p>
            <a:pPr algn="just">
              <a:spcAft>
                <a:spcPts val="600"/>
              </a:spcAft>
            </a:pPr>
            <a:r>
              <a:rPr lang="en-GB" sz="2400" dirty="0"/>
              <a:t>Current fiscal, monetary, and exchange rate policies (in part </a:t>
            </a:r>
            <a:r>
              <a:rPr lang="en-GB" sz="2400" i="1" dirty="0"/>
              <a:t>“tuned”):</a:t>
            </a:r>
          </a:p>
          <a:p>
            <a:pPr marL="342900" indent="-342900">
              <a:spcBef>
                <a:spcPts val="600"/>
              </a:spcBef>
              <a:spcAft>
                <a:spcPts val="600"/>
              </a:spcAft>
              <a:buFont typeface="Wingdings" panose="05000000000000000000" pitchFamily="2" charset="2"/>
              <a:buChar char="§"/>
            </a:pPr>
            <a:r>
              <a:rPr lang="en-GB" sz="2400" dirty="0"/>
              <a:t>Fiscal </a:t>
            </a:r>
            <a:r>
              <a:rPr lang="en-GB" dirty="0"/>
              <a:t>tightening </a:t>
            </a:r>
            <a:r>
              <a:rPr lang="en-GB" sz="2400" dirty="0"/>
              <a:t>under 2022/23—2023/24 Budgets, with </a:t>
            </a:r>
            <a:r>
              <a:rPr lang="en-GB" dirty="0"/>
              <a:t>phasing out</a:t>
            </a:r>
            <a:r>
              <a:rPr lang="en-GB" sz="2400" dirty="0"/>
              <a:t> of Covid and Ukraine-crises spending, and temporary sharp reduction in fiscal deficit &amp; impulse, with deficit increasing back to ‘norma</a:t>
            </a:r>
            <a:r>
              <a:rPr lang="en-GB" dirty="0"/>
              <a:t>l’ from 2024?25</a:t>
            </a:r>
            <a:endParaRPr lang="en-GB" sz="2400" dirty="0"/>
          </a:p>
          <a:p>
            <a:pPr marL="342900" indent="-342900" algn="just">
              <a:spcBef>
                <a:spcPts val="600"/>
              </a:spcBef>
              <a:spcAft>
                <a:spcPts val="600"/>
              </a:spcAft>
              <a:buFont typeface="Wingdings" panose="05000000000000000000" pitchFamily="2" charset="2"/>
              <a:buChar char="§"/>
            </a:pPr>
            <a:r>
              <a:rPr lang="en-GB" dirty="0"/>
              <a:t>Maintenance of current level of policy interest rate (interbank rate)</a:t>
            </a:r>
          </a:p>
          <a:p>
            <a:pPr marL="342900" indent="-342900" algn="just">
              <a:spcBef>
                <a:spcPts val="600"/>
              </a:spcBef>
              <a:spcAft>
                <a:spcPts val="600"/>
              </a:spcAft>
              <a:buFont typeface="Wingdings" panose="05000000000000000000" pitchFamily="2" charset="2"/>
              <a:buChar char="§"/>
            </a:pPr>
            <a:r>
              <a:rPr lang="en-GB" dirty="0"/>
              <a:t>Somewhat faster exchange rate depreciation in 2023 (than 2022), targeted in PCI</a:t>
            </a:r>
          </a:p>
          <a:p>
            <a:pPr marL="342900" indent="-342900" algn="just">
              <a:spcBef>
                <a:spcPts val="600"/>
              </a:spcBef>
              <a:spcAft>
                <a:spcPts val="600"/>
              </a:spcAft>
              <a:buFont typeface="Wingdings" panose="05000000000000000000" pitchFamily="2" charset="2"/>
              <a:buChar char="§"/>
            </a:pPr>
            <a:r>
              <a:rPr lang="en-GB" dirty="0"/>
              <a:t>Expected return to normal of agricultural harvests and domestic food prices</a:t>
            </a:r>
          </a:p>
          <a:p>
            <a:pPr marL="342900" indent="-342900" algn="just">
              <a:buFont typeface="Wingdings" panose="05000000000000000000" pitchFamily="2" charset="2"/>
              <a:buChar char="§"/>
            </a:pPr>
            <a:endParaRPr lang="en-GB" sz="2400" dirty="0"/>
          </a:p>
          <a:p>
            <a:pPr algn="just">
              <a:buFont typeface="Wingdings" panose="05000000000000000000" pitchFamily="2" charset="2"/>
              <a:buChar char="§"/>
            </a:pPr>
            <a:endParaRPr lang="en-GB" dirty="0"/>
          </a:p>
          <a:p>
            <a:pPr algn="just">
              <a:buFont typeface="Wingdings" panose="05000000000000000000" pitchFamily="2" charset="2"/>
              <a:buChar char="§"/>
            </a:pPr>
            <a:endParaRPr lang="en-GB" sz="2400" dirty="0"/>
          </a:p>
          <a:p>
            <a:pPr algn="just">
              <a:buFont typeface="Wingdings" panose="05000000000000000000" pitchFamily="2" charset="2"/>
              <a:buChar char="§"/>
            </a:pPr>
            <a:endParaRPr lang="en-GB" sz="2400" dirty="0"/>
          </a:p>
        </p:txBody>
      </p:sp>
    </p:spTree>
    <p:extLst>
      <p:ext uri="{BB962C8B-B14F-4D97-AF65-F5344CB8AC3E}">
        <p14:creationId xmlns:p14="http://schemas.microsoft.com/office/powerpoint/2010/main" val="4275266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6E48A-ACEE-51EB-B834-992F80F1053E}"/>
              </a:ext>
            </a:extLst>
          </p:cNvPr>
          <p:cNvSpPr>
            <a:spLocks noGrp="1"/>
          </p:cNvSpPr>
          <p:nvPr>
            <p:ph type="title"/>
          </p:nvPr>
        </p:nvSpPr>
        <p:spPr>
          <a:xfrm>
            <a:off x="1625600" y="228600"/>
            <a:ext cx="10261600" cy="706020"/>
          </a:xfrm>
        </p:spPr>
        <p:txBody>
          <a:bodyPr/>
          <a:lstStyle/>
          <a:p>
            <a:r>
              <a:rPr lang="en-GB" b="1" dirty="0"/>
              <a:t>4. Summary of macroeconomic forecast  </a:t>
            </a:r>
            <a:r>
              <a:rPr lang="en-GB" dirty="0">
                <a:solidFill>
                  <a:srgbClr val="FF0000"/>
                </a:solidFill>
              </a:rPr>
              <a:t>new</a:t>
            </a:r>
            <a:endParaRPr lang="en-AE" dirty="0">
              <a:solidFill>
                <a:srgbClr val="FF0000"/>
              </a:solidFill>
            </a:endParaRPr>
          </a:p>
        </p:txBody>
      </p:sp>
      <p:sp>
        <p:nvSpPr>
          <p:cNvPr id="3" name="Slide Number Placeholder 2">
            <a:extLst>
              <a:ext uri="{FF2B5EF4-FFF2-40B4-BE49-F238E27FC236}">
                <a16:creationId xmlns:a16="http://schemas.microsoft.com/office/drawing/2014/main" id="{60CEC34D-CC97-3D7D-A18A-8A80FC2EAA0E}"/>
              </a:ext>
            </a:extLst>
          </p:cNvPr>
          <p:cNvSpPr>
            <a:spLocks noGrp="1"/>
          </p:cNvSpPr>
          <p:nvPr>
            <p:ph type="sldNum" sz="quarter" idx="10"/>
          </p:nvPr>
        </p:nvSpPr>
        <p:spPr/>
        <p:txBody>
          <a:bodyPr/>
          <a:lstStyle/>
          <a:p>
            <a:fld id="{D97AE203-F84D-4A7F-B161-8561326BE072}" type="slidenum">
              <a:rPr lang="en-US" smtClean="0"/>
              <a:pPr/>
              <a:t>7</a:t>
            </a:fld>
            <a:endParaRPr lang="en-US" dirty="0"/>
          </a:p>
        </p:txBody>
      </p:sp>
      <p:sp>
        <p:nvSpPr>
          <p:cNvPr id="8" name="TextBox 7">
            <a:extLst>
              <a:ext uri="{FF2B5EF4-FFF2-40B4-BE49-F238E27FC236}">
                <a16:creationId xmlns:a16="http://schemas.microsoft.com/office/drawing/2014/main" id="{D4C16519-51F5-5EFF-CB74-11E7C7EAA74B}"/>
              </a:ext>
            </a:extLst>
          </p:cNvPr>
          <p:cNvSpPr txBox="1"/>
          <p:nvPr/>
        </p:nvSpPr>
        <p:spPr>
          <a:xfrm>
            <a:off x="304800" y="1828800"/>
            <a:ext cx="11684000" cy="2693045"/>
          </a:xfrm>
          <a:prstGeom prst="rect">
            <a:avLst/>
          </a:prstGeom>
          <a:noFill/>
        </p:spPr>
        <p:txBody>
          <a:bodyPr wrap="square">
            <a:spAutoFit/>
          </a:bodyPr>
          <a:lstStyle/>
          <a:p>
            <a:pPr marL="342900" indent="-342900">
              <a:spcBef>
                <a:spcPts val="600"/>
              </a:spcBef>
              <a:spcAft>
                <a:spcPts val="600"/>
              </a:spcAft>
              <a:buFont typeface="Wingdings" panose="05000000000000000000" pitchFamily="2" charset="2"/>
              <a:buChar char="§"/>
            </a:pPr>
            <a:r>
              <a:rPr lang="en-GB" sz="2400" dirty="0"/>
              <a:t>Table with </a:t>
            </a:r>
            <a:r>
              <a:rPr lang="en-GB" dirty="0"/>
              <a:t>key macroeconomic indicators</a:t>
            </a:r>
          </a:p>
          <a:p>
            <a:pPr marL="342900" indent="-342900">
              <a:spcBef>
                <a:spcPts val="600"/>
              </a:spcBef>
              <a:spcAft>
                <a:spcPts val="600"/>
              </a:spcAft>
              <a:buFont typeface="Wingdings" panose="05000000000000000000" pitchFamily="2" charset="2"/>
              <a:buChar char="§"/>
            </a:pPr>
            <a:r>
              <a:rPr lang="en-GB" sz="2400" dirty="0"/>
              <a:t>Bullet </a:t>
            </a:r>
            <a:r>
              <a:rPr lang="en-GB" dirty="0"/>
              <a:t>highlights</a:t>
            </a:r>
          </a:p>
          <a:p>
            <a:pPr marL="342900" indent="-342900">
              <a:spcBef>
                <a:spcPts val="600"/>
              </a:spcBef>
              <a:spcAft>
                <a:spcPts val="600"/>
              </a:spcAft>
              <a:buFont typeface="Wingdings" panose="05000000000000000000" pitchFamily="2" charset="2"/>
              <a:buChar char="§"/>
            </a:pPr>
            <a:r>
              <a:rPr lang="en-GB" sz="2400" dirty="0"/>
              <a:t>A few charts</a:t>
            </a:r>
          </a:p>
          <a:p>
            <a:pPr algn="just">
              <a:buFont typeface="Wingdings" panose="05000000000000000000" pitchFamily="2" charset="2"/>
              <a:buChar char="§"/>
            </a:pPr>
            <a:endParaRPr lang="en-GB" dirty="0"/>
          </a:p>
          <a:p>
            <a:pPr algn="just">
              <a:buFont typeface="Wingdings" panose="05000000000000000000" pitchFamily="2" charset="2"/>
              <a:buChar char="§"/>
            </a:pPr>
            <a:endParaRPr lang="en-GB" sz="2400" dirty="0"/>
          </a:p>
          <a:p>
            <a:pPr algn="just">
              <a:buFont typeface="Wingdings" panose="05000000000000000000" pitchFamily="2" charset="2"/>
              <a:buChar char="§"/>
            </a:pPr>
            <a:endParaRPr lang="en-GB" sz="2400" dirty="0"/>
          </a:p>
        </p:txBody>
      </p:sp>
    </p:spTree>
    <p:extLst>
      <p:ext uri="{BB962C8B-B14F-4D97-AF65-F5344CB8AC3E}">
        <p14:creationId xmlns:p14="http://schemas.microsoft.com/office/powerpoint/2010/main" val="3016540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6E48A-ACEE-51EB-B834-992F80F1053E}"/>
              </a:ext>
            </a:extLst>
          </p:cNvPr>
          <p:cNvSpPr>
            <a:spLocks noGrp="1"/>
          </p:cNvSpPr>
          <p:nvPr>
            <p:ph type="title"/>
          </p:nvPr>
        </p:nvSpPr>
        <p:spPr>
          <a:xfrm>
            <a:off x="1625600" y="228600"/>
            <a:ext cx="10261600" cy="706020"/>
          </a:xfrm>
        </p:spPr>
        <p:txBody>
          <a:bodyPr/>
          <a:lstStyle/>
          <a:p>
            <a:r>
              <a:rPr lang="en-GB" b="1" dirty="0"/>
              <a:t>5. Macroeconomic forecast narrative</a:t>
            </a:r>
            <a:endParaRPr lang="en-AE" dirty="0">
              <a:solidFill>
                <a:srgbClr val="FF0000"/>
              </a:solidFill>
            </a:endParaRPr>
          </a:p>
        </p:txBody>
      </p:sp>
      <p:sp>
        <p:nvSpPr>
          <p:cNvPr id="3" name="Slide Number Placeholder 2">
            <a:extLst>
              <a:ext uri="{FF2B5EF4-FFF2-40B4-BE49-F238E27FC236}">
                <a16:creationId xmlns:a16="http://schemas.microsoft.com/office/drawing/2014/main" id="{60CEC34D-CC97-3D7D-A18A-8A80FC2EAA0E}"/>
              </a:ext>
            </a:extLst>
          </p:cNvPr>
          <p:cNvSpPr>
            <a:spLocks noGrp="1"/>
          </p:cNvSpPr>
          <p:nvPr>
            <p:ph type="sldNum" sz="quarter" idx="10"/>
          </p:nvPr>
        </p:nvSpPr>
        <p:spPr/>
        <p:txBody>
          <a:bodyPr/>
          <a:lstStyle/>
          <a:p>
            <a:fld id="{D97AE203-F84D-4A7F-B161-8561326BE072}" type="slidenum">
              <a:rPr lang="en-US" smtClean="0"/>
              <a:pPr/>
              <a:t>8</a:t>
            </a:fld>
            <a:endParaRPr lang="en-US" dirty="0"/>
          </a:p>
        </p:txBody>
      </p:sp>
      <p:sp>
        <p:nvSpPr>
          <p:cNvPr id="8" name="TextBox 7">
            <a:extLst>
              <a:ext uri="{FF2B5EF4-FFF2-40B4-BE49-F238E27FC236}">
                <a16:creationId xmlns:a16="http://schemas.microsoft.com/office/drawing/2014/main" id="{D4C16519-51F5-5EFF-CB74-11E7C7EAA74B}"/>
              </a:ext>
            </a:extLst>
          </p:cNvPr>
          <p:cNvSpPr txBox="1"/>
          <p:nvPr/>
        </p:nvSpPr>
        <p:spPr>
          <a:xfrm>
            <a:off x="304800" y="1828800"/>
            <a:ext cx="11684000" cy="4416594"/>
          </a:xfrm>
          <a:prstGeom prst="rect">
            <a:avLst/>
          </a:prstGeom>
          <a:noFill/>
        </p:spPr>
        <p:txBody>
          <a:bodyPr wrap="square">
            <a:spAutoFit/>
          </a:bodyPr>
          <a:lstStyle/>
          <a:p>
            <a:pPr>
              <a:spcBef>
                <a:spcPts val="600"/>
              </a:spcBef>
              <a:spcAft>
                <a:spcPts val="600"/>
              </a:spcAft>
            </a:pPr>
            <a:r>
              <a:rPr lang="en-GB" sz="2400" dirty="0"/>
              <a:t>Macroeconomic aggregates and their key components and drivers:</a:t>
            </a:r>
          </a:p>
          <a:p>
            <a:pPr marL="342900" indent="-342900">
              <a:spcBef>
                <a:spcPts val="600"/>
              </a:spcBef>
              <a:spcAft>
                <a:spcPts val="600"/>
              </a:spcAft>
              <a:buFont typeface="Wingdings" panose="05000000000000000000" pitchFamily="2" charset="2"/>
              <a:buChar char="§"/>
            </a:pPr>
            <a:r>
              <a:rPr lang="en-GB" sz="2400" dirty="0"/>
              <a:t>Output growth and cyclical position</a:t>
            </a:r>
            <a:endParaRPr lang="en-GB" dirty="0"/>
          </a:p>
          <a:p>
            <a:pPr marL="342900" indent="-342900">
              <a:spcBef>
                <a:spcPts val="600"/>
              </a:spcBef>
              <a:spcAft>
                <a:spcPts val="600"/>
              </a:spcAft>
              <a:buFont typeface="Wingdings" panose="05000000000000000000" pitchFamily="2" charset="2"/>
              <a:buChar char="§"/>
            </a:pPr>
            <a:r>
              <a:rPr lang="en-GB" sz="2400" dirty="0"/>
              <a:t>Private demand and cyclical position</a:t>
            </a:r>
            <a:endParaRPr lang="en-GB" dirty="0"/>
          </a:p>
          <a:p>
            <a:pPr marL="342900" indent="-342900">
              <a:spcBef>
                <a:spcPts val="600"/>
              </a:spcBef>
              <a:spcAft>
                <a:spcPts val="600"/>
              </a:spcAft>
              <a:buFont typeface="Wingdings" panose="05000000000000000000" pitchFamily="2" charset="2"/>
              <a:buChar char="§"/>
            </a:pPr>
            <a:r>
              <a:rPr lang="en-GB" sz="2400" dirty="0"/>
              <a:t>Government demand and deficit, structural, cyclical and discretionary components</a:t>
            </a:r>
          </a:p>
          <a:p>
            <a:pPr marL="342900" indent="-342900">
              <a:spcBef>
                <a:spcPts val="600"/>
              </a:spcBef>
              <a:spcAft>
                <a:spcPts val="600"/>
              </a:spcAft>
              <a:buFont typeface="Wingdings" panose="05000000000000000000" pitchFamily="2" charset="2"/>
              <a:buChar char="§"/>
            </a:pPr>
            <a:r>
              <a:rPr lang="en-GB" sz="2400" dirty="0"/>
              <a:t>Inflation and components</a:t>
            </a:r>
          </a:p>
          <a:p>
            <a:pPr marL="342900" indent="-342900">
              <a:spcBef>
                <a:spcPts val="600"/>
              </a:spcBef>
              <a:spcAft>
                <a:spcPts val="600"/>
              </a:spcAft>
              <a:buFont typeface="Wingdings" panose="05000000000000000000" pitchFamily="2" charset="2"/>
              <a:buChar char="§"/>
            </a:pPr>
            <a:r>
              <a:rPr lang="en-GB" dirty="0"/>
              <a:t>Nominal and real interest rates</a:t>
            </a:r>
          </a:p>
          <a:p>
            <a:pPr marL="342900" indent="-342900">
              <a:spcBef>
                <a:spcPts val="600"/>
              </a:spcBef>
              <a:spcAft>
                <a:spcPts val="600"/>
              </a:spcAft>
              <a:buFont typeface="Wingdings" panose="05000000000000000000" pitchFamily="2" charset="2"/>
              <a:buChar char="§"/>
            </a:pPr>
            <a:r>
              <a:rPr lang="en-GB" dirty="0"/>
              <a:t>Nominal and real ex</a:t>
            </a:r>
            <a:r>
              <a:rPr lang="en-GB" sz="2400" dirty="0"/>
              <a:t>change</a:t>
            </a:r>
            <a:r>
              <a:rPr lang="en-GB" dirty="0"/>
              <a:t> rates</a:t>
            </a:r>
          </a:p>
          <a:p>
            <a:pPr algn="just">
              <a:buFont typeface="Wingdings" panose="05000000000000000000" pitchFamily="2" charset="2"/>
              <a:buChar char="§"/>
            </a:pPr>
            <a:endParaRPr lang="en-GB" sz="2400" dirty="0"/>
          </a:p>
          <a:p>
            <a:pPr algn="just">
              <a:buFont typeface="Wingdings" panose="05000000000000000000" pitchFamily="2" charset="2"/>
              <a:buChar char="§"/>
            </a:pPr>
            <a:endParaRPr lang="en-GB" sz="2400" dirty="0"/>
          </a:p>
        </p:txBody>
      </p:sp>
    </p:spTree>
    <p:extLst>
      <p:ext uri="{BB962C8B-B14F-4D97-AF65-F5344CB8AC3E}">
        <p14:creationId xmlns:p14="http://schemas.microsoft.com/office/powerpoint/2010/main" val="3552405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25B51-9F35-563B-B454-D804ED60B1A0}"/>
              </a:ext>
            </a:extLst>
          </p:cNvPr>
          <p:cNvSpPr>
            <a:spLocks noGrp="1"/>
          </p:cNvSpPr>
          <p:nvPr>
            <p:ph type="title"/>
          </p:nvPr>
        </p:nvSpPr>
        <p:spPr>
          <a:xfrm>
            <a:off x="1600200" y="153531"/>
            <a:ext cx="10261600" cy="684669"/>
          </a:xfrm>
        </p:spPr>
        <p:txBody>
          <a:bodyPr/>
          <a:lstStyle/>
          <a:p>
            <a:r>
              <a:rPr lang="en-GB" b="1" dirty="0"/>
              <a:t>Forecast—Output and cyclical position </a:t>
            </a:r>
            <a:r>
              <a:rPr lang="en-GB" dirty="0"/>
              <a:t>(GDP growth)</a:t>
            </a:r>
            <a:endParaRPr lang="en-AE" dirty="0"/>
          </a:p>
        </p:txBody>
      </p:sp>
      <p:sp>
        <p:nvSpPr>
          <p:cNvPr id="3" name="Slide Number Placeholder 2">
            <a:extLst>
              <a:ext uri="{FF2B5EF4-FFF2-40B4-BE49-F238E27FC236}">
                <a16:creationId xmlns:a16="http://schemas.microsoft.com/office/drawing/2014/main" id="{66C60EEB-4D2C-ABC6-3CBF-810371A48CF9}"/>
              </a:ext>
            </a:extLst>
          </p:cNvPr>
          <p:cNvSpPr>
            <a:spLocks noGrp="1"/>
          </p:cNvSpPr>
          <p:nvPr>
            <p:ph type="sldNum" sz="quarter" idx="10"/>
          </p:nvPr>
        </p:nvSpPr>
        <p:spPr/>
        <p:txBody>
          <a:bodyPr/>
          <a:lstStyle/>
          <a:p>
            <a:fld id="{D97AE203-F84D-4A7F-B161-8561326BE072}" type="slidenum">
              <a:rPr lang="en-US" smtClean="0"/>
              <a:pPr/>
              <a:t>9</a:t>
            </a:fld>
            <a:endParaRPr lang="en-US" dirty="0"/>
          </a:p>
        </p:txBody>
      </p:sp>
      <p:sp>
        <p:nvSpPr>
          <p:cNvPr id="6" name="Content Placeholder 2">
            <a:extLst>
              <a:ext uri="{FF2B5EF4-FFF2-40B4-BE49-F238E27FC236}">
                <a16:creationId xmlns:a16="http://schemas.microsoft.com/office/drawing/2014/main" id="{6DB21F50-4750-8FFC-95EB-0C9188E69407}"/>
              </a:ext>
            </a:extLst>
          </p:cNvPr>
          <p:cNvSpPr txBox="1">
            <a:spLocks/>
          </p:cNvSpPr>
          <p:nvPr/>
        </p:nvSpPr>
        <p:spPr>
          <a:xfrm>
            <a:off x="228600" y="1591467"/>
            <a:ext cx="5181600" cy="4935419"/>
          </a:xfrm>
          <a:prstGeom prst="rect">
            <a:avLst/>
          </a:prstGeom>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GB" sz="2000" b="1" dirty="0">
                <a:solidFill>
                  <a:srgbClr val="00B0F0"/>
                </a:solidFill>
              </a:rPr>
              <a:t>Output growth: </a:t>
            </a:r>
            <a:r>
              <a:rPr lang="en-GB" sz="2000" dirty="0"/>
              <a:t>to rise a bit above trend in 2023-24, completing post-Covid recovery</a:t>
            </a:r>
          </a:p>
          <a:p>
            <a:pPr marL="0" indent="0">
              <a:buNone/>
            </a:pPr>
            <a:endParaRPr lang="en-GB" sz="2000" dirty="0"/>
          </a:p>
          <a:p>
            <a:pPr marL="0" indent="0">
              <a:buNone/>
            </a:pPr>
            <a:r>
              <a:rPr lang="en-GB" sz="2000" b="1" dirty="0">
                <a:solidFill>
                  <a:srgbClr val="00B0F0"/>
                </a:solidFill>
              </a:rPr>
              <a:t>Driven by</a:t>
            </a:r>
            <a:r>
              <a:rPr lang="en-GB" sz="2000" b="1" dirty="0"/>
              <a:t>:</a:t>
            </a:r>
          </a:p>
          <a:p>
            <a:pPr>
              <a:buFont typeface="Wingdings" panose="05000000000000000000" pitchFamily="2" charset="2"/>
              <a:buChar char="§"/>
            </a:pPr>
            <a:r>
              <a:rPr lang="en-GB" sz="2000" dirty="0"/>
              <a:t>consumption recovering from Covid shocks, helped by below-trend RIR</a:t>
            </a:r>
          </a:p>
          <a:p>
            <a:pPr>
              <a:buFont typeface="Wingdings" panose="05000000000000000000" pitchFamily="2" charset="2"/>
              <a:buChar char="§"/>
            </a:pPr>
            <a:r>
              <a:rPr lang="en-GB" sz="2000" dirty="0"/>
              <a:t>exports recovering from Covid shocks though hampered by still below-trend RER</a:t>
            </a:r>
          </a:p>
          <a:p>
            <a:pPr>
              <a:buFont typeface="Wingdings" panose="05000000000000000000" pitchFamily="2" charset="2"/>
              <a:buChar char="§"/>
            </a:pPr>
            <a:r>
              <a:rPr lang="en-GB" sz="2000" dirty="0"/>
              <a:t>govt spending dropped in FY 2022/23 (incl. ending Covid- and Ukraine-crises spending)</a:t>
            </a:r>
          </a:p>
          <a:p>
            <a:pPr>
              <a:buFont typeface="Wingdings" panose="05000000000000000000" pitchFamily="2" charset="2"/>
              <a:buChar char="§"/>
            </a:pPr>
            <a:r>
              <a:rPr lang="en-GB" sz="2000" dirty="0"/>
              <a:t>further govt tightening in FY2023/24, before returning to ‘normal’ (</a:t>
            </a:r>
            <a:r>
              <a:rPr lang="en-GB" sz="2000" i="1" dirty="0"/>
              <a:t>cf. </a:t>
            </a:r>
            <a:r>
              <a:rPr lang="en-GB" sz="2000" i="1" dirty="0">
                <a:solidFill>
                  <a:schemeClr val="accent2">
                    <a:lumMod val="50000"/>
                  </a:schemeClr>
                </a:solidFill>
              </a:rPr>
              <a:t>Fiscal Impulse </a:t>
            </a:r>
            <a:r>
              <a:rPr lang="en-GB" sz="2000" i="1" dirty="0"/>
              <a:t>below</a:t>
            </a:r>
            <a:r>
              <a:rPr lang="en-GB" sz="2000" dirty="0"/>
              <a:t>)</a:t>
            </a:r>
          </a:p>
          <a:p>
            <a:pPr>
              <a:buFont typeface="Wingdings" panose="05000000000000000000" pitchFamily="2" charset="2"/>
              <a:buChar char="§"/>
            </a:pPr>
            <a:r>
              <a:rPr lang="en-GB" sz="2000" dirty="0"/>
              <a:t>output back to trend of 7.5 % p.y. from 2025</a:t>
            </a:r>
          </a:p>
        </p:txBody>
      </p:sp>
      <p:pic>
        <p:nvPicPr>
          <p:cNvPr id="4" name="Picture 3">
            <a:extLst>
              <a:ext uri="{FF2B5EF4-FFF2-40B4-BE49-F238E27FC236}">
                <a16:creationId xmlns:a16="http://schemas.microsoft.com/office/drawing/2014/main" id="{06AB8512-E1DD-10B3-6515-A9CE1A80F60C}"/>
              </a:ext>
            </a:extLst>
          </p:cNvPr>
          <p:cNvPicPr>
            <a:picLocks noChangeAspect="1"/>
          </p:cNvPicPr>
          <p:nvPr/>
        </p:nvPicPr>
        <p:blipFill>
          <a:blip r:embed="rId3"/>
          <a:stretch>
            <a:fillRect/>
          </a:stretch>
        </p:blipFill>
        <p:spPr>
          <a:xfrm>
            <a:off x="5105400" y="1481258"/>
            <a:ext cx="6756400" cy="5067300"/>
          </a:xfrm>
          <a:prstGeom prst="rect">
            <a:avLst/>
          </a:prstGeom>
        </p:spPr>
      </p:pic>
    </p:spTree>
    <p:extLst>
      <p:ext uri="{BB962C8B-B14F-4D97-AF65-F5344CB8AC3E}">
        <p14:creationId xmlns:p14="http://schemas.microsoft.com/office/powerpoint/2010/main" val="900768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2B948-3F28-94A0-AFF9-22D3A186313C}"/>
              </a:ext>
            </a:extLst>
          </p:cNvPr>
          <p:cNvSpPr>
            <a:spLocks noGrp="1"/>
          </p:cNvSpPr>
          <p:nvPr>
            <p:ph type="title"/>
          </p:nvPr>
        </p:nvSpPr>
        <p:spPr>
          <a:xfrm>
            <a:off x="1600200" y="228600"/>
            <a:ext cx="10058400" cy="762000"/>
          </a:xfrm>
        </p:spPr>
        <p:txBody>
          <a:bodyPr/>
          <a:lstStyle/>
          <a:p>
            <a:r>
              <a:rPr lang="en-GB" b="1" dirty="0"/>
              <a:t>Forecast—cyclical total demand driving GDP</a:t>
            </a:r>
            <a:endParaRPr lang="en-AE" b="1" dirty="0"/>
          </a:p>
        </p:txBody>
      </p:sp>
      <p:sp>
        <p:nvSpPr>
          <p:cNvPr id="3" name="Slide Number Placeholder 2">
            <a:extLst>
              <a:ext uri="{FF2B5EF4-FFF2-40B4-BE49-F238E27FC236}">
                <a16:creationId xmlns:a16="http://schemas.microsoft.com/office/drawing/2014/main" id="{CAECA724-04CE-0978-4E96-A52B52FFCBB7}"/>
              </a:ext>
            </a:extLst>
          </p:cNvPr>
          <p:cNvSpPr>
            <a:spLocks noGrp="1"/>
          </p:cNvSpPr>
          <p:nvPr>
            <p:ph type="sldNum" sz="quarter" idx="10"/>
          </p:nvPr>
        </p:nvSpPr>
        <p:spPr/>
        <p:txBody>
          <a:bodyPr/>
          <a:lstStyle/>
          <a:p>
            <a:fld id="{D97AE203-F84D-4A7F-B161-8561326BE072}" type="slidenum">
              <a:rPr lang="en-US" smtClean="0"/>
              <a:pPr/>
              <a:t>10</a:t>
            </a:fld>
            <a:endParaRPr lang="en-US" dirty="0"/>
          </a:p>
        </p:txBody>
      </p:sp>
      <p:sp>
        <p:nvSpPr>
          <p:cNvPr id="6" name="Content Placeholder 2">
            <a:extLst>
              <a:ext uri="{FF2B5EF4-FFF2-40B4-BE49-F238E27FC236}">
                <a16:creationId xmlns:a16="http://schemas.microsoft.com/office/drawing/2014/main" id="{6CE53A78-6149-73BC-44A9-99D9F5188F33}"/>
              </a:ext>
            </a:extLst>
          </p:cNvPr>
          <p:cNvSpPr txBox="1">
            <a:spLocks/>
          </p:cNvSpPr>
          <p:nvPr/>
        </p:nvSpPr>
        <p:spPr>
          <a:xfrm>
            <a:off x="533400" y="1295400"/>
            <a:ext cx="4648200" cy="5121276"/>
          </a:xfrm>
          <a:prstGeom prst="rect">
            <a:avLst/>
          </a:prstGeom>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buNone/>
            </a:pPr>
            <a:r>
              <a:rPr lang="en-GB" sz="2000" b="1" dirty="0">
                <a:solidFill>
                  <a:schemeClr val="accent1"/>
                </a:solidFill>
              </a:rPr>
              <a:t>GDP below potential:  </a:t>
            </a:r>
            <a:r>
              <a:rPr lang="en-GB" sz="2000" dirty="0"/>
              <a:t>gap is estimated at 4 % at end-2022</a:t>
            </a:r>
          </a:p>
          <a:p>
            <a:pPr marL="0" indent="0">
              <a:buNone/>
            </a:pPr>
            <a:r>
              <a:rPr lang="en-GB" sz="2000" b="1" dirty="0">
                <a:solidFill>
                  <a:schemeClr val="accent1"/>
                </a:solidFill>
              </a:rPr>
              <a:t>Output (</a:t>
            </a:r>
            <a:r>
              <a:rPr lang="en-GB" sz="2000" dirty="0"/>
              <a:t>GDP) to return to its potential level by 2025, i.e., GDP if growth had continued at pre-Covid trend rate</a:t>
            </a:r>
          </a:p>
          <a:p>
            <a:pPr marL="0" indent="0">
              <a:buNone/>
            </a:pPr>
            <a:r>
              <a:rPr lang="en-GB" sz="2000" b="1" dirty="0">
                <a:solidFill>
                  <a:srgbClr val="00B0F0"/>
                </a:solidFill>
              </a:rPr>
              <a:t>Driven by</a:t>
            </a:r>
            <a:r>
              <a:rPr lang="en-GB" sz="2000" dirty="0"/>
              <a:t>:</a:t>
            </a:r>
          </a:p>
          <a:p>
            <a:pPr>
              <a:buFont typeface="Wingdings" panose="05000000000000000000" pitchFamily="2" charset="2"/>
              <a:buChar char="§"/>
            </a:pPr>
            <a:r>
              <a:rPr lang="en-GB" sz="2000" dirty="0"/>
              <a:t>disappearing Covid down-pull from consumption and exports, which are forecast to return to normal</a:t>
            </a:r>
          </a:p>
          <a:p>
            <a:pPr>
              <a:buFont typeface="Wingdings" panose="05000000000000000000" pitchFamily="2" charset="2"/>
              <a:buChar char="§"/>
            </a:pPr>
            <a:r>
              <a:rPr lang="en-GB" sz="2000" dirty="0"/>
              <a:t>exports recovering from Covid-related shocks and helped by increasing RER</a:t>
            </a:r>
          </a:p>
          <a:p>
            <a:pPr>
              <a:buFont typeface="Wingdings" panose="05000000000000000000" pitchFamily="2" charset="2"/>
              <a:buChar char="§"/>
            </a:pPr>
            <a:r>
              <a:rPr lang="en-GB" sz="2000" dirty="0"/>
              <a:t>govt demand—pulled up output under Covid—goes ‘in reverse’ in 2022/23-20243/24, before picking up thereafter</a:t>
            </a:r>
          </a:p>
          <a:p>
            <a:pPr marL="0" indent="0">
              <a:buNone/>
            </a:pPr>
            <a:endParaRPr lang="en-GB" sz="2000" dirty="0"/>
          </a:p>
        </p:txBody>
      </p:sp>
      <p:pic>
        <p:nvPicPr>
          <p:cNvPr id="4" name="Picture 3">
            <a:extLst>
              <a:ext uri="{FF2B5EF4-FFF2-40B4-BE49-F238E27FC236}">
                <a16:creationId xmlns:a16="http://schemas.microsoft.com/office/drawing/2014/main" id="{B57212B5-A207-3BDA-36AD-389DF9023302}"/>
              </a:ext>
            </a:extLst>
          </p:cNvPr>
          <p:cNvPicPr>
            <a:picLocks noChangeAspect="1"/>
          </p:cNvPicPr>
          <p:nvPr/>
        </p:nvPicPr>
        <p:blipFill>
          <a:blip r:embed="rId3"/>
          <a:stretch>
            <a:fillRect/>
          </a:stretch>
        </p:blipFill>
        <p:spPr>
          <a:xfrm>
            <a:off x="5410200" y="1270969"/>
            <a:ext cx="6828368" cy="5121276"/>
          </a:xfrm>
          <a:prstGeom prst="rect">
            <a:avLst/>
          </a:prstGeom>
        </p:spPr>
      </p:pic>
    </p:spTree>
    <p:extLst>
      <p:ext uri="{BB962C8B-B14F-4D97-AF65-F5344CB8AC3E}">
        <p14:creationId xmlns:p14="http://schemas.microsoft.com/office/powerpoint/2010/main" val="1781778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E215E-A221-5C2E-C78F-32828EC4B1F8}"/>
              </a:ext>
            </a:extLst>
          </p:cNvPr>
          <p:cNvSpPr>
            <a:spLocks noGrp="1"/>
          </p:cNvSpPr>
          <p:nvPr>
            <p:ph type="title"/>
          </p:nvPr>
        </p:nvSpPr>
        <p:spPr>
          <a:xfrm>
            <a:off x="1625600" y="228600"/>
            <a:ext cx="10490200" cy="685800"/>
          </a:xfrm>
        </p:spPr>
        <p:txBody>
          <a:bodyPr/>
          <a:lstStyle/>
          <a:p>
            <a:r>
              <a:rPr lang="en-GB" b="1" dirty="0"/>
              <a:t>Private consumption and cyclical position</a:t>
            </a:r>
            <a:endParaRPr lang="en-AE" b="1" dirty="0"/>
          </a:p>
        </p:txBody>
      </p:sp>
      <p:sp>
        <p:nvSpPr>
          <p:cNvPr id="3" name="Slide Number Placeholder 2">
            <a:extLst>
              <a:ext uri="{FF2B5EF4-FFF2-40B4-BE49-F238E27FC236}">
                <a16:creationId xmlns:a16="http://schemas.microsoft.com/office/drawing/2014/main" id="{D8C77F28-182D-EA72-A954-E1C43EFFCEA3}"/>
              </a:ext>
            </a:extLst>
          </p:cNvPr>
          <p:cNvSpPr>
            <a:spLocks noGrp="1"/>
          </p:cNvSpPr>
          <p:nvPr>
            <p:ph type="sldNum" sz="quarter" idx="10"/>
          </p:nvPr>
        </p:nvSpPr>
        <p:spPr/>
        <p:txBody>
          <a:bodyPr/>
          <a:lstStyle/>
          <a:p>
            <a:fld id="{D97AE203-F84D-4A7F-B161-8561326BE072}" type="slidenum">
              <a:rPr lang="en-US" smtClean="0"/>
              <a:pPr/>
              <a:t>11</a:t>
            </a:fld>
            <a:endParaRPr lang="en-US" dirty="0"/>
          </a:p>
        </p:txBody>
      </p:sp>
      <p:sp>
        <p:nvSpPr>
          <p:cNvPr id="4" name="Content Placeholder 2">
            <a:extLst>
              <a:ext uri="{FF2B5EF4-FFF2-40B4-BE49-F238E27FC236}">
                <a16:creationId xmlns:a16="http://schemas.microsoft.com/office/drawing/2014/main" id="{D58DA28E-0F28-523A-7B3F-93FC9CDE1E03}"/>
              </a:ext>
            </a:extLst>
          </p:cNvPr>
          <p:cNvSpPr txBox="1">
            <a:spLocks/>
          </p:cNvSpPr>
          <p:nvPr/>
        </p:nvSpPr>
        <p:spPr>
          <a:xfrm>
            <a:off x="5791200" y="1066800"/>
            <a:ext cx="6324600" cy="18288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n-GB" sz="2000" b="1" dirty="0">
                <a:solidFill>
                  <a:schemeClr val="accent1"/>
                </a:solidFill>
              </a:rPr>
              <a:t>Consumption gap:  </a:t>
            </a:r>
            <a:r>
              <a:rPr lang="en-GB" sz="2000" b="1" dirty="0"/>
              <a:t> </a:t>
            </a:r>
            <a:endParaRPr lang="en-GB" sz="2000" b="1" dirty="0">
              <a:solidFill>
                <a:schemeClr val="accent1"/>
              </a:solidFill>
            </a:endParaRPr>
          </a:p>
          <a:p>
            <a:pPr algn="just">
              <a:buFont typeface="Wingdings" panose="05000000000000000000" pitchFamily="2" charset="2"/>
              <a:buChar char="§"/>
            </a:pPr>
            <a:r>
              <a:rPr lang="en-GB" sz="1800" dirty="0"/>
              <a:t>key driver of 2020-21 negative output gap (</a:t>
            </a:r>
            <a:r>
              <a:rPr lang="en-GB" sz="1800" u="sng" dirty="0"/>
              <a:t>+</a:t>
            </a:r>
            <a:r>
              <a:rPr lang="en-GB" sz="1800" dirty="0"/>
              <a:t>75 % of GDP)</a:t>
            </a:r>
          </a:p>
          <a:p>
            <a:pPr algn="just">
              <a:buFont typeface="Wingdings" panose="05000000000000000000" pitchFamily="2" charset="2"/>
              <a:buChar char="§"/>
            </a:pPr>
            <a:r>
              <a:rPr lang="en-GB" sz="1800" dirty="0"/>
              <a:t>Covid negative shocks (persistence) forecast to end in 2023</a:t>
            </a:r>
          </a:p>
          <a:p>
            <a:pPr algn="just">
              <a:buFont typeface="Wingdings" panose="05000000000000000000" pitchFamily="2" charset="2"/>
              <a:buChar char="§"/>
            </a:pPr>
            <a:r>
              <a:rPr lang="en-GB" sz="1800" dirty="0"/>
              <a:t>fiscal impulse helped offset somewhat negative consumption shocks during Covid, but oxen it is ending in 2023</a:t>
            </a:r>
            <a:endParaRPr lang="en-GB" sz="1400" b="1" dirty="0"/>
          </a:p>
          <a:p>
            <a:pPr marL="0" indent="0" algn="just">
              <a:buNone/>
            </a:pPr>
            <a:endParaRPr lang="en-AE" sz="1400" b="1" dirty="0"/>
          </a:p>
        </p:txBody>
      </p:sp>
      <p:sp>
        <p:nvSpPr>
          <p:cNvPr id="7" name="Content Placeholder 2">
            <a:extLst>
              <a:ext uri="{FF2B5EF4-FFF2-40B4-BE49-F238E27FC236}">
                <a16:creationId xmlns:a16="http://schemas.microsoft.com/office/drawing/2014/main" id="{9C5FF67D-3E27-1BC9-9FF6-68A4F623CC18}"/>
              </a:ext>
            </a:extLst>
          </p:cNvPr>
          <p:cNvSpPr txBox="1">
            <a:spLocks/>
          </p:cNvSpPr>
          <p:nvPr/>
        </p:nvSpPr>
        <p:spPr>
          <a:xfrm>
            <a:off x="1143000" y="4876800"/>
            <a:ext cx="4419600" cy="1580366"/>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lgn="just">
              <a:buFont typeface="Wingdings" panose="05000000000000000000" pitchFamily="2" charset="2"/>
              <a:buChar char="q"/>
            </a:pPr>
            <a:endParaRPr lang="en-AE" sz="1400" b="1" dirty="0"/>
          </a:p>
        </p:txBody>
      </p:sp>
      <p:sp>
        <p:nvSpPr>
          <p:cNvPr id="9" name="TextBox 8">
            <a:extLst>
              <a:ext uri="{FF2B5EF4-FFF2-40B4-BE49-F238E27FC236}">
                <a16:creationId xmlns:a16="http://schemas.microsoft.com/office/drawing/2014/main" id="{92C4DA25-5C9F-F1F8-8B9C-3CE84D7513B0}"/>
              </a:ext>
            </a:extLst>
          </p:cNvPr>
          <p:cNvSpPr txBox="1"/>
          <p:nvPr/>
        </p:nvSpPr>
        <p:spPr>
          <a:xfrm rot="10800000" flipV="1">
            <a:off x="381000" y="5060332"/>
            <a:ext cx="5334000" cy="1496948"/>
          </a:xfrm>
          <a:prstGeom prst="rect">
            <a:avLst/>
          </a:prstGeom>
          <a:noFill/>
        </p:spPr>
        <p:txBody>
          <a:bodyPr wrap="square">
            <a:spAutoFit/>
          </a:bodyPr>
          <a:lstStyle/>
          <a:p>
            <a:pPr marL="0" marR="0">
              <a:lnSpc>
                <a:spcPct val="107000"/>
              </a:lnSpc>
              <a:spcBef>
                <a:spcPts val="0"/>
              </a:spcBef>
              <a:spcAft>
                <a:spcPts val="800"/>
              </a:spcAft>
            </a:pPr>
            <a:r>
              <a:rPr lang="en-GB" sz="2000" b="1" dirty="0">
                <a:solidFill>
                  <a:srgbClr val="00B0F0"/>
                </a:solidFill>
                <a:effectLst/>
                <a:latin typeface="Gill Sans MT" panose="020B0502020104020203" pitchFamily="34" charset="0"/>
                <a:ea typeface="Calibri" panose="020F0502020204030204" pitchFamily="34" charset="0"/>
                <a:cs typeface="Times New Roman" panose="02020603050405020304" pitchFamily="18" charset="0"/>
              </a:rPr>
              <a:t>Consumption growth</a:t>
            </a:r>
            <a:r>
              <a:rPr lang="en-GB" sz="2000" b="1" dirty="0">
                <a:effectLst/>
                <a:latin typeface="Gill Sans MT" panose="020B0502020104020203" pitchFamily="34" charset="0"/>
                <a:ea typeface="Calibri" panose="020F0502020204030204" pitchFamily="34" charset="0"/>
                <a:cs typeface="Times New Roman" panose="02020603050405020304" pitchFamily="18" charset="0"/>
              </a:rPr>
              <a:t>:</a:t>
            </a:r>
            <a:endParaRPr lang="en-US" sz="2000" dirty="0">
              <a:effectLst/>
              <a:latin typeface="Gill Sans MT" panose="020B0502020104020203"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tabLst>
                <a:tab pos="457200" algn="l"/>
              </a:tabLst>
            </a:pPr>
            <a:r>
              <a:rPr lang="en-GB" sz="1800" dirty="0">
                <a:latin typeface="Gill Sans MT" panose="020B0502020104020203" pitchFamily="34" charset="0"/>
                <a:ea typeface="Calibri" panose="020F0502020204030204" pitchFamily="34" charset="0"/>
                <a:cs typeface="Times New Roman" panose="02020603050405020304" pitchFamily="18" charset="0"/>
              </a:rPr>
              <a:t>c</a:t>
            </a:r>
            <a:r>
              <a:rPr lang="en-GB" sz="1800" dirty="0">
                <a:effectLst/>
                <a:latin typeface="Gill Sans MT" panose="020B0502020104020203" pitchFamily="34" charset="0"/>
                <a:ea typeface="Calibri" panose="020F0502020204030204" pitchFamily="34" charset="0"/>
                <a:cs typeface="Times New Roman" panose="02020603050405020304" pitchFamily="18" charset="0"/>
              </a:rPr>
              <a:t>ontinued recovery from Covid, with higher than trend growth in 2023-24</a:t>
            </a:r>
            <a:endParaRPr lang="en-US" sz="1800" dirty="0">
              <a:effectLst/>
              <a:latin typeface="Gill Sans MT" panose="020B0502020104020203"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tabLst>
                <a:tab pos="457200" algn="l"/>
              </a:tabLst>
            </a:pPr>
            <a:r>
              <a:rPr lang="en-GB" sz="1800" dirty="0">
                <a:latin typeface="Gill Sans MT" panose="020B0502020104020203" pitchFamily="34" charset="0"/>
                <a:ea typeface="Calibri" panose="020F0502020204030204" pitchFamily="34" charset="0"/>
                <a:cs typeface="Times New Roman" panose="02020603050405020304" pitchFamily="18" charset="0"/>
              </a:rPr>
              <a:t>r</a:t>
            </a:r>
            <a:r>
              <a:rPr lang="en-GB" sz="1800" dirty="0">
                <a:effectLst/>
                <a:latin typeface="Gill Sans MT" panose="020B0502020104020203" pitchFamily="34" charset="0"/>
                <a:ea typeface="Calibri" panose="020F0502020204030204" pitchFamily="34" charset="0"/>
                <a:cs typeface="Times New Roman" panose="02020603050405020304" pitchFamily="18" charset="0"/>
              </a:rPr>
              <a:t>eturns to its trend growth from 2025</a:t>
            </a:r>
            <a:endParaRPr lang="en-US" sz="1800" dirty="0">
              <a:effectLst/>
              <a:latin typeface="Gill Sans MT" panose="020B0502020104020203"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075CD0ED-67A7-49CD-88A2-9FAF93C68509}"/>
              </a:ext>
            </a:extLst>
          </p:cNvPr>
          <p:cNvPicPr>
            <a:picLocks noChangeAspect="1"/>
          </p:cNvPicPr>
          <p:nvPr/>
        </p:nvPicPr>
        <p:blipFill>
          <a:blip r:embed="rId3"/>
          <a:stretch>
            <a:fillRect/>
          </a:stretch>
        </p:blipFill>
        <p:spPr>
          <a:xfrm>
            <a:off x="533400" y="1253862"/>
            <a:ext cx="4419600" cy="3681092"/>
          </a:xfrm>
          <a:prstGeom prst="rect">
            <a:avLst/>
          </a:prstGeom>
        </p:spPr>
      </p:pic>
      <p:pic>
        <p:nvPicPr>
          <p:cNvPr id="10" name="Picture 9">
            <a:extLst>
              <a:ext uri="{FF2B5EF4-FFF2-40B4-BE49-F238E27FC236}">
                <a16:creationId xmlns:a16="http://schemas.microsoft.com/office/drawing/2014/main" id="{3124B118-97F9-2D00-B56C-06A743D8CD2E}"/>
              </a:ext>
            </a:extLst>
          </p:cNvPr>
          <p:cNvPicPr>
            <a:picLocks noChangeAspect="1"/>
          </p:cNvPicPr>
          <p:nvPr/>
        </p:nvPicPr>
        <p:blipFill>
          <a:blip r:embed="rId4"/>
          <a:stretch>
            <a:fillRect/>
          </a:stretch>
        </p:blipFill>
        <p:spPr>
          <a:xfrm>
            <a:off x="6096000" y="2895599"/>
            <a:ext cx="5435600" cy="3886201"/>
          </a:xfrm>
          <a:prstGeom prst="rect">
            <a:avLst/>
          </a:prstGeom>
        </p:spPr>
      </p:pic>
    </p:spTree>
    <p:extLst>
      <p:ext uri="{BB962C8B-B14F-4D97-AF65-F5344CB8AC3E}">
        <p14:creationId xmlns:p14="http://schemas.microsoft.com/office/powerpoint/2010/main" val="1243637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E215E-A221-5C2E-C78F-32828EC4B1F8}"/>
              </a:ext>
            </a:extLst>
          </p:cNvPr>
          <p:cNvSpPr>
            <a:spLocks noGrp="1"/>
          </p:cNvSpPr>
          <p:nvPr>
            <p:ph type="title"/>
          </p:nvPr>
        </p:nvSpPr>
        <p:spPr>
          <a:xfrm>
            <a:off x="1625600" y="228600"/>
            <a:ext cx="10490200" cy="685800"/>
          </a:xfrm>
        </p:spPr>
        <p:txBody>
          <a:bodyPr/>
          <a:lstStyle/>
          <a:p>
            <a:r>
              <a:rPr lang="en-GB" b="1" dirty="0"/>
              <a:t>Private investment and cyclical position </a:t>
            </a:r>
            <a:r>
              <a:rPr lang="en-GB" dirty="0">
                <a:solidFill>
                  <a:srgbClr val="FF0000"/>
                </a:solidFill>
              </a:rPr>
              <a:t>new</a:t>
            </a:r>
            <a:endParaRPr lang="en-AE" dirty="0">
              <a:solidFill>
                <a:srgbClr val="FF0000"/>
              </a:solidFill>
            </a:endParaRPr>
          </a:p>
        </p:txBody>
      </p:sp>
      <p:sp>
        <p:nvSpPr>
          <p:cNvPr id="3" name="Slide Number Placeholder 2">
            <a:extLst>
              <a:ext uri="{FF2B5EF4-FFF2-40B4-BE49-F238E27FC236}">
                <a16:creationId xmlns:a16="http://schemas.microsoft.com/office/drawing/2014/main" id="{D8C77F28-182D-EA72-A954-E1C43EFFCEA3}"/>
              </a:ext>
            </a:extLst>
          </p:cNvPr>
          <p:cNvSpPr>
            <a:spLocks noGrp="1"/>
          </p:cNvSpPr>
          <p:nvPr>
            <p:ph type="sldNum" sz="quarter" idx="10"/>
          </p:nvPr>
        </p:nvSpPr>
        <p:spPr/>
        <p:txBody>
          <a:bodyPr/>
          <a:lstStyle/>
          <a:p>
            <a:fld id="{D97AE203-F84D-4A7F-B161-8561326BE072}" type="slidenum">
              <a:rPr lang="en-US" smtClean="0"/>
              <a:pPr/>
              <a:t>12</a:t>
            </a:fld>
            <a:endParaRPr lang="en-US" dirty="0"/>
          </a:p>
        </p:txBody>
      </p:sp>
      <p:sp>
        <p:nvSpPr>
          <p:cNvPr id="4" name="Content Placeholder 2">
            <a:extLst>
              <a:ext uri="{FF2B5EF4-FFF2-40B4-BE49-F238E27FC236}">
                <a16:creationId xmlns:a16="http://schemas.microsoft.com/office/drawing/2014/main" id="{D58DA28E-0F28-523A-7B3F-93FC9CDE1E03}"/>
              </a:ext>
            </a:extLst>
          </p:cNvPr>
          <p:cNvSpPr txBox="1">
            <a:spLocks/>
          </p:cNvSpPr>
          <p:nvPr/>
        </p:nvSpPr>
        <p:spPr>
          <a:xfrm>
            <a:off x="5791200" y="1066800"/>
            <a:ext cx="6324600" cy="1828800"/>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endParaRPr lang="en-AE" sz="1400" b="1" dirty="0"/>
          </a:p>
        </p:txBody>
      </p:sp>
      <p:sp>
        <p:nvSpPr>
          <p:cNvPr id="7" name="Content Placeholder 2">
            <a:extLst>
              <a:ext uri="{FF2B5EF4-FFF2-40B4-BE49-F238E27FC236}">
                <a16:creationId xmlns:a16="http://schemas.microsoft.com/office/drawing/2014/main" id="{9C5FF67D-3E27-1BC9-9FF6-68A4F623CC18}"/>
              </a:ext>
            </a:extLst>
          </p:cNvPr>
          <p:cNvSpPr txBox="1">
            <a:spLocks/>
          </p:cNvSpPr>
          <p:nvPr/>
        </p:nvSpPr>
        <p:spPr>
          <a:xfrm>
            <a:off x="1143000" y="4876800"/>
            <a:ext cx="4419600" cy="1580366"/>
          </a:xfrm>
          <a:prstGeom prst="rect">
            <a:avLst/>
          </a:prstGeom>
        </p:spPr>
        <p:txBody>
          <a:bodyPr>
            <a:noAutofit/>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lgn="just">
              <a:buFont typeface="Wingdings" panose="05000000000000000000" pitchFamily="2" charset="2"/>
              <a:buChar char="q"/>
            </a:pPr>
            <a:endParaRPr lang="en-AE" sz="1400" b="1" dirty="0"/>
          </a:p>
        </p:txBody>
      </p:sp>
    </p:spTree>
    <p:extLst>
      <p:ext uri="{BB962C8B-B14F-4D97-AF65-F5344CB8AC3E}">
        <p14:creationId xmlns:p14="http://schemas.microsoft.com/office/powerpoint/2010/main" val="16063404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2B948-3F28-94A0-AFF9-22D3A186313C}"/>
              </a:ext>
            </a:extLst>
          </p:cNvPr>
          <p:cNvSpPr>
            <a:spLocks noGrp="1"/>
          </p:cNvSpPr>
          <p:nvPr>
            <p:ph type="title"/>
          </p:nvPr>
        </p:nvSpPr>
        <p:spPr>
          <a:xfrm>
            <a:off x="1600200" y="228600"/>
            <a:ext cx="10439400" cy="750514"/>
          </a:xfrm>
        </p:spPr>
        <p:txBody>
          <a:bodyPr/>
          <a:lstStyle/>
          <a:p>
            <a:r>
              <a:rPr lang="en-GB" b="1" dirty="0"/>
              <a:t>Fiscal stance (i): govt demand for G&amp;S affects output directly</a:t>
            </a:r>
            <a:endParaRPr lang="en-AE" sz="2000" dirty="0">
              <a:solidFill>
                <a:srgbClr val="FF0000"/>
              </a:solidFill>
            </a:endParaRPr>
          </a:p>
        </p:txBody>
      </p:sp>
      <p:sp>
        <p:nvSpPr>
          <p:cNvPr id="3" name="Slide Number Placeholder 2">
            <a:extLst>
              <a:ext uri="{FF2B5EF4-FFF2-40B4-BE49-F238E27FC236}">
                <a16:creationId xmlns:a16="http://schemas.microsoft.com/office/drawing/2014/main" id="{CAECA724-04CE-0978-4E96-A52B52FFCBB7}"/>
              </a:ext>
            </a:extLst>
          </p:cNvPr>
          <p:cNvSpPr>
            <a:spLocks noGrp="1"/>
          </p:cNvSpPr>
          <p:nvPr>
            <p:ph type="sldNum" sz="quarter" idx="10"/>
          </p:nvPr>
        </p:nvSpPr>
        <p:spPr/>
        <p:txBody>
          <a:bodyPr/>
          <a:lstStyle/>
          <a:p>
            <a:fld id="{D97AE203-F84D-4A7F-B161-8561326BE072}" type="slidenum">
              <a:rPr lang="en-US" smtClean="0"/>
              <a:pPr/>
              <a:t>13</a:t>
            </a:fld>
            <a:endParaRPr lang="en-US" dirty="0"/>
          </a:p>
        </p:txBody>
      </p:sp>
      <p:sp>
        <p:nvSpPr>
          <p:cNvPr id="10" name="Content Placeholder 2">
            <a:extLst>
              <a:ext uri="{FF2B5EF4-FFF2-40B4-BE49-F238E27FC236}">
                <a16:creationId xmlns:a16="http://schemas.microsoft.com/office/drawing/2014/main" id="{01FBA286-B9C2-0395-5CDE-596191958C6F}"/>
              </a:ext>
            </a:extLst>
          </p:cNvPr>
          <p:cNvSpPr txBox="1">
            <a:spLocks/>
          </p:cNvSpPr>
          <p:nvPr/>
        </p:nvSpPr>
        <p:spPr>
          <a:xfrm>
            <a:off x="156274" y="4050939"/>
            <a:ext cx="6092126" cy="2654661"/>
          </a:xfrm>
          <a:prstGeom prst="rect">
            <a:avLst/>
          </a:prstGeom>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n-GB" sz="1800" b="1" dirty="0">
                <a:solidFill>
                  <a:schemeClr val="accent1"/>
                </a:solidFill>
              </a:rPr>
              <a:t>Government demand for G&amp;S </a:t>
            </a:r>
            <a:r>
              <a:rPr lang="en-GB" sz="1800" i="1" dirty="0"/>
              <a:t>(direct) </a:t>
            </a:r>
            <a:r>
              <a:rPr lang="en-GB" sz="1800" dirty="0"/>
              <a:t>(</a:t>
            </a:r>
            <a:r>
              <a:rPr lang="en-GB" sz="1800" u="sng" dirty="0"/>
              <a:t>+</a:t>
            </a:r>
            <a:r>
              <a:rPr lang="en-GB" sz="1800" dirty="0"/>
              <a:t> 23% of GDP): </a:t>
            </a:r>
          </a:p>
          <a:p>
            <a:pPr algn="just">
              <a:buFont typeface="Wingdings" panose="05000000000000000000" pitchFamily="2" charset="2"/>
              <a:buChar char="§"/>
            </a:pPr>
            <a:r>
              <a:rPr lang="en-GB" sz="1800" dirty="0"/>
              <a:t>mainly exogenous (discretionary spending)</a:t>
            </a:r>
          </a:p>
          <a:p>
            <a:pPr algn="just">
              <a:buFont typeface="Wingdings" panose="05000000000000000000" pitchFamily="2" charset="2"/>
              <a:buChar char="§"/>
            </a:pPr>
            <a:r>
              <a:rPr lang="en-GB" sz="1800" dirty="0"/>
              <a:t>some anti-cyclical spending (e.g., transfers) kicks in under downturn, esp. in Covid episode</a:t>
            </a:r>
          </a:p>
          <a:p>
            <a:pPr algn="just">
              <a:buFont typeface="Wingdings" panose="05000000000000000000" pitchFamily="2" charset="2"/>
              <a:buChar char="§"/>
            </a:pPr>
            <a:r>
              <a:rPr lang="en-GB" sz="1800" dirty="0"/>
              <a:t>under Covid, high govt demand helped offset negative output gap, with </a:t>
            </a:r>
            <a:r>
              <a:rPr lang="en-GB" sz="1800" i="1" dirty="0"/>
              <a:t>positive impact </a:t>
            </a:r>
            <a:r>
              <a:rPr lang="en-GB" sz="1800" dirty="0"/>
              <a:t>estimated at 1½ % of GDP</a:t>
            </a:r>
          </a:p>
          <a:p>
            <a:pPr algn="just">
              <a:buFont typeface="Wingdings" panose="05000000000000000000" pitchFamily="2" charset="2"/>
              <a:buChar char="§"/>
            </a:pPr>
            <a:r>
              <a:rPr lang="en-GB" sz="1800" dirty="0"/>
              <a:t>in 2022/23 and 2023/24, sharp tightening in govt demand with </a:t>
            </a:r>
            <a:r>
              <a:rPr lang="en-GB" sz="1800" i="1" dirty="0"/>
              <a:t>reverse</a:t>
            </a:r>
            <a:r>
              <a:rPr lang="en-GB" sz="1800" dirty="0"/>
              <a:t> </a:t>
            </a:r>
            <a:r>
              <a:rPr lang="en-GB" sz="1800" i="1" dirty="0"/>
              <a:t>negative impact </a:t>
            </a:r>
            <a:r>
              <a:rPr lang="en-GB" sz="1800" dirty="0"/>
              <a:t>on output gap</a:t>
            </a:r>
            <a:endParaRPr lang="en-GB" sz="1600" dirty="0"/>
          </a:p>
        </p:txBody>
      </p:sp>
      <p:sp>
        <p:nvSpPr>
          <p:cNvPr id="5" name="TextBox 4">
            <a:extLst>
              <a:ext uri="{FF2B5EF4-FFF2-40B4-BE49-F238E27FC236}">
                <a16:creationId xmlns:a16="http://schemas.microsoft.com/office/drawing/2014/main" id="{71DCCAC2-6233-0EF9-ABEA-F7674370836D}"/>
              </a:ext>
            </a:extLst>
          </p:cNvPr>
          <p:cNvSpPr txBox="1"/>
          <p:nvPr/>
        </p:nvSpPr>
        <p:spPr>
          <a:xfrm>
            <a:off x="156275" y="1260708"/>
            <a:ext cx="11654725" cy="369332"/>
          </a:xfrm>
          <a:prstGeom prst="rect">
            <a:avLst/>
          </a:prstGeom>
          <a:noFill/>
        </p:spPr>
        <p:txBody>
          <a:bodyPr wrap="square">
            <a:spAutoFit/>
          </a:bodyPr>
          <a:lstStyle/>
          <a:p>
            <a:pPr indent="0" algn="just">
              <a:buNone/>
            </a:pPr>
            <a:r>
              <a:rPr lang="en-GB" sz="1800" b="1" dirty="0">
                <a:solidFill>
                  <a:schemeClr val="accent1"/>
                </a:solidFill>
                <a:latin typeface="Gill Sans MT" panose="020B0502020104020203" pitchFamily="34" charset="0"/>
              </a:rPr>
              <a:t>Fiscal policies (“fiscal stance”) affect output in the short-run via several </a:t>
            </a:r>
            <a:r>
              <a:rPr lang="en-GB" sz="1800" b="1" u="sng" dirty="0">
                <a:solidFill>
                  <a:schemeClr val="accent1"/>
                </a:solidFill>
                <a:latin typeface="Gill Sans MT" panose="020B0502020104020203" pitchFamily="34" charset="0"/>
              </a:rPr>
              <a:t>channels</a:t>
            </a:r>
            <a:r>
              <a:rPr lang="en-GB" sz="1800" b="1" dirty="0">
                <a:solidFill>
                  <a:schemeClr val="accent1"/>
                </a:solidFill>
                <a:latin typeface="Gill Sans MT" panose="020B0502020104020203" pitchFamily="34" charset="0"/>
              </a:rPr>
              <a:t> captured in the model:</a:t>
            </a:r>
            <a:endParaRPr lang="en-GB" sz="1800" i="1" dirty="0">
              <a:latin typeface="Gill Sans MT" panose="020B0502020104020203" pitchFamily="34" charset="0"/>
            </a:endParaRPr>
          </a:p>
        </p:txBody>
      </p:sp>
      <p:pic>
        <p:nvPicPr>
          <p:cNvPr id="11" name="Picture 10">
            <a:extLst>
              <a:ext uri="{FF2B5EF4-FFF2-40B4-BE49-F238E27FC236}">
                <a16:creationId xmlns:a16="http://schemas.microsoft.com/office/drawing/2014/main" id="{7A95814C-9E87-B6FA-02F5-38EFDCDDD7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8292" y="1752601"/>
            <a:ext cx="5711125" cy="5114440"/>
          </a:xfrm>
          <a:prstGeom prst="rect">
            <a:avLst/>
          </a:prstGeom>
        </p:spPr>
      </p:pic>
      <p:sp>
        <p:nvSpPr>
          <p:cNvPr id="4" name="Content Placeholder 2">
            <a:extLst>
              <a:ext uri="{FF2B5EF4-FFF2-40B4-BE49-F238E27FC236}">
                <a16:creationId xmlns:a16="http://schemas.microsoft.com/office/drawing/2014/main" id="{728DCE5C-B184-5784-80FB-8F6265A85C30}"/>
              </a:ext>
            </a:extLst>
          </p:cNvPr>
          <p:cNvSpPr txBox="1">
            <a:spLocks/>
          </p:cNvSpPr>
          <p:nvPr/>
        </p:nvSpPr>
        <p:spPr>
          <a:xfrm>
            <a:off x="308674" y="1260708"/>
            <a:ext cx="6092126" cy="750514"/>
          </a:xfrm>
          <a:prstGeom prst="rect">
            <a:avLst/>
          </a:prstGeom>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algn="just">
              <a:buFont typeface="Wingdings" panose="05000000000000000000" pitchFamily="2" charset="2"/>
              <a:buChar char="§"/>
            </a:pPr>
            <a:endParaRPr lang="en-GB" sz="1600" dirty="0"/>
          </a:p>
        </p:txBody>
      </p:sp>
      <p:sp>
        <p:nvSpPr>
          <p:cNvPr id="7" name="TextBox 6">
            <a:extLst>
              <a:ext uri="{FF2B5EF4-FFF2-40B4-BE49-F238E27FC236}">
                <a16:creationId xmlns:a16="http://schemas.microsoft.com/office/drawing/2014/main" id="{E18534BF-B928-4B83-1DE1-1D0A45F9F56F}"/>
              </a:ext>
            </a:extLst>
          </p:cNvPr>
          <p:cNvSpPr txBox="1"/>
          <p:nvPr/>
        </p:nvSpPr>
        <p:spPr>
          <a:xfrm>
            <a:off x="308674" y="1752601"/>
            <a:ext cx="6092126" cy="2197461"/>
          </a:xfrm>
          <a:prstGeom prst="rect">
            <a:avLst/>
          </a:prstGeom>
          <a:noFill/>
        </p:spPr>
        <p:txBody>
          <a:bodyPr wrap="square">
            <a:spAutoFit/>
          </a:bodyPr>
          <a:lstStyle/>
          <a:p>
            <a:pPr algn="just">
              <a:lnSpc>
                <a:spcPct val="150000"/>
              </a:lnSpc>
              <a:spcAft>
                <a:spcPts val="600"/>
              </a:spcAft>
              <a:buFont typeface="Wingdings" panose="05000000000000000000" pitchFamily="2" charset="2"/>
              <a:buChar char="§"/>
            </a:pPr>
            <a:r>
              <a:rPr lang="en-GB" sz="1800" dirty="0">
                <a:solidFill>
                  <a:srgbClr val="0070C0"/>
                </a:solidFill>
                <a:latin typeface="Gill Sans MT" panose="020B0502020104020203" pitchFamily="34" charset="0"/>
              </a:rPr>
              <a:t> </a:t>
            </a:r>
            <a:r>
              <a:rPr lang="en-GB" sz="1800" dirty="0">
                <a:latin typeface="Gill Sans MT" panose="020B0502020104020203" pitchFamily="34" charset="0"/>
              </a:rPr>
              <a:t>govt demand for G&amp;S affects final demand and output </a:t>
            </a:r>
            <a:r>
              <a:rPr lang="en-GB" sz="1800" i="1" dirty="0">
                <a:latin typeface="Gill Sans MT" panose="020B0502020104020203" pitchFamily="34" charset="0"/>
              </a:rPr>
              <a:t>directly</a:t>
            </a:r>
          </a:p>
          <a:p>
            <a:pPr algn="just">
              <a:lnSpc>
                <a:spcPct val="150000"/>
              </a:lnSpc>
              <a:buFont typeface="Wingdings" panose="05000000000000000000" pitchFamily="2" charset="2"/>
              <a:buChar char="§"/>
            </a:pPr>
            <a:r>
              <a:rPr lang="en-GB" sz="1800" dirty="0">
                <a:latin typeface="Gill Sans MT" panose="020B0502020104020203" pitchFamily="34" charset="0"/>
              </a:rPr>
              <a:t> discretionary deficit plus change in structural deficit (defined as “fiscal impulse”) affect private demand and output </a:t>
            </a:r>
            <a:r>
              <a:rPr lang="en-GB" sz="1800" i="1" dirty="0">
                <a:latin typeface="Gill Sans MT" panose="020B0502020104020203" pitchFamily="34" charset="0"/>
              </a:rPr>
              <a:t>indirectly</a:t>
            </a:r>
          </a:p>
          <a:p>
            <a:pPr algn="just">
              <a:lnSpc>
                <a:spcPct val="150000"/>
              </a:lnSpc>
              <a:buFont typeface="Wingdings" panose="05000000000000000000" pitchFamily="2" charset="2"/>
              <a:buChar char="§"/>
            </a:pPr>
            <a:r>
              <a:rPr lang="en-GB" sz="1800" i="1" dirty="0">
                <a:latin typeface="Gill Sans MT" panose="020B0502020104020203" pitchFamily="34" charset="0"/>
              </a:rPr>
              <a:t> </a:t>
            </a:r>
            <a:r>
              <a:rPr lang="en-GB" sz="1800" dirty="0">
                <a:latin typeface="Gill Sans MT" panose="020B0502020104020203" pitchFamily="34" charset="0"/>
              </a:rPr>
              <a:t>cyclical deficit—automatic higher spending and lower revenue in downturn (and vice versa)—affects output </a:t>
            </a:r>
            <a:r>
              <a:rPr lang="en-GB" sz="1800" i="1" dirty="0">
                <a:latin typeface="Gill Sans MT" panose="020B0502020104020203" pitchFamily="34" charset="0"/>
              </a:rPr>
              <a:t>automatically</a:t>
            </a:r>
            <a:endParaRPr lang="en-US" sz="1600" i="1" dirty="0"/>
          </a:p>
        </p:txBody>
      </p:sp>
    </p:spTree>
    <p:extLst>
      <p:ext uri="{BB962C8B-B14F-4D97-AF65-F5344CB8AC3E}">
        <p14:creationId xmlns:p14="http://schemas.microsoft.com/office/powerpoint/2010/main" val="41426116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2B948-3F28-94A0-AFF9-22D3A186313C}"/>
              </a:ext>
            </a:extLst>
          </p:cNvPr>
          <p:cNvSpPr>
            <a:spLocks noGrp="1"/>
          </p:cNvSpPr>
          <p:nvPr>
            <p:ph type="title"/>
          </p:nvPr>
        </p:nvSpPr>
        <p:spPr>
          <a:xfrm>
            <a:off x="1371600" y="228600"/>
            <a:ext cx="10668000" cy="750514"/>
          </a:xfrm>
        </p:spPr>
        <p:txBody>
          <a:bodyPr/>
          <a:lstStyle/>
          <a:p>
            <a:r>
              <a:rPr lang="en-GB" b="1" dirty="0"/>
              <a:t>  Fiscal stance (ii): fiscal impulse affects output </a:t>
            </a:r>
            <a:r>
              <a:rPr lang="en-GB" sz="2400" b="1" dirty="0"/>
              <a:t>via private demand</a:t>
            </a:r>
            <a:endParaRPr lang="en-AE" sz="2400" dirty="0">
              <a:solidFill>
                <a:srgbClr val="FF0000"/>
              </a:solidFill>
            </a:endParaRPr>
          </a:p>
        </p:txBody>
      </p:sp>
      <p:sp>
        <p:nvSpPr>
          <p:cNvPr id="3" name="Slide Number Placeholder 2">
            <a:extLst>
              <a:ext uri="{FF2B5EF4-FFF2-40B4-BE49-F238E27FC236}">
                <a16:creationId xmlns:a16="http://schemas.microsoft.com/office/drawing/2014/main" id="{CAECA724-04CE-0978-4E96-A52B52FFCBB7}"/>
              </a:ext>
            </a:extLst>
          </p:cNvPr>
          <p:cNvSpPr>
            <a:spLocks noGrp="1"/>
          </p:cNvSpPr>
          <p:nvPr>
            <p:ph type="sldNum" sz="quarter" idx="10"/>
          </p:nvPr>
        </p:nvSpPr>
        <p:spPr/>
        <p:txBody>
          <a:bodyPr/>
          <a:lstStyle/>
          <a:p>
            <a:fld id="{D97AE203-F84D-4A7F-B161-8561326BE072}" type="slidenum">
              <a:rPr lang="en-US" smtClean="0"/>
              <a:pPr/>
              <a:t>14</a:t>
            </a:fld>
            <a:endParaRPr lang="en-US" dirty="0"/>
          </a:p>
        </p:txBody>
      </p:sp>
      <p:sp>
        <p:nvSpPr>
          <p:cNvPr id="7" name="Content Placeholder 2">
            <a:extLst>
              <a:ext uri="{FF2B5EF4-FFF2-40B4-BE49-F238E27FC236}">
                <a16:creationId xmlns:a16="http://schemas.microsoft.com/office/drawing/2014/main" id="{12AAF6A8-A1FC-08FD-607D-366D8C204D63}"/>
              </a:ext>
            </a:extLst>
          </p:cNvPr>
          <p:cNvSpPr txBox="1">
            <a:spLocks/>
          </p:cNvSpPr>
          <p:nvPr/>
        </p:nvSpPr>
        <p:spPr>
          <a:xfrm>
            <a:off x="76200" y="1447800"/>
            <a:ext cx="4953000" cy="4993415"/>
          </a:xfrm>
          <a:prstGeom prst="rect">
            <a:avLst/>
          </a:prstGeom>
        </p:spPr>
        <p:txBody>
          <a:bodyPr/>
          <a:lstStyle>
            <a:lvl1pPr marL="273050" indent="-273050" algn="l" rtl="0" eaLnBrk="0" fontAlgn="base" hangingPunct="0">
              <a:spcBef>
                <a:spcPts val="600"/>
              </a:spcBef>
              <a:spcAft>
                <a:spcPct val="0"/>
              </a:spcAft>
              <a:buClr>
                <a:schemeClr val="accent1"/>
              </a:buClr>
              <a:buSzPct val="76000"/>
              <a:buFont typeface="Wingdings 3" charset="2"/>
              <a:buChar char=""/>
              <a:defRPr sz="2400" kern="1200">
                <a:solidFill>
                  <a:schemeClr val="tx1"/>
                </a:solidFill>
                <a:latin typeface="+mn-lt"/>
                <a:ea typeface="ＭＳ Ｐゴシック" charset="-128"/>
                <a:cs typeface="+mn-cs"/>
              </a:defRPr>
            </a:lvl1pPr>
            <a:lvl2pPr marL="547688" indent="-273050" algn="l" rtl="0" eaLnBrk="0" fontAlgn="base" hangingPunct="0">
              <a:spcBef>
                <a:spcPts val="500"/>
              </a:spcBef>
              <a:spcAft>
                <a:spcPct val="0"/>
              </a:spcAft>
              <a:buClr>
                <a:schemeClr val="accent2"/>
              </a:buClr>
              <a:buSzPct val="76000"/>
              <a:buFont typeface="Wingdings 3" charset="2"/>
              <a:buChar char=""/>
              <a:defRPr sz="2000" kern="1200">
                <a:solidFill>
                  <a:schemeClr val="tx2"/>
                </a:solidFill>
                <a:latin typeface="+mn-lt"/>
                <a:ea typeface="ＭＳ Ｐゴシック" charset="-128"/>
                <a:cs typeface="+mn-cs"/>
              </a:defRPr>
            </a:lvl2pPr>
            <a:lvl3pPr marL="822325" indent="-228600" algn="l" rtl="0" eaLnBrk="0" fontAlgn="base" hangingPunct="0">
              <a:spcBef>
                <a:spcPts val="500"/>
              </a:spcBef>
              <a:spcAft>
                <a:spcPct val="0"/>
              </a:spcAft>
              <a:buClr>
                <a:srgbClr val="BCBCBC"/>
              </a:buClr>
              <a:buSzPct val="76000"/>
              <a:buFont typeface="Wingdings 3" charset="2"/>
              <a:buChar char=""/>
              <a:defRPr sz="2400" kern="1200">
                <a:solidFill>
                  <a:schemeClr val="tx1"/>
                </a:solidFill>
                <a:latin typeface="+mn-lt"/>
                <a:ea typeface="ＭＳ Ｐゴシック" charset="-128"/>
                <a:cs typeface="+mn-cs"/>
              </a:defRPr>
            </a:lvl3pPr>
            <a:lvl4pPr marL="1096963" indent="-228600" algn="l" rtl="0" eaLnBrk="0" fontAlgn="base" hangingPunct="0">
              <a:spcBef>
                <a:spcPts val="400"/>
              </a:spcBef>
              <a:spcAft>
                <a:spcPct val="0"/>
              </a:spcAft>
              <a:buClr>
                <a:srgbClr val="23A900"/>
              </a:buClr>
              <a:buSzPct val="70000"/>
              <a:buFont typeface="Wingdings" charset="2"/>
              <a:buChar char=""/>
              <a:defRPr sz="2000" kern="1200">
                <a:solidFill>
                  <a:schemeClr val="tx1"/>
                </a:solidFill>
                <a:latin typeface="+mn-lt"/>
                <a:ea typeface="ＭＳ Ｐゴシック" charset="-128"/>
                <a:cs typeface="+mn-cs"/>
              </a:defRPr>
            </a:lvl4pPr>
            <a:lvl5pPr marL="1371600" indent="-228600" algn="l" rtl="0" eaLnBrk="0" fontAlgn="base" hangingPunct="0">
              <a:spcBef>
                <a:spcPts val="300"/>
              </a:spcBef>
              <a:spcAft>
                <a:spcPct val="0"/>
              </a:spcAft>
              <a:buClr>
                <a:schemeClr val="accent2"/>
              </a:buClr>
              <a:buSzPct val="70000"/>
              <a:buFont typeface="Wingdings" charset="2"/>
              <a:buChar char=""/>
              <a:defRPr sz="1600" kern="1200">
                <a:solidFill>
                  <a:schemeClr val="tx1"/>
                </a:solidFill>
                <a:latin typeface="+mn-lt"/>
                <a:ea typeface="ＭＳ Ｐゴシック" charset="-128"/>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just">
              <a:buNone/>
            </a:pPr>
            <a:r>
              <a:rPr lang="en-GB" sz="1800" b="1" dirty="0">
                <a:solidFill>
                  <a:schemeClr val="accent1"/>
                </a:solidFill>
              </a:rPr>
              <a:t>‘Fiscal impulse’ </a:t>
            </a:r>
            <a:r>
              <a:rPr lang="en-GB" sz="1800" i="1" dirty="0"/>
              <a:t>(indirect): </a:t>
            </a:r>
          </a:p>
          <a:p>
            <a:pPr algn="just">
              <a:buFont typeface="Wingdings" panose="05000000000000000000" pitchFamily="2" charset="2"/>
              <a:buChar char="§"/>
            </a:pPr>
            <a:r>
              <a:rPr lang="en-GB" sz="1800" dirty="0"/>
              <a:t>defined as discretionary deficit plus change in structural deficit (in % GDP), mainly reflects discretionary spending (demand for G&amp;S, transfers/subsidies etc.)</a:t>
            </a:r>
          </a:p>
          <a:p>
            <a:pPr algn="just">
              <a:buFont typeface="Wingdings" panose="05000000000000000000" pitchFamily="2" charset="2"/>
              <a:buChar char="§"/>
            </a:pPr>
            <a:r>
              <a:rPr lang="en-GB" sz="1800" dirty="0"/>
              <a:t>There was large positive fiscal impulse in only a few quarters during 2020-22, and relatively small on average over the period</a:t>
            </a:r>
          </a:p>
          <a:p>
            <a:pPr algn="just">
              <a:buFont typeface="Wingdings" panose="05000000000000000000" pitchFamily="2" charset="2"/>
              <a:buChar char="§"/>
            </a:pPr>
            <a:r>
              <a:rPr lang="en-GB" sz="1800" dirty="0"/>
              <a:t>affects private consumption and investment via income effect and “confidence factor”</a:t>
            </a:r>
          </a:p>
          <a:p>
            <a:pPr algn="just">
              <a:buFont typeface="Wingdings" panose="05000000000000000000" pitchFamily="2" charset="2"/>
              <a:buChar char="§"/>
            </a:pPr>
            <a:r>
              <a:rPr lang="en-GB" sz="1800" dirty="0"/>
              <a:t>the fiscal impulse effect on private demand and hence output during Covid years is estimated at about ½ % of GDP, but should have reverse effect on private demand in 2022/23-2023/24</a:t>
            </a:r>
          </a:p>
          <a:p>
            <a:pPr algn="just">
              <a:buFont typeface="Wingdings" panose="05000000000000000000" pitchFamily="2" charset="2"/>
              <a:buChar char="§"/>
            </a:pPr>
            <a:endParaRPr lang="en-GB" sz="1600" dirty="0"/>
          </a:p>
          <a:p>
            <a:pPr algn="just">
              <a:buFont typeface="Wingdings" panose="05000000000000000000" pitchFamily="2" charset="2"/>
              <a:buChar char="§"/>
            </a:pPr>
            <a:endParaRPr lang="en-GB" sz="1600" dirty="0"/>
          </a:p>
        </p:txBody>
      </p:sp>
      <p:pic>
        <p:nvPicPr>
          <p:cNvPr id="4" name="Picture 3">
            <a:extLst>
              <a:ext uri="{FF2B5EF4-FFF2-40B4-BE49-F238E27FC236}">
                <a16:creationId xmlns:a16="http://schemas.microsoft.com/office/drawing/2014/main" id="{62DE6C8C-160B-5E4A-56ED-2AD299F942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9800" y="1219200"/>
            <a:ext cx="5969000" cy="5638799"/>
          </a:xfrm>
          <a:prstGeom prst="rect">
            <a:avLst/>
          </a:prstGeom>
        </p:spPr>
      </p:pic>
    </p:spTree>
    <p:extLst>
      <p:ext uri="{BB962C8B-B14F-4D97-AF65-F5344CB8AC3E}">
        <p14:creationId xmlns:p14="http://schemas.microsoft.com/office/powerpoint/2010/main" val="3783837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0CAD2-6D14-9D72-E8A6-67BC40D34BA0}"/>
              </a:ext>
            </a:extLst>
          </p:cNvPr>
          <p:cNvSpPr>
            <a:spLocks noGrp="1"/>
          </p:cNvSpPr>
          <p:nvPr>
            <p:ph type="title"/>
          </p:nvPr>
        </p:nvSpPr>
        <p:spPr>
          <a:xfrm>
            <a:off x="1371600" y="304800"/>
            <a:ext cx="10744200" cy="609600"/>
          </a:xfrm>
        </p:spPr>
        <p:txBody>
          <a:bodyPr/>
          <a:lstStyle/>
          <a:p>
            <a:r>
              <a:rPr lang="en-GB" b="1" dirty="0"/>
              <a:t>Fiscal stance: </a:t>
            </a:r>
            <a:r>
              <a:rPr lang="en-GB" dirty="0"/>
              <a:t>govt demand</a:t>
            </a:r>
            <a:r>
              <a:rPr lang="en-GB" dirty="0">
                <a:latin typeface="Calibri" panose="020F0502020204030204" pitchFamily="34" charset="0"/>
                <a:ea typeface="Calibri" panose="020F0502020204030204" pitchFamily="34" charset="0"/>
                <a:cs typeface="Calibri" panose="020F0502020204030204" pitchFamily="34" charset="0"/>
              </a:rPr>
              <a:t> and ‘</a:t>
            </a:r>
            <a:r>
              <a:rPr lang="en-GB" dirty="0"/>
              <a:t>fiscal impulse’</a:t>
            </a:r>
            <a:r>
              <a:rPr lang="en-GB" dirty="0">
                <a:latin typeface="Calibri" panose="020F0502020204030204" pitchFamily="34" charset="0"/>
                <a:ea typeface="Calibri" panose="020F0502020204030204" pitchFamily="34" charset="0"/>
                <a:cs typeface="Calibri" panose="020F0502020204030204" pitchFamily="34" charset="0"/>
              </a:rPr>
              <a:t>─</a:t>
            </a:r>
            <a:r>
              <a:rPr lang="en-GB" sz="2400" dirty="0"/>
              <a:t>estimated effect on output</a:t>
            </a:r>
            <a:endParaRPr lang="en-AE" sz="2400" dirty="0">
              <a:solidFill>
                <a:srgbClr val="FF0000"/>
              </a:solidFill>
            </a:endParaRPr>
          </a:p>
        </p:txBody>
      </p:sp>
      <p:sp>
        <p:nvSpPr>
          <p:cNvPr id="3" name="Slide Number Placeholder 2">
            <a:extLst>
              <a:ext uri="{FF2B5EF4-FFF2-40B4-BE49-F238E27FC236}">
                <a16:creationId xmlns:a16="http://schemas.microsoft.com/office/drawing/2014/main" id="{25CDF8F7-7F5E-7D6D-E3E8-C142EB7C92C4}"/>
              </a:ext>
            </a:extLst>
          </p:cNvPr>
          <p:cNvSpPr>
            <a:spLocks noGrp="1"/>
          </p:cNvSpPr>
          <p:nvPr>
            <p:ph type="sldNum" sz="quarter" idx="10"/>
          </p:nvPr>
        </p:nvSpPr>
        <p:spPr/>
        <p:txBody>
          <a:bodyPr/>
          <a:lstStyle/>
          <a:p>
            <a:fld id="{D97AE203-F84D-4A7F-B161-8561326BE072}" type="slidenum">
              <a:rPr lang="en-US" smtClean="0"/>
              <a:pPr/>
              <a:t>15</a:t>
            </a:fld>
            <a:endParaRPr lang="en-US" dirty="0"/>
          </a:p>
        </p:txBody>
      </p:sp>
      <p:sp>
        <p:nvSpPr>
          <p:cNvPr id="6" name="TextBox 5">
            <a:extLst>
              <a:ext uri="{FF2B5EF4-FFF2-40B4-BE49-F238E27FC236}">
                <a16:creationId xmlns:a16="http://schemas.microsoft.com/office/drawing/2014/main" id="{57AD4CEA-2ADC-E661-DA3B-389EDBD6B758}"/>
              </a:ext>
            </a:extLst>
          </p:cNvPr>
          <p:cNvSpPr txBox="1"/>
          <p:nvPr/>
        </p:nvSpPr>
        <p:spPr>
          <a:xfrm>
            <a:off x="7086600" y="1295400"/>
            <a:ext cx="4419600" cy="5138893"/>
          </a:xfrm>
          <a:prstGeom prst="rect">
            <a:avLst/>
          </a:prstGeom>
          <a:noFill/>
        </p:spPr>
        <p:txBody>
          <a:bodyPr wrap="square" rtlCol="0">
            <a:spAutoFit/>
          </a:bodyPr>
          <a:lstStyle/>
          <a:p>
            <a:pPr>
              <a:lnSpc>
                <a:spcPct val="150000"/>
              </a:lnSpc>
            </a:pPr>
            <a:r>
              <a:rPr lang="en-GB" sz="1800" b="1" dirty="0">
                <a:solidFill>
                  <a:schemeClr val="accent1"/>
                </a:solidFill>
              </a:rPr>
              <a:t>Combined effect: offsetting output gap during Covid, reverse impact due to ongoing tightening thereafter</a:t>
            </a:r>
            <a:endParaRPr lang="en-GB" sz="1800" b="1" dirty="0"/>
          </a:p>
          <a:p>
            <a:pPr marL="342900" indent="-342900">
              <a:lnSpc>
                <a:spcPct val="150000"/>
              </a:lnSpc>
              <a:buFont typeface="Arial" panose="020B0604020202020204" pitchFamily="34" charset="0"/>
              <a:buChar char="•"/>
            </a:pPr>
            <a:r>
              <a:rPr lang="en-GB" sz="1600" dirty="0"/>
              <a:t>discretionary govt demand (G&amp;S) affects output </a:t>
            </a:r>
            <a:r>
              <a:rPr lang="en-GB" sz="1600" i="1" dirty="0"/>
              <a:t>directly</a:t>
            </a:r>
            <a:r>
              <a:rPr lang="en-GB" sz="1600" dirty="0"/>
              <a:t> (after imports)</a:t>
            </a:r>
          </a:p>
          <a:p>
            <a:pPr marL="342900" indent="-342900">
              <a:lnSpc>
                <a:spcPct val="150000"/>
              </a:lnSpc>
              <a:buFont typeface="Arial" panose="020B0604020202020204" pitchFamily="34" charset="0"/>
              <a:buChar char="•"/>
            </a:pPr>
            <a:r>
              <a:rPr lang="en-GB" sz="1600" dirty="0"/>
              <a:t>during COVID, govt demand of 2 % of GDP on average increased output by almost 1.5 % of GDP</a:t>
            </a:r>
          </a:p>
          <a:p>
            <a:pPr marL="342900" indent="-342900">
              <a:lnSpc>
                <a:spcPct val="150000"/>
              </a:lnSpc>
              <a:buFont typeface="Arial" panose="020B0604020202020204" pitchFamily="34" charset="0"/>
              <a:buChar char="•"/>
            </a:pPr>
            <a:r>
              <a:rPr lang="en-GB" sz="1600" dirty="0"/>
              <a:t>‘fiscal impulse’ in % of GDP” affected output </a:t>
            </a:r>
            <a:r>
              <a:rPr lang="en-GB" sz="1600" i="1" dirty="0"/>
              <a:t>indirectly </a:t>
            </a:r>
            <a:r>
              <a:rPr lang="en-GB" sz="1600" dirty="0"/>
              <a:t>via private demand by almost ½ % of GDP</a:t>
            </a:r>
          </a:p>
          <a:p>
            <a:pPr marL="342900" indent="-342900">
              <a:lnSpc>
                <a:spcPct val="150000"/>
              </a:lnSpc>
              <a:buFont typeface="Arial" panose="020B0604020202020204" pitchFamily="34" charset="0"/>
              <a:buChar char="•"/>
            </a:pPr>
            <a:r>
              <a:rPr lang="en-GB" sz="1600" dirty="0"/>
              <a:t>reverse impact is expected from the fiscal tightening under PCI from 2022/23 on</a:t>
            </a:r>
          </a:p>
        </p:txBody>
      </p:sp>
      <p:pic>
        <p:nvPicPr>
          <p:cNvPr id="5" name="Picture 4">
            <a:extLst>
              <a:ext uri="{FF2B5EF4-FFF2-40B4-BE49-F238E27FC236}">
                <a16:creationId xmlns:a16="http://schemas.microsoft.com/office/drawing/2014/main" id="{6B1D889D-2CE6-66FE-448F-2D61AE205F0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295400"/>
            <a:ext cx="6451600" cy="4963886"/>
          </a:xfrm>
          <a:prstGeom prst="rect">
            <a:avLst/>
          </a:prstGeom>
          <a:noFill/>
          <a:ln>
            <a:noFill/>
          </a:ln>
        </p:spPr>
      </p:pic>
    </p:spTree>
    <p:extLst>
      <p:ext uri="{BB962C8B-B14F-4D97-AF65-F5344CB8AC3E}">
        <p14:creationId xmlns:p14="http://schemas.microsoft.com/office/powerpoint/2010/main" val="21969699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0CAD2-6D14-9D72-E8A6-67BC40D34BA0}"/>
              </a:ext>
            </a:extLst>
          </p:cNvPr>
          <p:cNvSpPr>
            <a:spLocks noGrp="1"/>
          </p:cNvSpPr>
          <p:nvPr>
            <p:ph type="title"/>
          </p:nvPr>
        </p:nvSpPr>
        <p:spPr>
          <a:xfrm>
            <a:off x="1524000" y="304800"/>
            <a:ext cx="10591800" cy="609600"/>
          </a:xfrm>
        </p:spPr>
        <p:txBody>
          <a:bodyPr/>
          <a:lstStyle/>
          <a:p>
            <a:r>
              <a:rPr lang="en-GB" b="1" dirty="0"/>
              <a:t>Fiscal stance: </a:t>
            </a:r>
            <a:r>
              <a:rPr lang="en-GB" dirty="0"/>
              <a:t>deficit and its components (revenue, spending)</a:t>
            </a:r>
            <a:endParaRPr lang="en-AE" dirty="0">
              <a:solidFill>
                <a:srgbClr val="FF0000"/>
              </a:solidFill>
            </a:endParaRPr>
          </a:p>
        </p:txBody>
      </p:sp>
      <p:sp>
        <p:nvSpPr>
          <p:cNvPr id="3" name="Slide Number Placeholder 2">
            <a:extLst>
              <a:ext uri="{FF2B5EF4-FFF2-40B4-BE49-F238E27FC236}">
                <a16:creationId xmlns:a16="http://schemas.microsoft.com/office/drawing/2014/main" id="{25CDF8F7-7F5E-7D6D-E3E8-C142EB7C92C4}"/>
              </a:ext>
            </a:extLst>
          </p:cNvPr>
          <p:cNvSpPr>
            <a:spLocks noGrp="1"/>
          </p:cNvSpPr>
          <p:nvPr>
            <p:ph type="sldNum" sz="quarter" idx="10"/>
          </p:nvPr>
        </p:nvSpPr>
        <p:spPr/>
        <p:txBody>
          <a:bodyPr/>
          <a:lstStyle/>
          <a:p>
            <a:fld id="{D97AE203-F84D-4A7F-B161-8561326BE072}" type="slidenum">
              <a:rPr lang="en-US" smtClean="0"/>
              <a:pPr/>
              <a:t>16</a:t>
            </a:fld>
            <a:endParaRPr lang="en-US" dirty="0"/>
          </a:p>
        </p:txBody>
      </p:sp>
      <p:sp>
        <p:nvSpPr>
          <p:cNvPr id="6" name="TextBox 5">
            <a:extLst>
              <a:ext uri="{FF2B5EF4-FFF2-40B4-BE49-F238E27FC236}">
                <a16:creationId xmlns:a16="http://schemas.microsoft.com/office/drawing/2014/main" id="{57AD4CEA-2ADC-E661-DA3B-389EDBD6B758}"/>
              </a:ext>
            </a:extLst>
          </p:cNvPr>
          <p:cNvSpPr txBox="1"/>
          <p:nvPr/>
        </p:nvSpPr>
        <p:spPr>
          <a:xfrm>
            <a:off x="228600" y="1934096"/>
            <a:ext cx="5638800" cy="4660187"/>
          </a:xfrm>
          <a:prstGeom prst="rect">
            <a:avLst/>
          </a:prstGeom>
          <a:noFill/>
        </p:spPr>
        <p:txBody>
          <a:bodyPr wrap="square" rtlCol="0">
            <a:spAutoFit/>
          </a:bodyPr>
          <a:lstStyle/>
          <a:p>
            <a:pPr>
              <a:lnSpc>
                <a:spcPct val="150000"/>
              </a:lnSpc>
            </a:pPr>
            <a:r>
              <a:rPr lang="en-GB" sz="2000" dirty="0">
                <a:solidFill>
                  <a:schemeClr val="accent1"/>
                </a:solidFill>
                <a:latin typeface="Gill Sans MT" panose="020B0502020104020203" pitchFamily="34" charset="0"/>
              </a:rPr>
              <a:t>Deficit (components) tuned with near-term program</a:t>
            </a:r>
          </a:p>
          <a:p>
            <a:pPr marL="342900" indent="-342900">
              <a:lnSpc>
                <a:spcPct val="150000"/>
              </a:lnSpc>
              <a:buFont typeface="Arial" panose="020B0604020202020204" pitchFamily="34" charset="0"/>
              <a:buChar char="•"/>
            </a:pPr>
            <a:r>
              <a:rPr lang="en-GB" sz="1800" dirty="0">
                <a:latin typeface="+mn-lt"/>
              </a:rPr>
              <a:t>large spending cuts compared to Covid and even pre-Covid for four years from 2023/24</a:t>
            </a:r>
          </a:p>
          <a:p>
            <a:pPr marL="342900" indent="-342900">
              <a:lnSpc>
                <a:spcPct val="150000"/>
              </a:lnSpc>
              <a:buFont typeface="Arial" panose="020B0604020202020204" pitchFamily="34" charset="0"/>
              <a:buChar char="•"/>
            </a:pPr>
            <a:r>
              <a:rPr lang="en-GB" sz="1800" dirty="0">
                <a:latin typeface="+mn-lt"/>
              </a:rPr>
              <a:t>also, needed to offset temporary revenue shortfalls of around 1% of GDP levels in 2023/24-2024/25 </a:t>
            </a:r>
          </a:p>
          <a:p>
            <a:pPr marL="342900" indent="-342900">
              <a:lnSpc>
                <a:spcPct val="150000"/>
              </a:lnSpc>
              <a:buFont typeface="Arial" panose="020B0604020202020204" pitchFamily="34" charset="0"/>
              <a:buChar char="•"/>
            </a:pPr>
            <a:r>
              <a:rPr lang="en-GB" sz="1800" dirty="0">
                <a:latin typeface="+mn-lt"/>
              </a:rPr>
              <a:t>deficits dips well below sustainable levels for several years, thus bringing down fast debt/GDP ratios that rose during Covid (esp.  from IMF lending)</a:t>
            </a:r>
          </a:p>
          <a:p>
            <a:pPr marL="342900" indent="-342900">
              <a:lnSpc>
                <a:spcPct val="150000"/>
              </a:lnSpc>
              <a:buFont typeface="Arial" panose="020B0604020202020204" pitchFamily="34" charset="0"/>
              <a:buChar char="•"/>
            </a:pPr>
            <a:r>
              <a:rPr lang="en-GB" sz="1800" dirty="0">
                <a:latin typeface="+mn-lt"/>
              </a:rPr>
              <a:t>sustainable deficit: derived grants (</a:t>
            </a:r>
            <a:r>
              <a:rPr lang="en-GB" sz="1800" u="sng" dirty="0">
                <a:latin typeface="+mn-lt"/>
              </a:rPr>
              <a:t>+</a:t>
            </a:r>
            <a:r>
              <a:rPr lang="en-GB" sz="1800" dirty="0">
                <a:latin typeface="+mn-lt"/>
              </a:rPr>
              <a:t>4.5% of GDP) and net borrowing consistent with debt/GDP of 75% (65% in NPV, 10% domestic, 15% grant element, …)</a:t>
            </a:r>
          </a:p>
        </p:txBody>
      </p:sp>
      <p:sp>
        <p:nvSpPr>
          <p:cNvPr id="7" name="TextBox 6">
            <a:extLst>
              <a:ext uri="{FF2B5EF4-FFF2-40B4-BE49-F238E27FC236}">
                <a16:creationId xmlns:a16="http://schemas.microsoft.com/office/drawing/2014/main" id="{7CE05036-6D7E-A32A-15CB-82518DCD289F}"/>
              </a:ext>
            </a:extLst>
          </p:cNvPr>
          <p:cNvSpPr txBox="1"/>
          <p:nvPr/>
        </p:nvSpPr>
        <p:spPr>
          <a:xfrm>
            <a:off x="228600" y="1143000"/>
            <a:ext cx="11887200" cy="707886"/>
          </a:xfrm>
          <a:prstGeom prst="rect">
            <a:avLst/>
          </a:prstGeom>
          <a:noFill/>
        </p:spPr>
        <p:txBody>
          <a:bodyPr wrap="square">
            <a:spAutoFit/>
          </a:bodyPr>
          <a:lstStyle/>
          <a:p>
            <a:pPr indent="0" algn="just">
              <a:buNone/>
            </a:pPr>
            <a:r>
              <a:rPr lang="en-GB" sz="2000" b="1" dirty="0">
                <a:solidFill>
                  <a:schemeClr val="accent1"/>
                </a:solidFill>
                <a:latin typeface="Gill Sans MT" panose="020B0502020104020203" pitchFamily="34" charset="0"/>
              </a:rPr>
              <a:t>Deficit (excl. grants) forecast to tighten </a:t>
            </a:r>
            <a:r>
              <a:rPr lang="en-GB" sz="2000" b="1" u="sng" dirty="0">
                <a:solidFill>
                  <a:schemeClr val="accent1"/>
                </a:solidFill>
                <a:latin typeface="Gill Sans MT" panose="020B0502020104020203" pitchFamily="34" charset="0"/>
              </a:rPr>
              <a:t>+</a:t>
            </a:r>
            <a:r>
              <a:rPr lang="en-GB" sz="2000" b="1" dirty="0">
                <a:solidFill>
                  <a:schemeClr val="accent1"/>
                </a:solidFill>
                <a:latin typeface="Gill Sans MT" panose="020B0502020104020203" pitchFamily="34" charset="0"/>
              </a:rPr>
              <a:t> 2 % points of GDP below pre-Covid and sustainable level in 2022/23</a:t>
            </a:r>
            <a:r>
              <a:rPr lang="en-GB" sz="2000" b="1" dirty="0">
                <a:solidFill>
                  <a:schemeClr val="accent1"/>
                </a:solidFill>
                <a:latin typeface="Calibri" panose="020F0502020204030204" pitchFamily="34" charset="0"/>
                <a:ea typeface="Calibri" panose="020F0502020204030204" pitchFamily="34" charset="0"/>
                <a:cs typeface="Calibri" panose="020F0502020204030204" pitchFamily="34" charset="0"/>
              </a:rPr>
              <a:t>─</a:t>
            </a:r>
            <a:r>
              <a:rPr lang="en-GB" sz="2000" b="1" dirty="0">
                <a:solidFill>
                  <a:schemeClr val="accent1"/>
                </a:solidFill>
                <a:latin typeface="Gill Sans MT" panose="020B0502020104020203" pitchFamily="34" charset="0"/>
              </a:rPr>
              <a:t>2023/24, as program fast-tracks debt/GDP reduction, then to sustainable level thereafter </a:t>
            </a:r>
            <a:endParaRPr lang="en-GB" sz="2000" i="1" dirty="0">
              <a:latin typeface="Gill Sans MT" panose="020B0502020104020203" pitchFamily="34" charset="0"/>
            </a:endParaRPr>
          </a:p>
        </p:txBody>
      </p:sp>
      <p:pic>
        <p:nvPicPr>
          <p:cNvPr id="8" name="Picture 7">
            <a:extLst>
              <a:ext uri="{FF2B5EF4-FFF2-40B4-BE49-F238E27FC236}">
                <a16:creationId xmlns:a16="http://schemas.microsoft.com/office/drawing/2014/main" id="{8BE6C035-6C4C-9A3D-B4A5-092C80A271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3600" y="1850886"/>
            <a:ext cx="6200614" cy="5007114"/>
          </a:xfrm>
          <a:prstGeom prst="rect">
            <a:avLst/>
          </a:prstGeom>
        </p:spPr>
      </p:pic>
    </p:spTree>
    <p:extLst>
      <p:ext uri="{BB962C8B-B14F-4D97-AF65-F5344CB8AC3E}">
        <p14:creationId xmlns:p14="http://schemas.microsoft.com/office/powerpoint/2010/main" val="880655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0CAD2-6D14-9D72-E8A6-67BC40D34BA0}"/>
              </a:ext>
            </a:extLst>
          </p:cNvPr>
          <p:cNvSpPr>
            <a:spLocks noGrp="1"/>
          </p:cNvSpPr>
          <p:nvPr>
            <p:ph type="title"/>
          </p:nvPr>
        </p:nvSpPr>
        <p:spPr>
          <a:xfrm>
            <a:off x="1295400" y="304800"/>
            <a:ext cx="10820400" cy="609600"/>
          </a:xfrm>
        </p:spPr>
        <p:txBody>
          <a:bodyPr/>
          <a:lstStyle/>
          <a:p>
            <a:r>
              <a:rPr lang="en-GB" b="1" dirty="0"/>
              <a:t>Fiscal stance: </a:t>
            </a:r>
            <a:r>
              <a:rPr lang="en-GB" dirty="0"/>
              <a:t>deficit and its components </a:t>
            </a:r>
            <a:r>
              <a:rPr lang="en-GB" sz="2400" dirty="0"/>
              <a:t>(discretionary, cyclical, structural)</a:t>
            </a:r>
            <a:endParaRPr lang="en-AE" sz="2400" dirty="0">
              <a:solidFill>
                <a:srgbClr val="FF0000"/>
              </a:solidFill>
            </a:endParaRPr>
          </a:p>
        </p:txBody>
      </p:sp>
      <p:sp>
        <p:nvSpPr>
          <p:cNvPr id="3" name="Slide Number Placeholder 2">
            <a:extLst>
              <a:ext uri="{FF2B5EF4-FFF2-40B4-BE49-F238E27FC236}">
                <a16:creationId xmlns:a16="http://schemas.microsoft.com/office/drawing/2014/main" id="{25CDF8F7-7F5E-7D6D-E3E8-C142EB7C92C4}"/>
              </a:ext>
            </a:extLst>
          </p:cNvPr>
          <p:cNvSpPr>
            <a:spLocks noGrp="1"/>
          </p:cNvSpPr>
          <p:nvPr>
            <p:ph type="sldNum" sz="quarter" idx="10"/>
          </p:nvPr>
        </p:nvSpPr>
        <p:spPr/>
        <p:txBody>
          <a:bodyPr/>
          <a:lstStyle/>
          <a:p>
            <a:fld id="{D97AE203-F84D-4A7F-B161-8561326BE072}" type="slidenum">
              <a:rPr lang="en-US" smtClean="0"/>
              <a:pPr/>
              <a:t>17</a:t>
            </a:fld>
            <a:endParaRPr lang="en-US" dirty="0"/>
          </a:p>
        </p:txBody>
      </p:sp>
      <p:sp>
        <p:nvSpPr>
          <p:cNvPr id="6" name="TextBox 5">
            <a:extLst>
              <a:ext uri="{FF2B5EF4-FFF2-40B4-BE49-F238E27FC236}">
                <a16:creationId xmlns:a16="http://schemas.microsoft.com/office/drawing/2014/main" id="{57AD4CEA-2ADC-E661-DA3B-389EDBD6B758}"/>
              </a:ext>
            </a:extLst>
          </p:cNvPr>
          <p:cNvSpPr txBox="1"/>
          <p:nvPr/>
        </p:nvSpPr>
        <p:spPr>
          <a:xfrm>
            <a:off x="203199" y="1543110"/>
            <a:ext cx="5623731" cy="78720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GB" sz="1600" dirty="0">
                <a:latin typeface="+mn-lt"/>
              </a:rPr>
              <a:t>reductions in discretionary (demand G&amp;S, other..) spending</a:t>
            </a:r>
          </a:p>
          <a:p>
            <a:pPr marL="342900" indent="-342900">
              <a:lnSpc>
                <a:spcPct val="150000"/>
              </a:lnSpc>
              <a:buFont typeface="Arial" panose="020B0604020202020204" pitchFamily="34" charset="0"/>
              <a:buChar char="•"/>
            </a:pPr>
            <a:r>
              <a:rPr lang="en-GB" sz="1600" dirty="0">
                <a:latin typeface="+mn-lt"/>
              </a:rPr>
              <a:t>losses in (non-tax), revenue, are gradually being offset </a:t>
            </a:r>
            <a:endParaRPr lang="en-GB" sz="1600" dirty="0"/>
          </a:p>
        </p:txBody>
      </p:sp>
      <p:sp>
        <p:nvSpPr>
          <p:cNvPr id="7" name="TextBox 6">
            <a:extLst>
              <a:ext uri="{FF2B5EF4-FFF2-40B4-BE49-F238E27FC236}">
                <a16:creationId xmlns:a16="http://schemas.microsoft.com/office/drawing/2014/main" id="{7CE05036-6D7E-A32A-15CB-82518DCD289F}"/>
              </a:ext>
            </a:extLst>
          </p:cNvPr>
          <p:cNvSpPr txBox="1"/>
          <p:nvPr/>
        </p:nvSpPr>
        <p:spPr>
          <a:xfrm>
            <a:off x="76200" y="1143000"/>
            <a:ext cx="12039600" cy="400110"/>
          </a:xfrm>
          <a:prstGeom prst="rect">
            <a:avLst/>
          </a:prstGeom>
          <a:noFill/>
        </p:spPr>
        <p:txBody>
          <a:bodyPr wrap="square">
            <a:spAutoFit/>
          </a:bodyPr>
          <a:lstStyle/>
          <a:p>
            <a:pPr indent="0" algn="just">
              <a:buNone/>
            </a:pPr>
            <a:r>
              <a:rPr lang="en-GB" sz="2000" b="1" dirty="0">
                <a:solidFill>
                  <a:schemeClr val="accent1"/>
                </a:solidFill>
                <a:latin typeface="Gill Sans MT" panose="020B0502020104020203" pitchFamily="34" charset="0"/>
              </a:rPr>
              <a:t>Deficit discretionary &amp; cyclical components forecast (w. near-term program), phasing out gradually </a:t>
            </a:r>
            <a:endParaRPr lang="en-GB" sz="2000" i="1" dirty="0">
              <a:latin typeface="Gill Sans MT" panose="020B0502020104020203" pitchFamily="34" charset="0"/>
            </a:endParaRPr>
          </a:p>
        </p:txBody>
      </p:sp>
      <p:pic>
        <p:nvPicPr>
          <p:cNvPr id="9" name="Picture 8">
            <a:extLst>
              <a:ext uri="{FF2B5EF4-FFF2-40B4-BE49-F238E27FC236}">
                <a16:creationId xmlns:a16="http://schemas.microsoft.com/office/drawing/2014/main" id="{BA267FD6-822B-4717-981E-AA043E0012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199" y="2417132"/>
            <a:ext cx="5511801" cy="4506274"/>
          </a:xfrm>
          <a:prstGeom prst="rect">
            <a:avLst/>
          </a:prstGeom>
        </p:spPr>
      </p:pic>
      <p:pic>
        <p:nvPicPr>
          <p:cNvPr id="10" name="Picture 9">
            <a:extLst>
              <a:ext uri="{FF2B5EF4-FFF2-40B4-BE49-F238E27FC236}">
                <a16:creationId xmlns:a16="http://schemas.microsoft.com/office/drawing/2014/main" id="{71BAC221-FB52-5041-C4C5-7C76524092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8889" y="1524000"/>
            <a:ext cx="5623731" cy="4572000"/>
          </a:xfrm>
          <a:prstGeom prst="rect">
            <a:avLst/>
          </a:prstGeom>
        </p:spPr>
      </p:pic>
      <p:sp>
        <p:nvSpPr>
          <p:cNvPr id="12" name="TextBox 11">
            <a:extLst>
              <a:ext uri="{FF2B5EF4-FFF2-40B4-BE49-F238E27FC236}">
                <a16:creationId xmlns:a16="http://schemas.microsoft.com/office/drawing/2014/main" id="{2684EF88-3A08-DE80-8057-BE1893902D41}"/>
              </a:ext>
            </a:extLst>
          </p:cNvPr>
          <p:cNvSpPr txBox="1"/>
          <p:nvPr/>
        </p:nvSpPr>
        <p:spPr>
          <a:xfrm>
            <a:off x="6248400" y="6094677"/>
            <a:ext cx="5943600" cy="417871"/>
          </a:xfrm>
          <a:prstGeom prst="rect">
            <a:avLst/>
          </a:prstGeom>
          <a:noFill/>
        </p:spPr>
        <p:txBody>
          <a:bodyPr wrap="square">
            <a:spAutoFit/>
          </a:bodyPr>
          <a:lstStyle/>
          <a:p>
            <a:pPr marL="274320" indent="-342900">
              <a:lnSpc>
                <a:spcPct val="150000"/>
              </a:lnSpc>
              <a:buFont typeface="Arial" panose="020B0604020202020204" pitchFamily="34" charset="0"/>
              <a:buChar char="•"/>
            </a:pPr>
            <a:r>
              <a:rPr lang="en-GB" sz="1600" dirty="0">
                <a:latin typeface="+mn-lt"/>
              </a:rPr>
              <a:t>Cyclical deficit components phase out as output gap goes to zero</a:t>
            </a:r>
            <a:endParaRPr lang="en-GB" sz="1600" dirty="0"/>
          </a:p>
        </p:txBody>
      </p:sp>
    </p:spTree>
    <p:extLst>
      <p:ext uri="{BB962C8B-B14F-4D97-AF65-F5344CB8AC3E}">
        <p14:creationId xmlns:p14="http://schemas.microsoft.com/office/powerpoint/2010/main" val="34322851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A88DC-3DF3-0DDD-98BC-0D18EBCDB251}"/>
              </a:ext>
            </a:extLst>
          </p:cNvPr>
          <p:cNvSpPr>
            <a:spLocks noGrp="1"/>
          </p:cNvSpPr>
          <p:nvPr>
            <p:ph type="title"/>
          </p:nvPr>
        </p:nvSpPr>
        <p:spPr>
          <a:xfrm>
            <a:off x="1600200" y="207818"/>
            <a:ext cx="10261600" cy="609600"/>
          </a:xfrm>
        </p:spPr>
        <p:txBody>
          <a:bodyPr/>
          <a:lstStyle/>
          <a:p>
            <a:r>
              <a:rPr lang="en-GB" b="1" dirty="0"/>
              <a:t>Forecast—</a:t>
            </a:r>
            <a:r>
              <a:rPr lang="en-US" b="1" dirty="0"/>
              <a:t>Inflation outlook </a:t>
            </a:r>
            <a:r>
              <a:rPr lang="en-US" dirty="0"/>
              <a:t>(overview)</a:t>
            </a:r>
          </a:p>
        </p:txBody>
      </p:sp>
      <p:sp>
        <p:nvSpPr>
          <p:cNvPr id="11" name="TextBox 10">
            <a:extLst>
              <a:ext uri="{FF2B5EF4-FFF2-40B4-BE49-F238E27FC236}">
                <a16:creationId xmlns:a16="http://schemas.microsoft.com/office/drawing/2014/main" id="{0FF341B1-8569-6382-12CE-9A6DEAC1A2CB}"/>
              </a:ext>
            </a:extLst>
          </p:cNvPr>
          <p:cNvSpPr txBox="1"/>
          <p:nvPr/>
        </p:nvSpPr>
        <p:spPr>
          <a:xfrm>
            <a:off x="5791201" y="1129844"/>
            <a:ext cx="6400800" cy="1477328"/>
          </a:xfrm>
          <a:prstGeom prst="rect">
            <a:avLst/>
          </a:prstGeom>
          <a:noFill/>
        </p:spPr>
        <p:txBody>
          <a:bodyPr wrap="square" rtlCol="0">
            <a:spAutoFit/>
          </a:bodyPr>
          <a:lstStyle/>
          <a:p>
            <a:pPr marL="285750" indent="-285750">
              <a:buFont typeface="Wingdings" panose="05000000000000000000" pitchFamily="2" charset="2"/>
              <a:buChar char="§"/>
            </a:pPr>
            <a:r>
              <a:rPr lang="en-GB" sz="1800" dirty="0">
                <a:latin typeface="Gill Sans MT" panose="020B0502020104020203" pitchFamily="34" charset="0"/>
                <a:ea typeface="Calibri" panose="020F0502020204030204" pitchFamily="34" charset="0"/>
              </a:rPr>
              <a:t>decline in q-on-q inflation translates into less fast drop in y-on-y inflation, estimated to peak in Q4 2022 and dropping to below 5% in Q1 2024</a:t>
            </a:r>
          </a:p>
          <a:p>
            <a:pPr marL="285750" indent="-285750">
              <a:buFont typeface="Wingdings" panose="05000000000000000000" pitchFamily="2" charset="2"/>
              <a:buChar char="§"/>
            </a:pPr>
            <a:r>
              <a:rPr lang="en-US" sz="1800" dirty="0">
                <a:latin typeface="Gill Sans MT" panose="020B0502020104020203" pitchFamily="34" charset="0"/>
                <a:ea typeface="Calibri" panose="020F0502020204030204" pitchFamily="34" charset="0"/>
              </a:rPr>
              <a:t>all components drop, while drop in food prices contributes most</a:t>
            </a:r>
            <a:endParaRPr lang="en-GB" sz="1800" dirty="0">
              <a:latin typeface="Gill Sans MT" panose="020B0502020104020203" pitchFamily="34" charset="0"/>
              <a:ea typeface="Calibri" panose="020F0502020204030204" pitchFamily="34" charset="0"/>
            </a:endParaRPr>
          </a:p>
        </p:txBody>
      </p:sp>
      <p:sp>
        <p:nvSpPr>
          <p:cNvPr id="13" name="TextBox 12">
            <a:extLst>
              <a:ext uri="{FF2B5EF4-FFF2-40B4-BE49-F238E27FC236}">
                <a16:creationId xmlns:a16="http://schemas.microsoft.com/office/drawing/2014/main" id="{39201358-B5C8-53BA-0F80-856B6C8536EC}"/>
              </a:ext>
            </a:extLst>
          </p:cNvPr>
          <p:cNvSpPr txBox="1"/>
          <p:nvPr/>
        </p:nvSpPr>
        <p:spPr>
          <a:xfrm>
            <a:off x="2438400" y="4876800"/>
            <a:ext cx="609462" cy="461665"/>
          </a:xfrm>
          <a:prstGeom prst="rect">
            <a:avLst/>
          </a:prstGeom>
          <a:noFill/>
        </p:spPr>
        <p:txBody>
          <a:bodyPr wrap="none" rtlCol="0">
            <a:spAutoFit/>
          </a:bodyPr>
          <a:lstStyle/>
          <a:p>
            <a:r>
              <a:rPr lang="en-US" dirty="0"/>
              <a:t>     </a:t>
            </a:r>
          </a:p>
        </p:txBody>
      </p:sp>
      <p:sp>
        <p:nvSpPr>
          <p:cNvPr id="15" name="TextBox 14">
            <a:extLst>
              <a:ext uri="{FF2B5EF4-FFF2-40B4-BE49-F238E27FC236}">
                <a16:creationId xmlns:a16="http://schemas.microsoft.com/office/drawing/2014/main" id="{F5230547-2FD4-A2EA-FD07-BDD7EA5A3B52}"/>
              </a:ext>
            </a:extLst>
          </p:cNvPr>
          <p:cNvSpPr txBox="1"/>
          <p:nvPr/>
        </p:nvSpPr>
        <p:spPr>
          <a:xfrm rot="10800000" flipV="1">
            <a:off x="0" y="4575754"/>
            <a:ext cx="5638800" cy="2031325"/>
          </a:xfrm>
          <a:prstGeom prst="rect">
            <a:avLst/>
          </a:prstGeom>
          <a:noFill/>
        </p:spPr>
        <p:txBody>
          <a:bodyPr wrap="square" rtlCol="0">
            <a:spAutoFit/>
          </a:bodyPr>
          <a:lstStyle/>
          <a:p>
            <a:r>
              <a:rPr lang="en-GB" sz="1800" b="1" dirty="0">
                <a:solidFill>
                  <a:srgbClr val="00B0F0"/>
                </a:solidFill>
                <a:latin typeface="Gill Sans MT" panose="020B0502020104020203" pitchFamily="34" charset="0"/>
                <a:ea typeface="Calibri" panose="020F0502020204030204" pitchFamily="34" charset="0"/>
              </a:rPr>
              <a:t>Headline CPI components</a:t>
            </a:r>
          </a:p>
          <a:p>
            <a:pPr marL="285750" indent="-285750">
              <a:buFont typeface="Wingdings" panose="05000000000000000000" pitchFamily="2" charset="2"/>
              <a:buChar char="§"/>
            </a:pPr>
            <a:r>
              <a:rPr lang="en-GB" sz="1800" dirty="0">
                <a:latin typeface="Gill Sans MT" panose="020B0502020104020203" pitchFamily="34" charset="0"/>
                <a:ea typeface="Calibri" panose="020F0502020204030204" pitchFamily="34" charset="0"/>
              </a:rPr>
              <a:t>q-on-q annualized inflation is forecast to decline gradually in 2023 after peak in Q2 2022</a:t>
            </a:r>
          </a:p>
          <a:p>
            <a:pPr marL="285750" indent="-285750">
              <a:buFont typeface="Wingdings" panose="05000000000000000000" pitchFamily="2" charset="2"/>
              <a:buChar char="§"/>
            </a:pPr>
            <a:r>
              <a:rPr lang="en-GB" sz="1800" dirty="0">
                <a:latin typeface="Gill Sans MT" panose="020B0502020104020203" pitchFamily="34" charset="0"/>
                <a:ea typeface="Calibri" panose="020F0502020204030204" pitchFamily="34" charset="0"/>
              </a:rPr>
              <a:t>predicated on recent shocks abating and inflation expectations being countered by NBR action and fiscal restraint</a:t>
            </a:r>
          </a:p>
          <a:p>
            <a:pPr marL="285750" indent="-285750">
              <a:buFont typeface="Wingdings" panose="05000000000000000000" pitchFamily="2" charset="2"/>
              <a:buChar char="§"/>
            </a:pPr>
            <a:endParaRPr lang="en-US" sz="1800" dirty="0">
              <a:latin typeface="Gill Sans MT" panose="020B0502020104020203" pitchFamily="34" charset="0"/>
            </a:endParaRPr>
          </a:p>
        </p:txBody>
      </p:sp>
      <p:pic>
        <p:nvPicPr>
          <p:cNvPr id="3" name="Picture 2">
            <a:extLst>
              <a:ext uri="{FF2B5EF4-FFF2-40B4-BE49-F238E27FC236}">
                <a16:creationId xmlns:a16="http://schemas.microsoft.com/office/drawing/2014/main" id="{B91487C8-65B7-E277-AF5B-B47ADDB54B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830" y="1129844"/>
            <a:ext cx="5162034" cy="3151257"/>
          </a:xfrm>
          <a:prstGeom prst="rect">
            <a:avLst/>
          </a:prstGeom>
        </p:spPr>
      </p:pic>
      <p:pic>
        <p:nvPicPr>
          <p:cNvPr id="5" name="Picture 4">
            <a:extLst>
              <a:ext uri="{FF2B5EF4-FFF2-40B4-BE49-F238E27FC236}">
                <a16:creationId xmlns:a16="http://schemas.microsoft.com/office/drawing/2014/main" id="{C2ED2779-0EE9-790F-B3FB-E2FB0C5A8D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1200" y="2322916"/>
            <a:ext cx="6070599" cy="4101324"/>
          </a:xfrm>
          <a:prstGeom prst="rect">
            <a:avLst/>
          </a:prstGeom>
        </p:spPr>
      </p:pic>
    </p:spTree>
    <p:extLst>
      <p:ext uri="{BB962C8B-B14F-4D97-AF65-F5344CB8AC3E}">
        <p14:creationId xmlns:p14="http://schemas.microsoft.com/office/powerpoint/2010/main" val="5795042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8807-BD6B-A3ED-9602-BE4FCBAB2C5A}"/>
              </a:ext>
            </a:extLst>
          </p:cNvPr>
          <p:cNvSpPr>
            <a:spLocks noGrp="1"/>
          </p:cNvSpPr>
          <p:nvPr>
            <p:ph type="title"/>
          </p:nvPr>
        </p:nvSpPr>
        <p:spPr>
          <a:xfrm>
            <a:off x="1625600" y="228600"/>
            <a:ext cx="10261600" cy="762000"/>
          </a:xfrm>
        </p:spPr>
        <p:txBody>
          <a:bodyPr/>
          <a:lstStyle/>
          <a:p>
            <a:r>
              <a:rPr lang="en-GB" b="1" dirty="0"/>
              <a:t>Forecast—</a:t>
            </a:r>
            <a:r>
              <a:rPr lang="en-US" b="1" dirty="0"/>
              <a:t>Core inflation </a:t>
            </a:r>
            <a:r>
              <a:rPr lang="en-US" dirty="0"/>
              <a:t>(q-on-q annualized)</a:t>
            </a:r>
          </a:p>
        </p:txBody>
      </p:sp>
      <p:sp>
        <p:nvSpPr>
          <p:cNvPr id="3" name="Slide Number Placeholder 2">
            <a:extLst>
              <a:ext uri="{FF2B5EF4-FFF2-40B4-BE49-F238E27FC236}">
                <a16:creationId xmlns:a16="http://schemas.microsoft.com/office/drawing/2014/main" id="{6AFFE418-E4FE-37F1-555E-0751EC4B485A}"/>
              </a:ext>
            </a:extLst>
          </p:cNvPr>
          <p:cNvSpPr>
            <a:spLocks noGrp="1"/>
          </p:cNvSpPr>
          <p:nvPr>
            <p:ph type="sldNum" sz="quarter" idx="10"/>
          </p:nvPr>
        </p:nvSpPr>
        <p:spPr/>
        <p:txBody>
          <a:bodyPr/>
          <a:lstStyle/>
          <a:p>
            <a:fld id="{D97AE203-F84D-4A7F-B161-8561326BE072}" type="slidenum">
              <a:rPr lang="en-US" smtClean="0"/>
              <a:pPr/>
              <a:t>19</a:t>
            </a:fld>
            <a:endParaRPr lang="en-US" dirty="0"/>
          </a:p>
        </p:txBody>
      </p:sp>
      <p:sp>
        <p:nvSpPr>
          <p:cNvPr id="4" name="TextBox 3">
            <a:extLst>
              <a:ext uri="{FF2B5EF4-FFF2-40B4-BE49-F238E27FC236}">
                <a16:creationId xmlns:a16="http://schemas.microsoft.com/office/drawing/2014/main" id="{C8309FB4-CAA2-9888-339D-0BF98DAD9D8C}"/>
              </a:ext>
            </a:extLst>
          </p:cNvPr>
          <p:cNvSpPr txBox="1"/>
          <p:nvPr/>
        </p:nvSpPr>
        <p:spPr>
          <a:xfrm rot="10800000" flipV="1">
            <a:off x="172206" y="5046201"/>
            <a:ext cx="5542793" cy="1403205"/>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CPI core down from peak 2022 Q4;  main drivers:</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down-pull effect from remaining output gap disappearing</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strong effect of expectations and persistence</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no direct effect of import prices as ~ constant in RWF terms</a:t>
            </a:r>
          </a:p>
        </p:txBody>
      </p:sp>
      <p:sp>
        <p:nvSpPr>
          <p:cNvPr id="5" name="TextBox 4">
            <a:extLst>
              <a:ext uri="{FF2B5EF4-FFF2-40B4-BE49-F238E27FC236}">
                <a16:creationId xmlns:a16="http://schemas.microsoft.com/office/drawing/2014/main" id="{F2705685-DBBA-E6CC-D544-60AF0A780343}"/>
              </a:ext>
            </a:extLst>
          </p:cNvPr>
          <p:cNvSpPr txBox="1"/>
          <p:nvPr/>
        </p:nvSpPr>
        <p:spPr>
          <a:xfrm>
            <a:off x="6019800" y="1219200"/>
            <a:ext cx="6096000" cy="830997"/>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Direct effect foreign import prices and ER on CPI core:</a:t>
            </a:r>
          </a:p>
          <a:p>
            <a:pPr marL="285750" indent="-285750">
              <a:buFont typeface="Wingdings" panose="05000000000000000000" pitchFamily="2" charset="2"/>
              <a:buChar char="§"/>
            </a:pPr>
            <a:r>
              <a:rPr lang="en-US" sz="1600" dirty="0">
                <a:latin typeface="Gill Sans MT" panose="020B0502020104020203" pitchFamily="34" charset="0"/>
              </a:rPr>
              <a:t>foreign prices continue declining for most of 2023-26</a:t>
            </a:r>
          </a:p>
          <a:p>
            <a:pPr marL="285750" indent="-285750">
              <a:buFont typeface="Wingdings" panose="05000000000000000000" pitchFamily="2" charset="2"/>
              <a:buChar char="§"/>
            </a:pPr>
            <a:r>
              <a:rPr lang="en-US" sz="1600" dirty="0">
                <a:latin typeface="Gill Sans MT" panose="020B0502020104020203" pitchFamily="34" charset="0"/>
              </a:rPr>
              <a:t>ER depreciation raises RWF prices, but net direct effect is small</a:t>
            </a:r>
          </a:p>
        </p:txBody>
      </p:sp>
      <p:pic>
        <p:nvPicPr>
          <p:cNvPr id="7" name="Picture 6">
            <a:extLst>
              <a:ext uri="{FF2B5EF4-FFF2-40B4-BE49-F238E27FC236}">
                <a16:creationId xmlns:a16="http://schemas.microsoft.com/office/drawing/2014/main" id="{F4144837-B4B7-A234-1CAB-9C1C0CF50F24}"/>
              </a:ext>
            </a:extLst>
          </p:cNvPr>
          <p:cNvPicPr>
            <a:picLocks noChangeAspect="1"/>
          </p:cNvPicPr>
          <p:nvPr/>
        </p:nvPicPr>
        <p:blipFill>
          <a:blip r:embed="rId2"/>
          <a:stretch>
            <a:fillRect/>
          </a:stretch>
        </p:blipFill>
        <p:spPr>
          <a:xfrm>
            <a:off x="76200" y="1104900"/>
            <a:ext cx="5486401" cy="3782116"/>
          </a:xfrm>
          <a:prstGeom prst="rect">
            <a:avLst/>
          </a:prstGeom>
        </p:spPr>
      </p:pic>
      <p:pic>
        <p:nvPicPr>
          <p:cNvPr id="8" name="Picture 7">
            <a:extLst>
              <a:ext uri="{FF2B5EF4-FFF2-40B4-BE49-F238E27FC236}">
                <a16:creationId xmlns:a16="http://schemas.microsoft.com/office/drawing/2014/main" id="{1F4001D8-57F6-BCEB-CE12-AF6442304F5F}"/>
              </a:ext>
            </a:extLst>
          </p:cNvPr>
          <p:cNvPicPr>
            <a:picLocks noChangeAspect="1"/>
          </p:cNvPicPr>
          <p:nvPr/>
        </p:nvPicPr>
        <p:blipFill>
          <a:blip r:embed="rId3"/>
          <a:stretch>
            <a:fillRect/>
          </a:stretch>
        </p:blipFill>
        <p:spPr>
          <a:xfrm>
            <a:off x="6096000" y="2160529"/>
            <a:ext cx="6019800" cy="4621272"/>
          </a:xfrm>
          <a:prstGeom prst="rect">
            <a:avLst/>
          </a:prstGeom>
        </p:spPr>
      </p:pic>
    </p:spTree>
    <p:extLst>
      <p:ext uri="{BB962C8B-B14F-4D97-AF65-F5344CB8AC3E}">
        <p14:creationId xmlns:p14="http://schemas.microsoft.com/office/powerpoint/2010/main" val="26410847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8807-BD6B-A3ED-9602-BE4FCBAB2C5A}"/>
              </a:ext>
            </a:extLst>
          </p:cNvPr>
          <p:cNvSpPr>
            <a:spLocks noGrp="1"/>
          </p:cNvSpPr>
          <p:nvPr>
            <p:ph type="title"/>
          </p:nvPr>
        </p:nvSpPr>
        <p:spPr>
          <a:xfrm>
            <a:off x="1600200" y="233106"/>
            <a:ext cx="10261600" cy="681294"/>
          </a:xfrm>
        </p:spPr>
        <p:txBody>
          <a:bodyPr/>
          <a:lstStyle/>
          <a:p>
            <a:r>
              <a:rPr lang="en-GB" b="1" dirty="0"/>
              <a:t>Forecast—</a:t>
            </a:r>
            <a:r>
              <a:rPr lang="en-US" b="1" dirty="0"/>
              <a:t>Food inflation </a:t>
            </a:r>
            <a:r>
              <a:rPr lang="en-US" dirty="0"/>
              <a:t>(q-on-q annualized)</a:t>
            </a:r>
          </a:p>
        </p:txBody>
      </p:sp>
      <p:sp>
        <p:nvSpPr>
          <p:cNvPr id="3" name="Slide Number Placeholder 2">
            <a:extLst>
              <a:ext uri="{FF2B5EF4-FFF2-40B4-BE49-F238E27FC236}">
                <a16:creationId xmlns:a16="http://schemas.microsoft.com/office/drawing/2014/main" id="{6AFFE418-E4FE-37F1-555E-0751EC4B485A}"/>
              </a:ext>
            </a:extLst>
          </p:cNvPr>
          <p:cNvSpPr>
            <a:spLocks noGrp="1"/>
          </p:cNvSpPr>
          <p:nvPr>
            <p:ph type="sldNum" sz="quarter" idx="10"/>
          </p:nvPr>
        </p:nvSpPr>
        <p:spPr/>
        <p:txBody>
          <a:bodyPr/>
          <a:lstStyle/>
          <a:p>
            <a:fld id="{D97AE203-F84D-4A7F-B161-8561326BE072}" type="slidenum">
              <a:rPr lang="en-US" smtClean="0"/>
              <a:pPr/>
              <a:t>20</a:t>
            </a:fld>
            <a:endParaRPr lang="en-US" dirty="0"/>
          </a:p>
        </p:txBody>
      </p:sp>
      <p:sp>
        <p:nvSpPr>
          <p:cNvPr id="4" name="TextBox 3">
            <a:extLst>
              <a:ext uri="{FF2B5EF4-FFF2-40B4-BE49-F238E27FC236}">
                <a16:creationId xmlns:a16="http://schemas.microsoft.com/office/drawing/2014/main" id="{C8309FB4-CAA2-9888-339D-0BF98DAD9D8C}"/>
              </a:ext>
            </a:extLst>
          </p:cNvPr>
          <p:cNvSpPr txBox="1"/>
          <p:nvPr/>
        </p:nvSpPr>
        <p:spPr>
          <a:xfrm rot="10800000" flipV="1">
            <a:off x="76200" y="5221689"/>
            <a:ext cx="6019800" cy="1403205"/>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CPI food down from peak in 2022 Q4; main drivers:</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agricultural output is forecast to normalize</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imported food prices projected to continue declining </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small offsetting effect of lessening RER overvaluation (faster depr.)</a:t>
            </a:r>
          </a:p>
        </p:txBody>
      </p:sp>
      <p:sp>
        <p:nvSpPr>
          <p:cNvPr id="5" name="TextBox 4">
            <a:extLst>
              <a:ext uri="{FF2B5EF4-FFF2-40B4-BE49-F238E27FC236}">
                <a16:creationId xmlns:a16="http://schemas.microsoft.com/office/drawing/2014/main" id="{F2705685-DBBA-E6CC-D544-60AF0A780343}"/>
              </a:ext>
            </a:extLst>
          </p:cNvPr>
          <p:cNvSpPr txBox="1"/>
          <p:nvPr/>
        </p:nvSpPr>
        <p:spPr>
          <a:xfrm>
            <a:off x="6477000" y="1295401"/>
            <a:ext cx="5717023" cy="1033873"/>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Direct effect of foreign prices and ER on food CPI</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foreign food prices continue declining for most of 2023-26</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ER depreciation raises RWF prices but net direct effect is small</a:t>
            </a:r>
          </a:p>
        </p:txBody>
      </p:sp>
      <p:pic>
        <p:nvPicPr>
          <p:cNvPr id="6" name="Picture 5">
            <a:extLst>
              <a:ext uri="{FF2B5EF4-FFF2-40B4-BE49-F238E27FC236}">
                <a16:creationId xmlns:a16="http://schemas.microsoft.com/office/drawing/2014/main" id="{76E4C541-8B2F-9A0C-B01E-CEB896094528}"/>
              </a:ext>
            </a:extLst>
          </p:cNvPr>
          <p:cNvPicPr>
            <a:picLocks noChangeAspect="1"/>
          </p:cNvPicPr>
          <p:nvPr/>
        </p:nvPicPr>
        <p:blipFill>
          <a:blip r:embed="rId3"/>
          <a:stretch>
            <a:fillRect/>
          </a:stretch>
        </p:blipFill>
        <p:spPr>
          <a:xfrm>
            <a:off x="76200" y="1219200"/>
            <a:ext cx="5943599" cy="3962400"/>
          </a:xfrm>
          <a:prstGeom prst="rect">
            <a:avLst/>
          </a:prstGeom>
        </p:spPr>
      </p:pic>
      <p:pic>
        <p:nvPicPr>
          <p:cNvPr id="7" name="Picture 6">
            <a:extLst>
              <a:ext uri="{FF2B5EF4-FFF2-40B4-BE49-F238E27FC236}">
                <a16:creationId xmlns:a16="http://schemas.microsoft.com/office/drawing/2014/main" id="{3DBCFC4E-EC57-AD08-2824-4642FC3FEA6D}"/>
              </a:ext>
            </a:extLst>
          </p:cNvPr>
          <p:cNvPicPr>
            <a:picLocks noChangeAspect="1"/>
          </p:cNvPicPr>
          <p:nvPr/>
        </p:nvPicPr>
        <p:blipFill>
          <a:blip r:embed="rId4"/>
          <a:stretch>
            <a:fillRect/>
          </a:stretch>
        </p:blipFill>
        <p:spPr>
          <a:xfrm>
            <a:off x="6398776" y="2514600"/>
            <a:ext cx="5717023" cy="4343400"/>
          </a:xfrm>
          <a:prstGeom prst="rect">
            <a:avLst/>
          </a:prstGeom>
        </p:spPr>
      </p:pic>
    </p:spTree>
    <p:extLst>
      <p:ext uri="{BB962C8B-B14F-4D97-AF65-F5344CB8AC3E}">
        <p14:creationId xmlns:p14="http://schemas.microsoft.com/office/powerpoint/2010/main" val="40442159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8807-BD6B-A3ED-9602-BE4FCBAB2C5A}"/>
              </a:ext>
            </a:extLst>
          </p:cNvPr>
          <p:cNvSpPr>
            <a:spLocks noGrp="1"/>
          </p:cNvSpPr>
          <p:nvPr>
            <p:ph type="title"/>
          </p:nvPr>
        </p:nvSpPr>
        <p:spPr>
          <a:xfrm>
            <a:off x="1625600" y="228600"/>
            <a:ext cx="10261600" cy="754702"/>
          </a:xfrm>
        </p:spPr>
        <p:txBody>
          <a:bodyPr/>
          <a:lstStyle/>
          <a:p>
            <a:r>
              <a:rPr lang="en-GB" b="1" dirty="0"/>
              <a:t>Forecast—</a:t>
            </a:r>
            <a:r>
              <a:rPr lang="en-US" b="1" dirty="0"/>
              <a:t>Energy inflation </a:t>
            </a:r>
            <a:r>
              <a:rPr lang="en-US" dirty="0"/>
              <a:t>(q-on-q annualized)</a:t>
            </a:r>
          </a:p>
        </p:txBody>
      </p:sp>
      <p:sp>
        <p:nvSpPr>
          <p:cNvPr id="3" name="Slide Number Placeholder 2">
            <a:extLst>
              <a:ext uri="{FF2B5EF4-FFF2-40B4-BE49-F238E27FC236}">
                <a16:creationId xmlns:a16="http://schemas.microsoft.com/office/drawing/2014/main" id="{6AFFE418-E4FE-37F1-555E-0751EC4B485A}"/>
              </a:ext>
            </a:extLst>
          </p:cNvPr>
          <p:cNvSpPr>
            <a:spLocks noGrp="1"/>
          </p:cNvSpPr>
          <p:nvPr>
            <p:ph type="sldNum" sz="quarter" idx="10"/>
          </p:nvPr>
        </p:nvSpPr>
        <p:spPr/>
        <p:txBody>
          <a:bodyPr/>
          <a:lstStyle/>
          <a:p>
            <a:fld id="{D97AE203-F84D-4A7F-B161-8561326BE072}" type="slidenum">
              <a:rPr lang="en-US" smtClean="0"/>
              <a:pPr/>
              <a:t>21</a:t>
            </a:fld>
            <a:endParaRPr lang="en-US" dirty="0"/>
          </a:p>
        </p:txBody>
      </p:sp>
      <p:sp>
        <p:nvSpPr>
          <p:cNvPr id="4" name="TextBox 3">
            <a:extLst>
              <a:ext uri="{FF2B5EF4-FFF2-40B4-BE49-F238E27FC236}">
                <a16:creationId xmlns:a16="http://schemas.microsoft.com/office/drawing/2014/main" id="{C8309FB4-CAA2-9888-339D-0BF98DAD9D8C}"/>
              </a:ext>
            </a:extLst>
          </p:cNvPr>
          <p:cNvSpPr txBox="1"/>
          <p:nvPr/>
        </p:nvSpPr>
        <p:spPr>
          <a:xfrm rot="10800000" flipV="1">
            <a:off x="152399" y="5462951"/>
            <a:ext cx="5943600" cy="1033873"/>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CPI energy down from peak in 2022 Q2; main drivers:</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imported energy prices projected to continue declining </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small offsetting effect of lessening RER overvaluation (faster depr.)</a:t>
            </a:r>
          </a:p>
        </p:txBody>
      </p:sp>
      <p:sp>
        <p:nvSpPr>
          <p:cNvPr id="5" name="TextBox 4">
            <a:extLst>
              <a:ext uri="{FF2B5EF4-FFF2-40B4-BE49-F238E27FC236}">
                <a16:creationId xmlns:a16="http://schemas.microsoft.com/office/drawing/2014/main" id="{F2705685-DBBA-E6CC-D544-60AF0A780343}"/>
              </a:ext>
            </a:extLst>
          </p:cNvPr>
          <p:cNvSpPr txBox="1"/>
          <p:nvPr/>
        </p:nvSpPr>
        <p:spPr>
          <a:xfrm>
            <a:off x="6172200" y="1066800"/>
            <a:ext cx="5943600" cy="1033873"/>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Direct effect foreign import prices and ER on energy CPI:</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foreign energy prices continue declining for most of 2023-26</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ER depreciation raises RWF prices, but net direct effect is small</a:t>
            </a:r>
          </a:p>
        </p:txBody>
      </p:sp>
      <p:pic>
        <p:nvPicPr>
          <p:cNvPr id="6" name="Picture 5">
            <a:extLst>
              <a:ext uri="{FF2B5EF4-FFF2-40B4-BE49-F238E27FC236}">
                <a16:creationId xmlns:a16="http://schemas.microsoft.com/office/drawing/2014/main" id="{7CB1E5A0-0812-B8C8-60D7-D7A675CC4637}"/>
              </a:ext>
            </a:extLst>
          </p:cNvPr>
          <p:cNvPicPr>
            <a:picLocks noChangeAspect="1"/>
          </p:cNvPicPr>
          <p:nvPr/>
        </p:nvPicPr>
        <p:blipFill>
          <a:blip r:embed="rId3"/>
          <a:stretch>
            <a:fillRect/>
          </a:stretch>
        </p:blipFill>
        <p:spPr>
          <a:xfrm>
            <a:off x="76200" y="1101251"/>
            <a:ext cx="5943601" cy="4243751"/>
          </a:xfrm>
          <a:prstGeom prst="rect">
            <a:avLst/>
          </a:prstGeom>
        </p:spPr>
      </p:pic>
      <p:pic>
        <p:nvPicPr>
          <p:cNvPr id="9" name="Picture 8">
            <a:extLst>
              <a:ext uri="{FF2B5EF4-FFF2-40B4-BE49-F238E27FC236}">
                <a16:creationId xmlns:a16="http://schemas.microsoft.com/office/drawing/2014/main" id="{70820990-83DC-B956-2C96-089655EE947C}"/>
              </a:ext>
            </a:extLst>
          </p:cNvPr>
          <p:cNvPicPr>
            <a:picLocks noChangeAspect="1"/>
          </p:cNvPicPr>
          <p:nvPr/>
        </p:nvPicPr>
        <p:blipFill>
          <a:blip r:embed="rId4"/>
          <a:stretch>
            <a:fillRect/>
          </a:stretch>
        </p:blipFill>
        <p:spPr>
          <a:xfrm>
            <a:off x="6248399" y="2209799"/>
            <a:ext cx="5867401" cy="4572001"/>
          </a:xfrm>
          <a:prstGeom prst="rect">
            <a:avLst/>
          </a:prstGeom>
        </p:spPr>
      </p:pic>
    </p:spTree>
    <p:extLst>
      <p:ext uri="{BB962C8B-B14F-4D97-AF65-F5344CB8AC3E}">
        <p14:creationId xmlns:p14="http://schemas.microsoft.com/office/powerpoint/2010/main" val="20953714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8807-BD6B-A3ED-9602-BE4FCBAB2C5A}"/>
              </a:ext>
            </a:extLst>
          </p:cNvPr>
          <p:cNvSpPr>
            <a:spLocks noGrp="1"/>
          </p:cNvSpPr>
          <p:nvPr>
            <p:ph type="title"/>
          </p:nvPr>
        </p:nvSpPr>
        <p:spPr>
          <a:xfrm>
            <a:off x="1706418" y="228600"/>
            <a:ext cx="10261600" cy="672015"/>
          </a:xfrm>
        </p:spPr>
        <p:txBody>
          <a:bodyPr/>
          <a:lstStyle/>
          <a:p>
            <a:r>
              <a:rPr lang="en-GB" b="1" dirty="0"/>
              <a:t>Forecast—</a:t>
            </a:r>
            <a:r>
              <a:rPr lang="en-US" b="1" dirty="0"/>
              <a:t>Policy interest rate </a:t>
            </a:r>
            <a:r>
              <a:rPr lang="en-US" dirty="0"/>
              <a:t>(interbank rate, IB)</a:t>
            </a:r>
          </a:p>
        </p:txBody>
      </p:sp>
      <p:sp>
        <p:nvSpPr>
          <p:cNvPr id="3" name="Slide Number Placeholder 2">
            <a:extLst>
              <a:ext uri="{FF2B5EF4-FFF2-40B4-BE49-F238E27FC236}">
                <a16:creationId xmlns:a16="http://schemas.microsoft.com/office/drawing/2014/main" id="{6AFFE418-E4FE-37F1-555E-0751EC4B485A}"/>
              </a:ext>
            </a:extLst>
          </p:cNvPr>
          <p:cNvSpPr>
            <a:spLocks noGrp="1"/>
          </p:cNvSpPr>
          <p:nvPr>
            <p:ph type="sldNum" sz="quarter" idx="10"/>
          </p:nvPr>
        </p:nvSpPr>
        <p:spPr/>
        <p:txBody>
          <a:bodyPr/>
          <a:lstStyle/>
          <a:p>
            <a:fld id="{D97AE203-F84D-4A7F-B161-8561326BE072}" type="slidenum">
              <a:rPr lang="en-US" smtClean="0"/>
              <a:pPr/>
              <a:t>22</a:t>
            </a:fld>
            <a:endParaRPr lang="en-US" dirty="0"/>
          </a:p>
        </p:txBody>
      </p:sp>
      <p:sp>
        <p:nvSpPr>
          <p:cNvPr id="4" name="TextBox 3">
            <a:extLst>
              <a:ext uri="{FF2B5EF4-FFF2-40B4-BE49-F238E27FC236}">
                <a16:creationId xmlns:a16="http://schemas.microsoft.com/office/drawing/2014/main" id="{C8309FB4-CAA2-9888-339D-0BF98DAD9D8C}"/>
              </a:ext>
            </a:extLst>
          </p:cNvPr>
          <p:cNvSpPr txBox="1"/>
          <p:nvPr/>
        </p:nvSpPr>
        <p:spPr>
          <a:xfrm rot="10800000" flipV="1">
            <a:off x="0" y="4631985"/>
            <a:ext cx="5715000" cy="1815882"/>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Policy rate (IB) influenced by NBR with its CBR:</a:t>
            </a:r>
          </a:p>
          <a:p>
            <a:pPr marL="285750" indent="-285750">
              <a:buFont typeface="Wingdings" panose="05000000000000000000" pitchFamily="2" charset="2"/>
              <a:buChar char="§"/>
            </a:pPr>
            <a:r>
              <a:rPr lang="en-US" sz="1600" dirty="0">
                <a:latin typeface="Gill Sans MT" panose="020B0502020104020203" pitchFamily="34" charset="0"/>
              </a:rPr>
              <a:t>IB followed closely the 2% points CBR increases in 2022,, enacted to combat inflation</a:t>
            </a:r>
          </a:p>
          <a:p>
            <a:pPr marL="285750" indent="-285750">
              <a:buFont typeface="Wingdings" panose="05000000000000000000" pitchFamily="2" charset="2"/>
              <a:buChar char="§"/>
            </a:pPr>
            <a:r>
              <a:rPr lang="en-US" sz="1600" dirty="0">
                <a:latin typeface="Gill Sans MT" panose="020B0502020104020203" pitchFamily="34" charset="0"/>
              </a:rPr>
              <a:t>IB forecast to go down after peak in Q1 2023 given falling inflation and still high and rising output gap</a:t>
            </a:r>
          </a:p>
          <a:p>
            <a:pPr marL="285750" indent="-285750">
              <a:buFont typeface="Wingdings" panose="05000000000000000000" pitchFamily="2" charset="2"/>
              <a:buChar char="§"/>
            </a:pPr>
            <a:r>
              <a:rPr lang="en-US" sz="1600" dirty="0">
                <a:latin typeface="Gill Sans MT" panose="020B0502020104020203" pitchFamily="34" charset="0"/>
              </a:rPr>
              <a:t>from 2024, back to trend driven by a ‘neutral’ rate of </a:t>
            </a:r>
            <a:r>
              <a:rPr lang="en-US" sz="1600" u="sng" dirty="0">
                <a:latin typeface="Gill Sans MT" panose="020B0502020104020203" pitchFamily="34" charset="0"/>
              </a:rPr>
              <a:t>almost </a:t>
            </a:r>
            <a:r>
              <a:rPr lang="en-US" sz="1600" dirty="0">
                <a:latin typeface="Gill Sans MT" panose="020B0502020104020203" pitchFamily="34" charset="0"/>
              </a:rPr>
              <a:t>7%</a:t>
            </a:r>
          </a:p>
          <a:p>
            <a:pPr marL="285750" indent="-285750">
              <a:buFont typeface="Wingdings" panose="05000000000000000000" pitchFamily="2" charset="2"/>
              <a:buChar char="§"/>
            </a:pPr>
            <a:r>
              <a:rPr lang="en-US" sz="1600" dirty="0">
                <a:latin typeface="Gill Sans MT" panose="020B0502020104020203" pitchFamily="34" charset="0"/>
              </a:rPr>
              <a:t>increased policy rate should raise RIR and stem demand</a:t>
            </a:r>
          </a:p>
        </p:txBody>
      </p:sp>
      <p:sp>
        <p:nvSpPr>
          <p:cNvPr id="5" name="TextBox 4">
            <a:extLst>
              <a:ext uri="{FF2B5EF4-FFF2-40B4-BE49-F238E27FC236}">
                <a16:creationId xmlns:a16="http://schemas.microsoft.com/office/drawing/2014/main" id="{F2705685-DBBA-E6CC-D544-60AF0A780343}"/>
              </a:ext>
            </a:extLst>
          </p:cNvPr>
          <p:cNvSpPr txBox="1"/>
          <p:nvPr/>
        </p:nvSpPr>
        <p:spPr>
          <a:xfrm>
            <a:off x="5410200" y="1234550"/>
            <a:ext cx="6705601" cy="1403205"/>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Policy rate (IB) driven by  rule:</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responding to both inflation deviation (from 5% target) and the output gap</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gradual interest rate changes (lagged effect)</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pulled to ‘neutral’ rate of 7% (foreign real rate, country risk, core inflation)</a:t>
            </a:r>
          </a:p>
        </p:txBody>
      </p:sp>
      <p:pic>
        <p:nvPicPr>
          <p:cNvPr id="7" name="Picture 6">
            <a:extLst>
              <a:ext uri="{FF2B5EF4-FFF2-40B4-BE49-F238E27FC236}">
                <a16:creationId xmlns:a16="http://schemas.microsoft.com/office/drawing/2014/main" id="{C386877D-653C-2ABB-FED3-710BDF6C3E76}"/>
              </a:ext>
            </a:extLst>
          </p:cNvPr>
          <p:cNvPicPr>
            <a:picLocks noChangeAspect="1"/>
          </p:cNvPicPr>
          <p:nvPr/>
        </p:nvPicPr>
        <p:blipFill>
          <a:blip r:embed="rId3"/>
          <a:stretch>
            <a:fillRect/>
          </a:stretch>
        </p:blipFill>
        <p:spPr>
          <a:xfrm>
            <a:off x="5658174" y="2743200"/>
            <a:ext cx="6477000" cy="4038601"/>
          </a:xfrm>
          <a:prstGeom prst="rect">
            <a:avLst/>
          </a:prstGeom>
        </p:spPr>
      </p:pic>
      <p:pic>
        <p:nvPicPr>
          <p:cNvPr id="8" name="Picture 7">
            <a:extLst>
              <a:ext uri="{FF2B5EF4-FFF2-40B4-BE49-F238E27FC236}">
                <a16:creationId xmlns:a16="http://schemas.microsoft.com/office/drawing/2014/main" id="{17ACDDEE-DF60-E8F1-519D-BE3EC7045765}"/>
              </a:ext>
            </a:extLst>
          </p:cNvPr>
          <p:cNvPicPr>
            <a:picLocks noChangeAspect="1"/>
          </p:cNvPicPr>
          <p:nvPr/>
        </p:nvPicPr>
        <p:blipFill>
          <a:blip r:embed="rId4"/>
          <a:stretch>
            <a:fillRect/>
          </a:stretch>
        </p:blipFill>
        <p:spPr>
          <a:xfrm>
            <a:off x="495300" y="1143001"/>
            <a:ext cx="4457700" cy="3429000"/>
          </a:xfrm>
          <a:prstGeom prst="rect">
            <a:avLst/>
          </a:prstGeom>
        </p:spPr>
      </p:pic>
    </p:spTree>
    <p:extLst>
      <p:ext uri="{BB962C8B-B14F-4D97-AF65-F5344CB8AC3E}">
        <p14:creationId xmlns:p14="http://schemas.microsoft.com/office/powerpoint/2010/main" val="38109156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8807-BD6B-A3ED-9602-BE4FCBAB2C5A}"/>
              </a:ext>
            </a:extLst>
          </p:cNvPr>
          <p:cNvSpPr>
            <a:spLocks noGrp="1"/>
          </p:cNvSpPr>
          <p:nvPr>
            <p:ph type="title"/>
          </p:nvPr>
        </p:nvSpPr>
        <p:spPr>
          <a:xfrm>
            <a:off x="1625600" y="228600"/>
            <a:ext cx="10261600" cy="685800"/>
          </a:xfrm>
        </p:spPr>
        <p:txBody>
          <a:bodyPr/>
          <a:lstStyle/>
          <a:p>
            <a:r>
              <a:rPr lang="en-GB" b="1" dirty="0"/>
              <a:t>Forecast—</a:t>
            </a:r>
            <a:r>
              <a:rPr lang="en-US" b="1" dirty="0"/>
              <a:t>Real interest rate </a:t>
            </a:r>
            <a:r>
              <a:rPr lang="en-US" dirty="0"/>
              <a:t>(RIR) (policy and lending rates)</a:t>
            </a:r>
          </a:p>
        </p:txBody>
      </p:sp>
      <p:sp>
        <p:nvSpPr>
          <p:cNvPr id="3" name="Slide Number Placeholder 2">
            <a:extLst>
              <a:ext uri="{FF2B5EF4-FFF2-40B4-BE49-F238E27FC236}">
                <a16:creationId xmlns:a16="http://schemas.microsoft.com/office/drawing/2014/main" id="{6AFFE418-E4FE-37F1-555E-0751EC4B485A}"/>
              </a:ext>
            </a:extLst>
          </p:cNvPr>
          <p:cNvSpPr>
            <a:spLocks noGrp="1"/>
          </p:cNvSpPr>
          <p:nvPr>
            <p:ph type="sldNum" sz="quarter" idx="10"/>
          </p:nvPr>
        </p:nvSpPr>
        <p:spPr/>
        <p:txBody>
          <a:bodyPr/>
          <a:lstStyle/>
          <a:p>
            <a:fld id="{D97AE203-F84D-4A7F-B161-8561326BE072}" type="slidenum">
              <a:rPr lang="en-US" smtClean="0"/>
              <a:pPr/>
              <a:t>23</a:t>
            </a:fld>
            <a:endParaRPr lang="en-US" dirty="0"/>
          </a:p>
        </p:txBody>
      </p:sp>
      <p:sp>
        <p:nvSpPr>
          <p:cNvPr id="4" name="TextBox 3">
            <a:extLst>
              <a:ext uri="{FF2B5EF4-FFF2-40B4-BE49-F238E27FC236}">
                <a16:creationId xmlns:a16="http://schemas.microsoft.com/office/drawing/2014/main" id="{C8309FB4-CAA2-9888-339D-0BF98DAD9D8C}"/>
              </a:ext>
            </a:extLst>
          </p:cNvPr>
          <p:cNvSpPr txBox="1"/>
          <p:nvPr/>
        </p:nvSpPr>
        <p:spPr>
          <a:xfrm rot="10800000" flipV="1">
            <a:off x="152396" y="4614287"/>
            <a:ext cx="5791203" cy="2062103"/>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RIR policy rate (IB) (~ core-inflation one Q ahead)</a:t>
            </a:r>
          </a:p>
          <a:p>
            <a:pPr marL="285750" indent="-285750">
              <a:buFont typeface="Wingdings" panose="05000000000000000000" pitchFamily="2" charset="2"/>
              <a:buChar char="§"/>
            </a:pPr>
            <a:r>
              <a:rPr lang="en-US" sz="1600" dirty="0">
                <a:latin typeface="Gill Sans MT" panose="020B0502020104020203" pitchFamily="34" charset="0"/>
              </a:rPr>
              <a:t>forecast to continue rising and become positive from mid-2023</a:t>
            </a:r>
          </a:p>
          <a:p>
            <a:pPr marL="285750" indent="-285750">
              <a:buFont typeface="Wingdings" panose="05000000000000000000" pitchFamily="2" charset="2"/>
              <a:buChar char="§"/>
            </a:pPr>
            <a:r>
              <a:rPr lang="en-US" sz="1600" dirty="0">
                <a:latin typeface="Gill Sans MT" panose="020B0502020104020203" pitchFamily="34" charset="0"/>
              </a:rPr>
              <a:t>thus, correcting sharply below-trend levels since late 2021</a:t>
            </a:r>
          </a:p>
          <a:p>
            <a:pPr marL="285750" indent="-285750">
              <a:buFont typeface="Wingdings" panose="05000000000000000000" pitchFamily="2" charset="2"/>
              <a:buChar char="§"/>
            </a:pPr>
            <a:r>
              <a:rPr lang="en-US" sz="1600" dirty="0">
                <a:latin typeface="Gill Sans MT" panose="020B0502020104020203" pitchFamily="34" charset="0"/>
              </a:rPr>
              <a:t>after 2024, drops to zero as inflation a bit above target (as deficit and govt demand go back up to steady state levels)</a:t>
            </a:r>
          </a:p>
          <a:p>
            <a:pPr marL="285750" indent="-285750">
              <a:buFont typeface="Wingdings" panose="05000000000000000000" pitchFamily="2" charset="2"/>
              <a:buChar char="§"/>
            </a:pPr>
            <a:r>
              <a:rPr lang="en-US" sz="1600" dirty="0">
                <a:latin typeface="Gill Sans MT" panose="020B0502020104020203" pitchFamily="34" charset="0"/>
              </a:rPr>
              <a:t>then returning toward trend and ‘neutral’ rate of some 2%</a:t>
            </a:r>
          </a:p>
          <a:p>
            <a:pPr marL="285750" indent="-285750">
              <a:buFont typeface="Wingdings" panose="05000000000000000000" pitchFamily="2" charset="2"/>
              <a:buChar char="§"/>
            </a:pPr>
            <a:r>
              <a:rPr lang="en-US" sz="1600" dirty="0">
                <a:latin typeface="Gill Sans MT" panose="020B0502020104020203" pitchFamily="34" charset="0"/>
              </a:rPr>
              <a:t>real lending rate (including </a:t>
            </a:r>
            <a:r>
              <a:rPr lang="en-US" sz="1600" u="sng" dirty="0">
                <a:latin typeface="Gill Sans MT" panose="020B0502020104020203" pitchFamily="34" charset="0"/>
              </a:rPr>
              <a:t>~ </a:t>
            </a:r>
            <a:r>
              <a:rPr lang="en-US" sz="1600" dirty="0">
                <a:latin typeface="Gill Sans MT" panose="020B0502020104020203" pitchFamily="34" charset="0"/>
              </a:rPr>
              <a:t>8% premium) also back to trend. ending the pull-up effect on private demand</a:t>
            </a:r>
          </a:p>
        </p:txBody>
      </p:sp>
      <p:sp>
        <p:nvSpPr>
          <p:cNvPr id="5" name="TextBox 4">
            <a:extLst>
              <a:ext uri="{FF2B5EF4-FFF2-40B4-BE49-F238E27FC236}">
                <a16:creationId xmlns:a16="http://schemas.microsoft.com/office/drawing/2014/main" id="{F2705685-DBBA-E6CC-D544-60AF0A780343}"/>
              </a:ext>
            </a:extLst>
          </p:cNvPr>
          <p:cNvSpPr txBox="1"/>
          <p:nvPr/>
        </p:nvSpPr>
        <p:spPr>
          <a:xfrm>
            <a:off x="5867400" y="1109086"/>
            <a:ext cx="6324600" cy="1323439"/>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RIR policy rate (IB) components:</a:t>
            </a:r>
          </a:p>
          <a:p>
            <a:pPr marL="285750" indent="-285750">
              <a:buFont typeface="Wingdings" panose="05000000000000000000" pitchFamily="2" charset="2"/>
              <a:buChar char="§"/>
            </a:pPr>
            <a:r>
              <a:rPr lang="en-US" sz="1600" dirty="0">
                <a:latin typeface="Gill Sans MT" panose="020B0502020104020203" pitchFamily="34" charset="0"/>
              </a:rPr>
              <a:t>after sharp drop due to inflation surge in 2022, RIR starts rising from mid-2022 as policy rate increases and (expected) inflation declines</a:t>
            </a:r>
          </a:p>
          <a:p>
            <a:pPr marL="285750" indent="-285750">
              <a:buFont typeface="Wingdings" panose="05000000000000000000" pitchFamily="2" charset="2"/>
              <a:buChar char="§"/>
            </a:pPr>
            <a:r>
              <a:rPr lang="en-US" sz="1600" dirty="0">
                <a:latin typeface="Gill Sans MT" panose="020B0502020104020203" pitchFamily="34" charset="0"/>
              </a:rPr>
              <a:t>overshoots RIR trend (2%) a bit in 2023 as inflation drops fast, then undershoots RIR trend a bit as inflation temporarily above target</a:t>
            </a:r>
          </a:p>
        </p:txBody>
      </p:sp>
      <p:pic>
        <p:nvPicPr>
          <p:cNvPr id="6" name="Picture 5">
            <a:extLst>
              <a:ext uri="{FF2B5EF4-FFF2-40B4-BE49-F238E27FC236}">
                <a16:creationId xmlns:a16="http://schemas.microsoft.com/office/drawing/2014/main" id="{0AEDAF04-C0EE-6F27-17A3-B29958E0B9CC}"/>
              </a:ext>
            </a:extLst>
          </p:cNvPr>
          <p:cNvPicPr>
            <a:picLocks noChangeAspect="1"/>
          </p:cNvPicPr>
          <p:nvPr/>
        </p:nvPicPr>
        <p:blipFill>
          <a:blip r:embed="rId3"/>
          <a:stretch>
            <a:fillRect/>
          </a:stretch>
        </p:blipFill>
        <p:spPr>
          <a:xfrm>
            <a:off x="160697" y="1234551"/>
            <a:ext cx="5410200" cy="3185050"/>
          </a:xfrm>
          <a:prstGeom prst="rect">
            <a:avLst/>
          </a:prstGeom>
        </p:spPr>
      </p:pic>
      <p:pic>
        <p:nvPicPr>
          <p:cNvPr id="8" name="Picture 7">
            <a:extLst>
              <a:ext uri="{FF2B5EF4-FFF2-40B4-BE49-F238E27FC236}">
                <a16:creationId xmlns:a16="http://schemas.microsoft.com/office/drawing/2014/main" id="{3CECEA59-7406-29B2-8008-140166F67CDA}"/>
              </a:ext>
            </a:extLst>
          </p:cNvPr>
          <p:cNvPicPr>
            <a:picLocks noChangeAspect="1"/>
          </p:cNvPicPr>
          <p:nvPr/>
        </p:nvPicPr>
        <p:blipFill>
          <a:blip r:embed="rId4"/>
          <a:stretch>
            <a:fillRect/>
          </a:stretch>
        </p:blipFill>
        <p:spPr>
          <a:xfrm>
            <a:off x="6324600" y="2514599"/>
            <a:ext cx="5867400" cy="4343401"/>
          </a:xfrm>
          <a:prstGeom prst="rect">
            <a:avLst/>
          </a:prstGeom>
        </p:spPr>
      </p:pic>
    </p:spTree>
    <p:extLst>
      <p:ext uri="{BB962C8B-B14F-4D97-AF65-F5344CB8AC3E}">
        <p14:creationId xmlns:p14="http://schemas.microsoft.com/office/powerpoint/2010/main" val="25291529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8807-BD6B-A3ED-9602-BE4FCBAB2C5A}"/>
              </a:ext>
            </a:extLst>
          </p:cNvPr>
          <p:cNvSpPr>
            <a:spLocks noGrp="1"/>
          </p:cNvSpPr>
          <p:nvPr>
            <p:ph type="title"/>
          </p:nvPr>
        </p:nvSpPr>
        <p:spPr>
          <a:xfrm>
            <a:off x="1530927" y="228600"/>
            <a:ext cx="10457873" cy="762000"/>
          </a:xfrm>
        </p:spPr>
        <p:txBody>
          <a:bodyPr/>
          <a:lstStyle/>
          <a:p>
            <a:r>
              <a:rPr lang="en-GB" b="1" dirty="0"/>
              <a:t>Forecast—</a:t>
            </a:r>
            <a:r>
              <a:rPr lang="en-US" b="1" dirty="0"/>
              <a:t>Nominal exchange rate </a:t>
            </a:r>
            <a:r>
              <a:rPr lang="en-US" dirty="0"/>
              <a:t>(ER)</a:t>
            </a:r>
          </a:p>
        </p:txBody>
      </p:sp>
      <p:sp>
        <p:nvSpPr>
          <p:cNvPr id="3" name="Slide Number Placeholder 2">
            <a:extLst>
              <a:ext uri="{FF2B5EF4-FFF2-40B4-BE49-F238E27FC236}">
                <a16:creationId xmlns:a16="http://schemas.microsoft.com/office/drawing/2014/main" id="{6AFFE418-E4FE-37F1-555E-0751EC4B485A}"/>
              </a:ext>
            </a:extLst>
          </p:cNvPr>
          <p:cNvSpPr>
            <a:spLocks noGrp="1"/>
          </p:cNvSpPr>
          <p:nvPr>
            <p:ph type="sldNum" sz="quarter" idx="10"/>
          </p:nvPr>
        </p:nvSpPr>
        <p:spPr/>
        <p:txBody>
          <a:bodyPr/>
          <a:lstStyle/>
          <a:p>
            <a:fld id="{D97AE203-F84D-4A7F-B161-8561326BE072}" type="slidenum">
              <a:rPr lang="en-US" smtClean="0"/>
              <a:pPr/>
              <a:t>24</a:t>
            </a:fld>
            <a:endParaRPr lang="en-US" dirty="0"/>
          </a:p>
        </p:txBody>
      </p:sp>
      <p:sp>
        <p:nvSpPr>
          <p:cNvPr id="4" name="TextBox 3">
            <a:extLst>
              <a:ext uri="{FF2B5EF4-FFF2-40B4-BE49-F238E27FC236}">
                <a16:creationId xmlns:a16="http://schemas.microsoft.com/office/drawing/2014/main" id="{C8309FB4-CAA2-9888-339D-0BF98DAD9D8C}"/>
              </a:ext>
            </a:extLst>
          </p:cNvPr>
          <p:cNvSpPr txBox="1"/>
          <p:nvPr/>
        </p:nvSpPr>
        <p:spPr>
          <a:xfrm rot="10800000" flipV="1">
            <a:off x="15498" y="4642786"/>
            <a:ext cx="5089902" cy="1815882"/>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ER policy reflected in forecast:</a:t>
            </a:r>
          </a:p>
          <a:p>
            <a:pPr marL="285750" indent="-285750">
              <a:buFont typeface="Arial" panose="020B0604020202020204" pitchFamily="34" charset="0"/>
              <a:buChar char="•"/>
            </a:pPr>
            <a:r>
              <a:rPr lang="en-US" sz="1600" dirty="0">
                <a:latin typeface="Gill Sans MT" panose="020B0502020104020203" pitchFamily="34" charset="0"/>
              </a:rPr>
              <a:t>reflects NBR’s flexible ER policy, and hybrid rule:</a:t>
            </a:r>
          </a:p>
          <a:p>
            <a:pPr marL="285750" indent="-285750">
              <a:buFont typeface="Arial" panose="020B0604020202020204" pitchFamily="34" charset="0"/>
              <a:buChar char="•"/>
            </a:pPr>
            <a:r>
              <a:rPr lang="en-US" sz="1600" dirty="0">
                <a:latin typeface="Gill Sans MT" panose="020B0502020104020203" pitchFamily="34" charset="0"/>
              </a:rPr>
              <a:t>ER steered toward target ER so that RER gradually falls in line with its target or trend depreciation rate</a:t>
            </a:r>
          </a:p>
          <a:p>
            <a:pPr marL="285750" indent="-285750">
              <a:buFont typeface="Arial" panose="020B0604020202020204" pitchFamily="34" charset="0"/>
              <a:buChar char="•"/>
            </a:pPr>
            <a:r>
              <a:rPr lang="en-US" sz="1600" dirty="0">
                <a:latin typeface="Gill Sans MT" panose="020B0502020104020203" pitchFamily="34" charset="0"/>
              </a:rPr>
              <a:t>some response to domestic-foreign interest differentials</a:t>
            </a:r>
          </a:p>
          <a:p>
            <a:pPr marL="285750" indent="-285750">
              <a:buFont typeface="Arial" panose="020B0604020202020204" pitchFamily="34" charset="0"/>
              <a:buChar char="•"/>
            </a:pPr>
            <a:r>
              <a:rPr lang="en-US" sz="1600" dirty="0">
                <a:latin typeface="Gill Sans MT" panose="020B0502020104020203" pitchFamily="34" charset="0"/>
              </a:rPr>
              <a:t>in 2023, before ER steered back to target</a:t>
            </a:r>
          </a:p>
          <a:p>
            <a:pPr marL="285750" indent="-285750">
              <a:buFont typeface="Arial" panose="020B0604020202020204" pitchFamily="34" charset="0"/>
              <a:buChar char="•"/>
            </a:pPr>
            <a:r>
              <a:rPr lang="en-US" sz="1600" dirty="0">
                <a:latin typeface="Gill Sans MT" panose="020B0502020104020203" pitchFamily="34" charset="0"/>
              </a:rPr>
              <a:t>trend depreciation rate converges to </a:t>
            </a:r>
            <a:r>
              <a:rPr lang="en-US" sz="1600" u="sng" dirty="0">
                <a:latin typeface="Gill Sans MT" panose="020B0502020104020203" pitchFamily="34" charset="0"/>
              </a:rPr>
              <a:t>3</a:t>
            </a:r>
            <a:r>
              <a:rPr lang="en-US" sz="1600" dirty="0">
                <a:latin typeface="Gill Sans MT" panose="020B0502020104020203" pitchFamily="34" charset="0"/>
              </a:rPr>
              <a:t>% p.y.</a:t>
            </a:r>
          </a:p>
        </p:txBody>
      </p:sp>
      <p:sp>
        <p:nvSpPr>
          <p:cNvPr id="5" name="TextBox 4">
            <a:extLst>
              <a:ext uri="{FF2B5EF4-FFF2-40B4-BE49-F238E27FC236}">
                <a16:creationId xmlns:a16="http://schemas.microsoft.com/office/drawing/2014/main" id="{F2705685-DBBA-E6CC-D544-60AF0A780343}"/>
              </a:ext>
            </a:extLst>
          </p:cNvPr>
          <p:cNvSpPr txBox="1"/>
          <p:nvPr/>
        </p:nvSpPr>
        <p:spPr>
          <a:xfrm>
            <a:off x="5486400" y="1234550"/>
            <a:ext cx="6705600" cy="1077218"/>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Exchange rate policy “rule” </a:t>
            </a:r>
            <a:endParaRPr lang="en-GB" sz="1600" dirty="0">
              <a:solidFill>
                <a:srgbClr val="FF0000"/>
              </a:solidFill>
              <a:latin typeface="Gill Sans MT" panose="020B0502020104020203" pitchFamily="34" charset="0"/>
              <a:ea typeface="Calibri" panose="020F0502020204030204" pitchFamily="34" charset="0"/>
            </a:endParaRPr>
          </a:p>
          <a:p>
            <a:pPr marL="285750" indent="-285750">
              <a:buFont typeface="Wingdings" panose="05000000000000000000" pitchFamily="2" charset="2"/>
              <a:buChar char="§"/>
            </a:pPr>
            <a:r>
              <a:rPr lang="en-US" sz="1600" dirty="0">
                <a:latin typeface="Gill Sans MT" panose="020B0502020104020203" pitchFamily="34" charset="0"/>
              </a:rPr>
              <a:t>mainly driven by nominal ER target, expectations, and somewhat by domestic-foreign interest rate differentials. </a:t>
            </a:r>
          </a:p>
          <a:p>
            <a:pPr marL="285750" indent="-285750">
              <a:buFont typeface="Wingdings" panose="05000000000000000000" pitchFamily="2" charset="2"/>
              <a:buChar char="§"/>
            </a:pPr>
            <a:r>
              <a:rPr lang="en-US" sz="1600" dirty="0">
                <a:latin typeface="Gill Sans MT" panose="020B0502020104020203" pitchFamily="34" charset="0"/>
              </a:rPr>
              <a:t>ER target driven by trend RER depr. rate (0%) and inflation differential (2%)</a:t>
            </a:r>
          </a:p>
        </p:txBody>
      </p:sp>
      <p:pic>
        <p:nvPicPr>
          <p:cNvPr id="7" name="Picture 6">
            <a:extLst>
              <a:ext uri="{FF2B5EF4-FFF2-40B4-BE49-F238E27FC236}">
                <a16:creationId xmlns:a16="http://schemas.microsoft.com/office/drawing/2014/main" id="{BA56A8E1-5DF8-32EC-5444-F4E233721E84}"/>
              </a:ext>
            </a:extLst>
          </p:cNvPr>
          <p:cNvPicPr>
            <a:picLocks noChangeAspect="1"/>
          </p:cNvPicPr>
          <p:nvPr/>
        </p:nvPicPr>
        <p:blipFill>
          <a:blip r:embed="rId2"/>
          <a:stretch>
            <a:fillRect/>
          </a:stretch>
        </p:blipFill>
        <p:spPr>
          <a:xfrm>
            <a:off x="160149" y="1234551"/>
            <a:ext cx="4800598" cy="3032650"/>
          </a:xfrm>
          <a:prstGeom prst="rect">
            <a:avLst/>
          </a:prstGeom>
        </p:spPr>
      </p:pic>
      <p:pic>
        <p:nvPicPr>
          <p:cNvPr id="12" name="Picture 11">
            <a:extLst>
              <a:ext uri="{FF2B5EF4-FFF2-40B4-BE49-F238E27FC236}">
                <a16:creationId xmlns:a16="http://schemas.microsoft.com/office/drawing/2014/main" id="{AD219298-36DB-6A98-5359-F42D4F03AEEA}"/>
              </a:ext>
            </a:extLst>
          </p:cNvPr>
          <p:cNvPicPr>
            <a:picLocks noChangeAspect="1"/>
          </p:cNvPicPr>
          <p:nvPr/>
        </p:nvPicPr>
        <p:blipFill>
          <a:blip r:embed="rId3"/>
          <a:stretch>
            <a:fillRect/>
          </a:stretch>
        </p:blipFill>
        <p:spPr>
          <a:xfrm>
            <a:off x="5334000" y="2425325"/>
            <a:ext cx="6431282" cy="4023793"/>
          </a:xfrm>
          <a:prstGeom prst="rect">
            <a:avLst/>
          </a:prstGeom>
        </p:spPr>
      </p:pic>
    </p:spTree>
    <p:extLst>
      <p:ext uri="{BB962C8B-B14F-4D97-AF65-F5344CB8AC3E}">
        <p14:creationId xmlns:p14="http://schemas.microsoft.com/office/powerpoint/2010/main" val="11873657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8807-BD6B-A3ED-9602-BE4FCBAB2C5A}"/>
              </a:ext>
            </a:extLst>
          </p:cNvPr>
          <p:cNvSpPr>
            <a:spLocks noGrp="1"/>
          </p:cNvSpPr>
          <p:nvPr>
            <p:ph type="title"/>
          </p:nvPr>
        </p:nvSpPr>
        <p:spPr>
          <a:xfrm>
            <a:off x="1530927" y="228600"/>
            <a:ext cx="10457873" cy="762000"/>
          </a:xfrm>
        </p:spPr>
        <p:txBody>
          <a:bodyPr/>
          <a:lstStyle/>
          <a:p>
            <a:r>
              <a:rPr lang="en-GB" b="1" dirty="0"/>
              <a:t>Forecast—</a:t>
            </a:r>
            <a:r>
              <a:rPr lang="en-US" b="1" dirty="0"/>
              <a:t>Real exchange rate </a:t>
            </a:r>
            <a:r>
              <a:rPr lang="en-US" dirty="0"/>
              <a:t>(RER, q-on-q change annualized)</a:t>
            </a:r>
          </a:p>
        </p:txBody>
      </p:sp>
      <p:sp>
        <p:nvSpPr>
          <p:cNvPr id="3" name="Slide Number Placeholder 2">
            <a:extLst>
              <a:ext uri="{FF2B5EF4-FFF2-40B4-BE49-F238E27FC236}">
                <a16:creationId xmlns:a16="http://schemas.microsoft.com/office/drawing/2014/main" id="{6AFFE418-E4FE-37F1-555E-0751EC4B485A}"/>
              </a:ext>
            </a:extLst>
          </p:cNvPr>
          <p:cNvSpPr>
            <a:spLocks noGrp="1"/>
          </p:cNvSpPr>
          <p:nvPr>
            <p:ph type="sldNum" sz="quarter" idx="10"/>
          </p:nvPr>
        </p:nvSpPr>
        <p:spPr/>
        <p:txBody>
          <a:bodyPr/>
          <a:lstStyle/>
          <a:p>
            <a:fld id="{D97AE203-F84D-4A7F-B161-8561326BE072}" type="slidenum">
              <a:rPr lang="en-US" smtClean="0"/>
              <a:pPr/>
              <a:t>25</a:t>
            </a:fld>
            <a:endParaRPr lang="en-US" dirty="0"/>
          </a:p>
        </p:txBody>
      </p:sp>
      <p:sp>
        <p:nvSpPr>
          <p:cNvPr id="4" name="TextBox 3">
            <a:extLst>
              <a:ext uri="{FF2B5EF4-FFF2-40B4-BE49-F238E27FC236}">
                <a16:creationId xmlns:a16="http://schemas.microsoft.com/office/drawing/2014/main" id="{C8309FB4-CAA2-9888-339D-0BF98DAD9D8C}"/>
              </a:ext>
            </a:extLst>
          </p:cNvPr>
          <p:cNvSpPr txBox="1"/>
          <p:nvPr/>
        </p:nvSpPr>
        <p:spPr>
          <a:xfrm rot="10800000" flipV="1">
            <a:off x="-76200" y="4687379"/>
            <a:ext cx="5892798" cy="1895647"/>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RER results from ER, CPI_core and foreign CPI</a:t>
            </a:r>
          </a:p>
          <a:p>
            <a:pPr marL="285750" indent="-285750">
              <a:buFont typeface="Wingdings" panose="05000000000000000000" pitchFamily="2" charset="2"/>
              <a:buChar char="§"/>
            </a:pPr>
            <a:r>
              <a:rPr lang="en-US" sz="1600" dirty="0">
                <a:latin typeface="Gill Sans MT" panose="020B0502020104020203" pitchFamily="34" charset="0"/>
              </a:rPr>
              <a:t>forecast to switch from real appreciation in 2022 and early 2023 to real depreciation from mid-2023</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returning toward trend RER depreciation rate (0%) thereafter</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pull-down effect on demand (from RER appreciation in most of 2022) becomes pull-up from 2023 on as RER returns to trend</a:t>
            </a:r>
          </a:p>
        </p:txBody>
      </p:sp>
      <p:sp>
        <p:nvSpPr>
          <p:cNvPr id="5" name="TextBox 4">
            <a:extLst>
              <a:ext uri="{FF2B5EF4-FFF2-40B4-BE49-F238E27FC236}">
                <a16:creationId xmlns:a16="http://schemas.microsoft.com/office/drawing/2014/main" id="{F2705685-DBBA-E6CC-D544-60AF0A780343}"/>
              </a:ext>
            </a:extLst>
          </p:cNvPr>
          <p:cNvSpPr txBox="1"/>
          <p:nvPr/>
        </p:nvSpPr>
        <p:spPr>
          <a:xfrm>
            <a:off x="5791200" y="1108299"/>
            <a:ext cx="6400800" cy="1323439"/>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RER components</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after sharp decline in RER since Q3 2021 as core inflation surged, </a:t>
            </a:r>
          </a:p>
          <a:p>
            <a:pPr marL="285750" indent="-285750">
              <a:lnSpc>
                <a:spcPct val="150000"/>
              </a:lnSpc>
              <a:buFont typeface="Wingdings" panose="05000000000000000000" pitchFamily="2" charset="2"/>
              <a:buChar char="§"/>
            </a:pPr>
            <a:r>
              <a:rPr lang="en-US" sz="1600" dirty="0">
                <a:latin typeface="Gill Sans MT" panose="020B0502020104020203" pitchFamily="34" charset="0"/>
              </a:rPr>
              <a:t>RER is forecast to increase from Q2 2023 on for several quarters </a:t>
            </a:r>
          </a:p>
          <a:p>
            <a:pPr marL="285750" indent="-285750">
              <a:buFont typeface="Wingdings" panose="05000000000000000000" pitchFamily="2" charset="2"/>
              <a:buChar char="§"/>
            </a:pPr>
            <a:r>
              <a:rPr lang="en-US" sz="1600" dirty="0">
                <a:latin typeface="Gill Sans MT" panose="020B0502020104020203" pitchFamily="34" charset="0"/>
              </a:rPr>
              <a:t>before returning to its trend (0%), with some temporary undershooting</a:t>
            </a:r>
          </a:p>
        </p:txBody>
      </p:sp>
      <p:pic>
        <p:nvPicPr>
          <p:cNvPr id="6" name="Picture 5">
            <a:extLst>
              <a:ext uri="{FF2B5EF4-FFF2-40B4-BE49-F238E27FC236}">
                <a16:creationId xmlns:a16="http://schemas.microsoft.com/office/drawing/2014/main" id="{3583D265-9501-AA28-6E62-9D04CEC83870}"/>
              </a:ext>
            </a:extLst>
          </p:cNvPr>
          <p:cNvPicPr>
            <a:picLocks noChangeAspect="1"/>
          </p:cNvPicPr>
          <p:nvPr/>
        </p:nvPicPr>
        <p:blipFill>
          <a:blip r:embed="rId3"/>
          <a:stretch>
            <a:fillRect/>
          </a:stretch>
        </p:blipFill>
        <p:spPr>
          <a:xfrm>
            <a:off x="304797" y="1219200"/>
            <a:ext cx="4724403" cy="3423588"/>
          </a:xfrm>
          <a:prstGeom prst="rect">
            <a:avLst/>
          </a:prstGeom>
        </p:spPr>
      </p:pic>
      <p:pic>
        <p:nvPicPr>
          <p:cNvPr id="8" name="Picture 7">
            <a:extLst>
              <a:ext uri="{FF2B5EF4-FFF2-40B4-BE49-F238E27FC236}">
                <a16:creationId xmlns:a16="http://schemas.microsoft.com/office/drawing/2014/main" id="{9C8C0236-EC49-5EA7-37FA-0053643CE8B1}"/>
              </a:ext>
            </a:extLst>
          </p:cNvPr>
          <p:cNvPicPr>
            <a:picLocks noChangeAspect="1"/>
          </p:cNvPicPr>
          <p:nvPr/>
        </p:nvPicPr>
        <p:blipFill>
          <a:blip r:embed="rId4"/>
          <a:stretch>
            <a:fillRect/>
          </a:stretch>
        </p:blipFill>
        <p:spPr>
          <a:xfrm>
            <a:off x="5943599" y="2590800"/>
            <a:ext cx="6172201" cy="4300004"/>
          </a:xfrm>
          <a:prstGeom prst="rect">
            <a:avLst/>
          </a:prstGeom>
        </p:spPr>
      </p:pic>
    </p:spTree>
    <p:extLst>
      <p:ext uri="{BB962C8B-B14F-4D97-AF65-F5344CB8AC3E}">
        <p14:creationId xmlns:p14="http://schemas.microsoft.com/office/powerpoint/2010/main" val="31530448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4EED9-CBB1-EE91-3038-6C7FEDA64FC0}"/>
              </a:ext>
            </a:extLst>
          </p:cNvPr>
          <p:cNvSpPr>
            <a:spLocks noGrp="1"/>
          </p:cNvSpPr>
          <p:nvPr>
            <p:ph type="title"/>
          </p:nvPr>
        </p:nvSpPr>
        <p:spPr>
          <a:xfrm>
            <a:off x="1625600" y="228600"/>
            <a:ext cx="10261600" cy="685800"/>
          </a:xfrm>
        </p:spPr>
        <p:txBody>
          <a:bodyPr anchor="b" anchorCtr="0"/>
          <a:lstStyle/>
          <a:p>
            <a:r>
              <a:rPr lang="en-GB" b="1" dirty="0">
                <a:latin typeface="Gill Sans MT" panose="020B0502020104020203" pitchFamily="34" charset="0"/>
              </a:rPr>
              <a:t>Summary of policy stance and forecast outlook</a:t>
            </a:r>
            <a:endParaRPr lang="en-AE" b="1" dirty="0">
              <a:latin typeface="Gill Sans MT" panose="020B0502020104020203" pitchFamily="34" charset="0"/>
            </a:endParaRPr>
          </a:p>
        </p:txBody>
      </p:sp>
      <p:sp>
        <p:nvSpPr>
          <p:cNvPr id="3" name="Slide Number Placeholder 2">
            <a:extLst>
              <a:ext uri="{FF2B5EF4-FFF2-40B4-BE49-F238E27FC236}">
                <a16:creationId xmlns:a16="http://schemas.microsoft.com/office/drawing/2014/main" id="{11DFE1AB-566B-84E0-11B3-DF3D9204B9A2}"/>
              </a:ext>
            </a:extLst>
          </p:cNvPr>
          <p:cNvSpPr>
            <a:spLocks noGrp="1"/>
          </p:cNvSpPr>
          <p:nvPr>
            <p:ph type="sldNum" sz="quarter" idx="10"/>
          </p:nvPr>
        </p:nvSpPr>
        <p:spPr/>
        <p:txBody>
          <a:bodyPr/>
          <a:lstStyle/>
          <a:p>
            <a:fld id="{D97AE203-F84D-4A7F-B161-8561326BE072}" type="slidenum">
              <a:rPr lang="en-US" smtClean="0"/>
              <a:pPr/>
              <a:t>26</a:t>
            </a:fld>
            <a:endParaRPr lang="en-US" dirty="0"/>
          </a:p>
        </p:txBody>
      </p:sp>
      <p:sp>
        <p:nvSpPr>
          <p:cNvPr id="4" name="TextBox 3">
            <a:extLst>
              <a:ext uri="{FF2B5EF4-FFF2-40B4-BE49-F238E27FC236}">
                <a16:creationId xmlns:a16="http://schemas.microsoft.com/office/drawing/2014/main" id="{82A61A70-5620-A72D-97D8-4EA8896A0C8F}"/>
              </a:ext>
            </a:extLst>
          </p:cNvPr>
          <p:cNvSpPr txBox="1"/>
          <p:nvPr/>
        </p:nvSpPr>
        <p:spPr>
          <a:xfrm>
            <a:off x="100632" y="1141627"/>
            <a:ext cx="11888168" cy="5524589"/>
          </a:xfrm>
          <a:prstGeom prst="rect">
            <a:avLst/>
          </a:prstGeom>
          <a:noFill/>
        </p:spPr>
        <p:txBody>
          <a:bodyPr wrap="square" rtlCol="0">
            <a:spAutoFit/>
          </a:bodyPr>
          <a:lstStyle/>
          <a:p>
            <a:pPr algn="just"/>
            <a:r>
              <a:rPr lang="en-US" sz="2000" b="1" dirty="0">
                <a:solidFill>
                  <a:srgbClr val="002060"/>
                </a:solidFill>
                <a:latin typeface="+mn-lt"/>
                <a:ea typeface="Calibri" panose="020F0502020204030204" pitchFamily="34" charset="0"/>
                <a:cs typeface="Times New Roman" panose="02020603050405020304" pitchFamily="18" charset="0"/>
              </a:rPr>
              <a:t>Policy stance underlying the forecast</a:t>
            </a:r>
          </a:p>
          <a:p>
            <a:pPr marL="285750" indent="-285750">
              <a:spcAft>
                <a:spcPts val="600"/>
              </a:spcAft>
              <a:buFont typeface="Arial" panose="020B0604020202020204" pitchFamily="34" charset="0"/>
              <a:buChar char="•"/>
            </a:pPr>
            <a:r>
              <a:rPr lang="en-US" sz="1800" dirty="0">
                <a:effectLst/>
                <a:latin typeface="+mn-lt"/>
                <a:ea typeface="Calibri" panose="020F0502020204030204" pitchFamily="34" charset="0"/>
              </a:rPr>
              <a:t>maintenance of recently increased policy interest rate (tuned for 2023Q</a:t>
            </a:r>
            <a:r>
              <a:rPr lang="en-US" sz="1800" dirty="0">
                <a:solidFill>
                  <a:srgbClr val="C00000"/>
                </a:solidFill>
                <a:effectLst/>
                <a:latin typeface="+mn-lt"/>
                <a:ea typeface="Calibri" panose="020F0502020204030204" pitchFamily="34" charset="0"/>
              </a:rPr>
              <a:t>2</a:t>
            </a:r>
            <a:r>
              <a:rPr lang="en-US" sz="1800" dirty="0">
                <a:effectLst/>
                <a:latin typeface="+mn-lt"/>
                <a:ea typeface="Calibri" panose="020F0502020204030204" pitchFamily="34" charset="0"/>
              </a:rPr>
              <a:t>) </a:t>
            </a:r>
          </a:p>
          <a:p>
            <a:pPr marL="285750" indent="-285750">
              <a:spcAft>
                <a:spcPts val="600"/>
              </a:spcAft>
              <a:buFont typeface="Arial" panose="020B0604020202020204" pitchFamily="34" charset="0"/>
              <a:buChar char="•"/>
            </a:pPr>
            <a:r>
              <a:rPr lang="en-US" sz="1800" dirty="0">
                <a:effectLst/>
                <a:latin typeface="+mn-lt"/>
                <a:ea typeface="Calibri" panose="020F0502020204030204" pitchFamily="34" charset="0"/>
              </a:rPr>
              <a:t>somewhat faster rate of exchange rate depreciation in 2023 (tuned for 2023Q</a:t>
            </a:r>
            <a:r>
              <a:rPr lang="en-US" sz="1800" dirty="0">
                <a:solidFill>
                  <a:srgbClr val="C00000"/>
                </a:solidFill>
                <a:effectLst/>
                <a:latin typeface="+mn-lt"/>
                <a:ea typeface="Calibri" panose="020F0502020204030204" pitchFamily="34" charset="0"/>
              </a:rPr>
              <a:t>1</a:t>
            </a:r>
            <a:r>
              <a:rPr lang="en-US" sz="1800" dirty="0">
                <a:effectLst/>
                <a:latin typeface="+mn-lt"/>
                <a:ea typeface="Calibri" panose="020F0502020204030204" pitchFamily="34" charset="0"/>
              </a:rPr>
              <a:t>)</a:t>
            </a:r>
          </a:p>
          <a:p>
            <a:pPr marL="285750" indent="-285750">
              <a:spcAft>
                <a:spcPts val="600"/>
              </a:spcAft>
              <a:buFont typeface="Arial" panose="020B0604020202020204" pitchFamily="34" charset="0"/>
              <a:buChar char="•"/>
            </a:pPr>
            <a:r>
              <a:rPr lang="en-US" sz="1800" dirty="0">
                <a:latin typeface="+mn-lt"/>
                <a:ea typeface="Calibri" panose="020F0502020204030204" pitchFamily="34" charset="0"/>
              </a:rPr>
              <a:t>reduction</a:t>
            </a:r>
            <a:r>
              <a:rPr lang="en-US" sz="1800" dirty="0">
                <a:effectLst/>
                <a:latin typeface="+mn-lt"/>
                <a:ea typeface="Calibri" panose="020F0502020204030204" pitchFamily="34" charset="0"/>
              </a:rPr>
              <a:t> fiscal deficit (before grants) to 12% of GDP in 2023Q</a:t>
            </a:r>
            <a:r>
              <a:rPr lang="en-US" sz="1800" dirty="0">
                <a:solidFill>
                  <a:srgbClr val="C00000"/>
                </a:solidFill>
                <a:effectLst/>
                <a:latin typeface="+mn-lt"/>
                <a:ea typeface="Calibri" panose="020F0502020204030204" pitchFamily="34" charset="0"/>
              </a:rPr>
              <a:t>1-2</a:t>
            </a:r>
            <a:r>
              <a:rPr lang="en-US" sz="1800" dirty="0">
                <a:effectLst/>
                <a:latin typeface="+mn-lt"/>
                <a:ea typeface="Calibri" panose="020F0502020204030204" pitchFamily="34" charset="0"/>
              </a:rPr>
              <a:t>, then to 9.6% in </a:t>
            </a:r>
            <a:r>
              <a:rPr lang="en-US" sz="1800" dirty="0">
                <a:solidFill>
                  <a:srgbClr val="C00000"/>
                </a:solidFill>
                <a:effectLst/>
                <a:latin typeface="+mn-lt"/>
                <a:ea typeface="Calibri" panose="020F0502020204030204" pitchFamily="34" charset="0"/>
              </a:rPr>
              <a:t>2023/24</a:t>
            </a:r>
            <a:r>
              <a:rPr lang="en-US" sz="1800" dirty="0">
                <a:effectLst/>
                <a:latin typeface="+mn-lt"/>
                <a:ea typeface="Calibri" panose="020F0502020204030204" pitchFamily="34" charset="0"/>
              </a:rPr>
              <a:t> (both tuned), then return to sustainable level of around 11% of GDP (unlike PCI, much lower deficit path through 2030) </a:t>
            </a:r>
          </a:p>
          <a:p>
            <a:pPr marL="285750" indent="-285750">
              <a:spcAft>
                <a:spcPts val="600"/>
              </a:spcAft>
              <a:buFont typeface="Arial" panose="020B0604020202020204" pitchFamily="34" charset="0"/>
              <a:buChar char="•"/>
            </a:pPr>
            <a:r>
              <a:rPr lang="en-US" sz="1800" dirty="0">
                <a:effectLst/>
                <a:latin typeface="+mn-lt"/>
                <a:ea typeface="Calibri" panose="020F0502020204030204" pitchFamily="34" charset="0"/>
              </a:rPr>
              <a:t>p</a:t>
            </a:r>
            <a:r>
              <a:rPr lang="en-US" sz="1800" dirty="0">
                <a:latin typeface="+mn-lt"/>
                <a:ea typeface="Calibri" panose="020F0502020204030204" pitchFamily="34" charset="0"/>
              </a:rPr>
              <a:t>ositive </a:t>
            </a:r>
            <a:r>
              <a:rPr lang="en-US" sz="1800" dirty="0">
                <a:effectLst/>
                <a:latin typeface="+mn-lt"/>
                <a:ea typeface="Calibri" panose="020F0502020204030204" pitchFamily="34" charset="0"/>
              </a:rPr>
              <a:t>fiscal stance—2% of GDP on average </a:t>
            </a:r>
            <a:r>
              <a:rPr lang="en-US" sz="1800" dirty="0">
                <a:latin typeface="+mn-lt"/>
                <a:ea typeface="Calibri" panose="020F0502020204030204" pitchFamily="34" charset="0"/>
              </a:rPr>
              <a:t>in 2019/20-2021/22</a:t>
            </a:r>
            <a:r>
              <a:rPr lang="en-US" sz="1800" dirty="0">
                <a:effectLst/>
                <a:latin typeface="+mn-lt"/>
                <a:ea typeface="Calibri" panose="020F0502020204030204" pitchFamily="34" charset="0"/>
              </a:rPr>
              <a:t>—replaced by negative stance from 2022/23, then positive again in 2024/25 as deficit returns to sustainable level</a:t>
            </a:r>
            <a:endParaRPr lang="en-US" sz="1800" dirty="0">
              <a:effectLst/>
              <a:latin typeface="+mn-lt"/>
              <a:ea typeface="Calibri" panose="020F0502020204030204" pitchFamily="34" charset="0"/>
              <a:cs typeface="Times New Roman" panose="02020603050405020304" pitchFamily="18" charset="0"/>
            </a:endParaRPr>
          </a:p>
          <a:p>
            <a:pPr algn="just"/>
            <a:r>
              <a:rPr lang="en-US" sz="2000" b="1" dirty="0">
                <a:solidFill>
                  <a:srgbClr val="002060"/>
                </a:solidFill>
                <a:latin typeface="+mn-lt"/>
                <a:ea typeface="Calibri" panose="020F0502020204030204" pitchFamily="34" charset="0"/>
                <a:cs typeface="Times New Roman" panose="02020603050405020304" pitchFamily="18" charset="0"/>
              </a:rPr>
              <a:t>Forecast of key macro indicators</a:t>
            </a:r>
          </a:p>
          <a:p>
            <a:pPr marL="285750" indent="-285750">
              <a:spcAft>
                <a:spcPts val="600"/>
              </a:spcAft>
              <a:buFont typeface="Arial" panose="020B0604020202020204" pitchFamily="34" charset="0"/>
              <a:buChar char="•"/>
            </a:pPr>
            <a:r>
              <a:rPr lang="en-US" sz="2000" b="1" dirty="0">
                <a:solidFill>
                  <a:srgbClr val="002060"/>
                </a:solidFill>
                <a:latin typeface="+mn-lt"/>
                <a:ea typeface="Calibri" panose="020F0502020204030204" pitchFamily="34" charset="0"/>
                <a:cs typeface="Times New Roman" panose="02020603050405020304" pitchFamily="18" charset="0"/>
              </a:rPr>
              <a:t>RIR</a:t>
            </a:r>
            <a:r>
              <a:rPr lang="en-US" sz="2000" dirty="0">
                <a:effectLst/>
                <a:latin typeface="+mn-lt"/>
                <a:ea typeface="Calibri" panose="020F0502020204030204" pitchFamily="34" charset="0"/>
                <a:cs typeface="Times New Roman" panose="02020603050405020304" pitchFamily="18" charset="0"/>
              </a:rPr>
              <a:t> forecast to rise (albeit from a low</a:t>
            </a:r>
            <a:r>
              <a:rPr lang="en-US" sz="2000" dirty="0">
                <a:latin typeface="+mn-lt"/>
                <a:ea typeface="Calibri" panose="020F0502020204030204" pitchFamily="34" charset="0"/>
                <a:cs typeface="Times New Roman" panose="02020603050405020304" pitchFamily="18" charset="0"/>
              </a:rPr>
              <a:t> </a:t>
            </a:r>
            <a:r>
              <a:rPr lang="en-US" sz="2000" dirty="0">
                <a:effectLst/>
                <a:latin typeface="+mn-lt"/>
                <a:ea typeface="Calibri" panose="020F0502020204030204" pitchFamily="34" charset="0"/>
                <a:cs typeface="Times New Roman" panose="02020603050405020304" pitchFamily="18" charset="0"/>
              </a:rPr>
              <a:t>negative level) and exert less </a:t>
            </a:r>
            <a:r>
              <a:rPr lang="en-US" sz="2000" dirty="0">
                <a:latin typeface="+mn-lt"/>
                <a:ea typeface="Calibri" panose="020F0502020204030204" pitchFamily="34" charset="0"/>
                <a:cs typeface="Times New Roman" panose="02020603050405020304" pitchFamily="18" charset="0"/>
              </a:rPr>
              <a:t>upward pressure on private demand</a:t>
            </a:r>
          </a:p>
          <a:p>
            <a:pPr marL="285750" indent="-285750">
              <a:spcAft>
                <a:spcPts val="600"/>
              </a:spcAft>
              <a:buFont typeface="Arial" panose="020B0604020202020204" pitchFamily="34" charset="0"/>
              <a:buChar char="•"/>
            </a:pPr>
            <a:r>
              <a:rPr lang="en-US" sz="2000" b="1" dirty="0">
                <a:solidFill>
                  <a:srgbClr val="002060"/>
                </a:solidFill>
                <a:latin typeface="+mn-lt"/>
                <a:ea typeface="Calibri" panose="020F0502020204030204" pitchFamily="34" charset="0"/>
                <a:cs typeface="Times New Roman" panose="02020603050405020304" pitchFamily="18" charset="0"/>
              </a:rPr>
              <a:t>RER</a:t>
            </a:r>
            <a:r>
              <a:rPr lang="en-US" sz="2000" i="1" dirty="0">
                <a:latin typeface="+mn-lt"/>
                <a:ea typeface="Calibri" panose="020F0502020204030204" pitchFamily="34" charset="0"/>
                <a:cs typeface="Times New Roman" panose="02020603050405020304" pitchFamily="18" charset="0"/>
              </a:rPr>
              <a:t> </a:t>
            </a:r>
            <a:r>
              <a:rPr lang="en-US" sz="2000" dirty="0">
                <a:effectLst/>
                <a:latin typeface="+mn-lt"/>
                <a:ea typeface="Calibri" panose="020F0502020204030204" pitchFamily="34" charset="0"/>
                <a:cs typeface="Times New Roman" panose="02020603050405020304" pitchFamily="18" charset="0"/>
              </a:rPr>
              <a:t>forecasted to have faster depreciation and affect positively domestic demand (and trade balance G&amp;S)</a:t>
            </a:r>
          </a:p>
          <a:p>
            <a:pPr marL="285750" indent="-285750">
              <a:spcAft>
                <a:spcPts val="600"/>
              </a:spcAft>
              <a:buFont typeface="Arial" panose="020B0604020202020204" pitchFamily="34" charset="0"/>
              <a:buChar char="•"/>
            </a:pPr>
            <a:r>
              <a:rPr lang="en-US" sz="2000" b="1" dirty="0">
                <a:solidFill>
                  <a:srgbClr val="002060"/>
                </a:solidFill>
                <a:latin typeface="+mn-lt"/>
                <a:ea typeface="Calibri" panose="020F0502020204030204" pitchFamily="34" charset="0"/>
                <a:cs typeface="Times New Roman" panose="02020603050405020304" pitchFamily="18" charset="0"/>
              </a:rPr>
              <a:t>Headline inflation </a:t>
            </a:r>
            <a:r>
              <a:rPr lang="en-US" sz="2000" dirty="0">
                <a:latin typeface="+mn-lt"/>
                <a:ea typeface="Calibri" panose="020F0502020204030204" pitchFamily="34" charset="0"/>
                <a:cs typeface="Times New Roman" panose="02020603050405020304" pitchFamily="18" charset="0"/>
              </a:rPr>
              <a:t>(peaked in Q4 2022) forecast to decline gradually in 2023 as food and energy prices are forecast to continue falling from their peaks in 2d half of 2022; and to be close to 5% target from 2024</a:t>
            </a:r>
          </a:p>
          <a:p>
            <a:pPr marL="285750" indent="-285750">
              <a:spcAft>
                <a:spcPts val="600"/>
              </a:spcAft>
              <a:buFont typeface="Arial" panose="020B0604020202020204" pitchFamily="34" charset="0"/>
              <a:buChar char="•"/>
            </a:pPr>
            <a:r>
              <a:rPr lang="en-US" sz="2000" b="1" dirty="0">
                <a:solidFill>
                  <a:srgbClr val="002060"/>
                </a:solidFill>
                <a:latin typeface="+mn-lt"/>
                <a:ea typeface="Calibri" panose="020F0502020204030204" pitchFamily="34" charset="0"/>
                <a:cs typeface="Times New Roman" panose="02020603050405020304" pitchFamily="18" charset="0"/>
              </a:rPr>
              <a:t>GDP growth </a:t>
            </a:r>
            <a:r>
              <a:rPr lang="en-US" sz="2000" dirty="0">
                <a:latin typeface="+mn-lt"/>
                <a:ea typeface="Calibri" panose="020F0502020204030204" pitchFamily="34" charset="0"/>
                <a:cs typeface="Times New Roman" panose="02020603050405020304" pitchFamily="18" charset="0"/>
              </a:rPr>
              <a:t>forecast to pick up to average 8.5% in 2023-24 before returning to its trend of 7.5% annually</a:t>
            </a:r>
          </a:p>
          <a:p>
            <a:pPr marL="285750" indent="-285750">
              <a:spcAft>
                <a:spcPts val="600"/>
              </a:spcAft>
              <a:buFont typeface="Arial" panose="020B0604020202020204" pitchFamily="34" charset="0"/>
              <a:buChar char="•"/>
            </a:pPr>
            <a:r>
              <a:rPr lang="en-US" sz="2000" b="1" dirty="0">
                <a:solidFill>
                  <a:srgbClr val="002060"/>
                </a:solidFill>
                <a:latin typeface="+mn-lt"/>
                <a:ea typeface="Calibri" panose="020F0502020204030204" pitchFamily="34" charset="0"/>
                <a:cs typeface="Times New Roman" panose="02020603050405020304" pitchFamily="18" charset="0"/>
              </a:rPr>
              <a:t>Output back to potential </a:t>
            </a:r>
            <a:r>
              <a:rPr lang="en-US" sz="2000" dirty="0">
                <a:latin typeface="+mn-lt"/>
                <a:ea typeface="Calibri" panose="020F0502020204030204" pitchFamily="34" charset="0"/>
                <a:cs typeface="Times New Roman" panose="02020603050405020304" pitchFamily="18" charset="0"/>
              </a:rPr>
              <a:t>as low (</a:t>
            </a:r>
            <a:r>
              <a:rPr lang="en-GB" sz="2000" dirty="0">
                <a:effectLst/>
                <a:latin typeface="+mn-lt"/>
                <a:ea typeface="Calibri" panose="020F0502020204030204" pitchFamily="34" charset="0"/>
              </a:rPr>
              <a:t>albeit rising) RIR</a:t>
            </a:r>
            <a:r>
              <a:rPr lang="en-GB" sz="2000" dirty="0">
                <a:latin typeface="+mn-lt"/>
                <a:ea typeface="Calibri" panose="020F0502020204030204" pitchFamily="34" charset="0"/>
              </a:rPr>
              <a:t> and </a:t>
            </a:r>
            <a:r>
              <a:rPr lang="en-GB" sz="2000" dirty="0">
                <a:effectLst/>
                <a:latin typeface="+mn-lt"/>
                <a:ea typeface="Calibri" panose="020F0502020204030204" pitchFamily="34" charset="0"/>
              </a:rPr>
              <a:t>rising (of albeit still low) RER, keep demand up; this is countered in 2022/23-2023/24 by temporarily lower deficit, and output is back to potential only in 2026</a:t>
            </a:r>
          </a:p>
          <a:p>
            <a:pPr>
              <a:spcAft>
                <a:spcPts val="600"/>
              </a:spcAft>
            </a:pPr>
            <a:r>
              <a:rPr lang="en-GB" sz="2000" b="1" dirty="0">
                <a:solidFill>
                  <a:srgbClr val="002060"/>
                </a:solidFill>
                <a:latin typeface="+mn-lt"/>
                <a:ea typeface="Calibri" panose="020F0502020204030204" pitchFamily="34" charset="0"/>
                <a:cs typeface="Times New Roman" panose="02020603050405020304" pitchFamily="18" charset="0"/>
              </a:rPr>
              <a:t>Issue:</a:t>
            </a:r>
            <a:r>
              <a:rPr lang="en-GB" sz="2000" b="1" dirty="0">
                <a:latin typeface="+mn-lt"/>
                <a:ea typeface="Calibri" panose="020F0502020204030204" pitchFamily="34" charset="0"/>
                <a:cs typeface="Times New Roman" panose="02020603050405020304" pitchFamily="18" charset="0"/>
              </a:rPr>
              <a:t> </a:t>
            </a:r>
            <a:r>
              <a:rPr lang="en-GB" sz="2000" dirty="0">
                <a:solidFill>
                  <a:schemeClr val="accent2">
                    <a:lumMod val="50000"/>
                  </a:schemeClr>
                </a:solidFill>
                <a:latin typeface="+mn-lt"/>
                <a:ea typeface="Calibri" panose="020F0502020204030204" pitchFamily="34" charset="0"/>
                <a:cs typeface="Times New Roman" panose="02020603050405020304" pitchFamily="18" charset="0"/>
              </a:rPr>
              <a:t>address volatility (govt demand, output, inflation…) by smoothen govt deficit closer to sustainable level ?</a:t>
            </a:r>
            <a:endParaRPr lang="en-US" sz="2000" dirty="0">
              <a:solidFill>
                <a:schemeClr val="accent2">
                  <a:lumMod val="50000"/>
                </a:schemeClr>
              </a:solidFill>
              <a:latin typeface="+mn-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324017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EAC75-6C92-AB65-6348-00D2D6D83AFA}"/>
              </a:ext>
            </a:extLst>
          </p:cNvPr>
          <p:cNvSpPr>
            <a:spLocks noGrp="1"/>
          </p:cNvSpPr>
          <p:nvPr>
            <p:ph type="title"/>
          </p:nvPr>
        </p:nvSpPr>
        <p:spPr>
          <a:xfrm>
            <a:off x="1625600" y="304800"/>
            <a:ext cx="9728200" cy="533400"/>
          </a:xfrm>
        </p:spPr>
        <p:txBody>
          <a:bodyPr/>
          <a:lstStyle/>
          <a:p>
            <a:r>
              <a:rPr lang="en-GB" b="1" dirty="0">
                <a:latin typeface="Gill Sans MT" panose="020B0502020104020203" pitchFamily="34" charset="0"/>
              </a:rPr>
              <a:t>Comparison with Macro Framework</a:t>
            </a:r>
            <a:endParaRPr lang="en-AE" dirty="0"/>
          </a:p>
        </p:txBody>
      </p:sp>
      <p:sp>
        <p:nvSpPr>
          <p:cNvPr id="3" name="Slide Number Placeholder 2">
            <a:extLst>
              <a:ext uri="{FF2B5EF4-FFF2-40B4-BE49-F238E27FC236}">
                <a16:creationId xmlns:a16="http://schemas.microsoft.com/office/drawing/2014/main" id="{25CDF8F7-7F5E-7D6D-E3E8-C142EB7C92C4}"/>
              </a:ext>
            </a:extLst>
          </p:cNvPr>
          <p:cNvSpPr>
            <a:spLocks noGrp="1"/>
          </p:cNvSpPr>
          <p:nvPr>
            <p:ph type="sldNum" sz="quarter" idx="10"/>
          </p:nvPr>
        </p:nvSpPr>
        <p:spPr/>
        <p:txBody>
          <a:bodyPr/>
          <a:lstStyle/>
          <a:p>
            <a:fld id="{D97AE203-F84D-4A7F-B161-8561326BE072}" type="slidenum">
              <a:rPr lang="en-US" smtClean="0"/>
              <a:pPr/>
              <a:t>27</a:t>
            </a:fld>
            <a:endParaRPr lang="en-US" dirty="0"/>
          </a:p>
        </p:txBody>
      </p:sp>
      <p:pic>
        <p:nvPicPr>
          <p:cNvPr id="5" name="Picture 4">
            <a:extLst>
              <a:ext uri="{FF2B5EF4-FFF2-40B4-BE49-F238E27FC236}">
                <a16:creationId xmlns:a16="http://schemas.microsoft.com/office/drawing/2014/main" id="{79BF6E41-DE78-E4C2-5B42-F06E9B94200E}"/>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5592478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EAC75-6C92-AB65-6348-00D2D6D83AFA}"/>
              </a:ext>
            </a:extLst>
          </p:cNvPr>
          <p:cNvSpPr>
            <a:spLocks noGrp="1"/>
          </p:cNvSpPr>
          <p:nvPr>
            <p:ph type="title"/>
          </p:nvPr>
        </p:nvSpPr>
        <p:spPr>
          <a:xfrm>
            <a:off x="1625600" y="304800"/>
            <a:ext cx="9728200" cy="533400"/>
          </a:xfrm>
        </p:spPr>
        <p:txBody>
          <a:bodyPr/>
          <a:lstStyle/>
          <a:p>
            <a:r>
              <a:rPr lang="en-GB" b="1" dirty="0">
                <a:latin typeface="Gill Sans MT" panose="020B0502020104020203" pitchFamily="34" charset="0"/>
              </a:rPr>
              <a:t>Comparison with Macroeconomic Framework (MF)</a:t>
            </a:r>
            <a:endParaRPr lang="en-AE" dirty="0"/>
          </a:p>
        </p:txBody>
      </p:sp>
      <p:sp>
        <p:nvSpPr>
          <p:cNvPr id="3" name="Slide Number Placeholder 2">
            <a:extLst>
              <a:ext uri="{FF2B5EF4-FFF2-40B4-BE49-F238E27FC236}">
                <a16:creationId xmlns:a16="http://schemas.microsoft.com/office/drawing/2014/main" id="{25CDF8F7-7F5E-7D6D-E3E8-C142EB7C92C4}"/>
              </a:ext>
            </a:extLst>
          </p:cNvPr>
          <p:cNvSpPr>
            <a:spLocks noGrp="1"/>
          </p:cNvSpPr>
          <p:nvPr>
            <p:ph type="sldNum" sz="quarter" idx="10"/>
          </p:nvPr>
        </p:nvSpPr>
        <p:spPr/>
        <p:txBody>
          <a:bodyPr/>
          <a:lstStyle/>
          <a:p>
            <a:fld id="{D97AE203-F84D-4A7F-B161-8561326BE072}" type="slidenum">
              <a:rPr lang="en-US" smtClean="0"/>
              <a:pPr/>
              <a:t>28</a:t>
            </a:fld>
            <a:endParaRPr lang="en-US" dirty="0"/>
          </a:p>
        </p:txBody>
      </p:sp>
      <p:sp>
        <p:nvSpPr>
          <p:cNvPr id="6" name="TextBox 5">
            <a:extLst>
              <a:ext uri="{FF2B5EF4-FFF2-40B4-BE49-F238E27FC236}">
                <a16:creationId xmlns:a16="http://schemas.microsoft.com/office/drawing/2014/main" id="{56EC216E-2E2A-24C6-3CD9-FC63942760AD}"/>
              </a:ext>
            </a:extLst>
          </p:cNvPr>
          <p:cNvSpPr txBox="1"/>
          <p:nvPr/>
        </p:nvSpPr>
        <p:spPr>
          <a:xfrm>
            <a:off x="381000" y="1371600"/>
            <a:ext cx="11607800" cy="5135701"/>
          </a:xfrm>
          <a:prstGeom prst="rect">
            <a:avLst/>
          </a:prstGeom>
          <a:noFill/>
        </p:spPr>
        <p:txBody>
          <a:bodyPr wrap="square">
            <a:spAutoFit/>
          </a:bodyPr>
          <a:lstStyle/>
          <a:p>
            <a:pPr algn="just"/>
            <a:r>
              <a:rPr lang="en-US" b="1" dirty="0">
                <a:solidFill>
                  <a:srgbClr val="002060"/>
                </a:solidFill>
                <a:latin typeface="+mn-lt"/>
                <a:ea typeface="Calibri" panose="020F0502020204030204" pitchFamily="34" charset="0"/>
                <a:cs typeface="Times New Roman" panose="02020603050405020304" pitchFamily="18" charset="0"/>
              </a:rPr>
              <a:t>Illustrative comparison with April 2023 projection (PCI-RSF)</a:t>
            </a:r>
          </a:p>
          <a:p>
            <a:pPr algn="just">
              <a:lnSpc>
                <a:spcPct val="200000"/>
              </a:lnSpc>
            </a:pPr>
            <a:r>
              <a:rPr lang="en-US" dirty="0">
                <a:latin typeface="+mn-lt"/>
                <a:ea typeface="Calibri" panose="020F0502020204030204" pitchFamily="34" charset="0"/>
              </a:rPr>
              <a:t>compared to MF,  the annualized QMFM result has:</a:t>
            </a:r>
          </a:p>
          <a:p>
            <a:pPr marL="285750" indent="-285750">
              <a:spcAft>
                <a:spcPts val="600"/>
              </a:spcAft>
              <a:buFont typeface="Arial" panose="020B0604020202020204" pitchFamily="34" charset="0"/>
              <a:buChar char="•"/>
            </a:pPr>
            <a:r>
              <a:rPr lang="en-US" sz="2400" dirty="0">
                <a:effectLst/>
                <a:latin typeface="+mn-lt"/>
                <a:ea typeface="Calibri" panose="020F0502020204030204" pitchFamily="34" charset="0"/>
              </a:rPr>
              <a:t>lower volatility in final demand components, especially for consumption, investment and imports (MF needs consumption-savings checks)</a:t>
            </a:r>
          </a:p>
          <a:p>
            <a:pPr marL="285750" indent="-285750">
              <a:lnSpc>
                <a:spcPct val="150000"/>
              </a:lnSpc>
              <a:spcAft>
                <a:spcPts val="600"/>
              </a:spcAft>
              <a:buFont typeface="Arial" panose="020B0604020202020204" pitchFamily="34" charset="0"/>
              <a:buChar char="•"/>
            </a:pPr>
            <a:r>
              <a:rPr lang="en-US" dirty="0">
                <a:latin typeface="+mn-lt"/>
                <a:ea typeface="Calibri" panose="020F0502020204030204" pitchFamily="34" charset="0"/>
              </a:rPr>
              <a:t>lower average CPI inflation in 2023-24, as QMFM captures the impact of the large negative fiscal stance</a:t>
            </a:r>
          </a:p>
          <a:p>
            <a:pPr marL="285750" indent="-285750">
              <a:spcAft>
                <a:spcPts val="600"/>
              </a:spcAft>
              <a:buFont typeface="Arial" panose="020B0604020202020204" pitchFamily="34" charset="0"/>
              <a:buChar char="•"/>
            </a:pPr>
            <a:r>
              <a:rPr lang="en-US" dirty="0">
                <a:latin typeface="+mn-lt"/>
                <a:ea typeface="Calibri" panose="020F0502020204030204" pitchFamily="34" charset="0"/>
              </a:rPr>
              <a:t>lower ER depreciation from 2024, as it forecast zero RER depreciation in medium term</a:t>
            </a:r>
          </a:p>
          <a:p>
            <a:pPr>
              <a:spcAft>
                <a:spcPts val="600"/>
              </a:spcAft>
            </a:pPr>
            <a:r>
              <a:rPr lang="en-US" dirty="0">
                <a:latin typeface="+mn-lt"/>
                <a:ea typeface="Calibri" panose="020F0502020204030204" pitchFamily="34" charset="0"/>
              </a:rPr>
              <a:t> (MF has real depreciations each year in 2024-26, over 20% cumulatively; cp. to QMFM 6%)</a:t>
            </a:r>
          </a:p>
          <a:p>
            <a:pPr marL="285750" indent="-285750">
              <a:lnSpc>
                <a:spcPct val="150000"/>
              </a:lnSpc>
              <a:spcAft>
                <a:spcPts val="600"/>
              </a:spcAft>
              <a:buFont typeface="Arial" panose="020B0604020202020204" pitchFamily="34" charset="0"/>
              <a:buChar char="•"/>
            </a:pPr>
            <a:r>
              <a:rPr lang="en-US" dirty="0">
                <a:latin typeface="+mn-lt"/>
                <a:ea typeface="Calibri" panose="020F0502020204030204" pitchFamily="34" charset="0"/>
              </a:rPr>
              <a:t>higher fiscal deficits from CY 2024—returning to sustainable level--while MF-PCI has deficit much below that for 5 years</a:t>
            </a:r>
            <a:endParaRPr lang="en-US" dirty="0"/>
          </a:p>
        </p:txBody>
      </p:sp>
    </p:spTree>
    <p:extLst>
      <p:ext uri="{BB962C8B-B14F-4D97-AF65-F5344CB8AC3E}">
        <p14:creationId xmlns:p14="http://schemas.microsoft.com/office/powerpoint/2010/main" val="2743638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E8807-BD6B-A3ED-9602-BE4FCBAB2C5A}"/>
              </a:ext>
            </a:extLst>
          </p:cNvPr>
          <p:cNvSpPr>
            <a:spLocks noGrp="1"/>
          </p:cNvSpPr>
          <p:nvPr>
            <p:ph type="title"/>
          </p:nvPr>
        </p:nvSpPr>
        <p:spPr>
          <a:xfrm>
            <a:off x="1530927" y="228600"/>
            <a:ext cx="10457873" cy="762000"/>
          </a:xfrm>
        </p:spPr>
        <p:txBody>
          <a:bodyPr/>
          <a:lstStyle/>
          <a:p>
            <a:r>
              <a:rPr lang="en-GB" b="1" dirty="0">
                <a:latin typeface="Gill Sans MT" panose="020B0502020104020203" pitchFamily="34" charset="0"/>
              </a:rPr>
              <a:t>Alternative scenario: higher foreign food/oil prices </a:t>
            </a:r>
            <a:r>
              <a:rPr lang="en-GB" sz="2000" dirty="0">
                <a:latin typeface="Gill Sans MT" panose="020B0502020104020203" pitchFamily="34" charset="0"/>
              </a:rPr>
              <a:t>(2023-24)</a:t>
            </a:r>
            <a:endParaRPr lang="en-US" dirty="0"/>
          </a:p>
        </p:txBody>
      </p:sp>
      <p:sp>
        <p:nvSpPr>
          <p:cNvPr id="3" name="Slide Number Placeholder 2">
            <a:extLst>
              <a:ext uri="{FF2B5EF4-FFF2-40B4-BE49-F238E27FC236}">
                <a16:creationId xmlns:a16="http://schemas.microsoft.com/office/drawing/2014/main" id="{6AFFE418-E4FE-37F1-555E-0751EC4B485A}"/>
              </a:ext>
            </a:extLst>
          </p:cNvPr>
          <p:cNvSpPr>
            <a:spLocks noGrp="1"/>
          </p:cNvSpPr>
          <p:nvPr>
            <p:ph type="sldNum" sz="quarter" idx="10"/>
          </p:nvPr>
        </p:nvSpPr>
        <p:spPr/>
        <p:txBody>
          <a:bodyPr/>
          <a:lstStyle/>
          <a:p>
            <a:fld id="{D97AE203-F84D-4A7F-B161-8561326BE072}" type="slidenum">
              <a:rPr lang="en-US" smtClean="0"/>
              <a:pPr/>
              <a:t>29</a:t>
            </a:fld>
            <a:endParaRPr lang="en-US" dirty="0"/>
          </a:p>
        </p:txBody>
      </p:sp>
      <p:sp>
        <p:nvSpPr>
          <p:cNvPr id="4" name="TextBox 3">
            <a:extLst>
              <a:ext uri="{FF2B5EF4-FFF2-40B4-BE49-F238E27FC236}">
                <a16:creationId xmlns:a16="http://schemas.microsoft.com/office/drawing/2014/main" id="{C8309FB4-CAA2-9888-339D-0BF98DAD9D8C}"/>
              </a:ext>
            </a:extLst>
          </p:cNvPr>
          <p:cNvSpPr txBox="1"/>
          <p:nvPr/>
        </p:nvSpPr>
        <p:spPr>
          <a:xfrm rot="10800000" flipV="1">
            <a:off x="76200" y="3995182"/>
            <a:ext cx="6095999" cy="2631490"/>
          </a:xfrm>
          <a:prstGeom prst="rect">
            <a:avLst/>
          </a:prstGeom>
          <a:noFill/>
        </p:spPr>
        <p:txBody>
          <a:bodyPr wrap="square" rtlCol="0">
            <a:spAutoFit/>
          </a:bodyPr>
          <a:lstStyle/>
          <a:p>
            <a:r>
              <a:rPr lang="en-GB" sz="1600" b="1" dirty="0">
                <a:solidFill>
                  <a:srgbClr val="00B0F0"/>
                </a:solidFill>
                <a:latin typeface="Gill Sans MT" panose="020B0502020104020203" pitchFamily="34" charset="0"/>
                <a:ea typeface="Calibri" panose="020F0502020204030204" pitchFamily="34" charset="0"/>
              </a:rPr>
              <a:t>Higher-than-WEO foreign food and oil prices in 2023-24</a:t>
            </a:r>
          </a:p>
          <a:p>
            <a:pPr marL="285750" indent="-285750">
              <a:buFont typeface="Wingdings" panose="05000000000000000000" pitchFamily="2" charset="2"/>
              <a:buChar char="§"/>
            </a:pPr>
            <a:r>
              <a:rPr lang="en-US" sz="1600" dirty="0">
                <a:latin typeface="Gill Sans MT" panose="020B0502020104020203" pitchFamily="34" charset="0"/>
              </a:rPr>
              <a:t>foreign food and oil prices on average 25% higher than BL</a:t>
            </a:r>
          </a:p>
          <a:p>
            <a:pPr marL="285750" indent="-285750">
              <a:buFont typeface="Wingdings" panose="05000000000000000000" pitchFamily="2" charset="2"/>
              <a:buChar char="§"/>
            </a:pPr>
            <a:r>
              <a:rPr lang="en-US" sz="1600" dirty="0">
                <a:latin typeface="Gill Sans MT" panose="020B0502020104020203" pitchFamily="34" charset="0"/>
              </a:rPr>
              <a:t>with peak around end-2023, return to WEO levels from 2025</a:t>
            </a:r>
          </a:p>
          <a:p>
            <a:pPr marL="285750" indent="-285750">
              <a:spcAft>
                <a:spcPts val="600"/>
              </a:spcAft>
              <a:buFont typeface="Wingdings" panose="05000000000000000000" pitchFamily="2" charset="2"/>
              <a:buChar char="§"/>
            </a:pPr>
            <a:r>
              <a:rPr lang="en-US" sz="1600" dirty="0">
                <a:latin typeface="Gill Sans MT" panose="020B0502020104020203" pitchFamily="34" charset="0"/>
              </a:rPr>
              <a:t>no change in fiscal policy</a:t>
            </a:r>
          </a:p>
          <a:p>
            <a:r>
              <a:rPr lang="en-GB" sz="1600" b="1" dirty="0">
                <a:solidFill>
                  <a:srgbClr val="00B0F0"/>
                </a:solidFill>
                <a:latin typeface="Gill Sans MT" panose="020B0502020104020203" pitchFamily="34" charset="0"/>
                <a:ea typeface="Calibri" panose="020F0502020204030204" pitchFamily="34" charset="0"/>
              </a:rPr>
              <a:t>Results in higher headline CPI, little or no effect on output</a:t>
            </a:r>
          </a:p>
          <a:p>
            <a:pPr marL="285750" indent="-285750">
              <a:buFont typeface="Wingdings" panose="05000000000000000000" pitchFamily="2" charset="2"/>
              <a:buChar char="§"/>
            </a:pPr>
            <a:r>
              <a:rPr lang="en-US" sz="1600" dirty="0">
                <a:latin typeface="Gill Sans MT" panose="020B0502020104020203" pitchFamily="34" charset="0"/>
              </a:rPr>
              <a:t>headline CPI temporarily higher, reflecting food/oil import shares</a:t>
            </a:r>
          </a:p>
          <a:p>
            <a:pPr marL="285750" indent="-285750">
              <a:buFont typeface="Wingdings" panose="05000000000000000000" pitchFamily="2" charset="2"/>
              <a:buChar char="§"/>
            </a:pPr>
            <a:r>
              <a:rPr lang="en-US" sz="1600" dirty="0">
                <a:latin typeface="Gill Sans MT" panose="020B0502020104020203" pitchFamily="34" charset="0"/>
              </a:rPr>
              <a:t>small response policy rate, reversed fast as expected inflation drops</a:t>
            </a:r>
          </a:p>
          <a:p>
            <a:pPr marL="285750" indent="-285750">
              <a:buFont typeface="Wingdings" panose="05000000000000000000" pitchFamily="2" charset="2"/>
              <a:buChar char="§"/>
            </a:pPr>
            <a:r>
              <a:rPr lang="en-US" sz="1600" dirty="0">
                <a:latin typeface="Gill Sans MT" panose="020B0502020104020203" pitchFamily="34" charset="0"/>
              </a:rPr>
              <a:t>small positive effect on demand of lower RIR</a:t>
            </a:r>
          </a:p>
          <a:p>
            <a:pPr marL="285750" indent="-285750">
              <a:buFont typeface="Wingdings" panose="05000000000000000000" pitchFamily="2" charset="2"/>
              <a:buChar char="§"/>
            </a:pPr>
            <a:r>
              <a:rPr lang="en-US" sz="1600" dirty="0">
                <a:latin typeface="Gill Sans MT" panose="020B0502020104020203" pitchFamily="34" charset="0"/>
              </a:rPr>
              <a:t>mostly offset by negative effect of slightly more appreciated RER</a:t>
            </a:r>
          </a:p>
          <a:p>
            <a:pPr marL="285750" indent="-285750">
              <a:buFont typeface="Wingdings" panose="05000000000000000000" pitchFamily="2" charset="2"/>
              <a:buChar char="§"/>
            </a:pPr>
            <a:r>
              <a:rPr lang="en-US" sz="1600" dirty="0">
                <a:latin typeface="Gill Sans MT" panose="020B0502020104020203" pitchFamily="34" charset="0"/>
              </a:rPr>
              <a:t>overall effect on GDP is very small, less than 0.2% </a:t>
            </a:r>
          </a:p>
        </p:txBody>
      </p:sp>
      <p:pic>
        <p:nvPicPr>
          <p:cNvPr id="6" name="Picture 5" descr="Chart, line chart&#10;&#10;Description automatically generated">
            <a:extLst>
              <a:ext uri="{FF2B5EF4-FFF2-40B4-BE49-F238E27FC236}">
                <a16:creationId xmlns:a16="http://schemas.microsoft.com/office/drawing/2014/main" id="{B580BD2F-649E-60FA-633D-03324DE6B0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461146"/>
            <a:ext cx="2636649" cy="2501255"/>
          </a:xfrm>
          <a:prstGeom prst="rect">
            <a:avLst/>
          </a:prstGeom>
        </p:spPr>
      </p:pic>
      <p:pic>
        <p:nvPicPr>
          <p:cNvPr id="8" name="Picture 7" descr="Chart, line chart&#10;&#10;Description automatically generated">
            <a:extLst>
              <a:ext uri="{FF2B5EF4-FFF2-40B4-BE49-F238E27FC236}">
                <a16:creationId xmlns:a16="http://schemas.microsoft.com/office/drawing/2014/main" id="{889A9DE6-9BFC-6A53-38AD-C47A1425745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151353" y="1461146"/>
            <a:ext cx="2643324" cy="2501256"/>
          </a:xfrm>
          <a:prstGeom prst="rect">
            <a:avLst/>
          </a:prstGeom>
        </p:spPr>
      </p:pic>
      <p:pic>
        <p:nvPicPr>
          <p:cNvPr id="10" name="Picture 9" descr="Chart, line chart&#10;&#10;Description automatically generated">
            <a:extLst>
              <a:ext uri="{FF2B5EF4-FFF2-40B4-BE49-F238E27FC236}">
                <a16:creationId xmlns:a16="http://schemas.microsoft.com/office/drawing/2014/main" id="{F6EB5B70-CE75-4FDF-6C04-C834BE64FB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72199" y="1371601"/>
            <a:ext cx="2741474" cy="2856419"/>
          </a:xfrm>
          <a:prstGeom prst="rect">
            <a:avLst/>
          </a:prstGeom>
        </p:spPr>
      </p:pic>
      <p:pic>
        <p:nvPicPr>
          <p:cNvPr id="15" name="Picture 14" descr="Chart, line chart&#10;&#10;Description automatically generated">
            <a:extLst>
              <a:ext uri="{FF2B5EF4-FFF2-40B4-BE49-F238E27FC236}">
                <a16:creationId xmlns:a16="http://schemas.microsoft.com/office/drawing/2014/main" id="{02925C9B-2BDC-4C9B-9C7D-72DD591BE9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77828" y="1600200"/>
            <a:ext cx="2655454" cy="2627820"/>
          </a:xfrm>
          <a:prstGeom prst="rect">
            <a:avLst/>
          </a:prstGeom>
        </p:spPr>
      </p:pic>
      <p:pic>
        <p:nvPicPr>
          <p:cNvPr id="18" name="Picture 17" descr="Chart, line chart&#10;&#10;Description automatically generated">
            <a:extLst>
              <a:ext uri="{FF2B5EF4-FFF2-40B4-BE49-F238E27FC236}">
                <a16:creationId xmlns:a16="http://schemas.microsoft.com/office/drawing/2014/main" id="{52BB3907-ABDC-4994-C0FA-C0740D7B47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0" y="4397275"/>
            <a:ext cx="2895600" cy="2308325"/>
          </a:xfrm>
          <a:prstGeom prst="rect">
            <a:avLst/>
          </a:prstGeom>
        </p:spPr>
      </p:pic>
      <p:pic>
        <p:nvPicPr>
          <p:cNvPr id="19" name="Picture 18" descr="Chart, line chart&#10;&#10;Description automatically generated">
            <a:extLst>
              <a:ext uri="{FF2B5EF4-FFF2-40B4-BE49-F238E27FC236}">
                <a16:creationId xmlns:a16="http://schemas.microsoft.com/office/drawing/2014/main" id="{DA0C3106-E3A5-B8F3-5DA5-36C26B5C43A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280716" y="4413645"/>
            <a:ext cx="2708084" cy="2308325"/>
          </a:xfrm>
          <a:prstGeom prst="rect">
            <a:avLst/>
          </a:prstGeom>
        </p:spPr>
      </p:pic>
    </p:spTree>
    <p:extLst>
      <p:ext uri="{BB962C8B-B14F-4D97-AF65-F5344CB8AC3E}">
        <p14:creationId xmlns:p14="http://schemas.microsoft.com/office/powerpoint/2010/main" val="33275430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EAC75-6C92-AB65-6348-00D2D6D83AFA}"/>
              </a:ext>
            </a:extLst>
          </p:cNvPr>
          <p:cNvSpPr>
            <a:spLocks noGrp="1"/>
          </p:cNvSpPr>
          <p:nvPr>
            <p:ph type="title"/>
          </p:nvPr>
        </p:nvSpPr>
        <p:spPr>
          <a:xfrm>
            <a:off x="1625600" y="0"/>
            <a:ext cx="9880600" cy="609600"/>
          </a:xfrm>
        </p:spPr>
        <p:txBody>
          <a:bodyPr/>
          <a:lstStyle/>
          <a:p>
            <a:r>
              <a:rPr lang="en-US" b="1" dirty="0"/>
              <a:t>QMFM: main relationships and transmission mechanisms </a:t>
            </a:r>
            <a:endParaRPr lang="en-AE" b="1" dirty="0"/>
          </a:p>
        </p:txBody>
      </p:sp>
      <p:sp>
        <p:nvSpPr>
          <p:cNvPr id="3" name="Slide Number Placeholder 2">
            <a:extLst>
              <a:ext uri="{FF2B5EF4-FFF2-40B4-BE49-F238E27FC236}">
                <a16:creationId xmlns:a16="http://schemas.microsoft.com/office/drawing/2014/main" id="{25CDF8F7-7F5E-7D6D-E3E8-C142EB7C92C4}"/>
              </a:ext>
            </a:extLst>
          </p:cNvPr>
          <p:cNvSpPr>
            <a:spLocks noGrp="1"/>
          </p:cNvSpPr>
          <p:nvPr>
            <p:ph type="sldNum" sz="quarter" idx="10"/>
          </p:nvPr>
        </p:nvSpPr>
        <p:spPr/>
        <p:txBody>
          <a:bodyPr/>
          <a:lstStyle/>
          <a:p>
            <a:fld id="{D97AE203-F84D-4A7F-B161-8561326BE072}" type="slidenum">
              <a:rPr lang="en-US" smtClean="0"/>
              <a:pPr/>
              <a:t>30</a:t>
            </a:fld>
            <a:endParaRPr lang="en-US" dirty="0"/>
          </a:p>
        </p:txBody>
      </p:sp>
      <p:pic>
        <p:nvPicPr>
          <p:cNvPr id="4" name="Picture 3">
            <a:extLst>
              <a:ext uri="{FF2B5EF4-FFF2-40B4-BE49-F238E27FC236}">
                <a16:creationId xmlns:a16="http://schemas.microsoft.com/office/drawing/2014/main" id="{435B370B-B524-55B7-8DFA-989DF55857A6}"/>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609599"/>
            <a:ext cx="12192000" cy="6539345"/>
          </a:xfrm>
          <a:prstGeom prst="rect">
            <a:avLst/>
          </a:prstGeom>
          <a:noFill/>
          <a:ln>
            <a:noFill/>
          </a:ln>
        </p:spPr>
      </p:pic>
    </p:spTree>
    <p:extLst>
      <p:ext uri="{BB962C8B-B14F-4D97-AF65-F5344CB8AC3E}">
        <p14:creationId xmlns:p14="http://schemas.microsoft.com/office/powerpoint/2010/main" val="36745581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65"/>
          <p:cNvSpPr>
            <a:spLocks noChangeArrowheads="1"/>
          </p:cNvSpPr>
          <p:nvPr/>
        </p:nvSpPr>
        <p:spPr bwMode="auto">
          <a:xfrm>
            <a:off x="1524001" y="4868025"/>
            <a:ext cx="184731" cy="600164"/>
          </a:xfrm>
          <a:prstGeom prst="rect">
            <a:avLst/>
          </a:prstGeom>
          <a:noFill/>
          <a:ln w="9525">
            <a:noFill/>
            <a:miter lim="800000"/>
            <a:headEnd/>
            <a:tailEnd/>
          </a:ln>
        </p:spPr>
        <p:txBody>
          <a:bodyPr wrap="none" anchor="ctr">
            <a:spAutoFit/>
          </a:bodyPr>
          <a:lstStyle/>
          <a:p>
            <a:br>
              <a:rPr lang="en-GB" sz="900" dirty="0"/>
            </a:br>
            <a:endParaRPr lang="en-GB" dirty="0"/>
          </a:p>
        </p:txBody>
      </p:sp>
      <p:sp>
        <p:nvSpPr>
          <p:cNvPr id="6" name="TextBox 5"/>
          <p:cNvSpPr txBox="1"/>
          <p:nvPr/>
        </p:nvSpPr>
        <p:spPr>
          <a:xfrm>
            <a:off x="1752600" y="1143001"/>
            <a:ext cx="8458200" cy="4078039"/>
          </a:xfrm>
          <a:prstGeom prst="rect">
            <a:avLst/>
          </a:prstGeom>
          <a:noFill/>
          <a:ln w="28575">
            <a:noFill/>
          </a:ln>
        </p:spPr>
        <p:txBody>
          <a:bodyPr>
            <a:spAutoFit/>
          </a:bodyPr>
          <a:lstStyle/>
          <a:p>
            <a:pPr algn="ctr">
              <a:defRPr/>
            </a:pPr>
            <a:endParaRPr lang="en-US" sz="3300" b="1" dirty="0">
              <a:solidFill>
                <a:schemeClr val="accent6">
                  <a:lumMod val="50000"/>
                </a:schemeClr>
              </a:solidFill>
              <a:latin typeface="Bookman Old Style" pitchFamily="18" charset="0"/>
              <a:cs typeface="Arial" pitchFamily="34" charset="0"/>
            </a:endParaRPr>
          </a:p>
          <a:p>
            <a:pPr algn="ctr">
              <a:defRPr/>
            </a:pPr>
            <a:endParaRPr lang="en-GB" sz="4000" b="1" dirty="0">
              <a:solidFill>
                <a:schemeClr val="accent4">
                  <a:lumMod val="75000"/>
                </a:schemeClr>
              </a:solidFill>
            </a:endParaRPr>
          </a:p>
          <a:p>
            <a:pPr algn="ctr">
              <a:defRPr/>
            </a:pPr>
            <a:r>
              <a:rPr lang="en-GB" sz="3200" b="1" dirty="0">
                <a:solidFill>
                  <a:schemeClr val="accent4">
                    <a:lumMod val="75000"/>
                  </a:schemeClr>
                </a:solidFill>
                <a:latin typeface="+mn-lt"/>
              </a:rPr>
              <a:t>THANK YOU</a:t>
            </a:r>
          </a:p>
          <a:p>
            <a:pPr algn="ctr">
              <a:defRPr/>
            </a:pPr>
            <a:endParaRPr lang="en-GB" sz="3200" b="1" dirty="0">
              <a:solidFill>
                <a:schemeClr val="accent4">
                  <a:lumMod val="75000"/>
                </a:schemeClr>
              </a:solidFill>
            </a:endParaRPr>
          </a:p>
          <a:p>
            <a:pPr algn="ctr">
              <a:defRPr/>
            </a:pPr>
            <a:endParaRPr lang="en-US" sz="3600" b="1" dirty="0">
              <a:latin typeface="Calibri" pitchFamily="34" charset="0"/>
              <a:cs typeface="Arial" pitchFamily="34" charset="0"/>
            </a:endParaRPr>
          </a:p>
          <a:p>
            <a:pPr algn="ctr">
              <a:defRPr/>
            </a:pPr>
            <a:endParaRPr lang="en-US" sz="4000" b="1" dirty="0">
              <a:solidFill>
                <a:schemeClr val="accent2">
                  <a:lumMod val="50000"/>
                </a:schemeClr>
              </a:solidFill>
              <a:latin typeface="Calibri" pitchFamily="34" charset="0"/>
              <a:cs typeface="Arial" pitchFamily="34" charset="0"/>
            </a:endParaRPr>
          </a:p>
          <a:p>
            <a:pPr algn="r">
              <a:defRPr/>
            </a:pPr>
            <a:endParaRPr lang="en-GB" i="1" dirty="0">
              <a:solidFill>
                <a:schemeClr val="accent6">
                  <a:lumMod val="75000"/>
                </a:schemeClr>
              </a:solidFill>
            </a:endParaRPr>
          </a:p>
          <a:p>
            <a:pPr>
              <a:defRPr/>
            </a:pPr>
            <a:endParaRPr lang="en-US" sz="2200" b="1" dirty="0">
              <a:latin typeface="Calibri" pitchFamily="34" charset="0"/>
              <a:cs typeface="Arial" pitchFamily="34" charset="0"/>
            </a:endParaRPr>
          </a:p>
        </p:txBody>
      </p:sp>
      <p:cxnSp>
        <p:nvCxnSpPr>
          <p:cNvPr id="7" name="Straight Connector 6"/>
          <p:cNvCxnSpPr/>
          <p:nvPr/>
        </p:nvCxnSpPr>
        <p:spPr>
          <a:xfrm rot="10800000">
            <a:off x="2362200" y="3048000"/>
            <a:ext cx="7543800" cy="1588"/>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101683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2_Origin">
  <a:themeElements>
    <a:clrScheme name="SPU colour scheme">
      <a:dk1>
        <a:sysClr val="windowText" lastClr="000000"/>
      </a:dk1>
      <a:lt1>
        <a:srgbClr val="FFFFFF"/>
      </a:lt1>
      <a:dk2>
        <a:srgbClr val="464653"/>
      </a:dk2>
      <a:lt2>
        <a:srgbClr val="DDE9EC"/>
      </a:lt2>
      <a:accent1>
        <a:srgbClr val="00B0F0"/>
      </a:accent1>
      <a:accent2>
        <a:srgbClr val="29C000"/>
      </a:accent2>
      <a:accent3>
        <a:srgbClr val="FFFF00"/>
      </a:accent3>
      <a:accent4>
        <a:srgbClr val="192EF7"/>
      </a:accent4>
      <a:accent5>
        <a:srgbClr val="F6C120"/>
      </a:accent5>
      <a:accent6>
        <a:srgbClr val="638BAD"/>
      </a:accent6>
      <a:hlink>
        <a:srgbClr val="518592"/>
      </a:hlink>
      <a:folHlink>
        <a:srgbClr val="7F7F7F"/>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34054</TotalTime>
  <Words>3203</Words>
  <Application>Microsoft Office PowerPoint</Application>
  <PresentationFormat>Widescreen</PresentationFormat>
  <Paragraphs>294</Paragraphs>
  <Slides>32</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ＭＳ Ｐゴシック</vt:lpstr>
      <vt:lpstr>Arial</vt:lpstr>
      <vt:lpstr>Bookman Old Style</vt:lpstr>
      <vt:lpstr>Calibri</vt:lpstr>
      <vt:lpstr>Gill Sans MT</vt:lpstr>
      <vt:lpstr>Symbol</vt:lpstr>
      <vt:lpstr>Wingdings</vt:lpstr>
      <vt:lpstr>Wingdings 3</vt:lpstr>
      <vt:lpstr>2_Origin</vt:lpstr>
      <vt:lpstr>PowerPoint Presentation</vt:lpstr>
      <vt:lpstr>Rationale Outlook and underlying model</vt:lpstr>
      <vt:lpstr>1. Recent macroeconomic developments (2019-23) new</vt:lpstr>
      <vt:lpstr>2. Current policy stance/initial condition new</vt:lpstr>
      <vt:lpstr>3. Forecast assumptions slightly revised</vt:lpstr>
      <vt:lpstr>External environment </vt:lpstr>
      <vt:lpstr>Domestic environment</vt:lpstr>
      <vt:lpstr>4. Summary of macroeconomic forecast  new</vt:lpstr>
      <vt:lpstr>5. Macroeconomic forecast narrative</vt:lpstr>
      <vt:lpstr>Forecast—Output and cyclical position (GDP growth)</vt:lpstr>
      <vt:lpstr>Forecast—cyclical total demand driving GDP</vt:lpstr>
      <vt:lpstr>Private consumption and cyclical position</vt:lpstr>
      <vt:lpstr>Private investment and cyclical position new</vt:lpstr>
      <vt:lpstr>Fiscal stance (i): govt demand for G&amp;S affects output directly</vt:lpstr>
      <vt:lpstr>  Fiscal stance (ii): fiscal impulse affects output via private demand</vt:lpstr>
      <vt:lpstr>Fiscal stance: govt demand and ‘fiscal impulse’─estimated effect on output</vt:lpstr>
      <vt:lpstr>Fiscal stance: deficit and its components (revenue, spending)</vt:lpstr>
      <vt:lpstr>Fiscal stance: deficit and its components (discretionary, cyclical, structural)</vt:lpstr>
      <vt:lpstr>Forecast—Inflation outlook (overview)</vt:lpstr>
      <vt:lpstr>Forecast—Core inflation (q-on-q annualized)</vt:lpstr>
      <vt:lpstr>Forecast—Food inflation (q-on-q annualized)</vt:lpstr>
      <vt:lpstr>Forecast—Energy inflation (q-on-q annualized)</vt:lpstr>
      <vt:lpstr>Forecast—Policy interest rate (interbank rate, IB)</vt:lpstr>
      <vt:lpstr>Forecast—Real interest rate (RIR) (policy and lending rates)</vt:lpstr>
      <vt:lpstr>Forecast—Nominal exchange rate (ER)</vt:lpstr>
      <vt:lpstr>Forecast—Real exchange rate (RER, q-on-q change annualized)</vt:lpstr>
      <vt:lpstr>Summary of policy stance and forecast outlook</vt:lpstr>
      <vt:lpstr>Comparison with Macro Framework</vt:lpstr>
      <vt:lpstr>Comparison with Macroeconomic Framework (MF)</vt:lpstr>
      <vt:lpstr>Alternative scenario: higher foreign food/oil prices (2023-24)</vt:lpstr>
      <vt:lpstr>QMFM: main relationships and transmission mechanisms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Economic Presentation</dc:title>
  <dc:creator>leorugwa</dc:creator>
  <cp:lastModifiedBy>arend Kouwenaar</cp:lastModifiedBy>
  <cp:revision>1218</cp:revision>
  <cp:lastPrinted>2023-06-23T12:26:08Z</cp:lastPrinted>
  <dcterms:created xsi:type="dcterms:W3CDTF">2011-04-18T20:01:25Z</dcterms:created>
  <dcterms:modified xsi:type="dcterms:W3CDTF">2024-01-13T20:59:25Z</dcterms:modified>
</cp:coreProperties>
</file>