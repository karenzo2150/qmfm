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6" r:id="rId1"/>
  </p:sldMasterIdLst>
  <p:notesMasterIdLst>
    <p:notesMasterId r:id="rId38"/>
  </p:notesMasterIdLst>
  <p:handoutMasterIdLst>
    <p:handoutMasterId r:id="rId39"/>
  </p:handoutMasterIdLst>
  <p:sldIdLst>
    <p:sldId id="540" r:id="rId2"/>
    <p:sldId id="547" r:id="rId3"/>
    <p:sldId id="511" r:id="rId4"/>
    <p:sldId id="553" r:id="rId5"/>
    <p:sldId id="554" r:id="rId6"/>
    <p:sldId id="555" r:id="rId7"/>
    <p:sldId id="556" r:id="rId8"/>
    <p:sldId id="548" r:id="rId9"/>
    <p:sldId id="512" r:id="rId10"/>
    <p:sldId id="516" r:id="rId11"/>
    <p:sldId id="549" r:id="rId12"/>
    <p:sldId id="552" r:id="rId13"/>
    <p:sldId id="524" r:id="rId14"/>
    <p:sldId id="513" r:id="rId15"/>
    <p:sldId id="515" r:id="rId16"/>
    <p:sldId id="514" r:id="rId17"/>
    <p:sldId id="551" r:id="rId18"/>
    <p:sldId id="517" r:id="rId19"/>
    <p:sldId id="541" r:id="rId20"/>
    <p:sldId id="538" r:id="rId21"/>
    <p:sldId id="544" r:id="rId22"/>
    <p:sldId id="542" r:id="rId23"/>
    <p:sldId id="539" r:id="rId24"/>
    <p:sldId id="526" r:id="rId25"/>
    <p:sldId id="401" r:id="rId26"/>
    <p:sldId id="525" r:id="rId27"/>
    <p:sldId id="527" r:id="rId28"/>
    <p:sldId id="528" r:id="rId29"/>
    <p:sldId id="530" r:id="rId30"/>
    <p:sldId id="532" r:id="rId31"/>
    <p:sldId id="521" r:id="rId32"/>
    <p:sldId id="523" r:id="rId33"/>
    <p:sldId id="536" r:id="rId34"/>
    <p:sldId id="535" r:id="rId35"/>
    <p:sldId id="531" r:id="rId36"/>
    <p:sldId id="545" r:id="rId37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40"/>
            <p14:sldId id="547"/>
            <p14:sldId id="511"/>
            <p14:sldId id="553"/>
            <p14:sldId id="554"/>
            <p14:sldId id="555"/>
            <p14:sldId id="556"/>
            <p14:sldId id="548"/>
            <p14:sldId id="512"/>
            <p14:sldId id="516"/>
            <p14:sldId id="549"/>
            <p14:sldId id="552"/>
            <p14:sldId id="524"/>
            <p14:sldId id="513"/>
            <p14:sldId id="515"/>
            <p14:sldId id="514"/>
            <p14:sldId id="551"/>
            <p14:sldId id="517"/>
            <p14:sldId id="541"/>
            <p14:sldId id="538"/>
            <p14:sldId id="544"/>
            <p14:sldId id="542"/>
            <p14:sldId id="539"/>
            <p14:sldId id="526"/>
            <p14:sldId id="401"/>
            <p14:sldId id="525"/>
            <p14:sldId id="527"/>
            <p14:sldId id="528"/>
            <p14:sldId id="530"/>
            <p14:sldId id="532"/>
            <p14:sldId id="521"/>
            <p14:sldId id="523"/>
            <p14:sldId id="536"/>
            <p14:sldId id="535"/>
            <p14:sldId id="531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1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6340" autoAdjust="0"/>
  </p:normalViewPr>
  <p:slideViewPr>
    <p:cSldViewPr snapToGrid="0">
      <p:cViewPr varScale="1">
        <p:scale>
          <a:sx n="95" d="100"/>
          <a:sy n="95" d="100"/>
        </p:scale>
        <p:origin x="634" y="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57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1/29/2024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QMFM model is originated or derived from a canonical-new Keynesian reduced form model (log-linearized equations of a micro-founded model)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263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2505">
              <a:defRPr/>
            </a:pPr>
            <a:r>
              <a:rPr lang="en-US" dirty="0"/>
              <a:t>Isssue temporary sharp deficit reduction creating volatility in output gap and inflation (and RIR, RER)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2505">
              <a:defRPr/>
            </a:pPr>
            <a:r>
              <a:rPr lang="en-US" dirty="0"/>
              <a:t>Isssue temporary sharp deficit reduction creating volatility in output gap and inflation (and RIR, RER)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2505">
              <a:defRPr/>
            </a:pPr>
            <a:r>
              <a:rPr lang="en-US" dirty="0"/>
              <a:t>Isssue temporary sharp deficit reduction creating volatility in output gap and inflation (and RIR, RER)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05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31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72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94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93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82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503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Rationale of relative (food, energy) and therefore relative core price</a:t>
            </a:r>
          </a:p>
          <a:p>
            <a:pPr defTabSz="932505">
              <a:defRPr/>
            </a:pPr>
            <a:r>
              <a:rPr lang="en-US" dirty="0"/>
              <a:t>Main message inflation: easing from interest rate and fiscal tightening (and abating shocks); reverse tightening of govt increases demand, output and a temporary above target inflation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361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effect small as import share small for country (larger for urban)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987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360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 IB not 7.4 in Q1 2023? We must convert back i= log(1+IB). Maybe need some IB smoothing, with lower drop in face of negative outputgap from govt demand?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999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explains RIR overshooting (above trend) in 2023? And below trend after2025-26?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97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Seeming overshooting of RER (then some undershooting) desirable? Can it smoothened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550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9">
              <a:defRPr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Both RIR and RER return gradually to their steady states of RIR of 2.5% and RER depreciation rate of 0%. (</a:t>
            </a:r>
            <a:r>
              <a:rPr lang="en-US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or is it 2% ie rstar 0%+country premium 2% CHECK). Should rstar_ss be raised to 0.5%?)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353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35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1/29/2024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29/01/2024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tmp"/><Relationship Id="rId4" Type="http://schemas.openxmlformats.org/officeDocument/2006/relationships/image" Target="../media/image42.tmp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905000" y="914400"/>
            <a:ext cx="8458200" cy="1754326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600" b="1" dirty="0">
                <a:solidFill>
                  <a:srgbClr val="002060"/>
                </a:solidFill>
                <a:latin typeface="+mn-lt"/>
              </a:rPr>
              <a:t>Quarterly Macro-Fiscal Outlook</a:t>
            </a:r>
          </a:p>
          <a:p>
            <a:pPr algn="ctr">
              <a:defRPr/>
            </a:pPr>
            <a:endParaRPr lang="en-GB" sz="3600" b="1" dirty="0">
              <a:solidFill>
                <a:srgbClr val="002060"/>
              </a:solidFill>
              <a:latin typeface="+mn-lt"/>
            </a:endParaRPr>
          </a:p>
          <a:p>
            <a:pPr algn="ctr">
              <a:defRPr/>
            </a:pPr>
            <a:r>
              <a:rPr lang="en-GB" sz="3600" b="1" dirty="0">
                <a:solidFill>
                  <a:srgbClr val="002060"/>
                </a:solidFill>
                <a:latin typeface="+mn-lt"/>
              </a:rPr>
              <a:t>Summary Forecast 2023-26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686050" y="4495800"/>
            <a:ext cx="681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+mn-lt"/>
              </a:rPr>
              <a:t>June 2, 2023 </a:t>
            </a:r>
            <a:r>
              <a:rPr lang="en-US" sz="2800" dirty="0">
                <a:solidFill>
                  <a:srgbClr val="FF0000"/>
                </a:solidFill>
                <a:latin typeface="+mn-lt"/>
              </a:rPr>
              <a:t>(rev. structure Aug.2023)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9906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Provide forecast for 16 quarters ahead for key macro variables (output, inflation, final demand…...) as influenced by fiscal, monetary, and exchange rate policies/stance, incl. in response to shocks and new developments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rgbClr val="FF0000"/>
                </a:solidFill>
              </a:rPr>
              <a:t>Simulate alternative policy scenarios suggest policy implications &amp; recommendations.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Provide input to (Qo or Ann. </a:t>
            </a:r>
            <a:r>
              <a:rPr lang="en-GB" sz="2000" dirty="0" err="1"/>
              <a:t>assupmtions</a:t>
            </a:r>
            <a:r>
              <a:rPr lang="en-GB" sz="2000" dirty="0"/>
              <a:t>), and complement, other projections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Tool/model: Quarterly Macro Fiscal Model (QMFM), a so-called “gap” model: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/>
              <a:t>special emphasis on </a:t>
            </a:r>
            <a:r>
              <a:rPr lang="en-GB" sz="2000" i="1" dirty="0">
                <a:solidFill>
                  <a:srgbClr val="FFC000"/>
                </a:solidFill>
              </a:rPr>
              <a:t>fiscal deficit indicators &amp; components</a:t>
            </a:r>
            <a:r>
              <a:rPr lang="en-GB" sz="2000" dirty="0">
                <a:solidFill>
                  <a:srgbClr val="FFC000"/>
                </a:solidFill>
              </a:rPr>
              <a:t> (revenue, Govt spending &amp; structural, discretional, cyclical)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/>
              <a:t>tracing key macro variables in </a:t>
            </a:r>
            <a:r>
              <a:rPr lang="en-GB" sz="2000" i="1" dirty="0"/>
              <a:t>deviation from trends</a:t>
            </a:r>
            <a:r>
              <a:rPr lang="en-GB" sz="2000" dirty="0"/>
              <a:t>, potential levels, or targets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/>
              <a:t>after shocks and policy responses, variables return </a:t>
            </a:r>
            <a:r>
              <a:rPr lang="en-GB" sz="2000" dirty="0">
                <a:solidFill>
                  <a:srgbClr val="FFC000"/>
                </a:solidFill>
              </a:rPr>
              <a:t>to their LT trends subject to persistence/lags &amp; </a:t>
            </a:r>
            <a:r>
              <a:rPr lang="en-GB" sz="2000" dirty="0" err="1">
                <a:solidFill>
                  <a:srgbClr val="FFC000"/>
                </a:solidFill>
              </a:rPr>
              <a:t>s.states</a:t>
            </a:r>
            <a:r>
              <a:rPr lang="en-GB" sz="2000" dirty="0">
                <a:solidFill>
                  <a:srgbClr val="FFC000"/>
                </a:solidFill>
              </a:rPr>
              <a:t>. 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/>
              <a:t>trends converge to </a:t>
            </a:r>
            <a:r>
              <a:rPr lang="en-GB" sz="2000" i="1" dirty="0"/>
              <a:t>steady states (</a:t>
            </a:r>
            <a:r>
              <a:rPr lang="en-GB" sz="2000" i="1" dirty="0">
                <a:solidFill>
                  <a:srgbClr val="FF0000"/>
                </a:solidFill>
              </a:rPr>
              <a:t>outside model</a:t>
            </a:r>
            <a:r>
              <a:rPr lang="en-GB" sz="2000" i="1" dirty="0"/>
              <a:t>)</a:t>
            </a:r>
            <a:r>
              <a:rPr lang="en-GB" sz="2000" dirty="0"/>
              <a:t>, e.g., potential output growth, interest and exchange rates </a:t>
            </a:r>
            <a:r>
              <a:rPr lang="en-GB" sz="2000" dirty="0">
                <a:solidFill>
                  <a:srgbClr val="FFC000"/>
                </a:solidFill>
              </a:rPr>
              <a:t>neutral rate &amp; target</a:t>
            </a:r>
            <a:r>
              <a:rPr lang="en-GB" sz="2000" dirty="0"/>
              <a:t>,  sustainable deficit level and target inflation….</a:t>
            </a:r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(2019-23)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925259" y="1112838"/>
            <a:ext cx="7162238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1" dirty="0"/>
              <a:t>Fiscal polies and Government demand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Since 2017, with fiscal consolidation deficit was fluctuation around 10% GDP, mainly driven by volatility in discretion spending for government demand (use of goods and services ………)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During 2020, deficit increased due to Covid related spending and increase in government demand (NINFA, i.e.,. Mass School constructions, use goods and services, ) mostly related to foreign finance portion.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However by 2022/23, deficit in %GDP decline to 12% from 16.2% previous year, driven by decline in capital spending, and net lending ( equities and shares (Euro bond investment projects), and loans(B/s support funds)).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Surging inflation, start from 2022 have reduced government demand in real terms. However in last quarter of 2023Q2 reversed due to floods response.</a:t>
            </a:r>
          </a:p>
          <a:p>
            <a:pPr marL="274638" lvl="1" indent="0" algn="just">
              <a:spcAft>
                <a:spcPts val="600"/>
              </a:spcAft>
              <a:buNone/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F25052-4B6A-07E2-787D-93AB289F2466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321435"/>
            <a:ext cx="4624251" cy="2667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BD61FA-CDEF-7D4D-D917-75D1F0B0D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05" y="4166961"/>
            <a:ext cx="4536657" cy="233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(2019-23)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318760" y="1127760"/>
            <a:ext cx="661924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output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Real GDP growth averaged 7.5% during 2000-19, growth in 2019 was a bit above on potential. 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During 2020, Rwandan economy contracted below 12% of normal growth(potential) of 7.5% due to supply constraints and drops in external and domestic demand.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Expansionary Fiscal policy helped in subsequent recovery of economy, despite strong bounce back in 2021 economy is estimated below potential.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Global instability such Ukraine War affected domestic economy </a:t>
            </a:r>
            <a:r>
              <a:rPr lang="en-RW" dirty="0"/>
              <a:t>slowed down the recovery from 2022Q1 onward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A61C9A-8733-EDB3-E299-82F202F714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79" y="1143000"/>
            <a:ext cx="4965792" cy="243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087366-EBDB-6F4B-B0AD-10C0B20CC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4" y="3655740"/>
            <a:ext cx="5093652" cy="294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5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(2019-23)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172890" y="1143000"/>
            <a:ext cx="6333309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inflation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Inflation in Rwanda in characterised by high volatility, mostly driven by factors unrelated to business cycle: </a:t>
            </a:r>
          </a:p>
          <a:p>
            <a:pPr lvl="4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weather related factors lead to fluctuations in harvest and agricultural price, dependence on imports especially on food and petroleum products depends on international prices.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Food and energy are main drivers of this volatility in inflation directly and indirectly.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Recently,  surging in inflation was more driven by weak harvests coincided with soaring of world food and energy prices.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5797ED-2398-91D6-B332-782D0F218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" y="1210490"/>
            <a:ext cx="4981303" cy="520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3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(2019-23)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0517" y="4080164"/>
            <a:ext cx="6432946" cy="209203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Real Interest rates; </a:t>
            </a: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 below its trend and even negative in 2019 and early 2020.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RIR rose sharply during Covid 2020-21, when inflation was subdued and the IB was lowered only once, by 0.5% 2020, in response to the Covid downturn.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However, since 2022, RIR 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has risen sharply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 inflation surged the policy RIR and ensuing real lending rate have been falling sharply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</a:rPr>
              <a:t>The lending rate has followed the interbank rate, but with a lag and a fairly constant spread of some 9%. </a:t>
            </a:r>
            <a:endParaRPr lang="en-GB" sz="1400" dirty="0"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E1615-531C-AEF9-06E9-D88424021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17" y="1170969"/>
            <a:ext cx="4587010" cy="282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B236BF-68AD-7C89-A666-225794B75D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45" y="1184823"/>
            <a:ext cx="3494809" cy="2838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117744-5DEB-5DB7-3E70-662812716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846" y="1145003"/>
            <a:ext cx="3603573" cy="287799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6853990" y="4080164"/>
            <a:ext cx="5292982" cy="209203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/>
              <a:t>Inter bank and central bank rate; 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since early 2022, NBR raised its CBR in five steps, from 4.5% to 7.5%, in response to the surge in inflation.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IB rates have followed closely while the Covid-related negative output gap declined and was perceived to be small.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IB rates also follows movement in inflation reaction.</a:t>
            </a:r>
          </a:p>
        </p:txBody>
      </p:sp>
    </p:spTree>
    <p:extLst>
      <p:ext uri="{BB962C8B-B14F-4D97-AF65-F5344CB8AC3E}">
        <p14:creationId xmlns:p14="http://schemas.microsoft.com/office/powerpoint/2010/main" val="186479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(2019-23)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0517" y="4080164"/>
            <a:ext cx="6761810" cy="209203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</a:rPr>
              <a:t>The NER depreciation rate has moved up sharply in line with the target NER depreciation rate.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</a:rPr>
              <a:t>Driven by the high inflation in Rwanda relative to its trading partners. From early 2023,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</a:rPr>
              <a:t>the speed of depreciation accelerated further, reaching an annualized rate of 16% by mid-year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>
              <a:latin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6982327" y="4080164"/>
            <a:ext cx="5164645" cy="209203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</a:rPr>
              <a:t>Since, mid-2020, the faster nominal depreciation and subdued inflation more than reversed the earlier RER appreciation.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</a:rPr>
              <a:t> However, from late 2021 till mid 2022, modest depreciation and the surge in core inflation lowered the RER, to well below trend more than offsetting the earlier increase.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</a:rPr>
              <a:t>The acceleration of NER deprecation since late 2022 resulted in a sharp increase in the rate of RER depreciation</a:t>
            </a:r>
            <a:endParaRPr lang="en-GB" sz="1400" dirty="0">
              <a:latin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483D1-9AB9-464C-EA38-3392D752B7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9" y="1209148"/>
            <a:ext cx="4432453" cy="253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0A423-175E-7342-DA25-233C349DBD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595" y="1125901"/>
            <a:ext cx="4003456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F16FE5-15B6-D0B5-A2F8-76CC4BF18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5542" y="1153903"/>
            <a:ext cx="3288030" cy="264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79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2. Current policy stance/initial condition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0260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09600"/>
          </a:xfrm>
        </p:spPr>
        <p:txBody>
          <a:bodyPr/>
          <a:lstStyle/>
          <a:p>
            <a:r>
              <a:rPr lang="en-GB" b="1" dirty="0"/>
              <a:t>3. Forecast assumptions </a:t>
            </a:r>
            <a:r>
              <a:rPr lang="en-GB" dirty="0">
                <a:solidFill>
                  <a:srgbClr val="FF0000"/>
                </a:solidFill>
              </a:rPr>
              <a:t>slightly</a:t>
            </a:r>
            <a:r>
              <a:rPr lang="en-GB" b="1" dirty="0">
                <a:solidFill>
                  <a:srgbClr val="FF0000"/>
                </a:solidFill>
              </a:rPr>
              <a:t> r</a:t>
            </a:r>
            <a:r>
              <a:rPr lang="en-GB" dirty="0">
                <a:solidFill>
                  <a:srgbClr val="FF0000"/>
                </a:solidFill>
              </a:rPr>
              <a:t>evised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11201400" cy="504507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GB" sz="2600" dirty="0"/>
              <a:t>The forecasts are conditional on exogenous and judgemental assumptions: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external environment (foreign prices, demand, food/oil prices, interest rates, 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domestic trends and gaps distilled from historic data (quarterly 2006-23)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domestic near-term forecasts (now/forecast GDP, latest CPI,  judgements…)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domestic known or expected policies (e.g., fiscal and interest rate) and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GB" sz="2600" dirty="0"/>
              <a:t>assumptions on continuation of recent shocks (e.g., in agriculture, core inflation)</a:t>
            </a:r>
          </a:p>
          <a:p>
            <a:pPr marL="0" indent="0" algn="just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55769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b="1" dirty="0"/>
              <a:t>External environment 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00600" y="4150758"/>
            <a:ext cx="3200400" cy="190565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/>
              <a:t>World real interest rates are projected to increase from negative in the past decade to close to zero in the near term, and latest WEO foresees around 1% for MT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0D3816F1-012E-3147-640F-AB15DAE3F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754" y="1519537"/>
            <a:ext cx="3095045" cy="2286000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038600"/>
            <a:ext cx="3352800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World economy slowing down as interest rates are raised in response to inflation</a:t>
            </a:r>
          </a:p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Rwanda still enjoys recovery in trading partner demand relative to Covid-years, at 3% p.y., well above trend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458200" y="4150758"/>
            <a:ext cx="2819400" cy="184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Trading partners’ CPI (in US$) was subdued at 1.5% py in past 5-7 years</a:t>
            </a:r>
          </a:p>
          <a:p>
            <a:pPr marL="274320" indent="-285750" algn="just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Projected to return to more normal level of 3% in coming years</a:t>
            </a:r>
            <a:endParaRPr lang="en-AE" sz="1800" dirty="0">
              <a:latin typeface="+mn-lt"/>
            </a:endParaRPr>
          </a:p>
        </p:txBody>
      </p:sp>
      <p:pic>
        <p:nvPicPr>
          <p:cNvPr id="16" name="Picture 15" descr="Chart, line chart&#10;&#10;Description automatically generated">
            <a:extLst>
              <a:ext uri="{FF2B5EF4-FFF2-40B4-BE49-F238E27FC236}">
                <a16:creationId xmlns:a16="http://schemas.microsoft.com/office/drawing/2014/main" id="{1BAABEE4-1924-CB6D-8E54-7A24F0228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516836"/>
            <a:ext cx="3200400" cy="2369364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37FC3D-CB21-FF02-89C6-9E38EE94F8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1516836"/>
            <a:ext cx="3095045" cy="2286000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227849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Domestic environment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04800" y="1828800"/>
            <a:ext cx="11684000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sz="2400" dirty="0"/>
              <a:t>Current fiscal, monetary, and exchange rate policies (in part </a:t>
            </a:r>
            <a:r>
              <a:rPr lang="en-GB" sz="2400" i="1" dirty="0"/>
              <a:t>“tuned”):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Fiscal </a:t>
            </a:r>
            <a:r>
              <a:rPr lang="en-GB" dirty="0"/>
              <a:t>tightening </a:t>
            </a:r>
            <a:r>
              <a:rPr lang="en-GB" sz="2400" dirty="0"/>
              <a:t>under 2022/23—2023/24 Budgets, with </a:t>
            </a:r>
            <a:r>
              <a:rPr lang="en-GB" dirty="0"/>
              <a:t>phasing out</a:t>
            </a:r>
            <a:r>
              <a:rPr lang="en-GB" sz="2400" dirty="0"/>
              <a:t> of Covid and Ukraine-crises spending, and temporary sharp reduction in fiscal deficit &amp; impulse, with deficit increasing back to ‘norma</a:t>
            </a:r>
            <a:r>
              <a:rPr lang="en-GB" dirty="0"/>
              <a:t>l’ from 2024?25</a:t>
            </a:r>
            <a:endParaRPr lang="en-GB" sz="2400" dirty="0"/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Maintenance of current level of policy interest rate (interbank rate)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Somewhat faster exchange rate depreciation in 2023 (than 2022), targeted in PCI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Expected return to normal of agricultural harvests and domestic food prices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GB" sz="24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75266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4. Summary of macroeconomic forecast  </a:t>
            </a:r>
            <a:r>
              <a:rPr lang="en-GB" dirty="0">
                <a:solidFill>
                  <a:srgbClr val="FF0000"/>
                </a:solidFill>
              </a:rPr>
              <a:t>new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04800" y="1828800"/>
            <a:ext cx="1168400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Table with </a:t>
            </a:r>
            <a:r>
              <a:rPr lang="en-GB" dirty="0"/>
              <a:t>key macroeconomic indicators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Bullet </a:t>
            </a:r>
            <a:r>
              <a:rPr lang="en-GB" dirty="0"/>
              <a:t>highlights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A few charts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16540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5. Macroeconomic forecast narrative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04800" y="1828800"/>
            <a:ext cx="1168400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Macroeconomic aggregates and their key components and drivers: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Output growth and cyclical position</a:t>
            </a:r>
            <a:endParaRPr lang="en-GB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Private demand and cyclical position</a:t>
            </a:r>
            <a:endParaRPr lang="en-GB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Government demand and deficit, structural, cyclical and discretionary components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Inflation and components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Nominal and real interest rates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Nominal and real ex</a:t>
            </a:r>
            <a:r>
              <a:rPr lang="en-GB" sz="2400" dirty="0"/>
              <a:t>change</a:t>
            </a:r>
            <a:r>
              <a:rPr lang="en-GB" dirty="0"/>
              <a:t> rates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52405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b="1" dirty="0"/>
              <a:t>Forecast—Output and cyclical position </a:t>
            </a:r>
            <a:r>
              <a:rPr lang="en-GB" dirty="0"/>
              <a:t>(GDP growth)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1591467"/>
            <a:ext cx="5181600" cy="4935419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Output growth: </a:t>
            </a:r>
            <a:r>
              <a:rPr lang="en-GB" sz="2000" dirty="0"/>
              <a:t>to rise a bit above trend in 2023-24, completing post-Covid recovery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Driven by</a:t>
            </a:r>
            <a:r>
              <a:rPr lang="en-GB" sz="2000" b="1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consumption recovering from Covid shocks, helped by below-trend RIR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exports recovering from Covid shocks though hampered by still below-trend RER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govt spending dropped in FY 2022/23 (incl. ending Covid- and Ukraine-crises spending)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further govt tightening in FY2023/24, before returning to ‘normal’ (</a:t>
            </a:r>
            <a:r>
              <a:rPr lang="en-GB" sz="2000" i="1" dirty="0"/>
              <a:t>cf. </a:t>
            </a:r>
            <a:r>
              <a:rPr lang="en-GB" sz="2000" i="1" dirty="0">
                <a:solidFill>
                  <a:schemeClr val="accent2">
                    <a:lumMod val="50000"/>
                  </a:schemeClr>
                </a:solidFill>
              </a:rPr>
              <a:t>Fiscal Impulse </a:t>
            </a:r>
            <a:r>
              <a:rPr lang="en-GB" sz="2000" i="1" dirty="0"/>
              <a:t>below</a:t>
            </a:r>
            <a:r>
              <a:rPr lang="en-GB" sz="20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output back to trend of 7.5 % p.y. from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B8512-E1DD-10B3-6515-A9CE1A80F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481258"/>
            <a:ext cx="67564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68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058400" cy="762000"/>
          </a:xfrm>
        </p:spPr>
        <p:txBody>
          <a:bodyPr/>
          <a:lstStyle/>
          <a:p>
            <a:r>
              <a:rPr lang="en-GB" b="1" dirty="0"/>
              <a:t>Forecast—cyclical total demand driving GDP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E53A78-6149-73BC-44A9-99D9F5188F33}"/>
              </a:ext>
            </a:extLst>
          </p:cNvPr>
          <p:cNvSpPr txBox="1">
            <a:spLocks/>
          </p:cNvSpPr>
          <p:nvPr/>
        </p:nvSpPr>
        <p:spPr>
          <a:xfrm>
            <a:off x="533400" y="1295400"/>
            <a:ext cx="4648200" cy="5121276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solidFill>
                  <a:schemeClr val="accent1"/>
                </a:solidFill>
              </a:rPr>
              <a:t>GDP below potential:  </a:t>
            </a:r>
            <a:r>
              <a:rPr lang="en-GB" sz="2000" dirty="0"/>
              <a:t>gap is estimated at 4 % at end-2022</a:t>
            </a:r>
          </a:p>
          <a:p>
            <a:pPr marL="0" indent="0">
              <a:buNone/>
            </a:pPr>
            <a:r>
              <a:rPr lang="en-GB" sz="2000" b="1" dirty="0">
                <a:solidFill>
                  <a:schemeClr val="accent1"/>
                </a:solidFill>
              </a:rPr>
              <a:t>Output (</a:t>
            </a:r>
            <a:r>
              <a:rPr lang="en-GB" sz="2000" dirty="0"/>
              <a:t>GDP) to return to its potential level by 2025, i.e., GDP if growth had continued at pre-Covid trend rate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Driven by</a:t>
            </a:r>
            <a:r>
              <a:rPr lang="en-GB" sz="2000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disappearing Covid down-pull from consumption and exports, which are forecast to return to normal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exports recovering from Covid-related shocks and helped by increasing RER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govt demand—pulled up output under Covid—goes ‘in reverse’ in 2022/23-20243/24, before picking up thereafter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212B5-A207-3BDA-36AD-389DF9023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270969"/>
            <a:ext cx="6828368" cy="512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78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b="1" dirty="0"/>
              <a:t>Private consumption and cyclical position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b="1" dirty="0">
                <a:solidFill>
                  <a:schemeClr val="accent1"/>
                </a:solidFill>
              </a:rPr>
              <a:t>Consumption gap:  </a:t>
            </a:r>
            <a:r>
              <a:rPr lang="en-GB" sz="2000" b="1" dirty="0"/>
              <a:t> </a:t>
            </a:r>
            <a:endParaRPr lang="en-GB" sz="2000" b="1" dirty="0">
              <a:solidFill>
                <a:schemeClr val="accent1"/>
              </a:solidFill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key driver of 2020-21 negative output gap (</a:t>
            </a:r>
            <a:r>
              <a:rPr lang="en-GB" sz="1800" u="sng" dirty="0"/>
              <a:t>+</a:t>
            </a:r>
            <a:r>
              <a:rPr lang="en-GB" sz="1800" dirty="0"/>
              <a:t>75 % of GDP)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Covid negative shocks (persistence) forecast to end in 2023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fiscal impulse helped offset somewhat negative consumption shocks during Covid, but oxen it is ending in 2023</a:t>
            </a:r>
            <a:endParaRPr lang="en-GB" sz="1400" b="1" dirty="0"/>
          </a:p>
          <a:p>
            <a:pPr marL="0" indent="0" algn="just">
              <a:buNone/>
            </a:pPr>
            <a:endParaRPr lang="en-AE" sz="14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5FF67D-3E27-1BC9-9FF6-68A4F623CC18}"/>
              </a:ext>
            </a:extLst>
          </p:cNvPr>
          <p:cNvSpPr txBox="1">
            <a:spLocks/>
          </p:cNvSpPr>
          <p:nvPr/>
        </p:nvSpPr>
        <p:spPr>
          <a:xfrm>
            <a:off x="1143000" y="4876800"/>
            <a:ext cx="4419600" cy="158036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endParaRPr lang="en-AE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DA25-5C9F-F1F8-8B9C-3CE84D7513B0}"/>
              </a:ext>
            </a:extLst>
          </p:cNvPr>
          <p:cNvSpPr txBox="1"/>
          <p:nvPr/>
        </p:nvSpPr>
        <p:spPr>
          <a:xfrm rot="10800000" flipV="1">
            <a:off x="381000" y="5060332"/>
            <a:ext cx="5334000" cy="149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000" b="1" dirty="0">
                <a:solidFill>
                  <a:srgbClr val="00B0F0"/>
                </a:solidFill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growth</a:t>
            </a:r>
            <a:r>
              <a:rPr lang="en-GB" sz="2000" b="1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GB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ontinued recovery from Covid, with higher than trend growth in 2023-24</a:t>
            </a:r>
            <a:endParaRPr lang="en-US" sz="18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GB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eturns to its trend growth from 2025</a:t>
            </a:r>
            <a:endParaRPr lang="en-US" sz="18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5CD0ED-67A7-49CD-88A2-9FAF93C68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53862"/>
            <a:ext cx="4419600" cy="36810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24B118-97F9-2D00-B56C-06A743D8C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95599"/>
            <a:ext cx="5435600" cy="38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37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b="1" dirty="0"/>
              <a:t>Private investment and cyclical position </a:t>
            </a:r>
            <a:r>
              <a:rPr lang="en-GB" dirty="0">
                <a:solidFill>
                  <a:srgbClr val="FF0000"/>
                </a:solidFill>
              </a:rPr>
              <a:t>new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AE" sz="14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5FF67D-3E27-1BC9-9FF6-68A4F623CC18}"/>
              </a:ext>
            </a:extLst>
          </p:cNvPr>
          <p:cNvSpPr txBox="1">
            <a:spLocks/>
          </p:cNvSpPr>
          <p:nvPr/>
        </p:nvSpPr>
        <p:spPr>
          <a:xfrm>
            <a:off x="1143000" y="4876800"/>
            <a:ext cx="4419600" cy="158036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endParaRPr lang="en-AE" sz="1400" b="1" dirty="0"/>
          </a:p>
        </p:txBody>
      </p:sp>
    </p:spTree>
    <p:extLst>
      <p:ext uri="{BB962C8B-B14F-4D97-AF65-F5344CB8AC3E}">
        <p14:creationId xmlns:p14="http://schemas.microsoft.com/office/powerpoint/2010/main" val="1606340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r>
              <a:rPr lang="en-GB" b="1" dirty="0"/>
              <a:t>Fiscal stance (i): govt demand for G&amp;S affects output directly</a:t>
            </a:r>
            <a:endParaRPr lang="en-AE" sz="20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56274" y="4050939"/>
            <a:ext cx="6092126" cy="2654661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800" b="1" dirty="0">
                <a:solidFill>
                  <a:schemeClr val="accent1"/>
                </a:solidFill>
              </a:rPr>
              <a:t>Government demand for G&amp;S </a:t>
            </a:r>
            <a:r>
              <a:rPr lang="en-GB" sz="1800" i="1" dirty="0"/>
              <a:t>(direct) </a:t>
            </a:r>
            <a:r>
              <a:rPr lang="en-GB" sz="1800" dirty="0"/>
              <a:t>(</a:t>
            </a:r>
            <a:r>
              <a:rPr lang="en-GB" sz="1800" u="sng" dirty="0"/>
              <a:t>+</a:t>
            </a:r>
            <a:r>
              <a:rPr lang="en-GB" sz="1800" dirty="0"/>
              <a:t> 23% of GDP):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mainly exogenous (discretionary spending)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some anti-cyclical spending (e.g., transfers) kicks in under downturn, esp. in Covid episode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under Covid, high govt demand helped offset negative output gap, with </a:t>
            </a:r>
            <a:r>
              <a:rPr lang="en-GB" sz="1800" i="1" dirty="0"/>
              <a:t>positive impact </a:t>
            </a:r>
            <a:r>
              <a:rPr lang="en-GB" sz="1800" dirty="0"/>
              <a:t>estimated at 1½ % of GDP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in 2022/23 and 2023/24, sharp tightening in govt demand with </a:t>
            </a:r>
            <a:r>
              <a:rPr lang="en-GB" sz="1800" i="1" dirty="0"/>
              <a:t>reverse</a:t>
            </a:r>
            <a:r>
              <a:rPr lang="en-GB" sz="1800" dirty="0"/>
              <a:t> </a:t>
            </a:r>
            <a:r>
              <a:rPr lang="en-GB" sz="1800" i="1" dirty="0"/>
              <a:t>negative impact </a:t>
            </a:r>
            <a:r>
              <a:rPr lang="en-GB" sz="1800" dirty="0"/>
              <a:t>on output gap</a:t>
            </a: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156275" y="1260708"/>
            <a:ext cx="11654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8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Fiscal policies (“fiscal stance”) affect output in the short-run via several </a:t>
            </a:r>
            <a:r>
              <a:rPr lang="en-GB" sz="1800" b="1" u="sng" dirty="0">
                <a:solidFill>
                  <a:schemeClr val="accent1"/>
                </a:solidFill>
                <a:latin typeface="Gill Sans MT" panose="020B0502020104020203" pitchFamily="34" charset="0"/>
              </a:rPr>
              <a:t>channels</a:t>
            </a:r>
            <a:r>
              <a:rPr lang="en-GB" sz="18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 captured in the model:</a:t>
            </a:r>
            <a:endParaRPr lang="en-GB" sz="1800" i="1" dirty="0">
              <a:latin typeface="Gill Sans MT" panose="020B05020201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95814C-9E87-B6FA-02F5-38EFDCDDD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292" y="1752601"/>
            <a:ext cx="5711125" cy="511444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534BF-B928-4B83-1DE1-1D0A45F9F56F}"/>
              </a:ext>
            </a:extLst>
          </p:cNvPr>
          <p:cNvSpPr txBox="1"/>
          <p:nvPr/>
        </p:nvSpPr>
        <p:spPr>
          <a:xfrm>
            <a:off x="308674" y="1752601"/>
            <a:ext cx="6092126" cy="2197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rgbClr val="0070C0"/>
                </a:solidFill>
                <a:latin typeface="Gill Sans MT" panose="020B0502020104020203" pitchFamily="34" charset="0"/>
              </a:rPr>
              <a:t> </a:t>
            </a:r>
            <a:r>
              <a:rPr lang="en-GB" sz="1800" dirty="0">
                <a:latin typeface="Gill Sans MT" panose="020B0502020104020203" pitchFamily="34" charset="0"/>
              </a:rPr>
              <a:t>govt demand for G&amp;S affects final demand and output </a:t>
            </a:r>
            <a:r>
              <a:rPr lang="en-GB" sz="1800" i="1" dirty="0">
                <a:latin typeface="Gill Sans MT" panose="020B0502020104020203" pitchFamily="34" charset="0"/>
              </a:rPr>
              <a:t>directly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</a:rPr>
              <a:t> discretionary deficit plus change in structural deficit (defined as “fiscal impulse”) affect private demand and output </a:t>
            </a:r>
            <a:r>
              <a:rPr lang="en-GB" sz="1800" i="1" dirty="0">
                <a:latin typeface="Gill Sans MT" panose="020B0502020104020203" pitchFamily="34" charset="0"/>
              </a:rPr>
              <a:t>indirectly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i="1" dirty="0">
                <a:latin typeface="Gill Sans MT" panose="020B0502020104020203" pitchFamily="34" charset="0"/>
              </a:rPr>
              <a:t> </a:t>
            </a:r>
            <a:r>
              <a:rPr lang="en-GB" sz="1800" dirty="0">
                <a:latin typeface="Gill Sans MT" panose="020B0502020104020203" pitchFamily="34" charset="0"/>
              </a:rPr>
              <a:t>cyclical deficit—automatic higher spending and lower revenue in downturn (and vice versa)—affects output </a:t>
            </a:r>
            <a:r>
              <a:rPr lang="en-GB" sz="1800" i="1" dirty="0">
                <a:latin typeface="Gill Sans MT" panose="020B0502020104020203" pitchFamily="34" charset="0"/>
              </a:rPr>
              <a:t>automatically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4142611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8600"/>
            <a:ext cx="10668000" cy="750514"/>
          </a:xfrm>
        </p:spPr>
        <p:txBody>
          <a:bodyPr/>
          <a:lstStyle/>
          <a:p>
            <a:r>
              <a:rPr lang="en-GB" b="1" dirty="0"/>
              <a:t>  Fiscal stance (ii): fiscal impulse affects output </a:t>
            </a:r>
            <a:r>
              <a:rPr lang="en-GB" sz="2400" b="1" dirty="0"/>
              <a:t>via private demand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76200" y="1447800"/>
            <a:ext cx="4953000" cy="499341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800" b="1" dirty="0">
                <a:solidFill>
                  <a:schemeClr val="accent1"/>
                </a:solidFill>
              </a:rPr>
              <a:t>‘Fiscal impulse’ </a:t>
            </a:r>
            <a:r>
              <a:rPr lang="en-GB" sz="1800" i="1" dirty="0"/>
              <a:t>(indirect):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defined as discretionary deficit plus change in structural deficit (in % GDP), mainly reflects discretionary spending (demand for G&amp;S, transfers/subsidies etc.)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There was large positive fiscal impulse in only a few quarters during 2020-22, and relatively small on average over the period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affects private consumption and investment via income effect and “confidence factor”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the fiscal impulse effect on private demand and hence output during Covid years is estimated at about ½ % of GDP, but should have reverse effect on private demand in 2022/23-2023/24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DE6C8C-160B-5E4A-56ED-2AD299F94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219200"/>
            <a:ext cx="5969000" cy="56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3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10744200" cy="609600"/>
          </a:xfrm>
        </p:spPr>
        <p:txBody>
          <a:bodyPr/>
          <a:lstStyle/>
          <a:p>
            <a:r>
              <a:rPr lang="en-GB" b="1" dirty="0"/>
              <a:t>Fiscal stance: </a:t>
            </a:r>
            <a:r>
              <a:rPr lang="en-GB" dirty="0"/>
              <a:t>govt demand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‘</a:t>
            </a:r>
            <a:r>
              <a:rPr lang="en-GB" dirty="0"/>
              <a:t>fiscal impulse’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GB" sz="2400" dirty="0"/>
              <a:t>estimated effect on output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7086600" y="1295400"/>
            <a:ext cx="4419600" cy="5138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accent1"/>
                </a:solidFill>
              </a:rPr>
              <a:t>Combined effect: offsetting output gap during Covid, reverse impact due to ongoing tightening thereafter</a:t>
            </a:r>
            <a:endParaRPr lang="en-GB" sz="18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discretionary govt demand (G&amp;S) affects output </a:t>
            </a:r>
            <a:r>
              <a:rPr lang="en-GB" sz="1600" i="1" dirty="0"/>
              <a:t>directly</a:t>
            </a:r>
            <a:r>
              <a:rPr lang="en-GB" sz="1600" dirty="0"/>
              <a:t> (after imports)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during COVID, govt demand of 2 % of GDP on average increased output by almost 1.5 % of GDP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‘fiscal impulse’ in % of GDP” affected output </a:t>
            </a:r>
            <a:r>
              <a:rPr lang="en-GB" sz="1600" i="1" dirty="0"/>
              <a:t>indirectly </a:t>
            </a:r>
            <a:r>
              <a:rPr lang="en-GB" sz="1600" dirty="0"/>
              <a:t>via private demand by almost ½ % of GDP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reverse impact is expected from the fiscal tightening under PCI from 2022/23 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D889D-2CE6-66FE-448F-2D61AE205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6451600" cy="4963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6969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04800"/>
            <a:ext cx="10591800" cy="609600"/>
          </a:xfrm>
        </p:spPr>
        <p:txBody>
          <a:bodyPr/>
          <a:lstStyle/>
          <a:p>
            <a:r>
              <a:rPr lang="en-GB" b="1" dirty="0"/>
              <a:t>Fiscal stance: </a:t>
            </a:r>
            <a:r>
              <a:rPr lang="en-GB" dirty="0"/>
              <a:t>deficit and its components (revenue, spending)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228600" y="1934096"/>
            <a:ext cx="5638800" cy="4660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solidFill>
                  <a:schemeClr val="accent1"/>
                </a:solidFill>
                <a:latin typeface="Gill Sans MT" panose="020B0502020104020203" pitchFamily="34" charset="0"/>
              </a:rPr>
              <a:t>Deficit (components) tuned with near-term program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large spending cuts compared to Covid and even pre-Covid for four years from 2023/24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also, needed to offset temporary revenue shortfalls of around 1% of GDP levels in 2023/24-2024/25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deficits dips well below sustainable levels for several years, thus bringing down fast debt/GDP ratios that rose during Covid (esp.  from IMF lending)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sustainable deficit: derived grants (</a:t>
            </a:r>
            <a:r>
              <a:rPr lang="en-GB" sz="1800" u="sng" dirty="0">
                <a:latin typeface="+mn-lt"/>
              </a:rPr>
              <a:t>+</a:t>
            </a:r>
            <a:r>
              <a:rPr lang="en-GB" sz="1800" dirty="0">
                <a:latin typeface="+mn-lt"/>
              </a:rPr>
              <a:t>4.5% of GDP) and net borrowing consistent with debt/GDP of 75% (65% in NPV, 10% domestic, 15% grant element, 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05036-6D7E-A32A-15CB-82518DCD289F}"/>
              </a:ext>
            </a:extLst>
          </p:cNvPr>
          <p:cNvSpPr txBox="1"/>
          <p:nvPr/>
        </p:nvSpPr>
        <p:spPr>
          <a:xfrm>
            <a:off x="228600" y="1143000"/>
            <a:ext cx="1188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20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Deficit (excl. grants) forecast to tighten </a:t>
            </a:r>
            <a:r>
              <a:rPr lang="en-GB" sz="2000" b="1" u="sng" dirty="0">
                <a:solidFill>
                  <a:schemeClr val="accent1"/>
                </a:solidFill>
                <a:latin typeface="Gill Sans MT" panose="020B0502020104020203" pitchFamily="34" charset="0"/>
              </a:rPr>
              <a:t>+</a:t>
            </a:r>
            <a:r>
              <a:rPr lang="en-GB" sz="20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 2 % points of GDP below pre-Covid and sustainable level in 2022/23</a:t>
            </a:r>
            <a:r>
              <a:rPr lang="en-GB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GB" sz="20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2023/24, as program fast-tracks debt/GDP reduction, then to sustainable level thereafter </a:t>
            </a:r>
            <a:endParaRPr lang="en-GB" sz="2000" i="1" dirty="0">
              <a:latin typeface="Gill Sans MT" panose="020B05020201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E6C035-6C4C-9A3D-B4A5-092C80A27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850886"/>
            <a:ext cx="6200614" cy="500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55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4800"/>
            <a:ext cx="10820400" cy="609600"/>
          </a:xfrm>
        </p:spPr>
        <p:txBody>
          <a:bodyPr/>
          <a:lstStyle/>
          <a:p>
            <a:r>
              <a:rPr lang="en-GB" b="1" dirty="0"/>
              <a:t>Fiscal stance: </a:t>
            </a:r>
            <a:r>
              <a:rPr lang="en-GB" dirty="0"/>
              <a:t>deficit and its components </a:t>
            </a:r>
            <a:r>
              <a:rPr lang="en-GB" sz="2400" dirty="0"/>
              <a:t>(discretionary, cyclical, structural)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203199" y="1543110"/>
            <a:ext cx="5623731" cy="78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reductions in discretionary (demand G&amp;S, other..) spending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losses in (non-tax), revenue, are gradually being offset </a:t>
            </a:r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05036-6D7E-A32A-15CB-82518DCD289F}"/>
              </a:ext>
            </a:extLst>
          </p:cNvPr>
          <p:cNvSpPr txBox="1"/>
          <p:nvPr/>
        </p:nvSpPr>
        <p:spPr>
          <a:xfrm>
            <a:off x="76200" y="1143000"/>
            <a:ext cx="1203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20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Deficit discretionary &amp; cyclical components forecast (w. near-term program), phasing out gradually </a:t>
            </a:r>
            <a:endParaRPr lang="en-GB" sz="2000" i="1" dirty="0">
              <a:latin typeface="Gill Sans MT" panose="020B05020201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67FD6-822B-4717-981E-AA043E001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9" y="2417132"/>
            <a:ext cx="5511801" cy="45062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AC221-FB52-5041-C4C5-7C7652409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889" y="1524000"/>
            <a:ext cx="5623731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84EF88-3A08-DE80-8057-BE1893902D41}"/>
              </a:ext>
            </a:extLst>
          </p:cNvPr>
          <p:cNvSpPr txBox="1"/>
          <p:nvPr/>
        </p:nvSpPr>
        <p:spPr>
          <a:xfrm>
            <a:off x="6248400" y="6094677"/>
            <a:ext cx="5943600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Cyclical deficit components phase out as output gap goes to zero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432285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88DC-3DF3-0DDD-98BC-0D18EBCD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07818"/>
            <a:ext cx="10261600" cy="6096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Inflation outlook </a:t>
            </a:r>
            <a:r>
              <a:rPr lang="en-US" dirty="0"/>
              <a:t>(overview)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341B1-8569-6382-12CE-9A6DEAC1A2CB}"/>
              </a:ext>
            </a:extLst>
          </p:cNvPr>
          <p:cNvSpPr txBox="1"/>
          <p:nvPr/>
        </p:nvSpPr>
        <p:spPr>
          <a:xfrm>
            <a:off x="5791201" y="1129844"/>
            <a:ext cx="64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decline in q-on-q inflation translates into less fast drop in y-on-y inflation, estimated to peak in Q4 2022 and dropping to below 5% in Q1 2024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Gill Sans MT" panose="020B0502020104020203" pitchFamily="34" charset="0"/>
                <a:ea typeface="Calibri" panose="020F0502020204030204" pitchFamily="34" charset="0"/>
              </a:rPr>
              <a:t>all components drop, while drop in food prices contributes most</a:t>
            </a:r>
            <a:endParaRPr lang="en-GB" sz="1800" dirty="0">
              <a:latin typeface="Gill Sans MT" panose="020B0502020104020203" pitchFamily="34" charset="0"/>
              <a:ea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01358-B5C8-53BA-0F80-856B6C8536EC}"/>
              </a:ext>
            </a:extLst>
          </p:cNvPr>
          <p:cNvSpPr txBox="1"/>
          <p:nvPr/>
        </p:nvSpPr>
        <p:spPr>
          <a:xfrm>
            <a:off x="2438400" y="4876800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30547-2FD4-A2EA-FD07-BDD7EA5A3B52}"/>
              </a:ext>
            </a:extLst>
          </p:cNvPr>
          <p:cNvSpPr txBox="1"/>
          <p:nvPr/>
        </p:nvSpPr>
        <p:spPr>
          <a:xfrm rot="10800000" flipV="1">
            <a:off x="0" y="4575754"/>
            <a:ext cx="5638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Headline CPI components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q-on-q annualized inflation is forecast to decline gradually in 2023 after peak in Q2 2022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predicated on recent shocks abating and inflation expectations being countered by NBR action and fiscal restraint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latin typeface="Gill Sans MT" panose="020B05020201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487C8-65B7-E277-AF5B-B47ADDB54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0" y="1129844"/>
            <a:ext cx="5162034" cy="31512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D2779-0EE9-790F-B3FB-E2FB0C5A8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322916"/>
            <a:ext cx="6070599" cy="410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504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Core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72206" y="5046201"/>
            <a:ext cx="5542793" cy="140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core down from peak 2022 Q4;  main drivers: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down-pull effect from remaining output gap disappearing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strong effect of expectations and persistence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no direct effect of import prices as ~ constant in RWF terms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019800" y="1219200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foreign import prices and ER on CPI core: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prices continue declining for most of 2023-26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prices, but net direct effect is small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144837-B4B7-A234-1CAB-9C1C0CF50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04900"/>
            <a:ext cx="5486401" cy="37821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4001D8-57F6-BCEB-CE12-AF644230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60529"/>
            <a:ext cx="6019800" cy="462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84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3106"/>
            <a:ext cx="10261600" cy="681294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Food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5221689"/>
            <a:ext cx="6019800" cy="140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food down from peak in 2022 Q4; main drivers: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agricultural output is forecast to normalize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imported food prices projected to continue declining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offsetting effect of lessening RER overvaluation (faster depr.)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477000" y="1295401"/>
            <a:ext cx="5717023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of foreign prices and ER on food CPI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food prices continue declining for most of 2023-26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 but net direct effect is small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E4C541-8B2F-9A0C-B01E-CEB896094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219200"/>
            <a:ext cx="5943599" cy="396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BCFC4E-EC57-AD08-2824-4642FC3FE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776" y="2514600"/>
            <a:ext cx="571702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15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54702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Energy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9" y="5462951"/>
            <a:ext cx="5943600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energy down from peak in 2022 Q2; main drivers: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imported energy prices projected to continue declining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offsetting effect of lessening RER overvaluation (faster depr.)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172200" y="1066800"/>
            <a:ext cx="5943600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foreign import prices and ER on energy CPI: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energy prices continue declining for most of 2023-26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prices, but net direct effect is small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1E5A0-0812-B8C8-60D7-D7A675CC4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101251"/>
            <a:ext cx="5943601" cy="4243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820990-83DC-B956-2C96-089655EE9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399" y="2209799"/>
            <a:ext cx="5867401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71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418" y="228600"/>
            <a:ext cx="10261600" cy="672015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Policy interest rate </a:t>
            </a:r>
            <a:r>
              <a:rPr lang="en-US" dirty="0"/>
              <a:t>(interbank rate, IB)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0" y="4631985"/>
            <a:ext cx="5715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Policy rate (IB) influenced by NBR with its CBR: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IB followed closely the 2% points CBR increases in 2022,, enacted to combat inflation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IB forecast to go down after peak in Q1 2023 given falling inflation and still high and rising output gap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from 2024, back to trend driven by a ‘neutral’ rate of </a:t>
            </a:r>
            <a:r>
              <a:rPr lang="en-US" sz="1600" u="sng" dirty="0">
                <a:latin typeface="Gill Sans MT" panose="020B0502020104020203" pitchFamily="34" charset="0"/>
              </a:rPr>
              <a:t>almost </a:t>
            </a:r>
            <a:r>
              <a:rPr lang="en-US" sz="1600" dirty="0">
                <a:latin typeface="Gill Sans MT" panose="020B0502020104020203" pitchFamily="34" charset="0"/>
              </a:rPr>
              <a:t>7%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increased policy rate should raise RIR and stem 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410200" y="1234550"/>
            <a:ext cx="6705601" cy="140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Policy rate (IB) driven by  rule: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responding to both inflation deviation (from 5% target) and the output gap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gradual interest rate changes (lagged effect)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pulled to ‘neutral’ rate of 7% (foreign real rate, country risk, core inflation)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86877D-653C-2ABB-FED3-710BDF6C3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74" y="2743200"/>
            <a:ext cx="6477000" cy="4038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ACDDEE-DF60-E8F1-519D-BE3EC7045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143001"/>
            <a:ext cx="44577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15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Real interest rate </a:t>
            </a:r>
            <a:r>
              <a:rPr lang="en-US" dirty="0"/>
              <a:t>(RIR) (policy and lending rates)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6" y="4614287"/>
            <a:ext cx="579120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RIR policy rate (IB) (~ core-inflation one Q ahead)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forecast to continue rising and become positive from mid-2023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thus, correcting sharply below-trend levels since late 2021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after 2024, drops to zero as inflation a bit above target (as deficit and govt demand go back up to steady state levels)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then returning toward trend and ‘neutral’ rate of some 2%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real lending rate (including </a:t>
            </a:r>
            <a:r>
              <a:rPr lang="en-US" sz="1600" u="sng" dirty="0">
                <a:latin typeface="Gill Sans MT" panose="020B0502020104020203" pitchFamily="34" charset="0"/>
              </a:rPr>
              <a:t>~ </a:t>
            </a:r>
            <a:r>
              <a:rPr lang="en-US" sz="1600" dirty="0">
                <a:latin typeface="Gill Sans MT" panose="020B0502020104020203" pitchFamily="34" charset="0"/>
              </a:rPr>
              <a:t>8% premium) also back to trend. ending the pull-up effect on private 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867400" y="1109086"/>
            <a:ext cx="632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RIR policy rate (IB) components: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after sharp drop due to inflation surge in 2022, RIR starts rising from mid-2022 as policy rate increases and (expected) inflation declines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overshoots RIR trend (2%) a bit in 2023 as inflation drops fast, then undershoots RIR trend a bit as inflation temporarily above target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DAF04-C0EE-6F27-17A3-B29958E0B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97" y="1234551"/>
            <a:ext cx="5410200" cy="318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ECEA59-7406-29B2-8008-140166F67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514599"/>
            <a:ext cx="5867400" cy="434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52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Nominal exchange rate </a:t>
            </a:r>
            <a:r>
              <a:rPr lang="en-US" dirty="0"/>
              <a:t>(ER)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498" y="4642786"/>
            <a:ext cx="50899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ER policy reflected in forecast: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reflects NBR’s flexible ER policy, and hybrid rule: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ER steered toward target ER so that RER gradually falls in line with its target or trend depreciation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some response to domestic-foreign interest differentials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in 2023, before ER steered back to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trend depreciation rate converges to </a:t>
            </a:r>
            <a:r>
              <a:rPr lang="en-US" sz="1600" u="sng" dirty="0">
                <a:latin typeface="Gill Sans MT" panose="020B0502020104020203" pitchFamily="34" charset="0"/>
              </a:rPr>
              <a:t>3</a:t>
            </a:r>
            <a:r>
              <a:rPr lang="en-US" sz="1600" dirty="0">
                <a:latin typeface="Gill Sans MT" panose="020B0502020104020203" pitchFamily="34" charset="0"/>
              </a:rPr>
              <a:t>% p.y.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486400" y="1234550"/>
            <a:ext cx="670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Exchange rate policy “rule” </a:t>
            </a:r>
            <a:endParaRPr lang="en-GB" sz="1600" dirty="0">
              <a:solidFill>
                <a:srgbClr val="FF0000"/>
              </a:solidFill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mainly driven by nominal ER target, expectations, and somewhat by domestic-foreign interest rate differentials.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target driven by trend RER depr. rate (0%) and inflation differential (2%)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56A8E1-5DF8-32EC-5444-F4E233721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9" y="1234551"/>
            <a:ext cx="4800598" cy="3032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219298-36DB-6A98-5359-F42D4F03AEE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34000" y="2425325"/>
            <a:ext cx="6431282" cy="402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57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Real exchange rate </a:t>
            </a:r>
            <a:r>
              <a:rPr lang="en-US" dirty="0"/>
              <a:t>(RER, q-on-q change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-76200" y="4687379"/>
            <a:ext cx="5892798" cy="1895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RER results from ER, CPI_core and foreign CPI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forecast to switch from real appreciation in 2022 and early 2023 to real depreciation from mid-2023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returning toward trend RER depreciation rate (0%) thereafter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pull-down effect on demand (from RER appreciation in most of 2022) becomes pull-up from 2023 on as RER returns to trend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791200" y="1108299"/>
            <a:ext cx="640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RER components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after sharp decline in RER since Q3 2021 as core inflation surged,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RER is forecast to increase from Q2 2023 on for several quarters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before returning to its trend (0%), with some temporary undershooting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83D265-9501-AA28-6E62-9D04CEC8387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4797" y="1219200"/>
            <a:ext cx="4724403" cy="3423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8C0236-EC49-5EA7-37FA-0053643CE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9" y="2590800"/>
            <a:ext cx="6172201" cy="430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44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EED9-CBB1-EE91-3038-6C7FEDA6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 anchor="b" anchorCtr="0"/>
          <a:lstStyle/>
          <a:p>
            <a:r>
              <a:rPr lang="en-GB" b="1" dirty="0">
                <a:latin typeface="Gill Sans MT" panose="020B0502020104020203" pitchFamily="34" charset="0"/>
              </a:rPr>
              <a:t>Summary of policy stance and forecast outlook</a:t>
            </a:r>
            <a:endParaRPr lang="en-AE" b="1" dirty="0">
              <a:latin typeface="Gill Sans MT" panose="020B05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DFE1AB-566B-84E0-11B3-DF3D9204B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61A70-5620-A72D-97D8-4EA8896A0C8F}"/>
              </a:ext>
            </a:extLst>
          </p:cNvPr>
          <p:cNvSpPr txBox="1"/>
          <p:nvPr/>
        </p:nvSpPr>
        <p:spPr>
          <a:xfrm>
            <a:off x="100632" y="1141627"/>
            <a:ext cx="11888168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Policy stance underlying the forecast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maintenance of recently increased policy interest rate (tuned for 2023Q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2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)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somewhat faster rate of exchange rate depreciation in 2023 (tuned for 2023Q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1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Calibri" panose="020F0502020204030204" pitchFamily="34" charset="0"/>
              </a:rPr>
              <a:t>reduction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 fiscal deficit (before grants) to 12% of GDP in 2023Q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1-2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, then to 9.6% in 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2023/24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 (both tuned), then return to sustainable level of around 11% of GDP (unlike PCI, much lower deficit path through 2030)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p</a:t>
            </a:r>
            <a:r>
              <a:rPr lang="en-US" sz="1800" dirty="0">
                <a:latin typeface="+mn-lt"/>
                <a:ea typeface="Calibri" panose="020F0502020204030204" pitchFamily="34" charset="0"/>
              </a:rPr>
              <a:t>ositive 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fiscal stance—2% of GDP on average </a:t>
            </a:r>
            <a:r>
              <a:rPr lang="en-US" sz="1800" dirty="0">
                <a:latin typeface="+mn-lt"/>
                <a:ea typeface="Calibri" panose="020F0502020204030204" pitchFamily="34" charset="0"/>
              </a:rPr>
              <a:t>in 2019/20-2021/22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—replaced by negative stance from 2022/23, then positive again in 2024/25 as deficit returns to sustainable level</a:t>
            </a:r>
            <a:endParaRPr lang="en-US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 of key macro indicators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RIR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forecast to rise (albeit from a low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negative level) and exert less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upward pressure on private demand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RER</a:t>
            </a:r>
            <a:r>
              <a:rPr lang="en-US" sz="20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forecasted to have faster depreciation and affect positively domestic demand (and trade balance G&amp;S)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Headline inflation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(peaked in Q4 2022) forecast to decline gradually in 2023 as food and energy prices are forecast to continue falling from their peaks in 2d half of 2022; and to be close to 5% target from 2024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GDP growth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 to pick up to average 8.5% in 2023-24 before returning to its trend of 7.5% annually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Output back to potential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as low (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</a:rPr>
              <a:t>albeit rising) RIR</a:t>
            </a:r>
            <a:r>
              <a:rPr lang="en-GB" sz="2000" dirty="0">
                <a:latin typeface="+mn-lt"/>
                <a:ea typeface="Calibri" panose="020F0502020204030204" pitchFamily="34" charset="0"/>
              </a:rPr>
              <a:t> and 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</a:rPr>
              <a:t>rising (of albeit still low) RER, keep demand up; this is countered in 2022/23-2023/24 by temporarily lower deficit, and output is back to potential only in 2026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Issue:</a:t>
            </a:r>
            <a:r>
              <a:rPr lang="en-GB" sz="20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solidFill>
                  <a:schemeClr val="accent2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address volatility (govt demand, output, inflation…) by smoothen govt deficit closer to sustainable level ?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401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Comparison with Macro Framework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F6E41-DE78-E4C2-5B42-F06E9B9420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7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Comparison with Macroeconomic Framework (MF)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C216E-2E2A-24C6-3CD9-FC63942760AD}"/>
              </a:ext>
            </a:extLst>
          </p:cNvPr>
          <p:cNvSpPr txBox="1"/>
          <p:nvPr/>
        </p:nvSpPr>
        <p:spPr>
          <a:xfrm>
            <a:off x="381000" y="1371600"/>
            <a:ext cx="11607800" cy="5135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Illustrative comparison with April 2023 projection (PCI-RSF)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+mn-lt"/>
                <a:ea typeface="Calibri" panose="020F0502020204030204" pitchFamily="34" charset="0"/>
              </a:rPr>
              <a:t>compared to MF,  the annualized QMFM result has: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  <a:ea typeface="Calibri" panose="020F0502020204030204" pitchFamily="34" charset="0"/>
              </a:rPr>
              <a:t>lower volatility in final demand components, especially for consumption, investment and imports (MF needs consumption-savings checks)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lower average CPI inflation in 2023-24, as QMFM captures the impact of the large negative fiscal stance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lower ER depreciation from 2024, as it forecast zero RER depreciation in medium term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+mn-lt"/>
                <a:ea typeface="Calibri" panose="020F0502020204030204" pitchFamily="34" charset="0"/>
              </a:rPr>
              <a:t> (MF has real depreciations each year in 2024-26, over 20% cumulatively; cp. to QMFM 6%)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higher fiscal deficits from CY 2024—returning to sustainable level--while MF-PCI has deficit much below that for 5 years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63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Alternative scenario: higher foreign food/oil prices </a:t>
            </a:r>
            <a:r>
              <a:rPr lang="en-GB" sz="2000" dirty="0">
                <a:latin typeface="Gill Sans MT" panose="020B0502020104020203" pitchFamily="34" charset="0"/>
              </a:rPr>
              <a:t>(2023-24)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3995182"/>
            <a:ext cx="609599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0"/>
            <a:ext cx="9880600" cy="609600"/>
          </a:xfrm>
        </p:spPr>
        <p:txBody>
          <a:bodyPr/>
          <a:lstStyle/>
          <a:p>
            <a:r>
              <a:rPr lang="en-US" b="1" dirty="0"/>
              <a:t>QMFM: main relationships and transmission mechanisms 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599"/>
            <a:ext cx="12192000" cy="6539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4032</TotalTime>
  <Words>3850</Words>
  <Application>Microsoft Office PowerPoint</Application>
  <PresentationFormat>Widescreen</PresentationFormat>
  <Paragraphs>326</Paragraphs>
  <Slides>36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ＭＳ Ｐゴシック</vt:lpstr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2_Origin</vt:lpstr>
      <vt:lpstr>PowerPoint Presentation</vt:lpstr>
      <vt:lpstr>I. Rationale of Outlook &amp; underlying model</vt:lpstr>
      <vt:lpstr>1I. Recent macroeconomic developments (2019-23) new</vt:lpstr>
      <vt:lpstr>1I. Recent macroeconomic developments (2019-23) new</vt:lpstr>
      <vt:lpstr>1I. Recent macroeconomic developments (2019-23) new</vt:lpstr>
      <vt:lpstr>1I. Recent macroeconomic developments (2019-23) new</vt:lpstr>
      <vt:lpstr>1I. Recent macroeconomic developments (2019-23) new</vt:lpstr>
      <vt:lpstr>2. Current policy stance/initial condition new</vt:lpstr>
      <vt:lpstr>3. Forecast assumptions slightly revised</vt:lpstr>
      <vt:lpstr>External environment </vt:lpstr>
      <vt:lpstr>Domestic environment</vt:lpstr>
      <vt:lpstr>4. Summary of macroeconomic forecast  new</vt:lpstr>
      <vt:lpstr>5. Macroeconomic forecast narrative</vt:lpstr>
      <vt:lpstr>Forecast—Output and cyclical position (GDP growth)</vt:lpstr>
      <vt:lpstr>Forecast—cyclical total demand driving GDP</vt:lpstr>
      <vt:lpstr>Private consumption and cyclical position</vt:lpstr>
      <vt:lpstr>Private investment and cyclical position new</vt:lpstr>
      <vt:lpstr>Fiscal stance (i): govt demand for G&amp;S affects output directly</vt:lpstr>
      <vt:lpstr>  Fiscal stance (ii): fiscal impulse affects output via private demand</vt:lpstr>
      <vt:lpstr>Fiscal stance: govt demand and ‘fiscal impulse’─estimated effect on output</vt:lpstr>
      <vt:lpstr>Fiscal stance: deficit and its components (revenue, spending)</vt:lpstr>
      <vt:lpstr>Fiscal stance: deficit and its components (discretionary, cyclical, structural)</vt:lpstr>
      <vt:lpstr>Forecast—Inflation outlook (overview)</vt:lpstr>
      <vt:lpstr>Forecast—Core inflation (q-on-q annualized)</vt:lpstr>
      <vt:lpstr>Forecast—Food inflation (q-on-q annualized)</vt:lpstr>
      <vt:lpstr>Forecast—Energy inflation (q-on-q annualized)</vt:lpstr>
      <vt:lpstr>Forecast—Policy interest rate (interbank rate, IB)</vt:lpstr>
      <vt:lpstr>Forecast—Real interest rate (RIR) (policy and lending rates)</vt:lpstr>
      <vt:lpstr>Forecast—Nominal exchange rate (ER)</vt:lpstr>
      <vt:lpstr>Forecast—Real exchange rate (RER, q-on-q change annualized)</vt:lpstr>
      <vt:lpstr>Summary of policy stance and forecast outlook</vt:lpstr>
      <vt:lpstr>Comparison with Macro Framework</vt:lpstr>
      <vt:lpstr>Comparison with Macroeconomic Framework (MF)</vt:lpstr>
      <vt:lpstr>Alternative scenario: higher foreign food/oil prices (2023-24)</vt:lpstr>
      <vt:lpstr>QMFM: main relationships and transmission mechanisms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Swadiq ISHIMWE</dc:creator>
  <cp:lastModifiedBy>Swadiq ISHIMWE</cp:lastModifiedBy>
  <cp:revision>28</cp:revision>
  <dcterms:modified xsi:type="dcterms:W3CDTF">2024-01-29T08:07:25Z</dcterms:modified>
</cp:coreProperties>
</file>