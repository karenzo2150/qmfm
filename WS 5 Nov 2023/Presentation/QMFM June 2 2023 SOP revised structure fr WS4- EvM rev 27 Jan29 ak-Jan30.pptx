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22B_F2FAC97D.xml" ContentType="application/vnd.ms-powerpoint.comments+xml"/>
  <Override PartName="/ppt/comments/modernComment_231_6F267B12.xml" ContentType="application/vnd.ms-powerpoint.comments+xml"/>
  <Override PartName="/ppt/comments/modernComment_230_10A434AE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3">
  <p:sldMasterIdLst>
    <p:sldMasterId id="2147483716" r:id="rId1"/>
  </p:sldMasterIdLst>
  <p:notesMasterIdLst>
    <p:notesMasterId r:id="rId29"/>
  </p:notesMasterIdLst>
  <p:handoutMasterIdLst>
    <p:handoutMasterId r:id="rId30"/>
  </p:handoutMasterIdLst>
  <p:sldIdLst>
    <p:sldId id="540" r:id="rId2"/>
    <p:sldId id="547" r:id="rId3"/>
    <p:sldId id="565" r:id="rId4"/>
    <p:sldId id="554" r:id="rId5"/>
    <p:sldId id="511" r:id="rId6"/>
    <p:sldId id="555" r:id="rId7"/>
    <p:sldId id="561" r:id="rId8"/>
    <p:sldId id="556" r:id="rId9"/>
    <p:sldId id="560" r:id="rId10"/>
    <p:sldId id="516" r:id="rId11"/>
    <p:sldId id="562" r:id="rId12"/>
    <p:sldId id="563" r:id="rId13"/>
    <p:sldId id="564" r:id="rId14"/>
    <p:sldId id="515" r:id="rId15"/>
    <p:sldId id="514" r:id="rId16"/>
    <p:sldId id="551" r:id="rId17"/>
    <p:sldId id="517" r:id="rId18"/>
    <p:sldId id="541" r:id="rId19"/>
    <p:sldId id="544" r:id="rId20"/>
    <p:sldId id="557" r:id="rId21"/>
    <p:sldId id="559" r:id="rId22"/>
    <p:sldId id="558" r:id="rId23"/>
    <p:sldId id="523" r:id="rId24"/>
    <p:sldId id="553" r:id="rId25"/>
    <p:sldId id="535" r:id="rId26"/>
    <p:sldId id="531" r:id="rId27"/>
    <p:sldId id="545" r:id="rId28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40"/>
            <p14:sldId id="547"/>
            <p14:sldId id="565"/>
            <p14:sldId id="554"/>
            <p14:sldId id="511"/>
            <p14:sldId id="555"/>
            <p14:sldId id="561"/>
            <p14:sldId id="556"/>
            <p14:sldId id="560"/>
            <p14:sldId id="516"/>
            <p14:sldId id="562"/>
            <p14:sldId id="563"/>
            <p14:sldId id="564"/>
            <p14:sldId id="515"/>
            <p14:sldId id="514"/>
            <p14:sldId id="551"/>
            <p14:sldId id="517"/>
            <p14:sldId id="541"/>
            <p14:sldId id="544"/>
            <p14:sldId id="557"/>
            <p14:sldId id="559"/>
            <p14:sldId id="558"/>
            <p14:sldId id="523"/>
            <p14:sldId id="553"/>
            <p14:sldId id="535"/>
            <p14:sldId id="531"/>
            <p14:sldId id="5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riste MANIRUMVA" initials="EM" lastIdx="4" clrIdx="0">
    <p:extLst>
      <p:ext uri="{19B8F6BF-5375-455C-9EA6-DF929625EA0E}">
        <p15:presenceInfo xmlns:p15="http://schemas.microsoft.com/office/powerpoint/2012/main" userId="S-1-5-21-367653040-3284563744-1480659140-55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71" autoAdjust="0"/>
    <p:restoredTop sz="95788" autoAdjust="0"/>
  </p:normalViewPr>
  <p:slideViewPr>
    <p:cSldViewPr>
      <p:cViewPr varScale="1">
        <p:scale>
          <a:sx n="113" d="100"/>
          <a:sy n="113" d="100"/>
        </p:scale>
        <p:origin x="44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2957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comments/modernComment_22B_F2FAC97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0F8DDC-AF7E-4D53-A872-143F6FAC060F}" authorId="{D56D2716-681C-0ED8-9BD4-37117C3B4FB8}" created="2024-01-30T02:42:41.828">
    <pc:sldMkLst xmlns:pc="http://schemas.microsoft.com/office/powerpoint/2013/main/command">
      <pc:docMk/>
      <pc:sldMk cId="4076521853" sldId="555"/>
    </pc:sldMkLst>
    <p188:txBody>
      <a:bodyPr/>
      <a:lstStyle/>
      <a:p>
        <a:r>
          <a:rPr lang="en-US"/>
          <a:t>[main factors incl. weather-induced fluctuations in harvests and agricultural prices, openness and dependence on imports, especially for food and petroleum products with volatile international prices, and lack of competition in many markets]</a:t>
        </a:r>
      </a:p>
    </p188:txBody>
  </p188:cm>
</p188:cmLst>
</file>

<file path=ppt/comments/modernComment_230_10A434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50F3CE-93E3-4C1D-9E52-EB119C359615}" authorId="{D56D2716-681C-0ED8-9BD4-37117C3B4FB8}" created="2024-01-30T02:59:35.69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9196846" sldId="560"/>
      <ac:spMk id="6" creationId="{C6C9B4C0-ECF5-C038-96C2-D0753F470035}"/>
    </ac:deMkLst>
    <p188:txBody>
      <a:bodyPr/>
      <a:lstStyle/>
      <a:p>
        <a:r>
          <a:rPr lang="en-US"/>
          <a:t>Floods: tiny impact</a:t>
        </a:r>
      </a:p>
    </p188:txBody>
  </p188:cm>
</p188:cmLst>
</file>

<file path=ppt/comments/modernComment_231_6F267B1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9734A9-64BD-48A8-8800-6AD25EAF20E4}" authorId="{D56D2716-681C-0ED8-9BD4-37117C3B4FB8}" created="2024-01-30T02:43:22.34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64792850" sldId="561"/>
      <ac:spMk id="10" creationId="{B6A2B117-8381-BB07-8CFB-C0970E7114CA}"/>
    </ac:deMkLst>
    <p188:txBody>
      <a:bodyPr/>
      <a:lstStyle/>
      <a:p>
        <a:r>
          <a:rPr lang="en-US"/>
          <a:t>Drop: interest rates move gradually, the rule has a heavy weight for the lagged interest rate while trending back to the neutral rate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1/31/2024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1/31/2024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26110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3" tIns="46413" rIns="92823" bIns="46413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6"/>
            <a:ext cx="5680694" cy="4224651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0688" y="704850"/>
            <a:ext cx="6261100" cy="35210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977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673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QMFM sustainable debt-creating deficit is 5% of GDP under assumptions of: debt/GDP target of 55% (45% in NPV terms, o/w 10% domestic and 35% foreign debt, grant element 22%), real GDP growth 7.5% </a:t>
            </a:r>
            <a:r>
              <a:rPr lang="en-US" dirty="0" err="1"/>
              <a:t>p.y</a:t>
            </a:r>
            <a:r>
              <a:rPr lang="en-US" dirty="0"/>
              <a:t>., trading partner inflation 2% </a:t>
            </a:r>
            <a:r>
              <a:rPr lang="en-US" dirty="0" err="1"/>
              <a:t>p.y</a:t>
            </a:r>
            <a:r>
              <a:rPr lang="en-US" dirty="0"/>
              <a:t>., and trend RER depreciation rate 0%. The structural deficit consists of revenue 21%, government consumption 13%,government  investment 11%, and other spending 5% of GDP.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708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808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131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13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72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294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4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more aggregate models, “fiscal impulse” comprises both direct effect of govt spending on G&amp;S and the indirect effect via private consumption and investment (affected by transfers/subsidies and reduced effective revenue collection)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58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4820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MINECOFIN can have a different assessment of  path and impact of monetary and ER policies than NBR, just as NBR can have a different assessment of path and impact of fiscal policies.</a:t>
            </a:r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534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630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069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26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0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1/31/2024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31/01/2024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microsoft.com/office/2018/10/relationships/comments" Target="../comments/modernComment_22B_F2FAC97D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microsoft.com/office/2018/10/relationships/comments" Target="../comments/modernComment_231_6F267B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230_10A434AE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Document1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Document2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emf"/><Relationship Id="rId4" Type="http://schemas.openxmlformats.org/officeDocument/2006/relationships/image" Target="../media/image4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tmp"/><Relationship Id="rId7" Type="http://schemas.openxmlformats.org/officeDocument/2006/relationships/image" Target="../media/image61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tmp"/><Relationship Id="rId5" Type="http://schemas.openxmlformats.org/officeDocument/2006/relationships/image" Target="../media/image59.tmp"/><Relationship Id="rId4" Type="http://schemas.openxmlformats.org/officeDocument/2006/relationships/image" Target="../media/image58.tm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866900" y="3475772"/>
            <a:ext cx="8458200" cy="148284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+mn-lt"/>
              </a:rPr>
              <a:t>Quarterly Macro-Fiscal Outlook (QMFO)</a:t>
            </a:r>
          </a:p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+mn-lt"/>
              </a:rPr>
              <a:t>Summary Outlook Presentation 2023-26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48000" y="57150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January 3, 2024</a:t>
            </a:r>
            <a:endParaRPr lang="en-US" sz="28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78755-694B-F809-9288-A5B861F3FF33}"/>
              </a:ext>
            </a:extLst>
          </p:cNvPr>
          <p:cNvSpPr txBox="1"/>
          <p:nvPr/>
        </p:nvSpPr>
        <p:spPr>
          <a:xfrm>
            <a:off x="1524001" y="990600"/>
            <a:ext cx="8458200" cy="107721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+mn-lt"/>
              </a:rPr>
              <a:t>MINECOFIN Quarterly Macro-Fiscal Model (QMFM)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05857"/>
            <a:ext cx="10261600" cy="549274"/>
          </a:xfrm>
        </p:spPr>
        <p:txBody>
          <a:bodyPr/>
          <a:lstStyle/>
          <a:p>
            <a:r>
              <a:rPr lang="en-GB" b="1" dirty="0"/>
              <a:t>Outline/contents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94143-809D-C767-7D9E-2097A352781A}"/>
              </a:ext>
            </a:extLst>
          </p:cNvPr>
          <p:cNvSpPr txBox="1"/>
          <p:nvPr/>
        </p:nvSpPr>
        <p:spPr>
          <a:xfrm>
            <a:off x="609600" y="1016927"/>
            <a:ext cx="11328400" cy="580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romanUcPeriod"/>
            </a:pPr>
            <a:r>
              <a:rPr lang="en-GB" sz="1800" b="1" dirty="0">
                <a:latin typeface="+mn-lt"/>
              </a:rPr>
              <a:t>Rationale of outlook &amp; underlying model</a:t>
            </a: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800" b="1" dirty="0">
                <a:latin typeface="+mn-lt"/>
              </a:rPr>
              <a:t>Recent macroeconomic developments</a:t>
            </a: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800" b="1" dirty="0">
                <a:latin typeface="+mn-lt"/>
              </a:rPr>
              <a:t>Macroeconomic forecast assumptions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Summary current cyclical position &amp; policy stance &amp; </a:t>
            </a:r>
            <a:r>
              <a:rPr lang="en-US" sz="1400" b="1" dirty="0" err="1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ExtEnv</a:t>
            </a:r>
            <a:endParaRPr lang="en-US" sz="1400" b="1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Domestic environment assumptions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External environment assumptions</a:t>
            </a:r>
            <a:endParaRPr lang="en-US" sz="1400" b="1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800" b="1" dirty="0"/>
              <a:t>Macroeconomic forecast/outlook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Summary of macroeconomic forecast/outlook </a:t>
            </a:r>
            <a:r>
              <a:rPr lang="en-GB" sz="9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(2023Q3-2027Q4)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Output and cyclical position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Fiscal deficit and components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Inflation-headline CPI</a:t>
            </a:r>
          </a:p>
          <a:p>
            <a:pPr marL="971550" lvl="1" indent="-5143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Monetary policy –interest and exchange rates</a:t>
            </a:r>
            <a:endParaRPr lang="en-GB" sz="1400" b="1" dirty="0">
              <a:latin typeface="+mn-lt"/>
            </a:endParaRP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Data issues and requests &amp; suggestions</a:t>
            </a:r>
            <a:endParaRPr lang="en-GB" sz="1100" b="1" dirty="0"/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kumimoji="0" lang="en-GB" sz="11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j-cs"/>
              </a:rPr>
              <a:t>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0"/>
                <a:ea typeface="ＭＳ Ｐゴシック" charset="-128"/>
                <a:cs typeface="+mj-cs"/>
              </a:rPr>
              <a:t>Alternative scenario</a:t>
            </a:r>
            <a:r>
              <a:rPr lang="en-GB" sz="1800" b="1" dirty="0">
                <a:solidFill>
                  <a:prstClr val="black"/>
                </a:solidFill>
                <a:latin typeface="Gill Sans MT" panose="020B0502020104020203" pitchFamily="34" charset="0"/>
                <a:cs typeface="+mj-cs"/>
              </a:rPr>
              <a:t>s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 pitchFamily="34" charset="0"/>
              <a:ea typeface="ＭＳ Ｐゴシック" charset="-128"/>
              <a:cs typeface="+mj-cs"/>
            </a:endParaRPr>
          </a:p>
          <a:p>
            <a:pPr marL="514350" indent="-514350">
              <a:lnSpc>
                <a:spcPct val="150000"/>
              </a:lnSpc>
              <a:buAutoNum type="romanUcPeriod"/>
            </a:pPr>
            <a:r>
              <a:rPr lang="en-US" sz="1600" b="1" dirty="0">
                <a:solidFill>
                  <a:prstClr val="black"/>
                </a:solidFill>
                <a:latin typeface="Gill Sans MT"/>
                <a:cs typeface="+mj-cs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QMFM: main relationships and transmission mechanisms </a:t>
            </a:r>
            <a:endParaRPr lang="en-GB" sz="1600" b="1" dirty="0"/>
          </a:p>
          <a:p>
            <a:pPr marL="514350" indent="-514350">
              <a:buAutoNum type="romanUcPeriod"/>
            </a:pPr>
            <a:endParaRPr lang="en-RW" sz="2000" dirty="0"/>
          </a:p>
        </p:txBody>
      </p:sp>
    </p:spTree>
    <p:extLst>
      <p:ext uri="{BB962C8B-B14F-4D97-AF65-F5344CB8AC3E}">
        <p14:creationId xmlns:p14="http://schemas.microsoft.com/office/powerpoint/2010/main" val="283734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GB" b="1" dirty="0"/>
              <a:t>I. Rationale of outlook &amp; underlying model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i="1" dirty="0"/>
              <a:t>provide forecast for key macro variables </a:t>
            </a:r>
            <a:r>
              <a:rPr lang="en-GB" sz="1800" dirty="0"/>
              <a:t>(i.e.,. output, inflation, final demand…...)</a:t>
            </a:r>
            <a:r>
              <a:rPr lang="en-GB" sz="1800" i="1" dirty="0"/>
              <a:t> </a:t>
            </a:r>
            <a:r>
              <a:rPr lang="en-GB" sz="2000" i="1" dirty="0"/>
              <a:t>for </a:t>
            </a:r>
            <a:r>
              <a:rPr lang="en-GB" sz="2000" dirty="0"/>
              <a:t>16 quarters ahead as influenced by </a:t>
            </a:r>
            <a:r>
              <a:rPr lang="en-GB" sz="2000" i="1" dirty="0"/>
              <a:t>fiscal, monetary, and exchange rate policies</a:t>
            </a:r>
            <a:r>
              <a:rPr lang="en-GB" sz="2000" dirty="0"/>
              <a:t>, incl. in response to shocks and new developments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simulate alternative policy scenarios suggest policy implications &amp; recommendations.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provide input for the </a:t>
            </a:r>
            <a:r>
              <a:rPr lang="en-US" sz="2000" dirty="0"/>
              <a:t>validated macro-fiscal projections underpinning the (medium-term) Budgets and IMF-supported programs, comp</a:t>
            </a:r>
            <a:r>
              <a:rPr lang="en-GB" sz="2000" dirty="0"/>
              <a:t>lementing the intMF and other macro projection tools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facilitate policy coordination between MINECOFIN and NBR; IMF mission preparation; policy debate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tool/model: Quarterly Macro Fiscal Model, a so-called “gap” model: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emphasis on fiscal variables &amp; deficit components (revenue, govt spending &amp; structural, discretionary, cyclical components)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tracing key macro variables in deviation from trends, potential levels, or targets: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600" dirty="0"/>
              <a:t>after shocks and policy responses, variables return to their LT trends subject to persistence/lags (outside model) </a:t>
            </a:r>
          </a:p>
          <a:p>
            <a:pPr marL="274638" lvl="1" indent="0" algn="just">
              <a:spcAft>
                <a:spcPts val="600"/>
              </a:spcAft>
              <a:buNone/>
            </a:pPr>
            <a:r>
              <a:rPr lang="en-GB" sz="1600" dirty="0"/>
              <a:t>potential growth, neutral interest rate, equilibrium real exchange rate change, sustainable deficit, target inflation rate….</a:t>
            </a:r>
          </a:p>
        </p:txBody>
      </p:sp>
    </p:spTree>
    <p:extLst>
      <p:ext uri="{BB962C8B-B14F-4D97-AF65-F5344CB8AC3E}">
        <p14:creationId xmlns:p14="http://schemas.microsoft.com/office/powerpoint/2010/main" val="322072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1I. Recent macroeconomic developments</a:t>
            </a:r>
            <a:r>
              <a:rPr lang="en-US" sz="2400" dirty="0"/>
              <a:t> </a:t>
            </a:r>
            <a:r>
              <a:rPr lang="en-US" sz="1600" dirty="0"/>
              <a:t>(2017-23Q2)</a:t>
            </a:r>
            <a:br>
              <a:rPr lang="en-US" sz="2000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Real GDP/Output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4FADF2-D58D-3533-D198-2489EABB42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1159718"/>
            <a:ext cx="3505200" cy="241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656309-AB20-5277-6C61-67F364BE9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1" y="1181100"/>
            <a:ext cx="3135629" cy="24362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9C76D3-DD4D-7593-516B-AD5C495D43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147474"/>
            <a:ext cx="3581400" cy="243622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5638800" y="3812270"/>
            <a:ext cx="6162040" cy="260440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/>
              <a:t>Real GDP,   </a:t>
            </a:r>
            <a:r>
              <a:rPr lang="en-GB" sz="1100" b="1" dirty="0"/>
              <a:t>YoY %</a:t>
            </a:r>
          </a:p>
          <a:p>
            <a:pPr lvl="1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trend growth (2000-19) averaged 7.5%</a:t>
            </a:r>
          </a:p>
          <a:p>
            <a:pPr lvl="1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>
                <a:solidFill>
                  <a:schemeClr val="tx1"/>
                </a:solidFill>
              </a:rPr>
              <a:t>in COVID 2020, GDP dropped 3.4% and was 12% below potential (had trend growth continued) </a:t>
            </a:r>
            <a:r>
              <a:rPr lang="en-GB" sz="1200" dirty="0"/>
              <a:t>due to drops in external and domestic demand and supply constraints </a:t>
            </a:r>
          </a:p>
          <a:p>
            <a:pPr lvl="1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expansionary fiscal policy mitigated Covid output drop and helped subsequent recovery</a:t>
            </a:r>
          </a:p>
          <a:p>
            <a:pPr lvl="1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global instability, esp. Ukraine-war, </a:t>
            </a:r>
            <a:r>
              <a:rPr lang="en-RW" sz="1200" dirty="0"/>
              <a:t>slowed down the recovery from 2022Q1 onward</a:t>
            </a:r>
            <a:endParaRPr lang="en-US" sz="1200" dirty="0"/>
          </a:p>
          <a:p>
            <a:pPr lvl="1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despite strong bounce back in 2021, GDP estimated 6% below potential in late 2023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293370" y="3810000"/>
            <a:ext cx="5269229" cy="276998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0" lvl="1"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latin typeface="+mn-lt"/>
              </a:rPr>
              <a:t>Output gap (%) drivers 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accounted for most of the GDP drop and output gap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fall in imports and expansionary government demand helped mitigate the downpull on GDP;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0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contributed most to the recovery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supported by continued government demand, while exports remained sluggish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  <a:endParaRPr lang="en-RW" sz="10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post-Covid recovery slowed down due to jumps in international oil and food prices, causing high inflation and drop in real consumption and other demand</a:t>
            </a:r>
            <a:endParaRPr lang="en-US" sz="10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</a:rPr>
              <a:t>fiscal consolidation started (though in part thwarted by floods) and lowered the expansionary effect of govt demand</a:t>
            </a:r>
            <a:endParaRPr lang="en-RW" sz="1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6337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1I. Recent macroeconomic developments</a:t>
            </a:r>
            <a:r>
              <a:rPr lang="en-US" dirty="0"/>
              <a:t> </a:t>
            </a:r>
            <a:br>
              <a:rPr lang="en-US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Fiscal policies and deficit components </a:t>
            </a:r>
            <a:r>
              <a:rPr lang="en-US" sz="1400" dirty="0">
                <a:solidFill>
                  <a:schemeClr val="accent4">
                    <a:lumMod val="50000"/>
                  </a:schemeClr>
                </a:solidFill>
              </a:rPr>
              <a:t>(2015/16-2022/23)</a:t>
            </a:r>
            <a:endParaRPr lang="en-AE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A09020-722A-2530-E06A-654D71AEDEE1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219200"/>
            <a:ext cx="3962401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81AB16D-B314-3DAD-0E05-999CF27A5DCF}"/>
              </a:ext>
            </a:extLst>
          </p:cNvPr>
          <p:cNvSpPr txBox="1">
            <a:spLocks/>
          </p:cNvSpPr>
          <p:nvPr/>
        </p:nvSpPr>
        <p:spPr>
          <a:xfrm>
            <a:off x="457201" y="4239895"/>
            <a:ext cx="11560446" cy="2237105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200" b="1" dirty="0"/>
              <a:t>Fiscal deficit (before grants, % GDP, GFS-1986) and Govt demand (%GDP)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[some fiscal consolidation pre-Covid</a:t>
            </a:r>
            <a:r>
              <a:rPr lang="en-US" sz="1200" dirty="0"/>
              <a:t>—slightly lowered deficits averaging 10% of GDP in FY2015/16—2018/19, mainly through lower spending on G&amp;S (“discretionary”)]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expansionary fiscal stance under Covid</a:t>
            </a:r>
            <a:r>
              <a:rPr lang="en-US" sz="1200" dirty="0"/>
              <a:t>—increased deficits averaging 14% of GDP in FY2019/20—2021/22, mainly Covid-related spending on G&amp;S (incl. school construction) and transfers/subsidies, mostly “discretionary” spending and deficit, only small “cyclical” deficit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/>
              <a:t>start of fiscal consolidation post-Covid</a:t>
            </a:r>
            <a:r>
              <a:rPr lang="en-US" sz="1200" dirty="0"/>
              <a:t>—deficit declined to 12% of GDP in FY2022/23, with spending on G&amp;S falling by 3% points of GDP (despite flood-related spending)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fiscal stance entailed </a:t>
            </a:r>
            <a:r>
              <a:rPr lang="en-US" sz="1200" b="1" dirty="0">
                <a:solidFill>
                  <a:schemeClr val="tx1"/>
                </a:solidFill>
              </a:rPr>
              <a:t>sharp drop in real govt demand for G&amp;S, </a:t>
            </a:r>
            <a:r>
              <a:rPr lang="en-US" sz="1200" dirty="0">
                <a:solidFill>
                  <a:schemeClr val="tx1"/>
                </a:solidFill>
              </a:rPr>
              <a:t>further exacerbated by surging inflation from early 2022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11B4CD-C5B6-ACA8-B4E0-A9E13E08C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1207770"/>
            <a:ext cx="3618580" cy="27546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313822-106D-7CFF-3909-60C65049C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219200"/>
            <a:ext cx="3547111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75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12860"/>
            <a:ext cx="10261600" cy="509980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Inflation—headline CPI 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7315200" y="3686567"/>
            <a:ext cx="4673600" cy="294283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/>
              <a:t>CPI ,  YoY %</a:t>
            </a:r>
          </a:p>
          <a:p>
            <a:pPr algn="just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highly volatile,  mostly driven by factors unrelated to business cycle (</a:t>
            </a:r>
            <a:r>
              <a:rPr lang="en-US" sz="1100" dirty="0"/>
              <a:t>e.g., agric. &amp; weather shocks, energy), output gap has only modest influence</a:t>
            </a:r>
          </a:p>
          <a:p>
            <a:pPr algn="just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food &amp; energy prices contribute most to volatility, directly and indirectly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tx1"/>
                </a:solidFill>
              </a:rPr>
              <a:t>each inflation component has its own drivers (charts)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dirty="0"/>
              <a:t>recent surge in inflation: weak harvests, soaring world food and energy prices, other domestic supply-side shocks….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200" dirty="0"/>
              <a:t>deceleration observed in core and food inflation, fall in energy from 2023Q1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3733800" y="3704827"/>
            <a:ext cx="3505200" cy="258532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latin typeface="+mn-lt"/>
              </a:rPr>
              <a:t>Headline CPI—drivers  (left chart)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above target during 2020 induced by higher COVID-related food and core prices (imports)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10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lower, driven by still sluggish economy, good agricultural harvests, and less expensive imports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ill Sans MT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sharply increasing </a:t>
            </a:r>
            <a:r>
              <a:rPr lang="en-US" sz="11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food prices</a:t>
            </a: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driven by negative agricultural production gap and other supply shocks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sharply increasing world </a:t>
            </a:r>
            <a:r>
              <a:rPr lang="en-US" sz="11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energy and commodity prices </a:t>
            </a:r>
            <a:endParaRPr lang="en-RW" sz="1100" i="1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c</a:t>
            </a:r>
            <a:r>
              <a:rPr lang="en-US" sz="1100" i="1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ore prices</a:t>
            </a:r>
            <a:r>
              <a:rPr lang="en-US" sz="1100" dirty="0">
                <a:solidFill>
                  <a:srgbClr val="000000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 expectations, import prices (in/direct), supply-side shocks (pricing behavior not captured in model)</a:t>
            </a:r>
            <a:endParaRPr lang="en-US" sz="1100" dirty="0">
              <a:solidFill>
                <a:srgbClr val="000000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219C67-8853-96F0-5F09-ACC5A3F627B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693529"/>
            <a:ext cx="3352800" cy="2783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206D10-3E90-9AEE-B85A-34DD26EE8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11" y="1179066"/>
            <a:ext cx="3048000" cy="24362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FDBE65-806C-0051-222B-9CE011F37E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2320" y="1177288"/>
            <a:ext cx="2849880" cy="243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0875A6-BDFF-8CEB-7780-DF590F60DB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2136" y="1203010"/>
            <a:ext cx="3048000" cy="23583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30476B-44A0-E21C-FFED-4C6E968AA0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6215" y="1255137"/>
            <a:ext cx="2639790" cy="232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218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1008" y="266700"/>
            <a:ext cx="10261600" cy="533399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Monetary policies (</a:t>
            </a:r>
            <a:r>
              <a:rPr lang="en-US" sz="2000" b="1" dirty="0" err="1">
                <a:solidFill>
                  <a:schemeClr val="accent4">
                    <a:lumMod val="50000"/>
                  </a:schemeClr>
                </a:solidFill>
              </a:rPr>
              <a:t>i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): market interest rates </a:t>
            </a:r>
            <a:r>
              <a:rPr lang="en-US" sz="1600" dirty="0"/>
              <a:t>(2019-23)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220517" y="4080164"/>
            <a:ext cx="6432946" cy="23968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600" b="1" dirty="0"/>
              <a:t>Real interest rates, %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rose during Covid 2020-21, when inflation was subdued and the IB was lowered only once, by 0.5% 2020, in response to the Covid downturn</a:t>
            </a:r>
            <a:endParaRPr lang="en-US" sz="14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since </a:t>
            </a:r>
            <a:r>
              <a:rPr lang="en-GB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mid-2021, </a:t>
            </a:r>
            <a:r>
              <a:rPr lang="en-GB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below trends; IB even negative in most of 2022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mid-2022, went back up sharply as nominal interest rates were moved up and inflation declined 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real lending rates followed IB, and after a low point of 7% in mid-2022 reached some 12% by 2023Q3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7E1615-531C-AEF9-06E9-D884240219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17" y="1170969"/>
            <a:ext cx="4587010" cy="2826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B236BF-68AD-7C89-A666-225794B75D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545" y="1184823"/>
            <a:ext cx="3494809" cy="2838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117744-5DEB-5DB7-3E70-6628127161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3846" y="1145003"/>
            <a:ext cx="3603573" cy="287799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A2B117-8381-BB07-8CFB-C0970E7114CA}"/>
              </a:ext>
            </a:extLst>
          </p:cNvPr>
          <p:cNvSpPr txBox="1">
            <a:spLocks/>
          </p:cNvSpPr>
          <p:nvPr/>
        </p:nvSpPr>
        <p:spPr>
          <a:xfrm>
            <a:off x="6853990" y="4080164"/>
            <a:ext cx="5292982" cy="22444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600" b="1" dirty="0"/>
              <a:t>IB (effective ‘policy’ rate)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since 2017 and esp. through 2020-21, IB was on a downward path and below its trend (‘neutral’) level of some 6.5-7%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since early 2022 to 2023, CBR raised stepwise from 4.5% to 7.5% in response to inflation—IB rate followed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IB rate almost back to neutral rate by mid-2023 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400" dirty="0">
              <a:latin typeface="Times New Roman" panose="02020603050405020304" pitchFamily="18" charset="0"/>
            </a:endParaRPr>
          </a:p>
          <a:p>
            <a:pPr marL="0" indent="0" algn="just">
              <a:spcAft>
                <a:spcPts val="600"/>
              </a:spcAft>
              <a:buNone/>
            </a:pPr>
            <a:r>
              <a:rPr lang="en-GB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647928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669" y="317497"/>
            <a:ext cx="10261600" cy="488951"/>
          </a:xfrm>
        </p:spPr>
        <p:txBody>
          <a:bodyPr/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Monetary policies (ii): exchange rates </a:t>
            </a:r>
            <a:r>
              <a:rPr lang="en-US" sz="1600" dirty="0"/>
              <a:t>(2019-23)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5867400" y="4114800"/>
            <a:ext cx="5715000" cy="209203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400" b="1" dirty="0"/>
              <a:t>nominal Exchange Rate (ER), </a:t>
            </a:r>
            <a:r>
              <a:rPr lang="en-US" sz="1000" b="1" dirty="0" err="1"/>
              <a:t>QoQ</a:t>
            </a:r>
            <a:r>
              <a:rPr lang="en-US" sz="1000" b="1" dirty="0"/>
              <a:t> %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since late 2022, the ER depreciation rate has moved up sharply in line with the target ER depreciation rate</a:t>
            </a:r>
          </a:p>
          <a:p>
            <a:pPr marL="273050" lvl="1" algn="just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driven largely by high domestic inflation relative to trading partners, in addition to other factors (interest-rate differentials, trend RER depreciation rate,..) </a:t>
            </a:r>
          </a:p>
          <a:p>
            <a:pPr marL="0" indent="0" algn="just">
              <a:spcAft>
                <a:spcPts val="600"/>
              </a:spcAft>
              <a:buNone/>
            </a:pPr>
            <a:endParaRPr lang="en-GB" sz="1400" dirty="0">
              <a:latin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A2B117-8381-BB07-8CFB-C0970E7114CA}"/>
              </a:ext>
            </a:extLst>
          </p:cNvPr>
          <p:cNvSpPr txBox="1">
            <a:spLocks/>
          </p:cNvSpPr>
          <p:nvPr/>
        </p:nvSpPr>
        <p:spPr>
          <a:xfrm>
            <a:off x="76200" y="4114800"/>
            <a:ext cx="5638800" cy="230187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400" b="1" dirty="0"/>
              <a:t>Real exchange rate (RER), </a:t>
            </a:r>
            <a:r>
              <a:rPr lang="en-US" sz="1000" b="1" dirty="0" err="1"/>
              <a:t>QoQ</a:t>
            </a:r>
            <a:r>
              <a:rPr lang="en-US" sz="1000" b="1" dirty="0"/>
              <a:t> %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from mid-2020, the faster nominal depreciation (+) and subdued inflation more than reversed the earlier RER appreciation (-)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however, from late 2021 till 2022Q3, modest nominal depreciation and surge in core inflation lowered RER, to well below trend, more than offsetting the earlier increase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/>
              <a:t>acceleration of nominal depreciation since late 2022 resulted in a sharp increase in the rate of RER depreciation</a:t>
            </a:r>
            <a:endParaRPr lang="en-GB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E483D1-9AB9-464C-EA38-3392D752B7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76" y="1209148"/>
            <a:ext cx="4019321" cy="2537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B0A423-175E-7342-DA25-233C349DBD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813" y="1187977"/>
            <a:ext cx="4003456" cy="2716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F16FE5-15B6-D0B5-A2F8-76CC4BF18A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857" y="1209148"/>
            <a:ext cx="3288030" cy="264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01796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92075"/>
            <a:ext cx="10414000" cy="838200"/>
          </a:xfrm>
        </p:spPr>
        <p:txBody>
          <a:bodyPr/>
          <a:lstStyle/>
          <a:p>
            <a:r>
              <a:rPr lang="en-US" b="1" dirty="0"/>
              <a:t>III. Macroeconomic Forecast Assumptions </a:t>
            </a:r>
            <a:br>
              <a:rPr lang="en-US" b="1" dirty="0"/>
            </a:b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Summary current cyclical position &amp; policy stance &amp; </a:t>
            </a:r>
            <a:r>
              <a:rPr lang="en-US" sz="2000" b="1" dirty="0" err="1">
                <a:solidFill>
                  <a:schemeClr val="accent4">
                    <a:lumMod val="50000"/>
                  </a:schemeClr>
                </a:solidFill>
              </a:rPr>
              <a:t>ExtEnv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1089660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9B4C0-ECF5-C038-96C2-D0753F470035}"/>
              </a:ext>
            </a:extLst>
          </p:cNvPr>
          <p:cNvSpPr txBox="1"/>
          <p:nvPr/>
        </p:nvSpPr>
        <p:spPr>
          <a:xfrm>
            <a:off x="381000" y="1219100"/>
            <a:ext cx="11557000" cy="5686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GDP/Output, 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YoY %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estimated slower growth of 6% in 2023 (due to </a:t>
            </a:r>
            <a:r>
              <a:rPr lang="en-US" sz="1200" dirty="0">
                <a:solidFill>
                  <a:prstClr val="black"/>
                </a:solidFill>
                <a:latin typeface="Gill Sans MT"/>
              </a:rPr>
              <a:t>Ukraine war shocks, inflation surge, weak agricultural performance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)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estimated output gap </a:t>
            </a:r>
            <a:r>
              <a:rPr lang="en-US" sz="1100" dirty="0">
                <a:solidFill>
                  <a:prstClr val="black"/>
                </a:solidFill>
                <a:latin typeface="Gill Sans MT"/>
              </a:rPr>
              <a:t>(below estimated potential output)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of -7% of GDP by end-2023</a:t>
            </a:r>
          </a:p>
          <a:p>
            <a:pPr>
              <a:lnSpc>
                <a:spcPct val="150000"/>
              </a:lnSpc>
              <a:defRPr/>
            </a:pPr>
            <a:r>
              <a:rPr lang="en-US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Inflation—headline  CPI, </a:t>
            </a:r>
            <a:r>
              <a:rPr lang="en-US" sz="1100" dirty="0" err="1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QoQ</a:t>
            </a:r>
            <a:r>
              <a:rPr lang="en-US" sz="110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 %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expected to end at just above 10% in 2023—downward path from its peak of 25.6% in 2022Q2 driven by: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easing food price increases, falling energy prices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fading core-price shocks and tighter macroeconomic policies.</a:t>
            </a: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Fiscal policy stance—deficit excl. grants, govt demand</a:t>
            </a: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, 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%GDP</a:t>
            </a:r>
            <a:endParaRPr lang="en-GB" sz="105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fiscal </a:t>
            </a:r>
            <a:r>
              <a:rPr lang="en-GB" sz="1400" i="1" dirty="0">
                <a:solidFill>
                  <a:prstClr val="black"/>
                </a:solidFill>
                <a:latin typeface="Gill Sans MT"/>
              </a:rPr>
              <a:t>consolidation of 2022/23 reinforced with next two Budgets</a:t>
            </a:r>
            <a:r>
              <a:rPr lang="en-GB" sz="1400" dirty="0">
                <a:solidFill>
                  <a:prstClr val="black"/>
                </a:solidFill>
                <a:latin typeface="Gill Sans MT"/>
              </a:rPr>
              <a:t>: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 deficit reductions of 1% of GDP in FY2023/24, further 1% of GDP in FY2024/25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shift from </a:t>
            </a:r>
            <a:r>
              <a:rPr lang="en-US" sz="1400" i="1" dirty="0">
                <a:solidFill>
                  <a:prstClr val="black"/>
                </a:solidFill>
                <a:latin typeface="Gill Sans MT"/>
              </a:rPr>
              <a:t>expansionary to contractionary fiscal stance 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btn. 2020-22 and 2023-25,  mostly borne by lower govt demand for G&amp;S</a:t>
            </a:r>
          </a:p>
          <a:p>
            <a:pPr marL="1257300" lvl="2" indent="-34290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fiscal stance switches from +2% to -2% of GDP, with an average total effect on output of +/-1.7% of GDP</a:t>
            </a:r>
            <a:endParaRPr lang="en-GB" sz="1400" dirty="0">
              <a:solidFill>
                <a:prstClr val="black"/>
              </a:solidFill>
              <a:latin typeface="Gill Sans MT"/>
            </a:endParaRP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Monetary—interest &amp; exchange rate policy stance, </a:t>
            </a:r>
            <a:r>
              <a:rPr lang="en-GB" sz="1050" dirty="0" err="1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QoQ</a:t>
            </a:r>
            <a:r>
              <a:rPr lang="en-GB" sz="1050" dirty="0">
                <a:solidFill>
                  <a:schemeClr val="accent4">
                    <a:lumMod val="50000"/>
                  </a:schemeClr>
                </a:solidFill>
                <a:latin typeface="+mn-lt"/>
                <a:cs typeface="+mj-cs"/>
              </a:rPr>
              <a:t> %</a:t>
            </a:r>
            <a:endParaRPr lang="en-GB" sz="1200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modestly tight monetary (policy amidst decelerating domestic inflation)—</a:t>
            </a:r>
            <a:r>
              <a:rPr lang="en-US" sz="1400" dirty="0">
                <a:solidFill>
                  <a:prstClr val="black"/>
                </a:solidFill>
                <a:latin typeface="Gill Sans MT"/>
              </a:rPr>
              <a:t>almost back to the neutral interest rate</a:t>
            </a:r>
          </a:p>
          <a:p>
            <a:pPr marL="800100" lvl="1" indent="-342900"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real interest rate (RIR-IB) almost positive—still  below its trend of 3%—helped to stem private demand in 2023 </a:t>
            </a:r>
            <a:r>
              <a:rPr lang="en-US" sz="1000" dirty="0">
                <a:solidFill>
                  <a:prstClr val="black"/>
                </a:solidFill>
                <a:latin typeface="Gill Sans MT"/>
              </a:rPr>
              <a:t>(though consumption and investment responded little to changes)</a:t>
            </a:r>
            <a:endParaRPr lang="en-GB" sz="1200" dirty="0">
              <a:solidFill>
                <a:prstClr val="black"/>
              </a:solidFill>
              <a:latin typeface="Gill Sans M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2023 acceleration of nominal ER depreciation largely offset Rwanda’s recent high inflation differential, reversing the overvaluation since late 2021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400" dirty="0">
                <a:solidFill>
                  <a:prstClr val="black"/>
                </a:solidFill>
                <a:latin typeface="Gill Sans MT"/>
              </a:rPr>
              <a:t>this has raised real exchange rate back to its trend by 2023Q3—positively affecting net exports</a:t>
            </a:r>
            <a:endParaRPr lang="en-US" sz="1600" dirty="0">
              <a:solidFill>
                <a:prstClr val="black"/>
              </a:solidFill>
              <a:latin typeface="Gill Sans MT"/>
            </a:endParaRPr>
          </a:p>
          <a:p>
            <a:pPr>
              <a:lnSpc>
                <a:spcPct val="150000"/>
              </a:lnSpc>
              <a:defRPr/>
            </a:pPr>
            <a:r>
              <a:rPr lang="en-GB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External environment (WEO projected)</a:t>
            </a:r>
            <a:endParaRPr lang="en-GB" sz="1600" b="1" dirty="0">
              <a:solidFill>
                <a:schemeClr val="accent4">
                  <a:lumMod val="50000"/>
                </a:schemeClr>
              </a:solidFill>
              <a:latin typeface="+mn-lt"/>
              <a:cs typeface="+mj-cs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GB" sz="1400" dirty="0">
                <a:solidFill>
                  <a:prstClr val="black"/>
                </a:solidFill>
                <a:latin typeface="Gill Sans MT"/>
              </a:rPr>
              <a:t>overall more favourable external environment thanks to recovering foreign demand, easing world food and oil prices &amp; trading partner's CPI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en-US" sz="1400" dirty="0">
              <a:solidFill>
                <a:prstClr val="black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791968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External environment assumptions </a:t>
            </a:r>
            <a:r>
              <a:rPr lang="en-GB" sz="1000" b="1" dirty="0">
                <a:solidFill>
                  <a:schemeClr val="accent4">
                    <a:lumMod val="50000"/>
                  </a:schemeClr>
                </a:solidFill>
              </a:rPr>
              <a:t>(IMF WEO-GAS &amp; GEE)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4868332" y="4295583"/>
            <a:ext cx="3200400" cy="2182067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F5496"/>
                </a:solidFill>
                <a:cs typeface="Times New Roman" panose="02020603050405020304" pitchFamily="18" charset="0"/>
              </a:rPr>
              <a:t>foreign real interest rates</a:t>
            </a:r>
            <a:r>
              <a:rPr lang="en-US" sz="1800" dirty="0"/>
              <a:t>—</a:t>
            </a:r>
            <a:r>
              <a:rPr lang="en-US" sz="1100" dirty="0"/>
              <a:t>US RIR, %</a:t>
            </a:r>
          </a:p>
          <a:p>
            <a:pPr marL="274320" indent="-28575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past </a:t>
            </a:r>
            <a:r>
              <a:rPr lang="en-US" sz="1400" b="1" dirty="0"/>
              <a:t>decade</a:t>
            </a:r>
            <a:r>
              <a:rPr lang="en-US" sz="1600" b="1" dirty="0"/>
              <a:t> to </a:t>
            </a:r>
            <a:r>
              <a:rPr lang="en-US" sz="1200" b="1" dirty="0"/>
              <a:t>2027 </a:t>
            </a:r>
            <a:r>
              <a:rPr lang="en-US" sz="1600" dirty="0"/>
              <a:t>–</a:t>
            </a:r>
            <a:r>
              <a:rPr lang="en-US" sz="1400" dirty="0"/>
              <a:t>projected  to rise from negative around -1% to +1% </a:t>
            </a:r>
          </a:p>
          <a:p>
            <a:pPr marL="274320" indent="-285750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implies a one-for-one transmission to Rwanda’s sovereign borrowing rates</a:t>
            </a:r>
            <a:endParaRPr lang="en-GB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E27BE-9404-C370-027C-CC987668662F}"/>
              </a:ext>
            </a:extLst>
          </p:cNvPr>
          <p:cNvSpPr txBox="1"/>
          <p:nvPr/>
        </p:nvSpPr>
        <p:spPr>
          <a:xfrm>
            <a:off x="914400" y="4295583"/>
            <a:ext cx="3429000" cy="220573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</a:pPr>
            <a:r>
              <a:rPr lang="en-GB" sz="11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foreign demand</a:t>
            </a:r>
            <a:r>
              <a:rPr lang="en-GB" sz="1400" dirty="0">
                <a:latin typeface="+mn-lt"/>
              </a:rPr>
              <a:t>—</a:t>
            </a:r>
            <a:r>
              <a:rPr lang="en-GB" sz="1200" dirty="0">
                <a:latin typeface="+mn-lt"/>
              </a:rPr>
              <a:t>trading partners’ GDP</a:t>
            </a:r>
            <a:r>
              <a:rPr lang="en-GB" sz="1400" dirty="0">
                <a:latin typeface="+mn-lt"/>
              </a:rPr>
              <a:t>, </a:t>
            </a:r>
            <a:r>
              <a:rPr lang="en-GB" sz="600" dirty="0">
                <a:latin typeface="+mn-lt"/>
              </a:rPr>
              <a:t>YoY %</a:t>
            </a: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200" dirty="0">
                <a:latin typeface="+mn-lt"/>
              </a:rPr>
              <a:t>recovered post covid but slowing down as interest rates raised in response to inflation since mid-2022</a:t>
            </a: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200" dirty="0">
                <a:latin typeface="+mn-lt"/>
              </a:rPr>
              <a:t>recovery in relative to Covid-years, at 3% p.y., well above trend </a:t>
            </a:r>
          </a:p>
          <a:p>
            <a:pPr marL="731520" lvl="1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100" dirty="0">
                <a:latin typeface="+mn-lt"/>
              </a:rPr>
              <a:t>positively affected domestic demand </a:t>
            </a: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200" dirty="0">
                <a:latin typeface="+mn-lt"/>
              </a:rPr>
              <a:t>below trend—negatively affect domestic demand from 2024 until 2025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14C2A-2CC5-2CF7-555D-E64A5656523F}"/>
              </a:ext>
            </a:extLst>
          </p:cNvPr>
          <p:cNvSpPr txBox="1"/>
          <p:nvPr/>
        </p:nvSpPr>
        <p:spPr>
          <a:xfrm>
            <a:off x="8593664" y="4295583"/>
            <a:ext cx="3141136" cy="2269852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</a:pPr>
            <a:r>
              <a:rPr lang="en-US" sz="1600" b="1" dirty="0">
                <a:solidFill>
                  <a:srgbClr val="2F5496"/>
                </a:solidFill>
                <a:latin typeface="+mn-lt"/>
                <a:cs typeface="Times New Roman" panose="02020603050405020304" pitchFamily="18" charset="0"/>
              </a:rPr>
              <a:t>foreign inflation</a:t>
            </a:r>
            <a:r>
              <a:rPr lang="en-US" sz="1600" b="1" dirty="0">
                <a:latin typeface="+mn-lt"/>
              </a:rPr>
              <a:t>—</a:t>
            </a:r>
            <a:r>
              <a:rPr lang="en-US" sz="1400" dirty="0">
                <a:latin typeface="+mn-lt"/>
              </a:rPr>
              <a:t>trading  partners’ CPI inflation, in US$ (</a:t>
            </a:r>
            <a:r>
              <a:rPr lang="en-US" sz="1050" dirty="0">
                <a:latin typeface="+mn-lt"/>
              </a:rPr>
              <a:t>YoY %)</a:t>
            </a:r>
            <a:endParaRPr lang="en-US" sz="1600" b="1" dirty="0">
              <a:latin typeface="+mn-lt"/>
            </a:endParaRP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400" dirty="0">
                <a:latin typeface="+mn-lt"/>
              </a:rPr>
              <a:t>subdued at 1.4% </a:t>
            </a:r>
            <a:r>
              <a:rPr lang="en-GB" sz="1400" dirty="0" err="1">
                <a:latin typeface="+mn-lt"/>
              </a:rPr>
              <a:t>p.y</a:t>
            </a:r>
            <a:r>
              <a:rPr lang="en-GB" sz="1400" dirty="0">
                <a:latin typeface="+mn-lt"/>
              </a:rPr>
              <a:t>. during 2016-22 before flaring up in 2023</a:t>
            </a:r>
            <a:endParaRPr lang="en-US" sz="1400" dirty="0">
              <a:latin typeface="+mn-lt"/>
            </a:endParaRP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600" b="1" dirty="0">
                <a:latin typeface="+mn-lt"/>
              </a:rPr>
              <a:t>2024-onward</a:t>
            </a:r>
            <a:r>
              <a:rPr lang="en-US" sz="1800" dirty="0">
                <a:latin typeface="+mn-lt"/>
              </a:rPr>
              <a:t> </a:t>
            </a:r>
            <a:r>
              <a:rPr lang="en-US" sz="1600" dirty="0">
                <a:latin typeface="+mn-lt"/>
              </a:rPr>
              <a:t>projected to return to its trend level of 2%.</a:t>
            </a:r>
          </a:p>
          <a:p>
            <a:pPr marL="274320" indent="-285750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food &amp; energy prices slowing down (below trend) post 2024</a:t>
            </a:r>
            <a:endParaRPr lang="en-AE" sz="16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47C1F-109D-4B1C-BC30-E6FA8F195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6366" y="1985513"/>
            <a:ext cx="2892214" cy="2218567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A14C92-C839-2E1A-5392-CF1059982B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333" y="1985664"/>
            <a:ext cx="3200400" cy="2218567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1A0FEE-4416-9197-6107-19EDC8DA69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981200"/>
            <a:ext cx="3352800" cy="2223031"/>
          </a:xfrm>
          <a:prstGeom prst="rect">
            <a:avLst/>
          </a:prstGeom>
          <a:effectLst>
            <a:glow rad="50800">
              <a:srgbClr val="FFC000">
                <a:lumMod val="60000"/>
                <a:lumOff val="40000"/>
              </a:srgbClr>
            </a:glo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3E3C7CE-A7F7-E6C9-1342-1428AAC53EC2}"/>
              </a:ext>
            </a:extLst>
          </p:cNvPr>
          <p:cNvSpPr txBox="1"/>
          <p:nvPr/>
        </p:nvSpPr>
        <p:spPr>
          <a:xfrm>
            <a:off x="914400" y="1215602"/>
            <a:ext cx="10659534" cy="5715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07000"/>
              </a:lnSpc>
              <a:spcAft>
                <a:spcPts val="800"/>
              </a:spcAft>
            </a:pPr>
            <a:r>
              <a:rPr lang="en-GB" sz="16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overall outlook improving</a:t>
            </a:r>
            <a:r>
              <a:rPr lang="en-GB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after the Covid-Ukraine crises, but with downside risks. </a:t>
            </a:r>
            <a:r>
              <a:rPr lang="en-GB" sz="14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GB" sz="1400" i="1" dirty="0">
                <a:effectLst/>
                <a:latin typeface="+mn-lt"/>
                <a:ea typeface="Calibri" panose="020F0502020204030204" pitchFamily="34" charset="0"/>
              </a:rPr>
              <a:t>orld economy slowing down due to tight monetary policies in response to inflation</a:t>
            </a:r>
            <a:endParaRPr lang="en-RW" sz="2000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27849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Domestic environment assumptions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12E18-8FD6-EE83-F9B4-F774C96DF151}"/>
              </a:ext>
            </a:extLst>
          </p:cNvPr>
          <p:cNvSpPr txBox="1"/>
          <p:nvPr/>
        </p:nvSpPr>
        <p:spPr>
          <a:xfrm>
            <a:off x="6629400" y="1371600"/>
            <a:ext cx="5359400" cy="517879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GB" sz="1600" i="1" dirty="0">
                <a:latin typeface="+mn-lt"/>
              </a:rPr>
              <a:t>Current fiscal, monetary, and exchange rate policies (in part “tuned”—exogenously imposed on forecast):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0070C0"/>
                </a:solidFill>
                <a:latin typeface="+mn-lt"/>
              </a:rPr>
              <a:t>post-Covid consolidation and winding down </a:t>
            </a:r>
            <a:r>
              <a:rPr lang="en-US" sz="1400" dirty="0">
                <a:latin typeface="+mn-lt"/>
              </a:rPr>
              <a:t>of crisis-related spending since 2021/22 reinforced in 2023/24 Budget,</a:t>
            </a:r>
            <a:endParaRPr lang="en-US" sz="1400" dirty="0">
              <a:solidFill>
                <a:srgbClr val="FF0000"/>
              </a:solidFill>
              <a:latin typeface="+mn-lt"/>
            </a:endParaRP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latin typeface="+mn-lt"/>
              </a:rPr>
              <a:t>a further reduction in the deficit before grants to 10.8% of GDP in 2023/24, and to 9.7 % by 2025/26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latin typeface="+mn-lt"/>
              </a:rPr>
              <a:t>fiscal deficit (excl. grants) assumed return to 8% level  for beyond PCI program (2025/26-2026/27)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70C0"/>
                </a:solidFill>
                <a:latin typeface="+mn-lt"/>
              </a:rPr>
              <a:t>maintenance of current 8% level of policy interest rate </a:t>
            </a:r>
            <a:r>
              <a:rPr lang="en-GB" sz="1400" dirty="0">
                <a:latin typeface="+mn-lt"/>
              </a:rPr>
              <a:t>(IB) for 2023Q4 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70C0"/>
                </a:solidFill>
                <a:latin typeface="+mn-lt"/>
              </a:rPr>
              <a:t>somewhat faster exchange rate depreciation in 2023 </a:t>
            </a:r>
            <a:r>
              <a:rPr lang="en-GB" sz="1400" dirty="0">
                <a:latin typeface="+mn-lt"/>
              </a:rPr>
              <a:t>(than 2022), </a:t>
            </a:r>
            <a:r>
              <a:rPr lang="en-US" sz="1400" dirty="0">
                <a:latin typeface="+mn-lt"/>
              </a:rPr>
              <a:t>based on statements and the IMF PCI program targets </a:t>
            </a:r>
            <a:r>
              <a:rPr lang="en-US" sz="1000" dirty="0">
                <a:solidFill>
                  <a:srgbClr val="008013"/>
                </a:solidFill>
                <a:latin typeface="+mn-lt"/>
              </a:rPr>
              <a:t>(i.e., Q4 is </a:t>
            </a:r>
            <a:r>
              <a:rPr lang="en-US" sz="1000" b="0" i="0" dirty="0">
                <a:solidFill>
                  <a:srgbClr val="008013"/>
                </a:solidFill>
                <a:effectLst/>
                <a:latin typeface="+mn-lt"/>
              </a:rPr>
              <a:t>NBR = IMF program forecast --15% </a:t>
            </a:r>
            <a:r>
              <a:rPr lang="en-US" sz="1000" b="0" i="0" dirty="0" err="1">
                <a:solidFill>
                  <a:srgbClr val="008013"/>
                </a:solidFill>
                <a:effectLst/>
                <a:latin typeface="+mn-lt"/>
              </a:rPr>
              <a:t>eopER</a:t>
            </a:r>
            <a:r>
              <a:rPr lang="en-US" sz="1000" b="0" i="0" dirty="0">
                <a:solidFill>
                  <a:srgbClr val="008013"/>
                </a:solidFill>
                <a:effectLst/>
                <a:latin typeface="+mn-lt"/>
              </a:rPr>
              <a:t> </a:t>
            </a:r>
            <a:r>
              <a:rPr lang="en-US" sz="1000" b="0" i="0" dirty="0" err="1">
                <a:solidFill>
                  <a:srgbClr val="008013"/>
                </a:solidFill>
                <a:effectLst/>
                <a:latin typeface="+mn-lt"/>
              </a:rPr>
              <a:t>depr</a:t>
            </a:r>
            <a:r>
              <a:rPr lang="en-US" sz="1000" b="0" i="0" dirty="0">
                <a:solidFill>
                  <a:srgbClr val="008013"/>
                </a:solidFill>
                <a:effectLst/>
                <a:latin typeface="+mn-lt"/>
              </a:rPr>
              <a:t> in 2023, </a:t>
            </a:r>
            <a:r>
              <a:rPr lang="en-US" sz="1000" b="0" i="0" dirty="0" err="1">
                <a:solidFill>
                  <a:srgbClr val="008013"/>
                </a:solidFill>
                <a:effectLst/>
                <a:latin typeface="+mn-lt"/>
              </a:rPr>
              <a:t>quarterlized</a:t>
            </a:r>
            <a:r>
              <a:rPr lang="en-US" sz="1000" dirty="0">
                <a:solidFill>
                  <a:srgbClr val="008013"/>
                </a:solidFill>
                <a:latin typeface="+mn-lt"/>
              </a:rPr>
              <a:t> and </a:t>
            </a:r>
            <a:r>
              <a:rPr lang="en-US" sz="1000" b="0" i="0" dirty="0">
                <a:solidFill>
                  <a:srgbClr val="008013"/>
                </a:solidFill>
                <a:effectLst/>
                <a:latin typeface="+mn-lt"/>
              </a:rPr>
              <a:t>applied to Q3 p.a.)</a:t>
            </a:r>
            <a:endParaRPr lang="en-GB" sz="1000" dirty="0">
              <a:latin typeface="+mn-lt"/>
            </a:endParaRP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70C0"/>
                </a:solidFill>
                <a:latin typeface="+mn-lt"/>
              </a:rPr>
              <a:t>expected return to normal of agricultural harvests </a:t>
            </a:r>
            <a:r>
              <a:rPr lang="en-GB" sz="1400" dirty="0">
                <a:latin typeface="+mn-lt"/>
              </a:rPr>
              <a:t>and domestic food prices and rep. shocks during 2023Q4-24Q1</a:t>
            </a:r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AB190132-970F-21FA-781A-5CAC4F24F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0763822"/>
              </p:ext>
            </p:extLst>
          </p:nvPr>
        </p:nvGraphicFramePr>
        <p:xfrm>
          <a:off x="457200" y="1295400"/>
          <a:ext cx="60960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280812" imgH="3784112" progId="Word.Document.12">
                  <p:embed/>
                </p:oleObj>
              </mc:Choice>
              <mc:Fallback>
                <p:oleObj name="Document" r:id="rId3" imgW="6280812" imgH="3784112" progId="Word.Document.12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AB190132-970F-21FA-781A-5CAC4F24F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1295400"/>
                        <a:ext cx="6096000" cy="403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E9AF90A-CB99-7998-3709-17616CCD0F5F}"/>
              </a:ext>
            </a:extLst>
          </p:cNvPr>
          <p:cNvSpPr txBox="1"/>
          <p:nvPr/>
        </p:nvSpPr>
        <p:spPr>
          <a:xfrm>
            <a:off x="533400" y="5334000"/>
            <a:ext cx="60198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  <a:latin typeface="Gill Sans MT"/>
              </a:rPr>
              <a:t>n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ote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n-cs"/>
              </a:rPr>
              <a:t>2023/24 and 2024/25 Budget deficits and spending on G&amp;S have been tuned based on the semester breakdown of annual figures (because the projected quarterly breakdown is not available), hence quarters are the same within the semester</a:t>
            </a:r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62823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76044"/>
            <a:ext cx="10261600" cy="890756"/>
          </a:xfrm>
        </p:spPr>
        <p:txBody>
          <a:bodyPr/>
          <a:lstStyle/>
          <a:p>
            <a:r>
              <a:rPr lang="en-GB" b="1" dirty="0"/>
              <a:t>IV. Macroeconomic forecast/outlook</a:t>
            </a:r>
            <a:br>
              <a:rPr lang="en-GB" b="1" dirty="0"/>
            </a:br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Summary of macroeconomic forecast/outlook </a:t>
            </a:r>
            <a:r>
              <a:rPr lang="en-GB" sz="1100" b="1" dirty="0">
                <a:solidFill>
                  <a:schemeClr val="accent4">
                    <a:lumMod val="50000"/>
                  </a:schemeClr>
                </a:solidFill>
              </a:rPr>
              <a:t>(2023Q3-2027Q4)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16519-51F5-5EFF-CB74-11E7C7EAA74B}"/>
              </a:ext>
            </a:extLst>
          </p:cNvPr>
          <p:cNvSpPr txBox="1"/>
          <p:nvPr/>
        </p:nvSpPr>
        <p:spPr>
          <a:xfrm>
            <a:off x="368808" y="3605123"/>
            <a:ext cx="5269992" cy="272382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latin typeface="+mn-lt"/>
                <a:cs typeface="Times New Roman" panose="02020603050405020304" pitchFamily="18" charset="0"/>
              </a:rPr>
              <a:t>combination of modestly </a:t>
            </a:r>
            <a:r>
              <a:rPr lang="en-GB" sz="14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 panose="02020603050405020304" pitchFamily="18" charset="0"/>
              </a:rPr>
              <a:t>tight fiscal and monetary policies</a:t>
            </a:r>
            <a:r>
              <a:rPr lang="en-GB" sz="1400" b="1" dirty="0">
                <a:latin typeface="+mn-lt"/>
                <a:cs typeface="Times New Roman" panose="02020603050405020304" pitchFamily="18" charset="0"/>
              </a:rPr>
              <a:t> and still low RER in 2023-early 2024 should help contain domestic demand and lower inflation</a:t>
            </a:r>
            <a:r>
              <a:rPr lang="en-GB" sz="1600" b="1" i="1" dirty="0">
                <a:effectLst/>
                <a:latin typeface="+mn-lt"/>
                <a:ea typeface="Calibri" panose="020F0502020204030204" pitchFamily="34" charset="0"/>
              </a:rPr>
              <a:t>.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>
                <a:latin typeface="+mn-lt"/>
                <a:ea typeface="Calibri" panose="020F0502020204030204" pitchFamily="34" charset="0"/>
              </a:rPr>
              <a:t> a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s inflation abates to close to the 5% target from earlier 2024Q2</a:t>
            </a:r>
            <a:r>
              <a:rPr lang="en-GB" sz="1200" dirty="0">
                <a:latin typeface="+mn-lt"/>
                <a:ea typeface="Calibri" panose="020F0502020204030204" pitchFamily="34" charset="0"/>
              </a:rPr>
              <a:t>. </a:t>
            </a:r>
            <a:endParaRPr lang="en-GB" sz="1200" dirty="0">
              <a:effectLst/>
              <a:latin typeface="+mn-lt"/>
              <a:ea typeface="Calibri" panose="020F0502020204030204" pitchFamily="34" charset="0"/>
            </a:endParaRPr>
          </a:p>
          <a:p>
            <a:pPr marL="285750" lvl="1" indent="-2857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 temporarily lower interest rates (IB) &amp; RIR and higher RER should </a:t>
            </a:r>
            <a:r>
              <a:rPr lang="en-GB" sz="1400" b="1" dirty="0">
                <a:effectLst/>
                <a:latin typeface="+mn-lt"/>
                <a:ea typeface="Calibri" panose="020F0502020204030204" pitchFamily="34" charset="0"/>
              </a:rPr>
              <a:t>raise GDP growth temporarily above its trend in 2024-25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, and back to its trend </a:t>
            </a:r>
            <a:r>
              <a:rPr lang="en-GB" sz="1400" dirty="0">
                <a:latin typeface="+mn-lt"/>
                <a:ea typeface="Calibri" panose="020F0502020204030204" pitchFamily="34" charset="0"/>
              </a:rPr>
              <a:t>afterwards towards </a:t>
            </a:r>
            <a:r>
              <a:rPr lang="en-GB" sz="1400" dirty="0">
                <a:effectLst/>
                <a:latin typeface="+mn-lt"/>
                <a:ea typeface="Calibri" panose="020F0502020204030204" pitchFamily="34" charset="0"/>
              </a:rPr>
              <a:t>2027. </a:t>
            </a:r>
            <a:endParaRPr lang="en-GB" sz="20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472B94-CB25-7A89-96DA-FE0CF0D81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8" y="1276350"/>
            <a:ext cx="5269992" cy="21526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1D918C-614D-81D5-4160-172E552A9F57}"/>
              </a:ext>
            </a:extLst>
          </p:cNvPr>
          <p:cNvSpPr txBox="1"/>
          <p:nvPr/>
        </p:nvSpPr>
        <p:spPr>
          <a:xfrm>
            <a:off x="5873752" y="3374290"/>
            <a:ext cx="6142118" cy="46166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i="1" dirty="0">
                <a:effectLst/>
                <a:latin typeface="+mn-lt"/>
                <a:ea typeface="Calibri" panose="020F0502020204030204" pitchFamily="34" charset="0"/>
              </a:rPr>
              <a:t>temporary above-trend growth for two years from mid-2024 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is mostly driven by private consumption and return to normal of government demand</a:t>
            </a:r>
            <a:endParaRPr lang="en-RW" sz="1600" dirty="0">
              <a:latin typeface="+mn-lt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1ABF6EC-4EF2-AF30-F317-6BE202DEE0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92800" y="1277664"/>
          <a:ext cx="6115050" cy="2056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501286" imgH="2690964" progId="Word.Document.12">
                  <p:embed/>
                </p:oleObj>
              </mc:Choice>
              <mc:Fallback>
                <p:oleObj name="Document" r:id="rId4" imgW="6501286" imgH="2690964" progId="Word.Documen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61ABF6EC-4EF2-AF30-F317-6BE202DEE0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92800" y="1277664"/>
                        <a:ext cx="6115050" cy="2056605"/>
                      </a:xfrm>
                      <a:prstGeom prst="rect">
                        <a:avLst/>
                      </a:prstGeom>
                      <a:ln>
                        <a:solidFill>
                          <a:schemeClr val="accent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C18DEC5-1FAB-D500-293A-700C1FD54A78}"/>
              </a:ext>
            </a:extLst>
          </p:cNvPr>
          <p:cNvSpPr txBox="1"/>
          <p:nvPr/>
        </p:nvSpPr>
        <p:spPr>
          <a:xfrm>
            <a:off x="5873751" y="3962400"/>
            <a:ext cx="6115049" cy="23680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 panose="02020603050405020304" pitchFamily="18" charset="0"/>
              </a:rPr>
              <a:t>fiscal policies </a:t>
            </a:r>
            <a:r>
              <a:rPr lang="en-GB" sz="11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Times New Roman" panose="02020603050405020304" pitchFamily="18" charset="0"/>
              </a:rPr>
              <a:t>(2023/24-2025/26 &amp; onward)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B0F0"/>
                </a:solidFill>
                <a:latin typeface="+mn-lt"/>
              </a:rPr>
              <a:t>fiscal consolidation</a:t>
            </a:r>
            <a:r>
              <a:rPr lang="en-GB" sz="1400" dirty="0">
                <a:latin typeface="+mn-lt"/>
              </a:rPr>
              <a:t>—</a:t>
            </a:r>
            <a:r>
              <a:rPr lang="en-US" sz="1400" dirty="0">
                <a:latin typeface="+mn-lt"/>
              </a:rPr>
              <a:t>negative discretional spending (</a:t>
            </a:r>
            <a:r>
              <a:rPr lang="en-GB" sz="1400" dirty="0">
                <a:latin typeface="+mn-lt"/>
              </a:rPr>
              <a:t>combination of lower Govt. demand and a negative effect on private demand)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rgbClr val="C00000"/>
                </a:solidFill>
                <a:latin typeface="+mn-lt"/>
              </a:rPr>
              <a:t>shall induce a negative effect on output/GDP by some 1.2%</a:t>
            </a:r>
            <a:endParaRPr lang="en-GB" sz="1200" dirty="0">
              <a:solidFill>
                <a:srgbClr val="C00000"/>
              </a:solidFill>
              <a:latin typeface="+mn-lt"/>
            </a:endParaRPr>
          </a:p>
          <a:p>
            <a:r>
              <a:rPr lang="en-GB" sz="1400" b="1" dirty="0">
                <a:effectLst/>
                <a:latin typeface="+mn-lt"/>
                <a:ea typeface="Calibri" panose="020F0502020204030204" pitchFamily="34" charset="0"/>
              </a:rPr>
              <a:t>2025/26 onward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rgbClr val="00B0F0"/>
                </a:solidFill>
                <a:latin typeface="+mn-lt"/>
              </a:rPr>
              <a:t>fiscal consolidation estimated to die out—</a:t>
            </a:r>
            <a:r>
              <a:rPr lang="en-GB" sz="1400" dirty="0">
                <a:latin typeface="+mn-lt"/>
              </a:rPr>
              <a:t>positive discretional spending (gradually positive Govt. demand and fiscal impulse)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200" dirty="0">
                <a:solidFill>
                  <a:srgbClr val="C00000"/>
                </a:solidFill>
                <a:latin typeface="+mn-lt"/>
              </a:rPr>
              <a:t>should positively affect output/GDP</a:t>
            </a:r>
          </a:p>
        </p:txBody>
      </p:sp>
    </p:spTree>
    <p:extLst>
      <p:ext uri="{BB962C8B-B14F-4D97-AF65-F5344CB8AC3E}">
        <p14:creationId xmlns:p14="http://schemas.microsoft.com/office/powerpoint/2010/main" val="2302932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5B51-9F35-563B-B454-D804ED60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3531"/>
            <a:ext cx="10261600" cy="684669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Forecast—Output and cyclical position </a:t>
            </a:r>
            <a:r>
              <a:rPr lang="en-GB" sz="1600" dirty="0"/>
              <a:t>(GDP growth)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60EEB-4D2C-ABC6-3CBF-810371A48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B21F50-4750-8FFC-95EB-0C9188E69407}"/>
              </a:ext>
            </a:extLst>
          </p:cNvPr>
          <p:cNvSpPr txBox="1">
            <a:spLocks/>
          </p:cNvSpPr>
          <p:nvPr/>
        </p:nvSpPr>
        <p:spPr>
          <a:xfrm>
            <a:off x="228600" y="3733800"/>
            <a:ext cx="6502400" cy="2793085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33087-66B3-FFF7-5052-3B4AA24BC5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590800"/>
            <a:ext cx="5029200" cy="36165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FE48E0A-A899-A2C3-F6C6-4EB4B1EF7D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1295400"/>
          <a:ext cx="6502400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6361737" imgH="2237734" progId="Word.Document.12">
                  <p:embed/>
                </p:oleObj>
              </mc:Choice>
              <mc:Fallback>
                <p:oleObj name="Document" r:id="rId4" imgW="6361737" imgH="2237734" progId="Word.Documen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FE48E0A-A899-A2C3-F6C6-4EB4B1EF7D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8600" y="1295400"/>
                        <a:ext cx="6502400" cy="2238375"/>
                      </a:xfrm>
                      <a:prstGeom prst="rect">
                        <a:avLst/>
                      </a:prstGeom>
                      <a:ln>
                        <a:solidFill>
                          <a:schemeClr val="accent5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C4E6DE7-A98B-B707-E9A7-BECAB9107B38}"/>
              </a:ext>
            </a:extLst>
          </p:cNvPr>
          <p:cNvSpPr txBox="1"/>
          <p:nvPr/>
        </p:nvSpPr>
        <p:spPr>
          <a:xfrm>
            <a:off x="6925733" y="1295400"/>
            <a:ext cx="5029200" cy="118494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b="1" dirty="0">
                <a:effectLst/>
                <a:latin typeface="+mn-lt"/>
                <a:ea typeface="Calibri" panose="020F0502020204030204" pitchFamily="34" charset="0"/>
              </a:rPr>
              <a:t>growth of the final demand </a:t>
            </a:r>
            <a:r>
              <a:rPr lang="en-GB" sz="1100" b="1" dirty="0">
                <a:latin typeface="+mn-lt"/>
                <a:ea typeface="Calibri" panose="020F0502020204030204" pitchFamily="34" charset="0"/>
              </a:rPr>
              <a:t>&amp; </a:t>
            </a:r>
            <a:r>
              <a:rPr lang="en-GB" sz="1100" b="1" dirty="0">
                <a:effectLst/>
                <a:latin typeface="+mn-lt"/>
                <a:ea typeface="Calibri" panose="020F0502020204030204" pitchFamily="34" charset="0"/>
              </a:rPr>
              <a:t>components of GD</a:t>
            </a:r>
            <a:r>
              <a:rPr lang="en-GB" sz="1100" b="1" dirty="0">
                <a:latin typeface="+mn-lt"/>
                <a:ea typeface="Calibri" panose="020F0502020204030204" pitchFamily="34" charset="0"/>
              </a:rPr>
              <a:t>P</a:t>
            </a:r>
            <a:r>
              <a:rPr lang="en-GB" sz="1100" dirty="0">
                <a:effectLst/>
                <a:latin typeface="+mn-lt"/>
                <a:ea typeface="Calibri" panose="020F0502020204030204" pitchFamily="34" charset="0"/>
              </a:rPr>
              <a:t> </a:t>
            </a:r>
            <a:r>
              <a:rPr lang="en-GB" sz="500" b="1" dirty="0">
                <a:solidFill>
                  <a:srgbClr val="0070C0"/>
                </a:solidFill>
                <a:effectLst/>
                <a:latin typeface="+mn-lt"/>
                <a:ea typeface="Calibri" panose="020F0502020204030204" pitchFamily="34" charset="0"/>
              </a:rPr>
              <a:t>Table 6</a:t>
            </a:r>
            <a:r>
              <a:rPr lang="en-GB" sz="500" dirty="0">
                <a:effectLst/>
                <a:latin typeface="+mn-lt"/>
                <a:ea typeface="Calibri" panose="020F0502020204030204" pitchFamily="34" charset="0"/>
              </a:rPr>
              <a:t>,</a:t>
            </a:r>
          </a:p>
          <a:p>
            <a:endParaRPr lang="en-GB" sz="500" dirty="0">
              <a:effectLst/>
              <a:latin typeface="+mn-lt"/>
              <a:ea typeface="Calibri" panose="020F0502020204030204" pitchFamily="34" charset="0"/>
            </a:endParaRPr>
          </a:p>
          <a:p>
            <a:r>
              <a:rPr lang="en-US" sz="1100" dirty="0">
                <a:latin typeface="+mn-lt"/>
              </a:rPr>
              <a:t>GDP is estimated to be 7% below potential at end-2023,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</a:rPr>
              <a:t>due to both incomplete recovery from Covid and sluggish growth in 2022-23. </a:t>
            </a:r>
          </a:p>
          <a:p>
            <a:r>
              <a:rPr lang="en-US" sz="1100" dirty="0">
                <a:latin typeface="+mn-lt"/>
              </a:rPr>
              <a:t>Output growth is expected to be a bit faster than trend in 2024-26 driven by: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+mn-lt"/>
              </a:rPr>
              <a:t> a full recovery of consumption and government demand. </a:t>
            </a:r>
            <a:endParaRPr lang="en-RW" sz="1100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CDB91-4745-EE53-F35F-FDAD6B7A982C}"/>
              </a:ext>
            </a:extLst>
          </p:cNvPr>
          <p:cNvSpPr txBox="1"/>
          <p:nvPr/>
        </p:nvSpPr>
        <p:spPr>
          <a:xfrm>
            <a:off x="203200" y="3657600"/>
            <a:ext cx="6527800" cy="254973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2022-23 sluggish GDP growth, driven by:</a:t>
            </a:r>
            <a:endParaRPr lang="en-RW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--consumption recovery from Covid interrupted by 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Ukraine-war, inflation surge and restrictive policy response</a:t>
            </a: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---post-Covid fiscal consolidation with negative fiscal </a:t>
            </a: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effect &amp; 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impulse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RW" sz="12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2024-26 growth above trend, driven by:</a:t>
            </a:r>
            <a:endParaRPr lang="en-RW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---less restrictive fiscal policies as deficit gradually back to (higher) sustainable level and govt demand for G&amp;S back to normal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--exports helped by high RER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GB" sz="14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rom 2027, back to trend growth of 7.5%</a:t>
            </a:r>
            <a:endParaRPr lang="en-RW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---there is no indication that Covid has permanently reduced potential output and its growth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185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429" y="304800"/>
            <a:ext cx="10058400" cy="533400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Forecast—cyclical total demand driving GDP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E53A78-6149-73BC-44A9-99D9F5188F33}"/>
              </a:ext>
            </a:extLst>
          </p:cNvPr>
          <p:cNvSpPr txBox="1">
            <a:spLocks/>
          </p:cNvSpPr>
          <p:nvPr/>
        </p:nvSpPr>
        <p:spPr>
          <a:xfrm>
            <a:off x="289560" y="3733800"/>
            <a:ext cx="6361112" cy="2370138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dirty="0">
                <a:solidFill>
                  <a:srgbClr val="0070C0"/>
                </a:solidFill>
                <a:effectLst/>
                <a:ea typeface="Calibri" panose="020F0502020204030204" pitchFamily="34" charset="0"/>
              </a:rPr>
              <a:t>Output-below-potential (negative gap) and its components</a:t>
            </a:r>
          </a:p>
          <a:p>
            <a:pPr marL="0" indent="0">
              <a:lnSpc>
                <a:spcPct val="107000"/>
              </a:lnSpc>
              <a:spcAft>
                <a:spcPts val="600"/>
              </a:spcAft>
              <a:buNone/>
            </a:pPr>
            <a:r>
              <a:rPr lang="en-GB" sz="1600" b="1" dirty="0">
                <a:solidFill>
                  <a:srgbClr val="2F5496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Negative output gap declines gradually:</a:t>
            </a:r>
            <a:endParaRPr lang="en-RW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--lessening down pull from consumption which goes back to normal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--large initial down pull from reduction in real government spending</a:t>
            </a:r>
            <a:r>
              <a:rPr 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gradually disappearing from mid-2024 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--exports helped by increasing (depreciated) REER </a:t>
            </a:r>
            <a:endParaRPr lang="en-RW" sz="1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30E72-497C-AE6F-5585-325F5D20F4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609" y="1363662"/>
            <a:ext cx="5050971" cy="474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6BE4F4-E2EE-53F9-3208-4B39F8E01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797" y="1223169"/>
            <a:ext cx="3401875" cy="2324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31B033B-F303-BBE2-E42F-5D6CF7E2AECC}"/>
              </a:ext>
            </a:extLst>
          </p:cNvPr>
          <p:cNvSpPr txBox="1"/>
          <p:nvPr/>
        </p:nvSpPr>
        <p:spPr>
          <a:xfrm>
            <a:off x="312420" y="1219200"/>
            <a:ext cx="2758440" cy="150810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--output gap closing in as output (level) approaching its trend by 2026.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--output gap moves around zero trend when its level catches trend</a:t>
            </a:r>
          </a:p>
          <a:p>
            <a:r>
              <a:rPr lang="en-US" sz="2000" dirty="0"/>
              <a:t>  </a:t>
            </a:r>
            <a:endParaRPr lang="en-RW" sz="2000" dirty="0"/>
          </a:p>
        </p:txBody>
      </p:sp>
    </p:spTree>
    <p:extLst>
      <p:ext uri="{BB962C8B-B14F-4D97-AF65-F5344CB8AC3E}">
        <p14:creationId xmlns:p14="http://schemas.microsoft.com/office/powerpoint/2010/main" val="1781778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177" y="228600"/>
            <a:ext cx="10363623" cy="575522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Private consumption and cyclical position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562600" y="4918922"/>
            <a:ext cx="6426200" cy="160020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 gap:   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--estimated to recover from recent low levels but remains restrained in 2024      </a:t>
            </a:r>
          </a:p>
          <a:p>
            <a:pPr marL="549275" lvl="2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---due to low GDP growth and negative fiscal impulse in 2023-24. 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tx1"/>
                </a:solidFill>
                <a:cs typeface="Times New Roman" panose="02020603050405020304" pitchFamily="18" charset="0"/>
              </a:rPr>
              <a:t>---returns to trend growth late in 2026 when </a:t>
            </a:r>
            <a:r>
              <a:rPr lang="en-GB" sz="1400" i="1" dirty="0">
                <a:solidFill>
                  <a:schemeClr val="tx1"/>
                </a:solidFill>
                <a:cs typeface="Times New Roman" panose="02020603050405020304" pitchFamily="18" charset="0"/>
              </a:rPr>
              <a:t>fiscal and monetary policy becomes again less restrictive. </a:t>
            </a:r>
            <a:endParaRPr lang="en-AE" sz="1400" i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DA25-5C9F-F1F8-8B9C-3CE84D7513B0}"/>
              </a:ext>
            </a:extLst>
          </p:cNvPr>
          <p:cNvSpPr txBox="1"/>
          <p:nvPr/>
        </p:nvSpPr>
        <p:spPr>
          <a:xfrm rot="10800000" flipV="1">
            <a:off x="609600" y="4786128"/>
            <a:ext cx="4419600" cy="164333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back to trend, drivers:</a:t>
            </a:r>
            <a:endParaRPr lang="en-RW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--persistence, lagged effect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--expectations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400" dirty="0">
                <a:latin typeface="+mn-lt"/>
                <a:cs typeface="Times New Roman" panose="02020603050405020304" pitchFamily="18" charset="0"/>
              </a:rPr>
              <a:t>--income, proxied by real GDP</a:t>
            </a:r>
            <a:endParaRPr lang="en-RW" sz="14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US" sz="1400" dirty="0">
                <a:latin typeface="+mn-lt"/>
                <a:cs typeface="Times New Roman" panose="02020603050405020304" pitchFamily="18" charset="0"/>
              </a:rPr>
              <a:t>--negative fiscal impulse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4ECB2-07F6-60CD-DC4B-AD14555190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219200"/>
            <a:ext cx="5740581" cy="352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7599E0-43B9-8A97-9961-3FB3ADED8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42567"/>
            <a:ext cx="4419600" cy="339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37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61652"/>
            <a:ext cx="10490200" cy="552748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Private investment, exports &amp; imports and cyclical position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791200" y="1066800"/>
            <a:ext cx="63246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AE" sz="1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7BADC8-8422-27C0-9760-793C3E801D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35347"/>
            <a:ext cx="3810000" cy="3026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23A081A-9059-307A-69E0-E707058113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1" y="1235347"/>
            <a:ext cx="3886199" cy="30318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DFC1168-07DA-C4EC-42DD-0BEB388C2B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1" y="1321526"/>
            <a:ext cx="3505199" cy="294567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966F8FF-5F2D-9443-4B75-9B5C17AD66D2}"/>
              </a:ext>
            </a:extLst>
          </p:cNvPr>
          <p:cNvSpPr txBox="1"/>
          <p:nvPr/>
        </p:nvSpPr>
        <p:spPr>
          <a:xfrm>
            <a:off x="381000" y="4495800"/>
            <a:ext cx="3810000" cy="2000548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GB" sz="1400" b="1" dirty="0">
                <a:solidFill>
                  <a:srgbClr val="2F5496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rivate investment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GB" sz="1400" b="1" u="sng" dirty="0">
              <a:solidFill>
                <a:srgbClr val="2F5496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200" b="1" u="sng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Main drivers</a:t>
            </a:r>
            <a:r>
              <a:rPr lang="en-US" sz="12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RW" sz="1200" b="1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 persistence (lag)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--expectations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--real interest rate (RIR) effect is very small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US" sz="1200" dirty="0">
                <a:latin typeface="+mn-lt"/>
                <a:cs typeface="Times New Roman" panose="02020603050405020304" pitchFamily="18" charset="0"/>
              </a:rPr>
              <a:t>--RER has no effect (zero wight in monetary conditions index)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--small income, effect (proxied by real GDP)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--fiscal impulse has very small effect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A50828-7363-40A9-6EE3-EAB01E9C5945}"/>
              </a:ext>
            </a:extLst>
          </p:cNvPr>
          <p:cNvSpPr txBox="1"/>
          <p:nvPr/>
        </p:nvSpPr>
        <p:spPr>
          <a:xfrm>
            <a:off x="4343400" y="4495800"/>
            <a:ext cx="3886199" cy="182928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exports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GB" sz="1400" b="1" u="sng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sng" dirty="0">
                <a:latin typeface="+mn-lt"/>
                <a:cs typeface="Times New Roman" panose="02020603050405020304" pitchFamily="18" charset="0"/>
              </a:rPr>
              <a:t>Main drivers:</a:t>
            </a:r>
            <a:endParaRPr lang="en-RW" sz="1400" u="sng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--persistence (lag)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--expectations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--foreign demand (mainly relevant for tourism, albeit with small coefficient)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--down pull from RER overvaluation disappears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FE41C08-EE54-A31E-786F-9D35C38BF9DE}"/>
              </a:ext>
            </a:extLst>
          </p:cNvPr>
          <p:cNvSpPr txBox="1"/>
          <p:nvPr/>
        </p:nvSpPr>
        <p:spPr>
          <a:xfrm>
            <a:off x="8409213" y="4493143"/>
            <a:ext cx="3505199" cy="182928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2F54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imports demand (for goods and services)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GB" sz="1400" b="1" u="sng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u="sng" dirty="0">
                <a:latin typeface="+mn-lt"/>
                <a:cs typeface="Times New Roman" panose="02020603050405020304" pitchFamily="18" charset="0"/>
              </a:rPr>
              <a:t>Main drivers:</a:t>
            </a:r>
            <a:endParaRPr lang="en-RW" sz="1400" u="sng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--final demand components, esp. consumption, govt demand, investment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  <a:p>
            <a:pPr marL="274638" lvl="1" eaLnBrk="0" hangingPunc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200" dirty="0">
                <a:latin typeface="+mn-lt"/>
                <a:cs typeface="Times New Roman" panose="02020603050405020304" pitchFamily="18" charset="0"/>
              </a:rPr>
              <a:t>--RER effect reverses to negative as real depreciation (lower overvaluation) reduces imports</a:t>
            </a:r>
            <a:endParaRPr lang="en-RW" sz="12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6340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57465"/>
            <a:ext cx="10210799" cy="470594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Fiscal stance (i): govt demand for G&amp;S affects output directly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FBA286-B9C2-0395-5CDE-596191958C6F}"/>
              </a:ext>
            </a:extLst>
          </p:cNvPr>
          <p:cNvSpPr txBox="1">
            <a:spLocks/>
          </p:cNvSpPr>
          <p:nvPr/>
        </p:nvSpPr>
        <p:spPr>
          <a:xfrm>
            <a:off x="156274" y="3990969"/>
            <a:ext cx="6244526" cy="2502261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Government demand for G&amp;S </a:t>
            </a:r>
            <a:r>
              <a:rPr lang="en-GB" sz="1600" i="1" dirty="0"/>
              <a:t>(direct) </a:t>
            </a:r>
            <a:r>
              <a:rPr lang="en-GB" sz="1100" dirty="0"/>
              <a:t>(</a:t>
            </a:r>
            <a:r>
              <a:rPr lang="en-GB" sz="1100" u="sng" dirty="0"/>
              <a:t>+</a:t>
            </a:r>
            <a:r>
              <a:rPr lang="en-GB" sz="1100" dirty="0"/>
              <a:t> 23% of GDP):</a:t>
            </a:r>
            <a:endParaRPr lang="en-GB" sz="1600" dirty="0"/>
          </a:p>
          <a:p>
            <a:pPr marL="0" indent="0" algn="just">
              <a:buNone/>
            </a:pPr>
            <a:r>
              <a:rPr lang="en-GB" sz="1400" dirty="0">
                <a:cs typeface="Times New Roman" panose="02020603050405020304" pitchFamily="18" charset="0"/>
              </a:rPr>
              <a:t>---current fiscal program envisages a reduction in the deficit (consolidation) to 10.8% of GDP in 2023/24 and to 9.7% in 2024/25</a:t>
            </a:r>
            <a:r>
              <a:rPr lang="en-GB" sz="1400" dirty="0">
                <a:effectLst/>
                <a:ea typeface="Calibri" panose="020F0502020204030204" pitchFamily="34" charset="0"/>
              </a:rPr>
              <a:t>, </a:t>
            </a:r>
          </a:p>
          <a:p>
            <a:pPr marL="274638" lvl="1" indent="0" algn="just">
              <a:buNone/>
            </a:pPr>
            <a:r>
              <a:rPr lang="en-GB" sz="1400" dirty="0">
                <a:ea typeface="Calibri" panose="020F0502020204030204" pitchFamily="34" charset="0"/>
              </a:rPr>
              <a:t> </a:t>
            </a:r>
            <a:r>
              <a:rPr lang="en-GB" sz="1200" dirty="0">
                <a:ea typeface="Calibri" panose="020F0502020204030204" pitchFamily="34" charset="0"/>
              </a:rPr>
              <a:t>---</a:t>
            </a:r>
            <a:r>
              <a:rPr lang="en-GB" sz="1200" dirty="0">
                <a:effectLst/>
                <a:ea typeface="Calibri" panose="020F0502020204030204" pitchFamily="34" charset="0"/>
              </a:rPr>
              <a:t>well below that in Covid and immediate post-Covid years (averaging 14% of GDP in 2019/20-2021/22).</a:t>
            </a:r>
          </a:p>
          <a:p>
            <a:pPr marL="0" indent="0" algn="just">
              <a:buNone/>
            </a:pPr>
            <a:r>
              <a:rPr lang="en-GB" sz="1400" dirty="0">
                <a:ea typeface="Calibri" panose="020F0502020204030204" pitchFamily="34" charset="0"/>
              </a:rPr>
              <a:t>--c</a:t>
            </a:r>
            <a:r>
              <a:rPr lang="en-GB" sz="1400" dirty="0">
                <a:effectLst/>
                <a:ea typeface="Calibri" panose="020F0502020204030204" pitchFamily="34" charset="0"/>
              </a:rPr>
              <a:t>onsolidation achieved mainly via the ending of discretionary, crisis-related spending and cuts in investment,</a:t>
            </a:r>
          </a:p>
          <a:p>
            <a:pPr marL="274638" lvl="1" indent="0" algn="just">
              <a:buNone/>
            </a:pPr>
            <a:r>
              <a:rPr lang="en-GB" sz="1200" dirty="0">
                <a:effectLst/>
                <a:ea typeface="Calibri" panose="020F0502020204030204" pitchFamily="34" charset="0"/>
              </a:rPr>
              <a:t> ---translate in a significant reduction in real government demand for G&amp;S, lowering aggregate demand and helping contain inflation.</a:t>
            </a:r>
          </a:p>
          <a:p>
            <a:pPr marL="0" indent="0" algn="just">
              <a:buNone/>
            </a:pPr>
            <a:r>
              <a:rPr lang="en-GB" sz="1200" dirty="0"/>
              <a:t>---large negative effect on demand—consumption &amp; imports is estimated to last till early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CCAC2-6233-0EF9-ABEA-F7674370836D}"/>
              </a:ext>
            </a:extLst>
          </p:cNvPr>
          <p:cNvSpPr txBox="1"/>
          <p:nvPr/>
        </p:nvSpPr>
        <p:spPr>
          <a:xfrm>
            <a:off x="161529" y="1143000"/>
            <a:ext cx="11654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1400" b="1" i="1" dirty="0">
                <a:latin typeface="Times New Roman" panose="02020603050405020304" pitchFamily="18" charset="0"/>
              </a:rPr>
              <a:t>Fiscal policies (“fiscal stance”) affect output in the short-run via several channels captured in the model: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DCE5C-B184-5784-80FB-8F6265A85C30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DD93EFC-47FC-E595-3B4D-5FF3CB56A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676400"/>
            <a:ext cx="3505200" cy="22536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2C7DB9-E208-7CB6-789B-0E2128FD09A6}"/>
              </a:ext>
            </a:extLst>
          </p:cNvPr>
          <p:cNvSpPr txBox="1"/>
          <p:nvPr/>
        </p:nvSpPr>
        <p:spPr>
          <a:xfrm>
            <a:off x="308674" y="1701694"/>
            <a:ext cx="2434526" cy="153708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+mn-lt"/>
              </a:rPr>
              <a:t>--</a:t>
            </a:r>
            <a:r>
              <a:rPr lang="en-US" sz="1200" dirty="0">
                <a:latin typeface="+mn-lt"/>
              </a:rPr>
              <a:t>Govt. demand, % GDP level is below its structural trend 2023Q2-2027—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+mn-lt"/>
              </a:rPr>
              <a:t>--Implies a negative gap and a fiscal consolidation post 2023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4B9E96-2ED8-FAA1-29D5-CA2CE60735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1701694"/>
            <a:ext cx="5257799" cy="447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11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45385"/>
            <a:ext cx="10617200" cy="445714"/>
          </a:xfrm>
        </p:spPr>
        <p:txBody>
          <a:bodyPr/>
          <a:lstStyle/>
          <a:p>
            <a:r>
              <a:rPr lang="en-GB" b="1" dirty="0"/>
              <a:t>  </a:t>
            </a:r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Fiscal stance (ii): fiscal impulse affects output via private demand</a:t>
            </a:r>
            <a:endParaRPr lang="en-AE" sz="20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AF6A8-A1FC-08FD-607D-366D8C204D63}"/>
              </a:ext>
            </a:extLst>
          </p:cNvPr>
          <p:cNvSpPr txBox="1">
            <a:spLocks/>
          </p:cNvSpPr>
          <p:nvPr/>
        </p:nvSpPr>
        <p:spPr>
          <a:xfrm>
            <a:off x="5638800" y="3962400"/>
            <a:ext cx="6172200" cy="2604226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f</a:t>
            </a:r>
            <a:r>
              <a:rPr lang="en-US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iscal stance total effect on output</a:t>
            </a:r>
            <a:r>
              <a:rPr lang="en-GB" sz="1600" b="1" dirty="0">
                <a:solidFill>
                  <a:schemeClr val="accent1"/>
                </a:solidFill>
              </a:rPr>
              <a:t> </a:t>
            </a:r>
            <a:r>
              <a:rPr lang="en-GB" sz="1600" i="1" dirty="0"/>
              <a:t>(direct &amp; indirect):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>
                <a:effectLst/>
                <a:ea typeface="Calibri" panose="020F0502020204030204" pitchFamily="34" charset="0"/>
              </a:rPr>
              <a:t>combination of lower government demand and a negative fiscal impulse </a:t>
            </a:r>
            <a:endParaRPr lang="en-GB" sz="1800" dirty="0">
              <a:ea typeface="Calibri" panose="020F0502020204030204" pitchFamily="34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ea typeface="Calibri" panose="020F0502020204030204" pitchFamily="34" charset="0"/>
              </a:rPr>
              <a:t>Estimated to have </a:t>
            </a:r>
            <a:r>
              <a:rPr lang="en-GB" sz="1400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an important (desirable) </a:t>
            </a:r>
            <a:r>
              <a:rPr lang="en-GB" sz="1400" dirty="0">
                <a:effectLst/>
                <a:ea typeface="Calibri" panose="020F0502020204030204" pitchFamily="34" charset="0"/>
              </a:rPr>
              <a:t>negative effect on output during 2023/24-2025/26 </a:t>
            </a:r>
            <a:endParaRPr lang="en-GB" sz="12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average negative discretionary deficit of 1½% of GDP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estimated </a:t>
            </a:r>
            <a:r>
              <a:rPr lang="en-GB" sz="1400" i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per se </a:t>
            </a: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to lower real GDP by some 1.2%, mainly from lower government for G&amp;S </a:t>
            </a:r>
            <a:r>
              <a:rPr lang="en-GB" sz="1400" dirty="0">
                <a:solidFill>
                  <a:schemeClr val="tx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(0.66) and the remainder (0.5) </a:t>
            </a:r>
            <a:r>
              <a:rPr lang="en-GB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from lower private demand.</a:t>
            </a:r>
            <a:endParaRPr lang="en-RW" sz="1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A8341-0CDE-1B55-F22E-BA82C40D4258}"/>
              </a:ext>
            </a:extLst>
          </p:cNvPr>
          <p:cNvSpPr txBox="1"/>
          <p:nvPr/>
        </p:nvSpPr>
        <p:spPr>
          <a:xfrm>
            <a:off x="381000" y="4515969"/>
            <a:ext cx="4724400" cy="156786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“fiscal impulse”—</a:t>
            </a:r>
            <a:r>
              <a:rPr lang="en-GB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deficit </a:t>
            </a:r>
            <a:r>
              <a:rPr lang="en-GB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affecting private demand and hence output </a:t>
            </a:r>
            <a:r>
              <a:rPr lang="en-GB" sz="1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indirectly</a:t>
            </a:r>
            <a:r>
              <a:rPr lang="en-GB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</a:p>
          <a:p>
            <a:endParaRPr lang="en-GB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1200" dirty="0">
                <a:solidFill>
                  <a:srgbClr val="000000"/>
                </a:solidFill>
                <a:latin typeface="+mn-lt"/>
                <a:ea typeface="Calibri" panose="020F0502020204030204" pitchFamily="34" charset="0"/>
              </a:rPr>
              <a:t>---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positive on average in 2020-22, </a:t>
            </a:r>
          </a:p>
          <a:p>
            <a:pPr>
              <a:lnSpc>
                <a:spcPct val="150000"/>
              </a:lnSpc>
            </a:pP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---turns negative from late 2022 onward </a:t>
            </a:r>
            <a:endParaRPr lang="en-GB" sz="1200" dirty="0">
              <a:latin typeface="+mn-lt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1200" dirty="0">
                <a:effectLst/>
                <a:latin typeface="+mn-lt"/>
                <a:ea typeface="Calibri" panose="020F0502020204030204" pitchFamily="34" charset="0"/>
              </a:rPr>
              <a:t>---remains so for several years before fading out by 2027</a:t>
            </a:r>
            <a:endParaRPr lang="en-RW" sz="1600" dirty="0">
              <a:latin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0E7634-C4F1-798E-919D-FA326A858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18088"/>
            <a:ext cx="4312920" cy="3200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82FE92-6EF8-8455-B340-37D8B1FFEE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294" y="1251557"/>
            <a:ext cx="44958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37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53211"/>
            <a:ext cx="10410934" cy="537557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Fiscal stance: deficit and its components</a:t>
            </a:r>
            <a:r>
              <a:rPr lang="en-GB" sz="2400" b="1" dirty="0"/>
              <a:t> </a:t>
            </a:r>
            <a:r>
              <a:rPr lang="en-GB" sz="1800" dirty="0"/>
              <a:t>(revenue, spending)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FF08F-8A35-9763-9C22-CE8AAC6E41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17" y="1230629"/>
            <a:ext cx="3124200" cy="2350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9B0D37-7B64-4005-540D-EA41278FC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385" y="1314450"/>
            <a:ext cx="2971800" cy="26022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B94BFA-AEA7-E15F-7BE9-C3779C0443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3134" y="1371600"/>
            <a:ext cx="3048000" cy="25260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7584A55-7457-1385-0B36-42E61E3E83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3597" y="1306829"/>
            <a:ext cx="2479787" cy="23507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B6C5D83-496E-B2D7-0292-2EEC3D98C304}"/>
              </a:ext>
            </a:extLst>
          </p:cNvPr>
          <p:cNvSpPr txBox="1"/>
          <p:nvPr/>
        </p:nvSpPr>
        <p:spPr>
          <a:xfrm>
            <a:off x="228600" y="3821429"/>
            <a:ext cx="5567198" cy="2583528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Budget deficit (excl. grants), % GDP (revenue &amp; demand/spending)</a:t>
            </a:r>
            <a:endParaRPr lang="en-GB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GB" sz="14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GB" sz="12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 deficit </a:t>
            </a:r>
            <a:r>
              <a:rPr lang="en-GB" sz="1200" b="1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 2023/24-2024/25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, (10.8% &amp; 9.7% of GDP in 2025/26, down from 12% for 2022/23 </a:t>
            </a: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to inline 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fiscal consolidation in the IMF PCI program)</a:t>
            </a: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---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show a sharp reduction in deficit (before grants) and spending on G&amp;S, as discretionary spending </a:t>
            </a:r>
            <a:r>
              <a:rPr lang="en-GB" sz="12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reduces</a:t>
            </a:r>
            <a:r>
              <a:rPr lang="en-GB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GB" sz="1400" dirty="0">
                <a:latin typeface="+mn-lt"/>
                <a:ea typeface="Calibri" panose="020F0502020204030204" pitchFamily="34" charset="0"/>
              </a:rPr>
              <a:t>---</a:t>
            </a:r>
            <a:r>
              <a:rPr lang="en-GB" sz="1400" b="1" dirty="0">
                <a:latin typeface="+mn-lt"/>
                <a:ea typeface="Calibri" panose="020F0502020204030204" pitchFamily="34" charset="0"/>
              </a:rPr>
              <a:t>post </a:t>
            </a:r>
            <a:r>
              <a:rPr lang="en-GB" sz="1400" b="1" dirty="0">
                <a:effectLst/>
                <a:latin typeface="+mn-lt"/>
                <a:ea typeface="Calibri" panose="020F0502020204030204" pitchFamily="34" charset="0"/>
              </a:rPr>
              <a:t>tuned PCI-program (2025/26 onward)</a:t>
            </a: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effectLst/>
                <a:latin typeface="+mn-lt"/>
                <a:ea typeface="Calibri" panose="020F0502020204030204" pitchFamily="34" charset="0"/>
              </a:rPr>
              <a:t>---fiscal deficit to converge to a sustainable deficit (before grants) of 8%  and </a:t>
            </a: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en-US" sz="1200" dirty="0">
                <a:latin typeface="+mn-lt"/>
                <a:ea typeface="Calibri" panose="020F0502020204030204" pitchFamily="34" charset="0"/>
              </a:rPr>
              <a:t>--</a:t>
            </a:r>
            <a:r>
              <a:rPr lang="en-US" sz="1200" dirty="0">
                <a:effectLst/>
                <a:latin typeface="+mn-lt"/>
                <a:ea typeface="Calibri" panose="020F0502020204030204" pitchFamily="34" charset="0"/>
              </a:rPr>
              <a:t>constituent parts (revenue, spending,…) are forecast to gradually move to their structural levels</a:t>
            </a:r>
            <a:endParaRPr lang="en-US" sz="1200" dirty="0">
              <a:latin typeface="+mn-lt"/>
              <a:ea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5D980F-D41E-E30B-723D-7481BB8DE8AF}"/>
              </a:ext>
            </a:extLst>
          </p:cNvPr>
          <p:cNvSpPr txBox="1"/>
          <p:nvPr/>
        </p:nvSpPr>
        <p:spPr>
          <a:xfrm>
            <a:off x="6096000" y="4267200"/>
            <a:ext cx="5867400" cy="203908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Budget deficit, % GDP </a:t>
            </a:r>
            <a:r>
              <a:rPr lang="en-US" sz="1200" dirty="0">
                <a:latin typeface="+mn-lt"/>
              </a:rPr>
              <a:t>(</a:t>
            </a:r>
            <a:r>
              <a:rPr lang="en-US" sz="900" dirty="0">
                <a:latin typeface="+mn-lt"/>
              </a:rPr>
              <a:t>structural</a:t>
            </a:r>
            <a:r>
              <a:rPr lang="en-US" sz="1050" dirty="0">
                <a:latin typeface="+mn-lt"/>
              </a:rPr>
              <a:t>, discretional and cyclical)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n-lt"/>
              </a:rPr>
              <a:t>---structural deficit evolving 8% average sustainable level 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latin typeface="+mn-lt"/>
              </a:rPr>
              <a:t>--volatility in deficit mostly dominated by discretional spending (Govt. demand for G&amp;S and other expenditure </a:t>
            </a:r>
            <a:r>
              <a:rPr lang="en-US" sz="1100" dirty="0">
                <a:latin typeface="+mn-lt"/>
              </a:rPr>
              <a:t>(</a:t>
            </a:r>
            <a:r>
              <a:rPr lang="en-US" sz="1100" dirty="0" err="1">
                <a:latin typeface="+mn-lt"/>
              </a:rPr>
              <a:t>i.e</a:t>
            </a:r>
            <a:r>
              <a:rPr lang="en-US" sz="1100" dirty="0">
                <a:latin typeface="+mn-lt"/>
              </a:rPr>
              <a:t>, transfers, subsidies and net lending)</a:t>
            </a:r>
            <a:endParaRPr lang="en-US" sz="1400" dirty="0">
              <a:latin typeface="+mn-lt"/>
            </a:endParaRPr>
          </a:p>
          <a:p>
            <a:pPr lvl="1">
              <a:lnSpc>
                <a:spcPct val="150000"/>
              </a:lnSpc>
            </a:pPr>
            <a:r>
              <a:rPr lang="en-US" sz="1400" i="1" dirty="0">
                <a:latin typeface="+mn-lt"/>
              </a:rPr>
              <a:t>---reduction in deficit (consolidation) driven by a fall in discretional spending for post 2023</a:t>
            </a:r>
            <a:endParaRPr lang="en-RW" i="1" dirty="0"/>
          </a:p>
        </p:txBody>
      </p:sp>
    </p:spTree>
    <p:extLst>
      <p:ext uri="{BB962C8B-B14F-4D97-AF65-F5344CB8AC3E}">
        <p14:creationId xmlns:p14="http://schemas.microsoft.com/office/powerpoint/2010/main" val="880655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9630"/>
            <a:ext cx="10261600" cy="709056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Inflation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(</a:t>
            </a:r>
            <a:r>
              <a:rPr lang="en-US" sz="1400" b="1" dirty="0">
                <a:solidFill>
                  <a:prstClr val="black"/>
                </a:solidFill>
                <a:latin typeface="Gill Sans MT"/>
              </a:rPr>
              <a:t>h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eadline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 CPI &amp; components)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9369971" y="3695696"/>
            <a:ext cx="2608427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energy-CPI,  (QoQ 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200" dirty="0"/>
              <a:t>---</a:t>
            </a:r>
            <a:r>
              <a:rPr lang="en-GB" sz="1050" dirty="0">
                <a:effectLst/>
                <a:ea typeface="Calibri" panose="020F0502020204030204" pitchFamily="34" charset="0"/>
              </a:rPr>
              <a:t>rapid drop (from a peak in 2022Q4) is mainly driven by direct effect of imported energy prices which are projected to fall throughout 2023-27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200" dirty="0"/>
              <a:t>---</a:t>
            </a:r>
            <a:r>
              <a:rPr lang="en-GB" sz="1050" dirty="0"/>
              <a:t>exchange rate depreciation exerts some upward pressure, but offset by drop in foreign energy prices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050" dirty="0"/>
              <a:t>---shocks projected to disappear since 2024Q1(typically large especially in 2022-23, reflecting the Oct 2023 pump price increase)</a:t>
            </a:r>
            <a:endParaRPr lang="en-US" sz="10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187742" y="3771952"/>
            <a:ext cx="3177539" cy="230832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headline—CPI, (YoY %)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050" dirty="0">
                <a:latin typeface="+mn-lt"/>
              </a:rPr>
              <a:t>---</a:t>
            </a:r>
            <a:r>
              <a:rPr lang="en-US" sz="1050" b="1" dirty="0">
                <a:latin typeface="+mn-lt"/>
              </a:rPr>
              <a:t>for late 2023 – early 2024 </a:t>
            </a:r>
            <a:r>
              <a:rPr lang="en-US" sz="1050" dirty="0">
                <a:latin typeface="+mn-lt"/>
              </a:rPr>
              <a:t>(</a:t>
            </a:r>
            <a:r>
              <a:rPr lang="en-GB" sz="1050" dirty="0">
                <a:latin typeface="+mn-lt"/>
              </a:rPr>
              <a:t>having peaked in 2022Q2)</a:t>
            </a:r>
            <a:r>
              <a:rPr lang="en-US" sz="1050" dirty="0">
                <a:latin typeface="+mn-lt"/>
              </a:rPr>
              <a:t> </a:t>
            </a:r>
            <a:r>
              <a:rPr lang="en-US" sz="1050" b="1" dirty="0">
                <a:latin typeface="+mn-lt"/>
              </a:rPr>
              <a:t>forecasted to continue declining but with a modest flare-up</a:t>
            </a:r>
          </a:p>
          <a:p>
            <a:pPr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050" dirty="0">
                <a:latin typeface="+mn-lt"/>
              </a:rPr>
              <a:t>---</a:t>
            </a:r>
            <a:r>
              <a:rPr lang="en-GB" sz="1050" b="1" dirty="0">
                <a:latin typeface="+mn-lt"/>
              </a:rPr>
              <a:t>from 2024Q2, should decline below 5% </a:t>
            </a:r>
          </a:p>
          <a:p>
            <a:pPr marL="274638" lvl="1" algn="just" eaLnBrk="0" hangingPunct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050" dirty="0">
                <a:latin typeface="+mn-lt"/>
              </a:rPr>
              <a:t>   --modest drop in world food and oil prices, </a:t>
            </a:r>
          </a:p>
          <a:p>
            <a:pPr marL="274638" lvl="1" algn="just" eaLnBrk="0" hangingPunct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76000"/>
            </a:pPr>
            <a:r>
              <a:rPr lang="en-GB" sz="1050" dirty="0">
                <a:latin typeface="+mn-lt"/>
              </a:rPr>
              <a:t>   --improved domestic food supply &amp; earlier shocks fading</a:t>
            </a:r>
            <a:endParaRPr lang="en-US" sz="1050" dirty="0">
              <a:latin typeface="+mn-lt"/>
            </a:endParaRPr>
          </a:p>
          <a:p>
            <a:pPr lvl="0" algn="just" eaLnBrk="0" hangingPunct="0">
              <a:spcBef>
                <a:spcPts val="600"/>
              </a:spcBef>
              <a:spcAft>
                <a:spcPts val="0"/>
              </a:spcAft>
              <a:buSzPct val="76000"/>
            </a:pPr>
            <a:r>
              <a:rPr lang="en-US" sz="1050" dirty="0">
                <a:latin typeface="+mn-lt"/>
              </a:rPr>
              <a:t>---</a:t>
            </a:r>
            <a:r>
              <a:rPr lang="en-GB" sz="1050" dirty="0">
                <a:latin typeface="+mn-lt"/>
              </a:rPr>
              <a:t>largest contribution comes from the moderate food price increases, even with a short period of falling prices.</a:t>
            </a:r>
            <a:endParaRPr lang="en-RW" sz="120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3F1C98-FA90-800E-0C31-C327BA4A6C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743" y="1246710"/>
            <a:ext cx="3177539" cy="240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558905-8201-547F-43B6-EB47176A39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015" y="1227366"/>
            <a:ext cx="2816860" cy="240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EDEA8D-B745-AC39-B2F0-B650BE6B52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0373" y="1227366"/>
            <a:ext cx="2641600" cy="239402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32E123-4540-5366-9A0D-47DB3257AEAB}"/>
              </a:ext>
            </a:extLst>
          </p:cNvPr>
          <p:cNvSpPr txBox="1">
            <a:spLocks/>
          </p:cNvSpPr>
          <p:nvPr/>
        </p:nvSpPr>
        <p:spPr>
          <a:xfrm>
            <a:off x="6373517" y="3741735"/>
            <a:ext cx="2894570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food-CPI,  (QoQ 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100" dirty="0"/>
              <a:t>---</a:t>
            </a:r>
            <a:r>
              <a:rPr lang="en-GB" sz="1000" dirty="0">
                <a:effectLst/>
                <a:ea typeface="Calibri" panose="020F0502020204030204" pitchFamily="34" charset="0"/>
              </a:rPr>
              <a:t>rapid drop (from a peak in 2022Q4) is mainly driven by declining negative agricultural output gaps (which in part drove prices up from late 2021 to late 2023),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100" dirty="0"/>
              <a:t>---</a:t>
            </a:r>
            <a:r>
              <a:rPr lang="en-GB" sz="1100" dirty="0">
                <a:effectLst/>
                <a:ea typeface="Calibri" panose="020F0502020204030204" pitchFamily="34" charset="0"/>
              </a:rPr>
              <a:t>direct effect of imported food prices is upward (due to ER depreciation),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100" dirty="0">
                <a:ea typeface="Calibri" panose="020F0502020204030204" pitchFamily="34" charset="0"/>
              </a:rPr>
              <a:t>---</a:t>
            </a:r>
            <a:r>
              <a:rPr lang="en-GB" sz="1100" dirty="0">
                <a:effectLst/>
                <a:ea typeface="Calibri" panose="020F0502020204030204" pitchFamily="34" charset="0"/>
              </a:rPr>
              <a:t>indirect effect of the food RER gap is downward </a:t>
            </a:r>
            <a:r>
              <a:rPr lang="en-US" sz="1100" dirty="0"/>
              <a:t>falls in mid-2025 slightly below its target of 4.5%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US" sz="1100" dirty="0"/>
              <a:t>---</a:t>
            </a:r>
            <a:r>
              <a:rPr lang="en-GB" sz="1100" dirty="0"/>
              <a:t>s</a:t>
            </a:r>
            <a:r>
              <a:rPr lang="en-GB" sz="1100" dirty="0">
                <a:effectLst/>
                <a:ea typeface="Calibri" panose="020F0502020204030204" pitchFamily="34" charset="0"/>
              </a:rPr>
              <a:t>hocks, already small in 2024, are forecast to subside in the near term </a:t>
            </a:r>
            <a:endParaRPr lang="en-US" sz="11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3485099" y="3741735"/>
            <a:ext cx="2768600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core-CPI,  (QoQ %)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050" dirty="0"/>
              <a:t>---gradual drop driven by inflationary expectations, small upward direct effects of import prices and REER</a:t>
            </a:r>
            <a:r>
              <a:rPr lang="en-US" sz="1050" dirty="0"/>
              <a:t> </a:t>
            </a:r>
          </a:p>
          <a:p>
            <a:pPr marL="274638" lvl="1" indent="0" algn="just">
              <a:spcAft>
                <a:spcPts val="0"/>
              </a:spcAft>
              <a:buNone/>
            </a:pPr>
            <a:r>
              <a:rPr lang="en-GB" sz="800" dirty="0">
                <a:solidFill>
                  <a:srgbClr val="C00000"/>
                </a:solidFill>
              </a:rPr>
              <a:t>--</a:t>
            </a:r>
            <a:r>
              <a:rPr lang="en-GB" sz="800" dirty="0">
                <a:effectLst/>
                <a:ea typeface="Calibri" panose="020F0502020204030204" pitchFamily="34" charset="0"/>
              </a:rPr>
              <a:t>small downward effect of persisting post-Covid negative output gap and gradual subsiding of shocks</a:t>
            </a:r>
            <a:endParaRPr lang="en-US" sz="800" dirty="0">
              <a:solidFill>
                <a:srgbClr val="C00000"/>
              </a:solidFill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sz="1050" dirty="0"/>
              <a:t>---falls in mid-2025 slightly below its target of 4.5% </a:t>
            </a:r>
          </a:p>
          <a:p>
            <a:pPr marL="274638" lvl="1" indent="0" algn="just">
              <a:spcAft>
                <a:spcPts val="0"/>
              </a:spcAft>
              <a:buNone/>
            </a:pPr>
            <a:r>
              <a:rPr lang="en-US" sz="650" dirty="0"/>
              <a:t>--</a:t>
            </a:r>
            <a:r>
              <a:rPr lang="en-US" sz="900" dirty="0"/>
              <a:t>down-pull from remaining negative output gap, 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ＭＳ Ｐゴシック" charset="-128"/>
                <a:cs typeface="+mn-cs"/>
              </a:rPr>
              <a:t>---somewhat overshoots in 2026-27 (to.5.5%) as a small positive output gap emerges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charset="-128"/>
                <a:cs typeface="+mn-cs"/>
              </a:rPr>
              <a:t>.</a:t>
            </a:r>
            <a:endParaRPr lang="en-US" sz="1050" dirty="0">
              <a:latin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17BCF4E-18DC-848F-B4AB-2D497C09AC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4161" y="1220797"/>
            <a:ext cx="2913926" cy="2400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6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381000"/>
            <a:ext cx="10261600" cy="492745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Policy interest rate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(interbank rate, IB)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92EF7">
                    <a:lumMod val="50000"/>
                  </a:srgbClr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 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9216273" y="3544556"/>
            <a:ext cx="2762125" cy="2856244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real lending rate, %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200" b="1" dirty="0">
                <a:cs typeface="Times New Roman" panose="02020603050405020304" pitchFamily="18" charset="0"/>
              </a:rPr>
              <a:t>---</a:t>
            </a:r>
            <a:r>
              <a:rPr lang="en-GB" sz="1200" dirty="0">
                <a:cs typeface="Times New Roman" panose="02020603050405020304" pitchFamily="18" charset="0"/>
              </a:rPr>
              <a:t>4Qos forward average RIR(IB) + lending premium (+ 9% points above the IB rate)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200" dirty="0"/>
              <a:t>---</a:t>
            </a:r>
            <a:r>
              <a:rPr lang="en-GB" sz="1050" dirty="0">
                <a:effectLst/>
                <a:ea typeface="Calibri" panose="020F0502020204030204" pitchFamily="34" charset="0"/>
              </a:rPr>
              <a:t>movement in the RIR (as affected by NBR policies) is transmitted to the</a:t>
            </a:r>
            <a:r>
              <a:rPr lang="en-GB" sz="1050" b="1" dirty="0">
                <a:effectLst/>
                <a:ea typeface="Calibri" panose="020F0502020204030204" pitchFamily="34" charset="0"/>
              </a:rPr>
              <a:t> real lending rate</a:t>
            </a:r>
            <a:r>
              <a:rPr lang="en-GB" sz="1050" dirty="0">
                <a:effectLst/>
                <a:ea typeface="Calibri" panose="020F0502020204030204" pitchFamily="34" charset="0"/>
              </a:rPr>
              <a:t> </a:t>
            </a:r>
            <a:r>
              <a:rPr lang="en-GB" sz="1050" b="1" i="1" dirty="0">
                <a:effectLst/>
                <a:ea typeface="Calibri" panose="020F0502020204030204" pitchFamily="34" charset="0"/>
              </a:rPr>
              <a:t>for private demand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050" b="1" i="1" dirty="0">
                <a:ea typeface="Calibri" panose="020F0502020204030204" pitchFamily="34" charset="0"/>
              </a:rPr>
              <a:t>---</a:t>
            </a:r>
            <a:r>
              <a:rPr lang="en-GB" sz="1050" dirty="0">
                <a:effectLst/>
                <a:ea typeface="Calibri" panose="020F0502020204030204" pitchFamily="34" charset="0"/>
              </a:rPr>
              <a:t>above trend during Covid and much below trend, even negative, when inflation surged in 2022-23</a:t>
            </a:r>
          </a:p>
          <a:p>
            <a:pPr marL="0" indent="0" algn="just">
              <a:spcAft>
                <a:spcPts val="0"/>
              </a:spcAft>
              <a:buNone/>
            </a:pPr>
            <a:r>
              <a:rPr lang="en-GB" sz="1050" b="1" i="1" dirty="0">
                <a:ea typeface="Calibri" panose="020F0502020204030204" pitchFamily="34" charset="0"/>
              </a:rPr>
              <a:t>---</a:t>
            </a:r>
            <a:r>
              <a:rPr lang="en-GB" sz="1050" b="1" dirty="0">
                <a:effectLst/>
                <a:ea typeface="Calibri" panose="020F0502020204030204" pitchFamily="34" charset="0"/>
              </a:rPr>
              <a:t>forecast to rise to close to its trend level in 2023, with a depressing (increasingly less positive) effect on private demand</a:t>
            </a:r>
            <a:endParaRPr lang="en-GB" sz="1050" b="1" i="1" dirty="0">
              <a:ea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170026" y="3544556"/>
            <a:ext cx="2936458" cy="219579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IB rate, %</a:t>
            </a:r>
            <a:endParaRPr lang="en-US" sz="1050" b="1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</a:t>
            </a:r>
            <a:r>
              <a:rPr lang="en-US" sz="11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assumed unchanged </a:t>
            </a:r>
            <a:r>
              <a:rPr lang="en-US" sz="1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 Q4 2023, assuming NBR would keep its CBR unchanged from August 2023</a:t>
            </a:r>
            <a:endParaRPr lang="en-RW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2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--about 0.5% points above the CBR </a:t>
            </a:r>
            <a:r>
              <a:rPr lang="en-US" sz="11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(equal to repo rate; CBR not shown separately)</a:t>
            </a:r>
          </a:p>
          <a:p>
            <a:r>
              <a:rPr lang="en-US" sz="1200" dirty="0">
                <a:effectLst/>
                <a:latin typeface="+mn-lt"/>
                <a:ea typeface="Calibri" panose="020F0502020204030204" pitchFamily="34" charset="0"/>
              </a:rPr>
              <a:t>--IB trend/neutral level </a:t>
            </a:r>
            <a:r>
              <a:rPr lang="en-US" sz="1050" dirty="0">
                <a:effectLst/>
                <a:latin typeface="+mn-lt"/>
                <a:ea typeface="Calibri" panose="020F0502020204030204" pitchFamily="34" charset="0"/>
              </a:rPr>
              <a:t>(7.5%</a:t>
            </a:r>
            <a:r>
              <a:rPr lang="en-US" sz="1100" dirty="0">
                <a:effectLst/>
                <a:latin typeface="+mn-lt"/>
                <a:ea typeface="Calibri" panose="020F0502020204030204" pitchFamily="34" charset="0"/>
              </a:rPr>
              <a:t>), </a:t>
            </a:r>
            <a:endParaRPr lang="en-US" sz="1400" dirty="0">
              <a:effectLst/>
              <a:latin typeface="+mn-lt"/>
              <a:ea typeface="Calibri" panose="020F0502020204030204" pitchFamily="34" charset="0"/>
            </a:endParaRPr>
          </a:p>
          <a:p>
            <a:pPr marL="182562" lvl="1">
              <a:lnSpc>
                <a:spcPct val="107000"/>
              </a:lnSpc>
              <a:spcAft>
                <a:spcPts val="600"/>
              </a:spcAft>
              <a:defRPr/>
            </a:pPr>
            <a:r>
              <a:rPr lang="en-US" sz="1000" dirty="0">
                <a:latin typeface="+mn-lt"/>
                <a:cs typeface="Times New Roman" panose="02020603050405020304" pitchFamily="18" charset="0"/>
              </a:rPr>
              <a:t>--determined by trend foreign RIR (0-0.5%), country risk premium (2%), and core inflation target (4.5%)</a:t>
            </a:r>
            <a:endParaRPr lang="en-RW" sz="10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32E123-4540-5366-9A0D-47DB3257AEAB}"/>
              </a:ext>
            </a:extLst>
          </p:cNvPr>
          <p:cNvSpPr txBox="1">
            <a:spLocks/>
          </p:cNvSpPr>
          <p:nvPr/>
        </p:nvSpPr>
        <p:spPr>
          <a:xfrm>
            <a:off x="6364550" y="3544555"/>
            <a:ext cx="2740872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RIR—IB rate, %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200" dirty="0">
                <a:cs typeface="Times New Roman" panose="02020603050405020304" pitchFamily="18" charset="0"/>
              </a:rPr>
              <a:t>---significant drop into negative territory since early 2021 </a:t>
            </a:r>
          </a:p>
          <a:p>
            <a:pPr marL="274638" lvl="1" indent="0" algn="just">
              <a:spcAft>
                <a:spcPts val="0"/>
              </a:spcAft>
              <a:buNone/>
            </a:pPr>
            <a:r>
              <a:rPr lang="en-GB" sz="900" dirty="0">
                <a:solidFill>
                  <a:schemeClr val="tx1"/>
                </a:solidFill>
                <a:cs typeface="Times New Roman" panose="02020603050405020304" pitchFamily="18" charset="0"/>
              </a:rPr>
              <a:t>--high inflation and lagged interest policy response</a:t>
            </a:r>
            <a:r>
              <a:rPr lang="en-GB" sz="800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, 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200" dirty="0">
                <a:cs typeface="Times New Roman" panose="02020603050405020304" pitchFamily="18" charset="0"/>
              </a:rPr>
              <a:t>---forecast to pick up on late 2022 level, as nominal interest rates rise and inflation eases, 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r>
              <a:rPr lang="en-GB" sz="1200" dirty="0">
                <a:cs typeface="Times New Roman" panose="02020603050405020304" pitchFamily="18" charset="0"/>
              </a:rPr>
              <a:t>---forecast to remain below its trend level of 2-2.5% and even slightly drop in mid-2025 </a:t>
            </a:r>
          </a:p>
          <a:p>
            <a:pPr marL="274638" lvl="1" indent="0" algn="just">
              <a:spcAft>
                <a:spcPts val="0"/>
              </a:spcAft>
              <a:buNone/>
            </a:pPr>
            <a:r>
              <a:rPr lang="en-GB" sz="900" dirty="0">
                <a:solidFill>
                  <a:schemeClr val="tx1"/>
                </a:solidFill>
                <a:ea typeface="Calibri" panose="020F0502020204030204" pitchFamily="34" charset="0"/>
              </a:rPr>
              <a:t>--</a:t>
            </a:r>
            <a:r>
              <a:rPr lang="en-GB" sz="900" dirty="0"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>as inflation flares up temporarily due to demand pressure 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3196238" y="3544556"/>
            <a:ext cx="3057461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d</a:t>
            </a: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rivers of policy rule in 2024:</a:t>
            </a:r>
            <a:endParaRPr lang="en-RW" sz="1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cs typeface="Times New Roman" panose="02020603050405020304" pitchFamily="18" charset="0"/>
              </a:rPr>
              <a:t>--expected inflation deviation from target (-)</a:t>
            </a:r>
            <a:endParaRPr lang="en-RW" sz="12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200" dirty="0">
                <a:cs typeface="Times New Roman" panose="02020603050405020304" pitchFamily="18" charset="0"/>
              </a:rPr>
              <a:t>--negative output gap (-)</a:t>
            </a:r>
            <a:endParaRPr lang="en-RW" sz="12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200" dirty="0">
                <a:cs typeface="Times New Roman" panose="02020603050405020304" pitchFamily="18" charset="0"/>
              </a:rPr>
              <a:t>--pull from neutral interest rate (7%) (+)</a:t>
            </a:r>
            <a:endParaRPr lang="en-RW" sz="12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sz="1200" dirty="0">
                <a:cs typeface="Times New Roman" panose="02020603050405020304" pitchFamily="18" charset="0"/>
              </a:rPr>
              <a:t>--gradual interest rate changes, (lagged effect)</a:t>
            </a: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endParaRPr lang="en-US" sz="12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GB" sz="1200" b="1" dirty="0">
                <a:effectLst/>
                <a:ea typeface="Calibri" panose="020F0502020204030204" pitchFamily="34" charset="0"/>
              </a:rPr>
              <a:t>IB rate, %</a:t>
            </a:r>
            <a:endParaRPr lang="en-US" sz="1200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ＭＳ Ｐゴシック" charset="-128"/>
                <a:cs typeface="Times New Roman" panose="02020603050405020304" pitchFamily="18" charset="0"/>
              </a:rPr>
              <a:t>--</a:t>
            </a: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ＭＳ Ｐゴシック" charset="-128"/>
                <a:cs typeface="Times New Roman" panose="02020603050405020304" pitchFamily="18" charset="0"/>
              </a:rPr>
              <a:t>gradually lowered from its peak of close to 8% in August 2023 to around 6½% in late 2024 </a:t>
            </a:r>
            <a:endParaRPr kumimoji="0" lang="en-RW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ＭＳ Ｐゴシック" charset="-128"/>
              <a:cs typeface="Times New Roman" panose="02020603050405020304" pitchFamily="18" charset="0"/>
            </a:endParaRPr>
          </a:p>
          <a:p>
            <a:pPr marL="182562" indent="0" eaLnBrk="1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--as inflation drops below the 5% target and a negative output gap remains.</a:t>
            </a:r>
          </a:p>
          <a:p>
            <a:pPr marL="0" indent="0" eaLnBrk="1" hangingPunct="1">
              <a:lnSpc>
                <a:spcPct val="107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defRPr/>
            </a:pPr>
            <a:r>
              <a:rPr lang="en-US" sz="1100" dirty="0">
                <a:cs typeface="Times New Roman" panose="02020603050405020304" pitchFamily="18" charset="0"/>
              </a:rPr>
              <a:t>from mid-2025, converges to its trend/neutral level (7.5%</a:t>
            </a:r>
            <a:endParaRPr lang="en-RW" sz="11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endParaRPr lang="en-GB" sz="1200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6A6C3-593C-B257-E7E0-E51CE12DDE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6" y="1217450"/>
            <a:ext cx="2913925" cy="2255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DFAB52-42A7-4FCB-9010-D4BE664149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238" y="1220078"/>
            <a:ext cx="3045638" cy="2252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D3AFFD-DE9E-B7B4-618D-5886C5E60D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711" y="1217450"/>
            <a:ext cx="2641600" cy="2211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054E6F-7917-A35D-4308-76839E09F2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422" y="1232690"/>
            <a:ext cx="2872976" cy="2196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5451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84821"/>
            <a:ext cx="10261600" cy="507362"/>
          </a:xfrm>
        </p:spPr>
        <p:txBody>
          <a:bodyPr/>
          <a:lstStyle/>
          <a:p>
            <a:r>
              <a:rPr lang="en-GB" sz="2000" b="1" dirty="0">
                <a:solidFill>
                  <a:schemeClr val="accent4">
                    <a:lumMod val="50000"/>
                  </a:schemeClr>
                </a:solidFill>
              </a:rPr>
              <a:t>Forecast—</a:t>
            </a: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Nominal and Real Exchange Rate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ＭＳ Ｐゴシック" charset="-128"/>
                <a:cs typeface="+mj-cs"/>
              </a:rPr>
              <a:t>(ER &amp; RER)</a:t>
            </a:r>
            <a:endParaRPr lang="en-RW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5943600" y="3544556"/>
            <a:ext cx="6034799" cy="2872120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RER, QoQ%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GB" sz="1400" dirty="0"/>
              <a:t>---slowdown in the pace of depreciation (from its high in 2023) to return gradually to its (zero) trend level</a:t>
            </a:r>
          </a:p>
          <a:p>
            <a:pPr marL="0" indent="0">
              <a:lnSpc>
                <a:spcPct val="150000"/>
              </a:lnSpc>
              <a:spcAft>
                <a:spcPts val="0"/>
              </a:spcAft>
              <a:buNone/>
            </a:pPr>
            <a:r>
              <a:rPr lang="en-GB" sz="1400" dirty="0"/>
              <a:t>---upward correction in 2022-23 estimated to favourably affect net exports and demand </a:t>
            </a:r>
            <a:r>
              <a:rPr lang="en-GB" sz="1200" dirty="0"/>
              <a:t>(reversing a sharp RER decline during 2021-22) 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---</a:t>
            </a:r>
            <a:r>
              <a:rPr lang="en-GB" sz="1400" b="1" dirty="0"/>
              <a:t>rise to its trend level (</a:t>
            </a:r>
            <a:r>
              <a:rPr lang="en-GB" sz="1200" b="1" dirty="0"/>
              <a:t>with some overshooting in 2024</a:t>
            </a:r>
            <a:r>
              <a:rPr lang="en-GB" sz="1400" b="1" dirty="0"/>
              <a:t>) and to affect demand favourably in 2023-24.</a:t>
            </a:r>
          </a:p>
          <a:p>
            <a:pPr marL="274638" lvl="1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/>
              <a:t> ---after overvalued RER had a downward effect on net exports demand in 2021 when the economy emerged from Covid</a:t>
            </a:r>
            <a:endParaRPr lang="en-RW" sz="105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0282A89-5A54-B4AC-E129-FCCC9913F783}"/>
              </a:ext>
            </a:extLst>
          </p:cNvPr>
          <p:cNvSpPr txBox="1">
            <a:spLocks/>
          </p:cNvSpPr>
          <p:nvPr/>
        </p:nvSpPr>
        <p:spPr>
          <a:xfrm>
            <a:off x="213603" y="3544556"/>
            <a:ext cx="5577598" cy="2857503"/>
          </a:xfrm>
          <a:prstGeom prst="rect">
            <a:avLst/>
          </a:prstGeom>
          <a:ln>
            <a:solidFill>
              <a:schemeClr val="accent5"/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nominal ER,  </a:t>
            </a:r>
            <a:r>
              <a:rPr lang="en-GB" sz="1400" b="1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QoQ</a:t>
            </a: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%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4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---forecast reflects NBR’s flexible exchange rate policy and its hybrid rule in practice </a:t>
            </a:r>
          </a:p>
          <a:p>
            <a:pPr marL="274638" lvl="1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ea typeface="Calibri" panose="020F0502020204030204" pitchFamily="34" charset="0"/>
              </a:rPr>
              <a:t>--</a:t>
            </a:r>
            <a:r>
              <a:rPr lang="en-GB" sz="1000" dirty="0">
                <a:effectLst/>
                <a:ea typeface="Calibri" panose="020F0502020204030204" pitchFamily="34" charset="0"/>
              </a:rPr>
              <a:t>steering the ER to the </a:t>
            </a:r>
            <a:r>
              <a:rPr lang="en-GB" sz="1000" b="1" dirty="0">
                <a:solidFill>
                  <a:srgbClr val="4472C4"/>
                </a:solidFill>
                <a:effectLst/>
                <a:ea typeface="Calibri" panose="020F0502020204030204" pitchFamily="34" charset="0"/>
              </a:rPr>
              <a:t>target ER</a:t>
            </a:r>
            <a:r>
              <a:rPr lang="en-GB" sz="1000" dirty="0">
                <a:effectLst/>
                <a:ea typeface="Calibri" panose="020F0502020204030204" pitchFamily="34" charset="0"/>
              </a:rPr>
              <a:t> such that the RER gradually matches the target depreciation rate</a:t>
            </a:r>
            <a:endParaRPr lang="en-US" sz="1000" dirty="0"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GB" sz="1600" dirty="0">
                <a:effectLst/>
                <a:ea typeface="Calibri" panose="020F0502020204030204" pitchFamily="34" charset="0"/>
              </a:rPr>
              <a:t>---continue its recent fast depreciation than target (</a:t>
            </a:r>
            <a:r>
              <a:rPr lang="en-GB" sz="1200" dirty="0">
                <a:effectLst/>
                <a:ea typeface="Calibri" panose="020F0502020204030204" pitchFamily="34" charset="0"/>
              </a:rPr>
              <a:t>annualized 15% for most of 2023</a:t>
            </a:r>
            <a:r>
              <a:rPr lang="en-GB" sz="1600" dirty="0">
                <a:effectLst/>
                <a:ea typeface="Calibri" panose="020F0502020204030204" pitchFamily="34" charset="0"/>
              </a:rPr>
              <a:t>)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GB" sz="1600" dirty="0">
                <a:ea typeface="Calibri" panose="020F0502020204030204" pitchFamily="34" charset="0"/>
              </a:rPr>
              <a:t>---</a:t>
            </a:r>
            <a:r>
              <a:rPr lang="en-GB" sz="1600" dirty="0">
                <a:effectLst/>
                <a:ea typeface="Calibri" panose="020F0502020204030204" pitchFamily="34" charset="0"/>
              </a:rPr>
              <a:t>correcting for the recent overvaluation due to high domestic inflation. </a:t>
            </a:r>
            <a:endParaRPr lang="en-GB" sz="1600" dirty="0">
              <a:ea typeface="Calibri" panose="020F0502020204030204" pitchFamily="34" charset="0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GB" sz="1600" dirty="0">
                <a:effectLst/>
                <a:ea typeface="Calibri" panose="020F0502020204030204" pitchFamily="34" charset="0"/>
              </a:rPr>
              <a:t>---th</a:t>
            </a:r>
            <a:r>
              <a:rPr lang="en-GB" sz="1600" dirty="0">
                <a:ea typeface="Calibri" panose="020F0502020204030204" pitchFamily="34" charset="0"/>
              </a:rPr>
              <a:t>en</a:t>
            </a:r>
            <a:r>
              <a:rPr lang="en-GB" sz="1600" dirty="0">
                <a:effectLst/>
                <a:ea typeface="Calibri" panose="020F0502020204030204" pitchFamily="34" charset="0"/>
              </a:rPr>
              <a:t> returns gradually to the target ER depreciation rate</a:t>
            </a:r>
          </a:p>
          <a:p>
            <a:pPr marL="0" indent="0">
              <a:spcBef>
                <a:spcPct val="0"/>
              </a:spcBef>
              <a:buNone/>
            </a:pPr>
            <a:endParaRPr lang="en-GB" sz="1200" dirty="0">
              <a:solidFill>
                <a:srgbClr val="2F54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C87422B-804D-407E-9BF6-3203420BA1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00900"/>
            <a:ext cx="3062605" cy="207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6A6DDAC-6990-8F42-48B4-8E1E739F5C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6205" y="1239510"/>
            <a:ext cx="2957195" cy="2037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2E6DBBB-4947-2F2C-BC34-AFF0D065A3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1795" y="1250020"/>
            <a:ext cx="3149405" cy="203709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01EC83C-D273-9B2B-59D4-F2EDC010B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72" y="1250021"/>
            <a:ext cx="2371725" cy="203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25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04800"/>
            <a:ext cx="9728200" cy="533400"/>
          </a:xfrm>
        </p:spPr>
        <p:txBody>
          <a:bodyPr/>
          <a:lstStyle/>
          <a:p>
            <a:r>
              <a:rPr lang="en-GB" sz="2400" b="1" dirty="0">
                <a:latin typeface="Gill Sans MT" panose="020B0502020104020203" pitchFamily="34" charset="0"/>
              </a:rPr>
              <a:t>V. Comparison with Integrated Macro Framework </a:t>
            </a:r>
            <a:r>
              <a:rPr lang="en-GB" sz="2000" dirty="0">
                <a:latin typeface="Gill Sans MT" panose="020B0502020104020203" pitchFamily="34" charset="0"/>
              </a:rPr>
              <a:t>(</a:t>
            </a:r>
            <a:r>
              <a:rPr lang="en-GB" sz="2000" dirty="0" err="1">
                <a:latin typeface="Gill Sans MT" panose="020B0502020104020203" pitchFamily="34" charset="0"/>
              </a:rPr>
              <a:t>intMF</a:t>
            </a:r>
            <a:r>
              <a:rPr lang="en-GB" sz="2000" dirty="0">
                <a:latin typeface="Gill Sans MT" panose="020B0502020104020203" pitchFamily="34" charset="0"/>
              </a:rPr>
              <a:t>)</a:t>
            </a:r>
            <a:r>
              <a:rPr lang="en-GB" sz="2400" b="1" dirty="0">
                <a:latin typeface="Gill Sans MT" panose="020B0502020104020203" pitchFamily="34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Gill Sans MT" panose="020B0502020104020203" pitchFamily="34" charset="0"/>
              </a:rPr>
              <a:t>(to update)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96673-2BED-C82A-0711-408BC7165E79}"/>
              </a:ext>
            </a:extLst>
          </p:cNvPr>
          <p:cNvSpPr txBox="1"/>
          <p:nvPr/>
        </p:nvSpPr>
        <p:spPr>
          <a:xfrm>
            <a:off x="6705600" y="1219200"/>
            <a:ext cx="5283200" cy="445763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Illustrative comparison with Oct. 2023 </a:t>
            </a:r>
            <a:r>
              <a:rPr lang="en-US" sz="1600" b="1" dirty="0" err="1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intMF</a:t>
            </a:r>
            <a:r>
              <a:rPr lang="en-US" sz="16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proj</a:t>
            </a:r>
            <a:r>
              <a:rPr lang="en-US" sz="16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 (PCI-RSF)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annualized QMFM result has—compared to MF:</a:t>
            </a: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 volatility in final demand components, especially for consumption, investment, and imports (MF anomalies…)</a:t>
            </a:r>
            <a:endParaRPr lang="en-RW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average CPI inflation in 2023, more accurate as it traces inflation by quarter</a:t>
            </a:r>
            <a:endParaRPr lang="en-RW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lower ER depreciation from 2024, as it forecast zero RER depreciation in MT, the MF has real depreciations each year in 2024-26</a:t>
            </a:r>
            <a:endParaRPr lang="en-RW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higher fiscal deficits return to sustainable level, whereas PCI reduces deficit much below</a:t>
            </a:r>
            <a:endParaRPr lang="en-RW" sz="14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6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correctly reproduced historic data.</a:t>
            </a:r>
            <a:endParaRPr lang="en-US" sz="1600" b="1" dirty="0">
              <a:solidFill>
                <a:srgbClr val="002060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5AE3D-0068-BF1B-2304-E746511B2B8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1" y="1219201"/>
            <a:ext cx="6096000" cy="445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7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556C-239C-2032-A4AB-F5EC73F0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VI. Data issues and requests &amp; suggestions</a:t>
            </a:r>
            <a:endParaRPr lang="en-RW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70382D-03F1-B037-8AF8-AE5637109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7979F-7F8C-8730-D214-36B5AA930C70}"/>
              </a:ext>
            </a:extLst>
          </p:cNvPr>
          <p:cNvSpPr txBox="1"/>
          <p:nvPr/>
        </p:nvSpPr>
        <p:spPr>
          <a:xfrm>
            <a:off x="1092200" y="1295400"/>
            <a:ext cx="1089660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+mn-lt"/>
              </a:rPr>
              <a:t>data inputs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b="1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IntMF</a:t>
            </a:r>
            <a:r>
              <a:rPr lang="en-US" sz="18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–debt  stock, fiscal (deficit, Govt demand (</a:t>
            </a:r>
            <a:r>
              <a:rPr lang="en-US" sz="180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g&amp;s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800" dirty="0" err="1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investiment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NA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–GDP and Govt. consumption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BNR-monetary survey 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–interest and exchange rates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WEOGAS &amp; GEE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—foreign/trading patterners projections (i.e., output, interest rates, prices)</a:t>
            </a:r>
          </a:p>
          <a:p>
            <a:pPr>
              <a:spcAft>
                <a:spcPts val="800"/>
              </a:spcAft>
            </a:pPr>
            <a:endParaRPr lang="en-US" sz="1800" dirty="0"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+mn-lt"/>
              </a:rPr>
              <a:t>data issues and requests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1800" b="1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Model results (</a:t>
            </a:r>
            <a:r>
              <a:rPr lang="en-US" sz="2000" dirty="0" err="1">
                <a:latin typeface="+mn-lt"/>
                <a:cs typeface="Times New Roman" panose="02020603050405020304" pitchFamily="18" charset="0"/>
              </a:rPr>
              <a:t>proj</a:t>
            </a:r>
            <a:r>
              <a:rPr lang="en-US" sz="2000" dirty="0">
                <a:latin typeface="+mn-lt"/>
                <a:cs typeface="Times New Roman" panose="02020603050405020304" pitchFamily="18" charset="0"/>
              </a:rPr>
              <a:t>.) on key macro indicators compared/cross-checked with </a:t>
            </a:r>
            <a:r>
              <a:rPr lang="en-US" sz="2000" dirty="0" err="1">
                <a:latin typeface="+mn-lt"/>
                <a:cs typeface="Times New Roman" panose="02020603050405020304" pitchFamily="18" charset="0"/>
              </a:rPr>
              <a:t>intMF</a:t>
            </a:r>
            <a:r>
              <a:rPr lang="en-US" sz="2000" dirty="0">
                <a:latin typeface="+mn-lt"/>
                <a:cs typeface="Times New Roman" panose="02020603050405020304" pitchFamily="18" charset="0"/>
              </a:rPr>
              <a:t> for consistency </a:t>
            </a:r>
          </a:p>
          <a:p>
            <a:pPr marL="628650" lvl="1" indent="-1714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latin typeface="+mn-lt"/>
                <a:cs typeface="Times New Roman" panose="02020603050405020304" pitchFamily="18" charset="0"/>
              </a:rPr>
              <a:t>so imperative to get full consistent </a:t>
            </a:r>
            <a:r>
              <a:rPr lang="en-US" sz="1200" dirty="0" err="1">
                <a:latin typeface="+mn-lt"/>
                <a:cs typeface="Times New Roman" panose="02020603050405020304" pitchFamily="18" charset="0"/>
              </a:rPr>
              <a:t>intMF</a:t>
            </a:r>
            <a:r>
              <a:rPr lang="en-US" sz="1200" dirty="0">
                <a:latin typeface="+mn-lt"/>
                <a:cs typeface="Times New Roman" panose="02020603050405020304" pitchFamily="18" charset="0"/>
              </a:rPr>
              <a:t> earlier ahead of model forecast round (i.e., fiscal (Qo treasury plan for 2023/24 is not available) and Debt stock –actual  or provisional data)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inconsistency—diff. definition between NA &amp; budget Govt consumption (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NA overestimation of Govt cons by considering part of Govt investment as consumption)</a:t>
            </a:r>
            <a:endParaRPr lang="en-US" sz="2000" dirty="0">
              <a:latin typeface="+mn-lt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200" dirty="0">
                <a:latin typeface="+mn-lt"/>
                <a:cs typeface="Times New Roman" panose="02020603050405020304" pitchFamily="18" charset="0"/>
              </a:rPr>
              <a:t>pending NISR corrections, </a:t>
            </a:r>
            <a:r>
              <a:rPr lang="en-US" sz="1200" dirty="0" err="1">
                <a:latin typeface="+mn-lt"/>
                <a:cs typeface="Times New Roman" panose="02020603050405020304" pitchFamily="18" charset="0"/>
              </a:rPr>
              <a:t>intMF</a:t>
            </a:r>
            <a:r>
              <a:rPr lang="en-US" sz="1200" dirty="0">
                <a:latin typeface="+mn-lt"/>
                <a:cs typeface="Times New Roman" panose="02020603050405020304" pitchFamily="18" charset="0"/>
              </a:rPr>
              <a:t> (real &amp; fiscal) should reflect/follow QMFM treatment (i.e., 80% govt </a:t>
            </a:r>
            <a:r>
              <a:rPr lang="en-US" sz="1200" dirty="0" err="1">
                <a:latin typeface="+mn-lt"/>
                <a:cs typeface="Times New Roman" panose="02020603050405020304" pitchFamily="18" charset="0"/>
              </a:rPr>
              <a:t>invBudget</a:t>
            </a:r>
            <a:r>
              <a:rPr lang="en-US" sz="1200" dirty="0">
                <a:latin typeface="+mn-lt"/>
                <a:cs typeface="Times New Roman" panose="02020603050405020304" pitchFamily="18" charset="0"/>
              </a:rPr>
              <a:t> and rest added on </a:t>
            </a:r>
            <a:r>
              <a:rPr lang="en-US" sz="1200" dirty="0" err="1">
                <a:latin typeface="+mn-lt"/>
                <a:cs typeface="Times New Roman" panose="02020603050405020304" pitchFamily="18" charset="0"/>
              </a:rPr>
              <a:t>consNA</a:t>
            </a:r>
            <a:r>
              <a:rPr lang="en-US" sz="12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  <a:cs typeface="Times New Roman" panose="02020603050405020304" pitchFamily="18" charset="0"/>
              </a:rPr>
              <a:t>NBR-FPAS inflation &amp; ER ann. outlook for model ‘’tuning judgment’’</a:t>
            </a:r>
          </a:p>
        </p:txBody>
      </p:sp>
    </p:spTree>
    <p:extLst>
      <p:ext uri="{BB962C8B-B14F-4D97-AF65-F5344CB8AC3E}">
        <p14:creationId xmlns:p14="http://schemas.microsoft.com/office/powerpoint/2010/main" val="3565047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VII. Alternative scenario: higher foreign food/oil prices </a:t>
            </a:r>
            <a:r>
              <a:rPr lang="en-GB" sz="2000" dirty="0">
                <a:latin typeface="Gill Sans MT" panose="020B0502020104020203" pitchFamily="34" charset="0"/>
              </a:rPr>
              <a:t>(2023-24)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4072126"/>
            <a:ext cx="6095999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Higher-than-WEO foreign food and oil prices in 2023-24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foreign food and oil prices on average 25% higher than BL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with peak around end-2023, return to WEO levels from 2025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no change in fiscal policy</a:t>
            </a:r>
          </a:p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Results in higher headline CPI, little or no effect on 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headline CPI temporarily higher, reflecting food/oil import shares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response policy rate, reversed fast as expected inflation drops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positive effect on demand of lower RIR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mostly offset by negative effect of slightly more appreciated RER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overall effect on GDP is very small, less than 0.2% 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580BD2F-649E-60FA-633D-03324DE6B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61146"/>
            <a:ext cx="2636649" cy="2501255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889A9DE6-9BFC-6A53-38AD-C47A142574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353" y="1461146"/>
            <a:ext cx="2643324" cy="2501256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F6EB5B70-CE75-4FDF-6C04-C834BE64F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371601"/>
            <a:ext cx="2741474" cy="2856419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02925C9B-2BDC-4C9B-9C7D-72DD591BE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28" y="1600200"/>
            <a:ext cx="2655454" cy="2627820"/>
          </a:xfrm>
          <a:prstGeom prst="rect">
            <a:avLst/>
          </a:prstGeom>
        </p:spPr>
      </p:pic>
      <p:pic>
        <p:nvPicPr>
          <p:cNvPr id="18" name="Picture 17" descr="Chart, line chart&#10;&#10;Description automatically generated">
            <a:extLst>
              <a:ext uri="{FF2B5EF4-FFF2-40B4-BE49-F238E27FC236}">
                <a16:creationId xmlns:a16="http://schemas.microsoft.com/office/drawing/2014/main" id="{52BB3907-ABDC-4994-C0FA-C0740D7B4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7275"/>
            <a:ext cx="2895600" cy="2308325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DA0C3106-E3A5-B8F3-5DA5-36C26B5C43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716" y="4413645"/>
            <a:ext cx="2708084" cy="23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3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0"/>
            <a:ext cx="9880600" cy="609600"/>
          </a:xfrm>
        </p:spPr>
        <p:txBody>
          <a:bodyPr/>
          <a:lstStyle/>
          <a:p>
            <a:r>
              <a:rPr lang="en-US" sz="2400" b="1" dirty="0"/>
              <a:t>VIII. QMFM: main relationships and transmission mechanisms </a:t>
            </a:r>
            <a:endParaRPr lang="en-AE" sz="24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B370B-B524-55B7-8DFA-989DF55857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5800"/>
            <a:ext cx="12192000" cy="6539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5581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68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38453</TotalTime>
  <Words>4540</Words>
  <Application>Microsoft Office PowerPoint</Application>
  <PresentationFormat>Widescreen</PresentationFormat>
  <Paragraphs>386</Paragraphs>
  <Slides>27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ＭＳ Ｐゴシック</vt:lpstr>
      <vt:lpstr>Arial</vt:lpstr>
      <vt:lpstr>Bookman Old Style</vt:lpstr>
      <vt:lpstr>Calibri</vt:lpstr>
      <vt:lpstr>Gill Sans MT</vt:lpstr>
      <vt:lpstr>Symbol</vt:lpstr>
      <vt:lpstr>Times New Roman</vt:lpstr>
      <vt:lpstr>Wingdings</vt:lpstr>
      <vt:lpstr>Wingdings 3</vt:lpstr>
      <vt:lpstr>2_Origin</vt:lpstr>
      <vt:lpstr>Document</vt:lpstr>
      <vt:lpstr>PowerPoint Presentation</vt:lpstr>
      <vt:lpstr>Outline/contents</vt:lpstr>
      <vt:lpstr>I. Rationale of outlook &amp; underlying model</vt:lpstr>
      <vt:lpstr>1I. Recent macroeconomic developments (2017-23Q2) Real GDP/Output</vt:lpstr>
      <vt:lpstr>1I. Recent macroeconomic developments  Fiscal policies and deficit components (2015/16-2022/23)</vt:lpstr>
      <vt:lpstr>Inflation—headline CPI </vt:lpstr>
      <vt:lpstr>Monetary policies (i): market interest rates (2019-23)</vt:lpstr>
      <vt:lpstr>Monetary policies (ii): exchange rates (2019-23)</vt:lpstr>
      <vt:lpstr>III. Macroeconomic Forecast Assumptions  Summary current cyclical position &amp; policy stance &amp; ExtEnv</vt:lpstr>
      <vt:lpstr>External environment assumptions (IMF WEO-GAS &amp; GEE)</vt:lpstr>
      <vt:lpstr>Domestic environment assumptions</vt:lpstr>
      <vt:lpstr>IV. Macroeconomic forecast/outlook Summary of macroeconomic forecast/outlook (2023Q3-2027Q4)</vt:lpstr>
      <vt:lpstr>Forecast—Output and cyclical position (GDP growth)</vt:lpstr>
      <vt:lpstr>Forecast—cyclical total demand driving GDP</vt:lpstr>
      <vt:lpstr>Private consumption and cyclical position</vt:lpstr>
      <vt:lpstr>Private investment, exports &amp; imports and cyclical position</vt:lpstr>
      <vt:lpstr>Fiscal stance (i): govt demand for G&amp;S affects output directly</vt:lpstr>
      <vt:lpstr>  Fiscal stance (ii): fiscal impulse affects output via private demand</vt:lpstr>
      <vt:lpstr>Fiscal stance: deficit and its components (revenue, spending)</vt:lpstr>
      <vt:lpstr>Forecast—Inflation (headline CPI &amp; components)</vt:lpstr>
      <vt:lpstr>Forecast—Policy interest rate (interbank rate, IB) </vt:lpstr>
      <vt:lpstr>Forecast—Nominal and Real Exchange Rate (ER &amp; RER)</vt:lpstr>
      <vt:lpstr>V. Comparison with Integrated Macro Framework (intMF) (to update)</vt:lpstr>
      <vt:lpstr>VI. Data issues and requests &amp; suggestions</vt:lpstr>
      <vt:lpstr>VII. Alternative scenario: higher foreign food/oil prices (2023-24)</vt:lpstr>
      <vt:lpstr>VIII. QMFM: main relationships and transmission mechanisms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Evariste MANIRUMVA</cp:lastModifiedBy>
  <cp:revision>1532</cp:revision>
  <cp:lastPrinted>2023-06-23T12:26:08Z</cp:lastPrinted>
  <dcterms:created xsi:type="dcterms:W3CDTF">2011-04-18T20:01:25Z</dcterms:created>
  <dcterms:modified xsi:type="dcterms:W3CDTF">2024-01-31T10:02:38Z</dcterms:modified>
</cp:coreProperties>
</file>