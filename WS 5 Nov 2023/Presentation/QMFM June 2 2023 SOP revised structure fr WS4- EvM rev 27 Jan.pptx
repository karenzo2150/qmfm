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8"/>
  </p:notesMasterIdLst>
  <p:handoutMasterIdLst>
    <p:handoutMasterId r:id="rId29"/>
  </p:handoutMasterIdLst>
  <p:sldIdLst>
    <p:sldId id="540" r:id="rId2"/>
    <p:sldId id="547" r:id="rId3"/>
    <p:sldId id="553" r:id="rId4"/>
    <p:sldId id="511" r:id="rId5"/>
    <p:sldId id="554" r:id="rId6"/>
    <p:sldId id="555" r:id="rId7"/>
    <p:sldId id="548" r:id="rId8"/>
    <p:sldId id="512" r:id="rId9"/>
    <p:sldId id="516" r:id="rId10"/>
    <p:sldId id="549" r:id="rId11"/>
    <p:sldId id="552" r:id="rId12"/>
    <p:sldId id="513" r:id="rId13"/>
    <p:sldId id="515" r:id="rId14"/>
    <p:sldId id="514" r:id="rId15"/>
    <p:sldId id="551" r:id="rId16"/>
    <p:sldId id="517" r:id="rId17"/>
    <p:sldId id="541" r:id="rId18"/>
    <p:sldId id="544" r:id="rId19"/>
    <p:sldId id="557" r:id="rId20"/>
    <p:sldId id="559" r:id="rId21"/>
    <p:sldId id="558" r:id="rId22"/>
    <p:sldId id="523" r:id="rId23"/>
    <p:sldId id="536" r:id="rId24"/>
    <p:sldId id="535" r:id="rId25"/>
    <p:sldId id="531" r:id="rId26"/>
    <p:sldId id="545" r:id="rId27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47"/>
            <p14:sldId id="553"/>
            <p14:sldId id="511"/>
            <p14:sldId id="554"/>
            <p14:sldId id="555"/>
            <p14:sldId id="548"/>
            <p14:sldId id="512"/>
            <p14:sldId id="516"/>
            <p14:sldId id="549"/>
            <p14:sldId id="552"/>
            <p14:sldId id="513"/>
            <p14:sldId id="515"/>
            <p14:sldId id="514"/>
            <p14:sldId id="551"/>
            <p14:sldId id="517"/>
            <p14:sldId id="541"/>
            <p14:sldId id="544"/>
            <p14:sldId id="557"/>
            <p14:sldId id="559"/>
            <p14:sldId id="558"/>
            <p14:sldId id="523"/>
            <p14:sldId id="536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3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1" autoAdjust="0"/>
    <p:restoredTop sz="95788" autoAdjust="0"/>
  </p:normalViewPr>
  <p:slideViewPr>
    <p:cSldViewPr>
      <p:cViewPr varScale="1">
        <p:scale>
          <a:sx n="98" d="100"/>
          <a:sy n="98" d="100"/>
        </p:scale>
        <p:origin x="46" y="7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8/10/relationships/authors" Target="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1-25T11:27:18.081" idx="2">
    <p:pos x="6336" y="720"/>
    <p:text>Gdem gap and gdem_y %GDP which one potrays fiscal policy better?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1-26T12:00:09.188" idx="3">
    <p:pos x="2669" y="2851"/>
    <p:text>why important? desirable to curb inflation?</p:text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3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QMFM model is originated or derived from a canonical-new Keynesian reduced form model (log-linearized equations of a micro-founded model)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6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</a:t>
            </a:r>
            <a:r>
              <a:rPr lang="en-US" dirty="0" err="1"/>
              <a:t>p.y</a:t>
            </a:r>
            <a:r>
              <a:rPr lang="en-US" dirty="0"/>
              <a:t>., trading partner inflation 2% </a:t>
            </a:r>
            <a:r>
              <a:rPr lang="en-US" dirty="0" err="1"/>
              <a:t>p.y</a:t>
            </a:r>
            <a:r>
              <a:rPr lang="en-US" dirty="0"/>
              <a:t>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1/27/2024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27/01/2024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mp"/><Relationship Id="rId5" Type="http://schemas.openxmlformats.org/officeDocument/2006/relationships/image" Target="../media/image16.tmp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.docx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Document1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Document3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2.xml"/><Relationship Id="rId4" Type="http://schemas.openxmlformats.org/officeDocument/2006/relationships/image" Target="../media/image3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7" Type="http://schemas.openxmlformats.org/officeDocument/2006/relationships/image" Target="../media/image59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tmp"/><Relationship Id="rId5" Type="http://schemas.openxmlformats.org/officeDocument/2006/relationships/image" Target="../media/image57.tmp"/><Relationship Id="rId4" Type="http://schemas.openxmlformats.org/officeDocument/2006/relationships/image" Target="../media/image56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67000" y="6019800"/>
            <a:ext cx="681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Jan, 2023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63121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  <a:p>
            <a:pPr algn="ctr">
              <a:defRPr/>
            </a:pPr>
            <a:r>
              <a:rPr lang="en-GB" sz="36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Nov 2023, forecast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Provide forecast for 16 quarters ahead for key macro variables (</a:t>
            </a:r>
            <a:r>
              <a:rPr lang="en-GB" sz="1800" dirty="0" err="1"/>
              <a:t>i.e</a:t>
            </a:r>
            <a:r>
              <a:rPr lang="en-GB" sz="1800" dirty="0"/>
              <a:t>,. output, inflation, final demand…...) as influenced by fiscal, monetary, and exchange rate policies,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rgbClr val="FF0000"/>
                </a:solidFill>
              </a:rPr>
              <a:t>Simulate alternative policy scenarios suggest policy implications &amp; recommendations.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Provide input to (Qo or Ann. assumptions),  and complement, other tools projections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validate macro-fiscal projections that underpin the (medium-term) Budgets and IMF-supported programs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facilitate coordination of policies between MINECOFIN.</a:t>
            </a:r>
            <a:endParaRPr lang="en-GB" sz="14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Tool/model: Quarterly Macro Fiscal Model (QMFM), a so-called “gap” model: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special emphasis on fiscal deficit indicators &amp; components (revenue, Govt spending &amp; structural, discretional, cyclical)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tracing key macro variables in deviation from trends, potential levels, or targets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after shocks and policy responses, variables return to their LT trends subject to persistence/lags &amp; </a:t>
            </a:r>
            <a:r>
              <a:rPr lang="en-GB" sz="1400" dirty="0" err="1"/>
              <a:t>s.states</a:t>
            </a:r>
            <a:r>
              <a:rPr lang="en-GB" sz="1400" dirty="0"/>
              <a:t>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trends converge to steady states (outside model), e.g., potential output growth,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interest and exchange rates neutral rate &amp; target,  sustainable deficit level and target inflation….</a:t>
            </a: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Model/Qo outlook rationale &amp; requests + recommendations 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990600" y="1447800"/>
            <a:ext cx="10896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quarterly Outlook—produced along with results of macro framework and NBR forecasting tools</a:t>
            </a:r>
          </a:p>
          <a:p>
            <a:pPr lvl="1">
              <a:spcAft>
                <a:spcPts val="800"/>
              </a:spcAft>
            </a:pPr>
            <a:r>
              <a:rPr lang="en-US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</a:t>
            </a:r>
            <a:r>
              <a:rPr lang="en-US" sz="1800" i="1" dirty="0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should help in framing macro economic assumptions for </a:t>
            </a:r>
            <a:r>
              <a:rPr lang="en-US" sz="1800" i="1" dirty="0" err="1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InMF</a:t>
            </a:r>
            <a:r>
              <a:rPr lang="en-US" sz="1800" i="1" dirty="0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and other tools </a:t>
            </a:r>
            <a:endParaRPr lang="en-US" sz="1800" i="1" dirty="0">
              <a:solidFill>
                <a:srgbClr val="1F4E7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—should help generate the validated macro-fiscal projections that underpin the (medium-term) Budgets and IMF-supported programs and facilitate coordination of policies between MINECOFIN and NBR. </a:t>
            </a: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</a:t>
            </a:r>
            <a:r>
              <a:rPr lang="en-US" sz="1800" i="1" dirty="0">
                <a:solidFill>
                  <a:srgbClr val="1F4E79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 the process of reconciling the results from various tools, iterative policy scenarios are run, and recommendations formulated outside the Outlook. </a:t>
            </a: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—MINECOFIN’s independent assessment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the macro-outlook and the effects and interactions of fiscal with other policies—which may differ from those in other tools</a:t>
            </a:r>
          </a:p>
          <a:p>
            <a:pPr lvl="1">
              <a:spcAft>
                <a:spcPts val="800"/>
              </a:spcAft>
            </a:pPr>
            <a:r>
              <a:rPr lang="en-US" sz="1800" i="1" dirty="0">
                <a:solidFill>
                  <a:srgbClr val="1F4E7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—should further enhance the macroeconomic analysis and policy debate</a:t>
            </a:r>
          </a:p>
          <a:p>
            <a:pPr>
              <a:spcAft>
                <a:spcPts val="800"/>
              </a:spcAft>
            </a:pPr>
            <a:r>
              <a:rPr lang="en-US" i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plea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NBR-FPAS inflation &amp; ER outlook 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 (Qo treasury plan for 2023/24 is not available) and Debt stock actual or provisional data</a:t>
            </a:r>
          </a:p>
          <a:p>
            <a:pPr>
              <a:spcAft>
                <a:spcPts val="800"/>
              </a:spcAft>
            </a:pP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7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(2017-23)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</a:t>
            </a:r>
            <a:endParaRPr lang="en-AE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648200" y="3886200"/>
            <a:ext cx="7439297" cy="2667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Fiscal deficit (%GDP) and Govt demand (level &amp; 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fiscal consolidation</a:t>
            </a:r>
            <a:r>
              <a:rPr lang="en-US" sz="1200" dirty="0"/>
              <a:t>—with a decreasing deficit of 10% average for 2015/16—2018/19, mainly driven by Govt demand discretion spending (i.e., use of goods and services..)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</a:t>
            </a:r>
            <a:r>
              <a:rPr lang="en-US" sz="1200" dirty="0"/>
              <a:t>—with increased deficit for FY 2019/20—2021/22 of 14.1% average triggered  by Covid-spending &amp; </a:t>
            </a:r>
            <a:r>
              <a:rPr lang="en-US" sz="1200" dirty="0" err="1"/>
              <a:t>discr</a:t>
            </a:r>
            <a:r>
              <a:rPr lang="en-US" sz="1200" dirty="0"/>
              <a:t>. Govt spending incl. NINFA, (i.e.,. mass School constructions) and use goods and services,  mostly related to foreign finance portion.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revived fiscal consolidation</a:t>
            </a:r>
            <a:r>
              <a:rPr lang="en-US" sz="1200" dirty="0"/>
              <a:t>—with deficit declining of 12%—10.8% for FY 2022/23—2023/24, driven by a reduction in capital spending, and net lending (equities and shares (Euro bond investment projects), and loans(B/s support funds)).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0000"/>
                </a:solidFill>
              </a:rPr>
              <a:t>Govt demand deflated in real terms by a surging inflation from 2022, but inflated again by  floods response for last quarter of FY 2022/23. </a:t>
            </a:r>
          </a:p>
          <a:p>
            <a:pPr marL="274638" lvl="1" indent="0" algn="just">
              <a:spcAft>
                <a:spcPts val="600"/>
              </a:spcAft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9C0252-A6B9-69B0-300B-73CFC3E8C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038600"/>
            <a:ext cx="3886201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05CC71-1A84-705F-FBDF-AA695FBE1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234440"/>
            <a:ext cx="3557450" cy="2514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BAF7FF-6266-71A8-8444-F92C05249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368" y="1371600"/>
            <a:ext cx="3092632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Recent macroeconomic developments </a:t>
            </a:r>
            <a:r>
              <a:rPr lang="en-US" b="1" dirty="0" err="1"/>
              <a:t>cnt</a:t>
            </a:r>
            <a:r>
              <a:rPr lang="en-US" b="1" dirty="0"/>
              <a:t>’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31623"/>
            <a:ext cx="3505200" cy="28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2754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199491"/>
            <a:ext cx="3124201" cy="243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70E46-4BA6-140C-A840-C2D003E419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181099"/>
            <a:ext cx="251460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7DA663-E192-CFB8-52E2-106730AEA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171" y="1181098"/>
            <a:ext cx="2754629" cy="240030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162800" y="3695696"/>
            <a:ext cx="463804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averaged to 7.5% during 2000-19 and estimated a bit below potential in 2019; 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Contracted/dropped by 3.4% and was 12% below potential level had </a:t>
            </a:r>
            <a:r>
              <a:rPr lang="en-GB" sz="1200" dirty="0">
                <a:solidFill>
                  <a:srgbClr val="FF0000"/>
                </a:solidFill>
              </a:rPr>
              <a:t>normal growth (potential) of 7.5% continued</a:t>
            </a:r>
            <a:r>
              <a:rPr lang="en-GB" sz="1200" dirty="0"/>
              <a:t> during COVID-2020 due to  supply constraints and drops in external and domestic demand.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helped in subsequent recovery of economy, despite strong bounce back in 2021 economy is estimated below potential.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 such Ukraine War affected domestic economy </a:t>
            </a:r>
            <a:r>
              <a:rPr lang="en-RW" sz="1200" dirty="0"/>
              <a:t>slowed down the recovery from 2022Q1 onward</a:t>
            </a:r>
            <a:r>
              <a:rPr lang="en-US" sz="12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810000" y="3699506"/>
            <a:ext cx="3276600" cy="300082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gap drivers </a:t>
            </a:r>
            <a:endParaRPr lang="en-US" sz="1050" b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5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</a:t>
            </a:r>
            <a:r>
              <a:rPr lang="en-US" sz="1050" dirty="0" err="1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downpull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on GDP;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5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5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63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838200"/>
          </a:xfrm>
        </p:spPr>
        <p:txBody>
          <a:bodyPr/>
          <a:lstStyle/>
          <a:p>
            <a:r>
              <a:rPr lang="en-US" b="1" dirty="0"/>
              <a:t>Recent macroeconomic developments </a:t>
            </a:r>
            <a:r>
              <a:rPr lang="en-US" b="1" dirty="0" err="1"/>
              <a:t>cnt</a:t>
            </a:r>
            <a:r>
              <a:rPr lang="en-US" b="1" dirty="0"/>
              <a:t>’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95696"/>
            <a:ext cx="467360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CPI,  (YoY %)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(i.e., </a:t>
            </a:r>
            <a:r>
              <a:rPr lang="en-US" sz="1200" dirty="0" err="1"/>
              <a:t>agric</a:t>
            </a:r>
            <a:r>
              <a:rPr lang="en-US" sz="1200" dirty="0"/>
              <a:t> &amp; weather shocks) unrelated to business cycle (</a:t>
            </a:r>
            <a:r>
              <a:rPr lang="en-US" sz="1100" dirty="0">
                <a:solidFill>
                  <a:srgbClr val="FF0000"/>
                </a:solidFill>
              </a:rPr>
              <a:t>i.e., not consistent with a still -</a:t>
            </a:r>
            <a:r>
              <a:rPr lang="en-US" sz="1100" dirty="0" err="1">
                <a:solidFill>
                  <a:srgbClr val="FF0000"/>
                </a:solidFill>
              </a:rPr>
              <a:t>ve</a:t>
            </a:r>
            <a:r>
              <a:rPr lang="en-US" sz="1100" dirty="0">
                <a:solidFill>
                  <a:srgbClr val="FF0000"/>
                </a:solidFill>
              </a:rPr>
              <a:t> output gap)</a:t>
            </a:r>
            <a:endParaRPr lang="en-US" sz="1200" dirty="0">
              <a:solidFill>
                <a:srgbClr val="FF0000"/>
              </a:solidFill>
            </a:endParaRP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800" dirty="0"/>
              <a:t>main factors incl. weather-induced fluctuations in harvests and agricultural prices, openness and dependence on imports, especially for food and petroleum products with volatile international prices, and lack of competition in many markets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and energy are main drivers of this volatility inflation directly and indirectly.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 was more driven by weak harvests coincided with soaring of world food and energy prices.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i="1" dirty="0"/>
              <a:t>deceleration observed through a drop in components since 2023Q1.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82385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Headline—CPI drivers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 &amp; before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driven by food prices in 2017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driven a fall in food prices for 2018-19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in 2020 induced by higher </a:t>
            </a:r>
            <a:r>
              <a:rPr lang="en-US" sz="1050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COVID-related food and core prices (imports)?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driven by recovery in terms of good </a:t>
            </a:r>
            <a:r>
              <a:rPr lang="en-US" sz="105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harvest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 (driven by </a:t>
            </a:r>
            <a:r>
              <a:rPr lang="en-US" sz="105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induced shocks than standard factors i.e., output gap)—</a:t>
            </a:r>
            <a:r>
              <a:rPr lang="en-US" sz="1000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weak output gap relation to P.C relation–weak  </a:t>
            </a:r>
            <a:r>
              <a:rPr lang="en-US" sz="1000" i="1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monetary policy </a:t>
            </a:r>
            <a:r>
              <a:rPr lang="en-US" sz="1000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output to inflation?</a:t>
            </a: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food prices: negatively driven by agricultural production gap and </a:t>
            </a:r>
            <a:r>
              <a:rPr lang="en-US" sz="105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-related shocks</a:t>
            </a: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international energy and commodity prices </a:t>
            </a:r>
            <a:endParaRPr lang="en-RW" sz="1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1181098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FCF0BB-6956-9B7C-BC8B-006DAE85A3A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490" y="1257304"/>
            <a:ext cx="2983865" cy="2356209"/>
          </a:xfrm>
          <a:prstGeom prst="rect">
            <a:avLst/>
          </a:prstGeom>
        </p:spPr>
      </p:pic>
      <p:pic>
        <p:nvPicPr>
          <p:cNvPr id="13" name="Picture 12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5C5EA492-2242-DF9D-34D7-A3FFEB6E3C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99" y="1257304"/>
            <a:ext cx="2604771" cy="243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2. Summary recent/current policy stance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06200" cy="5682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algn="just">
              <a:lnSpc>
                <a:spcPct val="107000"/>
              </a:lnSpc>
              <a:spcAft>
                <a:spcPts val="800"/>
              </a:spcAft>
            </a:pPr>
            <a:r>
              <a:rPr lang="en-GB" sz="1600" b="1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Initial condition: recent past developments/trends (2017-2022)</a:t>
            </a:r>
            <a:endParaRPr lang="en-GB" sz="1600" b="1" i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accelerated domestic inflation, (from lower levels ex-ante 2021), ER depreciation (overvaluation) amidst domestic shocks &amp; unfavourable global environment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tight domestic &amp; global monetary policies post COVID (RIR and foreign interest rates loose before 2020)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expansionary fiscal policy counter shocks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below 7.5% trend (2000-19), just above trend (2019) due to Govt demand and substantially contracted to negative during COVID</a:t>
            </a:r>
            <a:endParaRPr lang="en-GB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320" algn="just">
              <a:lnSpc>
                <a:spcPct val="107000"/>
              </a:lnSpc>
              <a:spcAft>
                <a:spcPts val="800"/>
              </a:spcAft>
            </a:pPr>
            <a:r>
              <a:rPr lang="en-GB" sz="1600" b="1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Current &amp; near-term policy stance (2023-24)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cs typeface="Times New Roman" panose="02020603050405020304" pitchFamily="18" charset="0"/>
              </a:rPr>
              <a:t>improving and favourable global environment in terms of recovering foreign demand, easing world food and oil prices &amp; trading partner's CPI.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odestly tight monetary policy</a:t>
            </a: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amidst decelerating domestic inflation</a:t>
            </a:r>
            <a:endParaRPr lang="en-GB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2022/23 reinforced with the FY2023/24 Budget,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xchange rate policy entailing initially some overvaluation have helped contain domestic demand and bring inflation down in 2023, and should continue doing so in the near future. </a:t>
            </a:r>
          </a:p>
          <a:p>
            <a:pPr marL="1074420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inflation (shocks) abates, room for procyclical policies to demand/GDP growth back to its potential level, stabilize the fiscal deficit at its sustainable level, and stabilize the RER.</a:t>
            </a:r>
          </a:p>
          <a:p>
            <a:pPr marL="274320" algn="just">
              <a:lnSpc>
                <a:spcPct val="107000"/>
              </a:lnSpc>
              <a:spcAft>
                <a:spcPts val="800"/>
              </a:spcAft>
            </a:pPr>
            <a:endParaRPr lang="en-RW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6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6199"/>
            <a:ext cx="10210800" cy="838200"/>
          </a:xfrm>
        </p:spPr>
        <p:txBody>
          <a:bodyPr/>
          <a:lstStyle/>
          <a:p>
            <a:r>
              <a:rPr lang="en-GB" b="1" dirty="0"/>
              <a:t>3. Forecast assumptions (tunes) 2023Q3-2024Q1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11201400" cy="504507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Font typeface="Wingdings" panose="05000000000000000000" pitchFamily="2" charset="2"/>
              <a:buNone/>
            </a:pPr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1F52A-5E85-2D1F-F7D4-AE63E3F5EA83}"/>
              </a:ext>
            </a:extLst>
          </p:cNvPr>
          <p:cNvSpPr txBox="1"/>
          <p:nvPr/>
        </p:nvSpPr>
        <p:spPr>
          <a:xfrm>
            <a:off x="1752600" y="1357610"/>
            <a:ext cx="8381999" cy="319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+mn-lt"/>
              </a:rPr>
              <a:t>The forecasts are conditional on exogenous and judgmental assumptions: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external environment (foreign prices, demand, food/oil prices, interest rates)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domestic trends and gaps distilled from historic data (quarterly 2006-23)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domestic near-term forecasts (now/forecast GDP,  latest CPI,  judgements…)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recently observed shocks disappear, e.g., agriculture normalizes and food and core price shocks are abating.</a:t>
            </a:r>
          </a:p>
        </p:txBody>
      </p:sp>
    </p:spTree>
    <p:extLst>
      <p:ext uri="{BB962C8B-B14F-4D97-AF65-F5344CB8AC3E}">
        <p14:creationId xmlns:p14="http://schemas.microsoft.com/office/powerpoint/2010/main" val="255769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3.1 External environment/outlook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7" y="4295583"/>
            <a:ext cx="3259666" cy="2182067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World real interest rates are expected to rise from negative around -1% in the past decade to +1% by 2027, with the increase likely transmitting one-for-one to Rwanda’s sovereign borrowing rates</a:t>
            </a:r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5052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610600" y="4295583"/>
            <a:ext cx="2963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Trading partners’ CPI inflation (in US$)—subdued at 1.5% </a:t>
            </a:r>
            <a:r>
              <a:rPr lang="en-US" sz="1800" dirty="0" err="1">
                <a:latin typeface="+mn-lt"/>
              </a:rPr>
              <a:t>p.y</a:t>
            </a:r>
            <a:r>
              <a:rPr lang="en-US" sz="1800" dirty="0">
                <a:latin typeface="+mn-lt"/>
              </a:rPr>
              <a:t>. in the past 5-7 years—is projected to return to its trend level of 2% in the coming years </a:t>
            </a:r>
            <a:endParaRPr lang="en-AE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914400" y="1219200"/>
            <a:ext cx="10659534" cy="66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 algn="just"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Covid-Ukraine crises, but with downside risks.</a:t>
            </a:r>
            <a:r>
              <a:rPr lang="en-GB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W</a:t>
            </a:r>
            <a:r>
              <a:rPr lang="en-GB" sz="1800" dirty="0">
                <a:effectLst/>
                <a:latin typeface="+mn-lt"/>
                <a:ea typeface="Calibri" panose="020F0502020204030204" pitchFamily="34" charset="0"/>
              </a:rPr>
              <a:t>orld economy is slowing down due to world </a:t>
            </a:r>
            <a:r>
              <a:rPr lang="en-GB" sz="1800" dirty="0">
                <a:latin typeface="+mn-lt"/>
                <a:ea typeface="Calibri" panose="020F0502020204030204" pitchFamily="34" charset="0"/>
              </a:rPr>
              <a:t>increased </a:t>
            </a:r>
            <a:r>
              <a:rPr lang="en-GB" sz="1800" dirty="0">
                <a:effectLst/>
                <a:latin typeface="+mn-lt"/>
                <a:ea typeface="Calibri" panose="020F0502020204030204" pitchFamily="34" charset="0"/>
              </a:rPr>
              <a:t>interest rate in response to inflation</a:t>
            </a:r>
            <a:endParaRPr lang="en-RW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3.2 Domestic environment assumptions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858000" y="1371600"/>
            <a:ext cx="5130800" cy="467820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600" i="1" dirty="0">
                <a:latin typeface="+mn-lt"/>
              </a:rPr>
              <a:t>Current fiscal, monetary, and exchange rate policies (in part “tuned”):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+mn-lt"/>
              </a:rPr>
              <a:t>post-Covid consolidation and winding down of crisis-related spending since 2021/22 reinforced in 2023/24 Budget,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  <a:p>
            <a:pPr marL="800100" lvl="1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a further reduction in the deficit before grants to 10.8% of GDP in 2023/24, and to 9.7 % by 2025/26</a:t>
            </a:r>
          </a:p>
          <a:p>
            <a:pPr marL="800100" lvl="1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fiscal deficit (excl. grants) assumed return to 8% level  for beyond PCI program (2025/26-2026/27)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maintenance of current level of policy interest rate (interbank rate) for 2023Q4 (8%)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somewhat faster exchange rate depreciation in 2023 (than 2022), </a:t>
            </a:r>
            <a:r>
              <a:rPr lang="en-US" sz="1600" dirty="0">
                <a:latin typeface="+mn-lt"/>
              </a:rPr>
              <a:t>based on statements and the IMF PCI program targets </a:t>
            </a:r>
            <a:r>
              <a:rPr lang="en-US" sz="1200" dirty="0">
                <a:solidFill>
                  <a:srgbClr val="008013"/>
                </a:solidFill>
                <a:latin typeface="+mn-lt"/>
              </a:rPr>
              <a:t>(i.e., Q4 is 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NBR = IMF program forecast --15%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eopER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depr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 in 2023,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quarterlized</a:t>
            </a:r>
            <a:r>
              <a:rPr lang="en-US" sz="1200" dirty="0">
                <a:solidFill>
                  <a:srgbClr val="008013"/>
                </a:solidFill>
                <a:latin typeface="+mn-lt"/>
              </a:rPr>
              <a:t> and 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applied to Q3 p.a.)</a:t>
            </a:r>
            <a:endParaRPr lang="en-GB" sz="1200" dirty="0">
              <a:latin typeface="+mn-lt"/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expected return to normal of agricultural harvests and domestic food prices and rep. shocks during 2023Q4-24Q1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B190132-970F-21FA-781A-5CAC4F24F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944318"/>
              </p:ext>
            </p:extLst>
          </p:nvPr>
        </p:nvGraphicFramePr>
        <p:xfrm>
          <a:off x="457200" y="1371600"/>
          <a:ext cx="62801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80812" imgH="3784112" progId="Word.Document.12">
                  <p:embed/>
                </p:oleObj>
              </mc:Choice>
              <mc:Fallback>
                <p:oleObj name="Document" r:id="rId3" imgW="6280812" imgH="3784112" progId="Word.Document.12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B190132-970F-21FA-781A-5CAC4F24F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371600"/>
                        <a:ext cx="6280150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533400" y="5334000"/>
            <a:ext cx="620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The 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275266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III. Summary of macroeconomic forecast/outlook </a:t>
            </a:r>
            <a:r>
              <a:rPr lang="en-GB" sz="2000" b="1" dirty="0"/>
              <a:t>(2023Q3-2027Q4  </a:t>
            </a:r>
            <a:r>
              <a:rPr lang="en-GB" sz="2000" dirty="0">
                <a:solidFill>
                  <a:srgbClr val="FF0000"/>
                </a:solidFill>
              </a:rPr>
              <a:t>new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68808" y="3605123"/>
            <a:ext cx="5269992" cy="32778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i="1" dirty="0">
                <a:effectLst/>
                <a:latin typeface="+mn-lt"/>
                <a:ea typeface="Calibri" panose="020F0502020204030204" pitchFamily="34" charset="0"/>
              </a:rPr>
              <a:t>combination of modestly tight fiscal and monetary policies and still low RER in 2023 and early 2024 should help contain domestic demand and lower inflation</a:t>
            </a:r>
            <a:r>
              <a:rPr lang="en-GB" sz="1600" i="1" dirty="0">
                <a:effectLst/>
                <a:latin typeface="+mn-lt"/>
                <a:ea typeface="Calibri" panose="020F050202020403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libri" panose="020F0502020204030204" pitchFamily="34" charset="0"/>
              </a:rPr>
              <a:t> a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</a:rPr>
              <a:t>s inflation abates to close to the 5% target from earlier 2024Q2</a:t>
            </a:r>
            <a:r>
              <a:rPr lang="en-GB" sz="1600" dirty="0">
                <a:latin typeface="+mn-lt"/>
                <a:ea typeface="Calibri" panose="020F0502020204030204" pitchFamily="34" charset="0"/>
              </a:rPr>
              <a:t>.</a:t>
            </a:r>
            <a:endParaRPr lang="en-GB" sz="1600" dirty="0">
              <a:effectLst/>
              <a:latin typeface="+mn-lt"/>
              <a:ea typeface="Calibri" panose="020F0502020204030204" pitchFamily="34" charset="0"/>
            </a:endParaRPr>
          </a:p>
          <a:p>
            <a:pPr marL="457200" lvl="2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 temporarily lower interest rates (IB) &amp; RIR and higher RER should raise GDP growth temporarily above its trend in 2024-25, and back to its trend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afterwards towards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2027. </a:t>
            </a:r>
            <a:endParaRPr lang="en-GB" sz="20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485390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D51F56B-BF85-D276-7FC1-D630B1DE0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21011"/>
              </p:ext>
            </p:extLst>
          </p:nvPr>
        </p:nvGraphicFramePr>
        <p:xfrm>
          <a:off x="5791200" y="1295400"/>
          <a:ext cx="6197600" cy="220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20349" imgH="2711108" progId="Word.Document.12">
                  <p:embed/>
                </p:oleObj>
              </mc:Choice>
              <mc:Fallback>
                <p:oleObj name="Document" r:id="rId4" imgW="6520349" imgH="2711108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D51F56B-BF85-D276-7FC1-D630B1DE0A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91200" y="1295400"/>
                        <a:ext cx="6197600" cy="2208106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D841451-1183-749F-28BA-2B7CCA64A6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716319"/>
              </p:ext>
            </p:extLst>
          </p:nvPr>
        </p:nvGraphicFramePr>
        <p:xfrm>
          <a:off x="5892800" y="4095751"/>
          <a:ext cx="6096000" cy="2381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527542" imgH="2797437" progId="Word.Document.12">
                  <p:embed/>
                </p:oleObj>
              </mc:Choice>
              <mc:Fallback>
                <p:oleObj name="Document" r:id="rId6" imgW="6527542" imgH="2797437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D841451-1183-749F-28BA-2B7CCA64A6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92800" y="4095751"/>
                        <a:ext cx="6096000" cy="2381249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31D918C-614D-81D5-4160-172E552A9F57}"/>
              </a:ext>
            </a:extLst>
          </p:cNvPr>
          <p:cNvSpPr txBox="1"/>
          <p:nvPr/>
        </p:nvSpPr>
        <p:spPr>
          <a:xfrm>
            <a:off x="5810250" y="3589883"/>
            <a:ext cx="619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The temporary above-trend growth for two years from mid-2024 is mostly driven by private consumption and return to normal of government demand</a:t>
            </a:r>
            <a:endParaRPr lang="en-RW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6540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and cyclical position </a:t>
            </a:r>
            <a:r>
              <a:rPr lang="en-GB" sz="2000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743200"/>
            <a:ext cx="5029200" cy="37071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FE48E0A-A899-A2C3-F6C6-4EB4B1EF7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95126"/>
              </p:ext>
            </p:extLst>
          </p:nvPr>
        </p:nvGraphicFramePr>
        <p:xfrm>
          <a:off x="228600" y="1295400"/>
          <a:ext cx="65024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61737" imgH="2237734" progId="Word.Document.12">
                  <p:embed/>
                </p:oleObj>
              </mc:Choice>
              <mc:Fallback>
                <p:oleObj name="Document" r:id="rId4" imgW="6361737" imgH="2237734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FE48E0A-A899-A2C3-F6C6-4EB4B1EF7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6502400" cy="223837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858000" y="1295400"/>
            <a:ext cx="5029200" cy="13849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The growth of the final demand components of GDP are shown in </a:t>
            </a:r>
            <a:r>
              <a:rPr lang="en-GB" sz="14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Table 6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,</a:t>
            </a:r>
          </a:p>
          <a:p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highlighting the relatively sharp fluctuations in the post-Covid period—especially in investment, </a:t>
            </a:r>
          </a:p>
          <a:p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by mid-2025 all final demands (except Govt demand) are converging to their steady state growth rates</a:t>
            </a:r>
            <a:endParaRPr lang="en-RW" sz="1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203200" y="3657600"/>
            <a:ext cx="6527800" cy="295600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2022-24 sluggish growth, driven by: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Ukraine-war and inflation surge and restrictive policy response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---post-Covid fiscal consolidation with negative fiscal impulse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2024-26 growth above trend, driven by: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---less restrictive fiscal policies as deficit gradually back to (higher) sustainable level and govt demand for G&amp;S back to normal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--exports helped by high RER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2027, back to trend growth of 7.5%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---there is no indication that Covid has permanently reduced </a:t>
            </a:r>
            <a:r>
              <a:rPr lang="en-GB" sz="160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poterntial</a:t>
            </a:r>
            <a:r>
              <a:rPr lang="en-GB" sz="16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output and its growth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058400" cy="762000"/>
          </a:xfrm>
        </p:spPr>
        <p:txBody>
          <a:bodyPr/>
          <a:lstStyle/>
          <a:p>
            <a:r>
              <a:rPr lang="en-GB" b="1" dirty="0"/>
              <a:t>Forecast—cyclical total demand driving GDP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and its components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Negative output gap declines gradually: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--large initial down pull from reduction in real government spending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--but gradually disappearing from mid-2024 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4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--exports helped by increasing REER 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6927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+mn-lt"/>
              </a:rPr>
              <a:t>--output gap closing in as output (level) approaching its trend.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+mn-lt"/>
              </a:rPr>
              <a:t>--output moves around 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consumption and cyclical position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51891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gap: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F5496"/>
                </a:solidFill>
                <a:cs typeface="Times New Roman" panose="02020603050405020304" pitchFamily="18" charset="0"/>
              </a:rPr>
              <a:t>--</a:t>
            </a:r>
            <a:r>
              <a:rPr lang="en-GB" sz="1600" dirty="0">
                <a:solidFill>
                  <a:srgbClr val="2F5496"/>
                </a:solidFill>
                <a:cs typeface="Times New Roman" panose="02020603050405020304" pitchFamily="18" charset="0"/>
              </a:rPr>
              <a:t>estimated  to recover from recent low levels but remains restrained in 2024      </a:t>
            </a:r>
          </a:p>
          <a:p>
            <a:pPr marL="27463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F5496"/>
                </a:solidFill>
                <a:cs typeface="Times New Roman" panose="02020603050405020304" pitchFamily="18" charset="0"/>
              </a:rPr>
              <a:t>---by low GDP growth and negative fiscal impulse in 2023-24.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F5496"/>
                </a:solidFill>
                <a:cs typeface="Times New Roman" panose="02020603050405020304" pitchFamily="18" charset="0"/>
              </a:rPr>
              <a:t>---returns to trend growth late in 2026 when fiscal and monetary policy becomes less restrictive</a:t>
            </a:r>
            <a:r>
              <a:rPr lang="en-GB" sz="1800" dirty="0">
                <a:solidFill>
                  <a:srgbClr val="2F5496"/>
                </a:solidFill>
                <a:cs typeface="Times New Roman" panose="02020603050405020304" pitchFamily="18" charset="0"/>
              </a:rPr>
              <a:t>. </a:t>
            </a:r>
            <a:endParaRPr lang="en-AE" sz="1800" dirty="0">
              <a:solidFill>
                <a:srgbClr val="2F549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982560"/>
            <a:ext cx="4419600" cy="12504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drivers: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--expectations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</a:rPr>
              <a:t>--negative fiscal impulse</a:t>
            </a:r>
            <a:endParaRPr lang="en-US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sz="2400" b="1" dirty="0"/>
              <a:t>Private investment, exports &amp; imports and cyclical position </a:t>
            </a:r>
            <a:r>
              <a:rPr lang="en-GB" sz="2400" dirty="0">
                <a:solidFill>
                  <a:srgbClr val="FF0000"/>
                </a:solidFill>
              </a:rPr>
              <a:t>new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10000" cy="206210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investment returns to trend level and growth path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u="sng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Main drivers</a:t>
            </a:r>
            <a:r>
              <a:rPr lang="en-US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 persistence (lag)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--expectations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--real interest rate (RIR) effect is very small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7030A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--RER has no effect (zero wight in monetary conditions index)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--small income, effect (proxied by real GDP)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--fiscal impulse has very small effect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208666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return to trend level and growth path:</a:t>
            </a:r>
            <a:endParaRPr lang="en-RW" sz="18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--down pull from RER overvaluation disappears</a:t>
            </a:r>
            <a:endParaRPr lang="en-RW" sz="14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96355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demand (for goods and services) returns to trend level and growth path:</a:t>
            </a:r>
            <a:endParaRPr lang="en-RW" sz="16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b="1" dirty="0"/>
              <a:t>Fiscal stance (i): govt demand for G&amp;S affects output directly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3990969"/>
            <a:ext cx="6244526" cy="250226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600" dirty="0"/>
              <a:t>(</a:t>
            </a:r>
            <a:r>
              <a:rPr lang="en-GB" sz="1600" u="sng" dirty="0"/>
              <a:t>+</a:t>
            </a:r>
            <a:r>
              <a:rPr lang="en-GB" sz="1600" dirty="0"/>
              <a:t> 23% of GDP):</a:t>
            </a:r>
          </a:p>
          <a:p>
            <a:pPr marL="0" indent="0" algn="just">
              <a:buNone/>
            </a:pPr>
            <a:r>
              <a:rPr lang="en-GB" sz="1400" dirty="0">
                <a:effectLst/>
                <a:ea typeface="Calibri" panose="020F0502020204030204" pitchFamily="34" charset="0"/>
              </a:rPr>
              <a:t>---current fiscal program envisages a reduction in the deficit (consolidation) to 10.8% of GDP in 2023/24 and to 9.7% in 2024/25, </a:t>
            </a:r>
          </a:p>
          <a:p>
            <a:pPr marL="274638" lvl="1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 </a:t>
            </a:r>
            <a:r>
              <a:rPr lang="en-GB" sz="1200" dirty="0"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ea typeface="Calibri" panose="020F0502020204030204" pitchFamily="34" charset="0"/>
              </a:rPr>
              <a:t>well below that in Covid and immediate post-Covid years (averaging 14% of GDP in 2019/20-2021/22).</a:t>
            </a:r>
          </a:p>
          <a:p>
            <a:pPr marL="0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--c</a:t>
            </a:r>
            <a:r>
              <a:rPr lang="en-GB" sz="1400" dirty="0">
                <a:effectLst/>
                <a:ea typeface="Calibri" panose="020F0502020204030204" pitchFamily="34" charset="0"/>
              </a:rPr>
              <a:t>onsolidation achieved mainly via the ending of discretionary, crisis-related spending and cuts in investment,</a:t>
            </a:r>
          </a:p>
          <a:p>
            <a:pPr marL="274638" lvl="1" indent="0" algn="just">
              <a:buNone/>
            </a:pPr>
            <a:r>
              <a:rPr lang="en-GB" sz="1200" dirty="0">
                <a:effectLst/>
                <a:ea typeface="Calibri" panose="020F0502020204030204" pitchFamily="34" charset="0"/>
              </a:rPr>
              <a:t> ---translate in a significant reduction in real government demand for G&amp;S, lowering aggregate demand and helping contain inflation.</a:t>
            </a:r>
          </a:p>
          <a:p>
            <a:pPr marL="0" indent="0" algn="just">
              <a:buNone/>
            </a:pPr>
            <a:r>
              <a:rPr lang="en-GB" sz="1200" dirty="0"/>
              <a:t>---large negative effect on demand—consumption &amp; imports is estimated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61529" y="1143000"/>
            <a:ext cx="11654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Fiscal policies (“fiscal stance”) affect output in the short-run via several channels captured in the model: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676400"/>
            <a:ext cx="3505200" cy="2253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434526" cy="15370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</a:t>
            </a:r>
            <a:r>
              <a:rPr lang="en-US" sz="1200" dirty="0">
                <a:latin typeface="+mn-lt"/>
              </a:rPr>
              <a:t>Govt. demand, % GDP level is below its structural trend 2023Q2-2027—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a negative gap and a fiscal consolidation post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10668000" cy="750514"/>
          </a:xfrm>
        </p:spPr>
        <p:txBody>
          <a:bodyPr/>
          <a:lstStyle/>
          <a:p>
            <a:r>
              <a:rPr lang="en-GB" b="1" dirty="0"/>
              <a:t>  Fiscal stance (ii): fiscal impulse affects output </a:t>
            </a:r>
            <a:r>
              <a:rPr lang="en-GB" sz="2400" b="1" dirty="0"/>
              <a:t>via private demand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381001" y="3872774"/>
            <a:ext cx="5867400" cy="26042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total effect on output</a:t>
            </a:r>
            <a:r>
              <a:rPr lang="en-GB" sz="1600" b="1" dirty="0">
                <a:solidFill>
                  <a:schemeClr val="accent1"/>
                </a:solidFill>
              </a:rPr>
              <a:t> </a:t>
            </a:r>
            <a:r>
              <a:rPr lang="en-GB" sz="1600" i="1" dirty="0"/>
              <a:t>(direct &amp; 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</a:rPr>
              <a:t>combination of lower government demand and a negative fiscal impulse </a:t>
            </a:r>
            <a:endParaRPr lang="en-GB" sz="1800" dirty="0">
              <a:ea typeface="Calibri" panose="020F0502020204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</a:rPr>
              <a:t>Estimated to have </a:t>
            </a:r>
            <a:r>
              <a:rPr lang="en-GB" sz="1400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an important (desirable?) </a:t>
            </a:r>
            <a:r>
              <a:rPr lang="en-GB" sz="1400" dirty="0">
                <a:effectLst/>
                <a:ea typeface="Calibri" panose="020F0502020204030204" pitchFamily="34" charset="0"/>
              </a:rPr>
              <a:t>negative effect on output during 2023/24-2025/26 </a:t>
            </a:r>
            <a:endParaRPr lang="en-GB" sz="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average negative discretionary deficit of 1½% of GDP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estimated </a:t>
            </a:r>
            <a:r>
              <a:rPr lang="en-GB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 se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lower real GDP by some 1.2%, mainly from lower government for G&amp;S </a:t>
            </a:r>
            <a:r>
              <a:rPr lang="en-GB" sz="14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(0.66?)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the remainder </a:t>
            </a:r>
            <a:r>
              <a:rPr lang="en-GB" sz="14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(0.5?)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lower private demand.</a:t>
            </a:r>
            <a:endParaRPr lang="en-RW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6781800" y="4581971"/>
            <a:ext cx="4724400" cy="13542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Fiscal stance total effect on output </a:t>
            </a:r>
            <a:r>
              <a:rPr lang="en-US" sz="1600" i="1" dirty="0">
                <a:latin typeface="+mn-lt"/>
              </a:rPr>
              <a:t>(indirect)</a:t>
            </a:r>
          </a:p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deficit 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affecting private demand and hence output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indirectly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r>
              <a:rPr lang="en-GB" sz="12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positive on average in 2020-22, </a:t>
            </a:r>
          </a:p>
          <a:p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---turns negative from late 2022 onward </a:t>
            </a:r>
            <a:endParaRPr lang="en-GB" sz="1200" dirty="0">
              <a:latin typeface="+mn-lt"/>
              <a:ea typeface="Calibri" panose="020F0502020204030204" pitchFamily="34" charset="0"/>
            </a:endParaRPr>
          </a:p>
          <a:p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---remains so for several years before fading out by 2027</a:t>
            </a:r>
            <a:endParaRPr lang="en-RW" sz="16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2" y="1295400"/>
            <a:ext cx="43129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95400"/>
            <a:ext cx="4495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10591800" cy="609600"/>
          </a:xfrm>
        </p:spPr>
        <p:txBody>
          <a:bodyPr/>
          <a:lstStyle/>
          <a:p>
            <a:r>
              <a:rPr lang="en-GB" sz="2400" b="1" dirty="0"/>
              <a:t>Fiscal stance: deficit and its components </a:t>
            </a:r>
            <a:r>
              <a:rPr lang="en-GB" sz="2000" dirty="0"/>
              <a:t>(revenue,  spending) &amp; model decompositions (structural, discretional &amp; cyclical) 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F08F-8A35-9763-9C22-CE8AAC6E4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17" y="1230629"/>
            <a:ext cx="3124200" cy="2350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5" y="1295400"/>
            <a:ext cx="2971800" cy="2602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134" y="1371600"/>
            <a:ext cx="3048000" cy="2526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616" y="1371600"/>
            <a:ext cx="2362200" cy="2209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3821429"/>
            <a:ext cx="5567198" cy="240065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deficit, % GDP (revenue &amp; demand/spending)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lower deficit </a:t>
            </a:r>
            <a:r>
              <a:rPr lang="en-GB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2023/24-2024/25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(</a:t>
            </a: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tuned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10.8% &amp; 9.7% of GDP in 2025/26, down from 12% for 2022/23 </a:t>
            </a: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inline 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the IMF PCI program</a:t>
            </a:r>
          </a:p>
          <a:p>
            <a:pPr lvl="1">
              <a:spcAft>
                <a:spcPts val="0"/>
              </a:spcAft>
            </a:pP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 a sharp reduction in deficit (before grants) and spending on G&amp;S, as discretionary spending is reversed from Covid-years.</a:t>
            </a:r>
          </a:p>
          <a:p>
            <a:pPr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400" b="1" dirty="0">
                <a:latin typeface="Times New Roman" panose="02020603050405020304" pitchFamily="18" charset="0"/>
                <a:ea typeface="Calibri" panose="020F0502020204030204" pitchFamily="34" charset="0"/>
              </a:rPr>
              <a:t>post 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tuned PCI-program (2025/26 onward);</a:t>
            </a:r>
          </a:p>
          <a:p>
            <a:pPr lvl="1"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---fiscal deficit to converge to a sustainable deficit (before grants) of 8%  and </a:t>
            </a:r>
          </a:p>
          <a:p>
            <a:pPr lvl="1"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--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constituent parts (revenue, spending,…) are forecast to gradually move to their structural levels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GB" sz="1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Thus QMFM does not follow the post-PCI fiscal projection, which much overshoots Rwanda’s debt/GDP anchor, as stated in the PCI. </a:t>
            </a:r>
          </a:p>
          <a:p>
            <a:pPr lvl="1">
              <a:spcAft>
                <a:spcPts val="0"/>
              </a:spcAft>
            </a:pPr>
            <a:r>
              <a:rPr lang="en-GB" sz="1200" dirty="0">
                <a:solidFill>
                  <a:schemeClr val="accent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Instead, the QMFM fiscal path is consistent with the PCI debt/GDP anchor</a:t>
            </a:r>
            <a:endParaRPr lang="en-US" sz="1200" dirty="0">
              <a:solidFill>
                <a:schemeClr val="accent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67200"/>
            <a:ext cx="5867400" cy="184665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deficit, % GDP </a:t>
            </a:r>
            <a:r>
              <a:rPr lang="en-US" sz="1600" dirty="0">
                <a:latin typeface="+mn-lt"/>
              </a:rPr>
              <a:t>(structural, discretional and cyclical)</a:t>
            </a:r>
          </a:p>
          <a:p>
            <a:r>
              <a:rPr lang="en-US" sz="2000" dirty="0">
                <a:latin typeface="+mn-lt"/>
              </a:rPr>
              <a:t>---structural deficit evolving at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n-US" sz="2000" dirty="0">
                <a:latin typeface="+mn-lt"/>
              </a:rPr>
              <a:t>% average </a:t>
            </a:r>
          </a:p>
          <a:p>
            <a:pPr lvl="1"/>
            <a:r>
              <a:rPr lang="en-US" sz="1600" dirty="0">
                <a:latin typeface="+mn-lt"/>
              </a:rPr>
              <a:t>--volatility in deficit mostly dominated by discretional spending (Govt. demand for G&amp;S and other expenditure (transfers, subsidies and net lending)</a:t>
            </a:r>
          </a:p>
          <a:p>
            <a:pPr lvl="1"/>
            <a:r>
              <a:rPr lang="en-US" sz="1400" dirty="0">
                <a:latin typeface="+mn-lt"/>
              </a:rPr>
              <a:t>--reduction in deficit driven by a fall in discretional spending for post 2023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Forecast—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Inflation outlook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3695696"/>
            <a:ext cx="2608427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energy-CPI,  (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</a:rPr>
              <a:t>---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rapid drop (from a peak in 2022Q4) is mainly driven by direct effect of imported energy prices which are projected to fall throughout 2023-27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</a:rPr>
              <a:t>---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exchange rate depreciation exerts some upward pressure, but offset by </a:t>
            </a:r>
            <a:r>
              <a:rPr lang="en-GB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drop in 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foreign energy prices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</a:rPr>
              <a:t>---s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hocks projected to disappear since 2024Q1(typically large especially in 2022-23, reflecting the Oct 2023 pump price increase)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2" y="3771952"/>
            <a:ext cx="3177539" cy="287001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headline—CPI, (</a:t>
            </a:r>
            <a:r>
              <a:rPr lang="en-US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Times New Roman" panose="02020603050405020304" pitchFamily="18" charset="0"/>
              </a:rPr>
              <a:t>---for late 2023 – early 2024 (</a:t>
            </a:r>
            <a:r>
              <a:rPr lang="en-GB" sz="1050" dirty="0">
                <a:latin typeface="Times New Roman" panose="02020603050405020304" pitchFamily="18" charset="0"/>
              </a:rPr>
              <a:t>having peaked in 2022Q2)</a:t>
            </a:r>
            <a:r>
              <a:rPr lang="en-US" sz="1050" dirty="0">
                <a:latin typeface="Times New Roman" panose="02020603050405020304" pitchFamily="18" charset="0"/>
              </a:rPr>
              <a:t> forecasted to continue declining but with a modest flare-up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Times New Roman" panose="02020603050405020304" pitchFamily="18" charset="0"/>
              </a:rPr>
              <a:t>---</a:t>
            </a:r>
            <a:r>
              <a:rPr lang="en-GB" sz="1050" dirty="0">
                <a:latin typeface="Times New Roman" panose="02020603050405020304" pitchFamily="18" charset="0"/>
              </a:rPr>
              <a:t>from 2024Q2, should decline below 5%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Times New Roman" panose="02020603050405020304" pitchFamily="18" charset="0"/>
              </a:rPr>
              <a:t>   --modest drop in world food and oil prices,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Times New Roman" panose="02020603050405020304" pitchFamily="18" charset="0"/>
              </a:rPr>
              <a:t>   --improved domestic food supply &amp; earlier shocks fading</a:t>
            </a:r>
            <a:endParaRPr lang="en-US" sz="1050" dirty="0">
              <a:latin typeface="Times New Roman" panose="02020603050405020304" pitchFamily="18" charset="0"/>
            </a:endParaRP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GB" sz="1050" dirty="0">
                <a:latin typeface="Times New Roman" panose="02020603050405020304" pitchFamily="18" charset="0"/>
              </a:rPr>
              <a:t>---sharp drop in q-on-q inflation translates into a more gradual drop in y-on-y inflation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Times New Roman" panose="02020603050405020304" pitchFamily="18" charset="0"/>
              </a:rPr>
              <a:t>---</a:t>
            </a:r>
            <a:r>
              <a:rPr lang="en-GB" sz="1050" dirty="0">
                <a:latin typeface="Times New Roman" panose="02020603050405020304" pitchFamily="18" charset="0"/>
              </a:rPr>
              <a:t>largest contribution comes from the moderate food price increases, even with a short period of falling prices.</a:t>
            </a:r>
            <a:endParaRPr lang="en-RW" sz="12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46710"/>
            <a:ext cx="3177539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015" y="1227366"/>
            <a:ext cx="2816860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227366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3741735"/>
            <a:ext cx="289457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food-CPI,  (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>
                <a:latin typeface="Times New Roman" panose="02020603050405020304" pitchFamily="18" charset="0"/>
              </a:rPr>
              <a:t>---</a:t>
            </a:r>
            <a:r>
              <a:rPr lang="en-GB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rapid drop (from a peak in 2022Q4) is mainly driven by declining negative agricultural output gaps (which in part drove prices up from late 2021 to late 2023),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</a:rPr>
              <a:t>---</a:t>
            </a:r>
            <a:r>
              <a:rPr lang="en-GB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direct effect of imported food prices is upward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indirect effect of the food RER gap is downward </a:t>
            </a:r>
            <a:r>
              <a:rPr lang="en-US" sz="1100" dirty="0">
                <a:latin typeface="Times New Roman" panose="02020603050405020304" pitchFamily="18" charset="0"/>
              </a:rPr>
              <a:t>falls in mid-2025 slightly below its target of 4.5%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</a:rPr>
              <a:t>---</a:t>
            </a:r>
            <a:r>
              <a:rPr lang="en-GB" sz="1100" dirty="0">
                <a:latin typeface="Times New Roman" panose="02020603050405020304" pitchFamily="18" charset="0"/>
              </a:rPr>
              <a:t>s</a:t>
            </a:r>
            <a:r>
              <a:rPr lang="en-GB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hocks, already small in 2024, are forecast to subside in the near term 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485099" y="3741735"/>
            <a:ext cx="276860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core-CPI,  (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>
                <a:latin typeface="Times New Roman" panose="02020603050405020304" pitchFamily="18" charset="0"/>
              </a:rPr>
              <a:t>---gradual drop driven by inflationary expectations, small upward direct effects of import prices and REER</a:t>
            </a:r>
            <a:r>
              <a:rPr lang="en-US" sz="1050" dirty="0">
                <a:latin typeface="Times New Roman" panose="02020603050405020304" pitchFamily="18" charset="0"/>
              </a:rPr>
              <a:t> (</a:t>
            </a:r>
            <a:r>
              <a:rPr lang="en-GB" sz="105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exchange rate depreciation?)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rgbClr val="C00000"/>
                </a:solidFill>
                <a:latin typeface="Times New Roman" panose="02020603050405020304" pitchFamily="18" charset="0"/>
              </a:rPr>
              <a:t>--</a:t>
            </a:r>
            <a:r>
              <a:rPr lang="en-GB" sz="9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small downward effect of persisting post-Covid negative output gap and gradual subsiding of shocks</a:t>
            </a:r>
            <a:endParaRPr lang="en-US" sz="9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sz="1050" dirty="0">
                <a:latin typeface="Times New Roman" panose="02020603050405020304" pitchFamily="18" charset="0"/>
              </a:rPr>
              <a:t>---falls in mid-2025 slightly below its target of 4.5%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US" sz="650" dirty="0">
                <a:latin typeface="Times New Roman" panose="02020603050405020304" pitchFamily="18" charset="0"/>
              </a:rPr>
              <a:t>--</a:t>
            </a:r>
            <a:r>
              <a:rPr lang="en-US" sz="900" dirty="0">
                <a:latin typeface="Times New Roman" panose="02020603050405020304" pitchFamily="18" charset="0"/>
              </a:rPr>
              <a:t>down-pull from remaining negative output gap,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t>---somewhat overshoots in 2026-27 (to.5.5%) as a small positive output gap emerges.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220797"/>
            <a:ext cx="2913926" cy="240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Forecast—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Policy interest rate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rate, IB)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216273" y="3544556"/>
            <a:ext cx="2762125" cy="285624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4Qos forward average RIR(IB) + lending premium (+ 9% points above the IB rate)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</a:rPr>
              <a:t>---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movement in the RIR (as affected by NBR policies) is transmitted to the</a:t>
            </a:r>
            <a:r>
              <a:rPr lang="en-GB" sz="105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real lending rate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05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 private demand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above trend during Covid and much below trend, even negative, when inflation surged in 2022-23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forecast to rise to close to its trend level in 2023, with a depressing (increasingly less positive) effect on private demand</a:t>
            </a:r>
            <a:endParaRPr lang="en-GB" sz="1050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70026" y="3544556"/>
            <a:ext cx="2936458" cy="204491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tuned for Q4 2023, assuming NBR would keep its CBR unchanged from August 2023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 (equal to repo rate; CBR not shown separately)</a:t>
            </a:r>
          </a:p>
          <a:p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--IB trend/neutral level (7.5% or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7%?), </a:t>
            </a:r>
          </a:p>
          <a:p>
            <a:pPr marL="182562" lvl="1">
              <a:lnSpc>
                <a:spcPct val="107000"/>
              </a:lnSpc>
              <a:spcAft>
                <a:spcPts val="600"/>
              </a:spcAft>
              <a:defRPr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--determined by trend foreign RIR (0-0.5%), country risk premium (2%), and core inflation target (4.5%)</a:t>
            </a:r>
            <a:endParaRPr lang="en-RW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544555"/>
            <a:ext cx="2740872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RIR—IB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---significant drop into negative territory since early 2021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--high inflation and lagged interest policy response</a:t>
            </a:r>
            <a:r>
              <a:rPr lang="en-GB" sz="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---forecast to pick up on late 2022 level, as nominal interest rates rise and inflation eases,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---forecast to remain below its trend level of 2-2.5% and even slightly drop in mid-2025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--</a:t>
            </a:r>
            <a:r>
              <a:rPr lang="en-GB" sz="9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 inflation flares up temporarily due to demand pressure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196238" y="3544556"/>
            <a:ext cx="3057461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2024: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--expected inflation deviation from target (-)</a:t>
            </a:r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--negative output gap (-)</a:t>
            </a:r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--pull from neutral interest rate (7%) (+)</a:t>
            </a:r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--gradual interest rate changes,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gradually lowered from its peak of close to 8% in August 2023 to around 6½% in late 2024 </a:t>
            </a:r>
            <a:endParaRPr kumimoji="0" lang="en-RW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  <a:p>
            <a:pPr marL="182562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--as inflation drops below the 5% target and a negative output gap remains.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mid-2025, converges to its trend/neutral level (7.5%</a:t>
            </a:r>
            <a:endParaRPr lang="en-RW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25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238" y="1220078"/>
            <a:ext cx="3045638" cy="225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21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90"/>
            <a:ext cx="2872976" cy="2196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451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Forecast—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Nominal and Real Exchange </a:t>
            </a:r>
            <a:r>
              <a:rPr lang="en-US" b="1" dirty="0">
                <a:solidFill>
                  <a:prstClr val="black"/>
                </a:solidFill>
                <a:latin typeface="Gill Sans MT"/>
              </a:rPr>
              <a:t>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(ER &amp; RER)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943600" y="3544556"/>
            <a:ext cx="6034799" cy="287212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</a:rPr>
              <a:t>---slowdown in the pace of depreciation (from its high in 2023) to return gradually to its (zero) trend level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</a:rPr>
              <a:t>---overvaluation induced by the 2022-23 inflation episode continues to be reduced and is forecast to be close to zero from 2024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</a:rPr>
              <a:t>---upward correction estimated to favourably affect net exports and demand (reversing a sharp RER decline during 2021-22)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</a:rPr>
              <a:t>---rise to its trend level (with some overshooting in 2024) and to affect demand favourably in 2023-24.</a:t>
            </a:r>
          </a:p>
          <a:p>
            <a:pPr marL="274638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</a:rPr>
              <a:t> </a:t>
            </a:r>
            <a:r>
              <a:rPr lang="en-GB" sz="700" dirty="0">
                <a:latin typeface="Times New Roman" panose="02020603050405020304" pitchFamily="18" charset="0"/>
              </a:rPr>
              <a:t>---after o</a:t>
            </a:r>
            <a:r>
              <a:rPr lang="en-GB" sz="7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vervalued RER had a downward effect on net exports demand in 2021 when the economy emerged from Covid</a:t>
            </a:r>
            <a:endParaRPr lang="en-RW" sz="1000" dirty="0">
              <a:latin typeface="Times New Roman" panose="02020603050405020304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13603" y="3544556"/>
            <a:ext cx="5577598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nominal ER, 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Times New Roman" panose="02020603050405020304" pitchFamily="18" charset="0"/>
              </a:rPr>
              <a:t>---forecast reflects NBR’s flexible exchange rate policy and its hybrid rule in practice </a:t>
            </a:r>
          </a:p>
          <a:p>
            <a:pPr marL="274638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Times New Roman" panose="02020603050405020304" pitchFamily="18" charset="0"/>
                <a:ea typeface="Calibri" panose="020F0502020204030204" pitchFamily="34" charset="0"/>
              </a:rPr>
              <a:t>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steering the ER to the </a:t>
            </a:r>
            <a:r>
              <a:rPr lang="en-GB" sz="1050" b="1" dirty="0">
                <a:solidFill>
                  <a:srgbClr val="4472C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target ER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such that the RER gradually matches the target depreciation rate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---continue its recent fast depreciation than target (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annualized 15% for most of 2023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correcting for the recent overvaluation due to high domestic inflation. </a:t>
            </a:r>
            <a:endParaRPr lang="en-GB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---th</a:t>
            </a:r>
            <a:r>
              <a:rPr lang="en-GB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returns gradually to the target ER depreciation rate</a:t>
            </a: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39511"/>
            <a:ext cx="3062605" cy="2014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03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795" y="1250020"/>
            <a:ext cx="3149405" cy="20370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72" y="1250021"/>
            <a:ext cx="2371725" cy="20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5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 Framework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F6E41-DE78-E4C2-5B42-F06E9B942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Macroeconomic Framework (MF)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C216E-2E2A-24C6-3CD9-FC63942760AD}"/>
              </a:ext>
            </a:extLst>
          </p:cNvPr>
          <p:cNvSpPr txBox="1"/>
          <p:nvPr/>
        </p:nvSpPr>
        <p:spPr>
          <a:xfrm>
            <a:off x="381000" y="1371600"/>
            <a:ext cx="11607800" cy="5135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comparison with April 2023 projection (PCI-RSF)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  <a:ea typeface="Calibri" panose="020F0502020204030204" pitchFamily="34" charset="0"/>
              </a:rPr>
              <a:t>compared to MF,  the annualized QMFM result has: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lower volatility in final demand components, especially for consumption, investment and imports (MF needs consumption-savings checks)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average CPI inflation in 2023-24, as QMFM captures the impact of the large negative fiscal stance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ER depreciation from 2024, as it forecast zero RER depreciation in medium term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+mn-lt"/>
                <a:ea typeface="Calibri" panose="020F0502020204030204" pitchFamily="34" charset="0"/>
              </a:rPr>
              <a:t> (MF has real depreciations each year in 2024-26, over 20% cumulatively; cp. to QMFM 6%)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higher fiscal deficits from CY 2024—returning to sustainable level--while MF-PCI has deficit much below that for 5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3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3995182"/>
            <a:ext cx="609599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b="1" dirty="0"/>
              <a:t>QMFM: main relationships and transmission mechanisms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599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36942</TotalTime>
  <Words>4186</Words>
  <Application>Microsoft Office PowerPoint</Application>
  <PresentationFormat>Widescreen</PresentationFormat>
  <Paragraphs>333</Paragraphs>
  <Slides>26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Document</vt:lpstr>
      <vt:lpstr>PowerPoint Presentation</vt:lpstr>
      <vt:lpstr>I. Rationale of outlook &amp; underlying model</vt:lpstr>
      <vt:lpstr>Model/Qo outlook rationale &amp; requests + recommendations </vt:lpstr>
      <vt:lpstr>1I. Recent macroeconomic developments (2017-23) new Fiscal policies</vt:lpstr>
      <vt:lpstr>Recent macroeconomic developments cnt’ Real GDP/Output</vt:lpstr>
      <vt:lpstr>Recent macroeconomic developments cnt’ Inflation—CPI </vt:lpstr>
      <vt:lpstr>2. Summary recent/current policy stance</vt:lpstr>
      <vt:lpstr>3. Forecast assumptions (tunes) 2023Q3-2024Q1</vt:lpstr>
      <vt:lpstr>3.1 External environment/outlook </vt:lpstr>
      <vt:lpstr>3.2 Domestic environment assumptions</vt:lpstr>
      <vt:lpstr>III. Summary of macroeconomic forecast/outlook (2023Q3-2027Q4  new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 new</vt:lpstr>
      <vt:lpstr>Fiscal stance (i): govt demand for G&amp;S affects output directly</vt:lpstr>
      <vt:lpstr>  Fiscal stance (ii): fiscal impulse affects output via private demand</vt:lpstr>
      <vt:lpstr>Fiscal stance: deficit and its components (revenue,  spending) &amp; model decompositions (structural, discretional &amp; cyclical) </vt:lpstr>
      <vt:lpstr>Forecast—Inflation outlook</vt:lpstr>
      <vt:lpstr>Forecast—Policy interest rate (interbank rate, IB) </vt:lpstr>
      <vt:lpstr>Forecast—Nominal and Real Exchange Rate (ER &amp; RER)</vt:lpstr>
      <vt:lpstr>Comparison with Macro Framework</vt:lpstr>
      <vt:lpstr>Comparison with Macroeconomic Framework (MF)</vt:lpstr>
      <vt:lpstr>Alternative scenario: higher foreign food/oil prices (2023-24)</vt:lpstr>
      <vt:lpstr>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1362</cp:revision>
  <cp:lastPrinted>2023-06-23T12:26:08Z</cp:lastPrinted>
  <dcterms:created xsi:type="dcterms:W3CDTF">2011-04-18T20:01:25Z</dcterms:created>
  <dcterms:modified xsi:type="dcterms:W3CDTF">2024-01-27T18:49:03Z</dcterms:modified>
</cp:coreProperties>
</file>