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716" r:id="rId1"/>
  </p:sldMasterIdLst>
  <p:notesMasterIdLst>
    <p:notesMasterId r:id="rId36"/>
  </p:notesMasterIdLst>
  <p:handoutMasterIdLst>
    <p:handoutMasterId r:id="rId37"/>
  </p:handoutMasterIdLst>
  <p:sldIdLst>
    <p:sldId id="540" r:id="rId2"/>
    <p:sldId id="547" r:id="rId3"/>
    <p:sldId id="511" r:id="rId4"/>
    <p:sldId id="553" r:id="rId5"/>
    <p:sldId id="554" r:id="rId6"/>
    <p:sldId id="548" r:id="rId7"/>
    <p:sldId id="512" r:id="rId8"/>
    <p:sldId id="516" r:id="rId9"/>
    <p:sldId id="549" r:id="rId10"/>
    <p:sldId id="552" r:id="rId11"/>
    <p:sldId id="524" r:id="rId12"/>
    <p:sldId id="513" r:id="rId13"/>
    <p:sldId id="515" r:id="rId14"/>
    <p:sldId id="514" r:id="rId15"/>
    <p:sldId id="551" r:id="rId16"/>
    <p:sldId id="517" r:id="rId17"/>
    <p:sldId id="541" r:id="rId18"/>
    <p:sldId id="538" r:id="rId19"/>
    <p:sldId id="544" r:id="rId20"/>
    <p:sldId id="542" r:id="rId21"/>
    <p:sldId id="539" r:id="rId22"/>
    <p:sldId id="526" r:id="rId23"/>
    <p:sldId id="401" r:id="rId24"/>
    <p:sldId id="525" r:id="rId25"/>
    <p:sldId id="527" r:id="rId26"/>
    <p:sldId id="528" r:id="rId27"/>
    <p:sldId id="530" r:id="rId28"/>
    <p:sldId id="532" r:id="rId29"/>
    <p:sldId id="521" r:id="rId30"/>
    <p:sldId id="523" r:id="rId31"/>
    <p:sldId id="536" r:id="rId32"/>
    <p:sldId id="535" r:id="rId33"/>
    <p:sldId id="531" r:id="rId34"/>
    <p:sldId id="545" r:id="rId35"/>
  </p:sldIdLst>
  <p:sldSz cx="12192000" cy="6858000"/>
  <p:notesSz cx="7102475" cy="938847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FA106F-A1D2-4A8C-B134-8F2A12C21D33}">
          <p14:sldIdLst>
            <p14:sldId id="540"/>
            <p14:sldId id="547"/>
            <p14:sldId id="511"/>
            <p14:sldId id="553"/>
            <p14:sldId id="554"/>
            <p14:sldId id="548"/>
            <p14:sldId id="512"/>
            <p14:sldId id="516"/>
            <p14:sldId id="549"/>
            <p14:sldId id="552"/>
            <p14:sldId id="524"/>
            <p14:sldId id="513"/>
            <p14:sldId id="515"/>
            <p14:sldId id="514"/>
            <p14:sldId id="551"/>
            <p14:sldId id="517"/>
            <p14:sldId id="541"/>
            <p14:sldId id="538"/>
            <p14:sldId id="544"/>
            <p14:sldId id="542"/>
            <p14:sldId id="539"/>
            <p14:sldId id="526"/>
            <p14:sldId id="401"/>
            <p14:sldId id="525"/>
            <p14:sldId id="527"/>
            <p14:sldId id="528"/>
            <p14:sldId id="530"/>
            <p14:sldId id="532"/>
            <p14:sldId id="521"/>
            <p14:sldId id="523"/>
            <p14:sldId id="536"/>
            <p14:sldId id="535"/>
            <p14:sldId id="531"/>
            <p14:sldId id="54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7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56D2716-681C-0ED8-9BD4-37117C3B4FB8}" name="arend Kouwenaar" initials="aK" userId="adbbcea973320f35" providerId="Windows Live"/>
  <p188:author id="{FE78AC8B-25A4-2FA1-255B-A2BA7B6FF7E8}" name="Manirumva, Evariste" initials="ME" userId="S::emanirumva@icipe.org::fbb618da-2b8a-4a66-b30b-f0e53196d74f" providerId="AD"/>
  <p188:author id="{D5143AD7-E749-5E1E-371D-A585C0C727CD}" name="User" initials="U" userId="User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ariste MANIRUMVA" initials="EM" lastIdx="1" clrIdx="0">
    <p:extLst>
      <p:ext uri="{19B8F6BF-5375-455C-9EA6-DF929625EA0E}">
        <p15:presenceInfo xmlns:p15="http://schemas.microsoft.com/office/powerpoint/2012/main" userId="S-1-5-21-367653040-3284563744-1480659140-5515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6340" autoAdjust="0"/>
  </p:normalViewPr>
  <p:slideViewPr>
    <p:cSldViewPr snapToGrid="0">
      <p:cViewPr>
        <p:scale>
          <a:sx n="110" d="100"/>
          <a:sy n="110" d="100"/>
        </p:scale>
        <p:origin x="120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957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952391-E811-40BD-BF31-152F5CC3E0D7}" type="datetime1">
              <a:rPr lang="en-US"/>
              <a:pPr/>
              <a:t>1/23/2024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1433" tIns="45717" rIns="91433" bIns="45717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C8EE828-0B52-48BD-AC30-C13AE1823DC9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5950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7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491" y="5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91EC5310-AD28-478C-9D1F-55544C92CB9A}" type="datetime1">
              <a:rPr lang="en-US"/>
              <a:pPr/>
              <a:t>1/23/2024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704850"/>
            <a:ext cx="6261100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2823" tIns="46413" rIns="92823" bIns="46413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893" y="4460256"/>
            <a:ext cx="5680694" cy="4224651"/>
          </a:xfrm>
          <a:prstGeom prst="rect">
            <a:avLst/>
          </a:prstGeom>
        </p:spPr>
        <p:txBody>
          <a:bodyPr vert="horz" wrap="square" lIns="92823" tIns="46413" rIns="92823" bIns="46413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7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491" y="8917280"/>
            <a:ext cx="3078382" cy="469587"/>
          </a:xfrm>
          <a:prstGeom prst="rect">
            <a:avLst/>
          </a:prstGeom>
        </p:spPr>
        <p:txBody>
          <a:bodyPr vert="horz" wrap="square" lIns="92823" tIns="46413" rIns="92823" bIns="4641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21D82EB7-C704-4A63-B645-1186AD9BB91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0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420688" y="704850"/>
            <a:ext cx="6261100" cy="35210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6762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27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QMFM model is originated or derived from a canonical-new Keynesian reduced form model (log-linearized equations of a micro-founded model)</a:t>
            </a:r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263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47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808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32505">
              <a:defRPr/>
            </a:pPr>
            <a:r>
              <a:rPr lang="en-US" dirty="0"/>
              <a:t>Isssue temporary sharp deficit reduction creating volatility in output gap and inflation (and RIR, RER)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7805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13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513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6072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tuned GDP down in 2023Q1 (nowcast), and tuned cons down too (shock)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2945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Output gap and Fiscal Impulse in last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4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more aggregate models, “fiscal impulse” comprises both direct effect of govt spending on G&amp;S and the indirect effect via private consumption and investment (affected by transfers/subsidies and reduced effective revenue collection)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158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939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482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illustration of fiscal impulse in relation to output/gap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6503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Rationale of relative (food, energy) and therefore relative core price</a:t>
            </a:r>
          </a:p>
          <a:p>
            <a:pPr defTabSz="932505">
              <a:defRPr/>
            </a:pPr>
            <a:r>
              <a:rPr lang="en-US" dirty="0"/>
              <a:t>Main message inflation: easing from interest rate and fiscal tightening (and abating shocks); reverse tightening of govt increases demand, output and a temporary above target inflation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361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 effect small as import share small for country (larger for urban)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987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3605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IB not 7.4 in Q1 2023? We must convert back i= log(1+IB). Maybe need some IB smoothing, with lower drop in face of negative outputgap from govt demand?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99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explains RIR overshooting (above trend) in 2023? And below trend after2025-26?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97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Seeming overshooting of RER (then some undershooting) desirable? Can it smoothened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55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339">
              <a:defRPr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Both RIR and RER return gradually to their steady states of RIR of 2.5% and RER depreciation rate of 0%. (</a:t>
            </a:r>
            <a:r>
              <a:rPr lang="en-US" dirty="0">
                <a:solidFill>
                  <a:srgbClr val="FF0000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or is it 2% ie rstar 0%+country premium 2% CHECK). Should rstar_ss be raised to 0.5%?)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353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6630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D82EB7-C704-4A63-B645-1186AD9BB91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069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47C504-C68F-4932-B214-1C432888EE05}" type="slidenum">
              <a:rPr lang="en-GB" smtClean="0"/>
              <a:pPr>
                <a:defRPr/>
              </a:pPr>
              <a:t>33</a:t>
            </a:fld>
            <a:endParaRPr lang="en-GB" dirty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7640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6172200"/>
            <a:ext cx="121920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3454400" y="1371600"/>
            <a:ext cx="8331200" cy="236220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3454400" y="1371600"/>
            <a:ext cx="304800" cy="23622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3860800" y="1371600"/>
            <a:ext cx="7924800" cy="23622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Rwanda CAADP Post Compact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en-US" sz="2600" b="1" dirty="0">
                <a:latin typeface="Gill Sans MT" charset="0"/>
                <a:cs typeface="Times New Roman" charset="0"/>
              </a:rPr>
              <a:t>High-Level Stakeholder Meeting</a:t>
            </a:r>
          </a:p>
        </p:txBody>
      </p:sp>
      <p:pic>
        <p:nvPicPr>
          <p:cNvPr id="10" name="Picture 1" descr="armoirie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 rot="10800000" flipH="1" flipV="1">
            <a:off x="304800" y="1350964"/>
            <a:ext cx="29464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Subtitle 8"/>
          <p:cNvSpPr txBox="1">
            <a:spLocks/>
          </p:cNvSpPr>
          <p:nvPr userDrawn="1"/>
        </p:nvSpPr>
        <p:spPr>
          <a:xfrm>
            <a:off x="3860800" y="6248400"/>
            <a:ext cx="7823200" cy="609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r">
              <a:spcBef>
                <a:spcPts val="600"/>
              </a:spcBef>
              <a:buClr>
                <a:schemeClr val="accent1"/>
              </a:buClr>
              <a:buSzPct val="76000"/>
              <a:buFont typeface="Symbol" charset="2"/>
              <a:buNone/>
            </a:pPr>
            <a:endParaRPr lang="en-US" sz="1000" dirty="0">
              <a:solidFill>
                <a:schemeClr val="bg2"/>
              </a:solidFill>
              <a:latin typeface="Bookman Old Style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454400" y="4191000"/>
            <a:ext cx="304800" cy="990600"/>
          </a:xfrm>
          <a:prstGeom prst="rect">
            <a:avLst/>
          </a:prstGeom>
          <a:solidFill>
            <a:schemeClr val="accent3"/>
          </a:solidFill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450167" y="4191000"/>
            <a:ext cx="8343900" cy="990600"/>
          </a:xfrm>
          <a:prstGeom prst="rect">
            <a:avLst/>
          </a:prstGeom>
          <a:noFill/>
          <a:ln w="6350" cap="rnd" cmpd="sng" algn="ctr">
            <a:solidFill>
              <a:schemeClr val="accent3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>
              <a:solidFill>
                <a:srgbClr val="FFFFFF"/>
              </a:solidFill>
              <a:ea typeface="ＭＳ Ｐゴシック" charset="-128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860800" y="4267200"/>
            <a:ext cx="7823199" cy="4572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r">
              <a:defRPr sz="240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60800" y="4724400"/>
            <a:ext cx="7823199" cy="457200"/>
          </a:xfrm>
        </p:spPr>
        <p:txBody>
          <a:bodyPr/>
          <a:lstStyle>
            <a:lvl1pPr marL="0" indent="0" algn="r">
              <a:buNone/>
              <a:defRPr sz="20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raight Connector 2"/>
          <p:cNvSpPr>
            <a:spLocks noChangeShapeType="1"/>
          </p:cNvSpPr>
          <p:nvPr userDrawn="1"/>
        </p:nvSpPr>
        <p:spPr bwMode="auto">
          <a:xfrm>
            <a:off x="1625601" y="1066800"/>
            <a:ext cx="10240433" cy="0"/>
          </a:xfrm>
          <a:prstGeom prst="line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838200"/>
          </a:xfrm>
          <a:prstGeom prst="rect">
            <a:avLst/>
          </a:prstGeom>
        </p:spPr>
        <p:txBody>
          <a:bodyPr anchor="b" anchorCtr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9347200" y="6416676"/>
            <a:ext cx="2641600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/>
                </a:solidFill>
                <a:latin typeface="Gill Sans MT" charset="0"/>
              </a:defRPr>
            </a:lvl1pPr>
          </a:lstStyle>
          <a:p>
            <a:fld id="{D97AE203-F84D-4A7F-B161-8561326BE07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endParaRPr lang="en-GB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8400"/>
            <a:ext cx="2844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970CC022-FA3D-4B6F-94CC-171F6923194E}" type="slidenum">
              <a:rPr lang="en-GB"/>
              <a:pPr/>
              <a:t>‹#›</a:t>
            </a:fld>
            <a:endParaRPr lang="en-GB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fld id="{0C3105CC-1B2D-4903-971E-6A5C773A19C5}" type="datetime1">
              <a:rPr lang="en-US"/>
              <a:pPr/>
              <a:t>1/23/2024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7D18-9295-5C12-B7F8-D8E37640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83A11-90E3-6BC7-796C-FBF7B4348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7D45-0C98-9643-133E-7CF04135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79336-2E43-44A0-ADE1-7669CAFC9F7E}" type="datetimeFigureOut">
              <a:rPr lang="x-none" smtClean="0"/>
              <a:t>23/01/2024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FCEDC-4AD8-AC4F-ED12-34EC3D3DB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55A3-94B7-8CEE-EB38-2E387C050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8878F0-BBE9-411C-9D0D-17F9871AB4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65138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203200" y="1219200"/>
            <a:ext cx="11379200" cy="4910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203201" y="6629400"/>
            <a:ext cx="11741151" cy="0"/>
          </a:xfrm>
          <a:prstGeom prst="line">
            <a:avLst/>
          </a:prstGeom>
          <a:ln>
            <a:solidFill>
              <a:schemeClr val="tx2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pic>
        <p:nvPicPr>
          <p:cNvPr id="1028" name="Picture 1" descr="armoirie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 flipH="1" flipV="1">
            <a:off x="203200" y="152400"/>
            <a:ext cx="1016000" cy="82073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  <a:ea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Bookman Old Style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547688" indent="-27305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6000"/>
        <a:buFont typeface="Wingdings 3" charset="2"/>
        <a:buChar char=""/>
        <a:defRPr sz="2000" kern="1200">
          <a:solidFill>
            <a:schemeClr val="tx2"/>
          </a:solidFill>
          <a:latin typeface="+mn-lt"/>
          <a:ea typeface="ＭＳ Ｐゴシック" charset="-128"/>
          <a:cs typeface="+mn-cs"/>
        </a:defRPr>
      </a:lvl2pPr>
      <a:lvl3pPr marL="822325" indent="-228600" algn="l" rtl="0" eaLnBrk="0" fontAlgn="base" hangingPunct="0">
        <a:spcBef>
          <a:spcPts val="500"/>
        </a:spcBef>
        <a:spcAft>
          <a:spcPct val="0"/>
        </a:spcAft>
        <a:buClr>
          <a:srgbClr val="BCBCBC"/>
        </a:buClr>
        <a:buSzPct val="76000"/>
        <a:buFont typeface="Wingdings 3" charset="2"/>
        <a:buChar char="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096963" indent="-228600" algn="l" rtl="0" eaLnBrk="0" fontAlgn="base" hangingPunct="0">
        <a:spcBef>
          <a:spcPts val="400"/>
        </a:spcBef>
        <a:spcAft>
          <a:spcPct val="0"/>
        </a:spcAft>
        <a:buClr>
          <a:srgbClr val="23A900"/>
        </a:buClr>
        <a:buSzPct val="70000"/>
        <a:buFont typeface="Wingdings" charset="2"/>
        <a:buChar char="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00"/>
        </a:spcBef>
        <a:spcAft>
          <a:spcPct val="0"/>
        </a:spcAft>
        <a:buClr>
          <a:schemeClr val="accent2"/>
        </a:buClr>
        <a:buSzPct val="70000"/>
        <a:buFont typeface="Wingdings" charset="2"/>
        <a:buChar char=""/>
        <a:defRPr sz="16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tmp"/><Relationship Id="rId4" Type="http://schemas.openxmlformats.org/officeDocument/2006/relationships/image" Target="../media/image36.tm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905000" y="914400"/>
            <a:ext cx="8458200" cy="1754326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Quarterly Macro-Fiscal Outlook</a:t>
            </a:r>
          </a:p>
          <a:p>
            <a:pPr algn="ctr">
              <a:defRPr/>
            </a:pPr>
            <a:endParaRPr lang="en-GB" sz="3600" b="1" dirty="0">
              <a:solidFill>
                <a:srgbClr val="002060"/>
              </a:solidFill>
              <a:latin typeface="+mn-lt"/>
            </a:endParaRPr>
          </a:p>
          <a:p>
            <a:pPr algn="ctr">
              <a:defRPr/>
            </a:pPr>
            <a:r>
              <a:rPr lang="en-GB" sz="3600" b="1" dirty="0">
                <a:solidFill>
                  <a:srgbClr val="002060"/>
                </a:solidFill>
                <a:latin typeface="+mn-lt"/>
              </a:rPr>
              <a:t>Summary Forecast 2023-26</a:t>
            </a: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686050" y="4495800"/>
            <a:ext cx="68199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  <a:latin typeface="+mn-lt"/>
              </a:rPr>
              <a:t>June 2, 2023 </a:t>
            </a:r>
            <a:r>
              <a:rPr lang="en-US" sz="2800" dirty="0">
                <a:solidFill>
                  <a:srgbClr val="FF0000"/>
                </a:solidFill>
                <a:latin typeface="+mn-lt"/>
              </a:rPr>
              <a:t>(rev. structure Aug.2023)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GB" b="1" dirty="0"/>
              <a:t>I. Rationale of Outlook &amp; underlying model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57200" y="9906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forecast for 16 quarters ahead for key macro variables (output, inflation, final demand…...) as influenced by fiscal, monetary, and exchange rate policies/stance, incl. in response to shocks and new developments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>
                <a:solidFill>
                  <a:srgbClr val="FF0000"/>
                </a:solidFill>
              </a:rPr>
              <a:t>Simulate alternative policy scenarios suggest policy implications &amp; recommendations.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Provide input to (Qo or Ann. </a:t>
            </a:r>
            <a:r>
              <a:rPr lang="en-GB" sz="2000" dirty="0" err="1"/>
              <a:t>assupmtions</a:t>
            </a:r>
            <a:r>
              <a:rPr lang="en-GB" sz="2000" dirty="0"/>
              <a:t>), and complement, other projections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000" dirty="0"/>
              <a:t>Tool/model: Quarterly Macro Fiscal Model (QMFM), a so-called “gap” model: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special emphasis on </a:t>
            </a:r>
            <a:r>
              <a:rPr lang="en-GB" sz="2000" i="1" dirty="0">
                <a:solidFill>
                  <a:srgbClr val="FFC000"/>
                </a:solidFill>
              </a:rPr>
              <a:t>fiscal deficit indicators &amp; components</a:t>
            </a:r>
            <a:r>
              <a:rPr lang="en-GB" sz="2000" dirty="0">
                <a:solidFill>
                  <a:srgbClr val="FFC000"/>
                </a:solidFill>
              </a:rPr>
              <a:t> (revenue, Govt spending &amp; structural, discretional, cyclical)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tracing key macro variables in </a:t>
            </a:r>
            <a:r>
              <a:rPr lang="en-GB" sz="2000" i="1" dirty="0"/>
              <a:t>deviation from trends</a:t>
            </a:r>
            <a:r>
              <a:rPr lang="en-GB" sz="2000" dirty="0"/>
              <a:t>, potential levels, or targets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after shocks and policy responses, variables return </a:t>
            </a:r>
            <a:r>
              <a:rPr lang="en-GB" sz="2000" dirty="0">
                <a:solidFill>
                  <a:srgbClr val="FFC000"/>
                </a:solidFill>
              </a:rPr>
              <a:t>to their LT trends subject to persistence/lags &amp; </a:t>
            </a:r>
            <a:r>
              <a:rPr lang="en-GB" sz="2000" dirty="0" err="1">
                <a:solidFill>
                  <a:srgbClr val="FFC000"/>
                </a:solidFill>
              </a:rPr>
              <a:t>s.states</a:t>
            </a:r>
            <a:r>
              <a:rPr lang="en-GB" sz="2000" dirty="0">
                <a:solidFill>
                  <a:srgbClr val="FFC000"/>
                </a:solidFill>
              </a:rPr>
              <a:t>. </a:t>
            </a:r>
          </a:p>
          <a:p>
            <a:pPr lvl="2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GB" sz="2000" dirty="0"/>
              <a:t>trends converge to </a:t>
            </a:r>
            <a:r>
              <a:rPr lang="en-GB" sz="2000" i="1" dirty="0"/>
              <a:t>steady states (</a:t>
            </a:r>
            <a:r>
              <a:rPr lang="en-GB" sz="2000" i="1" dirty="0">
                <a:solidFill>
                  <a:srgbClr val="FF0000"/>
                </a:solidFill>
              </a:rPr>
              <a:t>outside model</a:t>
            </a:r>
            <a:r>
              <a:rPr lang="en-GB" sz="2000" i="1" dirty="0"/>
              <a:t>)</a:t>
            </a:r>
            <a:r>
              <a:rPr lang="en-GB" sz="2000" dirty="0"/>
              <a:t>, e.g., potential output growth, interest and exchange rates </a:t>
            </a:r>
            <a:r>
              <a:rPr lang="en-GB" sz="2000" dirty="0">
                <a:solidFill>
                  <a:srgbClr val="FFC000"/>
                </a:solidFill>
              </a:rPr>
              <a:t>neutral rate &amp; target</a:t>
            </a:r>
            <a:r>
              <a:rPr lang="en-GB" sz="2000" dirty="0"/>
              <a:t>,  sustainable deficit level and target inflation….</a:t>
            </a:r>
          </a:p>
        </p:txBody>
      </p:sp>
    </p:spTree>
    <p:extLst>
      <p:ext uri="{BB962C8B-B14F-4D97-AF65-F5344CB8AC3E}">
        <p14:creationId xmlns:p14="http://schemas.microsoft.com/office/powerpoint/2010/main" val="283734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4925259" y="1112838"/>
            <a:ext cx="7162238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b="1" dirty="0"/>
              <a:t>Fiscal polies and Government demand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Since 2017, with fiscal consolidation deficit was fluctuation around 10% GDP, mainly driven by volatility in discretion spending for government demand (use of goods and services ………)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During 2020, deficit increased due to Covid related spending and increase in government demand (NINFA, i.e.,. Mass School constructions, use goods and services, ) mostly related to foreign finance portion.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However by 2022/23, deficit in %GDP decline to 12% from 16.2% previous year, driven by decline in capital spending, and net lending ( equities and shares (Euro bond investment projects), and loans(B/s support funds)).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800" dirty="0"/>
              <a:t>Surging inflation, start from 2022 have reduced government demand in real terms. However in last quarter of 2023Q2 reversed due to floods response.</a:t>
            </a:r>
          </a:p>
          <a:p>
            <a:pPr marL="274638" lvl="1" indent="0" algn="just">
              <a:spcAft>
                <a:spcPts val="600"/>
              </a:spcAft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F25052-4B6A-07E2-787D-93AB289F2466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" y="1321435"/>
            <a:ext cx="4624251" cy="2667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BD61FA-CDEF-7D4D-D917-75D1F0B0DF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05" y="4166961"/>
            <a:ext cx="4536657" cy="233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17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318760" y="1127760"/>
            <a:ext cx="661924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output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Real GDP growth averaged 7.5% during 2000-19, growth in 2019 was a bit above on potential. 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During 2020, Rwandan economy contracted below 12% of normal growth(potential) of 7.5% due to supply constraints and drops in external and domestic demand. 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Expansionary Fiscal policy helped in subsequent recovery of economy, despite strong bounce back in 2021 economy is estimated below potential.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Global instability such Ukraine War affected domestic economy </a:t>
            </a:r>
            <a:r>
              <a:rPr lang="en-RW" dirty="0"/>
              <a:t>slowed down the recovery from 2022Q1 onward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A61C9A-8733-EDB3-E299-82F202F714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79" y="1143000"/>
            <a:ext cx="4965792" cy="2436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087366-EBDB-6F4B-B0AD-10C0B20CC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14" y="3655740"/>
            <a:ext cx="5093652" cy="294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5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1I. Recent macroeconomic developments</a:t>
            </a:r>
            <a:r>
              <a:rPr lang="en-US" dirty="0"/>
              <a:t> (2019-23)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5172890" y="1143000"/>
            <a:ext cx="6333309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inflation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Inflation in Rwanda in characterised by high volatility, mostly driven by factors unrelated to business cycle: </a:t>
            </a:r>
          </a:p>
          <a:p>
            <a:pPr lvl="4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weather related factors lead to fluctuations in harvest and agricultural price, dependence on imports especially on food and petroleum products depends on international prices.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Food and energy are main drivers of this volatility in inflation directly and indirectly.</a:t>
            </a:r>
          </a:p>
          <a:p>
            <a:pPr lvl="1"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Recently,  surging in inflation was more driven by weak harvests coincided with soaring of world food and energy prices.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5797ED-2398-91D6-B332-782D0F218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1" y="1210490"/>
            <a:ext cx="4981303" cy="5206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43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2D1E2-CA9D-BA89-EEEC-51D78AD38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92075"/>
            <a:ext cx="10261600" cy="838200"/>
          </a:xfrm>
        </p:spPr>
        <p:txBody>
          <a:bodyPr/>
          <a:lstStyle/>
          <a:p>
            <a:r>
              <a:rPr lang="en-US" b="1" dirty="0"/>
              <a:t>2. Current policy stance/initial condition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C85A4-DDE9-C3B5-5A35-6FA4774252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B6C95DA-AC08-36FA-592F-0A9D270D4B58}"/>
              </a:ext>
            </a:extLst>
          </p:cNvPr>
          <p:cNvSpPr txBox="1">
            <a:spLocks/>
          </p:cNvSpPr>
          <p:nvPr/>
        </p:nvSpPr>
        <p:spPr>
          <a:xfrm>
            <a:off x="609600" y="1143000"/>
            <a:ext cx="10896600" cy="54864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0260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09600"/>
          </a:xfrm>
        </p:spPr>
        <p:txBody>
          <a:bodyPr/>
          <a:lstStyle/>
          <a:p>
            <a:r>
              <a:rPr lang="en-GB" b="1" dirty="0"/>
              <a:t>3. Forecast assumptions </a:t>
            </a:r>
            <a:r>
              <a:rPr lang="en-GB" dirty="0">
                <a:solidFill>
                  <a:srgbClr val="FF0000"/>
                </a:solidFill>
              </a:rPr>
              <a:t>slightly</a:t>
            </a:r>
            <a:r>
              <a:rPr lang="en-GB" b="1" dirty="0">
                <a:solidFill>
                  <a:srgbClr val="FF0000"/>
                </a:solidFill>
              </a:rPr>
              <a:t> r</a:t>
            </a:r>
            <a:r>
              <a:rPr lang="en-GB" dirty="0">
                <a:solidFill>
                  <a:srgbClr val="FF0000"/>
                </a:solidFill>
              </a:rPr>
              <a:t>evised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609600" y="1371600"/>
            <a:ext cx="11201400" cy="504507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en-GB" sz="2600" dirty="0"/>
              <a:t>The forecasts are conditional on exogenous and judgemental assumptions: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external environment (foreign prices, demand, food/oil prices, interest rates, )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domestic trends and gaps distilled from historic data (quarterly 2006-23)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domestic near-term forecasts (now/forecast GDP, latest CPI,  judgements…)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600" dirty="0"/>
              <a:t>domestic known or expected policies (e.g., fiscal and interest rate) and</a:t>
            </a:r>
          </a:p>
          <a:p>
            <a:pPr marL="0" indent="0" algn="just">
              <a:spcAft>
                <a:spcPts val="600"/>
              </a:spcAft>
              <a:buNone/>
            </a:pPr>
            <a:r>
              <a:rPr lang="en-GB" sz="2600" dirty="0"/>
              <a:t>assumptions on continuation of recent shocks (e.g., in agriculture, core inflation)</a:t>
            </a:r>
          </a:p>
          <a:p>
            <a:pPr marL="0" indent="0" algn="just">
              <a:buNone/>
            </a:pP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55769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External environment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77357A2-BC7F-DEA1-E1F9-C481EA57A693}"/>
              </a:ext>
            </a:extLst>
          </p:cNvPr>
          <p:cNvSpPr txBox="1">
            <a:spLocks/>
          </p:cNvSpPr>
          <p:nvPr/>
        </p:nvSpPr>
        <p:spPr>
          <a:xfrm>
            <a:off x="4800600" y="4150758"/>
            <a:ext cx="3200400" cy="190565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/>
              <a:t>World real interest rates are projected to increase from negative in the past decade to close to zero in the near term, and latest WEO foresees around 1% for MT</a:t>
            </a:r>
          </a:p>
        </p:txBody>
      </p:sp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0D3816F1-012E-3147-640F-AB15DAE3F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54" y="1519537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25E27BE-9404-C370-027C-CC987668662F}"/>
              </a:ext>
            </a:extLst>
          </p:cNvPr>
          <p:cNvSpPr txBox="1"/>
          <p:nvPr/>
        </p:nvSpPr>
        <p:spPr>
          <a:xfrm>
            <a:off x="914400" y="4038600"/>
            <a:ext cx="3352800" cy="2121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World economy slowing down as interest rates are raised in response to inflation</a:t>
            </a:r>
          </a:p>
          <a:p>
            <a:pPr marL="274320" indent="-285750" algn="just">
              <a:spcBef>
                <a:spcPts val="3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Rwanda still enjoys recovery in trading partner demand relative to Covid-years, at 3% p.y., well above trend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B14C2A-2CC5-2CF7-555D-E64A5656523F}"/>
              </a:ext>
            </a:extLst>
          </p:cNvPr>
          <p:cNvSpPr txBox="1"/>
          <p:nvPr/>
        </p:nvSpPr>
        <p:spPr>
          <a:xfrm>
            <a:off x="8458200" y="4150758"/>
            <a:ext cx="2819400" cy="1844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Trading partners’ CPI (in US$) was subdued at 1.5% py in past 5-7 years</a:t>
            </a:r>
          </a:p>
          <a:p>
            <a:pPr marL="274320" indent="-285750" algn="just" eaLnBrk="0" hangingPunct="0">
              <a:spcBef>
                <a:spcPts val="300"/>
              </a:spcBef>
              <a:spcAft>
                <a:spcPts val="40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Projected to return to more normal level of 3% in coming years</a:t>
            </a:r>
            <a:endParaRPr lang="en-AE" sz="1800" dirty="0">
              <a:latin typeface="+mn-lt"/>
            </a:endParaRPr>
          </a:p>
        </p:txBody>
      </p:sp>
      <p:pic>
        <p:nvPicPr>
          <p:cNvPr id="16" name="Picture 15" descr="Chart, line chart&#10;&#10;Description automatically generated">
            <a:extLst>
              <a:ext uri="{FF2B5EF4-FFF2-40B4-BE49-F238E27FC236}">
                <a16:creationId xmlns:a16="http://schemas.microsoft.com/office/drawing/2014/main" id="{1BAABEE4-1924-CB6D-8E54-7A24F0228F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516836"/>
            <a:ext cx="3200400" cy="2369364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537FC3D-CB21-FF02-89C6-9E38EE94F8A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9" y="1516836"/>
            <a:ext cx="3095045" cy="2286000"/>
          </a:xfrm>
          <a:prstGeom prst="rect">
            <a:avLst/>
          </a:prstGeom>
          <a:effectLst>
            <a:glow rad="127000">
              <a:schemeClr val="accent5">
                <a:lumMod val="20000"/>
                <a:lumOff val="8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2784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Domestic environment</a:t>
            </a:r>
            <a:endParaRPr lang="en-AE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48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GB" sz="2400" dirty="0"/>
              <a:t>Current fiscal, monetary, and exchange rate policies (in part </a:t>
            </a:r>
            <a:r>
              <a:rPr lang="en-GB" sz="2400" i="1" dirty="0"/>
              <a:t>“tuned”):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Fiscal </a:t>
            </a:r>
            <a:r>
              <a:rPr lang="en-GB" dirty="0"/>
              <a:t>tightening </a:t>
            </a:r>
            <a:r>
              <a:rPr lang="en-GB" sz="2400" dirty="0"/>
              <a:t>under 2022/23—2023/24 Budgets, with </a:t>
            </a:r>
            <a:r>
              <a:rPr lang="en-GB" dirty="0"/>
              <a:t>phasing out</a:t>
            </a:r>
            <a:r>
              <a:rPr lang="en-GB" sz="2400" dirty="0"/>
              <a:t> of Covid and Ukraine-crises spending, and temporary sharp reduction in fiscal deficit &amp; impulse, with deficit increasing back to ‘norma</a:t>
            </a:r>
            <a:r>
              <a:rPr lang="en-GB" dirty="0"/>
              <a:t>l’ from 2024?25</a:t>
            </a:r>
            <a:endParaRPr lang="en-GB" sz="2400" dirty="0"/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Maintenance of current level of policy interest rate (interbank rate)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Somewhat faster exchange rate depreciation in 2023 (than 2022), targeted in PCI</a:t>
            </a:r>
          </a:p>
          <a:p>
            <a:pPr marL="342900" indent="-342900"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Expected return to normal of agricultural harvests and domestic food prices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75266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4. Summary of macroeconomic forecast  </a:t>
            </a:r>
            <a:r>
              <a:rPr lang="en-GB" dirty="0">
                <a:solidFill>
                  <a:srgbClr val="FF0000"/>
                </a:solidFill>
              </a:rPr>
              <a:t>new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2693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Table with </a:t>
            </a:r>
            <a:r>
              <a:rPr lang="en-GB" dirty="0"/>
              <a:t>key macroeconomic indicators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Bullet </a:t>
            </a:r>
            <a:r>
              <a:rPr lang="en-GB" dirty="0"/>
              <a:t>highlights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A few charts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16540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E48A-ACEE-51EB-B834-992F80F1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06020"/>
          </a:xfrm>
        </p:spPr>
        <p:txBody>
          <a:bodyPr/>
          <a:lstStyle/>
          <a:p>
            <a:r>
              <a:rPr lang="en-GB" b="1" dirty="0"/>
              <a:t>5. Macroeconomic forecast narrative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EC34D-CC97-3D7D-A18A-8A80FC2EAA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16519-51F5-5EFF-CB74-11E7C7EAA74B}"/>
              </a:ext>
            </a:extLst>
          </p:cNvPr>
          <p:cNvSpPr txBox="1"/>
          <p:nvPr/>
        </p:nvSpPr>
        <p:spPr>
          <a:xfrm>
            <a:off x="304800" y="1828800"/>
            <a:ext cx="11684000" cy="4416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GB" sz="2400" dirty="0"/>
              <a:t>Macroeconomic aggregates and their key components and drivers: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Output growth and cyclical position</a:t>
            </a:r>
            <a:endParaRPr lang="en-GB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Private demand and cyclical position</a:t>
            </a:r>
            <a:endParaRPr lang="en-GB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Government demand and deficit, structural, cyclical and discretionary components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2400" dirty="0"/>
              <a:t>Inflation and components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Nominal and real interest rates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dirty="0"/>
              <a:t>Nominal and real ex</a:t>
            </a:r>
            <a:r>
              <a:rPr lang="en-GB" sz="2400" dirty="0"/>
              <a:t>change</a:t>
            </a:r>
            <a:r>
              <a:rPr lang="en-GB" dirty="0"/>
              <a:t> rates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55240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25B51-9F35-563B-B454-D804ED60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3531"/>
            <a:ext cx="10261600" cy="684669"/>
          </a:xfrm>
        </p:spPr>
        <p:txBody>
          <a:bodyPr/>
          <a:lstStyle/>
          <a:p>
            <a:r>
              <a:rPr lang="en-GB" b="1" dirty="0"/>
              <a:t>Forecast—Output and cyclical position </a:t>
            </a:r>
            <a:r>
              <a:rPr lang="en-GB" dirty="0"/>
              <a:t>(GDP growth)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C60EEB-4D2C-ABC6-3CBF-810371A48C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DB21F50-4750-8FFC-95EB-0C9188E69407}"/>
              </a:ext>
            </a:extLst>
          </p:cNvPr>
          <p:cNvSpPr txBox="1">
            <a:spLocks/>
          </p:cNvSpPr>
          <p:nvPr/>
        </p:nvSpPr>
        <p:spPr>
          <a:xfrm>
            <a:off x="228600" y="1591467"/>
            <a:ext cx="5181600" cy="4935419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Output growth: </a:t>
            </a:r>
            <a:r>
              <a:rPr lang="en-GB" sz="2000" dirty="0"/>
              <a:t>to rise a bit above trend in 2023-24, completing post-Covid recovery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Driven by</a:t>
            </a:r>
            <a:r>
              <a:rPr lang="en-GB" sz="2000" b="1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consumption recovering from Covid shocks, helped by below-trend RIR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exports recovering from Covid shocks though hampered by still below-trend 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govt spending dropped in FY 2022/23 (incl. ending Covid- and Ukraine-crises spending)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further govt tightening in FY2023/24, before returning to ‘normal’ (</a:t>
            </a:r>
            <a:r>
              <a:rPr lang="en-GB" sz="2000" i="1" dirty="0"/>
              <a:t>cf. </a:t>
            </a:r>
            <a:r>
              <a:rPr lang="en-GB" sz="2000" i="1" dirty="0">
                <a:solidFill>
                  <a:schemeClr val="accent2">
                    <a:lumMod val="50000"/>
                  </a:schemeClr>
                </a:solidFill>
              </a:rPr>
              <a:t>Fiscal Impulse </a:t>
            </a:r>
            <a:r>
              <a:rPr lang="en-GB" sz="2000" i="1" dirty="0"/>
              <a:t>below</a:t>
            </a:r>
            <a:r>
              <a:rPr lang="en-GB" sz="20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output back to trend of 7.5 % p.y. from 2025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AB8512-E1DD-10B3-6515-A9CE1A80F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481258"/>
            <a:ext cx="67564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68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058400" cy="762000"/>
          </a:xfrm>
        </p:spPr>
        <p:txBody>
          <a:bodyPr/>
          <a:lstStyle/>
          <a:p>
            <a:r>
              <a:rPr lang="en-GB" b="1" dirty="0"/>
              <a:t>Forecast—cyclical total demand driving GDP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CE53A78-6149-73BC-44A9-99D9F5188F33}"/>
              </a:ext>
            </a:extLst>
          </p:cNvPr>
          <p:cNvSpPr txBox="1">
            <a:spLocks/>
          </p:cNvSpPr>
          <p:nvPr/>
        </p:nvSpPr>
        <p:spPr>
          <a:xfrm>
            <a:off x="533400" y="1295400"/>
            <a:ext cx="4648200" cy="5121276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dirty="0">
                <a:solidFill>
                  <a:schemeClr val="accent1"/>
                </a:solidFill>
              </a:rPr>
              <a:t>GDP below potential:  </a:t>
            </a:r>
            <a:r>
              <a:rPr lang="en-GB" sz="2000" dirty="0"/>
              <a:t>gap is estimated at 4 % at end-2022</a:t>
            </a:r>
          </a:p>
          <a:p>
            <a:pPr marL="0" indent="0">
              <a:buNone/>
            </a:pPr>
            <a:r>
              <a:rPr lang="en-GB" sz="2000" b="1" dirty="0">
                <a:solidFill>
                  <a:schemeClr val="accent1"/>
                </a:solidFill>
              </a:rPr>
              <a:t>Output (</a:t>
            </a:r>
            <a:r>
              <a:rPr lang="en-GB" sz="2000" dirty="0"/>
              <a:t>GDP) to return to its potential level by 2025, i.e., GDP if growth had continued at pre-Covid trend rate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Driven by</a:t>
            </a:r>
            <a:r>
              <a:rPr lang="en-GB" sz="2000" dirty="0"/>
              <a:t>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disappearing Covid down-pull from consumption and exports, which are forecast to return to normal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exports recovering from Covid-related shocks and helped by increasing RER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sz="2000" dirty="0"/>
              <a:t>govt demand—pulled up output under Covid—goes ‘in reverse’ in 2022/23-20243/24, before picking up thereafter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7212B5-A207-3BDA-36AD-389DF902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1270969"/>
            <a:ext cx="6828368" cy="5121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778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consumption and cyclical position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000" b="1" dirty="0">
                <a:solidFill>
                  <a:schemeClr val="accent1"/>
                </a:solidFill>
              </a:rPr>
              <a:t>Consumption gap:  </a:t>
            </a:r>
            <a:r>
              <a:rPr lang="en-GB" sz="2000" b="1" dirty="0"/>
              <a:t> </a:t>
            </a:r>
            <a:endParaRPr lang="en-GB" sz="2000" b="1" dirty="0">
              <a:solidFill>
                <a:schemeClr val="accent1"/>
              </a:solidFill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key driver of 2020-21 negative output gap (</a:t>
            </a:r>
            <a:r>
              <a:rPr lang="en-GB" sz="1800" u="sng" dirty="0"/>
              <a:t>+</a:t>
            </a:r>
            <a:r>
              <a:rPr lang="en-GB" sz="1800" dirty="0"/>
              <a:t>75 % of GDP)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Covid negative shocks (persistence) forecast to end in 2023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fiscal impulse helped offset somewhat negative consumption shocks during Covid, but oxen it is ending in 2023</a:t>
            </a:r>
            <a:endParaRPr lang="en-GB" sz="1400" b="1" dirty="0"/>
          </a:p>
          <a:p>
            <a:pPr marL="0" indent="0" algn="just">
              <a:buNone/>
            </a:pPr>
            <a:endParaRPr lang="en-AE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FF67D-3E27-1BC9-9FF6-68A4F623CC18}"/>
              </a:ext>
            </a:extLst>
          </p:cNvPr>
          <p:cNvSpPr txBox="1">
            <a:spLocks/>
          </p:cNvSpPr>
          <p:nvPr/>
        </p:nvSpPr>
        <p:spPr>
          <a:xfrm>
            <a:off x="1143000" y="4876800"/>
            <a:ext cx="4419600" cy="158036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endParaRPr lang="en-AE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4DA25-5C9F-F1F8-8B9C-3CE84D7513B0}"/>
              </a:ext>
            </a:extLst>
          </p:cNvPr>
          <p:cNvSpPr txBox="1"/>
          <p:nvPr/>
        </p:nvSpPr>
        <p:spPr>
          <a:xfrm rot="10800000" flipV="1">
            <a:off x="381000" y="5060332"/>
            <a:ext cx="5334000" cy="1496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2000" b="1" dirty="0">
                <a:solidFill>
                  <a:srgbClr val="00B0F0"/>
                </a:solidFill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Consumption growth</a:t>
            </a:r>
            <a:r>
              <a:rPr lang="en-GB" sz="2000" b="1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GB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ontinued recovery from Covid, with higher than trend growth in 2023-24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"/>
              <a:tabLst>
                <a:tab pos="457200" algn="l"/>
              </a:tabLst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GB" sz="1800" dirty="0">
                <a:effectLst/>
                <a:latin typeface="Gill Sans MT" panose="020B05020201040202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eturns to its trend growth from 2025</a:t>
            </a:r>
            <a:endParaRPr lang="en-US" sz="1800" dirty="0">
              <a:effectLst/>
              <a:latin typeface="Gill Sans MT" panose="020B05020201040202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5CD0ED-67A7-49CD-88A2-9FAF93C68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53862"/>
            <a:ext cx="4419600" cy="36810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124B118-97F9-2D00-B56C-06A743D8CD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895599"/>
            <a:ext cx="5435600" cy="38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37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E215E-A221-5C2E-C78F-32828EC4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490200" cy="685800"/>
          </a:xfrm>
        </p:spPr>
        <p:txBody>
          <a:bodyPr/>
          <a:lstStyle/>
          <a:p>
            <a:r>
              <a:rPr lang="en-GB" b="1" dirty="0"/>
              <a:t>Private investment and cyclical position </a:t>
            </a:r>
            <a:r>
              <a:rPr lang="en-GB" dirty="0">
                <a:solidFill>
                  <a:srgbClr val="FF0000"/>
                </a:solidFill>
              </a:rPr>
              <a:t>new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C77F28-182D-EA72-A954-E1C43EFFC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58DA28E-0F28-523A-7B3F-93FC9CDE1E03}"/>
              </a:ext>
            </a:extLst>
          </p:cNvPr>
          <p:cNvSpPr txBox="1">
            <a:spLocks/>
          </p:cNvSpPr>
          <p:nvPr/>
        </p:nvSpPr>
        <p:spPr>
          <a:xfrm>
            <a:off x="5791200" y="1066800"/>
            <a:ext cx="6324600" cy="1828800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AE" sz="1400" b="1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5FF67D-3E27-1BC9-9FF6-68A4F623CC18}"/>
              </a:ext>
            </a:extLst>
          </p:cNvPr>
          <p:cNvSpPr txBox="1">
            <a:spLocks/>
          </p:cNvSpPr>
          <p:nvPr/>
        </p:nvSpPr>
        <p:spPr>
          <a:xfrm>
            <a:off x="1143000" y="4876800"/>
            <a:ext cx="4419600" cy="1580366"/>
          </a:xfrm>
          <a:prstGeom prst="rect">
            <a:avLst/>
          </a:prstGeom>
        </p:spPr>
        <p:txBody>
          <a:bodyPr>
            <a:noAutofit/>
          </a:bodyPr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endParaRPr lang="en-AE" sz="1400" b="1" dirty="0"/>
          </a:p>
        </p:txBody>
      </p:sp>
    </p:spTree>
    <p:extLst>
      <p:ext uri="{BB962C8B-B14F-4D97-AF65-F5344CB8AC3E}">
        <p14:creationId xmlns:p14="http://schemas.microsoft.com/office/powerpoint/2010/main" val="1606340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8600"/>
            <a:ext cx="10439400" cy="750514"/>
          </a:xfrm>
        </p:spPr>
        <p:txBody>
          <a:bodyPr/>
          <a:lstStyle/>
          <a:p>
            <a:r>
              <a:rPr lang="en-GB" b="1" dirty="0"/>
              <a:t>Fiscal stance (i): govt demand for G&amp;S affects output directly</a:t>
            </a:r>
            <a:endParaRPr lang="en-AE" sz="20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1FBA286-B9C2-0395-5CDE-596191958C6F}"/>
              </a:ext>
            </a:extLst>
          </p:cNvPr>
          <p:cNvSpPr txBox="1">
            <a:spLocks/>
          </p:cNvSpPr>
          <p:nvPr/>
        </p:nvSpPr>
        <p:spPr>
          <a:xfrm>
            <a:off x="156274" y="4050939"/>
            <a:ext cx="6092126" cy="2654661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b="1" dirty="0">
                <a:solidFill>
                  <a:schemeClr val="accent1"/>
                </a:solidFill>
              </a:rPr>
              <a:t>Government demand for G&amp;S </a:t>
            </a:r>
            <a:r>
              <a:rPr lang="en-GB" sz="1800" i="1" dirty="0"/>
              <a:t>(direct) </a:t>
            </a:r>
            <a:r>
              <a:rPr lang="en-GB" sz="1800" dirty="0"/>
              <a:t>(</a:t>
            </a:r>
            <a:r>
              <a:rPr lang="en-GB" sz="1800" u="sng" dirty="0"/>
              <a:t>+</a:t>
            </a:r>
            <a:r>
              <a:rPr lang="en-GB" sz="1800" dirty="0"/>
              <a:t> 23% of GDP):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mainly exogenous (discretionary spending)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some anti-cyclical spending (e.g., transfers) kicks in under downturn, esp. in Covid episode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under Covid, high govt demand helped offset negative output gap, with </a:t>
            </a:r>
            <a:r>
              <a:rPr lang="en-GB" sz="1800" i="1" dirty="0"/>
              <a:t>positive impact </a:t>
            </a:r>
            <a:r>
              <a:rPr lang="en-GB" sz="1800" dirty="0"/>
              <a:t>estimated at 1½ % of GDP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in 2022/23 and 2023/24, sharp tightening in govt demand with </a:t>
            </a:r>
            <a:r>
              <a:rPr lang="en-GB" sz="1800" i="1" dirty="0"/>
              <a:t>reverse</a:t>
            </a:r>
            <a:r>
              <a:rPr lang="en-GB" sz="1800" dirty="0"/>
              <a:t> </a:t>
            </a:r>
            <a:r>
              <a:rPr lang="en-GB" sz="1800" i="1" dirty="0"/>
              <a:t>negative impact </a:t>
            </a:r>
            <a:r>
              <a:rPr lang="en-GB" sz="1800" dirty="0"/>
              <a:t>on output gap</a:t>
            </a:r>
            <a:endParaRPr lang="en-GB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CCAC2-6233-0EF9-ABEA-F7674370836D}"/>
              </a:ext>
            </a:extLst>
          </p:cNvPr>
          <p:cNvSpPr txBox="1"/>
          <p:nvPr/>
        </p:nvSpPr>
        <p:spPr>
          <a:xfrm>
            <a:off x="156275" y="1260708"/>
            <a:ext cx="116547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18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Fiscal policies (“fiscal stance”) affect output in the short-run via several </a:t>
            </a:r>
            <a:r>
              <a:rPr lang="en-GB" sz="1800" b="1" u="sng" dirty="0">
                <a:solidFill>
                  <a:schemeClr val="accent1"/>
                </a:solidFill>
                <a:latin typeface="Gill Sans MT" panose="020B0502020104020203" pitchFamily="34" charset="0"/>
              </a:rPr>
              <a:t>channels</a:t>
            </a:r>
            <a:r>
              <a:rPr lang="en-GB" sz="18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 captured in the model:</a:t>
            </a:r>
            <a:endParaRPr lang="en-GB" sz="1800" i="1" dirty="0">
              <a:latin typeface="Gill Sans MT" panose="020B05020201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95814C-9E87-B6FA-02F5-38EFDCDDD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292" y="1752601"/>
            <a:ext cx="5711125" cy="5114440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28DCE5C-B184-5784-80FB-8F6265A85C30}"/>
              </a:ext>
            </a:extLst>
          </p:cNvPr>
          <p:cNvSpPr txBox="1">
            <a:spLocks/>
          </p:cNvSpPr>
          <p:nvPr/>
        </p:nvSpPr>
        <p:spPr>
          <a:xfrm>
            <a:off x="308674" y="1260708"/>
            <a:ext cx="6092126" cy="750514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8534BF-B928-4B83-1DE1-1D0A45F9F56F}"/>
              </a:ext>
            </a:extLst>
          </p:cNvPr>
          <p:cNvSpPr txBox="1"/>
          <p:nvPr/>
        </p:nvSpPr>
        <p:spPr>
          <a:xfrm>
            <a:off x="308674" y="1752601"/>
            <a:ext cx="6092126" cy="2197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GB" sz="1800" dirty="0">
                <a:solidFill>
                  <a:srgbClr val="0070C0"/>
                </a:solidFill>
                <a:latin typeface="Gill Sans MT" panose="020B0502020104020203" pitchFamily="34" charset="0"/>
              </a:rPr>
              <a:t> </a:t>
            </a:r>
            <a:r>
              <a:rPr lang="en-GB" sz="1800" dirty="0">
                <a:latin typeface="Gill Sans MT" panose="020B0502020104020203" pitchFamily="34" charset="0"/>
              </a:rPr>
              <a:t>govt demand for G&amp;S affects final demand and output </a:t>
            </a:r>
            <a:r>
              <a:rPr lang="en-GB" sz="1800" i="1" dirty="0">
                <a:latin typeface="Gill Sans MT" panose="020B0502020104020203" pitchFamily="34" charset="0"/>
              </a:rPr>
              <a:t>directly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</a:rPr>
              <a:t> discretionary deficit plus change in structural deficit (defined as “fiscal impulse”) affect private demand and output </a:t>
            </a:r>
            <a:r>
              <a:rPr lang="en-GB" sz="1800" i="1" dirty="0">
                <a:latin typeface="Gill Sans MT" panose="020B0502020104020203" pitchFamily="34" charset="0"/>
              </a:rPr>
              <a:t>indirectly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sz="1800" i="1" dirty="0">
                <a:latin typeface="Gill Sans MT" panose="020B0502020104020203" pitchFamily="34" charset="0"/>
              </a:rPr>
              <a:t> </a:t>
            </a:r>
            <a:r>
              <a:rPr lang="en-GB" sz="1800" dirty="0">
                <a:latin typeface="Gill Sans MT" panose="020B0502020104020203" pitchFamily="34" charset="0"/>
              </a:rPr>
              <a:t>cyclical deficit—automatic higher spending and lower revenue in downturn (and vice versa)—affects output </a:t>
            </a:r>
            <a:r>
              <a:rPr lang="en-GB" sz="1800" i="1" dirty="0">
                <a:latin typeface="Gill Sans MT" panose="020B0502020104020203" pitchFamily="34" charset="0"/>
              </a:rPr>
              <a:t>automatically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4142611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B948-3F28-94A0-AFF9-22D3A1863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8600"/>
            <a:ext cx="10668000" cy="750514"/>
          </a:xfrm>
        </p:spPr>
        <p:txBody>
          <a:bodyPr/>
          <a:lstStyle/>
          <a:p>
            <a:r>
              <a:rPr lang="en-GB" b="1" dirty="0"/>
              <a:t>  Fiscal stance (ii): fiscal impulse affects output </a:t>
            </a:r>
            <a:r>
              <a:rPr lang="en-GB" sz="2400" b="1" dirty="0"/>
              <a:t>via private demand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CA724-04CE-0978-4E96-A52B52FFCB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2AAF6A8-A1FC-08FD-607D-366D8C204D63}"/>
              </a:ext>
            </a:extLst>
          </p:cNvPr>
          <p:cNvSpPr txBox="1">
            <a:spLocks/>
          </p:cNvSpPr>
          <p:nvPr/>
        </p:nvSpPr>
        <p:spPr>
          <a:xfrm>
            <a:off x="76200" y="1447800"/>
            <a:ext cx="4953000" cy="499341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1pPr>
            <a:lvl2pPr marL="547688" indent="-27305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6000"/>
              <a:buFont typeface="Wingdings 3" charset="2"/>
              <a:buChar char=""/>
              <a:defRPr sz="2000" kern="1200">
                <a:solidFill>
                  <a:schemeClr val="tx2"/>
                </a:solidFill>
                <a:latin typeface="+mn-lt"/>
                <a:ea typeface="ＭＳ Ｐゴシック" charset="-128"/>
                <a:cs typeface="+mn-cs"/>
              </a:defRPr>
            </a:lvl2pPr>
            <a:lvl3pPr marL="822325" indent="-228600" algn="l" rtl="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BCBCBC"/>
              </a:buClr>
              <a:buSzPct val="76000"/>
              <a:buFont typeface="Wingdings 3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3pPr>
            <a:lvl4pPr marL="1096963" indent="-228600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rgbClr val="23A900"/>
              </a:buClr>
              <a:buSzPct val="70000"/>
              <a:buFont typeface="Wingdings" charset="2"/>
              <a:buChar char=""/>
              <a:defRPr sz="20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4pPr>
            <a:lvl5pPr marL="1371600" indent="-228600" algn="l" rtl="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charset="2"/>
              <a:buChar char=""/>
              <a:defRPr sz="1600" kern="1200">
                <a:solidFill>
                  <a:schemeClr val="tx1"/>
                </a:solidFill>
                <a:latin typeface="+mn-lt"/>
                <a:ea typeface="ＭＳ Ｐゴシック" charset="-128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b="1" dirty="0">
                <a:solidFill>
                  <a:schemeClr val="accent1"/>
                </a:solidFill>
              </a:rPr>
              <a:t>‘Fiscal impulse’ </a:t>
            </a:r>
            <a:r>
              <a:rPr lang="en-GB" sz="1800" i="1" dirty="0"/>
              <a:t>(indirect):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defined as discretionary deficit plus change in structural deficit (in % GDP), mainly reflects discretionary spending (demand for G&amp;S, transfers/subsidies etc.)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There was large positive fiscal impulse in only a few quarters during 2020-22, and relatively small on average over the period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affects private consumption and investment via income effect and “confidence factor”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GB" sz="1800" dirty="0"/>
              <a:t>the fiscal impulse effect on private demand and hence output during Covid years is estimated at about ½ % of GDP, but should have reverse effect on private demand in 2022/23-2023/24</a:t>
            </a:r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  <a:p>
            <a:pPr algn="just">
              <a:buFont typeface="Wingdings" panose="05000000000000000000" pitchFamily="2" charset="2"/>
              <a:buChar char="§"/>
            </a:pPr>
            <a:endParaRPr lang="en-GB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DE6C8C-160B-5E4A-56ED-2AD299F94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1219200"/>
            <a:ext cx="5969000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37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304800"/>
            <a:ext cx="107442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govt demand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‘</a:t>
            </a:r>
            <a:r>
              <a:rPr lang="en-GB" dirty="0"/>
              <a:t>fiscal impulse’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GB" sz="2400" dirty="0"/>
              <a:t>estimated effect on output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7086600" y="1295400"/>
            <a:ext cx="4419600" cy="51388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accent1"/>
                </a:solidFill>
              </a:rPr>
              <a:t>Combined effect: offsetting output gap during Covid, reverse impact due to ongoing tightening thereafter</a:t>
            </a:r>
            <a:endParaRPr lang="en-GB" sz="18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discretionary govt demand (G&amp;S) affects output </a:t>
            </a:r>
            <a:r>
              <a:rPr lang="en-GB" sz="1600" i="1" dirty="0"/>
              <a:t>directly</a:t>
            </a:r>
            <a:r>
              <a:rPr lang="en-GB" sz="1600" dirty="0"/>
              <a:t> (after imports)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during COVID, govt demand of 2 % of GDP on average increased output by almost 1.5 %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‘fiscal impulse’ in % of GDP” affected output </a:t>
            </a:r>
            <a:r>
              <a:rPr lang="en-GB" sz="1600" i="1" dirty="0"/>
              <a:t>indirectly </a:t>
            </a:r>
            <a:r>
              <a:rPr lang="en-GB" sz="1600" dirty="0"/>
              <a:t>via private demand by almost ½ % of GDP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reverse impact is expected from the fiscal tightening under PCI from 2022/23 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1D889D-2CE6-66FE-448F-2D61AE205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6451600" cy="49638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69699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04800"/>
            <a:ext cx="105918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deficit and its components (revenue, spending)</a:t>
            </a:r>
            <a:endParaRPr lang="en-AE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28600" y="1934096"/>
            <a:ext cx="5638800" cy="4660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000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(components) tuned with near-term program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large spending cuts compared to Covid and even pre-Covid for four years from 2023/24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also, needed to offset temporary revenue shortfalls of around 1% of GDP levels in 2023/24-2024/25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deficits dips well below sustainable levels for several years, thus bringing down fast debt/GDP ratios that rose during Covid (esp.  from IMF lending)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+mn-lt"/>
              </a:rPr>
              <a:t>sustainable deficit: derived grants (</a:t>
            </a:r>
            <a:r>
              <a:rPr lang="en-GB" sz="1800" u="sng" dirty="0">
                <a:latin typeface="+mn-lt"/>
              </a:rPr>
              <a:t>+</a:t>
            </a:r>
            <a:r>
              <a:rPr lang="en-GB" sz="1800" dirty="0">
                <a:latin typeface="+mn-lt"/>
              </a:rPr>
              <a:t>4.5% of GDP) and net borrowing consistent with debt/GDP of 75% (65% in NPV, 10% domestic, 15% grant element, 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228600" y="1143000"/>
            <a:ext cx="11887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(excl. grants) forecast to tighten </a:t>
            </a:r>
            <a:r>
              <a:rPr lang="en-GB" sz="2000" b="1" u="sng" dirty="0">
                <a:solidFill>
                  <a:schemeClr val="accent1"/>
                </a:solidFill>
                <a:latin typeface="Gill Sans MT" panose="020B0502020104020203" pitchFamily="34" charset="0"/>
              </a:rPr>
              <a:t>+</a:t>
            </a: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 2 % points of GDP below pre-Covid and sustainable level in 2022/23</a:t>
            </a:r>
            <a:r>
              <a:rPr lang="en-GB" sz="20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─</a:t>
            </a: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2023/24, as program fast-tracks debt/GDP reduction, then to sustainable level thereafter </a:t>
            </a:r>
            <a:endParaRPr lang="en-GB" sz="2000" i="1" dirty="0">
              <a:latin typeface="Gill Sans MT" panose="020B050202010402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E6C035-6C4C-9A3D-B4A5-092C80A27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850886"/>
            <a:ext cx="6200614" cy="500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655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CAD2-6D14-9D72-E8A6-67BC40D34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04800"/>
            <a:ext cx="10820400" cy="609600"/>
          </a:xfrm>
        </p:spPr>
        <p:txBody>
          <a:bodyPr/>
          <a:lstStyle/>
          <a:p>
            <a:r>
              <a:rPr lang="en-GB" b="1" dirty="0"/>
              <a:t>Fiscal stance: </a:t>
            </a:r>
            <a:r>
              <a:rPr lang="en-GB" dirty="0"/>
              <a:t>deficit and its components </a:t>
            </a:r>
            <a:r>
              <a:rPr lang="en-GB" sz="2400" dirty="0"/>
              <a:t>(discretionary, cyclical, structural)</a:t>
            </a:r>
            <a:endParaRPr lang="en-AE" sz="24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AD4CEA-2ADC-E661-DA3B-389EDBD6B758}"/>
              </a:ext>
            </a:extLst>
          </p:cNvPr>
          <p:cNvSpPr txBox="1"/>
          <p:nvPr/>
        </p:nvSpPr>
        <p:spPr>
          <a:xfrm>
            <a:off x="203199" y="1543110"/>
            <a:ext cx="5623731" cy="78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reductions in discretionary (demand G&amp;S, other..) spending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losses in (non-tax), revenue, are gradually being offset </a:t>
            </a:r>
            <a:endParaRPr lang="en-GB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05036-6D7E-A32A-15CB-82518DCD289F}"/>
              </a:ext>
            </a:extLst>
          </p:cNvPr>
          <p:cNvSpPr txBox="1"/>
          <p:nvPr/>
        </p:nvSpPr>
        <p:spPr>
          <a:xfrm>
            <a:off x="76200" y="1143000"/>
            <a:ext cx="1203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None/>
            </a:pPr>
            <a:r>
              <a:rPr lang="en-GB" sz="2000" b="1" dirty="0">
                <a:solidFill>
                  <a:schemeClr val="accent1"/>
                </a:solidFill>
                <a:latin typeface="Gill Sans MT" panose="020B0502020104020203" pitchFamily="34" charset="0"/>
              </a:rPr>
              <a:t>Deficit discretionary &amp; cyclical components forecast (w. near-term program), phasing out gradually </a:t>
            </a:r>
            <a:endParaRPr lang="en-GB" sz="2000" i="1" dirty="0">
              <a:latin typeface="Gill Sans MT" panose="020B0502020104020203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267FD6-822B-4717-981E-AA043E0012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99" y="2417132"/>
            <a:ext cx="5511801" cy="45062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BAC221-FB52-5041-C4C5-7C76524092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889" y="1524000"/>
            <a:ext cx="5623731" cy="4572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84EF88-3A08-DE80-8057-BE1893902D41}"/>
              </a:ext>
            </a:extLst>
          </p:cNvPr>
          <p:cNvSpPr txBox="1"/>
          <p:nvPr/>
        </p:nvSpPr>
        <p:spPr>
          <a:xfrm>
            <a:off x="6248400" y="6094677"/>
            <a:ext cx="5943600" cy="417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latin typeface="+mn-lt"/>
              </a:rPr>
              <a:t>Cyclical deficit components phase out as output gap goes to zero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3432285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88DC-3DF3-0DDD-98BC-0D18EBCDB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07818"/>
            <a:ext cx="10261600" cy="6096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Inflation outlook </a:t>
            </a:r>
            <a:r>
              <a:rPr lang="en-US" dirty="0"/>
              <a:t>(overview)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F341B1-8569-6382-12CE-9A6DEAC1A2CB}"/>
              </a:ext>
            </a:extLst>
          </p:cNvPr>
          <p:cNvSpPr txBox="1"/>
          <p:nvPr/>
        </p:nvSpPr>
        <p:spPr>
          <a:xfrm>
            <a:off x="5791201" y="1129844"/>
            <a:ext cx="6400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decline in q-on-q inflation translates into less fast drop in y-on-y inflation, estimated to peak in Q4 2022 and dropping to below 5% in Q1 2024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 MT" panose="020B0502020104020203" pitchFamily="34" charset="0"/>
                <a:ea typeface="Calibri" panose="020F0502020204030204" pitchFamily="34" charset="0"/>
              </a:rPr>
              <a:t>all components drop, while drop in food prices contributes most</a:t>
            </a:r>
            <a:endParaRPr lang="en-GB" sz="1800" dirty="0">
              <a:latin typeface="Gill Sans MT" panose="020B0502020104020203" pitchFamily="34" charset="0"/>
              <a:ea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201358-B5C8-53BA-0F80-856B6C8536EC}"/>
              </a:ext>
            </a:extLst>
          </p:cNvPr>
          <p:cNvSpPr txBox="1"/>
          <p:nvPr/>
        </p:nvSpPr>
        <p:spPr>
          <a:xfrm>
            <a:off x="2438400" y="4876800"/>
            <a:ext cx="609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230547-2FD4-A2EA-FD07-BDD7EA5A3B52}"/>
              </a:ext>
            </a:extLst>
          </p:cNvPr>
          <p:cNvSpPr txBox="1"/>
          <p:nvPr/>
        </p:nvSpPr>
        <p:spPr>
          <a:xfrm rot="10800000" flipV="1">
            <a:off x="0" y="4575754"/>
            <a:ext cx="5638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Headline CPI 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q-on-q annualized inflation is forecast to decline gradually in 2023 after peak in Q2 2022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GB" sz="1800" dirty="0">
                <a:latin typeface="Gill Sans MT" panose="020B0502020104020203" pitchFamily="34" charset="0"/>
                <a:ea typeface="Calibri" panose="020F0502020204030204" pitchFamily="34" charset="0"/>
              </a:rPr>
              <a:t>predicated on recent shocks abating and inflation expectations being countered by NBR action and fiscal restraint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dirty="0">
              <a:latin typeface="Gill Sans MT" panose="020B05020201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1487C8-65B7-E277-AF5B-B47ADDB54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30" y="1129844"/>
            <a:ext cx="5162034" cy="31512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ED2779-0EE9-790F-B3FB-E2FB0C5A8D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2322916"/>
            <a:ext cx="6070599" cy="410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504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Core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72206" y="5046201"/>
            <a:ext cx="5542793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core down from peak 2022 Q4; 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down-pull effect from remaining output gap disappearing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strong effect of expectations and persistence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direct effect of import prices as ~ constant in RWF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019800" y="1219200"/>
            <a:ext cx="609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CPI core: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prices continue declining for most of 2023-26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144837-B4B7-A234-1CAB-9C1C0CF50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104900"/>
            <a:ext cx="5486401" cy="37821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4001D8-57F6-BCEB-CE12-AF644230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60529"/>
            <a:ext cx="6019800" cy="462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847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33106"/>
            <a:ext cx="10261600" cy="681294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Food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5221689"/>
            <a:ext cx="6019800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food down from peak in 2022 Q4;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agricultural output is forecast to normalize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food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477000" y="1295401"/>
            <a:ext cx="5717023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of foreign prices and ER on food CPI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E4C541-8B2F-9A0C-B01E-CEB896094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219200"/>
            <a:ext cx="5943599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BCFC4E-EC57-AD08-2824-4642FC3FE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8776" y="2514600"/>
            <a:ext cx="5717023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15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754702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Energy inflation </a:t>
            </a:r>
            <a:r>
              <a:rPr lang="en-US" dirty="0"/>
              <a:t>(q-on-q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9" y="5462951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CPI energy down from peak in 2022 Q2; main drivers: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imported energy prices projected to continue declining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offsetting effect of lessening RER overvaluation (faster depr.)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6172200" y="1066800"/>
            <a:ext cx="5943600" cy="1033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Direct effect foreign import prices and ER on energy CPI: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energy prices continue declining for most of 2023-26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depreciation raises RWF prices, but net direct effect is small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B1E5A0-0812-B8C8-60D7-D7A675CC4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1101251"/>
            <a:ext cx="5943601" cy="4243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0820990-83DC-B956-2C96-089655EE94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399" y="2209799"/>
            <a:ext cx="5867401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714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418" y="228600"/>
            <a:ext cx="10261600" cy="672015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Policy interest rate </a:t>
            </a:r>
            <a:r>
              <a:rPr lang="en-US" dirty="0"/>
              <a:t>(interbank rate, IB)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0" y="4631985"/>
            <a:ext cx="5715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influenced by NBR with its CBR: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followed closely the 2% points CBR increases in 2022,, enacted to combat inflation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IB forecast to go down after peak in Q1 2023 given falling inflation and still high and rising output gap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from 2024, back to trend driven by a ‘neutral’ rate of </a:t>
            </a:r>
            <a:r>
              <a:rPr lang="en-US" sz="1600" u="sng" dirty="0">
                <a:latin typeface="Gill Sans MT" panose="020B0502020104020203" pitchFamily="34" charset="0"/>
              </a:rPr>
              <a:t>almost </a:t>
            </a:r>
            <a:r>
              <a:rPr lang="en-US" sz="1600" dirty="0">
                <a:latin typeface="Gill Sans MT" panose="020B0502020104020203" pitchFamily="34" charset="0"/>
              </a:rPr>
              <a:t>7%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increased policy rate should raise RIR and stem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10200" y="1234550"/>
            <a:ext cx="6705601" cy="140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Policy rate (IB) driven by  rule: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responding to both inflation deviation (from 5% target) and the output gap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gradual interest rate changes (lagged effect)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pulled to ‘neutral’ rate of 7% (foreign real rate, country risk, core inflation)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86877D-653C-2ABB-FED3-710BDF6C3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174" y="2743200"/>
            <a:ext cx="6477000" cy="40386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ACDDEE-DF60-E8F1-519D-BE3EC7045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143001"/>
            <a:ext cx="44577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156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interest rate </a:t>
            </a:r>
            <a:r>
              <a:rPr lang="en-US" dirty="0"/>
              <a:t>(RIR) (policy and lending rates)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2396" y="4614287"/>
            <a:ext cx="579120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(~ core-inflation one Q ahead)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continue rising and become positive from mid-2023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thus, correcting sharply below-trend levels since late 2021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2024, drops to zero as inflation a bit above target (as deficit and govt demand go back up to steady state levels)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then returning toward trend and ‘neutral’ rate of some 2%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real lending rate (including </a:t>
            </a:r>
            <a:r>
              <a:rPr lang="en-US" sz="1600" u="sng" dirty="0">
                <a:latin typeface="Gill Sans MT" panose="020B0502020104020203" pitchFamily="34" charset="0"/>
              </a:rPr>
              <a:t>~ </a:t>
            </a:r>
            <a:r>
              <a:rPr lang="en-US" sz="1600" dirty="0">
                <a:latin typeface="Gill Sans MT" panose="020B0502020104020203" pitchFamily="34" charset="0"/>
              </a:rPr>
              <a:t>8% premium) also back to trend. ending the pull-up effect on private demand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867400" y="1109086"/>
            <a:ext cx="632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RIR policy rate (IB) components: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drop due to inflation surge in 2022, RIR starts rising from mid-2022 as policy rate increases and (expected) inflation declines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overshoots RIR trend (2%) a bit in 2023 as inflation drops fast, then undershoots RIR trend a bit as inflation temporarily above target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DAF04-C0EE-6F27-17A3-B29958E0B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7" y="1234551"/>
            <a:ext cx="5410200" cy="3185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ECEA59-7406-29B2-8008-140166F67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514599"/>
            <a:ext cx="5867400" cy="434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1529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Nominal exchange rate </a:t>
            </a:r>
            <a:r>
              <a:rPr lang="en-US" dirty="0"/>
              <a:t>(ER)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15498" y="4642786"/>
            <a:ext cx="50899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ER policy reflected in forecast: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reflects NBR’s flexible ER policy, and hybrid rule: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ER steered toward target ER so that RER gradually falls in line with its target or trend depreciation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some response to domestic-foreign interest differentials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in 2023, before ER steered back to 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Gill Sans MT" panose="020B0502020104020203" pitchFamily="34" charset="0"/>
              </a:rPr>
              <a:t>trend depreciation rate converges to </a:t>
            </a:r>
            <a:r>
              <a:rPr lang="en-US" sz="1600" u="sng" dirty="0">
                <a:latin typeface="Gill Sans MT" panose="020B0502020104020203" pitchFamily="34" charset="0"/>
              </a:rPr>
              <a:t>3</a:t>
            </a:r>
            <a:r>
              <a:rPr lang="en-US" sz="1600" dirty="0">
                <a:latin typeface="Gill Sans MT" panose="020B0502020104020203" pitchFamily="34" charset="0"/>
              </a:rPr>
              <a:t>% p.y.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486400" y="1234550"/>
            <a:ext cx="6705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Exchange rate policy “rule” </a:t>
            </a:r>
            <a:endParaRPr lang="en-GB" sz="1600" dirty="0">
              <a:solidFill>
                <a:srgbClr val="FF0000"/>
              </a:solidFill>
              <a:latin typeface="Gill Sans MT" panose="020B0502020104020203" pitchFamily="34" charset="0"/>
              <a:ea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mainly driven by nominal ER target, expectations, and somewhat by domestic-foreign interest rate differentials.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ER target driven by trend RER depr. rate (0%) and inflation differential (2%)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56A8E1-5DF8-32EC-5444-F4E23372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49" y="1234551"/>
            <a:ext cx="4800598" cy="303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D219298-36DB-6A98-5359-F42D4F03AEE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5334000" y="2425325"/>
            <a:ext cx="6431282" cy="4023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3657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/>
              <a:t>Forecast—</a:t>
            </a:r>
            <a:r>
              <a:rPr lang="en-US" b="1" dirty="0"/>
              <a:t>Real exchange rate </a:t>
            </a:r>
            <a:r>
              <a:rPr lang="en-US" dirty="0"/>
              <a:t>(RER, q-on-q change annualized)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-76200" y="4687379"/>
            <a:ext cx="5892798" cy="1895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results from ER, CPI_core and foreign CPI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forecast to switch from real appreciation in 2022 and early 2023 to real depreciation from mid-2023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returning toward trend RER depreciation rate (0%) thereafter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pull-down effect on demand (from RER appreciation in most of 2022) becomes pull-up from 2023 on as RER returns to trend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705685-DBBA-E6CC-D544-60AF0A780343}"/>
              </a:ext>
            </a:extLst>
          </p:cNvPr>
          <p:cNvSpPr txBox="1"/>
          <p:nvPr/>
        </p:nvSpPr>
        <p:spPr>
          <a:xfrm>
            <a:off x="5791200" y="1108299"/>
            <a:ext cx="6400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RER components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after sharp decline in RER since Q3 2021 as core inflation surged,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RER is forecast to increase from Q2 2023 on for several quarters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before returning to its trend (0%), with some temporary undershooting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83D265-9501-AA28-6E62-9D04CEC83870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304797" y="1219200"/>
            <a:ext cx="4724403" cy="34235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C0236-EC49-5EA7-37FA-0053643CE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9" y="2590800"/>
            <a:ext cx="6172201" cy="4300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0448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4EED9-CBB1-EE91-3038-6C7FEDA64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228600"/>
            <a:ext cx="10261600" cy="685800"/>
          </a:xfrm>
        </p:spPr>
        <p:txBody>
          <a:bodyPr anchor="b" anchorCtr="0"/>
          <a:lstStyle/>
          <a:p>
            <a:r>
              <a:rPr lang="en-GB" b="1" dirty="0">
                <a:latin typeface="Gill Sans MT" panose="020B0502020104020203" pitchFamily="34" charset="0"/>
              </a:rPr>
              <a:t>Summary of policy stance and forecast outlook</a:t>
            </a:r>
            <a:endParaRPr lang="en-AE" b="1" dirty="0">
              <a:latin typeface="Gill Sans MT" panose="020B05020201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DFE1AB-566B-84E0-11B3-DF3D9204B9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A61A70-5620-A72D-97D8-4EA8896A0C8F}"/>
              </a:ext>
            </a:extLst>
          </p:cNvPr>
          <p:cNvSpPr txBox="1"/>
          <p:nvPr/>
        </p:nvSpPr>
        <p:spPr>
          <a:xfrm>
            <a:off x="100632" y="1141627"/>
            <a:ext cx="11888168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Policy stance underlying the forecast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maintenance of recently increased policy interest rate (tuned for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somewhat faster rate of exchange rate depreciation in 2023 (tuned for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1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Calibri" panose="020F0502020204030204" pitchFamily="34" charset="0"/>
              </a:rPr>
              <a:t>reduction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fiscal deficit (before grants) to 12% of GDP in 2023Q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1-2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, then to 9.6% in </a:t>
            </a:r>
            <a:r>
              <a:rPr lang="en-US" sz="1800" dirty="0">
                <a:solidFill>
                  <a:srgbClr val="C00000"/>
                </a:solidFill>
                <a:effectLst/>
                <a:latin typeface="+mn-lt"/>
                <a:ea typeface="Calibri" panose="020F0502020204030204" pitchFamily="34" charset="0"/>
              </a:rPr>
              <a:t>2023/24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 (both tuned), then return to sustainable level of around 11% of GDP (unlike PCI, much lower deficit path through 2030)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p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ositive 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fiscal stance—2% of GDP on average </a:t>
            </a:r>
            <a:r>
              <a:rPr lang="en-US" sz="1800" dirty="0">
                <a:latin typeface="+mn-lt"/>
                <a:ea typeface="Calibri" panose="020F0502020204030204" pitchFamily="34" charset="0"/>
              </a:rPr>
              <a:t>in 2019/20-2021/22</a:t>
            </a:r>
            <a:r>
              <a:rPr lang="en-US" sz="1800" dirty="0">
                <a:effectLst/>
                <a:latin typeface="+mn-lt"/>
                <a:ea typeface="Calibri" panose="020F0502020204030204" pitchFamily="34" charset="0"/>
              </a:rPr>
              <a:t>—replaced by negative stance from 2022/23, then positive again in 2024/25 as deficit returns to sustainable level</a:t>
            </a:r>
            <a:endParaRPr lang="en-US" sz="1800" dirty="0"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of key macro indicators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RIR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forecast to rise (albeit from a low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negative level) and exert less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upward pressure on private demand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RER</a:t>
            </a:r>
            <a:r>
              <a:rPr lang="en-US" sz="2000" i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forecasted to have faster depreciation and affect positively domestic demand (and trade balance G&amp;S)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Headline inflation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(peaked in Q4 2022) forecast to decline gradually in 2023 as food and energy prices are forecast to continue falling from their peaks in 2d half of 2022; and to be close to 5% target from 2024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GDP growth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forecast to pick up to average 8.5% in 2023-24 before returning to its trend of 7.5% annually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Output back to potential </a:t>
            </a:r>
            <a:r>
              <a:rPr lang="en-US" sz="2000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as low (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albeit rising) RIR</a:t>
            </a:r>
            <a:r>
              <a:rPr lang="en-GB" sz="2000" dirty="0">
                <a:latin typeface="+mn-lt"/>
                <a:ea typeface="Calibri" panose="020F0502020204030204" pitchFamily="34" charset="0"/>
              </a:rPr>
              <a:t> and </a:t>
            </a:r>
            <a:r>
              <a:rPr lang="en-GB" sz="2000" dirty="0">
                <a:effectLst/>
                <a:latin typeface="+mn-lt"/>
                <a:ea typeface="Calibri" panose="020F0502020204030204" pitchFamily="34" charset="0"/>
              </a:rPr>
              <a:t>rising (of albeit still low) RER, keep demand up; this is countered in 2022/23-2023/24 by temporarily lower deficit, and output is back to potential only in 2026</a:t>
            </a:r>
          </a:p>
          <a:p>
            <a:pPr>
              <a:spcAft>
                <a:spcPts val="600"/>
              </a:spcAft>
            </a:pPr>
            <a:r>
              <a:rPr lang="en-GB" sz="2000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Issue:</a:t>
            </a:r>
            <a:r>
              <a:rPr lang="en-GB" sz="2000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schemeClr val="accent2">
                    <a:lumMod val="50000"/>
                  </a:schemeClr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address volatility (govt demand, output, inflation…) by smoothen govt deficit closer to sustainable level ?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401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 Framework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BF6E41-DE78-E4C2-5B42-F06E9B94200E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7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304800"/>
            <a:ext cx="9728200" cy="5334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Comparison with Macroeconomic Framework (MF)</a:t>
            </a:r>
            <a:endParaRPr lang="en-AE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EC216E-2E2A-24C6-3CD9-FC63942760AD}"/>
              </a:ext>
            </a:extLst>
          </p:cNvPr>
          <p:cNvSpPr txBox="1"/>
          <p:nvPr/>
        </p:nvSpPr>
        <p:spPr>
          <a:xfrm>
            <a:off x="381000" y="1371600"/>
            <a:ext cx="11607800" cy="5135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002060"/>
                </a:solidFill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Illustrative comparison with April 2023 projection (PCI-RSF)</a:t>
            </a:r>
          </a:p>
          <a:p>
            <a:pPr algn="just">
              <a:lnSpc>
                <a:spcPct val="200000"/>
              </a:lnSpc>
            </a:pPr>
            <a:r>
              <a:rPr lang="en-US" dirty="0">
                <a:latin typeface="+mn-lt"/>
                <a:ea typeface="Calibri" panose="020F0502020204030204" pitchFamily="34" charset="0"/>
              </a:rPr>
              <a:t>compared to MF,  the annualized QMFM result has: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+mn-lt"/>
                <a:ea typeface="Calibri" panose="020F0502020204030204" pitchFamily="34" charset="0"/>
              </a:rPr>
              <a:t>lower volatility in final demand components, especially for consumption, investment and imports (MF needs consumption-savings checks)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average CPI inflation in 2023-24, as QMFM captures the impact of the large negative fiscal stance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lower ER depreciation from 2024, as it forecast zero RER depreciation in medium term</a:t>
            </a:r>
          </a:p>
          <a:p>
            <a:pPr>
              <a:spcAft>
                <a:spcPts val="600"/>
              </a:spcAft>
            </a:pPr>
            <a:r>
              <a:rPr lang="en-US" dirty="0">
                <a:latin typeface="+mn-lt"/>
                <a:ea typeface="Calibri" panose="020F0502020204030204" pitchFamily="34" charset="0"/>
              </a:rPr>
              <a:t> (MF has real depreciations each year in 2024-26, over 20% cumulatively; cp. to QMFM 6%)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  <a:ea typeface="Calibri" panose="020F0502020204030204" pitchFamily="34" charset="0"/>
              </a:rPr>
              <a:t>higher fiscal deficits from CY 2024—returning to sustainable level--while MF-PCI has deficit much below that for 5 years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638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E8807-BD6B-A3ED-9602-BE4FCBAB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927" y="228600"/>
            <a:ext cx="10457873" cy="762000"/>
          </a:xfrm>
        </p:spPr>
        <p:txBody>
          <a:bodyPr/>
          <a:lstStyle/>
          <a:p>
            <a:r>
              <a:rPr lang="en-GB" b="1" dirty="0">
                <a:latin typeface="Gill Sans MT" panose="020B0502020104020203" pitchFamily="34" charset="0"/>
              </a:rPr>
              <a:t>Alternative scenario: higher foreign food/oil prices </a:t>
            </a:r>
            <a:r>
              <a:rPr lang="en-GB" sz="2000" dirty="0">
                <a:latin typeface="Gill Sans MT" panose="020B0502020104020203" pitchFamily="34" charset="0"/>
              </a:rPr>
              <a:t>(2023-24)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FFE418-E4FE-37F1-555E-0751EC4B48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309FB4-CAA2-9888-339D-0BF98DAD9D8C}"/>
              </a:ext>
            </a:extLst>
          </p:cNvPr>
          <p:cNvSpPr txBox="1"/>
          <p:nvPr/>
        </p:nvSpPr>
        <p:spPr>
          <a:xfrm rot="10800000" flipV="1">
            <a:off x="76200" y="3995182"/>
            <a:ext cx="6095999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Higher-than-WEO foreign food and oil prices in 2023-24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foreign food and oil prices on average 25% higher than BL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with peak around end-2023, return to WEO levels from 2025</a:t>
            </a:r>
          </a:p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no change in fiscal policy</a:t>
            </a:r>
          </a:p>
          <a:p>
            <a:r>
              <a:rPr lang="en-GB" sz="1600" b="1" dirty="0">
                <a:solidFill>
                  <a:srgbClr val="00B0F0"/>
                </a:solidFill>
                <a:latin typeface="Gill Sans MT" panose="020B0502020104020203" pitchFamily="34" charset="0"/>
                <a:ea typeface="Calibri" panose="020F0502020204030204" pitchFamily="34" charset="0"/>
              </a:rPr>
              <a:t>Results in higher headline CPI, little or no effect on output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headline CPI temporarily higher, reflecting food/oil import shares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response policy rate, reversed fast as expected inflation drops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small positive effect on demand of lower RIR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mostly offset by negative effect of slightly more appreciated RER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latin typeface="Gill Sans MT" panose="020B0502020104020203" pitchFamily="34" charset="0"/>
              </a:rPr>
              <a:t>overall effect on GDP is very small, less than 0.2% 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B580BD2F-649E-60FA-633D-03324DE6B0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461146"/>
            <a:ext cx="2636649" cy="2501255"/>
          </a:xfrm>
          <a:prstGeom prst="rect">
            <a:avLst/>
          </a:prstGeom>
        </p:spPr>
      </p:pic>
      <p:pic>
        <p:nvPicPr>
          <p:cNvPr id="8" name="Picture 7" descr="Chart, line chart&#10;&#10;Description automatically generated">
            <a:extLst>
              <a:ext uri="{FF2B5EF4-FFF2-40B4-BE49-F238E27FC236}">
                <a16:creationId xmlns:a16="http://schemas.microsoft.com/office/drawing/2014/main" id="{889A9DE6-9BFC-6A53-38AD-C47A1425745E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1353" y="1461146"/>
            <a:ext cx="2643324" cy="2501256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F6EB5B70-CE75-4FDF-6C04-C834BE64F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199" y="1371601"/>
            <a:ext cx="2741474" cy="2856419"/>
          </a:xfrm>
          <a:prstGeom prst="rect">
            <a:avLst/>
          </a:prstGeom>
        </p:spPr>
      </p:pic>
      <p:pic>
        <p:nvPicPr>
          <p:cNvPr id="15" name="Picture 14" descr="Chart, line chart&#10;&#10;Description automatically generated">
            <a:extLst>
              <a:ext uri="{FF2B5EF4-FFF2-40B4-BE49-F238E27FC236}">
                <a16:creationId xmlns:a16="http://schemas.microsoft.com/office/drawing/2014/main" id="{02925C9B-2BDC-4C9B-9C7D-72DD591BE9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828" y="1600200"/>
            <a:ext cx="2655454" cy="2627820"/>
          </a:xfrm>
          <a:prstGeom prst="rect">
            <a:avLst/>
          </a:prstGeom>
        </p:spPr>
      </p:pic>
      <p:pic>
        <p:nvPicPr>
          <p:cNvPr id="18" name="Picture 17" descr="Chart, line chart&#10;&#10;Description automatically generated">
            <a:extLst>
              <a:ext uri="{FF2B5EF4-FFF2-40B4-BE49-F238E27FC236}">
                <a16:creationId xmlns:a16="http://schemas.microsoft.com/office/drawing/2014/main" id="{52BB3907-ABDC-4994-C0FA-C0740D7B4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397275"/>
            <a:ext cx="2895600" cy="2308325"/>
          </a:xfrm>
          <a:prstGeom prst="rect">
            <a:avLst/>
          </a:prstGeom>
        </p:spPr>
      </p:pic>
      <p:pic>
        <p:nvPicPr>
          <p:cNvPr id="19" name="Picture 18" descr="Chart, line chart&#10;&#10;Description automatically generated">
            <a:extLst>
              <a:ext uri="{FF2B5EF4-FFF2-40B4-BE49-F238E27FC236}">
                <a16:creationId xmlns:a16="http://schemas.microsoft.com/office/drawing/2014/main" id="{DA0C3106-E3A5-B8F3-5DA5-36C26B5C43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0716" y="4413645"/>
            <a:ext cx="2708084" cy="230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430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AC75-6C92-AB65-6348-00D2D6D8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0"/>
            <a:ext cx="9880600" cy="609600"/>
          </a:xfrm>
        </p:spPr>
        <p:txBody>
          <a:bodyPr/>
          <a:lstStyle/>
          <a:p>
            <a:r>
              <a:rPr lang="en-US" b="1" dirty="0"/>
              <a:t>QMFM: main relationships and transmission mechanisms </a:t>
            </a:r>
            <a:endParaRPr lang="en-AE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CDF8F7-7F5E-7D6D-E3E8-C142EB7C9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7AE203-F84D-4A7F-B161-8561326BE072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5B370B-B524-55B7-8DFA-989DF55857A6}"/>
              </a:ext>
            </a:extLst>
          </p:cNvPr>
          <p:cNvPicPr>
            <a:picLocks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9599"/>
            <a:ext cx="12192000" cy="6539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45581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65"/>
          <p:cNvSpPr>
            <a:spLocks noChangeArrowheads="1"/>
          </p:cNvSpPr>
          <p:nvPr/>
        </p:nvSpPr>
        <p:spPr bwMode="auto">
          <a:xfrm>
            <a:off x="1524001" y="4868025"/>
            <a:ext cx="184731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br>
              <a:rPr lang="en-GB" sz="900" dirty="0"/>
            </a:br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52600" y="1143001"/>
            <a:ext cx="8458200" cy="4078039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sz="3300" b="1" dirty="0">
              <a:solidFill>
                <a:schemeClr val="accent6">
                  <a:lumMod val="50000"/>
                </a:schemeClr>
              </a:solidFill>
              <a:latin typeface="Bookman Old Style" pitchFamily="18" charset="0"/>
              <a:cs typeface="Arial" pitchFamily="34" charset="0"/>
            </a:endParaRPr>
          </a:p>
          <a:p>
            <a:pPr algn="ctr">
              <a:defRPr/>
            </a:pPr>
            <a:endParaRPr lang="en-GB" sz="40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r>
              <a:rPr lang="en-GB" sz="3200" b="1" dirty="0">
                <a:solidFill>
                  <a:schemeClr val="accent4">
                    <a:lumMod val="75000"/>
                  </a:schemeClr>
                </a:solidFill>
                <a:latin typeface="+mn-lt"/>
              </a:rPr>
              <a:t>THANK YOU</a:t>
            </a:r>
          </a:p>
          <a:p>
            <a:pPr algn="ctr">
              <a:defRPr/>
            </a:pPr>
            <a:endParaRPr lang="en-GB" sz="3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>
              <a:defRPr/>
            </a:pPr>
            <a:endParaRPr lang="en-US" sz="3600" b="1" dirty="0">
              <a:latin typeface="Calibri" pitchFamily="34" charset="0"/>
              <a:cs typeface="Arial" pitchFamily="34" charset="0"/>
            </a:endParaRPr>
          </a:p>
          <a:p>
            <a:pPr algn="ctr">
              <a:defRPr/>
            </a:pPr>
            <a:endParaRPr lang="en-US" sz="4000" b="1" dirty="0">
              <a:solidFill>
                <a:schemeClr val="accent2">
                  <a:lumMod val="50000"/>
                </a:schemeClr>
              </a:solidFill>
              <a:latin typeface="Calibri" pitchFamily="34" charset="0"/>
              <a:cs typeface="Arial" pitchFamily="34" charset="0"/>
            </a:endParaRPr>
          </a:p>
          <a:p>
            <a:pPr algn="r">
              <a:defRPr/>
            </a:pPr>
            <a:endParaRPr lang="en-GB" i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defRPr/>
            </a:pPr>
            <a:endParaRPr lang="en-US" sz="2200" b="1" dirty="0">
              <a:latin typeface="Calibri" pitchFamily="34" charset="0"/>
              <a:cs typeface="Arial" pitchFamily="34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rot="10800000">
            <a:off x="2362200" y="3048000"/>
            <a:ext cx="7543800" cy="1588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016832"/>
      </p:ext>
    </p:extLst>
  </p:cSld>
  <p:clrMapOvr>
    <a:masterClrMapping/>
  </p:clrMapOvr>
</p:sld>
</file>

<file path=ppt/theme/theme1.xml><?xml version="1.0" encoding="utf-8"?>
<a:theme xmlns:a="http://schemas.openxmlformats.org/drawingml/2006/main" name="2_Origin">
  <a:themeElements>
    <a:clrScheme name="SPU colour scheme">
      <a:dk1>
        <a:sysClr val="windowText" lastClr="000000"/>
      </a:dk1>
      <a:lt1>
        <a:srgbClr val="FFFFFF"/>
      </a:lt1>
      <a:dk2>
        <a:srgbClr val="464653"/>
      </a:dk2>
      <a:lt2>
        <a:srgbClr val="DDE9EC"/>
      </a:lt2>
      <a:accent1>
        <a:srgbClr val="00B0F0"/>
      </a:accent1>
      <a:accent2>
        <a:srgbClr val="29C000"/>
      </a:accent2>
      <a:accent3>
        <a:srgbClr val="FFFF00"/>
      </a:accent3>
      <a:accent4>
        <a:srgbClr val="192EF7"/>
      </a:accent4>
      <a:accent5>
        <a:srgbClr val="F6C120"/>
      </a:accent5>
      <a:accent6>
        <a:srgbClr val="638BAD"/>
      </a:accent6>
      <a:hlink>
        <a:srgbClr val="518592"/>
      </a:hlink>
      <a:folHlink>
        <a:srgbClr val="7F7F7F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3552</Words>
  <Application>Microsoft Office PowerPoint</Application>
  <PresentationFormat>Widescreen</PresentationFormat>
  <Paragraphs>310</Paragraphs>
  <Slides>34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ＭＳ Ｐゴシック</vt:lpstr>
      <vt:lpstr>Arial</vt:lpstr>
      <vt:lpstr>Bookman Old Style</vt:lpstr>
      <vt:lpstr>Calibri</vt:lpstr>
      <vt:lpstr>Gill Sans MT</vt:lpstr>
      <vt:lpstr>Symbol</vt:lpstr>
      <vt:lpstr>Wingdings</vt:lpstr>
      <vt:lpstr>Wingdings 3</vt:lpstr>
      <vt:lpstr>2_Origin</vt:lpstr>
      <vt:lpstr>PowerPoint Presentation</vt:lpstr>
      <vt:lpstr>I. Rationale of Outlook &amp; underlying model</vt:lpstr>
      <vt:lpstr>1I. Recent macroeconomic developments (2019-23) new</vt:lpstr>
      <vt:lpstr>1I. Recent macroeconomic developments (2019-23) new</vt:lpstr>
      <vt:lpstr>1I. Recent macroeconomic developments (2019-23) new</vt:lpstr>
      <vt:lpstr>2. Current policy stance/initial condition new</vt:lpstr>
      <vt:lpstr>3. Forecast assumptions slightly revised</vt:lpstr>
      <vt:lpstr>External environment </vt:lpstr>
      <vt:lpstr>Domestic environment</vt:lpstr>
      <vt:lpstr>4. Summary of macroeconomic forecast  new</vt:lpstr>
      <vt:lpstr>5. Macroeconomic forecast narrative</vt:lpstr>
      <vt:lpstr>Forecast—Output and cyclical position (GDP growth)</vt:lpstr>
      <vt:lpstr>Forecast—cyclical total demand driving GDP</vt:lpstr>
      <vt:lpstr>Private consumption and cyclical position</vt:lpstr>
      <vt:lpstr>Private investment and cyclical position new</vt:lpstr>
      <vt:lpstr>Fiscal stance (i): govt demand for G&amp;S affects output directly</vt:lpstr>
      <vt:lpstr>  Fiscal stance (ii): fiscal impulse affects output via private demand</vt:lpstr>
      <vt:lpstr>Fiscal stance: govt demand and ‘fiscal impulse’─estimated effect on output</vt:lpstr>
      <vt:lpstr>Fiscal stance: deficit and its components (revenue, spending)</vt:lpstr>
      <vt:lpstr>Fiscal stance: deficit and its components (discretionary, cyclical, structural)</vt:lpstr>
      <vt:lpstr>Forecast—Inflation outlook (overview)</vt:lpstr>
      <vt:lpstr>Forecast—Core inflation (q-on-q annualized)</vt:lpstr>
      <vt:lpstr>Forecast—Food inflation (q-on-q annualized)</vt:lpstr>
      <vt:lpstr>Forecast—Energy inflation (q-on-q annualized)</vt:lpstr>
      <vt:lpstr>Forecast—Policy interest rate (interbank rate, IB)</vt:lpstr>
      <vt:lpstr>Forecast—Real interest rate (RIR) (policy and lending rates)</vt:lpstr>
      <vt:lpstr>Forecast—Nominal exchange rate (ER)</vt:lpstr>
      <vt:lpstr>Forecast—Real exchange rate (RER, q-on-q change annualized)</vt:lpstr>
      <vt:lpstr>Summary of policy stance and forecast outlook</vt:lpstr>
      <vt:lpstr>Comparison with Macro Framework</vt:lpstr>
      <vt:lpstr>Comparison with Macroeconomic Framework (MF)</vt:lpstr>
      <vt:lpstr>Alternative scenario: higher foreign food/oil prices (2023-24)</vt:lpstr>
      <vt:lpstr>QMFM: main relationships and transmission mechanisms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Swadiq ISHIMWE</dc:creator>
  <cp:lastModifiedBy>Swadiq ISHIMWE</cp:lastModifiedBy>
  <cp:revision>14</cp:revision>
  <dcterms:modified xsi:type="dcterms:W3CDTF">2024-01-24T15:06:20Z</dcterms:modified>
</cp:coreProperties>
</file>