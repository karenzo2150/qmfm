
<file path=[Content_Types].xml><?xml version="1.0" encoding="utf-8"?>
<Types xmlns="http://schemas.openxmlformats.org/package/2006/content-types">
  <Default Extension="png" ContentType="image/png"/>
  <Default Extension="tmp" ContentType="image/png"/>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comment3.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bookmarkIdSeed="3">
  <p:sldMasterIdLst>
    <p:sldMasterId id="2147483716" r:id="rId1"/>
  </p:sldMasterIdLst>
  <p:notesMasterIdLst>
    <p:notesMasterId r:id="rId29"/>
  </p:notesMasterIdLst>
  <p:handoutMasterIdLst>
    <p:handoutMasterId r:id="rId30"/>
  </p:handoutMasterIdLst>
  <p:sldIdLst>
    <p:sldId id="540" r:id="rId2"/>
    <p:sldId id="547" r:id="rId3"/>
    <p:sldId id="553" r:id="rId4"/>
    <p:sldId id="511" r:id="rId5"/>
    <p:sldId id="554" r:id="rId6"/>
    <p:sldId id="555" r:id="rId7"/>
    <p:sldId id="548" r:id="rId8"/>
    <p:sldId id="560" r:id="rId9"/>
    <p:sldId id="512" r:id="rId10"/>
    <p:sldId id="516" r:id="rId11"/>
    <p:sldId id="549" r:id="rId12"/>
    <p:sldId id="552" r:id="rId13"/>
    <p:sldId id="513" r:id="rId14"/>
    <p:sldId id="515" r:id="rId15"/>
    <p:sldId id="514" r:id="rId16"/>
    <p:sldId id="551" r:id="rId17"/>
    <p:sldId id="517" r:id="rId18"/>
    <p:sldId id="541" r:id="rId19"/>
    <p:sldId id="544" r:id="rId20"/>
    <p:sldId id="557" r:id="rId21"/>
    <p:sldId id="559" r:id="rId22"/>
    <p:sldId id="558" r:id="rId23"/>
    <p:sldId id="523" r:id="rId24"/>
    <p:sldId id="536" r:id="rId25"/>
    <p:sldId id="535" r:id="rId26"/>
    <p:sldId id="531" r:id="rId27"/>
    <p:sldId id="545" r:id="rId28"/>
  </p:sldIdLst>
  <p:sldSz cx="12192000" cy="6858000"/>
  <p:notesSz cx="7102475" cy="9388475"/>
  <p:defaultTextStyle>
    <a:defPPr>
      <a:defRPr lang="en-US"/>
    </a:defPPr>
    <a:lvl1pPr algn="l" rtl="0" fontAlgn="base">
      <a:spcBef>
        <a:spcPct val="0"/>
      </a:spcBef>
      <a:spcAft>
        <a:spcPct val="0"/>
      </a:spcAft>
      <a:defRPr sz="2400" kern="1200">
        <a:solidFill>
          <a:schemeClr val="tx1"/>
        </a:solidFill>
        <a:latin typeface="Arial" charset="0"/>
        <a:ea typeface="ＭＳ Ｐゴシック" charset="-128"/>
        <a:cs typeface="+mn-cs"/>
      </a:defRPr>
    </a:lvl1pPr>
    <a:lvl2pPr marL="457200" algn="l" rtl="0" fontAlgn="base">
      <a:spcBef>
        <a:spcPct val="0"/>
      </a:spcBef>
      <a:spcAft>
        <a:spcPct val="0"/>
      </a:spcAft>
      <a:defRPr sz="2400" kern="1200">
        <a:solidFill>
          <a:schemeClr val="tx1"/>
        </a:solidFill>
        <a:latin typeface="Arial" charset="0"/>
        <a:ea typeface="ＭＳ Ｐゴシック" charset="-128"/>
        <a:cs typeface="+mn-cs"/>
      </a:defRPr>
    </a:lvl2pPr>
    <a:lvl3pPr marL="914400" algn="l" rtl="0" fontAlgn="base">
      <a:spcBef>
        <a:spcPct val="0"/>
      </a:spcBef>
      <a:spcAft>
        <a:spcPct val="0"/>
      </a:spcAft>
      <a:defRPr sz="2400" kern="1200">
        <a:solidFill>
          <a:schemeClr val="tx1"/>
        </a:solidFill>
        <a:latin typeface="Arial" charset="0"/>
        <a:ea typeface="ＭＳ Ｐゴシック" charset="-128"/>
        <a:cs typeface="+mn-cs"/>
      </a:defRPr>
    </a:lvl3pPr>
    <a:lvl4pPr marL="1371600" algn="l" rtl="0" fontAlgn="base">
      <a:spcBef>
        <a:spcPct val="0"/>
      </a:spcBef>
      <a:spcAft>
        <a:spcPct val="0"/>
      </a:spcAft>
      <a:defRPr sz="2400" kern="1200">
        <a:solidFill>
          <a:schemeClr val="tx1"/>
        </a:solidFill>
        <a:latin typeface="Arial" charset="0"/>
        <a:ea typeface="ＭＳ Ｐゴシック" charset="-128"/>
        <a:cs typeface="+mn-cs"/>
      </a:defRPr>
    </a:lvl4pPr>
    <a:lvl5pPr marL="1828800" algn="l" rtl="0" fontAlgn="base">
      <a:spcBef>
        <a:spcPct val="0"/>
      </a:spcBef>
      <a:spcAft>
        <a:spcPct val="0"/>
      </a:spcAft>
      <a:defRPr sz="2400" kern="1200">
        <a:solidFill>
          <a:schemeClr val="tx1"/>
        </a:solidFill>
        <a:latin typeface="Arial" charset="0"/>
        <a:ea typeface="ＭＳ Ｐゴシック" charset="-128"/>
        <a:cs typeface="+mn-cs"/>
      </a:defRPr>
    </a:lvl5pPr>
    <a:lvl6pPr marL="2286000" algn="l" defTabSz="914400" rtl="0" eaLnBrk="1" latinLnBrk="0" hangingPunct="1">
      <a:defRPr sz="2400" kern="1200">
        <a:solidFill>
          <a:schemeClr val="tx1"/>
        </a:solidFill>
        <a:latin typeface="Arial" charset="0"/>
        <a:ea typeface="ＭＳ Ｐゴシック" charset="-128"/>
        <a:cs typeface="+mn-cs"/>
      </a:defRPr>
    </a:lvl6pPr>
    <a:lvl7pPr marL="2743200" algn="l" defTabSz="914400" rtl="0" eaLnBrk="1" latinLnBrk="0" hangingPunct="1">
      <a:defRPr sz="2400" kern="1200">
        <a:solidFill>
          <a:schemeClr val="tx1"/>
        </a:solidFill>
        <a:latin typeface="Arial" charset="0"/>
        <a:ea typeface="ＭＳ Ｐゴシック" charset="-128"/>
        <a:cs typeface="+mn-cs"/>
      </a:defRPr>
    </a:lvl7pPr>
    <a:lvl8pPr marL="3200400" algn="l" defTabSz="914400" rtl="0" eaLnBrk="1" latinLnBrk="0" hangingPunct="1">
      <a:defRPr sz="2400" kern="1200">
        <a:solidFill>
          <a:schemeClr val="tx1"/>
        </a:solidFill>
        <a:latin typeface="Arial" charset="0"/>
        <a:ea typeface="ＭＳ Ｐゴシック" charset="-128"/>
        <a:cs typeface="+mn-cs"/>
      </a:defRPr>
    </a:lvl8pPr>
    <a:lvl9pPr marL="3657600" algn="l" defTabSz="914400" rtl="0" eaLnBrk="1" latinLnBrk="0" hangingPunct="1">
      <a:defRPr sz="2400" kern="1200">
        <a:solidFill>
          <a:schemeClr val="tx1"/>
        </a:solidFill>
        <a:latin typeface="Arial" charset="0"/>
        <a:ea typeface="ＭＳ Ｐゴシック" charset="-128"/>
        <a:cs typeface="+mn-cs"/>
      </a:defRPr>
    </a:lvl9pPr>
  </p:defaultTextStyle>
  <p:extLst>
    <p:ext uri="{521415D9-36F7-43E2-AB2F-B90AF26B5E84}">
      <p14:sectionLst xmlns:p14="http://schemas.microsoft.com/office/powerpoint/2010/main">
        <p14:section name="Default Section" id="{4EFA106F-A1D2-4A8C-B134-8F2A12C21D33}">
          <p14:sldIdLst>
            <p14:sldId id="540"/>
            <p14:sldId id="547"/>
            <p14:sldId id="553"/>
            <p14:sldId id="511"/>
            <p14:sldId id="554"/>
            <p14:sldId id="555"/>
            <p14:sldId id="548"/>
            <p14:sldId id="560"/>
            <p14:sldId id="512"/>
            <p14:sldId id="516"/>
            <p14:sldId id="549"/>
            <p14:sldId id="552"/>
            <p14:sldId id="513"/>
            <p14:sldId id="515"/>
            <p14:sldId id="514"/>
            <p14:sldId id="551"/>
            <p14:sldId id="517"/>
            <p14:sldId id="541"/>
            <p14:sldId id="544"/>
            <p14:sldId id="557"/>
            <p14:sldId id="559"/>
            <p14:sldId id="558"/>
            <p14:sldId id="523"/>
            <p14:sldId id="536"/>
            <p14:sldId id="535"/>
            <p14:sldId id="531"/>
            <p14:sldId id="54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57" userDrawn="1">
          <p15:clr>
            <a:srgbClr val="A4A3A4"/>
          </p15:clr>
        </p15:guide>
        <p15:guide id="2" pos="223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56D2716-681C-0ED8-9BD4-37117C3B4FB8}" name="arend Kouwenaar" initials="aK" userId="adbbcea973320f35" providerId="Windows Live"/>
  <p188:author id="{FE78AC8B-25A4-2FA1-255B-A2BA7B6FF7E8}" name="Manirumva, Evariste" initials="ME" userId="S::emanirumva@icipe.org::fbb618da-2b8a-4a66-b30b-f0e53196d74f" providerId="AD"/>
  <p188:author id="{D5143AD7-E749-5E1E-371D-A585C0C727CD}" name="User" initials="U" userId="User"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variste MANIRUMVA" initials="EM" lastIdx="3" clrIdx="0">
    <p:extLst>
      <p:ext uri="{19B8F6BF-5375-455C-9EA6-DF929625EA0E}">
        <p15:presenceInfo xmlns:p15="http://schemas.microsoft.com/office/powerpoint/2012/main" userId="S-1-5-21-367653040-3284563744-1480659140-55151" providerId="AD"/>
      </p:ext>
    </p:extLst>
  </p:cmAuthor>
  <p:cmAuthor id="2" name="didier.tabaro" initials="d" lastIdx="3" clrIdx="1">
    <p:extLst>
      <p:ext uri="{19B8F6BF-5375-455C-9EA6-DF929625EA0E}">
        <p15:presenceInfo xmlns:p15="http://schemas.microsoft.com/office/powerpoint/2012/main" userId="S-1-5-21-367653040-3284563744-1480659140-599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BC0A"/>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71" autoAdjust="0"/>
    <p:restoredTop sz="95788" autoAdjust="0"/>
  </p:normalViewPr>
  <p:slideViewPr>
    <p:cSldViewPr>
      <p:cViewPr varScale="1">
        <p:scale>
          <a:sx n="80" d="100"/>
          <a:sy n="80" d="100"/>
        </p:scale>
        <p:origin x="43" y="228"/>
      </p:cViewPr>
      <p:guideLst>
        <p:guide orient="horz" pos="2160"/>
        <p:guide pos="3840"/>
      </p:guideLst>
    </p:cSldViewPr>
  </p:slideViewPr>
  <p:outlineViewPr>
    <p:cViewPr>
      <p:scale>
        <a:sx n="33" d="100"/>
        <a:sy n="33" d="100"/>
      </p:scale>
      <p:origin x="0" y="558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76" d="100"/>
          <a:sy n="76" d="100"/>
        </p:scale>
        <p:origin x="-2196" y="-102"/>
      </p:cViewPr>
      <p:guideLst>
        <p:guide orient="horz" pos="2957"/>
        <p:guide pos="223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01-25T11:27:18.081" idx="2">
    <p:pos x="6336" y="720"/>
    <p:text>Gdem gap and gdem_y %GDP which one potrays fiscal policy better?</p:text>
    <p:extLst>
      <p:ext uri="{C676402C-5697-4E1C-873F-D02D1690AC5C}">
        <p15:threadingInfo xmlns:p15="http://schemas.microsoft.com/office/powerpoint/2012/main" timeZoneBias="-120"/>
      </p:ext>
    </p:extLst>
  </p:cm>
  <p:cm authorId="2" dt="2024-01-28T13:58:40.396" idx="1">
    <p:pos x="6336" y="816"/>
    <p:text>as we are discribing development % GDP would suit better</p:text>
    <p:extLst>
      <p:ext uri="{C676402C-5697-4E1C-873F-D02D1690AC5C}">
        <p15:threadingInfo xmlns:p15="http://schemas.microsoft.com/office/powerpoint/2012/main" timeZoneBias="-120">
          <p15:parentCm authorId="1" idx="2"/>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4-01-28T14:31:42.218" idx="3">
    <p:pos x="5568" y="744"/>
    <p:text>I suggest we keep gap level, gap contributions and growth decomposition.</p:text>
    <p:extLst>
      <p:ext uri="{C676402C-5697-4E1C-873F-D02D1690AC5C}">
        <p15:threadingInfo xmlns:p15="http://schemas.microsoft.com/office/powerpoint/2012/main" timeZoneBias="-1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4-01-26T12:00:09.188" idx="3">
    <p:pos x="2669" y="2851"/>
    <p:text>why important? desirable to curb inflation?</p:text>
    <p:extLst>
      <p:ext uri="{C676402C-5697-4E1C-873F-D02D1690AC5C}">
        <p15:threadingInfo xmlns:p15="http://schemas.microsoft.com/office/powerpoint/2012/main" timeZoneBias="-120"/>
      </p:ext>
    </p:extLst>
  </p:cm>
</p:cmLst>
</file>

<file path=ppt/drawings/_rels/vmlDrawing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image" Target="../media/image2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5"/>
            <a:ext cx="3078382" cy="469587"/>
          </a:xfrm>
          <a:prstGeom prst="rect">
            <a:avLst/>
          </a:prstGeom>
        </p:spPr>
        <p:txBody>
          <a:bodyPr vert="horz" wrap="square" lIns="91433" tIns="45717" rIns="91433" bIns="45717" numCol="1" anchor="t" anchorCtr="0" compatLnSpc="1">
            <a:prstTxWarp prst="textNoShape">
              <a:avLst/>
            </a:prstTxWarp>
          </a:bodyPr>
          <a:lstStyle>
            <a:lvl1pPr>
              <a:defRPr sz="1200"/>
            </a:lvl1pPr>
          </a:lstStyle>
          <a:p>
            <a:endParaRPr lang="en-US" dirty="0"/>
          </a:p>
        </p:txBody>
      </p:sp>
      <p:sp>
        <p:nvSpPr>
          <p:cNvPr id="3" name="Date Placeholder 2"/>
          <p:cNvSpPr>
            <a:spLocks noGrp="1"/>
          </p:cNvSpPr>
          <p:nvPr>
            <p:ph type="dt" sz="quarter" idx="1"/>
          </p:nvPr>
        </p:nvSpPr>
        <p:spPr>
          <a:xfrm>
            <a:off x="4022491" y="5"/>
            <a:ext cx="3078382" cy="469587"/>
          </a:xfrm>
          <a:prstGeom prst="rect">
            <a:avLst/>
          </a:prstGeom>
        </p:spPr>
        <p:txBody>
          <a:bodyPr vert="horz" wrap="square" lIns="91433" tIns="45717" rIns="91433" bIns="45717" numCol="1" anchor="t" anchorCtr="0" compatLnSpc="1">
            <a:prstTxWarp prst="textNoShape">
              <a:avLst/>
            </a:prstTxWarp>
          </a:bodyPr>
          <a:lstStyle>
            <a:lvl1pPr algn="r">
              <a:defRPr sz="1200"/>
            </a:lvl1pPr>
          </a:lstStyle>
          <a:p>
            <a:fld id="{EC952391-E811-40BD-BF31-152F5CC3E0D7}" type="datetime1">
              <a:rPr lang="en-US"/>
              <a:pPr/>
              <a:t>1/28/2024</a:t>
            </a:fld>
            <a:endParaRPr lang="en-US" dirty="0"/>
          </a:p>
        </p:txBody>
      </p:sp>
      <p:sp>
        <p:nvSpPr>
          <p:cNvPr id="4" name="Footer Placeholder 3"/>
          <p:cNvSpPr>
            <a:spLocks noGrp="1"/>
          </p:cNvSpPr>
          <p:nvPr>
            <p:ph type="ftr" sz="quarter" idx="2"/>
          </p:nvPr>
        </p:nvSpPr>
        <p:spPr>
          <a:xfrm>
            <a:off x="7" y="8917280"/>
            <a:ext cx="3078382" cy="469587"/>
          </a:xfrm>
          <a:prstGeom prst="rect">
            <a:avLst/>
          </a:prstGeom>
        </p:spPr>
        <p:txBody>
          <a:bodyPr vert="horz" wrap="square" lIns="91433" tIns="45717" rIns="91433" bIns="45717" numCol="1" anchor="b" anchorCtr="0" compatLnSpc="1">
            <a:prstTxWarp prst="textNoShape">
              <a:avLst/>
            </a:prstTxWarp>
          </a:bodyPr>
          <a:lstStyle>
            <a:lvl1pPr>
              <a:defRPr sz="1200"/>
            </a:lvl1pPr>
          </a:lstStyle>
          <a:p>
            <a:endParaRPr lang="en-US" dirty="0"/>
          </a:p>
        </p:txBody>
      </p:sp>
      <p:sp>
        <p:nvSpPr>
          <p:cNvPr id="5" name="Slide Number Placeholder 4"/>
          <p:cNvSpPr>
            <a:spLocks noGrp="1"/>
          </p:cNvSpPr>
          <p:nvPr>
            <p:ph type="sldNum" sz="quarter" idx="3"/>
          </p:nvPr>
        </p:nvSpPr>
        <p:spPr>
          <a:xfrm>
            <a:off x="4022491" y="8917280"/>
            <a:ext cx="3078382" cy="469587"/>
          </a:xfrm>
          <a:prstGeom prst="rect">
            <a:avLst/>
          </a:prstGeom>
        </p:spPr>
        <p:txBody>
          <a:bodyPr vert="horz" wrap="square" lIns="91433" tIns="45717" rIns="91433" bIns="45717" numCol="1" anchor="b" anchorCtr="0" compatLnSpc="1">
            <a:prstTxWarp prst="textNoShape">
              <a:avLst/>
            </a:prstTxWarp>
          </a:bodyPr>
          <a:lstStyle>
            <a:lvl1pPr algn="r">
              <a:defRPr sz="1200"/>
            </a:lvl1pPr>
          </a:lstStyle>
          <a:p>
            <a:fld id="{5C8EE828-0B52-48BD-AC30-C13AE1823DC9}" type="slidenum">
              <a:rPr lang="en-US"/>
              <a:pPr/>
              <a:t>‹#›</a:t>
            </a:fld>
            <a:endParaRPr lang="en-US" dirty="0"/>
          </a:p>
        </p:txBody>
      </p:sp>
    </p:spTree>
    <p:extLst>
      <p:ext uri="{BB962C8B-B14F-4D97-AF65-F5344CB8AC3E}">
        <p14:creationId xmlns:p14="http://schemas.microsoft.com/office/powerpoint/2010/main" val="39525950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5"/>
            <a:ext cx="3078382" cy="469587"/>
          </a:xfrm>
          <a:prstGeom prst="rect">
            <a:avLst/>
          </a:prstGeom>
        </p:spPr>
        <p:txBody>
          <a:bodyPr vert="horz" wrap="square" lIns="92823" tIns="46413" rIns="92823" bIns="46413" numCol="1" anchor="t" anchorCtr="0" compatLnSpc="1">
            <a:prstTxWarp prst="textNoShape">
              <a:avLst/>
            </a:prstTxWarp>
          </a:bodyPr>
          <a:lstStyle>
            <a:lvl1pPr>
              <a:defRPr sz="1200">
                <a:latin typeface="Calibri" charset="0"/>
              </a:defRPr>
            </a:lvl1pPr>
          </a:lstStyle>
          <a:p>
            <a:endParaRPr lang="en-US" dirty="0"/>
          </a:p>
        </p:txBody>
      </p:sp>
      <p:sp>
        <p:nvSpPr>
          <p:cNvPr id="3" name="Date Placeholder 2"/>
          <p:cNvSpPr>
            <a:spLocks noGrp="1"/>
          </p:cNvSpPr>
          <p:nvPr>
            <p:ph type="dt" idx="1"/>
          </p:nvPr>
        </p:nvSpPr>
        <p:spPr>
          <a:xfrm>
            <a:off x="4022491" y="5"/>
            <a:ext cx="3078382" cy="469587"/>
          </a:xfrm>
          <a:prstGeom prst="rect">
            <a:avLst/>
          </a:prstGeom>
        </p:spPr>
        <p:txBody>
          <a:bodyPr vert="horz" wrap="square" lIns="92823" tIns="46413" rIns="92823" bIns="46413" numCol="1" anchor="t" anchorCtr="0" compatLnSpc="1">
            <a:prstTxWarp prst="textNoShape">
              <a:avLst/>
            </a:prstTxWarp>
          </a:bodyPr>
          <a:lstStyle>
            <a:lvl1pPr algn="r">
              <a:defRPr sz="1200">
                <a:latin typeface="Calibri" charset="0"/>
              </a:defRPr>
            </a:lvl1pPr>
          </a:lstStyle>
          <a:p>
            <a:fld id="{91EC5310-AD28-478C-9D1F-55544C92CB9A}" type="datetime1">
              <a:rPr lang="en-US"/>
              <a:pPr/>
              <a:t>1/28/2024</a:t>
            </a:fld>
            <a:endParaRPr lang="en-US" dirty="0"/>
          </a:p>
        </p:txBody>
      </p:sp>
      <p:sp>
        <p:nvSpPr>
          <p:cNvPr id="4" name="Slide Image Placeholder 3"/>
          <p:cNvSpPr>
            <a:spLocks noGrp="1" noRot="1" noChangeAspect="1"/>
          </p:cNvSpPr>
          <p:nvPr>
            <p:ph type="sldImg" idx="2"/>
          </p:nvPr>
        </p:nvSpPr>
        <p:spPr>
          <a:xfrm>
            <a:off x="420688" y="704850"/>
            <a:ext cx="6261100" cy="3521075"/>
          </a:xfrm>
          <a:prstGeom prst="rect">
            <a:avLst/>
          </a:prstGeom>
          <a:noFill/>
          <a:ln w="12700">
            <a:solidFill>
              <a:prstClr val="black"/>
            </a:solidFill>
          </a:ln>
        </p:spPr>
        <p:txBody>
          <a:bodyPr vert="horz" wrap="square" lIns="92823" tIns="46413" rIns="92823" bIns="46413" numCol="1" anchor="ctr" anchorCtr="0" compatLnSpc="1">
            <a:prstTxWarp prst="textNoShape">
              <a:avLst/>
            </a:prstTxWarp>
          </a:bodyPr>
          <a:lstStyle/>
          <a:p>
            <a:pPr lvl="0"/>
            <a:endParaRPr lang="en-US" dirty="0"/>
          </a:p>
        </p:txBody>
      </p:sp>
      <p:sp>
        <p:nvSpPr>
          <p:cNvPr id="5" name="Notes Placeholder 4"/>
          <p:cNvSpPr>
            <a:spLocks noGrp="1"/>
          </p:cNvSpPr>
          <p:nvPr>
            <p:ph type="body" sz="quarter" idx="3"/>
          </p:nvPr>
        </p:nvSpPr>
        <p:spPr>
          <a:xfrm>
            <a:off x="710893" y="4460256"/>
            <a:ext cx="5680694" cy="4224651"/>
          </a:xfrm>
          <a:prstGeom prst="rect">
            <a:avLst/>
          </a:prstGeom>
        </p:spPr>
        <p:txBody>
          <a:bodyPr vert="horz" wrap="square" lIns="92823" tIns="46413" rIns="92823" bIns="46413" numCol="1" anchor="t" anchorCtr="0" compatLnSpc="1">
            <a:prstTxWarp prst="textNoShape">
              <a:avLst/>
            </a:prstTxWarp>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7" y="8917280"/>
            <a:ext cx="3078382" cy="469587"/>
          </a:xfrm>
          <a:prstGeom prst="rect">
            <a:avLst/>
          </a:prstGeom>
        </p:spPr>
        <p:txBody>
          <a:bodyPr vert="horz" wrap="square" lIns="92823" tIns="46413" rIns="92823" bIns="46413" numCol="1" anchor="b" anchorCtr="0" compatLnSpc="1">
            <a:prstTxWarp prst="textNoShape">
              <a:avLst/>
            </a:prstTxWarp>
          </a:bodyPr>
          <a:lstStyle>
            <a:lvl1pPr>
              <a:defRPr sz="1200">
                <a:latin typeface="Calibri" charset="0"/>
              </a:defRPr>
            </a:lvl1pPr>
          </a:lstStyle>
          <a:p>
            <a:endParaRPr lang="en-US" dirty="0"/>
          </a:p>
        </p:txBody>
      </p:sp>
      <p:sp>
        <p:nvSpPr>
          <p:cNvPr id="7" name="Slide Number Placeholder 6"/>
          <p:cNvSpPr>
            <a:spLocks noGrp="1"/>
          </p:cNvSpPr>
          <p:nvPr>
            <p:ph type="sldNum" sz="quarter" idx="5"/>
          </p:nvPr>
        </p:nvSpPr>
        <p:spPr>
          <a:xfrm>
            <a:off x="4022491" y="8917280"/>
            <a:ext cx="3078382" cy="469587"/>
          </a:xfrm>
          <a:prstGeom prst="rect">
            <a:avLst/>
          </a:prstGeom>
        </p:spPr>
        <p:txBody>
          <a:bodyPr vert="horz" wrap="square" lIns="92823" tIns="46413" rIns="92823" bIns="46413" numCol="1" anchor="b" anchorCtr="0" compatLnSpc="1">
            <a:prstTxWarp prst="textNoShape">
              <a:avLst/>
            </a:prstTxWarp>
          </a:bodyPr>
          <a:lstStyle>
            <a:lvl1pPr algn="r">
              <a:defRPr sz="1200">
                <a:latin typeface="Calibri" charset="0"/>
              </a:defRPr>
            </a:lvl1pPr>
          </a:lstStyle>
          <a:p>
            <a:fld id="{21D82EB7-C704-4A63-B645-1186AD9BB91E}" type="slidenum">
              <a:rPr lang="en-US"/>
              <a:pPr/>
              <a:t>‹#›</a:t>
            </a:fld>
            <a:endParaRPr lang="en-US" dirty="0"/>
          </a:p>
        </p:txBody>
      </p:sp>
    </p:spTree>
    <p:extLst>
      <p:ext uri="{BB962C8B-B14F-4D97-AF65-F5344CB8AC3E}">
        <p14:creationId xmlns:p14="http://schemas.microsoft.com/office/powerpoint/2010/main" val="27825015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p:txBody>
          <a:bodyPr/>
          <a:lstStyle/>
          <a:p>
            <a:pPr>
              <a:defRPr/>
            </a:pPr>
            <a:fld id="{C047C504-C68F-4932-B214-1C432888EE05}" type="slidenum">
              <a:rPr lang="en-GB" smtClean="0"/>
              <a:pPr>
                <a:defRPr/>
              </a:pPr>
              <a:t>0</a:t>
            </a:fld>
            <a:endParaRPr lang="en-GB" dirty="0"/>
          </a:p>
        </p:txBody>
      </p:sp>
      <p:sp>
        <p:nvSpPr>
          <p:cNvPr id="19459" name="Rectangle 2"/>
          <p:cNvSpPr>
            <a:spLocks noGrp="1" noRot="1" noChangeAspect="1" noChangeArrowheads="1" noTextEdit="1"/>
          </p:cNvSpPr>
          <p:nvPr>
            <p:ph type="sldImg"/>
          </p:nvPr>
        </p:nvSpPr>
        <p:spPr bwMode="auto">
          <a:xfrm>
            <a:off x="420688" y="704850"/>
            <a:ext cx="6261100" cy="3521075"/>
          </a:xfrm>
          <a:noFill/>
          <a:ln>
            <a:solidFill>
              <a:srgbClr val="000000"/>
            </a:solidFill>
            <a:miter lim="800000"/>
            <a:headEnd/>
            <a:tailEnd/>
          </a:ln>
        </p:spPr>
      </p:sp>
      <p:sp>
        <p:nvSpPr>
          <p:cNvPr id="194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fr-FR" dirty="0"/>
          </a:p>
        </p:txBody>
      </p:sp>
    </p:spTree>
    <p:extLst>
      <p:ext uri="{BB962C8B-B14F-4D97-AF65-F5344CB8AC3E}">
        <p14:creationId xmlns:p14="http://schemas.microsoft.com/office/powerpoint/2010/main" val="2526762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a:t>
            </a:fld>
            <a:endParaRPr lang="en-US" dirty="0"/>
          </a:p>
        </p:txBody>
      </p:sp>
    </p:spTree>
    <p:extLst>
      <p:ext uri="{BB962C8B-B14F-4D97-AF65-F5344CB8AC3E}">
        <p14:creationId xmlns:p14="http://schemas.microsoft.com/office/powerpoint/2010/main" val="26482789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200" dirty="0">
                <a:effectLst/>
                <a:latin typeface="Calibri" panose="020F0502020204030204" pitchFamily="34" charset="0"/>
                <a:ea typeface="Calibri" panose="020F0502020204030204" pitchFamily="34" charset="0"/>
                <a:cs typeface="Times New Roman" panose="02020603050405020304" pitchFamily="18" charset="0"/>
              </a:rPr>
              <a:t>MINECOFIN can have a different assessment of  path and impact of monetary and ER policies than NBR, just as NBR can have a different assessment of path and impact of fiscal policies.</a:t>
            </a:r>
            <a:endParaRPr lang="en-RW"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a:t>
            </a:fld>
            <a:endParaRPr lang="en-US" dirty="0"/>
          </a:p>
        </p:txBody>
      </p:sp>
    </p:spTree>
    <p:extLst>
      <p:ext uri="{BB962C8B-B14F-4D97-AF65-F5344CB8AC3E}">
        <p14:creationId xmlns:p14="http://schemas.microsoft.com/office/powerpoint/2010/main" val="289333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QMFM model is originated or derived from a canonical-new Keynesian reduced form model (log-linearized equations of a micro-founded model)</a:t>
            </a:r>
            <a:endParaRPr lang="en-AE"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8</a:t>
            </a:fld>
            <a:endParaRPr lang="en-US" dirty="0"/>
          </a:p>
        </p:txBody>
      </p:sp>
    </p:spTree>
    <p:extLst>
      <p:ext uri="{BB962C8B-B14F-4D97-AF65-F5344CB8AC3E}">
        <p14:creationId xmlns:p14="http://schemas.microsoft.com/office/powerpoint/2010/main" val="2135263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9</a:t>
            </a:fld>
            <a:endParaRPr lang="en-US" dirty="0"/>
          </a:p>
        </p:txBody>
      </p:sp>
    </p:spTree>
    <p:extLst>
      <p:ext uri="{BB962C8B-B14F-4D97-AF65-F5344CB8AC3E}">
        <p14:creationId xmlns:p14="http://schemas.microsoft.com/office/powerpoint/2010/main" val="30006735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QMFM sustainable debt-creating deficit is 5% of GDP under assumptions of: debt/GDP target of 55% (45% in NPV terms, o/w 10% domestic and 35% foreign debt, grant element 22%), real GDP growth 7.5% </a:t>
            </a:r>
            <a:r>
              <a:rPr lang="en-US" dirty="0" err="1"/>
              <a:t>p.y</a:t>
            </a:r>
            <a:r>
              <a:rPr lang="en-US" dirty="0"/>
              <a:t>., trading partner inflation 2% </a:t>
            </a:r>
            <a:r>
              <a:rPr lang="en-US" dirty="0" err="1"/>
              <a:t>p.y</a:t>
            </a:r>
            <a:r>
              <a:rPr lang="en-US" dirty="0"/>
              <a:t>., and trend RER depreciation rate 0%. The structural deficit consists of revenue 21%, government consumption 13%,government  investment 11%, and other spending 5% of GDP. </a:t>
            </a:r>
          </a:p>
        </p:txBody>
      </p:sp>
      <p:sp>
        <p:nvSpPr>
          <p:cNvPr id="4" name="Slide Number Placeholder 3"/>
          <p:cNvSpPr>
            <a:spLocks noGrp="1"/>
          </p:cNvSpPr>
          <p:nvPr>
            <p:ph type="sldNum" sz="quarter" idx="5"/>
          </p:nvPr>
        </p:nvSpPr>
        <p:spPr/>
        <p:txBody>
          <a:bodyPr/>
          <a:lstStyle/>
          <a:p>
            <a:fld id="{21D82EB7-C704-4A63-B645-1186AD9BB91E}" type="slidenum">
              <a:rPr lang="en-US" smtClean="0"/>
              <a:pPr/>
              <a:t>10</a:t>
            </a:fld>
            <a:endParaRPr lang="en-US" dirty="0"/>
          </a:p>
        </p:txBody>
      </p:sp>
    </p:spTree>
    <p:extLst>
      <p:ext uri="{BB962C8B-B14F-4D97-AF65-F5344CB8AC3E}">
        <p14:creationId xmlns:p14="http://schemas.microsoft.com/office/powerpoint/2010/main" val="31964708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11</a:t>
            </a:fld>
            <a:endParaRPr lang="en-US" dirty="0"/>
          </a:p>
        </p:txBody>
      </p:sp>
    </p:spTree>
    <p:extLst>
      <p:ext uri="{BB962C8B-B14F-4D97-AF65-F5344CB8AC3E}">
        <p14:creationId xmlns:p14="http://schemas.microsoft.com/office/powerpoint/2010/main" val="33478083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12</a:t>
            </a:fld>
            <a:endParaRPr lang="en-US" dirty="0"/>
          </a:p>
        </p:txBody>
      </p:sp>
    </p:spTree>
    <p:extLst>
      <p:ext uri="{BB962C8B-B14F-4D97-AF65-F5344CB8AC3E}">
        <p14:creationId xmlns:p14="http://schemas.microsoft.com/office/powerpoint/2010/main" val="26951319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13</a:t>
            </a:fld>
            <a:endParaRPr lang="en-US" dirty="0"/>
          </a:p>
        </p:txBody>
      </p:sp>
    </p:spTree>
    <p:extLst>
      <p:ext uri="{BB962C8B-B14F-4D97-AF65-F5344CB8AC3E}">
        <p14:creationId xmlns:p14="http://schemas.microsoft.com/office/powerpoint/2010/main" val="2053513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tuned GDP down in 2023Q1 (nowcast), and tuned cons down too (shock)</a:t>
            </a:r>
          </a:p>
        </p:txBody>
      </p:sp>
      <p:sp>
        <p:nvSpPr>
          <p:cNvPr id="4" name="Slide Number Placeholder 3"/>
          <p:cNvSpPr>
            <a:spLocks noGrp="1"/>
          </p:cNvSpPr>
          <p:nvPr>
            <p:ph type="sldNum" sz="quarter" idx="5"/>
          </p:nvPr>
        </p:nvSpPr>
        <p:spPr/>
        <p:txBody>
          <a:bodyPr/>
          <a:lstStyle/>
          <a:p>
            <a:fld id="{21D82EB7-C704-4A63-B645-1186AD9BB91E}" type="slidenum">
              <a:rPr lang="en-US" smtClean="0"/>
              <a:pPr/>
              <a:t>14</a:t>
            </a:fld>
            <a:endParaRPr lang="en-US" dirty="0"/>
          </a:p>
        </p:txBody>
      </p:sp>
    </p:spTree>
    <p:extLst>
      <p:ext uri="{BB962C8B-B14F-4D97-AF65-F5344CB8AC3E}">
        <p14:creationId xmlns:p14="http://schemas.microsoft.com/office/powerpoint/2010/main" val="1866072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tuned GDP down in 2023Q1 (nowcast), and tuned cons down too (shock)</a:t>
            </a:r>
          </a:p>
        </p:txBody>
      </p:sp>
      <p:sp>
        <p:nvSpPr>
          <p:cNvPr id="4" name="Slide Number Placeholder 3"/>
          <p:cNvSpPr>
            <a:spLocks noGrp="1"/>
          </p:cNvSpPr>
          <p:nvPr>
            <p:ph type="sldNum" sz="quarter" idx="5"/>
          </p:nvPr>
        </p:nvSpPr>
        <p:spPr/>
        <p:txBody>
          <a:bodyPr/>
          <a:lstStyle/>
          <a:p>
            <a:fld id="{21D82EB7-C704-4A63-B645-1186AD9BB91E}" type="slidenum">
              <a:rPr lang="en-US" smtClean="0"/>
              <a:pPr/>
              <a:t>15</a:t>
            </a:fld>
            <a:endParaRPr lang="en-US" dirty="0"/>
          </a:p>
        </p:txBody>
      </p:sp>
    </p:spTree>
    <p:extLst>
      <p:ext uri="{BB962C8B-B14F-4D97-AF65-F5344CB8AC3E}">
        <p14:creationId xmlns:p14="http://schemas.microsoft.com/office/powerpoint/2010/main" val="2067294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Output gap and Fiscal Impulse in last Chart</a:t>
            </a:r>
          </a:p>
        </p:txBody>
      </p:sp>
      <p:sp>
        <p:nvSpPr>
          <p:cNvPr id="4" name="Slide Number Placeholder 3"/>
          <p:cNvSpPr>
            <a:spLocks noGrp="1"/>
          </p:cNvSpPr>
          <p:nvPr>
            <p:ph type="sldNum" sz="quarter" idx="5"/>
          </p:nvPr>
        </p:nvSpPr>
        <p:spPr/>
        <p:txBody>
          <a:bodyPr/>
          <a:lstStyle/>
          <a:p>
            <a:fld id="{21D82EB7-C704-4A63-B645-1186AD9BB91E}" type="slidenum">
              <a:rPr lang="en-US" smtClean="0"/>
              <a:pPr/>
              <a:t>16</a:t>
            </a:fld>
            <a:endParaRPr lang="en-US" dirty="0"/>
          </a:p>
        </p:txBody>
      </p:sp>
    </p:spTree>
    <p:extLst>
      <p:ext uri="{BB962C8B-B14F-4D97-AF65-F5344CB8AC3E}">
        <p14:creationId xmlns:p14="http://schemas.microsoft.com/office/powerpoint/2010/main" val="961504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more aggregate models, “fiscal impulse” comprises both direct effect of govt spending on G&amp;S and the indirect effect via private consumption and investment (affected by transfers/subsidies and reduced effective revenue collection)</a:t>
            </a:r>
          </a:p>
        </p:txBody>
      </p:sp>
      <p:sp>
        <p:nvSpPr>
          <p:cNvPr id="4" name="Slide Number Placeholder 3"/>
          <p:cNvSpPr>
            <a:spLocks noGrp="1"/>
          </p:cNvSpPr>
          <p:nvPr>
            <p:ph type="sldNum" sz="quarter" idx="5"/>
          </p:nvPr>
        </p:nvSpPr>
        <p:spPr/>
        <p:txBody>
          <a:bodyPr/>
          <a:lstStyle/>
          <a:p>
            <a:fld id="{21D82EB7-C704-4A63-B645-1186AD9BB91E}" type="slidenum">
              <a:rPr lang="en-US" smtClean="0"/>
              <a:pPr/>
              <a:t>17</a:t>
            </a:fld>
            <a:endParaRPr lang="en-US" dirty="0"/>
          </a:p>
        </p:txBody>
      </p:sp>
    </p:spTree>
    <p:extLst>
      <p:ext uri="{BB962C8B-B14F-4D97-AF65-F5344CB8AC3E}">
        <p14:creationId xmlns:p14="http://schemas.microsoft.com/office/powerpoint/2010/main" val="6721587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illustration of fiscal impulse in relation to output/gap</a:t>
            </a:r>
          </a:p>
        </p:txBody>
      </p:sp>
      <p:sp>
        <p:nvSpPr>
          <p:cNvPr id="4" name="Slide Number Placeholder 3"/>
          <p:cNvSpPr>
            <a:spLocks noGrp="1"/>
          </p:cNvSpPr>
          <p:nvPr>
            <p:ph type="sldNum" sz="quarter" idx="5"/>
          </p:nvPr>
        </p:nvSpPr>
        <p:spPr/>
        <p:txBody>
          <a:bodyPr/>
          <a:lstStyle/>
          <a:p>
            <a:fld id="{21D82EB7-C704-4A63-B645-1186AD9BB91E}" type="slidenum">
              <a:rPr lang="en-US" smtClean="0"/>
              <a:pPr/>
              <a:t>18</a:t>
            </a:fld>
            <a:endParaRPr lang="en-US" dirty="0"/>
          </a:p>
        </p:txBody>
      </p:sp>
    </p:spTree>
    <p:extLst>
      <p:ext uri="{BB962C8B-B14F-4D97-AF65-F5344CB8AC3E}">
        <p14:creationId xmlns:p14="http://schemas.microsoft.com/office/powerpoint/2010/main" val="36314820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24</a:t>
            </a:fld>
            <a:endParaRPr lang="en-US" dirty="0"/>
          </a:p>
        </p:txBody>
      </p:sp>
    </p:spTree>
    <p:extLst>
      <p:ext uri="{BB962C8B-B14F-4D97-AF65-F5344CB8AC3E}">
        <p14:creationId xmlns:p14="http://schemas.microsoft.com/office/powerpoint/2010/main" val="26296630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25</a:t>
            </a:fld>
            <a:endParaRPr lang="en-US" dirty="0"/>
          </a:p>
        </p:txBody>
      </p:sp>
    </p:spTree>
    <p:extLst>
      <p:ext uri="{BB962C8B-B14F-4D97-AF65-F5344CB8AC3E}">
        <p14:creationId xmlns:p14="http://schemas.microsoft.com/office/powerpoint/2010/main" val="31557069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p:txBody>
          <a:bodyPr/>
          <a:lstStyle/>
          <a:p>
            <a:pPr>
              <a:defRPr/>
            </a:pPr>
            <a:fld id="{C047C504-C68F-4932-B214-1C432888EE05}" type="slidenum">
              <a:rPr lang="en-GB" smtClean="0"/>
              <a:pPr>
                <a:defRPr/>
              </a:pPr>
              <a:t>26</a:t>
            </a:fld>
            <a:endParaRPr lang="en-GB" dirty="0"/>
          </a:p>
        </p:txBody>
      </p:sp>
      <p:sp>
        <p:nvSpPr>
          <p:cNvPr id="1945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4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fr-FR" dirty="0"/>
          </a:p>
        </p:txBody>
      </p:sp>
    </p:spTree>
    <p:extLst>
      <p:ext uri="{BB962C8B-B14F-4D97-AF65-F5344CB8AC3E}">
        <p14:creationId xmlns:p14="http://schemas.microsoft.com/office/powerpoint/2010/main" val="35576406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userDrawn="1"/>
        </p:nvSpPr>
        <p:spPr>
          <a:xfrm>
            <a:off x="0" y="6172200"/>
            <a:ext cx="121920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5" name="Rectangle 4"/>
          <p:cNvSpPr/>
          <p:nvPr userDrawn="1"/>
        </p:nvSpPr>
        <p:spPr>
          <a:xfrm>
            <a:off x="3454400" y="1371600"/>
            <a:ext cx="8331200" cy="236220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6" name="Rectangle 5"/>
          <p:cNvSpPr/>
          <p:nvPr userDrawn="1"/>
        </p:nvSpPr>
        <p:spPr>
          <a:xfrm>
            <a:off x="3454400" y="1371600"/>
            <a:ext cx="304800" cy="23622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7" name="Subtitle 2"/>
          <p:cNvSpPr txBox="1">
            <a:spLocks/>
          </p:cNvSpPr>
          <p:nvPr userDrawn="1"/>
        </p:nvSpPr>
        <p:spPr>
          <a:xfrm>
            <a:off x="3860800" y="1371600"/>
            <a:ext cx="7924800" cy="2362200"/>
          </a:xfrm>
          <a:prstGeom prst="rect">
            <a:avLst/>
          </a:prstGeom>
        </p:spPr>
        <p:txBody>
          <a:bodyPr anchor="ctr">
            <a:normAutofit/>
          </a:bodyPr>
          <a:lstStyle/>
          <a:p>
            <a:pPr marL="342900" indent="-342900">
              <a:spcBef>
                <a:spcPts val="600"/>
              </a:spcBef>
              <a:spcAft>
                <a:spcPts val="600"/>
              </a:spcAft>
              <a:buFont typeface="Arial" charset="0"/>
              <a:buNone/>
            </a:pPr>
            <a:r>
              <a:rPr lang="en-US" sz="2600" b="1" dirty="0">
                <a:latin typeface="Gill Sans MT" charset="0"/>
                <a:cs typeface="Times New Roman" charset="0"/>
              </a:rPr>
              <a:t>Rwanda CAADP Post Compact</a:t>
            </a:r>
          </a:p>
          <a:p>
            <a:pPr marL="342900" indent="-342900">
              <a:spcBef>
                <a:spcPts val="600"/>
              </a:spcBef>
              <a:spcAft>
                <a:spcPts val="600"/>
              </a:spcAft>
              <a:buFont typeface="Arial" charset="0"/>
              <a:buNone/>
            </a:pPr>
            <a:r>
              <a:rPr lang="en-US" sz="2600" b="1" dirty="0">
                <a:latin typeface="Gill Sans MT" charset="0"/>
                <a:cs typeface="Times New Roman" charset="0"/>
              </a:rPr>
              <a:t>High-Level Stakeholder Meeting</a:t>
            </a:r>
          </a:p>
        </p:txBody>
      </p:sp>
      <p:pic>
        <p:nvPicPr>
          <p:cNvPr id="10" name="Picture 1" descr="armoirie"/>
          <p:cNvPicPr>
            <a:picLocks noChangeAspect="1" noChangeArrowheads="1"/>
          </p:cNvPicPr>
          <p:nvPr userDrawn="1"/>
        </p:nvPicPr>
        <p:blipFill>
          <a:blip r:embed="rId2" cstate="print"/>
          <a:srcRect/>
          <a:stretch>
            <a:fillRect/>
          </a:stretch>
        </p:blipFill>
        <p:spPr bwMode="auto">
          <a:xfrm rot="10800000" flipH="1" flipV="1">
            <a:off x="304800" y="1350964"/>
            <a:ext cx="2946400" cy="2382837"/>
          </a:xfrm>
          <a:prstGeom prst="rect">
            <a:avLst/>
          </a:prstGeom>
          <a:noFill/>
          <a:ln w="9525">
            <a:noFill/>
            <a:miter lim="800000"/>
            <a:headEnd/>
            <a:tailEnd/>
          </a:ln>
        </p:spPr>
      </p:pic>
      <p:sp>
        <p:nvSpPr>
          <p:cNvPr id="11" name="Subtitle 8"/>
          <p:cNvSpPr txBox="1">
            <a:spLocks/>
          </p:cNvSpPr>
          <p:nvPr userDrawn="1"/>
        </p:nvSpPr>
        <p:spPr>
          <a:xfrm>
            <a:off x="3860800" y="6248400"/>
            <a:ext cx="7823200" cy="609600"/>
          </a:xfrm>
          <a:prstGeom prst="rect">
            <a:avLst/>
          </a:prstGeom>
        </p:spPr>
        <p:txBody>
          <a:bodyPr>
            <a:normAutofit/>
          </a:bodyPr>
          <a:lstStyle/>
          <a:p>
            <a:pPr algn="r">
              <a:spcBef>
                <a:spcPts val="600"/>
              </a:spcBef>
              <a:buClr>
                <a:schemeClr val="accent1"/>
              </a:buClr>
              <a:buSzPct val="76000"/>
              <a:buFont typeface="Symbol" charset="2"/>
              <a:buNone/>
            </a:pPr>
            <a:endParaRPr lang="en-US" sz="1000" dirty="0">
              <a:solidFill>
                <a:schemeClr val="bg2"/>
              </a:solidFill>
              <a:latin typeface="Bookman Old Style" charset="0"/>
            </a:endParaRPr>
          </a:p>
        </p:txBody>
      </p:sp>
      <p:sp>
        <p:nvSpPr>
          <p:cNvPr id="12" name="Rectangle 11"/>
          <p:cNvSpPr/>
          <p:nvPr userDrawn="1"/>
        </p:nvSpPr>
        <p:spPr>
          <a:xfrm>
            <a:off x="3454400" y="4191000"/>
            <a:ext cx="304800" cy="990600"/>
          </a:xfrm>
          <a:prstGeom prst="rect">
            <a:avLst/>
          </a:prstGeom>
          <a:solidFill>
            <a:schemeClr val="accent3"/>
          </a:solid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13" name="Rectangle 12"/>
          <p:cNvSpPr/>
          <p:nvPr userDrawn="1"/>
        </p:nvSpPr>
        <p:spPr>
          <a:xfrm>
            <a:off x="3450167" y="4191000"/>
            <a:ext cx="8343900" cy="990600"/>
          </a:xfrm>
          <a:prstGeom prst="rect">
            <a:avLst/>
          </a:prstGeom>
          <a:no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8" name="Title 7"/>
          <p:cNvSpPr>
            <a:spLocks noGrp="1"/>
          </p:cNvSpPr>
          <p:nvPr>
            <p:ph type="ctrTitle"/>
          </p:nvPr>
        </p:nvSpPr>
        <p:spPr>
          <a:xfrm>
            <a:off x="3860800" y="4267200"/>
            <a:ext cx="7823199" cy="457200"/>
          </a:xfrm>
          <a:prstGeom prst="rect">
            <a:avLst/>
          </a:prstGeom>
        </p:spPr>
        <p:txBody>
          <a:bodyPr anchor="t" anchorCtr="0">
            <a:normAutofit/>
          </a:bodyPr>
          <a:lstStyle>
            <a:lvl1pPr algn="r">
              <a:defRPr sz="2400" baseline="0">
                <a:solidFill>
                  <a:schemeClr val="tx1"/>
                </a:solidFill>
                <a:latin typeface="+mn-lt"/>
              </a:defRPr>
            </a:lvl1pPr>
          </a:lstStyle>
          <a:p>
            <a:r>
              <a:rPr lang="en-US"/>
              <a:t>Click to edit Master title style</a:t>
            </a:r>
            <a:endParaRPr lang="en-US" dirty="0"/>
          </a:p>
        </p:txBody>
      </p:sp>
      <p:sp>
        <p:nvSpPr>
          <p:cNvPr id="9" name="Subtitle 8"/>
          <p:cNvSpPr>
            <a:spLocks noGrp="1"/>
          </p:cNvSpPr>
          <p:nvPr>
            <p:ph type="subTitle" idx="1"/>
          </p:nvPr>
        </p:nvSpPr>
        <p:spPr>
          <a:xfrm>
            <a:off x="3860800" y="4724400"/>
            <a:ext cx="7823199" cy="457200"/>
          </a:xfrm>
        </p:spPr>
        <p:txBody>
          <a:bodyPr/>
          <a:lstStyle>
            <a:lvl1pPr marL="0" indent="0" algn="r">
              <a:buNone/>
              <a:defRPr sz="2000" baseline="0">
                <a:solidFill>
                  <a:schemeClr val="tx2"/>
                </a:solidFill>
                <a:latin typeface="+mn-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sp>
        <p:nvSpPr>
          <p:cNvPr id="3" name="Straight Connector 2"/>
          <p:cNvSpPr>
            <a:spLocks noChangeShapeType="1"/>
          </p:cNvSpPr>
          <p:nvPr userDrawn="1"/>
        </p:nvSpPr>
        <p:spPr bwMode="auto">
          <a:xfrm>
            <a:off x="1625601" y="1066800"/>
            <a:ext cx="10240433" cy="0"/>
          </a:xfrm>
          <a:prstGeom prst="line">
            <a:avLst/>
          </a:prstGeom>
          <a:ln w="57150">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a:lstStyle/>
          <a:p>
            <a:pPr fontAlgn="auto">
              <a:spcBef>
                <a:spcPts val="0"/>
              </a:spcBef>
              <a:spcAft>
                <a:spcPts val="0"/>
              </a:spcAft>
              <a:defRPr/>
            </a:pPr>
            <a:endParaRPr lang="en-US" sz="1800" dirty="0">
              <a:ln>
                <a:solidFill>
                  <a:schemeClr val="tx1"/>
                </a:solidFill>
              </a:ln>
            </a:endParaRPr>
          </a:p>
        </p:txBody>
      </p:sp>
      <p:sp>
        <p:nvSpPr>
          <p:cNvPr id="2" name="Title 1"/>
          <p:cNvSpPr>
            <a:spLocks noGrp="1"/>
          </p:cNvSpPr>
          <p:nvPr>
            <p:ph type="title"/>
          </p:nvPr>
        </p:nvSpPr>
        <p:spPr>
          <a:xfrm>
            <a:off x="1625600" y="228600"/>
            <a:ext cx="10261600" cy="838200"/>
          </a:xfrm>
          <a:prstGeom prst="rect">
            <a:avLst/>
          </a:prstGeom>
        </p:spPr>
        <p:txBody>
          <a:bodyPr anchor="b" anchorCtr="0"/>
          <a:lstStyle>
            <a:lvl1pPr>
              <a:defRPr sz="2800">
                <a:solidFill>
                  <a:schemeClr val="tx1"/>
                </a:solidFill>
                <a:latin typeface="+mn-lt"/>
              </a:defRPr>
            </a:lvl1pPr>
          </a:lstStyle>
          <a:p>
            <a:r>
              <a:rPr lang="en-US" dirty="0"/>
              <a:t>Click to edit Master title style</a:t>
            </a:r>
          </a:p>
        </p:txBody>
      </p:sp>
      <p:sp>
        <p:nvSpPr>
          <p:cNvPr id="4" name="Slide Number Placeholder 5"/>
          <p:cNvSpPr>
            <a:spLocks noGrp="1"/>
          </p:cNvSpPr>
          <p:nvPr>
            <p:ph type="sldNum" sz="quarter" idx="10"/>
          </p:nvPr>
        </p:nvSpPr>
        <p:spPr>
          <a:xfrm>
            <a:off x="9347200" y="6416676"/>
            <a:ext cx="2641600" cy="365125"/>
          </a:xfrm>
          <a:prstGeom prst="rect">
            <a:avLst/>
          </a:prstGeom>
        </p:spPr>
        <p:txBody>
          <a:bodyPr vert="horz" wrap="square" lIns="91440" tIns="45720" rIns="91440" bIns="45720" numCol="1" anchor="b" anchorCtr="0" compatLnSpc="1">
            <a:prstTxWarp prst="textNoShape">
              <a:avLst/>
            </a:prstTxWarp>
          </a:bodyPr>
          <a:lstStyle>
            <a:lvl1pPr algn="r">
              <a:defRPr sz="1000">
                <a:solidFill>
                  <a:schemeClr val="tx2"/>
                </a:solidFill>
                <a:latin typeface="Gill Sans MT" charset="0"/>
              </a:defRPr>
            </a:lvl1pPr>
          </a:lstStyle>
          <a:p>
            <a:fld id="{D97AE203-F84D-4A7F-B161-8561326BE072}" type="slidenum">
              <a:rPr lang="en-US"/>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xfrm>
            <a:off x="4165600" y="6248400"/>
            <a:ext cx="3860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endParaRPr lang="en-GB" dirty="0"/>
          </a:p>
        </p:txBody>
      </p:sp>
      <p:sp>
        <p:nvSpPr>
          <p:cNvPr id="3" name="Rectangle 3"/>
          <p:cNvSpPr>
            <a:spLocks noGrp="1" noChangeArrowheads="1"/>
          </p:cNvSpPr>
          <p:nvPr>
            <p:ph type="sldNum" sz="quarter" idx="11"/>
          </p:nvPr>
        </p:nvSpPr>
        <p:spPr>
          <a:xfrm>
            <a:off x="8737600" y="6248400"/>
            <a:ext cx="2844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970CC022-FA3D-4B6F-94CC-171F6923194E}" type="slidenum">
              <a:rPr lang="en-GB"/>
              <a:pPr/>
              <a:t>‹#›</a:t>
            </a:fld>
            <a:endParaRPr lang="en-GB" dirty="0"/>
          </a:p>
        </p:txBody>
      </p:sp>
      <p:sp>
        <p:nvSpPr>
          <p:cNvPr id="4" name="Rectangle 16"/>
          <p:cNvSpPr>
            <a:spLocks noGrp="1" noChangeArrowheads="1"/>
          </p:cNvSpPr>
          <p:nvPr>
            <p:ph type="dt" sz="half" idx="12"/>
          </p:nvPr>
        </p:nvSpPr>
        <p:spPr>
          <a:xfrm>
            <a:off x="609600" y="6245225"/>
            <a:ext cx="2844800" cy="47625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0C3105CC-1B2D-4903-971E-6A5C773A19C5}" type="datetime1">
              <a:rPr lang="en-US"/>
              <a:pPr/>
              <a:t>1/28/2024</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07D18-9295-5C12-B7F8-D8E3764091E6}"/>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88A83A11-90E3-6BC7-796C-FBF7B43488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650E7D45-0C98-9643-133E-7CF04135AD1C}"/>
              </a:ext>
            </a:extLst>
          </p:cNvPr>
          <p:cNvSpPr>
            <a:spLocks noGrp="1"/>
          </p:cNvSpPr>
          <p:nvPr>
            <p:ph type="dt" sz="half" idx="10"/>
          </p:nvPr>
        </p:nvSpPr>
        <p:spPr/>
        <p:txBody>
          <a:bodyPr/>
          <a:lstStyle/>
          <a:p>
            <a:fld id="{32B79336-2E43-44A0-ADE1-7669CAFC9F7E}" type="datetimeFigureOut">
              <a:rPr lang="x-none" smtClean="0"/>
              <a:t>1/28/2024</a:t>
            </a:fld>
            <a:endParaRPr lang="x-none"/>
          </a:p>
        </p:txBody>
      </p:sp>
      <p:sp>
        <p:nvSpPr>
          <p:cNvPr id="5" name="Footer Placeholder 4">
            <a:extLst>
              <a:ext uri="{FF2B5EF4-FFF2-40B4-BE49-F238E27FC236}">
                <a16:creationId xmlns:a16="http://schemas.microsoft.com/office/drawing/2014/main" id="{AE0FCEDC-4AD8-AC4F-ED12-34EC3D3DB4B4}"/>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13255A3-94B7-8CEE-EB38-2E387C050E75}"/>
              </a:ext>
            </a:extLst>
          </p:cNvPr>
          <p:cNvSpPr>
            <a:spLocks noGrp="1"/>
          </p:cNvSpPr>
          <p:nvPr>
            <p:ph type="sldNum" sz="quarter" idx="12"/>
          </p:nvPr>
        </p:nvSpPr>
        <p:spPr/>
        <p:txBody>
          <a:bodyPr/>
          <a:lstStyle/>
          <a:p>
            <a:fld id="{018878F0-BBE9-411C-9D0D-17F9871AB48D}" type="slidenum">
              <a:rPr lang="x-none" smtClean="0"/>
              <a:t>‹#›</a:t>
            </a:fld>
            <a:endParaRPr lang="x-none"/>
          </a:p>
        </p:txBody>
      </p:sp>
    </p:spTree>
    <p:extLst>
      <p:ext uri="{BB962C8B-B14F-4D97-AF65-F5344CB8AC3E}">
        <p14:creationId xmlns:p14="http://schemas.microsoft.com/office/powerpoint/2010/main" val="165138841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12"/>
          <p:cNvSpPr>
            <a:spLocks noGrp="1"/>
          </p:cNvSpPr>
          <p:nvPr>
            <p:ph type="body" idx="1"/>
          </p:nvPr>
        </p:nvSpPr>
        <p:spPr bwMode="auto">
          <a:xfrm>
            <a:off x="203200" y="1219200"/>
            <a:ext cx="113792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28" name="Straight Connector 27"/>
          <p:cNvSpPr>
            <a:spLocks noChangeShapeType="1"/>
          </p:cNvSpPr>
          <p:nvPr/>
        </p:nvSpPr>
        <p:spPr bwMode="auto">
          <a:xfrm>
            <a:off x="203201" y="6629400"/>
            <a:ext cx="11741151" cy="0"/>
          </a:xfrm>
          <a:prstGeom prst="line">
            <a:avLst/>
          </a:prstGeom>
          <a:ln>
            <a:solidFill>
              <a:schemeClr val="tx2"/>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a:lstStyle/>
          <a:p>
            <a:pPr fontAlgn="auto">
              <a:spcBef>
                <a:spcPts val="0"/>
              </a:spcBef>
              <a:spcAft>
                <a:spcPts val="0"/>
              </a:spcAft>
              <a:defRPr/>
            </a:pPr>
            <a:endParaRPr lang="en-US" sz="1800" dirty="0"/>
          </a:p>
        </p:txBody>
      </p:sp>
      <p:pic>
        <p:nvPicPr>
          <p:cNvPr id="1028" name="Picture 1" descr="armoirie"/>
          <p:cNvPicPr>
            <a:picLocks noChangeAspect="1" noChangeArrowheads="1"/>
          </p:cNvPicPr>
          <p:nvPr/>
        </p:nvPicPr>
        <p:blipFill>
          <a:blip r:embed="rId6" cstate="print"/>
          <a:srcRect/>
          <a:stretch>
            <a:fillRect/>
          </a:stretch>
        </p:blipFill>
        <p:spPr bwMode="auto">
          <a:xfrm rot="10800000" flipH="1" flipV="1">
            <a:off x="203200" y="152400"/>
            <a:ext cx="1016000" cy="820738"/>
          </a:xfrm>
          <a:prstGeom prst="rect">
            <a:avLst/>
          </a:prstGeom>
          <a:noFill/>
          <a:ln w="9525">
            <a:solidFill>
              <a:schemeClr val="bg1"/>
            </a:solidFill>
            <a:miter lim="800000"/>
            <a:headEnd/>
            <a:tailEnd/>
          </a:ln>
        </p:spPr>
      </p:pic>
    </p:spTree>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Lst>
  <p:hf hdr="0" ftr="0" dt="0"/>
  <p:txStyles>
    <p:titleStyle>
      <a:lvl1pPr algn="l" rtl="0" eaLnBrk="0" fontAlgn="base" hangingPunct="0">
        <a:spcBef>
          <a:spcPct val="0"/>
        </a:spcBef>
        <a:spcAft>
          <a:spcPct val="0"/>
        </a:spcAft>
        <a:defRPr sz="3200" kern="1200">
          <a:solidFill>
            <a:schemeClr val="tx2"/>
          </a:solidFill>
          <a:latin typeface="+mj-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 Id="rId6" Type="http://schemas.openxmlformats.org/officeDocument/2006/relationships/comments" Target="../comments/comment1.xml"/><Relationship Id="rId5" Type="http://schemas.openxmlformats.org/officeDocument/2006/relationships/image" Target="../media/image7.emf"/><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3" Type="http://schemas.openxmlformats.org/officeDocument/2006/relationships/image" Target="../media/image9.emf"/><Relationship Id="rId7" Type="http://schemas.openxmlformats.org/officeDocument/2006/relationships/comments" Target="../comments/comment2.xml"/><Relationship Id="rId2" Type="http://schemas.openxmlformats.org/officeDocument/2006/relationships/image" Target="../media/image8.emf"/><Relationship Id="rId1" Type="http://schemas.openxmlformats.org/officeDocument/2006/relationships/slideLayout" Target="../slideLayouts/slideLayout2.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 Id="rId6" Type="http://schemas.openxmlformats.org/officeDocument/2006/relationships/image" Target="../media/image17.tmp"/><Relationship Id="rId5" Type="http://schemas.openxmlformats.org/officeDocument/2006/relationships/image" Target="../media/image16.tmp"/><Relationship Id="rId4" Type="http://schemas.openxmlformats.org/officeDocument/2006/relationships/image" Target="../media/image15.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image" Target="../media/image19.e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1.emf"/><Relationship Id="rId4" Type="http://schemas.openxmlformats.org/officeDocument/2006/relationships/package" Target="../embeddings/Microsoft_Word_Document.docx"/></Relationships>
</file>

<file path=ppt/slides/_rels/slide12.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notesSlide" Target="../notesSlides/notesSlide7.xml"/><Relationship Id="rId7" Type="http://schemas.openxmlformats.org/officeDocument/2006/relationships/package" Target="../embeddings/Microsoft_Word_Document2.docx"/><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2.emf"/><Relationship Id="rId5" Type="http://schemas.openxmlformats.org/officeDocument/2006/relationships/package" Target="../embeddings/Microsoft_Word_Document1.docx"/><Relationship Id="rId4" Type="http://schemas.openxmlformats.org/officeDocument/2006/relationships/image" Target="../media/image24.e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5.emf"/><Relationship Id="rId5" Type="http://schemas.openxmlformats.org/officeDocument/2006/relationships/package" Target="../embeddings/Microsoft_Word_Document3.docx"/><Relationship Id="rId4" Type="http://schemas.openxmlformats.org/officeDocument/2006/relationships/image" Target="../media/image26.emf"/></Relationships>
</file>

<file path=ppt/slides/_rels/slide14.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1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0.emf"/></Relationships>
</file>

<file path=ppt/slides/_rels/slide16.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3.emf"/><Relationship Id="rId4" Type="http://schemas.openxmlformats.org/officeDocument/2006/relationships/image" Target="../media/image32.emf"/></Relationships>
</file>

<file path=ppt/slides/_rels/slide17.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18.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comments" Target="../comments/comment3.xml"/><Relationship Id="rId4" Type="http://schemas.openxmlformats.org/officeDocument/2006/relationships/image" Target="../media/image37.emf"/></Relationships>
</file>

<file path=ppt/slides/_rels/slide19.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1.emf"/><Relationship Id="rId5" Type="http://schemas.openxmlformats.org/officeDocument/2006/relationships/image" Target="../media/image40.emf"/><Relationship Id="rId4" Type="http://schemas.openxmlformats.org/officeDocument/2006/relationships/image" Target="../media/image39.emf"/></Relationships>
</file>

<file path=ppt/slides/_rels/slide20.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slideLayout" Target="../slideLayouts/slideLayout2.xml"/><Relationship Id="rId5" Type="http://schemas.openxmlformats.org/officeDocument/2006/relationships/image" Target="../media/image45.emf"/><Relationship Id="rId4" Type="http://schemas.openxmlformats.org/officeDocument/2006/relationships/image" Target="../media/image44.emf"/></Relationships>
</file>

<file path=ppt/slides/_rels/slide21.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slideLayout" Target="../slideLayouts/slideLayout2.xml"/><Relationship Id="rId5" Type="http://schemas.openxmlformats.org/officeDocument/2006/relationships/image" Target="../media/image49.emf"/><Relationship Id="rId4" Type="http://schemas.openxmlformats.org/officeDocument/2006/relationships/image" Target="../media/image48.emf"/></Relationships>
</file>

<file path=ppt/slides/_rels/slide22.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slideLayout" Target="../slideLayouts/slideLayout2.xml"/><Relationship Id="rId5" Type="http://schemas.openxmlformats.org/officeDocument/2006/relationships/image" Target="../media/image53.emf"/><Relationship Id="rId4" Type="http://schemas.openxmlformats.org/officeDocument/2006/relationships/image" Target="../media/image52.emf"/></Relationships>
</file>

<file path=ppt/slides/_rels/slide2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5.tmp"/><Relationship Id="rId7" Type="http://schemas.openxmlformats.org/officeDocument/2006/relationships/image" Target="../media/image59.tmp"/><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8.tmp"/><Relationship Id="rId5" Type="http://schemas.openxmlformats.org/officeDocument/2006/relationships/image" Target="../media/image57.tmp"/><Relationship Id="rId4" Type="http://schemas.openxmlformats.org/officeDocument/2006/relationships/image" Target="../media/image56.tmp"/></Relationships>
</file>

<file path=ppt/slides/_rels/slide2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65"/>
          <p:cNvSpPr>
            <a:spLocks noChangeArrowheads="1"/>
          </p:cNvSpPr>
          <p:nvPr/>
        </p:nvSpPr>
        <p:spPr bwMode="auto">
          <a:xfrm>
            <a:off x="1524001" y="4868025"/>
            <a:ext cx="184731" cy="600164"/>
          </a:xfrm>
          <a:prstGeom prst="rect">
            <a:avLst/>
          </a:prstGeom>
          <a:noFill/>
          <a:ln w="9525">
            <a:noFill/>
            <a:miter lim="800000"/>
            <a:headEnd/>
            <a:tailEnd/>
          </a:ln>
        </p:spPr>
        <p:txBody>
          <a:bodyPr wrap="none" anchor="ctr">
            <a:spAutoFit/>
          </a:bodyPr>
          <a:lstStyle/>
          <a:p>
            <a:br>
              <a:rPr lang="en-GB" sz="900" dirty="0"/>
            </a:br>
            <a:endParaRPr lang="en-GB" dirty="0"/>
          </a:p>
        </p:txBody>
      </p:sp>
      <p:sp>
        <p:nvSpPr>
          <p:cNvPr id="6" name="TextBox 5"/>
          <p:cNvSpPr txBox="1"/>
          <p:nvPr/>
        </p:nvSpPr>
        <p:spPr>
          <a:xfrm>
            <a:off x="1866900" y="3475772"/>
            <a:ext cx="8458200" cy="1482842"/>
          </a:xfrm>
          <a:prstGeom prst="rect">
            <a:avLst/>
          </a:prstGeom>
          <a:noFill/>
          <a:ln w="28575">
            <a:noFill/>
          </a:ln>
        </p:spPr>
        <p:txBody>
          <a:bodyPr>
            <a:spAutoFit/>
          </a:bodyPr>
          <a:lstStyle/>
          <a:p>
            <a:pPr algn="ctr">
              <a:lnSpc>
                <a:spcPct val="150000"/>
              </a:lnSpc>
              <a:defRPr/>
            </a:pPr>
            <a:r>
              <a:rPr lang="en-GB" sz="3200" b="1" dirty="0">
                <a:solidFill>
                  <a:srgbClr val="002060"/>
                </a:solidFill>
                <a:latin typeface="+mn-lt"/>
              </a:rPr>
              <a:t>Quarterly Macro-Fiscal Outlook (QMFO)</a:t>
            </a:r>
          </a:p>
          <a:p>
            <a:pPr algn="ctr">
              <a:lnSpc>
                <a:spcPct val="150000"/>
              </a:lnSpc>
              <a:defRPr/>
            </a:pPr>
            <a:r>
              <a:rPr lang="en-GB" sz="3200" b="1" dirty="0">
                <a:solidFill>
                  <a:srgbClr val="002060"/>
                </a:solidFill>
                <a:latin typeface="+mn-lt"/>
              </a:rPr>
              <a:t>Summary Outlook Presentation 2023-26</a:t>
            </a:r>
          </a:p>
        </p:txBody>
      </p:sp>
      <p:cxnSp>
        <p:nvCxnSpPr>
          <p:cNvPr id="7" name="Straight Connector 6"/>
          <p:cNvCxnSpPr/>
          <p:nvPr/>
        </p:nvCxnSpPr>
        <p:spPr>
          <a:xfrm rot="10800000">
            <a:off x="2362200" y="3048000"/>
            <a:ext cx="7543800" cy="1588"/>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2667000" y="6019800"/>
            <a:ext cx="6819900" cy="523220"/>
          </a:xfrm>
          <a:prstGeom prst="rect">
            <a:avLst/>
          </a:prstGeom>
          <a:noFill/>
        </p:spPr>
        <p:txBody>
          <a:bodyPr wrap="square" rtlCol="0">
            <a:spAutoFit/>
          </a:bodyPr>
          <a:lstStyle/>
          <a:p>
            <a:pPr algn="ctr"/>
            <a:r>
              <a:rPr lang="en-US" sz="2800" dirty="0">
                <a:solidFill>
                  <a:schemeClr val="accent4">
                    <a:lumMod val="50000"/>
                  </a:schemeClr>
                </a:solidFill>
                <a:latin typeface="+mn-lt"/>
              </a:rPr>
              <a:t>Jan, 2023</a:t>
            </a:r>
            <a:endParaRPr lang="en-US" sz="2800" dirty="0">
              <a:solidFill>
                <a:srgbClr val="FF0000"/>
              </a:solidFill>
              <a:latin typeface="+mn-lt"/>
            </a:endParaRPr>
          </a:p>
        </p:txBody>
      </p:sp>
      <p:sp>
        <p:nvSpPr>
          <p:cNvPr id="3" name="TextBox 2">
            <a:extLst>
              <a:ext uri="{FF2B5EF4-FFF2-40B4-BE49-F238E27FC236}">
                <a16:creationId xmlns:a16="http://schemas.microsoft.com/office/drawing/2014/main" id="{E1578755-694B-F809-9288-A5B861F3FF33}"/>
              </a:ext>
            </a:extLst>
          </p:cNvPr>
          <p:cNvSpPr txBox="1"/>
          <p:nvPr/>
        </p:nvSpPr>
        <p:spPr>
          <a:xfrm>
            <a:off x="1524001" y="990600"/>
            <a:ext cx="8458200" cy="1631216"/>
          </a:xfrm>
          <a:prstGeom prst="rect">
            <a:avLst/>
          </a:prstGeom>
          <a:noFill/>
          <a:ln w="28575">
            <a:noFill/>
          </a:ln>
        </p:spPr>
        <p:txBody>
          <a:bodyPr>
            <a:spAutoFit/>
          </a:bodyPr>
          <a:lstStyle/>
          <a:p>
            <a:pPr algn="ctr">
              <a:defRPr/>
            </a:pPr>
            <a:r>
              <a:rPr lang="en-GB" sz="3200" b="1" dirty="0">
                <a:solidFill>
                  <a:schemeClr val="accent4">
                    <a:lumMod val="50000"/>
                  </a:schemeClr>
                </a:solidFill>
                <a:latin typeface="+mn-lt"/>
              </a:rPr>
              <a:t>MINECOFIN Quarterly Macro-Fiscal Model (QMFM)</a:t>
            </a:r>
          </a:p>
          <a:p>
            <a:pPr algn="ctr">
              <a:defRPr/>
            </a:pPr>
            <a:r>
              <a:rPr lang="en-GB" sz="3600" b="1" dirty="0">
                <a:solidFill>
                  <a:schemeClr val="accent4">
                    <a:lumMod val="50000"/>
                  </a:schemeClr>
                </a:solidFill>
                <a:latin typeface="+mn-lt"/>
              </a:rPr>
              <a:t>Nov 2023, forecast round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D1E2-CA9D-BA89-EEEC-51D78AD3808C}"/>
              </a:ext>
            </a:extLst>
          </p:cNvPr>
          <p:cNvSpPr>
            <a:spLocks noGrp="1"/>
          </p:cNvSpPr>
          <p:nvPr>
            <p:ph type="title"/>
          </p:nvPr>
        </p:nvSpPr>
        <p:spPr>
          <a:xfrm>
            <a:off x="1676400" y="92075"/>
            <a:ext cx="10261600" cy="838200"/>
          </a:xfrm>
        </p:spPr>
        <p:txBody>
          <a:bodyPr/>
          <a:lstStyle/>
          <a:p>
            <a:r>
              <a:rPr lang="en-GB" b="1" dirty="0"/>
              <a:t>I. Rationale of outlook &amp; underlying model</a:t>
            </a:r>
            <a:endParaRPr lang="en-AE" b="1" dirty="0"/>
          </a:p>
        </p:txBody>
      </p:sp>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0"/>
          </p:nvPr>
        </p:nvSpPr>
        <p:spPr/>
        <p:txBody>
          <a:bodyPr/>
          <a:lstStyle/>
          <a:p>
            <a:fld id="{D97AE203-F84D-4A7F-B161-8561326BE072}" type="slidenum">
              <a:rPr lang="en-US" smtClean="0"/>
              <a:pPr/>
              <a:t>1</a:t>
            </a:fld>
            <a:endParaRPr lang="en-US" dirty="0"/>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457200" y="1143000"/>
            <a:ext cx="10896600" cy="53340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spcAft>
                <a:spcPts val="600"/>
              </a:spcAft>
              <a:buFont typeface="Wingdings" panose="05000000000000000000" pitchFamily="2" charset="2"/>
              <a:buChar char="§"/>
            </a:pPr>
            <a:r>
              <a:rPr lang="en-GB" sz="1800" dirty="0"/>
              <a:t>Provide forecast for 16 quarters ahead for key macro variables (</a:t>
            </a:r>
            <a:r>
              <a:rPr lang="en-GB" sz="1800" dirty="0" err="1"/>
              <a:t>i.e</a:t>
            </a:r>
            <a:r>
              <a:rPr lang="en-GB" sz="1800" dirty="0"/>
              <a:t>,. output, inflation, final demand…...) as influenced by fiscal, monetary, and exchange rate policies, incl. in response to shocks and new developments</a:t>
            </a:r>
          </a:p>
          <a:p>
            <a:pPr algn="just">
              <a:spcAft>
                <a:spcPts val="600"/>
              </a:spcAft>
              <a:buFont typeface="Wingdings" panose="05000000000000000000" pitchFamily="2" charset="2"/>
              <a:buChar char="§"/>
            </a:pPr>
            <a:r>
              <a:rPr lang="en-GB" sz="1800" dirty="0">
                <a:solidFill>
                  <a:srgbClr val="FF0000"/>
                </a:solidFill>
              </a:rPr>
              <a:t>Simulate alternative policy scenarios suggest policy implications &amp; recommendations. </a:t>
            </a:r>
          </a:p>
          <a:p>
            <a:pPr algn="just">
              <a:spcAft>
                <a:spcPts val="600"/>
              </a:spcAft>
              <a:buFont typeface="Wingdings" panose="05000000000000000000" pitchFamily="2" charset="2"/>
              <a:buChar char="§"/>
            </a:pPr>
            <a:r>
              <a:rPr lang="en-GB" sz="1800" dirty="0"/>
              <a:t>Provide input to (Qo or Ann. assumptions),  and complement, other tools projections </a:t>
            </a:r>
          </a:p>
          <a:p>
            <a:pPr lvl="1" algn="just">
              <a:spcAft>
                <a:spcPts val="600"/>
              </a:spcAft>
              <a:buFont typeface="Wingdings" panose="05000000000000000000" pitchFamily="2" charset="2"/>
              <a:buChar char="§"/>
            </a:pPr>
            <a:r>
              <a:rPr lang="en-US" sz="1400" dirty="0"/>
              <a:t>validate macro-fiscal projections that underpin the (medium-term) Budgets and IMF-supported programs</a:t>
            </a:r>
          </a:p>
          <a:p>
            <a:pPr lvl="1" algn="just">
              <a:spcAft>
                <a:spcPts val="600"/>
              </a:spcAft>
              <a:buFont typeface="Wingdings" panose="05000000000000000000" pitchFamily="2" charset="2"/>
              <a:buChar char="§"/>
            </a:pPr>
            <a:r>
              <a:rPr lang="en-US" sz="1400" dirty="0"/>
              <a:t>facilitate coordination of policies between MINECOFIN.</a:t>
            </a:r>
            <a:endParaRPr lang="en-GB" sz="1400" dirty="0"/>
          </a:p>
          <a:p>
            <a:pPr algn="just">
              <a:spcAft>
                <a:spcPts val="600"/>
              </a:spcAft>
              <a:buFont typeface="Wingdings" panose="05000000000000000000" pitchFamily="2" charset="2"/>
              <a:buChar char="§"/>
            </a:pPr>
            <a:r>
              <a:rPr lang="en-GB" sz="1800" dirty="0"/>
              <a:t>Tool/model: Quarterly Macro Fiscal Model (QMFM), a so-called “gap” model:</a:t>
            </a:r>
          </a:p>
          <a:p>
            <a:pPr lvl="1" algn="just">
              <a:spcAft>
                <a:spcPts val="600"/>
              </a:spcAft>
              <a:buFont typeface="Wingdings" panose="05000000000000000000" pitchFamily="2" charset="2"/>
              <a:buChar char="§"/>
            </a:pPr>
            <a:r>
              <a:rPr lang="en-GB" sz="1400" dirty="0"/>
              <a:t>special emphasis on fiscal deficit indicators &amp; components (revenue, Govt spending &amp; structural, discretional, cyclical)</a:t>
            </a:r>
          </a:p>
          <a:p>
            <a:pPr lvl="1" algn="just">
              <a:spcAft>
                <a:spcPts val="600"/>
              </a:spcAft>
              <a:buFont typeface="Wingdings" panose="05000000000000000000" pitchFamily="2" charset="2"/>
              <a:buChar char="§"/>
            </a:pPr>
            <a:r>
              <a:rPr lang="en-GB" sz="1400" dirty="0"/>
              <a:t>tracing key macro variables in deviation from trends, potential levels, or targets</a:t>
            </a:r>
          </a:p>
          <a:p>
            <a:pPr lvl="1" algn="just">
              <a:spcAft>
                <a:spcPts val="600"/>
              </a:spcAft>
              <a:buFont typeface="Wingdings" panose="05000000000000000000" pitchFamily="2" charset="2"/>
              <a:buChar char="§"/>
            </a:pPr>
            <a:r>
              <a:rPr lang="en-GB" sz="1400" dirty="0"/>
              <a:t>after shocks and policy responses, variables return to their LT trends subject to persistence/lags &amp; </a:t>
            </a:r>
            <a:r>
              <a:rPr lang="en-GB" sz="1400" dirty="0" err="1"/>
              <a:t>s.states</a:t>
            </a:r>
            <a:r>
              <a:rPr lang="en-GB" sz="1400" dirty="0"/>
              <a:t>. </a:t>
            </a:r>
          </a:p>
          <a:p>
            <a:pPr lvl="1" algn="just">
              <a:spcAft>
                <a:spcPts val="600"/>
              </a:spcAft>
              <a:buFont typeface="Wingdings" panose="05000000000000000000" pitchFamily="2" charset="2"/>
              <a:buChar char="§"/>
            </a:pPr>
            <a:r>
              <a:rPr lang="en-GB" sz="1400" dirty="0"/>
              <a:t>trends converge to steady states (outside model), e.g., potential output growth, </a:t>
            </a:r>
          </a:p>
          <a:p>
            <a:pPr lvl="1" algn="just">
              <a:spcAft>
                <a:spcPts val="600"/>
              </a:spcAft>
              <a:buFont typeface="Wingdings" panose="05000000000000000000" pitchFamily="2" charset="2"/>
              <a:buChar char="§"/>
            </a:pPr>
            <a:r>
              <a:rPr lang="en-GB" sz="1400" dirty="0"/>
              <a:t>interest and exchange rates neutral rate &amp; target,  sustainable deficit level and target inflation….</a:t>
            </a:r>
          </a:p>
        </p:txBody>
      </p:sp>
    </p:spTree>
    <p:extLst>
      <p:ext uri="{BB962C8B-B14F-4D97-AF65-F5344CB8AC3E}">
        <p14:creationId xmlns:p14="http://schemas.microsoft.com/office/powerpoint/2010/main" val="2837343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3556C-239C-2032-A4AB-F5EC73F0A12B}"/>
              </a:ext>
            </a:extLst>
          </p:cNvPr>
          <p:cNvSpPr>
            <a:spLocks noGrp="1"/>
          </p:cNvSpPr>
          <p:nvPr>
            <p:ph type="title"/>
          </p:nvPr>
        </p:nvSpPr>
        <p:spPr/>
        <p:txBody>
          <a:bodyPr/>
          <a:lstStyle/>
          <a:p>
            <a:r>
              <a:rPr lang="en-US" b="1" dirty="0"/>
              <a:t>Model/Qo outlook rationale &amp; requests + recommendations </a:t>
            </a:r>
            <a:endParaRPr lang="en-RW" b="1" dirty="0"/>
          </a:p>
        </p:txBody>
      </p:sp>
      <p:sp>
        <p:nvSpPr>
          <p:cNvPr id="3" name="Slide Number Placeholder 2">
            <a:extLst>
              <a:ext uri="{FF2B5EF4-FFF2-40B4-BE49-F238E27FC236}">
                <a16:creationId xmlns:a16="http://schemas.microsoft.com/office/drawing/2014/main" id="{7E70382D-03F1-B037-8AF8-AE56371093B4}"/>
              </a:ext>
            </a:extLst>
          </p:cNvPr>
          <p:cNvSpPr>
            <a:spLocks noGrp="1"/>
          </p:cNvSpPr>
          <p:nvPr>
            <p:ph type="sldNum" sz="quarter" idx="10"/>
          </p:nvPr>
        </p:nvSpPr>
        <p:spPr/>
        <p:txBody>
          <a:bodyPr/>
          <a:lstStyle/>
          <a:p>
            <a:fld id="{D97AE203-F84D-4A7F-B161-8561326BE072}" type="slidenum">
              <a:rPr lang="en-US" smtClean="0"/>
              <a:pPr/>
              <a:t>2</a:t>
            </a:fld>
            <a:endParaRPr lang="en-US" dirty="0"/>
          </a:p>
        </p:txBody>
      </p:sp>
      <p:sp>
        <p:nvSpPr>
          <p:cNvPr id="5" name="TextBox 4">
            <a:extLst>
              <a:ext uri="{FF2B5EF4-FFF2-40B4-BE49-F238E27FC236}">
                <a16:creationId xmlns:a16="http://schemas.microsoft.com/office/drawing/2014/main" id="{95F7979F-7F8C-8730-D214-36B5AA930C70}"/>
              </a:ext>
            </a:extLst>
          </p:cNvPr>
          <p:cNvSpPr txBox="1"/>
          <p:nvPr/>
        </p:nvSpPr>
        <p:spPr>
          <a:xfrm>
            <a:off x="990600" y="1447800"/>
            <a:ext cx="10896600" cy="5293757"/>
          </a:xfrm>
          <a:prstGeom prst="rect">
            <a:avLst/>
          </a:prstGeom>
          <a:noFill/>
        </p:spPr>
        <p:txBody>
          <a:bodyPr wrap="square">
            <a:spAutoFit/>
          </a:bodyPr>
          <a:lstStyle/>
          <a:p>
            <a:pPr>
              <a:spcAft>
                <a:spcPts val="800"/>
              </a:spcAft>
            </a:pPr>
            <a:r>
              <a:rPr lang="en-US" sz="2400" i="1" dirty="0">
                <a:solidFill>
                  <a:srgbClr val="1F4E79"/>
                </a:solidFill>
                <a:effectLst/>
                <a:latin typeface="Times New Roman" panose="02020603050405020304" pitchFamily="18" charset="0"/>
                <a:ea typeface="Calibri" panose="020F0502020204030204" pitchFamily="34" charset="0"/>
              </a:rPr>
              <a:t>The quarterly Outlook—produced along with results of macro framework and NBR forecasting tools</a:t>
            </a:r>
          </a:p>
          <a:p>
            <a:pPr lvl="1">
              <a:spcAft>
                <a:spcPts val="800"/>
              </a:spcAft>
            </a:pPr>
            <a:r>
              <a:rPr lang="en-US" i="1" dirty="0">
                <a:solidFill>
                  <a:srgbClr val="1F4E79"/>
                </a:solidFill>
                <a:effectLst/>
                <a:latin typeface="Times New Roman" panose="02020603050405020304" pitchFamily="18" charset="0"/>
                <a:ea typeface="Calibri" panose="020F0502020204030204" pitchFamily="34" charset="0"/>
              </a:rPr>
              <a:t>—</a:t>
            </a:r>
            <a:r>
              <a:rPr lang="en-US" sz="1800" i="1" dirty="0">
                <a:solidFill>
                  <a:srgbClr val="1F4E79"/>
                </a:solidFill>
                <a:latin typeface="Times New Roman" panose="02020603050405020304" pitchFamily="18" charset="0"/>
                <a:ea typeface="Calibri" panose="020F0502020204030204" pitchFamily="34" charset="0"/>
              </a:rPr>
              <a:t>should help in framing macro economic assumptions for </a:t>
            </a:r>
            <a:r>
              <a:rPr lang="en-US" sz="1800" i="1" dirty="0" err="1">
                <a:solidFill>
                  <a:srgbClr val="1F4E79"/>
                </a:solidFill>
                <a:latin typeface="Times New Roman" panose="02020603050405020304" pitchFamily="18" charset="0"/>
                <a:ea typeface="Calibri" panose="020F0502020204030204" pitchFamily="34" charset="0"/>
              </a:rPr>
              <a:t>InMF</a:t>
            </a:r>
            <a:r>
              <a:rPr lang="en-US" sz="1800" i="1" dirty="0">
                <a:solidFill>
                  <a:srgbClr val="1F4E79"/>
                </a:solidFill>
                <a:latin typeface="Times New Roman" panose="02020603050405020304" pitchFamily="18" charset="0"/>
                <a:ea typeface="Calibri" panose="020F0502020204030204" pitchFamily="34" charset="0"/>
              </a:rPr>
              <a:t> and other tools </a:t>
            </a:r>
            <a:endParaRPr lang="en-US" sz="1800" i="1" dirty="0">
              <a:solidFill>
                <a:srgbClr val="1F4E79"/>
              </a:solidFill>
              <a:effectLst/>
              <a:latin typeface="Times New Roman" panose="02020603050405020304" pitchFamily="18" charset="0"/>
              <a:ea typeface="Calibri" panose="020F0502020204030204" pitchFamily="34" charset="0"/>
            </a:endParaRPr>
          </a:p>
          <a:p>
            <a:pPr lvl="1">
              <a:spcAft>
                <a:spcPts val="800"/>
              </a:spcAft>
            </a:pPr>
            <a:r>
              <a:rPr lang="en-US" sz="1800" i="1" dirty="0">
                <a:solidFill>
                  <a:srgbClr val="1F4E79"/>
                </a:solidFill>
                <a:effectLst/>
                <a:latin typeface="Times New Roman" panose="02020603050405020304" pitchFamily="18" charset="0"/>
                <a:ea typeface="Calibri" panose="020F0502020204030204" pitchFamily="34" charset="0"/>
              </a:rPr>
              <a:t>—should help generate the validated macro-fiscal projections that underpin the (medium-term) Budgets and IMF-supported programs and facilitate coordination of policies between MINECOFIN and NBR. </a:t>
            </a:r>
          </a:p>
          <a:p>
            <a:pPr lvl="1">
              <a:spcAft>
                <a:spcPts val="800"/>
              </a:spcAft>
            </a:pPr>
            <a:r>
              <a:rPr lang="en-US" sz="1800" i="1" dirty="0">
                <a:solidFill>
                  <a:srgbClr val="1F4E79"/>
                </a:solidFill>
                <a:effectLst/>
                <a:latin typeface="Times New Roman" panose="02020603050405020304" pitchFamily="18" charset="0"/>
                <a:ea typeface="Calibri" panose="020F0502020204030204" pitchFamily="34" charset="0"/>
              </a:rPr>
              <a:t>—</a:t>
            </a:r>
            <a:r>
              <a:rPr lang="en-US" sz="1800" i="1" dirty="0">
                <a:solidFill>
                  <a:srgbClr val="1F4E79"/>
                </a:solidFill>
                <a:latin typeface="Times New Roman" panose="02020603050405020304" pitchFamily="18" charset="0"/>
                <a:ea typeface="Calibri" panose="020F0502020204030204" pitchFamily="34" charset="0"/>
              </a:rPr>
              <a:t>i</a:t>
            </a:r>
            <a:r>
              <a:rPr lang="en-US" sz="1800" i="1" dirty="0">
                <a:solidFill>
                  <a:srgbClr val="1F4E79"/>
                </a:solidFill>
                <a:effectLst/>
                <a:latin typeface="Times New Roman" panose="02020603050405020304" pitchFamily="18" charset="0"/>
                <a:ea typeface="Calibri" panose="020F0502020204030204" pitchFamily="34" charset="0"/>
              </a:rPr>
              <a:t>n the process of reconciling the results from various tools, iterative policy scenarios are run, and recommendations formulated outside the Outlook. </a:t>
            </a:r>
          </a:p>
          <a:p>
            <a:pPr lvl="1">
              <a:spcAft>
                <a:spcPts val="800"/>
              </a:spcAft>
            </a:pPr>
            <a:r>
              <a:rPr lang="en-US" sz="1800" i="1" dirty="0">
                <a:solidFill>
                  <a:srgbClr val="1F4E79"/>
                </a:solidFill>
                <a:effectLst/>
                <a:latin typeface="Times New Roman" panose="02020603050405020304" pitchFamily="18" charset="0"/>
                <a:ea typeface="Calibri" panose="020F0502020204030204" pitchFamily="34" charset="0"/>
              </a:rPr>
              <a:t>—MINECOFIN’s independent assessment </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i="1" dirty="0">
                <a:solidFill>
                  <a:srgbClr val="1F4E79"/>
                </a:solidFill>
                <a:effectLst/>
                <a:latin typeface="Times New Roman" panose="02020603050405020304" pitchFamily="18" charset="0"/>
                <a:ea typeface="Calibri" panose="020F0502020204030204" pitchFamily="34" charset="0"/>
              </a:rPr>
              <a:t>of the macro-outlook and the effects and interactions of fiscal with other policies—which may differ from those in other tools</a:t>
            </a:r>
          </a:p>
          <a:p>
            <a:pPr lvl="1">
              <a:spcAft>
                <a:spcPts val="800"/>
              </a:spcAft>
            </a:pPr>
            <a:r>
              <a:rPr lang="en-US" sz="1800" i="1" dirty="0">
                <a:solidFill>
                  <a:srgbClr val="1F4E79"/>
                </a:solidFill>
                <a:effectLst/>
                <a:latin typeface="Times New Roman" panose="02020603050405020304" pitchFamily="18" charset="0"/>
                <a:ea typeface="Calibri" panose="020F0502020204030204" pitchFamily="34" charset="0"/>
              </a:rPr>
              <a:t>—should further enhance the macroeconomic analysis and policy debate</a:t>
            </a:r>
          </a:p>
          <a:p>
            <a:pPr>
              <a:spcAft>
                <a:spcPts val="800"/>
              </a:spcAft>
            </a:pPr>
            <a:r>
              <a:rPr lang="en-US" i="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Data plea</a:t>
            </a:r>
          </a:p>
          <a:p>
            <a:pPr marL="800100" lvl="1" indent="-342900">
              <a:spcAft>
                <a:spcPts val="800"/>
              </a:spcAft>
              <a:buFont typeface="Wingdings" panose="05000000000000000000" pitchFamily="2" charset="2"/>
              <a:buChar char="§"/>
            </a:pPr>
            <a:r>
              <a:rPr lang="en-US" sz="2000" i="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NBR-FPAS inflation &amp; ER outlook </a:t>
            </a:r>
          </a:p>
          <a:p>
            <a:pPr marL="800100" lvl="1" indent="-342900">
              <a:spcAft>
                <a:spcPts val="800"/>
              </a:spcAft>
              <a:buFont typeface="Wingdings" panose="05000000000000000000" pitchFamily="2" charset="2"/>
              <a:buChar char="§"/>
            </a:pPr>
            <a:r>
              <a:rPr lang="en-US" sz="2000" i="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Fiscal (Qo treasury plan for 2023/24 is not available) and Debt stock actual or provisional data</a:t>
            </a:r>
          </a:p>
          <a:p>
            <a:pPr>
              <a:spcAft>
                <a:spcPts val="800"/>
              </a:spcAft>
            </a:pPr>
            <a:endParaRPr lang="en-RW"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38277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D1E2-CA9D-BA89-EEEC-51D78AD3808C}"/>
              </a:ext>
            </a:extLst>
          </p:cNvPr>
          <p:cNvSpPr>
            <a:spLocks noGrp="1"/>
          </p:cNvSpPr>
          <p:nvPr>
            <p:ph type="title"/>
          </p:nvPr>
        </p:nvSpPr>
        <p:spPr>
          <a:xfrm>
            <a:off x="1676400" y="92075"/>
            <a:ext cx="10261600" cy="838200"/>
          </a:xfrm>
        </p:spPr>
        <p:txBody>
          <a:bodyPr/>
          <a:lstStyle/>
          <a:p>
            <a:r>
              <a:rPr lang="en-US" b="1" dirty="0"/>
              <a:t>1I. Recent macroeconomic developments</a:t>
            </a:r>
            <a:r>
              <a:rPr lang="en-US" dirty="0"/>
              <a:t> (2017-23) </a:t>
            </a:r>
            <a:r>
              <a:rPr lang="en-US" dirty="0">
                <a:solidFill>
                  <a:srgbClr val="FF0000"/>
                </a:solidFill>
              </a:rPr>
              <a:t>new</a:t>
            </a:r>
            <a:br>
              <a:rPr lang="en-US" dirty="0">
                <a:solidFill>
                  <a:srgbClr val="FF0000"/>
                </a:solidFill>
              </a:rPr>
            </a:br>
            <a:r>
              <a:rPr lang="en-US" sz="2000" b="1" dirty="0">
                <a:solidFill>
                  <a:schemeClr val="accent4">
                    <a:lumMod val="50000"/>
                  </a:schemeClr>
                </a:solidFill>
              </a:rPr>
              <a:t>Fiscal policies</a:t>
            </a:r>
            <a:endParaRPr lang="en-AE" b="1" dirty="0">
              <a:solidFill>
                <a:schemeClr val="accent4">
                  <a:lumMod val="50000"/>
                </a:schemeClr>
              </a:solidFill>
            </a:endParaRPr>
          </a:p>
        </p:txBody>
      </p:sp>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0"/>
          </p:nvPr>
        </p:nvSpPr>
        <p:spPr/>
        <p:txBody>
          <a:bodyPr/>
          <a:lstStyle/>
          <a:p>
            <a:fld id="{D97AE203-F84D-4A7F-B161-8561326BE072}" type="slidenum">
              <a:rPr lang="en-US" smtClean="0"/>
              <a:pPr/>
              <a:t>3</a:t>
            </a:fld>
            <a:endParaRPr lang="en-US" dirty="0"/>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609600" y="1066800"/>
            <a:ext cx="10896600" cy="55626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None/>
            </a:pPr>
            <a:endParaRPr lang="en-US" b="1" dirty="0"/>
          </a:p>
          <a:p>
            <a:pPr marL="0" indent="0" algn="just">
              <a:spcAft>
                <a:spcPts val="600"/>
              </a:spcAft>
              <a:buNone/>
            </a:pPr>
            <a:endParaRPr lang="en-US" b="1" dirty="0"/>
          </a:p>
        </p:txBody>
      </p:sp>
      <p:pic>
        <p:nvPicPr>
          <p:cNvPr id="4" name="Picture 3">
            <a:extLst>
              <a:ext uri="{FF2B5EF4-FFF2-40B4-BE49-F238E27FC236}">
                <a16:creationId xmlns:a16="http://schemas.microsoft.com/office/drawing/2014/main" id="{F3A09020-722A-2530-E06A-654D71AEDEE1}"/>
              </a:ext>
            </a:extLst>
          </p:cNvPr>
          <p:cNvPicPr>
            <a:picLoc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399" y="1219200"/>
            <a:ext cx="3962401" cy="2743200"/>
          </a:xfrm>
          <a:prstGeom prst="rect">
            <a:avLst/>
          </a:prstGeom>
          <a:noFill/>
          <a:ln>
            <a:noFill/>
          </a:ln>
        </p:spPr>
      </p:pic>
      <p:sp>
        <p:nvSpPr>
          <p:cNvPr id="7" name="Content Placeholder 2">
            <a:extLst>
              <a:ext uri="{FF2B5EF4-FFF2-40B4-BE49-F238E27FC236}">
                <a16:creationId xmlns:a16="http://schemas.microsoft.com/office/drawing/2014/main" id="{881AB16D-B314-3DAD-0E05-999CF27A5DCF}"/>
              </a:ext>
            </a:extLst>
          </p:cNvPr>
          <p:cNvSpPr txBox="1">
            <a:spLocks/>
          </p:cNvSpPr>
          <p:nvPr/>
        </p:nvSpPr>
        <p:spPr>
          <a:xfrm>
            <a:off x="4648200" y="3886200"/>
            <a:ext cx="7439297" cy="2667000"/>
          </a:xfrm>
          <a:prstGeom prst="rect">
            <a:avLst/>
          </a:prstGeom>
          <a:ln>
            <a:solidFill>
              <a:schemeClr val="accent5"/>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spcAft>
                <a:spcPts val="600"/>
              </a:spcAft>
              <a:buFont typeface="Wingdings" panose="05000000000000000000" pitchFamily="2" charset="2"/>
              <a:buChar char="§"/>
            </a:pPr>
            <a:r>
              <a:rPr lang="en-US" sz="1200" b="1" dirty="0"/>
              <a:t>Fiscal deficit (%GDP) and Govt demand (level &amp; %GDP)</a:t>
            </a:r>
          </a:p>
          <a:p>
            <a:pPr lvl="1" algn="just">
              <a:spcAft>
                <a:spcPts val="600"/>
              </a:spcAft>
              <a:buFont typeface="Wingdings" panose="05000000000000000000" pitchFamily="2" charset="2"/>
              <a:buChar char="§"/>
            </a:pPr>
            <a:r>
              <a:rPr lang="en-US" sz="1200" b="1" dirty="0"/>
              <a:t>fiscal consolidation</a:t>
            </a:r>
            <a:r>
              <a:rPr lang="en-US" sz="1200" dirty="0"/>
              <a:t>—with a decreasing deficit of 10% average for 2015/16—2018/19, mainly driven by Govt demand discretion spending (i.e., use of goods and services..)</a:t>
            </a:r>
          </a:p>
          <a:p>
            <a:pPr lvl="1" algn="just">
              <a:spcAft>
                <a:spcPts val="600"/>
              </a:spcAft>
              <a:buFont typeface="Wingdings" panose="05000000000000000000" pitchFamily="2" charset="2"/>
              <a:buChar char="§"/>
            </a:pPr>
            <a:r>
              <a:rPr lang="en-US" sz="1200" b="1" dirty="0"/>
              <a:t>expansionary fiscal</a:t>
            </a:r>
            <a:r>
              <a:rPr lang="en-US" sz="1200" dirty="0"/>
              <a:t>—with increased deficit for FY 2019/20—2021/22 of 14.1% average triggered  by Covid-spending &amp; </a:t>
            </a:r>
            <a:r>
              <a:rPr lang="en-US" sz="1200" dirty="0" err="1"/>
              <a:t>discr</a:t>
            </a:r>
            <a:r>
              <a:rPr lang="en-US" sz="1200" dirty="0"/>
              <a:t>. Govt spending incl. NINFA, (i.e.,. mass School constructions) and use goods and services,  mostly related to foreign finance portion. </a:t>
            </a:r>
          </a:p>
          <a:p>
            <a:pPr lvl="1" algn="just">
              <a:spcAft>
                <a:spcPts val="600"/>
              </a:spcAft>
              <a:buFont typeface="Wingdings" panose="05000000000000000000" pitchFamily="2" charset="2"/>
              <a:buChar char="§"/>
            </a:pPr>
            <a:r>
              <a:rPr lang="en-US" sz="1200" b="1" dirty="0"/>
              <a:t>revived fiscal consolidation</a:t>
            </a:r>
            <a:r>
              <a:rPr lang="en-US" sz="1200" dirty="0"/>
              <a:t>—with deficit declining of 12%—10.8% for FY 2022/23—2023/24, driven by a reduction in capital spending, and net lending (equities and shares (Euro bond investment projects), and loans(B/s support funds)).</a:t>
            </a:r>
          </a:p>
          <a:p>
            <a:pPr lvl="1" algn="just">
              <a:spcAft>
                <a:spcPts val="600"/>
              </a:spcAft>
              <a:buFont typeface="Wingdings" panose="05000000000000000000" pitchFamily="2" charset="2"/>
              <a:buChar char="§"/>
            </a:pPr>
            <a:r>
              <a:rPr lang="en-US" sz="1200" dirty="0">
                <a:solidFill>
                  <a:srgbClr val="FF0000"/>
                </a:solidFill>
              </a:rPr>
              <a:t>Govt demand deflated in real terms by a surging inflation from 2022, but inflated again by  floods response for last quarter of FY 2022/23. </a:t>
            </a:r>
          </a:p>
          <a:p>
            <a:pPr marL="274638" lvl="1" indent="0" algn="just">
              <a:spcAft>
                <a:spcPts val="600"/>
              </a:spcAft>
              <a:buNone/>
            </a:pPr>
            <a:endParaRPr lang="en-US" sz="1600" dirty="0"/>
          </a:p>
        </p:txBody>
      </p:sp>
      <p:pic>
        <p:nvPicPr>
          <p:cNvPr id="8" name="Picture 7">
            <a:extLst>
              <a:ext uri="{FF2B5EF4-FFF2-40B4-BE49-F238E27FC236}">
                <a16:creationId xmlns:a16="http://schemas.microsoft.com/office/drawing/2014/main" id="{AD9C0252-A6B9-69B0-300B-73CFC3E8C84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599" y="4038600"/>
            <a:ext cx="3886201" cy="2514600"/>
          </a:xfrm>
          <a:prstGeom prst="rect">
            <a:avLst/>
          </a:prstGeom>
          <a:noFill/>
          <a:ln>
            <a:noFill/>
          </a:ln>
        </p:spPr>
      </p:pic>
      <p:pic>
        <p:nvPicPr>
          <p:cNvPr id="9" name="Picture 8">
            <a:extLst>
              <a:ext uri="{FF2B5EF4-FFF2-40B4-BE49-F238E27FC236}">
                <a16:creationId xmlns:a16="http://schemas.microsoft.com/office/drawing/2014/main" id="{C805CC71-1A84-705F-FBDF-AA695FBE11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8200" y="1234440"/>
            <a:ext cx="3557450" cy="2514599"/>
          </a:xfrm>
          <a:prstGeom prst="rect">
            <a:avLst/>
          </a:prstGeom>
        </p:spPr>
      </p:pic>
      <p:pic>
        <p:nvPicPr>
          <p:cNvPr id="11" name="Picture 10">
            <a:extLst>
              <a:ext uri="{FF2B5EF4-FFF2-40B4-BE49-F238E27FC236}">
                <a16:creationId xmlns:a16="http://schemas.microsoft.com/office/drawing/2014/main" id="{EDBAF7FF-6266-71A8-8444-F92C05249C53}"/>
              </a:ext>
            </a:extLst>
          </p:cNvPr>
          <p:cNvPicPr>
            <a:picLocks noChangeAspect="1"/>
          </p:cNvPicPr>
          <p:nvPr/>
        </p:nvPicPr>
        <p:blipFill>
          <a:blip r:embed="rId5"/>
          <a:stretch>
            <a:fillRect/>
          </a:stretch>
        </p:blipFill>
        <p:spPr>
          <a:xfrm>
            <a:off x="8337368" y="1371600"/>
            <a:ext cx="3092632" cy="2362199"/>
          </a:xfrm>
          <a:prstGeom prst="rect">
            <a:avLst/>
          </a:prstGeom>
        </p:spPr>
      </p:pic>
    </p:spTree>
    <p:extLst>
      <p:ext uri="{BB962C8B-B14F-4D97-AF65-F5344CB8AC3E}">
        <p14:creationId xmlns:p14="http://schemas.microsoft.com/office/powerpoint/2010/main" val="216617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C94FF-3715-83D7-A3A5-F73D7D616784}"/>
              </a:ext>
            </a:extLst>
          </p:cNvPr>
          <p:cNvSpPr>
            <a:spLocks noGrp="1"/>
          </p:cNvSpPr>
          <p:nvPr>
            <p:ph type="title"/>
          </p:nvPr>
        </p:nvSpPr>
        <p:spPr/>
        <p:txBody>
          <a:bodyPr/>
          <a:lstStyle/>
          <a:p>
            <a:r>
              <a:rPr lang="en-US" b="1" dirty="0"/>
              <a:t>Recent macroeconomic developments </a:t>
            </a:r>
            <a:r>
              <a:rPr lang="en-US" b="1" dirty="0" err="1"/>
              <a:t>cnt</a:t>
            </a:r>
            <a:r>
              <a:rPr lang="en-US" b="1" dirty="0"/>
              <a:t>’</a:t>
            </a:r>
            <a:br>
              <a:rPr lang="en-US" b="1" dirty="0"/>
            </a:br>
            <a:r>
              <a:rPr lang="en-US" sz="2000" b="1" dirty="0">
                <a:solidFill>
                  <a:schemeClr val="accent4">
                    <a:lumMod val="50000"/>
                  </a:schemeClr>
                </a:solidFill>
              </a:rPr>
              <a:t>Real GDP/Output</a:t>
            </a:r>
            <a:endParaRPr lang="en-RW" dirty="0">
              <a:solidFill>
                <a:schemeClr val="accent4">
                  <a:lumMod val="50000"/>
                </a:schemeClr>
              </a:solidFill>
            </a:endParaRPr>
          </a:p>
        </p:txBody>
      </p:sp>
      <p:sp>
        <p:nvSpPr>
          <p:cNvPr id="3" name="Slide Number Placeholder 2">
            <a:extLst>
              <a:ext uri="{FF2B5EF4-FFF2-40B4-BE49-F238E27FC236}">
                <a16:creationId xmlns:a16="http://schemas.microsoft.com/office/drawing/2014/main" id="{FAFBB090-AFD0-7F99-80A5-8B5522B2B0EA}"/>
              </a:ext>
            </a:extLst>
          </p:cNvPr>
          <p:cNvSpPr>
            <a:spLocks noGrp="1"/>
          </p:cNvSpPr>
          <p:nvPr>
            <p:ph type="sldNum" sz="quarter" idx="10"/>
          </p:nvPr>
        </p:nvSpPr>
        <p:spPr/>
        <p:txBody>
          <a:bodyPr/>
          <a:lstStyle/>
          <a:p>
            <a:fld id="{D97AE203-F84D-4A7F-B161-8561326BE072}" type="slidenum">
              <a:rPr lang="en-US" smtClean="0"/>
              <a:pPr/>
              <a:t>4</a:t>
            </a:fld>
            <a:endParaRPr lang="en-US" dirty="0"/>
          </a:p>
        </p:txBody>
      </p:sp>
      <p:pic>
        <p:nvPicPr>
          <p:cNvPr id="6" name="Picture 5">
            <a:extLst>
              <a:ext uri="{FF2B5EF4-FFF2-40B4-BE49-F238E27FC236}">
                <a16:creationId xmlns:a16="http://schemas.microsoft.com/office/drawing/2014/main" id="{384FADF2-D58D-3533-D198-2489EABB42A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3731623"/>
            <a:ext cx="3505200" cy="2821575"/>
          </a:xfrm>
          <a:prstGeom prst="rect">
            <a:avLst/>
          </a:prstGeom>
          <a:noFill/>
          <a:ln>
            <a:noFill/>
          </a:ln>
        </p:spPr>
      </p:pic>
      <p:pic>
        <p:nvPicPr>
          <p:cNvPr id="9" name="Picture 8">
            <a:extLst>
              <a:ext uri="{FF2B5EF4-FFF2-40B4-BE49-F238E27FC236}">
                <a16:creationId xmlns:a16="http://schemas.microsoft.com/office/drawing/2014/main" id="{E4656309-AB20-5277-6C61-67F364BE9052}"/>
              </a:ext>
            </a:extLst>
          </p:cNvPr>
          <p:cNvPicPr>
            <a:picLocks noChangeAspect="1"/>
          </p:cNvPicPr>
          <p:nvPr/>
        </p:nvPicPr>
        <p:blipFill>
          <a:blip r:embed="rId3"/>
          <a:stretch>
            <a:fillRect/>
          </a:stretch>
        </p:blipFill>
        <p:spPr>
          <a:xfrm>
            <a:off x="293371" y="1181100"/>
            <a:ext cx="2754629" cy="2436224"/>
          </a:xfrm>
          <a:prstGeom prst="rect">
            <a:avLst/>
          </a:prstGeom>
        </p:spPr>
      </p:pic>
      <p:pic>
        <p:nvPicPr>
          <p:cNvPr id="11" name="Picture 10">
            <a:extLst>
              <a:ext uri="{FF2B5EF4-FFF2-40B4-BE49-F238E27FC236}">
                <a16:creationId xmlns:a16="http://schemas.microsoft.com/office/drawing/2014/main" id="{F29C76D3-DD4D-7593-516B-AD5C495D431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24200" y="1199491"/>
            <a:ext cx="3124201" cy="2436224"/>
          </a:xfrm>
          <a:prstGeom prst="rect">
            <a:avLst/>
          </a:prstGeom>
          <a:noFill/>
          <a:ln>
            <a:noFill/>
          </a:ln>
        </p:spPr>
      </p:pic>
      <p:pic>
        <p:nvPicPr>
          <p:cNvPr id="12" name="Picture 11">
            <a:extLst>
              <a:ext uri="{FF2B5EF4-FFF2-40B4-BE49-F238E27FC236}">
                <a16:creationId xmlns:a16="http://schemas.microsoft.com/office/drawing/2014/main" id="{9C370E46-4BA6-140C-A840-C2D003E4198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24600" y="1181099"/>
            <a:ext cx="2514600" cy="2436225"/>
          </a:xfrm>
          <a:prstGeom prst="rect">
            <a:avLst/>
          </a:prstGeom>
          <a:noFill/>
          <a:ln>
            <a:noFill/>
          </a:ln>
        </p:spPr>
      </p:pic>
      <p:pic>
        <p:nvPicPr>
          <p:cNvPr id="14" name="Picture 13">
            <a:extLst>
              <a:ext uri="{FF2B5EF4-FFF2-40B4-BE49-F238E27FC236}">
                <a16:creationId xmlns:a16="http://schemas.microsoft.com/office/drawing/2014/main" id="{B97DA663-E192-CFB8-52E2-106730AEA867}"/>
              </a:ext>
            </a:extLst>
          </p:cNvPr>
          <p:cNvPicPr>
            <a:picLocks noChangeAspect="1"/>
          </p:cNvPicPr>
          <p:nvPr/>
        </p:nvPicPr>
        <p:blipFill>
          <a:blip r:embed="rId6"/>
          <a:stretch>
            <a:fillRect/>
          </a:stretch>
        </p:blipFill>
        <p:spPr>
          <a:xfrm>
            <a:off x="8980171" y="1181098"/>
            <a:ext cx="2754629" cy="2400301"/>
          </a:xfrm>
          <a:prstGeom prst="rect">
            <a:avLst/>
          </a:prstGeom>
        </p:spPr>
      </p:pic>
      <p:sp>
        <p:nvSpPr>
          <p:cNvPr id="15" name="Content Placeholder 2">
            <a:extLst>
              <a:ext uri="{FF2B5EF4-FFF2-40B4-BE49-F238E27FC236}">
                <a16:creationId xmlns:a16="http://schemas.microsoft.com/office/drawing/2014/main" id="{71DDEE4A-9C67-3AC4-5A2E-AC24191F73B5}"/>
              </a:ext>
            </a:extLst>
          </p:cNvPr>
          <p:cNvSpPr txBox="1">
            <a:spLocks/>
          </p:cNvSpPr>
          <p:nvPr/>
        </p:nvSpPr>
        <p:spPr>
          <a:xfrm>
            <a:off x="7162800" y="3695696"/>
            <a:ext cx="4638040" cy="2857503"/>
          </a:xfrm>
          <a:prstGeom prst="rect">
            <a:avLst/>
          </a:prstGeom>
          <a:ln>
            <a:solidFill>
              <a:schemeClr val="accent5"/>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None/>
            </a:pPr>
            <a:r>
              <a:rPr lang="en-GB" sz="1400" b="1" dirty="0"/>
              <a:t>Real GDP,  (YoY %)</a:t>
            </a:r>
          </a:p>
          <a:p>
            <a:pPr lvl="1" algn="just">
              <a:spcBef>
                <a:spcPts val="0"/>
              </a:spcBef>
              <a:spcAft>
                <a:spcPts val="0"/>
              </a:spcAft>
              <a:buFont typeface="Wingdings" panose="05000000000000000000" pitchFamily="2" charset="2"/>
              <a:buChar char="§"/>
            </a:pPr>
            <a:r>
              <a:rPr lang="en-GB" sz="1200" dirty="0"/>
              <a:t>averaged to 7.5% during 2000-19 and estimated a bit below potential in 2019;  </a:t>
            </a:r>
          </a:p>
          <a:p>
            <a:pPr lvl="1" algn="just">
              <a:spcBef>
                <a:spcPts val="0"/>
              </a:spcBef>
              <a:spcAft>
                <a:spcPts val="0"/>
              </a:spcAft>
              <a:buFont typeface="Wingdings" panose="05000000000000000000" pitchFamily="2" charset="2"/>
              <a:buChar char="§"/>
            </a:pPr>
            <a:endParaRPr lang="en-GB" sz="1200" dirty="0"/>
          </a:p>
          <a:p>
            <a:pPr lvl="1" algn="just">
              <a:spcBef>
                <a:spcPts val="0"/>
              </a:spcBef>
              <a:spcAft>
                <a:spcPts val="0"/>
              </a:spcAft>
              <a:buFont typeface="Wingdings" panose="05000000000000000000" pitchFamily="2" charset="2"/>
              <a:buChar char="§"/>
            </a:pPr>
            <a:r>
              <a:rPr lang="en-US" sz="1200" dirty="0"/>
              <a:t>Contracted by 3.4% and was 12% below potential level (had potential grow normally -7.5%-) during COVID-2020 due to supply constraints and drops in external and domestic demand. </a:t>
            </a:r>
            <a:r>
              <a:rPr lang="en-GB" sz="1200" dirty="0"/>
              <a:t> </a:t>
            </a:r>
          </a:p>
          <a:p>
            <a:pPr lvl="1" algn="just">
              <a:spcBef>
                <a:spcPts val="0"/>
              </a:spcBef>
              <a:spcAft>
                <a:spcPts val="0"/>
              </a:spcAft>
              <a:buFont typeface="Wingdings" panose="05000000000000000000" pitchFamily="2" charset="2"/>
              <a:buChar char="§"/>
            </a:pPr>
            <a:endParaRPr lang="en-GB" sz="1200" dirty="0"/>
          </a:p>
          <a:p>
            <a:pPr lvl="1" algn="just">
              <a:spcBef>
                <a:spcPts val="0"/>
              </a:spcBef>
              <a:spcAft>
                <a:spcPts val="0"/>
              </a:spcAft>
              <a:buFont typeface="Wingdings" panose="05000000000000000000" pitchFamily="2" charset="2"/>
              <a:buChar char="§"/>
            </a:pPr>
            <a:r>
              <a:rPr lang="en-GB" sz="1200" dirty="0"/>
              <a:t>expansionary fiscal policy helped in subsequent recovery of economy, despite strong bounce back in 2021 economy is estimated below potential.</a:t>
            </a:r>
          </a:p>
          <a:p>
            <a:pPr lvl="1" algn="just">
              <a:spcBef>
                <a:spcPts val="0"/>
              </a:spcBef>
              <a:spcAft>
                <a:spcPts val="0"/>
              </a:spcAft>
              <a:buFont typeface="Wingdings" panose="05000000000000000000" pitchFamily="2" charset="2"/>
              <a:buChar char="§"/>
            </a:pPr>
            <a:endParaRPr lang="en-GB" sz="1200" dirty="0"/>
          </a:p>
          <a:p>
            <a:pPr lvl="1" algn="just">
              <a:spcBef>
                <a:spcPts val="0"/>
              </a:spcBef>
              <a:spcAft>
                <a:spcPts val="0"/>
              </a:spcAft>
              <a:buFont typeface="Wingdings" panose="05000000000000000000" pitchFamily="2" charset="2"/>
              <a:buChar char="§"/>
            </a:pPr>
            <a:r>
              <a:rPr lang="en-GB" sz="1200" dirty="0"/>
              <a:t>Global instability such Ukraine War affected domestic economy </a:t>
            </a:r>
            <a:r>
              <a:rPr lang="en-RW" sz="1200" dirty="0"/>
              <a:t>slowed down the recovery from 2022Q1 onward</a:t>
            </a:r>
            <a:r>
              <a:rPr lang="en-US" sz="1200" dirty="0"/>
              <a:t>.</a:t>
            </a:r>
          </a:p>
        </p:txBody>
      </p:sp>
      <p:sp>
        <p:nvSpPr>
          <p:cNvPr id="18" name="TextBox 17">
            <a:extLst>
              <a:ext uri="{FF2B5EF4-FFF2-40B4-BE49-F238E27FC236}">
                <a16:creationId xmlns:a16="http://schemas.microsoft.com/office/drawing/2014/main" id="{EB32DF4F-AA63-16AB-331E-F94546F0B860}"/>
              </a:ext>
            </a:extLst>
          </p:cNvPr>
          <p:cNvSpPr txBox="1"/>
          <p:nvPr/>
        </p:nvSpPr>
        <p:spPr>
          <a:xfrm>
            <a:off x="3810000" y="3699506"/>
            <a:ext cx="3276600" cy="3000821"/>
          </a:xfrm>
          <a:prstGeom prst="rect">
            <a:avLst/>
          </a:prstGeom>
          <a:noFill/>
          <a:ln>
            <a:solidFill>
              <a:schemeClr val="accent5"/>
            </a:solidFill>
          </a:ln>
        </p:spPr>
        <p:txBody>
          <a:bodyPr wrap="square" rtlCol="0">
            <a:spAutoFit/>
          </a:bodyPr>
          <a:lstStyle/>
          <a:p>
            <a:pPr lvl="1" algn="just">
              <a:spcBef>
                <a:spcPts val="0"/>
              </a:spcBef>
              <a:spcAft>
                <a:spcPts val="0"/>
              </a:spcAft>
            </a:pPr>
            <a:r>
              <a:rPr lang="en-US" sz="1050" b="1" dirty="0">
                <a:latin typeface="+mn-lt"/>
                <a:ea typeface="Calibri" panose="020F0502020204030204" pitchFamily="34" charset="0"/>
                <a:cs typeface="Times New Roman" panose="02020603050405020304" pitchFamily="18" charset="0"/>
              </a:rPr>
              <a:t>Output gap drivers </a:t>
            </a:r>
            <a:endParaRPr lang="en-US" sz="1050" b="1" dirty="0">
              <a:effectLst/>
              <a:latin typeface="+mn-lt"/>
              <a:ea typeface="Calibri" panose="020F0502020204030204" pitchFamily="34" charset="0"/>
              <a:cs typeface="Times New Roman" panose="02020603050405020304" pitchFamily="18" charset="0"/>
            </a:endParaRPr>
          </a:p>
          <a:p>
            <a:pPr algn="just">
              <a:spcBef>
                <a:spcPts val="0"/>
              </a:spcBef>
              <a:spcAft>
                <a:spcPts val="0"/>
              </a:spcAft>
            </a:pPr>
            <a:r>
              <a:rPr lang="en-US" sz="1050" b="1" dirty="0">
                <a:solidFill>
                  <a:srgbClr val="0070C0"/>
                </a:solidFill>
                <a:effectLst/>
                <a:latin typeface="+mn-lt"/>
                <a:ea typeface="Calibri" panose="020F0502020204030204" pitchFamily="34" charset="0"/>
                <a:cs typeface="Times New Roman" panose="02020603050405020304" pitchFamily="18" charset="0"/>
              </a:rPr>
              <a:t>Covid years (2020-21)</a:t>
            </a:r>
            <a:endParaRPr lang="en-RW" sz="1050" dirty="0">
              <a:effectLst/>
              <a:latin typeface="+mn-lt"/>
              <a:ea typeface="Calibri" panose="020F0502020204030204" pitchFamily="34" charset="0"/>
              <a:cs typeface="Times New Roman" panose="02020603050405020304" pitchFamily="18" charset="0"/>
            </a:endParaRPr>
          </a:p>
          <a:p>
            <a:pPr indent="-171450">
              <a:spcBef>
                <a:spcPts val="0"/>
              </a:spcBef>
              <a:spcAft>
                <a:spcPts val="0"/>
              </a:spcAft>
              <a:buFont typeface="Arial" panose="020B0604020202020204" pitchFamily="34" charset="0"/>
              <a:buChar char="•"/>
            </a:pPr>
            <a:r>
              <a:rPr lang="en-US" sz="1050" dirty="0">
                <a:solidFill>
                  <a:srgbClr val="000000"/>
                </a:solidFill>
                <a:effectLst/>
                <a:latin typeface="+mn-lt"/>
                <a:ea typeface="Calibri" panose="020F0502020204030204" pitchFamily="34" charset="0"/>
                <a:cs typeface="Times New Roman" panose="02020603050405020304" pitchFamily="18" charset="0"/>
              </a:rPr>
              <a:t>consumption and investment accounted for most of the GDP drop and output gap</a:t>
            </a:r>
            <a:endParaRPr lang="en-US" sz="1050" dirty="0">
              <a:latin typeface="+mn-lt"/>
              <a:ea typeface="Calibri" panose="020F0502020204030204" pitchFamily="34" charset="0"/>
              <a:cs typeface="Times New Roman" panose="02020603050405020304" pitchFamily="18" charset="0"/>
            </a:endParaRPr>
          </a:p>
          <a:p>
            <a:pPr indent="-171450">
              <a:spcBef>
                <a:spcPts val="0"/>
              </a:spcBef>
              <a:spcAft>
                <a:spcPts val="0"/>
              </a:spcAft>
              <a:buFont typeface="Arial" panose="020B0604020202020204" pitchFamily="34" charset="0"/>
              <a:buChar char="•"/>
            </a:pPr>
            <a:r>
              <a:rPr lang="en-US" sz="1050" dirty="0">
                <a:solidFill>
                  <a:srgbClr val="000000"/>
                </a:solidFill>
                <a:effectLst/>
                <a:latin typeface="+mn-lt"/>
                <a:ea typeface="Calibri" panose="020F0502020204030204" pitchFamily="34" charset="0"/>
                <a:cs typeface="Times New Roman" panose="02020603050405020304" pitchFamily="18" charset="0"/>
              </a:rPr>
              <a:t>fall in imports and expansionary government demand helped mitigate the </a:t>
            </a:r>
            <a:r>
              <a:rPr lang="en-US" sz="1050" dirty="0" err="1">
                <a:solidFill>
                  <a:srgbClr val="000000"/>
                </a:solidFill>
                <a:effectLst/>
                <a:latin typeface="+mn-lt"/>
                <a:ea typeface="Calibri" panose="020F0502020204030204" pitchFamily="34" charset="0"/>
                <a:cs typeface="Times New Roman" panose="02020603050405020304" pitchFamily="18" charset="0"/>
              </a:rPr>
              <a:t>downpull</a:t>
            </a:r>
            <a:r>
              <a:rPr lang="en-US" sz="1050" dirty="0">
                <a:solidFill>
                  <a:srgbClr val="000000"/>
                </a:solidFill>
                <a:effectLst/>
                <a:latin typeface="+mn-lt"/>
                <a:ea typeface="Calibri" panose="020F0502020204030204" pitchFamily="34" charset="0"/>
                <a:cs typeface="Times New Roman" panose="02020603050405020304" pitchFamily="18" charset="0"/>
              </a:rPr>
              <a:t> on GDP;</a:t>
            </a:r>
            <a:endParaRPr lang="en-RW" sz="1050" dirty="0">
              <a:effectLst/>
              <a:latin typeface="+mn-lt"/>
              <a:ea typeface="Calibri" panose="020F0502020204030204" pitchFamily="34" charset="0"/>
              <a:cs typeface="Times New Roman" panose="02020603050405020304" pitchFamily="18" charset="0"/>
            </a:endParaRPr>
          </a:p>
          <a:p>
            <a:pPr>
              <a:spcBef>
                <a:spcPts val="0"/>
              </a:spcBef>
              <a:spcAft>
                <a:spcPts val="0"/>
              </a:spcAft>
            </a:pPr>
            <a:r>
              <a:rPr lang="en-US" sz="1050" b="1" dirty="0">
                <a:solidFill>
                  <a:srgbClr val="0070C0"/>
                </a:solidFill>
                <a:effectLst/>
                <a:latin typeface="+mn-lt"/>
                <a:ea typeface="Calibri" panose="020F0502020204030204" pitchFamily="34" charset="0"/>
                <a:cs typeface="Times New Roman" panose="02020603050405020304" pitchFamily="18" charset="0"/>
              </a:rPr>
              <a:t>Immediate post-Covid (2021-22)</a:t>
            </a:r>
            <a:endParaRPr lang="en-US" sz="1050" b="1" dirty="0">
              <a:latin typeface="+mn-lt"/>
              <a:ea typeface="Calibri" panose="020F0502020204030204" pitchFamily="34" charset="0"/>
              <a:cs typeface="Times New Roman" panose="02020603050405020304" pitchFamily="18" charset="0"/>
            </a:endParaRPr>
          </a:p>
          <a:p>
            <a:pPr indent="-171450">
              <a:spcBef>
                <a:spcPts val="0"/>
              </a:spcBef>
              <a:spcAft>
                <a:spcPts val="0"/>
              </a:spcAft>
              <a:buFont typeface="Arial" panose="020B0604020202020204" pitchFamily="34" charset="0"/>
              <a:buChar char="•"/>
            </a:pPr>
            <a:r>
              <a:rPr lang="en-US" sz="1050" dirty="0">
                <a:solidFill>
                  <a:srgbClr val="000000"/>
                </a:solidFill>
                <a:effectLst/>
                <a:latin typeface="+mn-lt"/>
                <a:ea typeface="Calibri" panose="020F0502020204030204" pitchFamily="34" charset="0"/>
                <a:cs typeface="Times New Roman" panose="02020603050405020304" pitchFamily="18" charset="0"/>
              </a:rPr>
              <a:t>consumption and investment contributed most to the recovery</a:t>
            </a:r>
            <a:endParaRPr lang="en-US" sz="1050" dirty="0">
              <a:latin typeface="+mn-lt"/>
              <a:ea typeface="Calibri" panose="020F0502020204030204" pitchFamily="34" charset="0"/>
              <a:cs typeface="Times New Roman" panose="02020603050405020304" pitchFamily="18" charset="0"/>
            </a:endParaRPr>
          </a:p>
          <a:p>
            <a:pPr indent="-171450">
              <a:spcBef>
                <a:spcPts val="0"/>
              </a:spcBef>
              <a:spcAft>
                <a:spcPts val="0"/>
              </a:spcAft>
              <a:buFont typeface="Arial" panose="020B0604020202020204" pitchFamily="34" charset="0"/>
              <a:buChar char="•"/>
            </a:pPr>
            <a:r>
              <a:rPr lang="en-US" sz="1050" dirty="0">
                <a:solidFill>
                  <a:srgbClr val="000000"/>
                </a:solidFill>
                <a:effectLst/>
                <a:latin typeface="+mn-lt"/>
                <a:ea typeface="Calibri" panose="020F0502020204030204" pitchFamily="34" charset="0"/>
                <a:cs typeface="Times New Roman" panose="02020603050405020304" pitchFamily="18" charset="0"/>
              </a:rPr>
              <a:t>supported by continued government demand, while exports remained sluggish</a:t>
            </a:r>
            <a:endParaRPr lang="en-RW" sz="1050" dirty="0">
              <a:effectLst/>
              <a:latin typeface="+mn-lt"/>
              <a:ea typeface="Calibri" panose="020F0502020204030204" pitchFamily="34" charset="0"/>
              <a:cs typeface="Times New Roman" panose="02020603050405020304" pitchFamily="18" charset="0"/>
            </a:endParaRPr>
          </a:p>
          <a:p>
            <a:pPr>
              <a:spcAft>
                <a:spcPts val="0"/>
              </a:spcAft>
            </a:pPr>
            <a:r>
              <a:rPr lang="en-US" sz="1050" b="1" dirty="0">
                <a:solidFill>
                  <a:srgbClr val="0070C0"/>
                </a:solidFill>
                <a:effectLst/>
                <a:latin typeface="+mn-lt"/>
                <a:ea typeface="Calibri" panose="020F0502020204030204" pitchFamily="34" charset="0"/>
                <a:cs typeface="Times New Roman" panose="02020603050405020304" pitchFamily="18" charset="0"/>
              </a:rPr>
              <a:t>Ukraine-war (2022-23)</a:t>
            </a:r>
            <a:endParaRPr lang="en-RW" sz="1050" dirty="0">
              <a:effectLst/>
              <a:latin typeface="+mn-lt"/>
              <a:ea typeface="Calibri" panose="020F0502020204030204" pitchFamily="34" charset="0"/>
              <a:cs typeface="Times New Roman" panose="02020603050405020304" pitchFamily="18" charset="0"/>
            </a:endParaRPr>
          </a:p>
          <a:p>
            <a:pPr indent="-171450">
              <a:spcAft>
                <a:spcPts val="0"/>
              </a:spcAft>
              <a:buFont typeface="Arial" panose="020B0604020202020204" pitchFamily="34" charset="0"/>
              <a:buChar char="•"/>
            </a:pPr>
            <a:r>
              <a:rPr lang="en-US" sz="1050" dirty="0">
                <a:solidFill>
                  <a:srgbClr val="000000"/>
                </a:solidFill>
                <a:effectLst/>
                <a:latin typeface="+mn-lt"/>
                <a:ea typeface="Calibri" panose="020F0502020204030204" pitchFamily="34" charset="0"/>
                <a:cs typeface="Times New Roman" panose="02020603050405020304" pitchFamily="18" charset="0"/>
              </a:rPr>
              <a:t>post-Covid recovery slowed down due to jumps in international oil and food prices, causing high inflation and drop in real consumption and other demand</a:t>
            </a:r>
            <a:endParaRPr lang="en-US" sz="1050" dirty="0">
              <a:latin typeface="+mn-lt"/>
              <a:ea typeface="Calibri" panose="020F0502020204030204" pitchFamily="34" charset="0"/>
              <a:cs typeface="Times New Roman" panose="02020603050405020304" pitchFamily="18" charset="0"/>
            </a:endParaRPr>
          </a:p>
          <a:p>
            <a:pPr indent="-171450">
              <a:spcAft>
                <a:spcPts val="0"/>
              </a:spcAft>
              <a:buFont typeface="Arial" panose="020B0604020202020204" pitchFamily="34" charset="0"/>
              <a:buChar char="•"/>
            </a:pPr>
            <a:r>
              <a:rPr lang="en-US" sz="1050" dirty="0">
                <a:solidFill>
                  <a:srgbClr val="000000"/>
                </a:solidFill>
                <a:effectLst/>
                <a:latin typeface="+mn-lt"/>
                <a:ea typeface="Calibri" panose="020F0502020204030204" pitchFamily="34" charset="0"/>
              </a:rPr>
              <a:t>fiscal consolidation started (though in part thwarted by floods) and lowered the expansionary effect of govt demand</a:t>
            </a:r>
            <a:endParaRPr lang="en-RW" sz="1200" dirty="0">
              <a:latin typeface="+mn-lt"/>
            </a:endParaRPr>
          </a:p>
        </p:txBody>
      </p:sp>
    </p:spTree>
    <p:extLst>
      <p:ext uri="{BB962C8B-B14F-4D97-AF65-F5344CB8AC3E}">
        <p14:creationId xmlns:p14="http://schemas.microsoft.com/office/powerpoint/2010/main" val="2596337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C94FF-3715-83D7-A3A5-F73D7D616784}"/>
              </a:ext>
            </a:extLst>
          </p:cNvPr>
          <p:cNvSpPr>
            <a:spLocks noGrp="1"/>
          </p:cNvSpPr>
          <p:nvPr>
            <p:ph type="title"/>
          </p:nvPr>
        </p:nvSpPr>
        <p:spPr>
          <a:xfrm>
            <a:off x="1600200" y="239630"/>
            <a:ext cx="10261600" cy="838200"/>
          </a:xfrm>
        </p:spPr>
        <p:txBody>
          <a:bodyPr/>
          <a:lstStyle/>
          <a:p>
            <a:r>
              <a:rPr lang="en-US" b="1" dirty="0"/>
              <a:t>Recent macroeconomic developments </a:t>
            </a:r>
            <a:r>
              <a:rPr lang="en-US" b="1" dirty="0" err="1"/>
              <a:t>cnt</a:t>
            </a:r>
            <a:r>
              <a:rPr lang="en-US" b="1" dirty="0"/>
              <a:t>’</a:t>
            </a:r>
            <a:br>
              <a:rPr lang="en-US" b="1" dirty="0"/>
            </a:br>
            <a:r>
              <a:rPr lang="en-US" sz="2000" b="1" dirty="0">
                <a:solidFill>
                  <a:schemeClr val="accent4">
                    <a:lumMod val="50000"/>
                  </a:schemeClr>
                </a:solidFill>
              </a:rPr>
              <a:t>Inflation—CPI </a:t>
            </a:r>
            <a:endParaRPr lang="en-RW" dirty="0">
              <a:solidFill>
                <a:schemeClr val="accent4">
                  <a:lumMod val="50000"/>
                </a:schemeClr>
              </a:solidFill>
            </a:endParaRPr>
          </a:p>
        </p:txBody>
      </p:sp>
      <p:sp>
        <p:nvSpPr>
          <p:cNvPr id="3" name="Slide Number Placeholder 2">
            <a:extLst>
              <a:ext uri="{FF2B5EF4-FFF2-40B4-BE49-F238E27FC236}">
                <a16:creationId xmlns:a16="http://schemas.microsoft.com/office/drawing/2014/main" id="{FAFBB090-AFD0-7F99-80A5-8B5522B2B0EA}"/>
              </a:ext>
            </a:extLst>
          </p:cNvPr>
          <p:cNvSpPr>
            <a:spLocks noGrp="1"/>
          </p:cNvSpPr>
          <p:nvPr>
            <p:ph type="sldNum" sz="quarter" idx="10"/>
          </p:nvPr>
        </p:nvSpPr>
        <p:spPr/>
        <p:txBody>
          <a:bodyPr/>
          <a:lstStyle/>
          <a:p>
            <a:fld id="{D97AE203-F84D-4A7F-B161-8561326BE072}" type="slidenum">
              <a:rPr lang="en-US" smtClean="0"/>
              <a:pPr/>
              <a:t>5</a:t>
            </a:fld>
            <a:endParaRPr lang="en-US" dirty="0"/>
          </a:p>
        </p:txBody>
      </p:sp>
      <p:sp>
        <p:nvSpPr>
          <p:cNvPr id="15" name="Content Placeholder 2">
            <a:extLst>
              <a:ext uri="{FF2B5EF4-FFF2-40B4-BE49-F238E27FC236}">
                <a16:creationId xmlns:a16="http://schemas.microsoft.com/office/drawing/2014/main" id="{71DDEE4A-9C67-3AC4-5A2E-AC24191F73B5}"/>
              </a:ext>
            </a:extLst>
          </p:cNvPr>
          <p:cNvSpPr txBox="1">
            <a:spLocks/>
          </p:cNvSpPr>
          <p:nvPr/>
        </p:nvSpPr>
        <p:spPr>
          <a:xfrm>
            <a:off x="7315200" y="3695696"/>
            <a:ext cx="4673600" cy="2857503"/>
          </a:xfrm>
          <a:prstGeom prst="rect">
            <a:avLst/>
          </a:prstGeom>
          <a:ln>
            <a:solidFill>
              <a:schemeClr val="accent5"/>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None/>
            </a:pPr>
            <a:r>
              <a:rPr lang="en-GB" sz="1400" b="1" dirty="0"/>
              <a:t>CPI,  (YoY %)</a:t>
            </a:r>
          </a:p>
          <a:p>
            <a:pPr algn="just">
              <a:spcAft>
                <a:spcPts val="600"/>
              </a:spcAft>
              <a:buFont typeface="Wingdings" panose="05000000000000000000" pitchFamily="2" charset="2"/>
              <a:buChar char="§"/>
            </a:pPr>
            <a:r>
              <a:rPr lang="en-US" sz="1200" dirty="0"/>
              <a:t>highly volatile,  mostly driven by factors (i.e., </a:t>
            </a:r>
            <a:r>
              <a:rPr lang="en-US" sz="1200" dirty="0" err="1"/>
              <a:t>agric</a:t>
            </a:r>
            <a:r>
              <a:rPr lang="en-US" sz="1200" dirty="0"/>
              <a:t> &amp; weather shocks) unrelated to business cycle (</a:t>
            </a:r>
            <a:r>
              <a:rPr lang="en-US" sz="1100" dirty="0">
                <a:solidFill>
                  <a:srgbClr val="FF0000"/>
                </a:solidFill>
              </a:rPr>
              <a:t>i.e., not consistent with a still -</a:t>
            </a:r>
            <a:r>
              <a:rPr lang="en-US" sz="1100" dirty="0" err="1">
                <a:solidFill>
                  <a:srgbClr val="FF0000"/>
                </a:solidFill>
              </a:rPr>
              <a:t>ve</a:t>
            </a:r>
            <a:r>
              <a:rPr lang="en-US" sz="1100" dirty="0">
                <a:solidFill>
                  <a:srgbClr val="FF0000"/>
                </a:solidFill>
              </a:rPr>
              <a:t> output gap)</a:t>
            </a:r>
            <a:endParaRPr lang="en-US" sz="1200" dirty="0">
              <a:solidFill>
                <a:srgbClr val="FF0000"/>
              </a:solidFill>
            </a:endParaRPr>
          </a:p>
          <a:p>
            <a:pPr lvl="1" algn="just">
              <a:spcAft>
                <a:spcPts val="600"/>
              </a:spcAft>
              <a:buFont typeface="Wingdings" panose="05000000000000000000" pitchFamily="2" charset="2"/>
              <a:buChar char="§"/>
            </a:pPr>
            <a:r>
              <a:rPr lang="en-US" sz="800" dirty="0"/>
              <a:t>main factors incl. weather-induced fluctuations in harvests and agricultural prices, openness and dependence on imports, especially for food and petroleum products with volatile international prices, and lack of competition in many markets</a:t>
            </a:r>
          </a:p>
          <a:p>
            <a:pPr marL="273050" lvl="1" algn="just">
              <a:spcBef>
                <a:spcPts val="600"/>
              </a:spcBef>
              <a:spcAft>
                <a:spcPts val="600"/>
              </a:spcAft>
              <a:buClr>
                <a:schemeClr val="accent1"/>
              </a:buClr>
              <a:buFont typeface="Wingdings" panose="05000000000000000000" pitchFamily="2" charset="2"/>
              <a:buChar char="§"/>
            </a:pPr>
            <a:r>
              <a:rPr lang="en-US" sz="1200" dirty="0">
                <a:solidFill>
                  <a:schemeClr val="tx1"/>
                </a:solidFill>
              </a:rPr>
              <a:t>food and energy are main drivers of this volatility inflation directly and indirectly.</a:t>
            </a:r>
          </a:p>
          <a:p>
            <a:pPr algn="just">
              <a:spcAft>
                <a:spcPts val="600"/>
              </a:spcAft>
              <a:buFont typeface="Wingdings" panose="05000000000000000000" pitchFamily="2" charset="2"/>
              <a:buChar char="§"/>
            </a:pPr>
            <a:r>
              <a:rPr lang="en-US" sz="1200" dirty="0"/>
              <a:t>recent surge in inflation was more driven by weak harvests coincided with soaring of world food and energy prices.</a:t>
            </a:r>
          </a:p>
          <a:p>
            <a:pPr algn="just">
              <a:spcAft>
                <a:spcPts val="600"/>
              </a:spcAft>
              <a:buFont typeface="Wingdings" panose="05000000000000000000" pitchFamily="2" charset="2"/>
              <a:buChar char="§"/>
            </a:pPr>
            <a:r>
              <a:rPr lang="en-GB" sz="1200" i="1" dirty="0"/>
              <a:t>deceleration observed through a drop in components since 2023Q1.</a:t>
            </a:r>
          </a:p>
        </p:txBody>
      </p:sp>
      <p:sp>
        <p:nvSpPr>
          <p:cNvPr id="18" name="TextBox 17">
            <a:extLst>
              <a:ext uri="{FF2B5EF4-FFF2-40B4-BE49-F238E27FC236}">
                <a16:creationId xmlns:a16="http://schemas.microsoft.com/office/drawing/2014/main" id="{EB32DF4F-AA63-16AB-331E-F94546F0B860}"/>
              </a:ext>
            </a:extLst>
          </p:cNvPr>
          <p:cNvSpPr txBox="1"/>
          <p:nvPr/>
        </p:nvSpPr>
        <p:spPr>
          <a:xfrm>
            <a:off x="3733800" y="3704827"/>
            <a:ext cx="3505200" cy="2823850"/>
          </a:xfrm>
          <a:prstGeom prst="rect">
            <a:avLst/>
          </a:prstGeom>
          <a:noFill/>
          <a:ln>
            <a:solidFill>
              <a:schemeClr val="accent5"/>
            </a:solidFill>
          </a:ln>
        </p:spPr>
        <p:txBody>
          <a:bodyPr wrap="square" rtlCol="0">
            <a:spAutoFit/>
          </a:bodyPr>
          <a:lstStyle/>
          <a:p>
            <a:pPr algn="just">
              <a:spcBef>
                <a:spcPts val="0"/>
              </a:spcBef>
              <a:spcAft>
                <a:spcPts val="0"/>
              </a:spcAft>
            </a:pPr>
            <a:r>
              <a:rPr lang="en-US" sz="1050" b="1" dirty="0">
                <a:latin typeface="+mn-lt"/>
                <a:ea typeface="Calibri" panose="020F0502020204030204" pitchFamily="34" charset="0"/>
                <a:cs typeface="Times New Roman" panose="02020603050405020304" pitchFamily="18" charset="0"/>
              </a:rPr>
              <a:t>Headline—CPI drivers</a:t>
            </a:r>
          </a:p>
          <a:p>
            <a:pPr algn="just">
              <a:spcBef>
                <a:spcPts val="0"/>
              </a:spcBef>
              <a:spcAft>
                <a:spcPts val="0"/>
              </a:spcAft>
            </a:pPr>
            <a:r>
              <a:rPr lang="en-US" sz="1050" b="1" dirty="0">
                <a:solidFill>
                  <a:srgbClr val="0070C0"/>
                </a:solidFill>
                <a:effectLst/>
                <a:latin typeface="+mn-lt"/>
                <a:ea typeface="Calibri" panose="020F0502020204030204" pitchFamily="34" charset="0"/>
                <a:cs typeface="Times New Roman" panose="02020603050405020304" pitchFamily="18" charset="0"/>
              </a:rPr>
              <a:t>Covid years (2020-21) &amp; before</a:t>
            </a:r>
          </a:p>
          <a:p>
            <a:pPr marL="171450" indent="-171450" algn="just">
              <a:spcBef>
                <a:spcPts val="0"/>
              </a:spcBef>
              <a:spcAft>
                <a:spcPts val="0"/>
              </a:spcAft>
              <a:buFont typeface="Arial" panose="020B0604020202020204" pitchFamily="34" charset="0"/>
              <a:buChar char="•"/>
            </a:pPr>
            <a:r>
              <a:rPr lang="en-US" sz="1050" dirty="0">
                <a:effectLst/>
                <a:latin typeface="+mn-lt"/>
                <a:ea typeface="Calibri" panose="020F0502020204030204" pitchFamily="34" charset="0"/>
                <a:cs typeface="Times New Roman" panose="02020603050405020304" pitchFamily="18" charset="0"/>
              </a:rPr>
              <a:t>above target</a:t>
            </a:r>
            <a:r>
              <a:rPr lang="en-US" sz="1050" dirty="0">
                <a:latin typeface="+mn-lt"/>
                <a:ea typeface="Calibri" panose="020F0502020204030204" pitchFamily="34" charset="0"/>
                <a:cs typeface="Times New Roman" panose="02020603050405020304" pitchFamily="18" charset="0"/>
              </a:rPr>
              <a:t> driven by food prices in 2017</a:t>
            </a:r>
          </a:p>
          <a:p>
            <a:pPr marL="171450" indent="-171450" algn="just">
              <a:spcBef>
                <a:spcPts val="0"/>
              </a:spcBef>
              <a:spcAft>
                <a:spcPts val="0"/>
              </a:spcAft>
              <a:buFont typeface="Arial" panose="020B0604020202020204" pitchFamily="34" charset="0"/>
              <a:buChar char="•"/>
            </a:pPr>
            <a:r>
              <a:rPr lang="en-US" sz="1050" dirty="0">
                <a:latin typeface="+mn-lt"/>
                <a:ea typeface="Calibri" panose="020F0502020204030204" pitchFamily="34" charset="0"/>
                <a:cs typeface="Times New Roman" panose="02020603050405020304" pitchFamily="18" charset="0"/>
              </a:rPr>
              <a:t>lower driven a fall in food prices for 2018-19</a:t>
            </a:r>
          </a:p>
          <a:p>
            <a:pPr marL="171450" indent="-171450" algn="just">
              <a:spcBef>
                <a:spcPts val="0"/>
              </a:spcBef>
              <a:spcAft>
                <a:spcPts val="0"/>
              </a:spcAft>
              <a:buFont typeface="Arial" panose="020B0604020202020204" pitchFamily="34" charset="0"/>
              <a:buChar char="•"/>
            </a:pPr>
            <a:r>
              <a:rPr lang="en-US" sz="1050" dirty="0">
                <a:latin typeface="+mn-lt"/>
                <a:ea typeface="Calibri" panose="020F0502020204030204" pitchFamily="34" charset="0"/>
                <a:cs typeface="Times New Roman" panose="02020603050405020304" pitchFamily="18" charset="0"/>
              </a:rPr>
              <a:t>above target during 2020 induced by higher </a:t>
            </a:r>
            <a:r>
              <a:rPr lang="en-US" sz="1050" dirty="0">
                <a:solidFill>
                  <a:srgbClr val="FF0000"/>
                </a:solidFill>
                <a:latin typeface="+mn-lt"/>
                <a:ea typeface="Calibri" panose="020F0502020204030204" pitchFamily="34" charset="0"/>
                <a:cs typeface="Times New Roman" panose="02020603050405020304" pitchFamily="18" charset="0"/>
              </a:rPr>
              <a:t>COVID-related food and core prices (imports)?</a:t>
            </a:r>
          </a:p>
          <a:p>
            <a:pPr algn="just">
              <a:spcBef>
                <a:spcPts val="0"/>
              </a:spcBef>
              <a:spcAft>
                <a:spcPts val="0"/>
              </a:spcAft>
            </a:pPr>
            <a:r>
              <a:rPr lang="en-US" sz="1050" b="1" dirty="0">
                <a:solidFill>
                  <a:srgbClr val="0070C0"/>
                </a:solidFill>
                <a:effectLst/>
                <a:latin typeface="+mn-lt"/>
                <a:ea typeface="Calibri" panose="020F0502020204030204" pitchFamily="34" charset="0"/>
                <a:cs typeface="Times New Roman" panose="02020603050405020304" pitchFamily="18" charset="0"/>
              </a:rPr>
              <a:t>Immediate post-Covid (2021-22)</a:t>
            </a:r>
            <a:endParaRPr lang="en-US" sz="1050" b="1" dirty="0">
              <a:latin typeface="+mn-lt"/>
              <a:ea typeface="Calibri" panose="020F0502020204030204" pitchFamily="34" charset="0"/>
              <a:cs typeface="Times New Roman" panose="02020603050405020304" pitchFamily="18" charset="0"/>
            </a:endParaRPr>
          </a:p>
          <a:p>
            <a:pPr marL="171450" indent="-171450" algn="just">
              <a:spcBef>
                <a:spcPts val="0"/>
              </a:spcBef>
              <a:spcAft>
                <a:spcPts val="0"/>
              </a:spcAft>
              <a:buFont typeface="Arial" panose="020B0604020202020204" pitchFamily="34" charset="0"/>
              <a:buChar char="•"/>
            </a:pPr>
            <a:r>
              <a:rPr lang="en-US" sz="1050" dirty="0">
                <a:latin typeface="+mn-lt"/>
                <a:ea typeface="Calibri" panose="020F0502020204030204" pitchFamily="34" charset="0"/>
                <a:cs typeface="Times New Roman" panose="02020603050405020304" pitchFamily="18" charset="0"/>
              </a:rPr>
              <a:t>lower driven by recovery in terms of good </a:t>
            </a:r>
            <a:r>
              <a:rPr lang="en-US" sz="1050" dirty="0" err="1">
                <a:latin typeface="+mn-lt"/>
                <a:ea typeface="Calibri" panose="020F0502020204030204" pitchFamily="34" charset="0"/>
                <a:cs typeface="Times New Roman" panose="02020603050405020304" pitchFamily="18" charset="0"/>
              </a:rPr>
              <a:t>agric</a:t>
            </a:r>
            <a:r>
              <a:rPr lang="en-US" sz="1050" dirty="0">
                <a:latin typeface="+mn-lt"/>
                <a:ea typeface="Calibri" panose="020F0502020204030204" pitchFamily="34" charset="0"/>
                <a:cs typeface="Times New Roman" panose="02020603050405020304" pitchFamily="18" charset="0"/>
              </a:rPr>
              <a:t> harvest and less expensive imports </a:t>
            </a:r>
          </a:p>
          <a:p>
            <a:pPr marL="0" marR="0" lvl="0" indent="0" algn="l" defTabSz="914400" rtl="0" eaLnBrk="1" fontAlgn="base" latinLnBrk="0" hangingPunct="1">
              <a:lnSpc>
                <a:spcPct val="100000"/>
              </a:lnSpc>
              <a:spcBef>
                <a:spcPct val="0"/>
              </a:spcBef>
              <a:spcAft>
                <a:spcPts val="0"/>
              </a:spcAft>
              <a:buClrTx/>
              <a:buSzTx/>
              <a:buFontTx/>
              <a:buNone/>
              <a:tabLst/>
              <a:defRPr/>
            </a:pPr>
            <a:r>
              <a:rPr kumimoji="0" lang="en-US" sz="1050" b="1" i="0" u="none" strike="noStrike" kern="1200" cap="none" spc="0" normalizeH="0" baseline="0" noProof="0" dirty="0">
                <a:ln>
                  <a:noFill/>
                </a:ln>
                <a:solidFill>
                  <a:srgbClr val="0070C0"/>
                </a:solidFill>
                <a:effectLst/>
                <a:uLnTx/>
                <a:uFillTx/>
                <a:latin typeface="Gill Sans MT"/>
                <a:ea typeface="Calibri" panose="020F0502020204030204" pitchFamily="34" charset="0"/>
                <a:cs typeface="Times New Roman" panose="02020603050405020304" pitchFamily="18" charset="0"/>
              </a:rPr>
              <a:t>Ukraine-war (2022-23)</a:t>
            </a:r>
            <a:endParaRPr lang="en-RW" sz="1050" dirty="0">
              <a:effectLst/>
              <a:latin typeface="+mn-lt"/>
              <a:ea typeface="Calibri" panose="020F0502020204030204" pitchFamily="34" charset="0"/>
              <a:cs typeface="Times New Roman" panose="02020603050405020304" pitchFamily="18" charset="0"/>
            </a:endParaRPr>
          </a:p>
          <a:p>
            <a:pPr lvl="0" indent="-171450">
              <a:spcBef>
                <a:spcPts val="0"/>
              </a:spcBef>
              <a:spcAft>
                <a:spcPts val="0"/>
              </a:spcAft>
              <a:buFont typeface="Arial" panose="020B0604020202020204" pitchFamily="34" charset="0"/>
              <a:buChar char="•"/>
            </a:pPr>
            <a:r>
              <a:rPr lang="en-US" sz="1050" dirty="0">
                <a:solidFill>
                  <a:srgbClr val="000000"/>
                </a:solidFill>
                <a:latin typeface="+mn-lt"/>
                <a:ea typeface="Calibri" panose="020F0502020204030204" pitchFamily="34" charset="0"/>
                <a:cs typeface="Times New Roman" panose="02020603050405020304" pitchFamily="18" charset="0"/>
              </a:rPr>
              <a:t>higher c</a:t>
            </a:r>
            <a:r>
              <a:rPr lang="en-US" sz="1050" dirty="0">
                <a:solidFill>
                  <a:srgbClr val="000000"/>
                </a:solidFill>
                <a:effectLst/>
                <a:latin typeface="+mn-lt"/>
                <a:ea typeface="Calibri" panose="020F0502020204030204" pitchFamily="34" charset="0"/>
                <a:cs typeface="Times New Roman" panose="02020603050405020304" pitchFamily="18" charset="0"/>
              </a:rPr>
              <a:t>ore prices (driven by </a:t>
            </a:r>
            <a:r>
              <a:rPr lang="en-US" sz="1050" dirty="0">
                <a:solidFill>
                  <a:srgbClr val="000000"/>
                </a:solidFill>
                <a:latin typeface="+mn-lt"/>
                <a:ea typeface="Calibri" panose="020F0502020204030204" pitchFamily="34" charset="0"/>
                <a:cs typeface="Times New Roman" panose="02020603050405020304" pitchFamily="18" charset="0"/>
              </a:rPr>
              <a:t>Ukraine-war induced shocks than standard factors i.e., output gap)—</a:t>
            </a:r>
            <a:r>
              <a:rPr lang="en-US" sz="1000" dirty="0">
                <a:solidFill>
                  <a:srgbClr val="FF0000"/>
                </a:solidFill>
                <a:latin typeface="+mn-lt"/>
                <a:ea typeface="Calibri" panose="020F0502020204030204" pitchFamily="34" charset="0"/>
                <a:cs typeface="Times New Roman" panose="02020603050405020304" pitchFamily="18" charset="0"/>
              </a:rPr>
              <a:t>weak output gap relation to P.C relation–weak  </a:t>
            </a:r>
            <a:r>
              <a:rPr lang="en-US" sz="1000" i="1" dirty="0">
                <a:solidFill>
                  <a:srgbClr val="FF0000"/>
                </a:solidFill>
                <a:latin typeface="+mn-lt"/>
                <a:ea typeface="Calibri" panose="020F0502020204030204" pitchFamily="34" charset="0"/>
                <a:cs typeface="Times New Roman" panose="02020603050405020304" pitchFamily="18" charset="0"/>
              </a:rPr>
              <a:t>monetary policy </a:t>
            </a:r>
            <a:r>
              <a:rPr lang="en-US" sz="1000" dirty="0">
                <a:solidFill>
                  <a:srgbClr val="FF0000"/>
                </a:solidFill>
                <a:latin typeface="+mn-lt"/>
                <a:ea typeface="Calibri" panose="020F0502020204030204" pitchFamily="34" charset="0"/>
                <a:cs typeface="Times New Roman" panose="02020603050405020304" pitchFamily="18" charset="0"/>
              </a:rPr>
              <a:t>to output to inflation?</a:t>
            </a:r>
          </a:p>
          <a:p>
            <a:pPr lvl="0" indent="-171450">
              <a:spcBef>
                <a:spcPts val="0"/>
              </a:spcBef>
              <a:spcAft>
                <a:spcPts val="0"/>
              </a:spcAft>
              <a:buFont typeface="Arial" panose="020B0604020202020204" pitchFamily="34" charset="0"/>
              <a:buChar char="•"/>
            </a:pPr>
            <a:r>
              <a:rPr lang="en-US" sz="1050" dirty="0">
                <a:latin typeface="+mn-lt"/>
                <a:ea typeface="Calibri" panose="020F0502020204030204" pitchFamily="34" charset="0"/>
                <a:cs typeface="Times New Roman" panose="02020603050405020304" pitchFamily="18" charset="0"/>
              </a:rPr>
              <a:t>higher food prices: negatively driven by agricultural production gap and </a:t>
            </a:r>
            <a:r>
              <a:rPr lang="en-US" sz="1050" dirty="0" err="1">
                <a:latin typeface="+mn-lt"/>
                <a:ea typeface="Calibri" panose="020F0502020204030204" pitchFamily="34" charset="0"/>
                <a:cs typeface="Times New Roman" panose="02020603050405020304" pitchFamily="18" charset="0"/>
              </a:rPr>
              <a:t>agric</a:t>
            </a:r>
            <a:r>
              <a:rPr lang="en-US" sz="1050" dirty="0">
                <a:latin typeface="+mn-lt"/>
                <a:ea typeface="Calibri" panose="020F0502020204030204" pitchFamily="34" charset="0"/>
                <a:cs typeface="Times New Roman" panose="02020603050405020304" pitchFamily="18" charset="0"/>
              </a:rPr>
              <a:t>-related shocks</a:t>
            </a:r>
          </a:p>
          <a:p>
            <a:pPr lvl="0" indent="-171450">
              <a:spcBef>
                <a:spcPts val="0"/>
              </a:spcBef>
              <a:spcAft>
                <a:spcPts val="0"/>
              </a:spcAft>
              <a:buFont typeface="Arial" panose="020B0604020202020204" pitchFamily="34" charset="0"/>
              <a:buChar char="•"/>
            </a:pPr>
            <a:r>
              <a:rPr lang="en-US" sz="1050" dirty="0">
                <a:latin typeface="+mn-lt"/>
                <a:ea typeface="Calibri" panose="020F0502020204030204" pitchFamily="34" charset="0"/>
                <a:cs typeface="Times New Roman" panose="02020603050405020304" pitchFamily="18" charset="0"/>
              </a:rPr>
              <a:t>higher international energy and commodity prices </a:t>
            </a:r>
            <a:endParaRPr lang="en-RW" sz="1200" dirty="0">
              <a:latin typeface="+mn-lt"/>
            </a:endParaRPr>
          </a:p>
        </p:txBody>
      </p:sp>
      <p:pic>
        <p:nvPicPr>
          <p:cNvPr id="4" name="Picture 3">
            <a:extLst>
              <a:ext uri="{FF2B5EF4-FFF2-40B4-BE49-F238E27FC236}">
                <a16:creationId xmlns:a16="http://schemas.microsoft.com/office/drawing/2014/main" id="{D1219C67-8853-96F0-5F09-ACC5A3F627B2}"/>
              </a:ext>
            </a:extLst>
          </p:cNvPr>
          <p:cNvPicPr>
            <a:picLoc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3693529"/>
            <a:ext cx="3352800" cy="2783471"/>
          </a:xfrm>
          <a:prstGeom prst="rect">
            <a:avLst/>
          </a:prstGeom>
          <a:noFill/>
          <a:ln>
            <a:noFill/>
          </a:ln>
        </p:spPr>
      </p:pic>
      <p:pic>
        <p:nvPicPr>
          <p:cNvPr id="7" name="Picture 6">
            <a:extLst>
              <a:ext uri="{FF2B5EF4-FFF2-40B4-BE49-F238E27FC236}">
                <a16:creationId xmlns:a16="http://schemas.microsoft.com/office/drawing/2014/main" id="{2E206D10-3E90-9AEE-B85A-34DD26EE884D}"/>
              </a:ext>
            </a:extLst>
          </p:cNvPr>
          <p:cNvPicPr>
            <a:picLocks noChangeAspect="1"/>
          </p:cNvPicPr>
          <p:nvPr/>
        </p:nvPicPr>
        <p:blipFill>
          <a:blip r:embed="rId3"/>
          <a:stretch>
            <a:fillRect/>
          </a:stretch>
        </p:blipFill>
        <p:spPr>
          <a:xfrm>
            <a:off x="240030" y="1181098"/>
            <a:ext cx="3048000" cy="2436227"/>
          </a:xfrm>
          <a:prstGeom prst="rect">
            <a:avLst/>
          </a:prstGeom>
        </p:spPr>
      </p:pic>
      <p:pic>
        <p:nvPicPr>
          <p:cNvPr id="8" name="Picture 7">
            <a:extLst>
              <a:ext uri="{FF2B5EF4-FFF2-40B4-BE49-F238E27FC236}">
                <a16:creationId xmlns:a16="http://schemas.microsoft.com/office/drawing/2014/main" id="{04FDBE65-806C-0051-222B-9CE011F37E4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22320" y="1177288"/>
            <a:ext cx="2849880" cy="2436225"/>
          </a:xfrm>
          <a:prstGeom prst="rect">
            <a:avLst/>
          </a:prstGeom>
          <a:noFill/>
          <a:ln>
            <a:noFill/>
          </a:ln>
        </p:spPr>
      </p:pic>
      <p:pic>
        <p:nvPicPr>
          <p:cNvPr id="10" name="Picture 9">
            <a:extLst>
              <a:ext uri="{FF2B5EF4-FFF2-40B4-BE49-F238E27FC236}">
                <a16:creationId xmlns:a16="http://schemas.microsoft.com/office/drawing/2014/main" id="{A8FCF0BB-6956-9B7C-BC8B-006DAE85A3A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06490" y="1257304"/>
            <a:ext cx="2983865" cy="2356209"/>
          </a:xfrm>
          <a:prstGeom prst="rect">
            <a:avLst/>
          </a:prstGeom>
        </p:spPr>
      </p:pic>
      <p:pic>
        <p:nvPicPr>
          <p:cNvPr id="13" name="Picture 12" descr="A graph of different colored lines&#10;&#10;Description automatically generated with medium confidence">
            <a:extLst>
              <a:ext uri="{FF2B5EF4-FFF2-40B4-BE49-F238E27FC236}">
                <a16:creationId xmlns:a16="http://schemas.microsoft.com/office/drawing/2014/main" id="{5C5EA492-2242-DF9D-34D7-A3FFEB6E3C1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47199" y="1257304"/>
            <a:ext cx="2604771" cy="2436225"/>
          </a:xfrm>
          <a:prstGeom prst="rect">
            <a:avLst/>
          </a:prstGeom>
        </p:spPr>
      </p:pic>
    </p:spTree>
    <p:extLst>
      <p:ext uri="{BB962C8B-B14F-4D97-AF65-F5344CB8AC3E}">
        <p14:creationId xmlns:p14="http://schemas.microsoft.com/office/powerpoint/2010/main" val="4076521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D1E2-CA9D-BA89-EEEC-51D78AD3808C}"/>
              </a:ext>
            </a:extLst>
          </p:cNvPr>
          <p:cNvSpPr>
            <a:spLocks noGrp="1"/>
          </p:cNvSpPr>
          <p:nvPr>
            <p:ph type="title"/>
          </p:nvPr>
        </p:nvSpPr>
        <p:spPr>
          <a:xfrm>
            <a:off x="1676400" y="92075"/>
            <a:ext cx="10261600" cy="838200"/>
          </a:xfrm>
        </p:spPr>
        <p:txBody>
          <a:bodyPr/>
          <a:lstStyle/>
          <a:p>
            <a:r>
              <a:rPr lang="en-US" b="1" dirty="0"/>
              <a:t>2. Summary recent/current policy stance</a:t>
            </a:r>
            <a:endParaRPr lang="en-AE" b="1" dirty="0">
              <a:solidFill>
                <a:srgbClr val="FF0000"/>
              </a:solidFill>
            </a:endParaRPr>
          </a:p>
        </p:txBody>
      </p:sp>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0"/>
          </p:nvPr>
        </p:nvSpPr>
        <p:spPr/>
        <p:txBody>
          <a:bodyPr/>
          <a:lstStyle/>
          <a:p>
            <a:fld id="{D97AE203-F84D-4A7F-B161-8561326BE072}" type="slidenum">
              <a:rPr lang="en-US" smtClean="0"/>
              <a:pPr/>
              <a:t>6</a:t>
            </a:fld>
            <a:endParaRPr lang="en-US" dirty="0"/>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609600" y="1143000"/>
            <a:ext cx="10896600" cy="54864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spcAft>
                <a:spcPts val="600"/>
              </a:spcAft>
              <a:buFont typeface="Wingdings" panose="05000000000000000000" pitchFamily="2" charset="2"/>
              <a:buChar char="§"/>
            </a:pPr>
            <a:endParaRPr lang="en-GB" dirty="0"/>
          </a:p>
        </p:txBody>
      </p:sp>
      <p:sp>
        <p:nvSpPr>
          <p:cNvPr id="6" name="TextBox 5">
            <a:extLst>
              <a:ext uri="{FF2B5EF4-FFF2-40B4-BE49-F238E27FC236}">
                <a16:creationId xmlns:a16="http://schemas.microsoft.com/office/drawing/2014/main" id="{C6C9B4C0-ECF5-C038-96C2-D0753F470035}"/>
              </a:ext>
            </a:extLst>
          </p:cNvPr>
          <p:cNvSpPr txBox="1"/>
          <p:nvPr/>
        </p:nvSpPr>
        <p:spPr>
          <a:xfrm>
            <a:off x="381000" y="1219100"/>
            <a:ext cx="11506200" cy="5682966"/>
          </a:xfrm>
          <a:prstGeom prst="rect">
            <a:avLst/>
          </a:prstGeom>
          <a:noFill/>
        </p:spPr>
        <p:txBody>
          <a:bodyPr wrap="square">
            <a:spAutoFit/>
          </a:bodyPr>
          <a:lstStyle/>
          <a:p>
            <a:pPr marL="274320" algn="just">
              <a:lnSpc>
                <a:spcPct val="107000"/>
              </a:lnSpc>
              <a:spcAft>
                <a:spcPts val="800"/>
              </a:spcAft>
            </a:pPr>
            <a:r>
              <a:rPr lang="en-GB" sz="1600" b="1" i="1" dirty="0">
                <a:latin typeface="+mn-lt"/>
                <a:ea typeface="Calibri" panose="020F0502020204030204" pitchFamily="34" charset="0"/>
                <a:cs typeface="Times New Roman" panose="02020603050405020304" pitchFamily="18" charset="0"/>
              </a:rPr>
              <a:t>Initial condition: recent past developments/trends (2017-2022)</a:t>
            </a:r>
            <a:endParaRPr lang="en-GB" sz="1600" b="1" i="1" dirty="0">
              <a:solidFill>
                <a:srgbClr val="FF0000"/>
              </a:solidFill>
              <a:latin typeface="+mn-lt"/>
              <a:ea typeface="Calibri" panose="020F0502020204030204" pitchFamily="34" charset="0"/>
              <a:cs typeface="Times New Roman" panose="02020603050405020304" pitchFamily="18" charset="0"/>
            </a:endParaRPr>
          </a:p>
          <a:p>
            <a:pPr marL="1074420" lvl="1" indent="-342900" algn="just">
              <a:lnSpc>
                <a:spcPct val="107000"/>
              </a:lnSpc>
              <a:spcAft>
                <a:spcPts val="800"/>
              </a:spcAft>
              <a:buFont typeface="Arial" panose="020B0604020202020204" pitchFamily="34" charset="0"/>
              <a:buChar char="•"/>
            </a:pPr>
            <a:r>
              <a:rPr lang="en-GB" sz="1600" dirty="0">
                <a:latin typeface="+mn-lt"/>
                <a:ea typeface="Calibri" panose="020F0502020204030204" pitchFamily="34" charset="0"/>
                <a:cs typeface="Times New Roman" panose="02020603050405020304" pitchFamily="18" charset="0"/>
              </a:rPr>
              <a:t>accelerated domestic inflation, (from lower levels ex-ante 2021), ER depreciation (overvaluation) amidst domestic shocks &amp; unfavourable global environment</a:t>
            </a:r>
          </a:p>
          <a:p>
            <a:pPr marL="1074420" lvl="1" indent="-342900" algn="just">
              <a:lnSpc>
                <a:spcPct val="107000"/>
              </a:lnSpc>
              <a:spcAft>
                <a:spcPts val="800"/>
              </a:spcAft>
              <a:buFont typeface="Arial" panose="020B0604020202020204" pitchFamily="34" charset="0"/>
              <a:buChar char="•"/>
            </a:pPr>
            <a:r>
              <a:rPr lang="en-GB" sz="1600" dirty="0">
                <a:latin typeface="+mn-lt"/>
                <a:ea typeface="Calibri" panose="020F0502020204030204" pitchFamily="34" charset="0"/>
                <a:cs typeface="Times New Roman" panose="02020603050405020304" pitchFamily="18" charset="0"/>
              </a:rPr>
              <a:t>tight domestic &amp; global monetary policies post COVID (RIR and foreign interest rates loose before 2020)</a:t>
            </a:r>
          </a:p>
          <a:p>
            <a:pPr marL="1074420" lvl="1" indent="-342900" algn="just">
              <a:lnSpc>
                <a:spcPct val="107000"/>
              </a:lnSpc>
              <a:spcAft>
                <a:spcPts val="800"/>
              </a:spcAft>
              <a:buFont typeface="Arial" panose="020B0604020202020204" pitchFamily="34" charset="0"/>
              <a:buChar char="•"/>
            </a:pPr>
            <a:r>
              <a:rPr lang="en-GB" sz="1600" dirty="0">
                <a:latin typeface="+mn-lt"/>
                <a:ea typeface="Calibri" panose="020F0502020204030204" pitchFamily="34" charset="0"/>
                <a:cs typeface="Times New Roman" panose="02020603050405020304" pitchFamily="18" charset="0"/>
              </a:rPr>
              <a:t>expansionary fiscal policy counter shocks</a:t>
            </a:r>
          </a:p>
          <a:p>
            <a:pPr marL="1074420" lvl="1" indent="-342900" algn="just">
              <a:lnSpc>
                <a:spcPct val="107000"/>
              </a:lnSpc>
              <a:spcAft>
                <a:spcPts val="800"/>
              </a:spcAft>
              <a:buFont typeface="Arial" panose="020B0604020202020204" pitchFamily="34" charset="0"/>
              <a:buChar char="•"/>
            </a:pPr>
            <a:r>
              <a:rPr lang="en-GB" sz="1600" dirty="0">
                <a:latin typeface="+mn-lt"/>
                <a:ea typeface="Calibri" panose="020F0502020204030204" pitchFamily="34" charset="0"/>
                <a:cs typeface="Times New Roman" panose="02020603050405020304" pitchFamily="18" charset="0"/>
              </a:rPr>
              <a:t>GDP below 7.5% trend (2000-19), just above trend (2019) due to Govt demand and substantially contracted to negative during COVID</a:t>
            </a:r>
            <a:endParaRPr lang="en-GB" sz="1600" dirty="0">
              <a:effectLst/>
              <a:latin typeface="+mn-lt"/>
              <a:ea typeface="Calibri" panose="020F0502020204030204" pitchFamily="34" charset="0"/>
              <a:cs typeface="Times New Roman" panose="02020603050405020304" pitchFamily="18" charset="0"/>
            </a:endParaRPr>
          </a:p>
          <a:p>
            <a:pPr marL="274320" algn="just">
              <a:lnSpc>
                <a:spcPct val="107000"/>
              </a:lnSpc>
              <a:spcAft>
                <a:spcPts val="800"/>
              </a:spcAft>
            </a:pPr>
            <a:r>
              <a:rPr lang="en-GB" sz="1600" b="1" i="1" dirty="0">
                <a:latin typeface="+mn-lt"/>
                <a:ea typeface="Calibri" panose="020F0502020204030204" pitchFamily="34" charset="0"/>
                <a:cs typeface="Times New Roman" panose="02020603050405020304" pitchFamily="18" charset="0"/>
              </a:rPr>
              <a:t>Current &amp; near-term policy stance (2023-24)</a:t>
            </a:r>
          </a:p>
          <a:p>
            <a:pPr marL="1074420" lvl="1" indent="-342900" algn="just">
              <a:lnSpc>
                <a:spcPct val="107000"/>
              </a:lnSpc>
              <a:spcAft>
                <a:spcPts val="800"/>
              </a:spcAft>
              <a:buFont typeface="Arial" panose="020B0604020202020204" pitchFamily="34" charset="0"/>
              <a:buChar char="•"/>
            </a:pPr>
            <a:r>
              <a:rPr lang="en-GB" sz="1600" dirty="0">
                <a:latin typeface="+mn-lt"/>
                <a:cs typeface="Times New Roman" panose="02020603050405020304" pitchFamily="18" charset="0"/>
              </a:rPr>
              <a:t>improving and favourable global environment in terms of recovering foreign demand, easing world food and oil prices &amp; trading partner's CPI.</a:t>
            </a:r>
          </a:p>
          <a:p>
            <a:pPr marL="1074420" lvl="1" indent="-342900" algn="just">
              <a:lnSpc>
                <a:spcPct val="107000"/>
              </a:lnSpc>
              <a:spcAft>
                <a:spcPts val="800"/>
              </a:spcAft>
              <a:buFont typeface="Arial" panose="020B0604020202020204" pitchFamily="34" charset="0"/>
              <a:buChar char="•"/>
            </a:pPr>
            <a:r>
              <a:rPr lang="en-GB" sz="1600" dirty="0">
                <a:latin typeface="+mn-lt"/>
                <a:ea typeface="Calibri" panose="020F0502020204030204" pitchFamily="34" charset="0"/>
                <a:cs typeface="Times New Roman" panose="02020603050405020304" pitchFamily="18" charset="0"/>
              </a:rPr>
              <a:t>m</a:t>
            </a:r>
            <a:r>
              <a:rPr lang="en-GB" sz="1600" dirty="0">
                <a:effectLst/>
                <a:latin typeface="+mn-lt"/>
                <a:ea typeface="Calibri" panose="020F0502020204030204" pitchFamily="34" charset="0"/>
                <a:cs typeface="Times New Roman" panose="02020603050405020304" pitchFamily="18" charset="0"/>
              </a:rPr>
              <a:t>odestly tight monetary policy</a:t>
            </a:r>
            <a:r>
              <a:rPr lang="en-GB" sz="1600" dirty="0">
                <a:latin typeface="+mn-lt"/>
                <a:ea typeface="Calibri" panose="020F0502020204030204" pitchFamily="34" charset="0"/>
                <a:cs typeface="Times New Roman" panose="02020603050405020304" pitchFamily="18" charset="0"/>
              </a:rPr>
              <a:t> amidst decelerating domestic inflation</a:t>
            </a:r>
            <a:endParaRPr lang="en-GB" sz="1600" dirty="0">
              <a:effectLst/>
              <a:latin typeface="+mn-lt"/>
              <a:ea typeface="Calibri" panose="020F0502020204030204" pitchFamily="34" charset="0"/>
              <a:cs typeface="Times New Roman" panose="02020603050405020304" pitchFamily="18" charset="0"/>
            </a:endParaRPr>
          </a:p>
          <a:p>
            <a:pPr marL="1074420" lvl="1" indent="-342900" algn="just">
              <a:lnSpc>
                <a:spcPct val="107000"/>
              </a:lnSpc>
              <a:spcAft>
                <a:spcPts val="800"/>
              </a:spcAft>
              <a:buFont typeface="Arial" panose="020B0604020202020204" pitchFamily="34" charset="0"/>
              <a:buChar char="•"/>
            </a:pPr>
            <a:r>
              <a:rPr lang="en-GB" sz="1600" dirty="0">
                <a:effectLst/>
                <a:latin typeface="+mn-lt"/>
                <a:ea typeface="Calibri" panose="020F0502020204030204" pitchFamily="34" charset="0"/>
                <a:cs typeface="Times New Roman" panose="02020603050405020304" pitchFamily="18" charset="0"/>
              </a:rPr>
              <a:t>fiscal consolidation in 2022/23 reinforced with the FY2023/24 Budget,</a:t>
            </a:r>
          </a:p>
          <a:p>
            <a:pPr marL="1074420" lvl="1" indent="-342900" algn="just">
              <a:lnSpc>
                <a:spcPct val="107000"/>
              </a:lnSpc>
              <a:spcAft>
                <a:spcPts val="800"/>
              </a:spcAft>
              <a:buFont typeface="Arial" panose="020B0604020202020204" pitchFamily="34" charset="0"/>
              <a:buChar char="•"/>
            </a:pPr>
            <a:r>
              <a:rPr lang="en-GB" sz="1600" dirty="0">
                <a:latin typeface="+mn-lt"/>
                <a:ea typeface="Calibri" panose="020F0502020204030204" pitchFamily="34" charset="0"/>
                <a:cs typeface="Times New Roman" panose="02020603050405020304" pitchFamily="18" charset="0"/>
              </a:rPr>
              <a:t>e</a:t>
            </a:r>
            <a:r>
              <a:rPr lang="en-GB" sz="1600" dirty="0">
                <a:effectLst/>
                <a:latin typeface="+mn-lt"/>
                <a:ea typeface="Calibri" panose="020F0502020204030204" pitchFamily="34" charset="0"/>
                <a:cs typeface="Times New Roman" panose="02020603050405020304" pitchFamily="18" charset="0"/>
              </a:rPr>
              <a:t>xchange rate policy entailing initially some overvaluation have helped contain domestic demand and bring inflation down in 2023, and should continue doing so in the near future. </a:t>
            </a:r>
          </a:p>
          <a:p>
            <a:pPr marL="1074420" lvl="1" indent="-342900" algn="just">
              <a:lnSpc>
                <a:spcPct val="107000"/>
              </a:lnSpc>
              <a:spcAft>
                <a:spcPts val="800"/>
              </a:spcAft>
              <a:buFont typeface="Arial" panose="020B0604020202020204" pitchFamily="34" charset="0"/>
              <a:buChar char="•"/>
            </a:pPr>
            <a:r>
              <a:rPr lang="en-GB" sz="1600" dirty="0">
                <a:effectLst/>
                <a:latin typeface="+mn-lt"/>
                <a:ea typeface="Calibri" panose="020F0502020204030204" pitchFamily="34" charset="0"/>
                <a:cs typeface="Times New Roman" panose="02020603050405020304" pitchFamily="18" charset="0"/>
              </a:rPr>
              <a:t>inflation (shocks) abates, room for procyclical policies to demand/GDP growth back to its potential level, stabilize the fiscal deficit at its sustainable level, and stabilize the RER.</a:t>
            </a:r>
          </a:p>
          <a:p>
            <a:pPr marL="274320" algn="just">
              <a:lnSpc>
                <a:spcPct val="107000"/>
              </a:lnSpc>
              <a:spcAft>
                <a:spcPts val="800"/>
              </a:spcAft>
            </a:pPr>
            <a:endParaRPr lang="en-RW" sz="1600" dirty="0">
              <a:effectLst/>
              <a:latin typeface="+mn-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80260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A450A-4237-4EB1-9D2B-F3F3CF5863EB}"/>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0B2E0171-5A2E-4278-BCBD-03CFEFF3E286}"/>
              </a:ext>
            </a:extLst>
          </p:cNvPr>
          <p:cNvSpPr>
            <a:spLocks noGrp="1"/>
          </p:cNvSpPr>
          <p:nvPr>
            <p:ph type="sldNum" sz="quarter" idx="10"/>
          </p:nvPr>
        </p:nvSpPr>
        <p:spPr/>
        <p:txBody>
          <a:bodyPr/>
          <a:lstStyle/>
          <a:p>
            <a:fld id="{D97AE203-F84D-4A7F-B161-8561326BE072}" type="slidenum">
              <a:rPr lang="en-US" smtClean="0"/>
              <a:pPr/>
              <a:t>7</a:t>
            </a:fld>
            <a:endParaRPr lang="en-US" dirty="0"/>
          </a:p>
        </p:txBody>
      </p:sp>
      <p:sp>
        <p:nvSpPr>
          <p:cNvPr id="5" name="TextBox 4">
            <a:extLst>
              <a:ext uri="{FF2B5EF4-FFF2-40B4-BE49-F238E27FC236}">
                <a16:creationId xmlns:a16="http://schemas.microsoft.com/office/drawing/2014/main" id="{CDB37133-9DBC-417D-A6AC-AD9DF981974B}"/>
              </a:ext>
            </a:extLst>
          </p:cNvPr>
          <p:cNvSpPr txBox="1"/>
          <p:nvPr/>
        </p:nvSpPr>
        <p:spPr>
          <a:xfrm>
            <a:off x="381000" y="1219100"/>
            <a:ext cx="11506200" cy="6765955"/>
          </a:xfrm>
          <a:prstGeom prst="rect">
            <a:avLst/>
          </a:prstGeom>
          <a:noFill/>
        </p:spPr>
        <p:txBody>
          <a:bodyPr wrap="square">
            <a:spAutoFit/>
          </a:bodyPr>
          <a:lstStyle/>
          <a:p>
            <a:pPr marL="274320" algn="just">
              <a:lnSpc>
                <a:spcPct val="107000"/>
              </a:lnSpc>
              <a:spcAft>
                <a:spcPts val="800"/>
              </a:spcAft>
            </a:pPr>
            <a:r>
              <a:rPr lang="en-GB" sz="1600" b="1" i="1" dirty="0">
                <a:latin typeface="+mn-lt"/>
                <a:ea typeface="Calibri" panose="020F0502020204030204" pitchFamily="34" charset="0"/>
                <a:cs typeface="Times New Roman" panose="02020603050405020304" pitchFamily="18" charset="0"/>
              </a:rPr>
              <a:t>Initial condition: recent past developments/trends (2017-2022)</a:t>
            </a:r>
            <a:endParaRPr lang="en-GB" sz="1600" b="1" i="1" dirty="0">
              <a:solidFill>
                <a:srgbClr val="FF0000"/>
              </a:solidFill>
              <a:latin typeface="+mn-lt"/>
              <a:ea typeface="Calibri" panose="020F0502020204030204" pitchFamily="34" charset="0"/>
              <a:cs typeface="Times New Roman" panose="02020603050405020304" pitchFamily="18" charset="0"/>
            </a:endParaRPr>
          </a:p>
          <a:p>
            <a:pPr marL="1074420" lvl="1" indent="-342900" algn="just">
              <a:lnSpc>
                <a:spcPct val="107000"/>
              </a:lnSpc>
              <a:spcAft>
                <a:spcPts val="800"/>
              </a:spcAft>
              <a:buFont typeface="Arial" panose="020B0604020202020204" pitchFamily="34" charset="0"/>
              <a:buChar char="•"/>
            </a:pPr>
            <a:r>
              <a:rPr lang="en-US" sz="1600" dirty="0">
                <a:highlight>
                  <a:srgbClr val="FFFF00"/>
                </a:highlight>
                <a:latin typeface="+mn-lt"/>
                <a:ea typeface="Calibri" panose="020F0502020204030204" pitchFamily="34" charset="0"/>
                <a:cs typeface="Times New Roman" panose="02020603050405020304" pitchFamily="18" charset="0"/>
              </a:rPr>
              <a:t>Real GDP partially recovers from the </a:t>
            </a:r>
            <a:r>
              <a:rPr lang="en-US" sz="1600" dirty="0" err="1">
                <a:highlight>
                  <a:srgbClr val="FFFF00"/>
                </a:highlight>
                <a:latin typeface="+mn-lt"/>
                <a:ea typeface="Calibri" panose="020F0502020204030204" pitchFamily="34" charset="0"/>
                <a:cs typeface="Times New Roman" panose="02020603050405020304" pitchFamily="18" charset="0"/>
              </a:rPr>
              <a:t>Covid</a:t>
            </a:r>
            <a:r>
              <a:rPr lang="en-US" sz="1600" dirty="0">
                <a:highlight>
                  <a:srgbClr val="FFFF00"/>
                </a:highlight>
                <a:latin typeface="+mn-lt"/>
                <a:ea typeface="Calibri" panose="020F0502020204030204" pitchFamily="34" charset="0"/>
                <a:cs typeface="Times New Roman" panose="02020603050405020304" pitchFamily="18" charset="0"/>
              </a:rPr>
              <a:t> downturn but remains below potential. 2023 growth slowed to 6% due to global shocks, inflation, and weak agriculture. Output is estimated to be 6% below potential, with uncertainty about post-</a:t>
            </a:r>
            <a:r>
              <a:rPr lang="en-US" sz="1600" dirty="0" err="1">
                <a:highlight>
                  <a:srgbClr val="FFFF00"/>
                </a:highlight>
                <a:latin typeface="+mn-lt"/>
                <a:ea typeface="Calibri" panose="020F0502020204030204" pitchFamily="34" charset="0"/>
                <a:cs typeface="Times New Roman" panose="02020603050405020304" pitchFamily="18" charset="0"/>
              </a:rPr>
              <a:t>Covid</a:t>
            </a:r>
            <a:r>
              <a:rPr lang="en-US" sz="1600" dirty="0">
                <a:highlight>
                  <a:srgbClr val="FFFF00"/>
                </a:highlight>
                <a:latin typeface="+mn-lt"/>
                <a:ea typeface="Calibri" panose="020F0502020204030204" pitchFamily="34" charset="0"/>
                <a:cs typeface="Times New Roman" panose="02020603050405020304" pitchFamily="18" charset="0"/>
              </a:rPr>
              <a:t> potential output</a:t>
            </a:r>
            <a:r>
              <a:rPr lang="en-US" dirty="0">
                <a:highlight>
                  <a:srgbClr val="FFFF00"/>
                </a:highlight>
              </a:rPr>
              <a:t>. </a:t>
            </a:r>
            <a:r>
              <a:rPr lang="en-US" sz="1600" dirty="0">
                <a:highlight>
                  <a:srgbClr val="FFFF00"/>
                </a:highlight>
                <a:latin typeface="+mn-lt"/>
                <a:ea typeface="Calibri" panose="020F0502020204030204" pitchFamily="34" charset="0"/>
                <a:cs typeface="Times New Roman" panose="02020603050405020304" pitchFamily="18" charset="0"/>
              </a:rPr>
              <a:t>Private consumption has not fully recovered, remaining below trend, and dipped further in early 2023 due to inflation</a:t>
            </a:r>
          </a:p>
          <a:p>
            <a:pPr marL="1074420" lvl="1" indent="-342900" algn="just">
              <a:lnSpc>
                <a:spcPct val="107000"/>
              </a:lnSpc>
              <a:spcAft>
                <a:spcPts val="800"/>
              </a:spcAft>
              <a:buFont typeface="Arial" panose="020B0604020202020204" pitchFamily="34" charset="0"/>
              <a:buChar char="•"/>
            </a:pPr>
            <a:r>
              <a:rPr lang="en-US" sz="1600" dirty="0">
                <a:highlight>
                  <a:srgbClr val="FFFF00"/>
                </a:highlight>
                <a:latin typeface="+mn-lt"/>
                <a:ea typeface="Calibri" panose="020F0502020204030204" pitchFamily="34" charset="0"/>
                <a:cs typeface="Times New Roman" panose="02020603050405020304" pitchFamily="18" charset="0"/>
              </a:rPr>
              <a:t>Current monetary policy is modestly tight, with the interbank rate at 8%. Real interest rates have become almost positive, helping to stem private demand. The nominal exchange rate has depreciated, offsetting high inflation and reversing overvaluation. The real exchange rate returns to its trend by 2023Q3, positively affecting net exports.</a:t>
            </a:r>
            <a:endParaRPr lang="en-GB" sz="1600" dirty="0">
              <a:highlight>
                <a:srgbClr val="FFFF00"/>
              </a:highlight>
              <a:latin typeface="+mn-lt"/>
              <a:ea typeface="Calibri" panose="020F0502020204030204" pitchFamily="34" charset="0"/>
              <a:cs typeface="Times New Roman" panose="02020603050405020304" pitchFamily="18" charset="0"/>
            </a:endParaRPr>
          </a:p>
          <a:p>
            <a:pPr marL="1074420" lvl="1" indent="-342900" algn="just">
              <a:lnSpc>
                <a:spcPct val="107000"/>
              </a:lnSpc>
              <a:spcAft>
                <a:spcPts val="800"/>
              </a:spcAft>
              <a:buFont typeface="Arial" panose="020B0604020202020204" pitchFamily="34" charset="0"/>
              <a:buChar char="•"/>
            </a:pPr>
            <a:r>
              <a:rPr lang="en-US" sz="1600" dirty="0">
                <a:highlight>
                  <a:srgbClr val="FFFF00"/>
                </a:highlight>
                <a:latin typeface="+mn-lt"/>
                <a:ea typeface="Calibri" panose="020F0502020204030204" pitchFamily="34" charset="0"/>
                <a:cs typeface="Times New Roman" panose="02020603050405020304" pitchFamily="18" charset="0"/>
              </a:rPr>
              <a:t>Fiscal policies are shifting from expansionary to contractionary, with deficit reductions of about 1% of GDP in both FY2023/24 and FY2024/25. The fiscal stance switches from +2% to -2% of GDP, with an average total effect on output of +/-1.7% of GDP.</a:t>
            </a:r>
            <a:endParaRPr lang="en-GB" sz="1600" dirty="0">
              <a:highlight>
                <a:srgbClr val="FFFF00"/>
              </a:highlight>
              <a:latin typeface="+mn-lt"/>
              <a:ea typeface="Calibri" panose="020F0502020204030204" pitchFamily="34" charset="0"/>
              <a:cs typeface="Times New Roman" panose="02020603050405020304" pitchFamily="18" charset="0"/>
            </a:endParaRPr>
          </a:p>
          <a:p>
            <a:pPr marL="274320" algn="just">
              <a:lnSpc>
                <a:spcPct val="107000"/>
              </a:lnSpc>
              <a:spcAft>
                <a:spcPts val="800"/>
              </a:spcAft>
            </a:pPr>
            <a:r>
              <a:rPr lang="en-GB" sz="1600" b="1" i="1" dirty="0">
                <a:latin typeface="+mn-lt"/>
                <a:ea typeface="Calibri" panose="020F0502020204030204" pitchFamily="34" charset="0"/>
                <a:cs typeface="Times New Roman" panose="02020603050405020304" pitchFamily="18" charset="0"/>
              </a:rPr>
              <a:t>Current &amp; near-term policy stance (2023-24)</a:t>
            </a:r>
          </a:p>
          <a:p>
            <a:pPr marL="1074420" lvl="1" indent="-342900" algn="just">
              <a:lnSpc>
                <a:spcPct val="107000"/>
              </a:lnSpc>
              <a:spcAft>
                <a:spcPts val="800"/>
              </a:spcAft>
              <a:buFont typeface="Arial" panose="020B0604020202020204" pitchFamily="34" charset="0"/>
              <a:buChar char="•"/>
            </a:pPr>
            <a:r>
              <a:rPr lang="en-GB" sz="1600" dirty="0">
                <a:latin typeface="+mn-lt"/>
                <a:cs typeface="Times New Roman" panose="02020603050405020304" pitchFamily="18" charset="0"/>
              </a:rPr>
              <a:t>improving and favourable global environment in terms of recovering foreign demand, easing world food and oil prices &amp; trading partner's CPI.</a:t>
            </a:r>
          </a:p>
          <a:p>
            <a:pPr marL="1074420" lvl="1" indent="-342900" algn="just">
              <a:lnSpc>
                <a:spcPct val="107000"/>
              </a:lnSpc>
              <a:spcAft>
                <a:spcPts val="800"/>
              </a:spcAft>
              <a:buFont typeface="Arial" panose="020B0604020202020204" pitchFamily="34" charset="0"/>
              <a:buChar char="•"/>
            </a:pPr>
            <a:r>
              <a:rPr lang="en-GB" sz="1600" dirty="0">
                <a:latin typeface="+mn-lt"/>
                <a:ea typeface="Calibri" panose="020F0502020204030204" pitchFamily="34" charset="0"/>
                <a:cs typeface="Times New Roman" panose="02020603050405020304" pitchFamily="18" charset="0"/>
              </a:rPr>
              <a:t>m</a:t>
            </a:r>
            <a:r>
              <a:rPr lang="en-GB" sz="1600" dirty="0">
                <a:effectLst/>
                <a:latin typeface="+mn-lt"/>
                <a:ea typeface="Calibri" panose="020F0502020204030204" pitchFamily="34" charset="0"/>
                <a:cs typeface="Times New Roman" panose="02020603050405020304" pitchFamily="18" charset="0"/>
              </a:rPr>
              <a:t>odestly tight monetary policy</a:t>
            </a:r>
            <a:r>
              <a:rPr lang="en-GB" sz="1600" dirty="0">
                <a:latin typeface="+mn-lt"/>
                <a:ea typeface="Calibri" panose="020F0502020204030204" pitchFamily="34" charset="0"/>
                <a:cs typeface="Times New Roman" panose="02020603050405020304" pitchFamily="18" charset="0"/>
              </a:rPr>
              <a:t> amidst decelerating domestic inflation</a:t>
            </a:r>
            <a:endParaRPr lang="en-GB" sz="1600" dirty="0">
              <a:effectLst/>
              <a:latin typeface="+mn-lt"/>
              <a:ea typeface="Calibri" panose="020F0502020204030204" pitchFamily="34" charset="0"/>
              <a:cs typeface="Times New Roman" panose="02020603050405020304" pitchFamily="18" charset="0"/>
            </a:endParaRPr>
          </a:p>
          <a:p>
            <a:pPr marL="1074420" lvl="1" indent="-342900" algn="just">
              <a:lnSpc>
                <a:spcPct val="107000"/>
              </a:lnSpc>
              <a:spcAft>
                <a:spcPts val="800"/>
              </a:spcAft>
              <a:buFont typeface="Arial" panose="020B0604020202020204" pitchFamily="34" charset="0"/>
              <a:buChar char="•"/>
            </a:pPr>
            <a:r>
              <a:rPr lang="en-GB" sz="1600" dirty="0">
                <a:effectLst/>
                <a:latin typeface="+mn-lt"/>
                <a:ea typeface="Calibri" panose="020F0502020204030204" pitchFamily="34" charset="0"/>
                <a:cs typeface="Times New Roman" panose="02020603050405020304" pitchFamily="18" charset="0"/>
              </a:rPr>
              <a:t>fiscal consolidation in 2022/23 reinforced with the FY2023/24 Budget,</a:t>
            </a:r>
          </a:p>
          <a:p>
            <a:pPr marL="1074420" lvl="1" indent="-342900" algn="just">
              <a:lnSpc>
                <a:spcPct val="107000"/>
              </a:lnSpc>
              <a:spcAft>
                <a:spcPts val="800"/>
              </a:spcAft>
              <a:buFont typeface="Arial" panose="020B0604020202020204" pitchFamily="34" charset="0"/>
              <a:buChar char="•"/>
            </a:pPr>
            <a:r>
              <a:rPr lang="en-GB" sz="1600" dirty="0">
                <a:latin typeface="+mn-lt"/>
                <a:ea typeface="Calibri" panose="020F0502020204030204" pitchFamily="34" charset="0"/>
                <a:cs typeface="Times New Roman" panose="02020603050405020304" pitchFamily="18" charset="0"/>
              </a:rPr>
              <a:t>e</a:t>
            </a:r>
            <a:r>
              <a:rPr lang="en-GB" sz="1600" dirty="0">
                <a:effectLst/>
                <a:latin typeface="+mn-lt"/>
                <a:ea typeface="Calibri" panose="020F0502020204030204" pitchFamily="34" charset="0"/>
                <a:cs typeface="Times New Roman" panose="02020603050405020304" pitchFamily="18" charset="0"/>
              </a:rPr>
              <a:t>xchange rate policy entailing initially some overvaluation have helped contain domestic demand and bring inflation down in 2023, and should continue doing so in the near future. </a:t>
            </a:r>
          </a:p>
          <a:p>
            <a:pPr marL="1074420" lvl="1" indent="-342900" algn="just">
              <a:lnSpc>
                <a:spcPct val="107000"/>
              </a:lnSpc>
              <a:spcAft>
                <a:spcPts val="800"/>
              </a:spcAft>
              <a:buFont typeface="Arial" panose="020B0604020202020204" pitchFamily="34" charset="0"/>
              <a:buChar char="•"/>
            </a:pPr>
            <a:r>
              <a:rPr lang="en-GB" sz="1600" dirty="0">
                <a:effectLst/>
                <a:latin typeface="+mn-lt"/>
                <a:ea typeface="Calibri" panose="020F0502020204030204" pitchFamily="34" charset="0"/>
                <a:cs typeface="Times New Roman" panose="02020603050405020304" pitchFamily="18" charset="0"/>
              </a:rPr>
              <a:t>inflation (shocks) abates, room for procyclical policies to demand/GDP growth back to its potential level, stabilize the fiscal deficit at its sustainable level, and stabilize the RER.</a:t>
            </a:r>
          </a:p>
          <a:p>
            <a:pPr marL="274320" algn="just">
              <a:lnSpc>
                <a:spcPct val="107000"/>
              </a:lnSpc>
              <a:spcAft>
                <a:spcPts val="800"/>
              </a:spcAft>
            </a:pPr>
            <a:endParaRPr lang="en-RW" sz="1600" dirty="0">
              <a:effectLst/>
              <a:latin typeface="+mn-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90330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6E48A-ACEE-51EB-B834-992F80F1053E}"/>
              </a:ext>
            </a:extLst>
          </p:cNvPr>
          <p:cNvSpPr>
            <a:spLocks noGrp="1"/>
          </p:cNvSpPr>
          <p:nvPr>
            <p:ph type="title"/>
          </p:nvPr>
        </p:nvSpPr>
        <p:spPr>
          <a:xfrm>
            <a:off x="1676400" y="76199"/>
            <a:ext cx="10210800" cy="838200"/>
          </a:xfrm>
        </p:spPr>
        <p:txBody>
          <a:bodyPr/>
          <a:lstStyle/>
          <a:p>
            <a:r>
              <a:rPr lang="en-GB" b="1" dirty="0"/>
              <a:t>3. Forecast assumptions (tunes) 2023Q3-2024Q1</a:t>
            </a:r>
            <a:endParaRPr lang="en-AE" dirty="0">
              <a:solidFill>
                <a:srgbClr val="FF0000"/>
              </a:solidFill>
            </a:endParaRPr>
          </a:p>
        </p:txBody>
      </p:sp>
      <p:sp>
        <p:nvSpPr>
          <p:cNvPr id="3" name="Slide Number Placeholder 2">
            <a:extLst>
              <a:ext uri="{FF2B5EF4-FFF2-40B4-BE49-F238E27FC236}">
                <a16:creationId xmlns:a16="http://schemas.microsoft.com/office/drawing/2014/main" id="{60CEC34D-CC97-3D7D-A18A-8A80FC2EAA0E}"/>
              </a:ext>
            </a:extLst>
          </p:cNvPr>
          <p:cNvSpPr>
            <a:spLocks noGrp="1"/>
          </p:cNvSpPr>
          <p:nvPr>
            <p:ph type="sldNum" sz="quarter" idx="10"/>
          </p:nvPr>
        </p:nvSpPr>
        <p:spPr/>
        <p:txBody>
          <a:bodyPr/>
          <a:lstStyle/>
          <a:p>
            <a:fld id="{D97AE203-F84D-4A7F-B161-8561326BE072}" type="slidenum">
              <a:rPr lang="en-US" smtClean="0"/>
              <a:pPr/>
              <a:t>8</a:t>
            </a:fld>
            <a:endParaRPr lang="en-US" dirty="0"/>
          </a:p>
        </p:txBody>
      </p:sp>
      <p:sp>
        <p:nvSpPr>
          <p:cNvPr id="4" name="Content Placeholder 2">
            <a:extLst>
              <a:ext uri="{FF2B5EF4-FFF2-40B4-BE49-F238E27FC236}">
                <a16:creationId xmlns:a16="http://schemas.microsoft.com/office/drawing/2014/main" id="{C77357A2-BC7F-DEA1-E1F9-C481EA57A693}"/>
              </a:ext>
            </a:extLst>
          </p:cNvPr>
          <p:cNvSpPr txBox="1">
            <a:spLocks/>
          </p:cNvSpPr>
          <p:nvPr/>
        </p:nvSpPr>
        <p:spPr>
          <a:xfrm>
            <a:off x="609600" y="1371600"/>
            <a:ext cx="11201400" cy="5045076"/>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Font typeface="Wingdings" panose="05000000000000000000" pitchFamily="2" charset="2"/>
              <a:buNone/>
            </a:pPr>
            <a:endParaRPr lang="en-AE" dirty="0"/>
          </a:p>
        </p:txBody>
      </p:sp>
      <p:sp>
        <p:nvSpPr>
          <p:cNvPr id="5" name="TextBox 4">
            <a:extLst>
              <a:ext uri="{FF2B5EF4-FFF2-40B4-BE49-F238E27FC236}">
                <a16:creationId xmlns:a16="http://schemas.microsoft.com/office/drawing/2014/main" id="{89D1F52A-5E85-2D1F-F7D4-AE63E3F5EA83}"/>
              </a:ext>
            </a:extLst>
          </p:cNvPr>
          <p:cNvSpPr txBox="1"/>
          <p:nvPr/>
        </p:nvSpPr>
        <p:spPr>
          <a:xfrm>
            <a:off x="1752600" y="1357610"/>
            <a:ext cx="8381999" cy="3194401"/>
          </a:xfrm>
          <a:prstGeom prst="rect">
            <a:avLst/>
          </a:prstGeom>
          <a:noFill/>
        </p:spPr>
        <p:txBody>
          <a:bodyPr wrap="square" rtlCol="0">
            <a:spAutoFit/>
          </a:bodyPr>
          <a:lstStyle/>
          <a:p>
            <a:pPr>
              <a:lnSpc>
                <a:spcPct val="150000"/>
              </a:lnSpc>
            </a:pPr>
            <a:r>
              <a:rPr lang="en-US" sz="1800" b="1" dirty="0">
                <a:latin typeface="+mn-lt"/>
              </a:rPr>
              <a:t>The forecasts are conditional on exogenous and judgmental assumptions:</a:t>
            </a:r>
          </a:p>
          <a:p>
            <a:pPr marL="800100" lvl="1" indent="-342900">
              <a:lnSpc>
                <a:spcPct val="200000"/>
              </a:lnSpc>
              <a:buFont typeface="Wingdings" panose="05000000000000000000" pitchFamily="2" charset="2"/>
              <a:buChar char="§"/>
            </a:pPr>
            <a:r>
              <a:rPr lang="en-US" sz="1800" dirty="0">
                <a:latin typeface="+mn-lt"/>
              </a:rPr>
              <a:t>external environment (foreign prices, demand, food/oil prices, interest rates)</a:t>
            </a:r>
          </a:p>
          <a:p>
            <a:pPr marL="800100" lvl="1" indent="-342900">
              <a:lnSpc>
                <a:spcPct val="200000"/>
              </a:lnSpc>
              <a:buFont typeface="Wingdings" panose="05000000000000000000" pitchFamily="2" charset="2"/>
              <a:buChar char="§"/>
            </a:pPr>
            <a:r>
              <a:rPr lang="en-US" sz="1800" dirty="0">
                <a:latin typeface="+mn-lt"/>
              </a:rPr>
              <a:t>domestic trends and gaps distilled from historic data (quarterly 2006-23)</a:t>
            </a:r>
          </a:p>
          <a:p>
            <a:pPr marL="800100" lvl="1" indent="-342900">
              <a:lnSpc>
                <a:spcPct val="200000"/>
              </a:lnSpc>
              <a:buFont typeface="Wingdings" panose="05000000000000000000" pitchFamily="2" charset="2"/>
              <a:buChar char="§"/>
            </a:pPr>
            <a:r>
              <a:rPr lang="en-US" sz="1800" dirty="0">
                <a:latin typeface="+mn-lt"/>
              </a:rPr>
              <a:t>domestic near-term forecasts (now/forecast GDP,  latest CPI,  judgements…) </a:t>
            </a:r>
          </a:p>
          <a:p>
            <a:pPr marL="800100" lvl="1" indent="-342900">
              <a:lnSpc>
                <a:spcPct val="200000"/>
              </a:lnSpc>
              <a:buFont typeface="Wingdings" panose="05000000000000000000" pitchFamily="2" charset="2"/>
              <a:buChar char="§"/>
            </a:pPr>
            <a:r>
              <a:rPr lang="en-US" sz="1800" dirty="0">
                <a:latin typeface="+mn-lt"/>
              </a:rPr>
              <a:t>recently observed shocks disappear, e.g., agriculture normalizes and food and core price shocks are abating.</a:t>
            </a:r>
          </a:p>
        </p:txBody>
      </p:sp>
    </p:spTree>
    <p:extLst>
      <p:ext uri="{BB962C8B-B14F-4D97-AF65-F5344CB8AC3E}">
        <p14:creationId xmlns:p14="http://schemas.microsoft.com/office/powerpoint/2010/main" val="255769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6E48A-ACEE-51EB-B834-992F80F1053E}"/>
              </a:ext>
            </a:extLst>
          </p:cNvPr>
          <p:cNvSpPr>
            <a:spLocks noGrp="1"/>
          </p:cNvSpPr>
          <p:nvPr>
            <p:ph type="title"/>
          </p:nvPr>
        </p:nvSpPr>
        <p:spPr>
          <a:xfrm>
            <a:off x="1625600" y="228600"/>
            <a:ext cx="10261600" cy="685800"/>
          </a:xfrm>
        </p:spPr>
        <p:txBody>
          <a:bodyPr/>
          <a:lstStyle/>
          <a:p>
            <a:r>
              <a:rPr lang="en-GB" b="1" dirty="0"/>
              <a:t>3.1 External environment/outlook </a:t>
            </a:r>
            <a:endParaRPr lang="en-AE" b="1" dirty="0"/>
          </a:p>
        </p:txBody>
      </p:sp>
      <p:sp>
        <p:nvSpPr>
          <p:cNvPr id="3" name="Slide Number Placeholder 2">
            <a:extLst>
              <a:ext uri="{FF2B5EF4-FFF2-40B4-BE49-F238E27FC236}">
                <a16:creationId xmlns:a16="http://schemas.microsoft.com/office/drawing/2014/main" id="{60CEC34D-CC97-3D7D-A18A-8A80FC2EAA0E}"/>
              </a:ext>
            </a:extLst>
          </p:cNvPr>
          <p:cNvSpPr>
            <a:spLocks noGrp="1"/>
          </p:cNvSpPr>
          <p:nvPr>
            <p:ph type="sldNum" sz="quarter" idx="10"/>
          </p:nvPr>
        </p:nvSpPr>
        <p:spPr/>
        <p:txBody>
          <a:bodyPr/>
          <a:lstStyle/>
          <a:p>
            <a:fld id="{D97AE203-F84D-4A7F-B161-8561326BE072}" type="slidenum">
              <a:rPr lang="en-US" smtClean="0"/>
              <a:pPr/>
              <a:t>9</a:t>
            </a:fld>
            <a:endParaRPr lang="en-US" dirty="0"/>
          </a:p>
        </p:txBody>
      </p:sp>
      <p:sp>
        <p:nvSpPr>
          <p:cNvPr id="4" name="Content Placeholder 2">
            <a:extLst>
              <a:ext uri="{FF2B5EF4-FFF2-40B4-BE49-F238E27FC236}">
                <a16:creationId xmlns:a16="http://schemas.microsoft.com/office/drawing/2014/main" id="{C77357A2-BC7F-DEA1-E1F9-C481EA57A693}"/>
              </a:ext>
            </a:extLst>
          </p:cNvPr>
          <p:cNvSpPr txBox="1">
            <a:spLocks/>
          </p:cNvSpPr>
          <p:nvPr/>
        </p:nvSpPr>
        <p:spPr>
          <a:xfrm>
            <a:off x="4809067" y="4295583"/>
            <a:ext cx="3259666" cy="2182067"/>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4320" indent="-285750" algn="just">
              <a:spcBef>
                <a:spcPts val="300"/>
              </a:spcBef>
              <a:spcAft>
                <a:spcPts val="400"/>
              </a:spcAft>
              <a:buFont typeface="Arial" panose="020B0604020202020204" pitchFamily="34" charset="0"/>
              <a:buChar char="•"/>
            </a:pPr>
            <a:r>
              <a:rPr lang="en-US" sz="1800" dirty="0"/>
              <a:t>World real interest rates are expected to rise from negative around -1% in the past decade to +1% by 2027, with the increase likely transmitting one-for-one to Rwanda’s sovereign borrowing rates</a:t>
            </a:r>
            <a:endParaRPr lang="en-GB" sz="1800" dirty="0"/>
          </a:p>
        </p:txBody>
      </p:sp>
      <p:sp>
        <p:nvSpPr>
          <p:cNvPr id="13" name="TextBox 12">
            <a:extLst>
              <a:ext uri="{FF2B5EF4-FFF2-40B4-BE49-F238E27FC236}">
                <a16:creationId xmlns:a16="http://schemas.microsoft.com/office/drawing/2014/main" id="{825E27BE-9404-C370-027C-CC987668662F}"/>
              </a:ext>
            </a:extLst>
          </p:cNvPr>
          <p:cNvSpPr txBox="1"/>
          <p:nvPr/>
        </p:nvSpPr>
        <p:spPr>
          <a:xfrm>
            <a:off x="914400" y="4295583"/>
            <a:ext cx="3505200" cy="2121093"/>
          </a:xfrm>
          <a:prstGeom prst="rect">
            <a:avLst/>
          </a:prstGeom>
          <a:noFill/>
        </p:spPr>
        <p:txBody>
          <a:bodyPr wrap="square" rtlCol="0">
            <a:spAutoFit/>
          </a:bodyPr>
          <a:lstStyle/>
          <a:p>
            <a:pPr marL="274320" indent="-285750" algn="just">
              <a:spcBef>
                <a:spcPts val="300"/>
              </a:spcBef>
              <a:spcAft>
                <a:spcPts val="400"/>
              </a:spcAft>
              <a:buFont typeface="Arial" panose="020B0604020202020204" pitchFamily="34" charset="0"/>
              <a:buChar char="•"/>
            </a:pPr>
            <a:r>
              <a:rPr lang="en-GB" sz="1800" dirty="0">
                <a:latin typeface="+mn-lt"/>
              </a:rPr>
              <a:t>World economy slowing down as interest rates are raised in response to inflation</a:t>
            </a:r>
          </a:p>
          <a:p>
            <a:pPr marL="274320" indent="-285750" algn="just">
              <a:spcBef>
                <a:spcPts val="300"/>
              </a:spcBef>
              <a:spcAft>
                <a:spcPts val="400"/>
              </a:spcAft>
              <a:buFont typeface="Arial" panose="020B0604020202020204" pitchFamily="34" charset="0"/>
              <a:buChar char="•"/>
            </a:pPr>
            <a:r>
              <a:rPr lang="en-GB" sz="1800" dirty="0">
                <a:latin typeface="+mn-lt"/>
              </a:rPr>
              <a:t>Rwanda still enjoys recovery in trading partner demand relative to Covid-years, at 3% p.y., well above trend</a:t>
            </a:r>
          </a:p>
        </p:txBody>
      </p:sp>
      <p:sp>
        <p:nvSpPr>
          <p:cNvPr id="15" name="TextBox 14">
            <a:extLst>
              <a:ext uri="{FF2B5EF4-FFF2-40B4-BE49-F238E27FC236}">
                <a16:creationId xmlns:a16="http://schemas.microsoft.com/office/drawing/2014/main" id="{EDB14C2A-2CC5-2CF7-555D-E64A5656523F}"/>
              </a:ext>
            </a:extLst>
          </p:cNvPr>
          <p:cNvSpPr txBox="1"/>
          <p:nvPr/>
        </p:nvSpPr>
        <p:spPr>
          <a:xfrm>
            <a:off x="8610600" y="4295583"/>
            <a:ext cx="2963334" cy="2031325"/>
          </a:xfrm>
          <a:prstGeom prst="rect">
            <a:avLst/>
          </a:prstGeom>
          <a:noFill/>
        </p:spPr>
        <p:txBody>
          <a:bodyPr wrap="square" rtlCol="0">
            <a:spAutoFit/>
          </a:bodyPr>
          <a:lstStyle/>
          <a:p>
            <a:pPr marL="274320" indent="-285750" algn="just" eaLnBrk="0" hangingPunct="0">
              <a:spcBef>
                <a:spcPts val="300"/>
              </a:spcBef>
              <a:spcAft>
                <a:spcPts val="400"/>
              </a:spcAft>
              <a:buClr>
                <a:schemeClr val="accent1"/>
              </a:buClr>
              <a:buSzPct val="76000"/>
              <a:buFont typeface="Arial" panose="020B0604020202020204" pitchFamily="34" charset="0"/>
              <a:buChar char="•"/>
            </a:pPr>
            <a:r>
              <a:rPr lang="en-US" sz="1800" dirty="0">
                <a:latin typeface="+mn-lt"/>
              </a:rPr>
              <a:t>Trading partners’ CPI inflation (in US$)—subdued at 1.5% </a:t>
            </a:r>
            <a:r>
              <a:rPr lang="en-US" sz="1800" dirty="0" err="1">
                <a:latin typeface="+mn-lt"/>
              </a:rPr>
              <a:t>p.y</a:t>
            </a:r>
            <a:r>
              <a:rPr lang="en-US" sz="1800" dirty="0">
                <a:latin typeface="+mn-lt"/>
              </a:rPr>
              <a:t>. in the past 5-7 years—is projected to return to its trend level of 2% in the coming years </a:t>
            </a:r>
            <a:endParaRPr lang="en-AE" sz="1800" dirty="0">
              <a:latin typeface="+mn-lt"/>
            </a:endParaRPr>
          </a:p>
        </p:txBody>
      </p:sp>
      <p:pic>
        <p:nvPicPr>
          <p:cNvPr id="5" name="Picture 4">
            <a:extLst>
              <a:ext uri="{FF2B5EF4-FFF2-40B4-BE49-F238E27FC236}">
                <a16:creationId xmlns:a16="http://schemas.microsoft.com/office/drawing/2014/main" id="{35E47C1F-109D-4B1C-BC30-E6FA8F1951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06366" y="1985513"/>
            <a:ext cx="2892214" cy="2218567"/>
          </a:xfrm>
          <a:prstGeom prst="rect">
            <a:avLst/>
          </a:prstGeom>
          <a:effectLst>
            <a:glow rad="50800">
              <a:srgbClr val="FFC000">
                <a:lumMod val="60000"/>
                <a:lumOff val="40000"/>
              </a:srgbClr>
            </a:glow>
          </a:effectLst>
        </p:spPr>
      </p:pic>
      <p:pic>
        <p:nvPicPr>
          <p:cNvPr id="6" name="Picture 5">
            <a:extLst>
              <a:ext uri="{FF2B5EF4-FFF2-40B4-BE49-F238E27FC236}">
                <a16:creationId xmlns:a16="http://schemas.microsoft.com/office/drawing/2014/main" id="{25A14C92-C839-2E1A-5392-CF1059982B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68333" y="1985664"/>
            <a:ext cx="3200400" cy="2218567"/>
          </a:xfrm>
          <a:prstGeom prst="rect">
            <a:avLst/>
          </a:prstGeom>
          <a:effectLst>
            <a:glow rad="50800">
              <a:srgbClr val="FFC000">
                <a:lumMod val="60000"/>
                <a:lumOff val="40000"/>
              </a:srgbClr>
            </a:glow>
          </a:effectLst>
        </p:spPr>
      </p:pic>
      <p:pic>
        <p:nvPicPr>
          <p:cNvPr id="9" name="Picture 8">
            <a:extLst>
              <a:ext uri="{FF2B5EF4-FFF2-40B4-BE49-F238E27FC236}">
                <a16:creationId xmlns:a16="http://schemas.microsoft.com/office/drawing/2014/main" id="{5F1A0FEE-4416-9197-6107-19EDC8DA69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600" y="1981200"/>
            <a:ext cx="3352800" cy="2223031"/>
          </a:xfrm>
          <a:prstGeom prst="rect">
            <a:avLst/>
          </a:prstGeom>
          <a:effectLst>
            <a:glow rad="50800">
              <a:srgbClr val="FFC000">
                <a:lumMod val="60000"/>
                <a:lumOff val="40000"/>
              </a:srgbClr>
            </a:glow>
          </a:effectLst>
        </p:spPr>
      </p:pic>
      <p:sp>
        <p:nvSpPr>
          <p:cNvPr id="10" name="TextBox 9">
            <a:extLst>
              <a:ext uri="{FF2B5EF4-FFF2-40B4-BE49-F238E27FC236}">
                <a16:creationId xmlns:a16="http://schemas.microsoft.com/office/drawing/2014/main" id="{13E3C7CE-A7F7-E6C9-1342-1428AAC53EC2}"/>
              </a:ext>
            </a:extLst>
          </p:cNvPr>
          <p:cNvSpPr txBox="1"/>
          <p:nvPr/>
        </p:nvSpPr>
        <p:spPr>
          <a:xfrm>
            <a:off x="914400" y="1219200"/>
            <a:ext cx="10659534" cy="664797"/>
          </a:xfrm>
          <a:prstGeom prst="rect">
            <a:avLst/>
          </a:prstGeom>
          <a:noFill/>
        </p:spPr>
        <p:txBody>
          <a:bodyPr wrap="square" rtlCol="0">
            <a:spAutoFit/>
          </a:bodyPr>
          <a:lstStyle/>
          <a:p>
            <a:pPr marL="914400" indent="-914400" algn="just">
              <a:lnSpc>
                <a:spcPct val="107000"/>
              </a:lnSpc>
              <a:spcAft>
                <a:spcPts val="800"/>
              </a:spcAft>
            </a:pPr>
            <a:r>
              <a:rPr lang="en-GB" sz="1800" b="1" dirty="0">
                <a:effectLst/>
                <a:latin typeface="+mn-lt"/>
                <a:ea typeface="Calibri" panose="020F0502020204030204" pitchFamily="34" charset="0"/>
                <a:cs typeface="Times New Roman" panose="02020603050405020304" pitchFamily="18" charset="0"/>
              </a:rPr>
              <a:t>overall outlook is improving</a:t>
            </a:r>
            <a:r>
              <a:rPr lang="en-GB" sz="1800" dirty="0">
                <a:effectLst/>
                <a:latin typeface="+mn-lt"/>
                <a:ea typeface="Calibri" panose="020F0502020204030204" pitchFamily="34" charset="0"/>
                <a:cs typeface="Times New Roman" panose="02020603050405020304" pitchFamily="18" charset="0"/>
              </a:rPr>
              <a:t> after the Covid-Ukraine crises, but with downside risks.</a:t>
            </a:r>
            <a:r>
              <a:rPr lang="en-GB" sz="1800" dirty="0">
                <a:latin typeface="+mn-lt"/>
                <a:ea typeface="Calibri" panose="020F0502020204030204" pitchFamily="34" charset="0"/>
                <a:cs typeface="Times New Roman" panose="02020603050405020304" pitchFamily="18" charset="0"/>
              </a:rPr>
              <a:t> W</a:t>
            </a:r>
            <a:r>
              <a:rPr lang="en-GB" sz="1800" dirty="0">
                <a:effectLst/>
                <a:latin typeface="+mn-lt"/>
                <a:ea typeface="Calibri" panose="020F0502020204030204" pitchFamily="34" charset="0"/>
              </a:rPr>
              <a:t>orld economy is slowing down due to world </a:t>
            </a:r>
            <a:r>
              <a:rPr lang="en-GB" sz="1800" dirty="0">
                <a:latin typeface="+mn-lt"/>
                <a:ea typeface="Calibri" panose="020F0502020204030204" pitchFamily="34" charset="0"/>
              </a:rPr>
              <a:t>increased </a:t>
            </a:r>
            <a:r>
              <a:rPr lang="en-GB" sz="1800" dirty="0">
                <a:effectLst/>
                <a:latin typeface="+mn-lt"/>
                <a:ea typeface="Calibri" panose="020F0502020204030204" pitchFamily="34" charset="0"/>
              </a:rPr>
              <a:t>interest rate in response to inflation</a:t>
            </a:r>
            <a:endParaRPr lang="en-RW" dirty="0">
              <a:latin typeface="+mn-lt"/>
            </a:endParaRPr>
          </a:p>
        </p:txBody>
      </p:sp>
    </p:spTree>
    <p:extLst>
      <p:ext uri="{BB962C8B-B14F-4D97-AF65-F5344CB8AC3E}">
        <p14:creationId xmlns:p14="http://schemas.microsoft.com/office/powerpoint/2010/main" val="1227849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6E48A-ACEE-51EB-B834-992F80F1053E}"/>
              </a:ext>
            </a:extLst>
          </p:cNvPr>
          <p:cNvSpPr>
            <a:spLocks noGrp="1"/>
          </p:cNvSpPr>
          <p:nvPr>
            <p:ph type="title"/>
          </p:nvPr>
        </p:nvSpPr>
        <p:spPr>
          <a:xfrm>
            <a:off x="1625600" y="228600"/>
            <a:ext cx="10261600" cy="706020"/>
          </a:xfrm>
        </p:spPr>
        <p:txBody>
          <a:bodyPr/>
          <a:lstStyle/>
          <a:p>
            <a:r>
              <a:rPr lang="en-GB" b="1" dirty="0"/>
              <a:t>3.2 Domestic environment assumptions</a:t>
            </a:r>
            <a:endParaRPr lang="en-AE" b="1" dirty="0">
              <a:solidFill>
                <a:srgbClr val="FF0000"/>
              </a:solidFill>
            </a:endParaRPr>
          </a:p>
        </p:txBody>
      </p:sp>
      <p:sp>
        <p:nvSpPr>
          <p:cNvPr id="3" name="Slide Number Placeholder 2">
            <a:extLst>
              <a:ext uri="{FF2B5EF4-FFF2-40B4-BE49-F238E27FC236}">
                <a16:creationId xmlns:a16="http://schemas.microsoft.com/office/drawing/2014/main" id="{60CEC34D-CC97-3D7D-A18A-8A80FC2EAA0E}"/>
              </a:ext>
            </a:extLst>
          </p:cNvPr>
          <p:cNvSpPr>
            <a:spLocks noGrp="1"/>
          </p:cNvSpPr>
          <p:nvPr>
            <p:ph type="sldNum" sz="quarter" idx="10"/>
          </p:nvPr>
        </p:nvSpPr>
        <p:spPr/>
        <p:txBody>
          <a:bodyPr/>
          <a:lstStyle/>
          <a:p>
            <a:fld id="{D97AE203-F84D-4A7F-B161-8561326BE072}" type="slidenum">
              <a:rPr lang="en-US" smtClean="0"/>
              <a:pPr/>
              <a:t>10</a:t>
            </a:fld>
            <a:endParaRPr lang="en-US" dirty="0"/>
          </a:p>
        </p:txBody>
      </p:sp>
      <p:sp>
        <p:nvSpPr>
          <p:cNvPr id="16" name="TextBox 15">
            <a:extLst>
              <a:ext uri="{FF2B5EF4-FFF2-40B4-BE49-F238E27FC236}">
                <a16:creationId xmlns:a16="http://schemas.microsoft.com/office/drawing/2014/main" id="{CBB12E18-8FD6-EE83-F9B4-F774C96DF151}"/>
              </a:ext>
            </a:extLst>
          </p:cNvPr>
          <p:cNvSpPr txBox="1"/>
          <p:nvPr/>
        </p:nvSpPr>
        <p:spPr>
          <a:xfrm>
            <a:off x="6858000" y="1371600"/>
            <a:ext cx="5130800" cy="4678204"/>
          </a:xfrm>
          <a:prstGeom prst="rect">
            <a:avLst/>
          </a:prstGeom>
          <a:noFill/>
          <a:ln>
            <a:solidFill>
              <a:schemeClr val="accent5"/>
            </a:solidFill>
          </a:ln>
        </p:spPr>
        <p:txBody>
          <a:bodyPr wrap="square" rtlCol="0">
            <a:spAutoFit/>
          </a:bodyPr>
          <a:lstStyle/>
          <a:p>
            <a:pPr algn="just">
              <a:spcAft>
                <a:spcPts val="0"/>
              </a:spcAft>
            </a:pPr>
            <a:r>
              <a:rPr lang="en-GB" sz="1600" i="1" dirty="0">
                <a:latin typeface="+mn-lt"/>
              </a:rPr>
              <a:t>Current fiscal, monetary, and exchange rate policies (in part “tuned”):</a:t>
            </a:r>
          </a:p>
          <a:p>
            <a:pPr marL="342900" indent="-342900" algn="just">
              <a:spcBef>
                <a:spcPts val="600"/>
              </a:spcBef>
              <a:spcAft>
                <a:spcPts val="0"/>
              </a:spcAft>
              <a:buFont typeface="Wingdings" panose="05000000000000000000" pitchFamily="2" charset="2"/>
              <a:buChar char="§"/>
            </a:pPr>
            <a:r>
              <a:rPr lang="en-US" sz="1600" dirty="0">
                <a:latin typeface="+mn-lt"/>
              </a:rPr>
              <a:t>post-Covid consolidation and winding down of crisis-related spending since 2021/22 reinforced in 2023/24 Budget,</a:t>
            </a:r>
            <a:endParaRPr lang="en-US" sz="1600" dirty="0">
              <a:solidFill>
                <a:srgbClr val="FF0000"/>
              </a:solidFill>
              <a:latin typeface="+mn-lt"/>
            </a:endParaRPr>
          </a:p>
          <a:p>
            <a:pPr marL="800100" lvl="1" indent="-342900" algn="just">
              <a:spcBef>
                <a:spcPts val="600"/>
              </a:spcBef>
              <a:spcAft>
                <a:spcPts val="0"/>
              </a:spcAft>
              <a:buFont typeface="Wingdings" panose="05000000000000000000" pitchFamily="2" charset="2"/>
              <a:buChar char="§"/>
            </a:pPr>
            <a:r>
              <a:rPr lang="en-US" sz="1200" dirty="0">
                <a:latin typeface="+mn-lt"/>
              </a:rPr>
              <a:t>a further reduction in the deficit before grants to 10.8% of GDP in 2023/24, and to 9.7 % by 2025/26</a:t>
            </a:r>
          </a:p>
          <a:p>
            <a:pPr marL="800100" lvl="1" indent="-342900" algn="just">
              <a:spcBef>
                <a:spcPts val="600"/>
              </a:spcBef>
              <a:spcAft>
                <a:spcPts val="0"/>
              </a:spcAft>
              <a:buFont typeface="Wingdings" panose="05000000000000000000" pitchFamily="2" charset="2"/>
              <a:buChar char="§"/>
            </a:pPr>
            <a:r>
              <a:rPr lang="en-US" sz="1200" dirty="0">
                <a:solidFill>
                  <a:srgbClr val="FF0000"/>
                </a:solidFill>
                <a:latin typeface="+mn-lt"/>
              </a:rPr>
              <a:t>fiscal deficit (excl. grants) assumed return to 8% level  for beyond PCI program (2025/26-2026/27)</a:t>
            </a:r>
          </a:p>
          <a:p>
            <a:pPr marL="342900" indent="-342900" algn="just">
              <a:spcBef>
                <a:spcPts val="600"/>
              </a:spcBef>
              <a:spcAft>
                <a:spcPts val="0"/>
              </a:spcAft>
              <a:buFont typeface="Wingdings" panose="05000000000000000000" pitchFamily="2" charset="2"/>
              <a:buChar char="§"/>
            </a:pPr>
            <a:r>
              <a:rPr lang="en-GB" sz="1600" dirty="0">
                <a:latin typeface="+mn-lt"/>
              </a:rPr>
              <a:t>maintenance of current level of policy interest rate (interbank rate) for 2023Q4 (8%)</a:t>
            </a:r>
          </a:p>
          <a:p>
            <a:pPr marL="342900" indent="-342900" algn="just">
              <a:spcBef>
                <a:spcPts val="600"/>
              </a:spcBef>
              <a:spcAft>
                <a:spcPts val="0"/>
              </a:spcAft>
              <a:buFont typeface="Wingdings" panose="05000000000000000000" pitchFamily="2" charset="2"/>
              <a:buChar char="§"/>
            </a:pPr>
            <a:r>
              <a:rPr lang="en-GB" sz="1600" dirty="0">
                <a:latin typeface="+mn-lt"/>
              </a:rPr>
              <a:t>somewhat faster exchange rate depreciation in 2023 (than 2022), </a:t>
            </a:r>
            <a:r>
              <a:rPr lang="en-US" sz="1600" dirty="0">
                <a:latin typeface="+mn-lt"/>
              </a:rPr>
              <a:t>based on statements and the IMF PCI program targets </a:t>
            </a:r>
            <a:r>
              <a:rPr lang="en-US" sz="1200" dirty="0">
                <a:solidFill>
                  <a:srgbClr val="008013"/>
                </a:solidFill>
                <a:latin typeface="+mn-lt"/>
              </a:rPr>
              <a:t>(i.e., Q4 is </a:t>
            </a:r>
            <a:r>
              <a:rPr lang="en-US" sz="1200" b="0" i="0" dirty="0">
                <a:solidFill>
                  <a:srgbClr val="008013"/>
                </a:solidFill>
                <a:effectLst/>
                <a:latin typeface="+mn-lt"/>
              </a:rPr>
              <a:t>NBR = IMF program forecast --15% </a:t>
            </a:r>
            <a:r>
              <a:rPr lang="en-US" sz="1200" b="0" i="0" dirty="0" err="1">
                <a:solidFill>
                  <a:srgbClr val="008013"/>
                </a:solidFill>
                <a:effectLst/>
                <a:latin typeface="+mn-lt"/>
              </a:rPr>
              <a:t>eopER</a:t>
            </a:r>
            <a:r>
              <a:rPr lang="en-US" sz="1200" b="0" i="0" dirty="0">
                <a:solidFill>
                  <a:srgbClr val="008013"/>
                </a:solidFill>
                <a:effectLst/>
                <a:latin typeface="+mn-lt"/>
              </a:rPr>
              <a:t> </a:t>
            </a:r>
            <a:r>
              <a:rPr lang="en-US" sz="1200" b="0" i="0" dirty="0" err="1">
                <a:solidFill>
                  <a:srgbClr val="008013"/>
                </a:solidFill>
                <a:effectLst/>
                <a:latin typeface="+mn-lt"/>
              </a:rPr>
              <a:t>depr</a:t>
            </a:r>
            <a:r>
              <a:rPr lang="en-US" sz="1200" b="0" i="0" dirty="0">
                <a:solidFill>
                  <a:srgbClr val="008013"/>
                </a:solidFill>
                <a:effectLst/>
                <a:latin typeface="+mn-lt"/>
              </a:rPr>
              <a:t> in 2023, </a:t>
            </a:r>
            <a:r>
              <a:rPr lang="en-US" sz="1200" b="0" i="0" dirty="0" err="1">
                <a:solidFill>
                  <a:srgbClr val="008013"/>
                </a:solidFill>
                <a:effectLst/>
                <a:latin typeface="+mn-lt"/>
              </a:rPr>
              <a:t>quarterlized</a:t>
            </a:r>
            <a:r>
              <a:rPr lang="en-US" sz="1200" dirty="0">
                <a:solidFill>
                  <a:srgbClr val="008013"/>
                </a:solidFill>
                <a:latin typeface="+mn-lt"/>
              </a:rPr>
              <a:t> and </a:t>
            </a:r>
            <a:r>
              <a:rPr lang="en-US" sz="1200" b="0" i="0" dirty="0">
                <a:solidFill>
                  <a:srgbClr val="008013"/>
                </a:solidFill>
                <a:effectLst/>
                <a:latin typeface="+mn-lt"/>
              </a:rPr>
              <a:t>applied to Q3 p.a.)</a:t>
            </a:r>
            <a:endParaRPr lang="en-GB" sz="1200" dirty="0">
              <a:latin typeface="+mn-lt"/>
            </a:endParaRPr>
          </a:p>
          <a:p>
            <a:pPr marL="342900" indent="-342900" algn="just">
              <a:spcBef>
                <a:spcPts val="600"/>
              </a:spcBef>
              <a:spcAft>
                <a:spcPts val="0"/>
              </a:spcAft>
              <a:buFont typeface="Wingdings" panose="05000000000000000000" pitchFamily="2" charset="2"/>
              <a:buChar char="§"/>
            </a:pPr>
            <a:r>
              <a:rPr lang="en-GB" sz="1600" dirty="0">
                <a:latin typeface="+mn-lt"/>
              </a:rPr>
              <a:t>expected return to normal of agricultural harvests and domestic food prices and rep. shocks during 2023Q4-24Q1</a:t>
            </a:r>
          </a:p>
        </p:txBody>
      </p:sp>
      <p:graphicFrame>
        <p:nvGraphicFramePr>
          <p:cNvPr id="17" name="Object 16">
            <a:extLst>
              <a:ext uri="{FF2B5EF4-FFF2-40B4-BE49-F238E27FC236}">
                <a16:creationId xmlns:a16="http://schemas.microsoft.com/office/drawing/2014/main" id="{AB190132-970F-21FA-781A-5CAC4F24F057}"/>
              </a:ext>
            </a:extLst>
          </p:cNvPr>
          <p:cNvGraphicFramePr>
            <a:graphicFrameLocks noChangeAspect="1"/>
          </p:cNvGraphicFramePr>
          <p:nvPr>
            <p:extLst>
              <p:ext uri="{D42A27DB-BD31-4B8C-83A1-F6EECF244321}">
                <p14:modId xmlns:p14="http://schemas.microsoft.com/office/powerpoint/2010/main" val="2569944318"/>
              </p:ext>
            </p:extLst>
          </p:nvPr>
        </p:nvGraphicFramePr>
        <p:xfrm>
          <a:off x="457200" y="1371600"/>
          <a:ext cx="6280150" cy="4038600"/>
        </p:xfrm>
        <a:graphic>
          <a:graphicData uri="http://schemas.openxmlformats.org/presentationml/2006/ole">
            <mc:AlternateContent xmlns:mc="http://schemas.openxmlformats.org/markup-compatibility/2006">
              <mc:Choice xmlns:v="urn:schemas-microsoft-com:vml" Requires="v">
                <p:oleObj spid="_x0000_s1027" name="Document" r:id="rId4" imgW="6280812" imgH="3784112" progId="Word.Document.12">
                  <p:embed/>
                </p:oleObj>
              </mc:Choice>
              <mc:Fallback>
                <p:oleObj name="Document" r:id="rId4" imgW="6280812" imgH="3784112" progId="Word.Document.12">
                  <p:embed/>
                  <p:pic>
                    <p:nvPicPr>
                      <p:cNvPr id="17" name="Object 16">
                        <a:extLst>
                          <a:ext uri="{FF2B5EF4-FFF2-40B4-BE49-F238E27FC236}">
                            <a16:creationId xmlns:a16="http://schemas.microsoft.com/office/drawing/2014/main" id="{AB190132-970F-21FA-781A-5CAC4F24F057}"/>
                          </a:ext>
                        </a:extLst>
                      </p:cNvPr>
                      <p:cNvPicPr/>
                      <p:nvPr/>
                    </p:nvPicPr>
                    <p:blipFill>
                      <a:blip r:embed="rId5"/>
                      <a:stretch>
                        <a:fillRect/>
                      </a:stretch>
                    </p:blipFill>
                    <p:spPr>
                      <a:xfrm>
                        <a:off x="457200" y="1371600"/>
                        <a:ext cx="6280150" cy="4038600"/>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2E9AF90A-CB99-7998-3709-17616CCD0F5F}"/>
              </a:ext>
            </a:extLst>
          </p:cNvPr>
          <p:cNvSpPr txBox="1"/>
          <p:nvPr/>
        </p:nvSpPr>
        <p:spPr>
          <a:xfrm>
            <a:off x="533400" y="5334000"/>
            <a:ext cx="6203950" cy="646331"/>
          </a:xfrm>
          <a:prstGeom prst="rect">
            <a:avLst/>
          </a:prstGeom>
          <a:noFill/>
        </p:spPr>
        <p:txBody>
          <a:bodyPr wrap="square" rtlCol="0">
            <a:spAutoFit/>
          </a:bodyPr>
          <a:lstStyle/>
          <a:p>
            <a:r>
              <a:rPr kumimoji="0" lang="en-US" sz="1200" b="0" i="0" u="none" strike="noStrike" kern="1200" cap="none" spc="0" normalizeH="0" baseline="0" noProof="0" dirty="0">
                <a:ln>
                  <a:noFill/>
                </a:ln>
                <a:solidFill>
                  <a:prstClr val="black"/>
                </a:solidFill>
                <a:effectLst/>
                <a:uLnTx/>
                <a:uFillTx/>
                <a:latin typeface="Gill Sans MT"/>
                <a:ea typeface="ＭＳ Ｐゴシック" charset="-128"/>
                <a:cs typeface="+mn-cs"/>
              </a:rPr>
              <a:t>The 2023/24 and 2024/25 Budget deficits and spending on G&amp;S have been tuned based on the semester breakdown of annual figures (because the projected quarterly breakdown is not available), hence quarters are the same within the semester</a:t>
            </a:r>
            <a:endParaRPr lang="en-RW" dirty="0"/>
          </a:p>
        </p:txBody>
      </p:sp>
    </p:spTree>
    <p:extLst>
      <p:ext uri="{BB962C8B-B14F-4D97-AF65-F5344CB8AC3E}">
        <p14:creationId xmlns:p14="http://schemas.microsoft.com/office/powerpoint/2010/main" val="4275266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6E48A-ACEE-51EB-B834-992F80F1053E}"/>
              </a:ext>
            </a:extLst>
          </p:cNvPr>
          <p:cNvSpPr>
            <a:spLocks noGrp="1"/>
          </p:cNvSpPr>
          <p:nvPr>
            <p:ph type="title"/>
          </p:nvPr>
        </p:nvSpPr>
        <p:spPr>
          <a:xfrm>
            <a:off x="1625600" y="228600"/>
            <a:ext cx="10261600" cy="706020"/>
          </a:xfrm>
        </p:spPr>
        <p:txBody>
          <a:bodyPr/>
          <a:lstStyle/>
          <a:p>
            <a:r>
              <a:rPr lang="en-GB" b="1" dirty="0"/>
              <a:t>III. Summary of macroeconomic forecast/outlook </a:t>
            </a:r>
            <a:r>
              <a:rPr lang="en-GB" sz="2000" b="1" dirty="0"/>
              <a:t>(2023Q3-2027Q4  </a:t>
            </a:r>
            <a:r>
              <a:rPr lang="en-GB" sz="2000" dirty="0">
                <a:solidFill>
                  <a:srgbClr val="FF0000"/>
                </a:solidFill>
              </a:rPr>
              <a:t>new</a:t>
            </a:r>
            <a:endParaRPr lang="en-AE" dirty="0">
              <a:solidFill>
                <a:srgbClr val="FF0000"/>
              </a:solidFill>
            </a:endParaRPr>
          </a:p>
        </p:txBody>
      </p:sp>
      <p:sp>
        <p:nvSpPr>
          <p:cNvPr id="3" name="Slide Number Placeholder 2">
            <a:extLst>
              <a:ext uri="{FF2B5EF4-FFF2-40B4-BE49-F238E27FC236}">
                <a16:creationId xmlns:a16="http://schemas.microsoft.com/office/drawing/2014/main" id="{60CEC34D-CC97-3D7D-A18A-8A80FC2EAA0E}"/>
              </a:ext>
            </a:extLst>
          </p:cNvPr>
          <p:cNvSpPr>
            <a:spLocks noGrp="1"/>
          </p:cNvSpPr>
          <p:nvPr>
            <p:ph type="sldNum" sz="quarter" idx="10"/>
          </p:nvPr>
        </p:nvSpPr>
        <p:spPr/>
        <p:txBody>
          <a:bodyPr/>
          <a:lstStyle/>
          <a:p>
            <a:fld id="{D97AE203-F84D-4A7F-B161-8561326BE072}" type="slidenum">
              <a:rPr lang="en-US" smtClean="0"/>
              <a:pPr/>
              <a:t>11</a:t>
            </a:fld>
            <a:endParaRPr lang="en-US" dirty="0"/>
          </a:p>
        </p:txBody>
      </p:sp>
      <p:sp>
        <p:nvSpPr>
          <p:cNvPr id="8" name="TextBox 7">
            <a:extLst>
              <a:ext uri="{FF2B5EF4-FFF2-40B4-BE49-F238E27FC236}">
                <a16:creationId xmlns:a16="http://schemas.microsoft.com/office/drawing/2014/main" id="{D4C16519-51F5-5EFF-CB74-11E7C7EAA74B}"/>
              </a:ext>
            </a:extLst>
          </p:cNvPr>
          <p:cNvSpPr txBox="1"/>
          <p:nvPr/>
        </p:nvSpPr>
        <p:spPr>
          <a:xfrm>
            <a:off x="368808" y="3605123"/>
            <a:ext cx="5269992" cy="3277820"/>
          </a:xfrm>
          <a:prstGeom prst="rect">
            <a:avLst/>
          </a:prstGeom>
          <a:noFill/>
          <a:ln>
            <a:solidFill>
              <a:schemeClr val="accent5"/>
            </a:solidFill>
          </a:ln>
        </p:spPr>
        <p:txBody>
          <a:bodyPr wrap="square">
            <a:spAutoFit/>
          </a:bodyPr>
          <a:lstStyle/>
          <a:p>
            <a:pPr algn="just">
              <a:lnSpc>
                <a:spcPct val="150000"/>
              </a:lnSpc>
              <a:spcBef>
                <a:spcPts val="0"/>
              </a:spcBef>
              <a:spcAft>
                <a:spcPts val="0"/>
              </a:spcAft>
            </a:pPr>
            <a:r>
              <a:rPr lang="en-GB" sz="1600" b="1" i="1" dirty="0">
                <a:effectLst/>
                <a:latin typeface="+mn-lt"/>
                <a:ea typeface="Calibri" panose="020F0502020204030204" pitchFamily="34" charset="0"/>
              </a:rPr>
              <a:t>combination of modestly tight fiscal and monetary policies and still low RER in 2023 and early 2024 should help contain domestic demand and lower inflation</a:t>
            </a:r>
            <a:r>
              <a:rPr lang="en-GB" sz="1600" i="1" dirty="0">
                <a:effectLst/>
                <a:latin typeface="+mn-lt"/>
                <a:ea typeface="Calibri" panose="020F0502020204030204" pitchFamily="34" charset="0"/>
              </a:rPr>
              <a:t>. </a:t>
            </a:r>
          </a:p>
          <a:p>
            <a:pPr algn="just">
              <a:lnSpc>
                <a:spcPct val="150000"/>
              </a:lnSpc>
              <a:spcBef>
                <a:spcPts val="0"/>
              </a:spcBef>
              <a:spcAft>
                <a:spcPts val="0"/>
              </a:spcAft>
              <a:buFont typeface="Wingdings" panose="05000000000000000000" pitchFamily="2" charset="2"/>
              <a:buChar char="§"/>
            </a:pPr>
            <a:r>
              <a:rPr lang="en-GB" sz="1600" dirty="0">
                <a:latin typeface="+mn-lt"/>
                <a:ea typeface="Calibri" panose="020F0502020204030204" pitchFamily="34" charset="0"/>
              </a:rPr>
              <a:t> a</a:t>
            </a:r>
            <a:r>
              <a:rPr lang="en-GB" sz="1600" dirty="0">
                <a:effectLst/>
                <a:latin typeface="+mn-lt"/>
                <a:ea typeface="Calibri" panose="020F0502020204030204" pitchFamily="34" charset="0"/>
              </a:rPr>
              <a:t>s inflation abates to close to the 5% target from earlier 2024Q2</a:t>
            </a:r>
            <a:r>
              <a:rPr lang="en-GB" sz="1600" dirty="0">
                <a:latin typeface="+mn-lt"/>
                <a:ea typeface="Calibri" panose="020F0502020204030204" pitchFamily="34" charset="0"/>
              </a:rPr>
              <a:t>.</a:t>
            </a:r>
            <a:endParaRPr lang="en-GB" sz="1600" dirty="0">
              <a:effectLst/>
              <a:latin typeface="+mn-lt"/>
              <a:ea typeface="Calibri" panose="020F0502020204030204" pitchFamily="34" charset="0"/>
            </a:endParaRPr>
          </a:p>
          <a:p>
            <a:pPr marL="457200" lvl="2" algn="just">
              <a:lnSpc>
                <a:spcPct val="150000"/>
              </a:lnSpc>
              <a:spcBef>
                <a:spcPts val="0"/>
              </a:spcBef>
              <a:spcAft>
                <a:spcPts val="0"/>
              </a:spcAft>
              <a:buFont typeface="Wingdings" panose="05000000000000000000" pitchFamily="2" charset="2"/>
              <a:buChar char="§"/>
            </a:pPr>
            <a:r>
              <a:rPr lang="en-GB" sz="1400" dirty="0">
                <a:effectLst/>
                <a:latin typeface="+mn-lt"/>
                <a:ea typeface="Calibri" panose="020F0502020204030204" pitchFamily="34" charset="0"/>
              </a:rPr>
              <a:t>  temporarily lower interest rates (IB) &amp; RIR and higher RER should raise GDP growth temporarily above its trend in 2024-25, and back to its trend </a:t>
            </a:r>
            <a:r>
              <a:rPr lang="en-GB" sz="1400" dirty="0">
                <a:latin typeface="+mn-lt"/>
                <a:ea typeface="Calibri" panose="020F0502020204030204" pitchFamily="34" charset="0"/>
              </a:rPr>
              <a:t>afterwards towards </a:t>
            </a:r>
            <a:r>
              <a:rPr lang="en-GB" sz="1400" dirty="0">
                <a:effectLst/>
                <a:latin typeface="+mn-lt"/>
                <a:ea typeface="Calibri" panose="020F0502020204030204" pitchFamily="34" charset="0"/>
              </a:rPr>
              <a:t>2027. </a:t>
            </a:r>
            <a:endParaRPr lang="en-GB" sz="2000" dirty="0"/>
          </a:p>
          <a:p>
            <a:pPr algn="just">
              <a:buFont typeface="Wingdings" panose="05000000000000000000" pitchFamily="2" charset="2"/>
              <a:buChar char="§"/>
            </a:pPr>
            <a:endParaRPr lang="en-GB" sz="2400" dirty="0"/>
          </a:p>
        </p:txBody>
      </p:sp>
      <p:pic>
        <p:nvPicPr>
          <p:cNvPr id="5" name="Picture 4">
            <a:extLst>
              <a:ext uri="{FF2B5EF4-FFF2-40B4-BE49-F238E27FC236}">
                <a16:creationId xmlns:a16="http://schemas.microsoft.com/office/drawing/2014/main" id="{BB472B94-CB25-7A89-96DA-FE0CF0D81BDA}"/>
              </a:ext>
            </a:extLst>
          </p:cNvPr>
          <p:cNvPicPr>
            <a:picLocks noChangeAspect="1"/>
          </p:cNvPicPr>
          <p:nvPr/>
        </p:nvPicPr>
        <p:blipFill>
          <a:blip r:embed="rId4"/>
          <a:stretch>
            <a:fillRect/>
          </a:stretch>
        </p:blipFill>
        <p:spPr>
          <a:xfrm>
            <a:off x="368808" y="1276350"/>
            <a:ext cx="5269992" cy="2485390"/>
          </a:xfrm>
          <a:prstGeom prst="rect">
            <a:avLst/>
          </a:prstGeom>
        </p:spPr>
      </p:pic>
      <p:graphicFrame>
        <p:nvGraphicFramePr>
          <p:cNvPr id="4" name="Object 3">
            <a:extLst>
              <a:ext uri="{FF2B5EF4-FFF2-40B4-BE49-F238E27FC236}">
                <a16:creationId xmlns:a16="http://schemas.microsoft.com/office/drawing/2014/main" id="{ED51F56B-BF85-D276-7FC1-D630B1DE0A2D}"/>
              </a:ext>
            </a:extLst>
          </p:cNvPr>
          <p:cNvGraphicFramePr>
            <a:graphicFrameLocks noChangeAspect="1"/>
          </p:cNvGraphicFramePr>
          <p:nvPr>
            <p:extLst>
              <p:ext uri="{D42A27DB-BD31-4B8C-83A1-F6EECF244321}">
                <p14:modId xmlns:p14="http://schemas.microsoft.com/office/powerpoint/2010/main" val="1519421011"/>
              </p:ext>
            </p:extLst>
          </p:nvPr>
        </p:nvGraphicFramePr>
        <p:xfrm>
          <a:off x="5791200" y="1295400"/>
          <a:ext cx="6197600" cy="2208106"/>
        </p:xfrm>
        <a:graphic>
          <a:graphicData uri="http://schemas.openxmlformats.org/presentationml/2006/ole">
            <mc:AlternateContent xmlns:mc="http://schemas.openxmlformats.org/markup-compatibility/2006">
              <mc:Choice xmlns:v="urn:schemas-microsoft-com:vml" Requires="v">
                <p:oleObj spid="_x0000_s2052" name="Document" r:id="rId5" imgW="6520349" imgH="2711108" progId="Word.Document.12">
                  <p:embed/>
                </p:oleObj>
              </mc:Choice>
              <mc:Fallback>
                <p:oleObj name="Document" r:id="rId5" imgW="6520349" imgH="2711108" progId="Word.Document.12">
                  <p:embed/>
                  <p:pic>
                    <p:nvPicPr>
                      <p:cNvPr id="4" name="Object 3">
                        <a:extLst>
                          <a:ext uri="{FF2B5EF4-FFF2-40B4-BE49-F238E27FC236}">
                            <a16:creationId xmlns:a16="http://schemas.microsoft.com/office/drawing/2014/main" id="{ED51F56B-BF85-D276-7FC1-D630B1DE0A2D}"/>
                          </a:ext>
                        </a:extLst>
                      </p:cNvPr>
                      <p:cNvPicPr/>
                      <p:nvPr/>
                    </p:nvPicPr>
                    <p:blipFill>
                      <a:blip r:embed="rId6"/>
                      <a:stretch>
                        <a:fillRect/>
                      </a:stretch>
                    </p:blipFill>
                    <p:spPr>
                      <a:xfrm>
                        <a:off x="5791200" y="1295400"/>
                        <a:ext cx="6197600" cy="2208106"/>
                      </a:xfrm>
                      <a:prstGeom prst="rect">
                        <a:avLst/>
                      </a:prstGeom>
                      <a:ln>
                        <a:solidFill>
                          <a:schemeClr val="accent5"/>
                        </a:solidFill>
                      </a:ln>
                    </p:spPr>
                  </p:pic>
                </p:oleObj>
              </mc:Fallback>
            </mc:AlternateContent>
          </a:graphicData>
        </a:graphic>
      </p:graphicFrame>
      <p:graphicFrame>
        <p:nvGraphicFramePr>
          <p:cNvPr id="7" name="Object 6">
            <a:extLst>
              <a:ext uri="{FF2B5EF4-FFF2-40B4-BE49-F238E27FC236}">
                <a16:creationId xmlns:a16="http://schemas.microsoft.com/office/drawing/2014/main" id="{FD841451-1183-749F-28BA-2B7CCA64A611}"/>
              </a:ext>
            </a:extLst>
          </p:cNvPr>
          <p:cNvGraphicFramePr>
            <a:graphicFrameLocks noChangeAspect="1"/>
          </p:cNvGraphicFramePr>
          <p:nvPr>
            <p:extLst>
              <p:ext uri="{D42A27DB-BD31-4B8C-83A1-F6EECF244321}">
                <p14:modId xmlns:p14="http://schemas.microsoft.com/office/powerpoint/2010/main" val="3298716319"/>
              </p:ext>
            </p:extLst>
          </p:nvPr>
        </p:nvGraphicFramePr>
        <p:xfrm>
          <a:off x="5892800" y="4095751"/>
          <a:ext cx="6096000" cy="2381249"/>
        </p:xfrm>
        <a:graphic>
          <a:graphicData uri="http://schemas.openxmlformats.org/presentationml/2006/ole">
            <mc:AlternateContent xmlns:mc="http://schemas.openxmlformats.org/markup-compatibility/2006">
              <mc:Choice xmlns:v="urn:schemas-microsoft-com:vml" Requires="v">
                <p:oleObj spid="_x0000_s2053" name="Document" r:id="rId7" imgW="6527542" imgH="2797437" progId="Word.Document.12">
                  <p:embed/>
                </p:oleObj>
              </mc:Choice>
              <mc:Fallback>
                <p:oleObj name="Document" r:id="rId7" imgW="6527542" imgH="2797437" progId="Word.Document.12">
                  <p:embed/>
                  <p:pic>
                    <p:nvPicPr>
                      <p:cNvPr id="7" name="Object 6">
                        <a:extLst>
                          <a:ext uri="{FF2B5EF4-FFF2-40B4-BE49-F238E27FC236}">
                            <a16:creationId xmlns:a16="http://schemas.microsoft.com/office/drawing/2014/main" id="{FD841451-1183-749F-28BA-2B7CCA64A611}"/>
                          </a:ext>
                        </a:extLst>
                      </p:cNvPr>
                      <p:cNvPicPr/>
                      <p:nvPr/>
                    </p:nvPicPr>
                    <p:blipFill>
                      <a:blip r:embed="rId8"/>
                      <a:stretch>
                        <a:fillRect/>
                      </a:stretch>
                    </p:blipFill>
                    <p:spPr>
                      <a:xfrm>
                        <a:off x="5892800" y="4095751"/>
                        <a:ext cx="6096000" cy="2381249"/>
                      </a:xfrm>
                      <a:prstGeom prst="rect">
                        <a:avLst/>
                      </a:prstGeom>
                      <a:ln>
                        <a:solidFill>
                          <a:schemeClr val="accent5"/>
                        </a:solidFill>
                      </a:ln>
                    </p:spPr>
                  </p:pic>
                </p:oleObj>
              </mc:Fallback>
            </mc:AlternateContent>
          </a:graphicData>
        </a:graphic>
      </p:graphicFrame>
      <p:sp>
        <p:nvSpPr>
          <p:cNvPr id="9" name="TextBox 8">
            <a:extLst>
              <a:ext uri="{FF2B5EF4-FFF2-40B4-BE49-F238E27FC236}">
                <a16:creationId xmlns:a16="http://schemas.microsoft.com/office/drawing/2014/main" id="{231D918C-614D-81D5-4160-172E552A9F57}"/>
              </a:ext>
            </a:extLst>
          </p:cNvPr>
          <p:cNvSpPr txBox="1"/>
          <p:nvPr/>
        </p:nvSpPr>
        <p:spPr>
          <a:xfrm>
            <a:off x="5810250" y="3589883"/>
            <a:ext cx="6197600" cy="461665"/>
          </a:xfrm>
          <a:prstGeom prst="rect">
            <a:avLst/>
          </a:prstGeom>
          <a:noFill/>
        </p:spPr>
        <p:txBody>
          <a:bodyPr wrap="square" rtlCol="0">
            <a:spAutoFit/>
          </a:bodyPr>
          <a:lstStyle/>
          <a:p>
            <a:r>
              <a:rPr lang="en-GB" sz="1200" dirty="0">
                <a:effectLst/>
                <a:latin typeface="+mn-lt"/>
                <a:ea typeface="Calibri" panose="020F0502020204030204" pitchFamily="34" charset="0"/>
              </a:rPr>
              <a:t>The temporary above-trend growth for two years from mid-2024 is mostly driven by private consumption and return to normal of government demand</a:t>
            </a:r>
            <a:endParaRPr lang="en-RW" sz="1600" dirty="0">
              <a:latin typeface="+mn-lt"/>
            </a:endParaRPr>
          </a:p>
        </p:txBody>
      </p:sp>
    </p:spTree>
    <p:extLst>
      <p:ext uri="{BB962C8B-B14F-4D97-AF65-F5344CB8AC3E}">
        <p14:creationId xmlns:p14="http://schemas.microsoft.com/office/powerpoint/2010/main" val="3016540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25B51-9F35-563B-B454-D804ED60B1A0}"/>
              </a:ext>
            </a:extLst>
          </p:cNvPr>
          <p:cNvSpPr>
            <a:spLocks noGrp="1"/>
          </p:cNvSpPr>
          <p:nvPr>
            <p:ph type="title"/>
          </p:nvPr>
        </p:nvSpPr>
        <p:spPr>
          <a:xfrm>
            <a:off x="1600200" y="153531"/>
            <a:ext cx="10261600" cy="684669"/>
          </a:xfrm>
        </p:spPr>
        <p:txBody>
          <a:bodyPr/>
          <a:lstStyle/>
          <a:p>
            <a:r>
              <a:rPr lang="en-GB" b="1" dirty="0"/>
              <a:t>Forecast—Output and cyclical position </a:t>
            </a:r>
            <a:r>
              <a:rPr lang="en-GB" sz="2000" dirty="0"/>
              <a:t>(GDP growth)</a:t>
            </a:r>
            <a:endParaRPr lang="en-AE" dirty="0"/>
          </a:p>
        </p:txBody>
      </p:sp>
      <p:sp>
        <p:nvSpPr>
          <p:cNvPr id="3" name="Slide Number Placeholder 2">
            <a:extLst>
              <a:ext uri="{FF2B5EF4-FFF2-40B4-BE49-F238E27FC236}">
                <a16:creationId xmlns:a16="http://schemas.microsoft.com/office/drawing/2014/main" id="{66C60EEB-4D2C-ABC6-3CBF-810371A48CF9}"/>
              </a:ext>
            </a:extLst>
          </p:cNvPr>
          <p:cNvSpPr>
            <a:spLocks noGrp="1"/>
          </p:cNvSpPr>
          <p:nvPr>
            <p:ph type="sldNum" sz="quarter" idx="10"/>
          </p:nvPr>
        </p:nvSpPr>
        <p:spPr/>
        <p:txBody>
          <a:bodyPr/>
          <a:lstStyle/>
          <a:p>
            <a:fld id="{D97AE203-F84D-4A7F-B161-8561326BE072}" type="slidenum">
              <a:rPr lang="en-US" smtClean="0"/>
              <a:pPr/>
              <a:t>12</a:t>
            </a:fld>
            <a:endParaRPr lang="en-US" dirty="0"/>
          </a:p>
        </p:txBody>
      </p:sp>
      <p:sp>
        <p:nvSpPr>
          <p:cNvPr id="6" name="Content Placeholder 2">
            <a:extLst>
              <a:ext uri="{FF2B5EF4-FFF2-40B4-BE49-F238E27FC236}">
                <a16:creationId xmlns:a16="http://schemas.microsoft.com/office/drawing/2014/main" id="{6DB21F50-4750-8FFC-95EB-0C9188E69407}"/>
              </a:ext>
            </a:extLst>
          </p:cNvPr>
          <p:cNvSpPr txBox="1">
            <a:spLocks/>
          </p:cNvSpPr>
          <p:nvPr/>
        </p:nvSpPr>
        <p:spPr>
          <a:xfrm>
            <a:off x="228600" y="3733800"/>
            <a:ext cx="6502400" cy="2793085"/>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endParaRPr lang="en-GB" sz="1400" dirty="0"/>
          </a:p>
        </p:txBody>
      </p:sp>
      <p:pic>
        <p:nvPicPr>
          <p:cNvPr id="5" name="Picture 4">
            <a:extLst>
              <a:ext uri="{FF2B5EF4-FFF2-40B4-BE49-F238E27FC236}">
                <a16:creationId xmlns:a16="http://schemas.microsoft.com/office/drawing/2014/main" id="{FA433087-66B3-FFF7-5052-3B4AA24BC58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34200" y="2743200"/>
            <a:ext cx="5029200" cy="3707130"/>
          </a:xfrm>
          <a:prstGeom prst="rect">
            <a:avLst/>
          </a:prstGeom>
          <a:noFill/>
          <a:ln>
            <a:noFill/>
          </a:ln>
        </p:spPr>
      </p:pic>
      <p:graphicFrame>
        <p:nvGraphicFramePr>
          <p:cNvPr id="9" name="Object 8">
            <a:extLst>
              <a:ext uri="{FF2B5EF4-FFF2-40B4-BE49-F238E27FC236}">
                <a16:creationId xmlns:a16="http://schemas.microsoft.com/office/drawing/2014/main" id="{BFE48E0A-A899-A2C3-F6C6-4EB4B1EF7D58}"/>
              </a:ext>
            </a:extLst>
          </p:cNvPr>
          <p:cNvGraphicFramePr>
            <a:graphicFrameLocks noChangeAspect="1"/>
          </p:cNvGraphicFramePr>
          <p:nvPr>
            <p:extLst>
              <p:ext uri="{D42A27DB-BD31-4B8C-83A1-F6EECF244321}">
                <p14:modId xmlns:p14="http://schemas.microsoft.com/office/powerpoint/2010/main" val="79495126"/>
              </p:ext>
            </p:extLst>
          </p:nvPr>
        </p:nvGraphicFramePr>
        <p:xfrm>
          <a:off x="228600" y="1295400"/>
          <a:ext cx="6502400" cy="2238375"/>
        </p:xfrm>
        <a:graphic>
          <a:graphicData uri="http://schemas.openxmlformats.org/presentationml/2006/ole">
            <mc:AlternateContent xmlns:mc="http://schemas.openxmlformats.org/markup-compatibility/2006">
              <mc:Choice xmlns:v="urn:schemas-microsoft-com:vml" Requires="v">
                <p:oleObj spid="_x0000_s3075" name="Document" r:id="rId5" imgW="6361737" imgH="2237734" progId="Word.Document.12">
                  <p:embed/>
                </p:oleObj>
              </mc:Choice>
              <mc:Fallback>
                <p:oleObj name="Document" r:id="rId5" imgW="6361737" imgH="2237734" progId="Word.Document.12">
                  <p:embed/>
                  <p:pic>
                    <p:nvPicPr>
                      <p:cNvPr id="9" name="Object 8">
                        <a:extLst>
                          <a:ext uri="{FF2B5EF4-FFF2-40B4-BE49-F238E27FC236}">
                            <a16:creationId xmlns:a16="http://schemas.microsoft.com/office/drawing/2014/main" id="{BFE48E0A-A899-A2C3-F6C6-4EB4B1EF7D58}"/>
                          </a:ext>
                        </a:extLst>
                      </p:cNvPr>
                      <p:cNvPicPr/>
                      <p:nvPr/>
                    </p:nvPicPr>
                    <p:blipFill>
                      <a:blip r:embed="rId6"/>
                      <a:stretch>
                        <a:fillRect/>
                      </a:stretch>
                    </p:blipFill>
                    <p:spPr>
                      <a:xfrm>
                        <a:off x="228600" y="1295400"/>
                        <a:ext cx="6502400" cy="2238375"/>
                      </a:xfrm>
                      <a:prstGeom prst="rect">
                        <a:avLst/>
                      </a:prstGeom>
                      <a:ln>
                        <a:solidFill>
                          <a:schemeClr val="accent5"/>
                        </a:solidFill>
                      </a:ln>
                    </p:spPr>
                  </p:pic>
                </p:oleObj>
              </mc:Fallback>
            </mc:AlternateContent>
          </a:graphicData>
        </a:graphic>
      </p:graphicFrame>
      <p:sp>
        <p:nvSpPr>
          <p:cNvPr id="10" name="TextBox 9">
            <a:extLst>
              <a:ext uri="{FF2B5EF4-FFF2-40B4-BE49-F238E27FC236}">
                <a16:creationId xmlns:a16="http://schemas.microsoft.com/office/drawing/2014/main" id="{6C4E6DE7-A98B-B707-E9A7-BECAB9107B38}"/>
              </a:ext>
            </a:extLst>
          </p:cNvPr>
          <p:cNvSpPr txBox="1"/>
          <p:nvPr/>
        </p:nvSpPr>
        <p:spPr>
          <a:xfrm>
            <a:off x="6858000" y="1295400"/>
            <a:ext cx="5029200" cy="1384995"/>
          </a:xfrm>
          <a:prstGeom prst="rect">
            <a:avLst/>
          </a:prstGeom>
          <a:noFill/>
          <a:ln>
            <a:solidFill>
              <a:schemeClr val="accent5"/>
            </a:solidFill>
          </a:ln>
        </p:spPr>
        <p:txBody>
          <a:bodyPr wrap="square" rtlCol="0">
            <a:spAutoFit/>
          </a:bodyPr>
          <a:lstStyle/>
          <a:p>
            <a:r>
              <a:rPr lang="en-GB" sz="1400" dirty="0">
                <a:effectLst/>
                <a:latin typeface="+mn-lt"/>
                <a:ea typeface="Calibri" panose="020F0502020204030204" pitchFamily="34" charset="0"/>
              </a:rPr>
              <a:t>The growth of the final demand components of GDP are shown in </a:t>
            </a:r>
            <a:r>
              <a:rPr lang="en-GB" sz="1400" b="1" dirty="0">
                <a:solidFill>
                  <a:srgbClr val="0070C0"/>
                </a:solidFill>
                <a:effectLst/>
                <a:latin typeface="+mn-lt"/>
                <a:ea typeface="Calibri" panose="020F0502020204030204" pitchFamily="34" charset="0"/>
              </a:rPr>
              <a:t>Table 6</a:t>
            </a:r>
            <a:r>
              <a:rPr lang="en-GB" sz="1400" dirty="0">
                <a:effectLst/>
                <a:latin typeface="+mn-lt"/>
                <a:ea typeface="Calibri" panose="020F0502020204030204" pitchFamily="34" charset="0"/>
              </a:rPr>
              <a:t>,</a:t>
            </a:r>
          </a:p>
          <a:p>
            <a:r>
              <a:rPr lang="en-GB" sz="1400" dirty="0">
                <a:latin typeface="+mn-lt"/>
                <a:ea typeface="Calibri" panose="020F0502020204030204" pitchFamily="34" charset="0"/>
              </a:rPr>
              <a:t>---</a:t>
            </a:r>
            <a:r>
              <a:rPr lang="en-GB" sz="1400" dirty="0">
                <a:effectLst/>
                <a:latin typeface="+mn-lt"/>
                <a:ea typeface="Calibri" panose="020F0502020204030204" pitchFamily="34" charset="0"/>
              </a:rPr>
              <a:t> highlighting the relatively sharp fluctuations in the post-Covid period—especially in investment, </a:t>
            </a:r>
          </a:p>
          <a:p>
            <a:r>
              <a:rPr lang="en-GB" sz="1400" dirty="0">
                <a:latin typeface="+mn-lt"/>
                <a:ea typeface="Calibri" panose="020F0502020204030204" pitchFamily="34" charset="0"/>
              </a:rPr>
              <a:t>---</a:t>
            </a:r>
            <a:r>
              <a:rPr lang="en-GB" sz="1400" dirty="0">
                <a:effectLst/>
                <a:latin typeface="+mn-lt"/>
                <a:ea typeface="Calibri" panose="020F0502020204030204" pitchFamily="34" charset="0"/>
              </a:rPr>
              <a:t>by mid-2025 all final demands (except Govt demand) are converging to their steady state growth rates</a:t>
            </a:r>
            <a:endParaRPr lang="en-RW" sz="1800" dirty="0">
              <a:latin typeface="+mn-lt"/>
            </a:endParaRPr>
          </a:p>
        </p:txBody>
      </p:sp>
      <p:sp>
        <p:nvSpPr>
          <p:cNvPr id="7" name="TextBox 6">
            <a:extLst>
              <a:ext uri="{FF2B5EF4-FFF2-40B4-BE49-F238E27FC236}">
                <a16:creationId xmlns:a16="http://schemas.microsoft.com/office/drawing/2014/main" id="{B1BCDB91-4745-EE53-F35F-FDAD6B7A982C}"/>
              </a:ext>
            </a:extLst>
          </p:cNvPr>
          <p:cNvSpPr txBox="1"/>
          <p:nvPr/>
        </p:nvSpPr>
        <p:spPr>
          <a:xfrm>
            <a:off x="203200" y="3657600"/>
            <a:ext cx="6527800" cy="2956002"/>
          </a:xfrm>
          <a:prstGeom prst="rect">
            <a:avLst/>
          </a:prstGeom>
          <a:noFill/>
          <a:ln>
            <a:solidFill>
              <a:schemeClr val="accent5"/>
            </a:solidFill>
          </a:ln>
        </p:spPr>
        <p:txBody>
          <a:bodyPr wrap="square">
            <a:spAutoFit/>
          </a:bodyPr>
          <a:lstStyle/>
          <a:p>
            <a:pPr>
              <a:lnSpc>
                <a:spcPct val="107000"/>
              </a:lnSpc>
              <a:spcBef>
                <a:spcPts val="0"/>
              </a:spcBef>
              <a:spcAft>
                <a:spcPts val="0"/>
              </a:spcAft>
            </a:pPr>
            <a:r>
              <a:rPr lang="en-GB" sz="1600" b="1" dirty="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2022-24 sluggish growth, driven by:</a:t>
            </a:r>
            <a:endParaRPr lang="en-RW"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spcAft>
                <a:spcPts val="0"/>
              </a:spcAft>
            </a:pPr>
            <a:r>
              <a:rPr lang="en-GB" sz="1600" dirty="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--consumption recovery from Covid interrupted by Ukraine-war and inflation surge and restrictive policy response</a:t>
            </a:r>
            <a:endParaRPr lang="en-RW"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spcAft>
                <a:spcPts val="0"/>
              </a:spcAft>
            </a:pPr>
            <a:r>
              <a:rPr lang="en-GB" sz="1600" dirty="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---post-Covid fiscal consolidation with negative fiscal impulse</a:t>
            </a:r>
            <a:endParaRPr lang="en-RW"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spcAft>
                <a:spcPts val="0"/>
              </a:spcAft>
            </a:pPr>
            <a:r>
              <a:rPr lang="en-GB" sz="1600" b="1" dirty="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2024-26 growth above trend, driven by:</a:t>
            </a:r>
            <a:endParaRPr lang="en-RW"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spcAft>
                <a:spcPts val="0"/>
              </a:spcAft>
            </a:pPr>
            <a:r>
              <a:rPr lang="en-GB" sz="1600" dirty="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---less restrictive fiscal policies as deficit gradually back to (higher) sustainable level and govt demand for G&amp;S back to normal</a:t>
            </a:r>
            <a:endParaRPr lang="en-RW"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spcAft>
                <a:spcPts val="0"/>
              </a:spcAft>
            </a:pPr>
            <a:r>
              <a:rPr lang="en-GB" sz="1600" dirty="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--exports helped by high RER</a:t>
            </a:r>
            <a:endParaRPr lang="en-RW"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spcAft>
                <a:spcPts val="0"/>
              </a:spcAft>
            </a:pPr>
            <a:r>
              <a:rPr lang="en-GB" sz="1600" b="1" dirty="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From 2027, back to trend growth of 7.5%</a:t>
            </a:r>
            <a:endParaRPr lang="en-RW" sz="16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0"/>
              </a:spcBef>
              <a:spcAft>
                <a:spcPts val="0"/>
              </a:spcAft>
            </a:pPr>
            <a:r>
              <a:rPr lang="en-GB" sz="1600" dirty="0">
                <a:solidFill>
                  <a:srgbClr val="2F5496"/>
                </a:solidFill>
                <a:effectLst/>
                <a:latin typeface="Times New Roman" panose="02020603050405020304" pitchFamily="18" charset="0"/>
                <a:ea typeface="Calibri" panose="020F0502020204030204" pitchFamily="34" charset="0"/>
              </a:rPr>
              <a:t>---there is no indication that Covid has permanently reduced </a:t>
            </a:r>
            <a:r>
              <a:rPr lang="en-GB" sz="1600" dirty="0" err="1">
                <a:solidFill>
                  <a:srgbClr val="2F5496"/>
                </a:solidFill>
                <a:effectLst/>
                <a:latin typeface="Times New Roman" panose="02020603050405020304" pitchFamily="18" charset="0"/>
                <a:ea typeface="Calibri" panose="020F0502020204030204" pitchFamily="34" charset="0"/>
              </a:rPr>
              <a:t>poterntial</a:t>
            </a:r>
            <a:r>
              <a:rPr lang="en-GB" sz="1600" dirty="0">
                <a:solidFill>
                  <a:srgbClr val="2F5496"/>
                </a:solidFill>
                <a:effectLst/>
                <a:latin typeface="Times New Roman" panose="02020603050405020304" pitchFamily="18" charset="0"/>
                <a:ea typeface="Calibri" panose="020F0502020204030204" pitchFamily="34" charset="0"/>
              </a:rPr>
              <a:t> output and its growth</a:t>
            </a:r>
            <a:endParaRPr lang="en-RW" sz="2000" dirty="0"/>
          </a:p>
        </p:txBody>
      </p:sp>
    </p:spTree>
    <p:extLst>
      <p:ext uri="{BB962C8B-B14F-4D97-AF65-F5344CB8AC3E}">
        <p14:creationId xmlns:p14="http://schemas.microsoft.com/office/powerpoint/2010/main" val="900768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2B948-3F28-94A0-AFF9-22D3A186313C}"/>
              </a:ext>
            </a:extLst>
          </p:cNvPr>
          <p:cNvSpPr>
            <a:spLocks noGrp="1"/>
          </p:cNvSpPr>
          <p:nvPr>
            <p:ph type="title"/>
          </p:nvPr>
        </p:nvSpPr>
        <p:spPr>
          <a:xfrm>
            <a:off x="1600200" y="228600"/>
            <a:ext cx="10058400" cy="762000"/>
          </a:xfrm>
        </p:spPr>
        <p:txBody>
          <a:bodyPr/>
          <a:lstStyle/>
          <a:p>
            <a:r>
              <a:rPr lang="en-GB" b="1" dirty="0"/>
              <a:t>Forecast—cyclical total demand driving GDP</a:t>
            </a:r>
            <a:endParaRPr lang="en-AE" b="1" dirty="0"/>
          </a:p>
        </p:txBody>
      </p:sp>
      <p:sp>
        <p:nvSpPr>
          <p:cNvPr id="3" name="Slide Number Placeholder 2">
            <a:extLst>
              <a:ext uri="{FF2B5EF4-FFF2-40B4-BE49-F238E27FC236}">
                <a16:creationId xmlns:a16="http://schemas.microsoft.com/office/drawing/2014/main" id="{CAECA724-04CE-0978-4E96-A52B52FFCBB7}"/>
              </a:ext>
            </a:extLst>
          </p:cNvPr>
          <p:cNvSpPr>
            <a:spLocks noGrp="1"/>
          </p:cNvSpPr>
          <p:nvPr>
            <p:ph type="sldNum" sz="quarter" idx="10"/>
          </p:nvPr>
        </p:nvSpPr>
        <p:spPr/>
        <p:txBody>
          <a:bodyPr/>
          <a:lstStyle/>
          <a:p>
            <a:fld id="{D97AE203-F84D-4A7F-B161-8561326BE072}" type="slidenum">
              <a:rPr lang="en-US" smtClean="0"/>
              <a:pPr/>
              <a:t>13</a:t>
            </a:fld>
            <a:endParaRPr lang="en-US" dirty="0"/>
          </a:p>
        </p:txBody>
      </p:sp>
      <p:sp>
        <p:nvSpPr>
          <p:cNvPr id="6" name="Content Placeholder 2">
            <a:extLst>
              <a:ext uri="{FF2B5EF4-FFF2-40B4-BE49-F238E27FC236}">
                <a16:creationId xmlns:a16="http://schemas.microsoft.com/office/drawing/2014/main" id="{6CE53A78-6149-73BC-44A9-99D9F5188F33}"/>
              </a:ext>
            </a:extLst>
          </p:cNvPr>
          <p:cNvSpPr txBox="1">
            <a:spLocks/>
          </p:cNvSpPr>
          <p:nvPr/>
        </p:nvSpPr>
        <p:spPr>
          <a:xfrm>
            <a:off x="289560" y="3733800"/>
            <a:ext cx="6361112" cy="2370138"/>
          </a:xfrm>
          <a:prstGeom prst="rect">
            <a:avLst/>
          </a:prstGeom>
          <a:ln>
            <a:solidFill>
              <a:schemeClr val="accent5"/>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GB" sz="1600" b="1" dirty="0">
                <a:solidFill>
                  <a:srgbClr val="0070C0"/>
                </a:solidFill>
                <a:effectLst/>
                <a:ea typeface="Calibri" panose="020F0502020204030204" pitchFamily="34" charset="0"/>
              </a:rPr>
              <a:t>Output-below-potential (negative gap) and its components</a:t>
            </a:r>
          </a:p>
          <a:p>
            <a:pPr marL="0" indent="0">
              <a:lnSpc>
                <a:spcPct val="107000"/>
              </a:lnSpc>
              <a:spcAft>
                <a:spcPts val="600"/>
              </a:spcAft>
              <a:buNone/>
            </a:pPr>
            <a:r>
              <a:rPr lang="en-GB" sz="1600" b="1" dirty="0">
                <a:solidFill>
                  <a:srgbClr val="2F5496"/>
                </a:solidFill>
                <a:effectLst/>
                <a:ea typeface="Calibri" panose="020F0502020204030204" pitchFamily="34" charset="0"/>
                <a:cs typeface="Times New Roman" panose="02020603050405020304" pitchFamily="18" charset="0"/>
              </a:rPr>
              <a:t>Negative output gap declines gradually:</a:t>
            </a:r>
            <a:endParaRPr lang="en-RW" dirty="0">
              <a:effectLst/>
              <a:ea typeface="Calibri" panose="020F0502020204030204" pitchFamily="34" charset="0"/>
              <a:cs typeface="Times New Roman" panose="02020603050405020304" pitchFamily="18" charset="0"/>
            </a:endParaRPr>
          </a:p>
          <a:p>
            <a:pPr marL="274638" lvl="1" indent="0">
              <a:lnSpc>
                <a:spcPct val="107000"/>
              </a:lnSpc>
              <a:spcAft>
                <a:spcPts val="600"/>
              </a:spcAft>
              <a:buNone/>
            </a:pPr>
            <a:r>
              <a:rPr lang="en-GB" sz="1400" dirty="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--lessening down pull from consumption which goes back to normal</a:t>
            </a:r>
            <a:endParaRPr lang="en-RW" sz="1800" dirty="0">
              <a:effectLst/>
              <a:latin typeface="Calibri" panose="020F0502020204030204" pitchFamily="34" charset="0"/>
              <a:ea typeface="Calibri" panose="020F0502020204030204" pitchFamily="34" charset="0"/>
              <a:cs typeface="Times New Roman" panose="02020603050405020304" pitchFamily="18" charset="0"/>
            </a:endParaRPr>
          </a:p>
          <a:p>
            <a:pPr marL="274638" lvl="1" indent="0">
              <a:lnSpc>
                <a:spcPct val="107000"/>
              </a:lnSpc>
              <a:spcAft>
                <a:spcPts val="600"/>
              </a:spcAft>
              <a:buNone/>
            </a:pPr>
            <a:r>
              <a:rPr lang="en-GB" sz="1400" dirty="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--large initial down pull from reduction in real government spending</a:t>
            </a:r>
            <a:endParaRPr lang="en-RW" sz="1800" dirty="0">
              <a:effectLst/>
              <a:latin typeface="Calibri" panose="020F0502020204030204" pitchFamily="34" charset="0"/>
              <a:ea typeface="Calibri" panose="020F0502020204030204" pitchFamily="34" charset="0"/>
              <a:cs typeface="Times New Roman" panose="02020603050405020304" pitchFamily="18" charset="0"/>
            </a:endParaRPr>
          </a:p>
          <a:p>
            <a:pPr marL="274638" lvl="1" indent="0">
              <a:lnSpc>
                <a:spcPct val="107000"/>
              </a:lnSpc>
              <a:spcAft>
                <a:spcPts val="600"/>
              </a:spcAft>
              <a:buNone/>
            </a:pPr>
            <a:r>
              <a:rPr lang="en-GB" sz="1400" dirty="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--but gradually disappearing from mid-2024 </a:t>
            </a:r>
            <a:endParaRPr lang="en-RW" sz="1800" dirty="0">
              <a:effectLst/>
              <a:latin typeface="Calibri" panose="020F0502020204030204" pitchFamily="34" charset="0"/>
              <a:ea typeface="Calibri" panose="020F0502020204030204" pitchFamily="34" charset="0"/>
              <a:cs typeface="Times New Roman" panose="02020603050405020304" pitchFamily="18" charset="0"/>
            </a:endParaRPr>
          </a:p>
          <a:p>
            <a:pPr marL="274638" lvl="1" indent="0">
              <a:lnSpc>
                <a:spcPct val="107000"/>
              </a:lnSpc>
              <a:spcAft>
                <a:spcPts val="600"/>
              </a:spcAft>
              <a:buNone/>
            </a:pPr>
            <a:r>
              <a:rPr lang="en-GB" sz="1400" dirty="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--exports helped by increasing REER </a:t>
            </a:r>
            <a:endParaRPr lang="en-RW"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GB" sz="1600" dirty="0"/>
          </a:p>
        </p:txBody>
      </p:sp>
      <p:pic>
        <p:nvPicPr>
          <p:cNvPr id="5" name="Picture 4">
            <a:extLst>
              <a:ext uri="{FF2B5EF4-FFF2-40B4-BE49-F238E27FC236}">
                <a16:creationId xmlns:a16="http://schemas.microsoft.com/office/drawing/2014/main" id="{5DE30E72-497C-AE6F-5585-325F5D20F41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28609" y="1363662"/>
            <a:ext cx="5050971" cy="4740276"/>
          </a:xfrm>
          <a:prstGeom prst="rect">
            <a:avLst/>
          </a:prstGeom>
          <a:noFill/>
          <a:ln>
            <a:noFill/>
          </a:ln>
        </p:spPr>
      </p:pic>
      <p:pic>
        <p:nvPicPr>
          <p:cNvPr id="9" name="Picture 8">
            <a:extLst>
              <a:ext uri="{FF2B5EF4-FFF2-40B4-BE49-F238E27FC236}">
                <a16:creationId xmlns:a16="http://schemas.microsoft.com/office/drawing/2014/main" id="{7C6BE4F4-E2EE-53F9-3208-4B39F8E0178A}"/>
              </a:ext>
            </a:extLst>
          </p:cNvPr>
          <p:cNvPicPr>
            <a:picLocks noChangeAspect="1"/>
          </p:cNvPicPr>
          <p:nvPr/>
        </p:nvPicPr>
        <p:blipFill>
          <a:blip r:embed="rId4"/>
          <a:stretch>
            <a:fillRect/>
          </a:stretch>
        </p:blipFill>
        <p:spPr>
          <a:xfrm>
            <a:off x="3248797" y="1223169"/>
            <a:ext cx="3401875" cy="2324100"/>
          </a:xfrm>
          <a:prstGeom prst="rect">
            <a:avLst/>
          </a:prstGeom>
        </p:spPr>
      </p:pic>
      <p:sp>
        <p:nvSpPr>
          <p:cNvPr id="10" name="TextBox 9">
            <a:extLst>
              <a:ext uri="{FF2B5EF4-FFF2-40B4-BE49-F238E27FC236}">
                <a16:creationId xmlns:a16="http://schemas.microsoft.com/office/drawing/2014/main" id="{831B033B-F303-BBE2-E42F-5D6CF7E2AECC}"/>
              </a:ext>
            </a:extLst>
          </p:cNvPr>
          <p:cNvSpPr txBox="1"/>
          <p:nvPr/>
        </p:nvSpPr>
        <p:spPr>
          <a:xfrm>
            <a:off x="312420" y="1219200"/>
            <a:ext cx="2758440" cy="1692771"/>
          </a:xfrm>
          <a:prstGeom prst="rect">
            <a:avLst/>
          </a:prstGeom>
          <a:noFill/>
          <a:ln>
            <a:solidFill>
              <a:schemeClr val="accent5"/>
            </a:solidFill>
          </a:ln>
        </p:spPr>
        <p:txBody>
          <a:bodyPr wrap="square" rtlCol="0">
            <a:spAutoFit/>
          </a:bodyPr>
          <a:lstStyle/>
          <a:p>
            <a:pPr>
              <a:lnSpc>
                <a:spcPct val="150000"/>
              </a:lnSpc>
            </a:pPr>
            <a:r>
              <a:rPr lang="en-US" sz="1400" dirty="0">
                <a:latin typeface="+mn-lt"/>
              </a:rPr>
              <a:t>--output gap closing in as output (level) approaching its trend.</a:t>
            </a:r>
          </a:p>
          <a:p>
            <a:pPr>
              <a:lnSpc>
                <a:spcPct val="150000"/>
              </a:lnSpc>
            </a:pPr>
            <a:r>
              <a:rPr lang="en-US" sz="1400" dirty="0">
                <a:latin typeface="+mn-lt"/>
              </a:rPr>
              <a:t>--output moves around  zero trend when its level catches trend</a:t>
            </a:r>
          </a:p>
          <a:p>
            <a:r>
              <a:rPr lang="en-US" sz="2000" dirty="0"/>
              <a:t>  </a:t>
            </a:r>
            <a:endParaRPr lang="en-RW" sz="2000" dirty="0"/>
          </a:p>
        </p:txBody>
      </p:sp>
    </p:spTree>
    <p:extLst>
      <p:ext uri="{BB962C8B-B14F-4D97-AF65-F5344CB8AC3E}">
        <p14:creationId xmlns:p14="http://schemas.microsoft.com/office/powerpoint/2010/main" val="1781778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E215E-A221-5C2E-C78F-32828EC4B1F8}"/>
              </a:ext>
            </a:extLst>
          </p:cNvPr>
          <p:cNvSpPr>
            <a:spLocks noGrp="1"/>
          </p:cNvSpPr>
          <p:nvPr>
            <p:ph type="title"/>
          </p:nvPr>
        </p:nvSpPr>
        <p:spPr>
          <a:xfrm>
            <a:off x="1625600" y="228600"/>
            <a:ext cx="10490200" cy="685800"/>
          </a:xfrm>
        </p:spPr>
        <p:txBody>
          <a:bodyPr/>
          <a:lstStyle/>
          <a:p>
            <a:r>
              <a:rPr lang="en-GB" b="1" dirty="0"/>
              <a:t>Private consumption and cyclical position</a:t>
            </a:r>
            <a:endParaRPr lang="en-AE" b="1" dirty="0"/>
          </a:p>
        </p:txBody>
      </p:sp>
      <p:sp>
        <p:nvSpPr>
          <p:cNvPr id="3" name="Slide Number Placeholder 2">
            <a:extLst>
              <a:ext uri="{FF2B5EF4-FFF2-40B4-BE49-F238E27FC236}">
                <a16:creationId xmlns:a16="http://schemas.microsoft.com/office/drawing/2014/main" id="{D8C77F28-182D-EA72-A954-E1C43EFFCEA3}"/>
              </a:ext>
            </a:extLst>
          </p:cNvPr>
          <p:cNvSpPr>
            <a:spLocks noGrp="1"/>
          </p:cNvSpPr>
          <p:nvPr>
            <p:ph type="sldNum" sz="quarter" idx="10"/>
          </p:nvPr>
        </p:nvSpPr>
        <p:spPr/>
        <p:txBody>
          <a:bodyPr/>
          <a:lstStyle/>
          <a:p>
            <a:fld id="{D97AE203-F84D-4A7F-B161-8561326BE072}" type="slidenum">
              <a:rPr lang="en-US" smtClean="0"/>
              <a:pPr/>
              <a:t>14</a:t>
            </a:fld>
            <a:endParaRPr lang="en-US" dirty="0"/>
          </a:p>
        </p:txBody>
      </p:sp>
      <p:sp>
        <p:nvSpPr>
          <p:cNvPr id="4" name="Content Placeholder 2">
            <a:extLst>
              <a:ext uri="{FF2B5EF4-FFF2-40B4-BE49-F238E27FC236}">
                <a16:creationId xmlns:a16="http://schemas.microsoft.com/office/drawing/2014/main" id="{D58DA28E-0F28-523A-7B3F-93FC9CDE1E03}"/>
              </a:ext>
            </a:extLst>
          </p:cNvPr>
          <p:cNvSpPr txBox="1">
            <a:spLocks/>
          </p:cNvSpPr>
          <p:nvPr/>
        </p:nvSpPr>
        <p:spPr>
          <a:xfrm>
            <a:off x="5562600" y="4918922"/>
            <a:ext cx="6518910" cy="1600200"/>
          </a:xfrm>
          <a:prstGeom prst="rect">
            <a:avLst/>
          </a:prstGeom>
          <a:ln>
            <a:solidFill>
              <a:schemeClr val="accent5"/>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nSpc>
                <a:spcPct val="107000"/>
              </a:lnSpc>
              <a:spcBef>
                <a:spcPts val="0"/>
              </a:spcBef>
              <a:spcAft>
                <a:spcPts val="0"/>
              </a:spcAft>
              <a:buNone/>
            </a:pPr>
            <a:r>
              <a:rPr lang="en-GB" sz="1600" b="1" dirty="0">
                <a:solidFill>
                  <a:srgbClr val="2F5496"/>
                </a:solidFill>
                <a:latin typeface="Times New Roman" panose="02020603050405020304" pitchFamily="18" charset="0"/>
                <a:cs typeface="Times New Roman" panose="02020603050405020304" pitchFamily="18" charset="0"/>
              </a:rPr>
              <a:t>Consumption gap:   </a:t>
            </a:r>
          </a:p>
          <a:p>
            <a:pPr marL="0" indent="0">
              <a:spcBef>
                <a:spcPts val="0"/>
              </a:spcBef>
              <a:spcAft>
                <a:spcPts val="0"/>
              </a:spcAft>
              <a:buNone/>
            </a:pPr>
            <a:r>
              <a:rPr lang="en-GB" sz="1400" dirty="0">
                <a:solidFill>
                  <a:srgbClr val="2F5496"/>
                </a:solidFill>
                <a:cs typeface="Times New Roman" panose="02020603050405020304" pitchFamily="18" charset="0"/>
              </a:rPr>
              <a:t>--</a:t>
            </a:r>
            <a:r>
              <a:rPr lang="en-GB" sz="1600" dirty="0">
                <a:solidFill>
                  <a:srgbClr val="2F5496"/>
                </a:solidFill>
                <a:cs typeface="Times New Roman" panose="02020603050405020304" pitchFamily="18" charset="0"/>
              </a:rPr>
              <a:t>estimated  to recover from recent low levels but remains restrained in 2024      </a:t>
            </a:r>
          </a:p>
          <a:p>
            <a:pPr marL="274638" lvl="1" indent="0">
              <a:spcBef>
                <a:spcPts val="0"/>
              </a:spcBef>
              <a:spcAft>
                <a:spcPts val="0"/>
              </a:spcAft>
              <a:buNone/>
            </a:pPr>
            <a:r>
              <a:rPr lang="en-GB" sz="1200" dirty="0">
                <a:solidFill>
                  <a:srgbClr val="2F5496"/>
                </a:solidFill>
                <a:cs typeface="Times New Roman" panose="02020603050405020304" pitchFamily="18" charset="0"/>
              </a:rPr>
              <a:t>---by low GDP growth and negative fiscal impulse in 2023-24. </a:t>
            </a:r>
          </a:p>
          <a:p>
            <a:pPr marL="0" indent="0">
              <a:spcBef>
                <a:spcPts val="0"/>
              </a:spcBef>
              <a:spcAft>
                <a:spcPts val="0"/>
              </a:spcAft>
              <a:buNone/>
            </a:pPr>
            <a:r>
              <a:rPr lang="en-GB" sz="1400" dirty="0">
                <a:solidFill>
                  <a:srgbClr val="2F5496"/>
                </a:solidFill>
                <a:cs typeface="Times New Roman" panose="02020603050405020304" pitchFamily="18" charset="0"/>
              </a:rPr>
              <a:t>---returns to trend growth late in 2026 when fiscal and monetary policy becomes less restrictive</a:t>
            </a:r>
            <a:r>
              <a:rPr lang="en-GB" sz="1800" dirty="0">
                <a:solidFill>
                  <a:srgbClr val="2F5496"/>
                </a:solidFill>
                <a:cs typeface="Times New Roman" panose="02020603050405020304" pitchFamily="18" charset="0"/>
              </a:rPr>
              <a:t>. </a:t>
            </a:r>
            <a:endParaRPr lang="en-AE" sz="1800" dirty="0">
              <a:solidFill>
                <a:srgbClr val="2F5496"/>
              </a:solidFill>
              <a:cs typeface="Times New Roman" panose="02020603050405020304" pitchFamily="18" charset="0"/>
            </a:endParaRPr>
          </a:p>
        </p:txBody>
      </p:sp>
      <p:sp>
        <p:nvSpPr>
          <p:cNvPr id="9" name="TextBox 8">
            <a:extLst>
              <a:ext uri="{FF2B5EF4-FFF2-40B4-BE49-F238E27FC236}">
                <a16:creationId xmlns:a16="http://schemas.microsoft.com/office/drawing/2014/main" id="{92C4DA25-5C9F-F1F8-8B9C-3CE84D7513B0}"/>
              </a:ext>
            </a:extLst>
          </p:cNvPr>
          <p:cNvSpPr txBox="1"/>
          <p:nvPr/>
        </p:nvSpPr>
        <p:spPr>
          <a:xfrm rot="10800000" flipV="1">
            <a:off x="609600" y="4982560"/>
            <a:ext cx="4419600" cy="1250471"/>
          </a:xfrm>
          <a:prstGeom prst="rect">
            <a:avLst/>
          </a:prstGeom>
          <a:noFill/>
          <a:ln>
            <a:solidFill>
              <a:schemeClr val="accent5"/>
            </a:solidFill>
          </a:ln>
        </p:spPr>
        <p:txBody>
          <a:bodyPr wrap="square">
            <a:spAutoFit/>
          </a:bodyPr>
          <a:lstStyle/>
          <a:p>
            <a:pPr marL="0" marR="0">
              <a:lnSpc>
                <a:spcPct val="107000"/>
              </a:lnSpc>
              <a:spcBef>
                <a:spcPts val="0"/>
              </a:spcBef>
              <a:spcAft>
                <a:spcPts val="0"/>
              </a:spcAft>
            </a:pPr>
            <a:r>
              <a:rPr lang="en-GB" sz="1800" b="1" dirty="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Consumption back to trend, drivers:</a:t>
            </a:r>
            <a:endParaRPr lang="en-RW" sz="18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0"/>
              </a:spcBef>
              <a:spcAft>
                <a:spcPts val="0"/>
              </a:spcAft>
            </a:pPr>
            <a:r>
              <a:rPr lang="en-GB" sz="1400" dirty="0">
                <a:solidFill>
                  <a:srgbClr val="2F5496"/>
                </a:solidFill>
                <a:effectLst/>
                <a:latin typeface="+mn-lt"/>
                <a:ea typeface="Calibri" panose="020F0502020204030204" pitchFamily="34" charset="0"/>
                <a:cs typeface="Times New Roman" panose="02020603050405020304" pitchFamily="18" charset="0"/>
              </a:rPr>
              <a:t>--persistence, lagged effect</a:t>
            </a:r>
            <a:endParaRPr lang="en-RW" sz="1400" dirty="0">
              <a:effectLst/>
              <a:latin typeface="+mn-lt"/>
              <a:ea typeface="Calibri" panose="020F0502020204030204" pitchFamily="34" charset="0"/>
              <a:cs typeface="Times New Roman" panose="02020603050405020304" pitchFamily="18" charset="0"/>
            </a:endParaRPr>
          </a:p>
          <a:p>
            <a:pPr>
              <a:spcBef>
                <a:spcPts val="0"/>
              </a:spcBef>
              <a:spcAft>
                <a:spcPts val="0"/>
              </a:spcAft>
            </a:pPr>
            <a:r>
              <a:rPr lang="en-GB" sz="1400" dirty="0">
                <a:solidFill>
                  <a:srgbClr val="2F5496"/>
                </a:solidFill>
                <a:effectLst/>
                <a:latin typeface="+mn-lt"/>
                <a:ea typeface="Calibri" panose="020F0502020204030204" pitchFamily="34" charset="0"/>
                <a:cs typeface="Times New Roman" panose="02020603050405020304" pitchFamily="18" charset="0"/>
              </a:rPr>
              <a:t>--expectations</a:t>
            </a:r>
            <a:endParaRPr lang="en-RW" sz="1400" dirty="0">
              <a:effectLst/>
              <a:latin typeface="+mn-lt"/>
              <a:ea typeface="Calibri" panose="020F0502020204030204" pitchFamily="34" charset="0"/>
              <a:cs typeface="Times New Roman" panose="02020603050405020304" pitchFamily="18" charset="0"/>
            </a:endParaRPr>
          </a:p>
          <a:p>
            <a:pPr>
              <a:spcBef>
                <a:spcPts val="0"/>
              </a:spcBef>
              <a:spcAft>
                <a:spcPts val="0"/>
              </a:spcAft>
            </a:pPr>
            <a:r>
              <a:rPr lang="en-GB" sz="1400" dirty="0">
                <a:solidFill>
                  <a:srgbClr val="2F5496"/>
                </a:solidFill>
                <a:effectLst/>
                <a:latin typeface="+mn-lt"/>
                <a:ea typeface="Calibri" panose="020F0502020204030204" pitchFamily="34" charset="0"/>
                <a:cs typeface="Times New Roman" panose="02020603050405020304" pitchFamily="18" charset="0"/>
              </a:rPr>
              <a:t>--income, proxied by real GDP</a:t>
            </a:r>
            <a:endParaRPr lang="en-RW" sz="1400" dirty="0">
              <a:effectLst/>
              <a:latin typeface="+mn-lt"/>
              <a:ea typeface="Calibri" panose="020F0502020204030204" pitchFamily="34" charset="0"/>
              <a:cs typeface="Times New Roman" panose="02020603050405020304" pitchFamily="18" charset="0"/>
            </a:endParaRPr>
          </a:p>
          <a:p>
            <a:pPr>
              <a:spcBef>
                <a:spcPts val="0"/>
              </a:spcBef>
              <a:spcAft>
                <a:spcPts val="0"/>
              </a:spcAft>
            </a:pPr>
            <a:r>
              <a:rPr lang="en-US" sz="1400" dirty="0">
                <a:solidFill>
                  <a:srgbClr val="2F5496"/>
                </a:solidFill>
                <a:effectLst/>
                <a:latin typeface="+mn-lt"/>
                <a:ea typeface="Calibri" panose="020F0502020204030204" pitchFamily="34" charset="0"/>
              </a:rPr>
              <a:t>--negative fiscal impulse</a:t>
            </a:r>
            <a:endParaRPr lang="en-US" sz="1600" dirty="0">
              <a:effectLst/>
              <a:latin typeface="+mn-lt"/>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4544ECB2-07F6-60CD-DC4B-AD14555190E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62600" y="1219200"/>
            <a:ext cx="5740581" cy="3521076"/>
          </a:xfrm>
          <a:prstGeom prst="rect">
            <a:avLst/>
          </a:prstGeom>
          <a:noFill/>
          <a:ln>
            <a:noFill/>
          </a:ln>
        </p:spPr>
      </p:pic>
      <p:pic>
        <p:nvPicPr>
          <p:cNvPr id="12" name="Picture 11">
            <a:extLst>
              <a:ext uri="{FF2B5EF4-FFF2-40B4-BE49-F238E27FC236}">
                <a16:creationId xmlns:a16="http://schemas.microsoft.com/office/drawing/2014/main" id="{747599E0-43B9-8A97-9961-3FB3ADED8D10}"/>
              </a:ext>
            </a:extLst>
          </p:cNvPr>
          <p:cNvPicPr>
            <a:picLocks noChangeAspect="1"/>
          </p:cNvPicPr>
          <p:nvPr/>
        </p:nvPicPr>
        <p:blipFill>
          <a:blip r:embed="rId4"/>
          <a:stretch>
            <a:fillRect/>
          </a:stretch>
        </p:blipFill>
        <p:spPr>
          <a:xfrm>
            <a:off x="609600" y="1342567"/>
            <a:ext cx="4419600" cy="3397709"/>
          </a:xfrm>
          <a:prstGeom prst="rect">
            <a:avLst/>
          </a:prstGeom>
        </p:spPr>
      </p:pic>
    </p:spTree>
    <p:extLst>
      <p:ext uri="{BB962C8B-B14F-4D97-AF65-F5344CB8AC3E}">
        <p14:creationId xmlns:p14="http://schemas.microsoft.com/office/powerpoint/2010/main" val="1243637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E215E-A221-5C2E-C78F-32828EC4B1F8}"/>
              </a:ext>
            </a:extLst>
          </p:cNvPr>
          <p:cNvSpPr>
            <a:spLocks noGrp="1"/>
          </p:cNvSpPr>
          <p:nvPr>
            <p:ph type="title"/>
          </p:nvPr>
        </p:nvSpPr>
        <p:spPr>
          <a:xfrm>
            <a:off x="1625600" y="228600"/>
            <a:ext cx="10490200" cy="685800"/>
          </a:xfrm>
        </p:spPr>
        <p:txBody>
          <a:bodyPr/>
          <a:lstStyle/>
          <a:p>
            <a:r>
              <a:rPr lang="en-GB" sz="2400" b="1" dirty="0"/>
              <a:t>Private investment, exports &amp; imports and cyclical position </a:t>
            </a:r>
            <a:r>
              <a:rPr lang="en-GB" sz="2400" dirty="0">
                <a:solidFill>
                  <a:srgbClr val="FF0000"/>
                </a:solidFill>
              </a:rPr>
              <a:t>new</a:t>
            </a:r>
            <a:endParaRPr lang="en-AE" sz="2400" dirty="0">
              <a:solidFill>
                <a:srgbClr val="FF0000"/>
              </a:solidFill>
            </a:endParaRPr>
          </a:p>
        </p:txBody>
      </p:sp>
      <p:sp>
        <p:nvSpPr>
          <p:cNvPr id="3" name="Slide Number Placeholder 2">
            <a:extLst>
              <a:ext uri="{FF2B5EF4-FFF2-40B4-BE49-F238E27FC236}">
                <a16:creationId xmlns:a16="http://schemas.microsoft.com/office/drawing/2014/main" id="{D8C77F28-182D-EA72-A954-E1C43EFFCEA3}"/>
              </a:ext>
            </a:extLst>
          </p:cNvPr>
          <p:cNvSpPr>
            <a:spLocks noGrp="1"/>
          </p:cNvSpPr>
          <p:nvPr>
            <p:ph type="sldNum" sz="quarter" idx="10"/>
          </p:nvPr>
        </p:nvSpPr>
        <p:spPr/>
        <p:txBody>
          <a:bodyPr/>
          <a:lstStyle/>
          <a:p>
            <a:fld id="{D97AE203-F84D-4A7F-B161-8561326BE072}" type="slidenum">
              <a:rPr lang="en-US" smtClean="0"/>
              <a:pPr/>
              <a:t>15</a:t>
            </a:fld>
            <a:endParaRPr lang="en-US" dirty="0"/>
          </a:p>
        </p:txBody>
      </p:sp>
      <p:sp>
        <p:nvSpPr>
          <p:cNvPr id="4" name="Content Placeholder 2">
            <a:extLst>
              <a:ext uri="{FF2B5EF4-FFF2-40B4-BE49-F238E27FC236}">
                <a16:creationId xmlns:a16="http://schemas.microsoft.com/office/drawing/2014/main" id="{D58DA28E-0F28-523A-7B3F-93FC9CDE1E03}"/>
              </a:ext>
            </a:extLst>
          </p:cNvPr>
          <p:cNvSpPr txBox="1">
            <a:spLocks/>
          </p:cNvSpPr>
          <p:nvPr/>
        </p:nvSpPr>
        <p:spPr>
          <a:xfrm>
            <a:off x="5791200" y="1066800"/>
            <a:ext cx="6324600" cy="18288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endParaRPr lang="en-AE" sz="1400" b="1" dirty="0"/>
          </a:p>
        </p:txBody>
      </p:sp>
      <p:pic>
        <p:nvPicPr>
          <p:cNvPr id="5" name="Picture 4">
            <a:extLst>
              <a:ext uri="{FF2B5EF4-FFF2-40B4-BE49-F238E27FC236}">
                <a16:creationId xmlns:a16="http://schemas.microsoft.com/office/drawing/2014/main" id="{B07BADC8-8422-27C0-9760-793C3E801DA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1235347"/>
            <a:ext cx="3810000" cy="3026410"/>
          </a:xfrm>
          <a:prstGeom prst="rect">
            <a:avLst/>
          </a:prstGeom>
          <a:noFill/>
          <a:ln>
            <a:noFill/>
          </a:ln>
        </p:spPr>
      </p:pic>
      <p:pic>
        <p:nvPicPr>
          <p:cNvPr id="18" name="Picture 17">
            <a:extLst>
              <a:ext uri="{FF2B5EF4-FFF2-40B4-BE49-F238E27FC236}">
                <a16:creationId xmlns:a16="http://schemas.microsoft.com/office/drawing/2014/main" id="{D23A081A-9059-307A-69E0-E70705811398}"/>
              </a:ext>
            </a:extLst>
          </p:cNvPr>
          <p:cNvPicPr>
            <a:picLocks noChangeAspect="1"/>
          </p:cNvPicPr>
          <p:nvPr/>
        </p:nvPicPr>
        <p:blipFill>
          <a:blip r:embed="rId4"/>
          <a:stretch>
            <a:fillRect/>
          </a:stretch>
        </p:blipFill>
        <p:spPr>
          <a:xfrm>
            <a:off x="4343401" y="1235347"/>
            <a:ext cx="3886199" cy="3031853"/>
          </a:xfrm>
          <a:prstGeom prst="rect">
            <a:avLst/>
          </a:prstGeom>
        </p:spPr>
      </p:pic>
      <p:pic>
        <p:nvPicPr>
          <p:cNvPr id="20" name="Picture 19">
            <a:extLst>
              <a:ext uri="{FF2B5EF4-FFF2-40B4-BE49-F238E27FC236}">
                <a16:creationId xmlns:a16="http://schemas.microsoft.com/office/drawing/2014/main" id="{FDFC1168-07DA-C4EC-42DD-0BEB388C2B89}"/>
              </a:ext>
            </a:extLst>
          </p:cNvPr>
          <p:cNvPicPr>
            <a:picLocks noChangeAspect="1"/>
          </p:cNvPicPr>
          <p:nvPr/>
        </p:nvPicPr>
        <p:blipFill>
          <a:blip r:embed="rId5"/>
          <a:stretch>
            <a:fillRect/>
          </a:stretch>
        </p:blipFill>
        <p:spPr>
          <a:xfrm>
            <a:off x="8382001" y="1321526"/>
            <a:ext cx="3505199" cy="2945674"/>
          </a:xfrm>
          <a:prstGeom prst="rect">
            <a:avLst/>
          </a:prstGeom>
        </p:spPr>
      </p:pic>
      <p:sp>
        <p:nvSpPr>
          <p:cNvPr id="21" name="TextBox 20">
            <a:extLst>
              <a:ext uri="{FF2B5EF4-FFF2-40B4-BE49-F238E27FC236}">
                <a16:creationId xmlns:a16="http://schemas.microsoft.com/office/drawing/2014/main" id="{3966F8FF-5F2D-9443-4B75-9B5C17AD66D2}"/>
              </a:ext>
            </a:extLst>
          </p:cNvPr>
          <p:cNvSpPr txBox="1"/>
          <p:nvPr/>
        </p:nvSpPr>
        <p:spPr>
          <a:xfrm>
            <a:off x="381000" y="4495800"/>
            <a:ext cx="3810000" cy="2062103"/>
          </a:xfrm>
          <a:prstGeom prst="rect">
            <a:avLst/>
          </a:prstGeom>
          <a:noFill/>
          <a:ln>
            <a:solidFill>
              <a:schemeClr val="accent5"/>
            </a:solidFill>
          </a:ln>
        </p:spPr>
        <p:txBody>
          <a:bodyPr wrap="square" rtlCol="0">
            <a:spAutoFit/>
          </a:bodyPr>
          <a:lstStyle/>
          <a:p>
            <a:pPr>
              <a:spcBef>
                <a:spcPts val="0"/>
              </a:spcBef>
              <a:spcAft>
                <a:spcPts val="0"/>
              </a:spcAft>
            </a:pPr>
            <a:r>
              <a:rPr lang="en-GB" sz="1600" b="1" dirty="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Private investment returns to trend level and growth path</a:t>
            </a:r>
            <a:endParaRPr lang="en-RW" sz="16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0"/>
              </a:spcBef>
              <a:spcAft>
                <a:spcPts val="0"/>
              </a:spcAft>
            </a:pPr>
            <a:r>
              <a:rPr lang="en-US" sz="1200" u="sng" dirty="0">
                <a:solidFill>
                  <a:srgbClr val="2F5496"/>
                </a:solidFill>
                <a:effectLst/>
                <a:latin typeface="+mn-lt"/>
                <a:ea typeface="Calibri" panose="020F0502020204030204" pitchFamily="34" charset="0"/>
                <a:cs typeface="Times New Roman" panose="02020603050405020304" pitchFamily="18" charset="0"/>
              </a:rPr>
              <a:t>Main drivers</a:t>
            </a:r>
            <a:r>
              <a:rPr lang="en-US" sz="1200" dirty="0">
                <a:solidFill>
                  <a:srgbClr val="2F5496"/>
                </a:solidFill>
                <a:effectLst/>
                <a:latin typeface="+mn-lt"/>
                <a:ea typeface="Calibri" panose="020F0502020204030204" pitchFamily="34" charset="0"/>
                <a:cs typeface="Times New Roman" panose="02020603050405020304" pitchFamily="18" charset="0"/>
              </a:rPr>
              <a:t>:</a:t>
            </a:r>
            <a:endParaRPr lang="en-RW" sz="1200" dirty="0">
              <a:effectLst/>
              <a:latin typeface="+mn-lt"/>
              <a:ea typeface="Calibri" panose="020F0502020204030204" pitchFamily="34" charset="0"/>
              <a:cs typeface="Times New Roman" panose="02020603050405020304" pitchFamily="18" charset="0"/>
            </a:endParaRPr>
          </a:p>
          <a:p>
            <a:pPr>
              <a:spcBef>
                <a:spcPts val="0"/>
              </a:spcBef>
              <a:spcAft>
                <a:spcPts val="0"/>
              </a:spcAft>
            </a:pPr>
            <a:r>
              <a:rPr lang="en-GB" sz="1200" dirty="0">
                <a:solidFill>
                  <a:srgbClr val="2F5496"/>
                </a:solidFill>
                <a:effectLst/>
                <a:latin typeface="+mn-lt"/>
                <a:ea typeface="Calibri" panose="020F0502020204030204" pitchFamily="34" charset="0"/>
                <a:cs typeface="Times New Roman" panose="02020603050405020304" pitchFamily="18" charset="0"/>
              </a:rPr>
              <a:t>-- persistence (lag)</a:t>
            </a:r>
            <a:endParaRPr lang="en-RW" sz="1200" dirty="0">
              <a:effectLst/>
              <a:latin typeface="+mn-lt"/>
              <a:ea typeface="Calibri" panose="020F0502020204030204" pitchFamily="34" charset="0"/>
              <a:cs typeface="Times New Roman" panose="02020603050405020304" pitchFamily="18" charset="0"/>
            </a:endParaRPr>
          </a:p>
          <a:p>
            <a:pPr>
              <a:spcBef>
                <a:spcPts val="0"/>
              </a:spcBef>
              <a:spcAft>
                <a:spcPts val="0"/>
              </a:spcAft>
            </a:pPr>
            <a:r>
              <a:rPr lang="en-GB" sz="1200" dirty="0">
                <a:solidFill>
                  <a:srgbClr val="2F5496"/>
                </a:solidFill>
                <a:effectLst/>
                <a:latin typeface="+mn-lt"/>
                <a:ea typeface="Calibri" panose="020F0502020204030204" pitchFamily="34" charset="0"/>
                <a:cs typeface="Times New Roman" panose="02020603050405020304" pitchFamily="18" charset="0"/>
              </a:rPr>
              <a:t>--expectations</a:t>
            </a:r>
            <a:endParaRPr lang="en-RW" sz="1200" dirty="0">
              <a:effectLst/>
              <a:latin typeface="+mn-lt"/>
              <a:ea typeface="Calibri" panose="020F0502020204030204" pitchFamily="34" charset="0"/>
              <a:cs typeface="Times New Roman" panose="02020603050405020304" pitchFamily="18" charset="0"/>
            </a:endParaRPr>
          </a:p>
          <a:p>
            <a:pPr>
              <a:spcBef>
                <a:spcPts val="0"/>
              </a:spcBef>
              <a:spcAft>
                <a:spcPts val="0"/>
              </a:spcAft>
            </a:pPr>
            <a:r>
              <a:rPr lang="en-GB" sz="1200" dirty="0">
                <a:solidFill>
                  <a:srgbClr val="2F5496"/>
                </a:solidFill>
                <a:effectLst/>
                <a:latin typeface="+mn-lt"/>
                <a:ea typeface="Calibri" panose="020F0502020204030204" pitchFamily="34" charset="0"/>
                <a:cs typeface="Times New Roman" panose="02020603050405020304" pitchFamily="18" charset="0"/>
              </a:rPr>
              <a:t>--real interest rate (RIR) effect is very small</a:t>
            </a:r>
            <a:endParaRPr lang="en-RW" sz="1200" dirty="0">
              <a:effectLst/>
              <a:latin typeface="+mn-lt"/>
              <a:ea typeface="Calibri" panose="020F0502020204030204" pitchFamily="34" charset="0"/>
              <a:cs typeface="Times New Roman" panose="02020603050405020304" pitchFamily="18" charset="0"/>
            </a:endParaRPr>
          </a:p>
          <a:p>
            <a:pPr>
              <a:spcBef>
                <a:spcPts val="0"/>
              </a:spcBef>
              <a:spcAft>
                <a:spcPts val="0"/>
              </a:spcAft>
            </a:pPr>
            <a:r>
              <a:rPr lang="en-US" sz="1200" dirty="0">
                <a:solidFill>
                  <a:srgbClr val="7030A0"/>
                </a:solidFill>
                <a:effectLst/>
                <a:latin typeface="+mn-lt"/>
                <a:ea typeface="Calibri" panose="020F0502020204030204" pitchFamily="34" charset="0"/>
                <a:cs typeface="Times New Roman" panose="02020603050405020304" pitchFamily="18" charset="0"/>
              </a:rPr>
              <a:t>--RER has no effect (zero wight in monetary conditions index)</a:t>
            </a:r>
            <a:endParaRPr lang="en-RW" sz="1200" dirty="0">
              <a:effectLst/>
              <a:latin typeface="+mn-lt"/>
              <a:ea typeface="Calibri" panose="020F0502020204030204" pitchFamily="34" charset="0"/>
              <a:cs typeface="Times New Roman" panose="02020603050405020304" pitchFamily="18" charset="0"/>
            </a:endParaRPr>
          </a:p>
          <a:p>
            <a:pPr>
              <a:spcBef>
                <a:spcPts val="0"/>
              </a:spcBef>
              <a:spcAft>
                <a:spcPts val="0"/>
              </a:spcAft>
            </a:pPr>
            <a:r>
              <a:rPr lang="en-GB" sz="1200" dirty="0">
                <a:solidFill>
                  <a:srgbClr val="2F5496"/>
                </a:solidFill>
                <a:effectLst/>
                <a:latin typeface="+mn-lt"/>
                <a:ea typeface="Calibri" panose="020F0502020204030204" pitchFamily="34" charset="0"/>
                <a:cs typeface="Times New Roman" panose="02020603050405020304" pitchFamily="18" charset="0"/>
              </a:rPr>
              <a:t>--small income, effect (proxied by real GDP)</a:t>
            </a:r>
            <a:endParaRPr lang="en-RW" sz="1200" dirty="0">
              <a:effectLst/>
              <a:latin typeface="+mn-lt"/>
              <a:ea typeface="Calibri" panose="020F0502020204030204" pitchFamily="34" charset="0"/>
              <a:cs typeface="Times New Roman" panose="02020603050405020304" pitchFamily="18" charset="0"/>
            </a:endParaRPr>
          </a:p>
          <a:p>
            <a:pPr>
              <a:spcBef>
                <a:spcPts val="0"/>
              </a:spcBef>
              <a:spcAft>
                <a:spcPts val="0"/>
              </a:spcAft>
            </a:pPr>
            <a:r>
              <a:rPr lang="en-GB" sz="1200" dirty="0">
                <a:solidFill>
                  <a:srgbClr val="2F5496"/>
                </a:solidFill>
                <a:effectLst/>
                <a:latin typeface="+mn-lt"/>
                <a:ea typeface="Calibri" panose="020F0502020204030204" pitchFamily="34" charset="0"/>
                <a:cs typeface="Times New Roman" panose="02020603050405020304" pitchFamily="18" charset="0"/>
              </a:rPr>
              <a:t>--fiscal impulse has very small effect</a:t>
            </a:r>
            <a:endParaRPr lang="en-RW" sz="1200" dirty="0">
              <a:effectLst/>
              <a:latin typeface="+mn-lt"/>
              <a:ea typeface="Calibri" panose="020F0502020204030204" pitchFamily="34" charset="0"/>
              <a:cs typeface="Times New Roman" panose="02020603050405020304" pitchFamily="18" charset="0"/>
            </a:endParaRPr>
          </a:p>
        </p:txBody>
      </p:sp>
      <p:sp>
        <p:nvSpPr>
          <p:cNvPr id="29" name="TextBox 28">
            <a:extLst>
              <a:ext uri="{FF2B5EF4-FFF2-40B4-BE49-F238E27FC236}">
                <a16:creationId xmlns:a16="http://schemas.microsoft.com/office/drawing/2014/main" id="{1AA50828-7363-40A9-6EE3-EAB01E9C5945}"/>
              </a:ext>
            </a:extLst>
          </p:cNvPr>
          <p:cNvSpPr txBox="1"/>
          <p:nvPr/>
        </p:nvSpPr>
        <p:spPr>
          <a:xfrm>
            <a:off x="4343400" y="4495800"/>
            <a:ext cx="3886199" cy="2086661"/>
          </a:xfrm>
          <a:prstGeom prst="rect">
            <a:avLst/>
          </a:prstGeom>
          <a:noFill/>
          <a:ln>
            <a:solidFill>
              <a:schemeClr val="accent5"/>
            </a:solidFill>
          </a:ln>
        </p:spPr>
        <p:txBody>
          <a:bodyPr wrap="square">
            <a:spAutoFit/>
          </a:bodyPr>
          <a:lstStyle/>
          <a:p>
            <a:pPr>
              <a:lnSpc>
                <a:spcPct val="107000"/>
              </a:lnSpc>
              <a:spcBef>
                <a:spcPts val="0"/>
              </a:spcBef>
              <a:spcAft>
                <a:spcPts val="0"/>
              </a:spcAft>
            </a:pPr>
            <a:r>
              <a:rPr lang="en-GB" sz="1600" b="1" dirty="0">
                <a:solidFill>
                  <a:srgbClr val="2F5496"/>
                </a:solidFill>
                <a:latin typeface="Times New Roman" panose="02020603050405020304" pitchFamily="18" charset="0"/>
                <a:cs typeface="Times New Roman" panose="02020603050405020304" pitchFamily="18" charset="0"/>
              </a:rPr>
              <a:t>Exports return to trend level and growth path:</a:t>
            </a:r>
            <a:endParaRPr lang="en-RW" sz="1800" b="1" dirty="0">
              <a:solidFill>
                <a:srgbClr val="2F5496"/>
              </a:solidFill>
              <a:latin typeface="Times New Roman" panose="02020603050405020304" pitchFamily="18" charset="0"/>
              <a:cs typeface="Times New Roman" panose="02020603050405020304" pitchFamily="18" charset="0"/>
            </a:endParaRPr>
          </a:p>
          <a:p>
            <a:pPr>
              <a:lnSpc>
                <a:spcPct val="115000"/>
              </a:lnSpc>
              <a:spcBef>
                <a:spcPts val="0"/>
              </a:spcBef>
              <a:spcAft>
                <a:spcPts val="0"/>
              </a:spcAft>
            </a:pPr>
            <a:r>
              <a:rPr lang="en-US" sz="1400" u="sng" dirty="0">
                <a:solidFill>
                  <a:srgbClr val="2F5496"/>
                </a:solidFill>
                <a:latin typeface="+mn-lt"/>
                <a:cs typeface="Times New Roman" panose="02020603050405020304" pitchFamily="18" charset="0"/>
              </a:rPr>
              <a:t>Main drivers:</a:t>
            </a:r>
            <a:endParaRPr lang="en-RW" sz="1400" u="sng" dirty="0">
              <a:solidFill>
                <a:srgbClr val="2F5496"/>
              </a:solidFill>
              <a:latin typeface="+mn-lt"/>
              <a:cs typeface="Times New Roman" panose="02020603050405020304" pitchFamily="18" charset="0"/>
            </a:endParaRPr>
          </a:p>
          <a:p>
            <a:pPr>
              <a:lnSpc>
                <a:spcPct val="115000"/>
              </a:lnSpc>
              <a:spcBef>
                <a:spcPts val="0"/>
              </a:spcBef>
              <a:spcAft>
                <a:spcPts val="0"/>
              </a:spcAft>
            </a:pPr>
            <a:r>
              <a:rPr lang="en-GB" sz="1400" dirty="0">
                <a:solidFill>
                  <a:srgbClr val="2F5496"/>
                </a:solidFill>
                <a:latin typeface="+mn-lt"/>
                <a:cs typeface="Times New Roman" panose="02020603050405020304" pitchFamily="18" charset="0"/>
              </a:rPr>
              <a:t>--persistence (lag)</a:t>
            </a:r>
            <a:endParaRPr lang="en-RW" sz="1400" dirty="0">
              <a:solidFill>
                <a:srgbClr val="2F5496"/>
              </a:solidFill>
              <a:latin typeface="+mn-lt"/>
              <a:cs typeface="Times New Roman" panose="02020603050405020304" pitchFamily="18" charset="0"/>
            </a:endParaRPr>
          </a:p>
          <a:p>
            <a:pPr>
              <a:lnSpc>
                <a:spcPct val="115000"/>
              </a:lnSpc>
              <a:spcBef>
                <a:spcPts val="0"/>
              </a:spcBef>
              <a:spcAft>
                <a:spcPts val="0"/>
              </a:spcAft>
            </a:pPr>
            <a:r>
              <a:rPr lang="en-GB" sz="1400" dirty="0">
                <a:solidFill>
                  <a:srgbClr val="2F5496"/>
                </a:solidFill>
                <a:latin typeface="+mn-lt"/>
                <a:cs typeface="Times New Roman" panose="02020603050405020304" pitchFamily="18" charset="0"/>
              </a:rPr>
              <a:t>--expectations</a:t>
            </a:r>
            <a:endParaRPr lang="en-RW" sz="1400" dirty="0">
              <a:solidFill>
                <a:srgbClr val="2F5496"/>
              </a:solidFill>
              <a:latin typeface="+mn-lt"/>
              <a:cs typeface="Times New Roman" panose="02020603050405020304" pitchFamily="18" charset="0"/>
            </a:endParaRPr>
          </a:p>
          <a:p>
            <a:pPr>
              <a:lnSpc>
                <a:spcPct val="115000"/>
              </a:lnSpc>
              <a:spcBef>
                <a:spcPts val="0"/>
              </a:spcBef>
              <a:spcAft>
                <a:spcPts val="0"/>
              </a:spcAft>
            </a:pPr>
            <a:r>
              <a:rPr lang="en-GB" sz="1400" dirty="0">
                <a:solidFill>
                  <a:srgbClr val="2F5496"/>
                </a:solidFill>
                <a:latin typeface="+mn-lt"/>
                <a:cs typeface="Times New Roman" panose="02020603050405020304" pitchFamily="18" charset="0"/>
              </a:rPr>
              <a:t>--foreign demand (mainly relevant for tourism, albeit with small coefficient)</a:t>
            </a:r>
            <a:endParaRPr lang="en-RW" sz="1400" dirty="0">
              <a:solidFill>
                <a:srgbClr val="2F5496"/>
              </a:solidFill>
              <a:latin typeface="+mn-lt"/>
              <a:cs typeface="Times New Roman" panose="02020603050405020304" pitchFamily="18" charset="0"/>
            </a:endParaRPr>
          </a:p>
          <a:p>
            <a:pPr>
              <a:lnSpc>
                <a:spcPct val="115000"/>
              </a:lnSpc>
              <a:spcBef>
                <a:spcPts val="0"/>
              </a:spcBef>
              <a:spcAft>
                <a:spcPts val="0"/>
              </a:spcAft>
            </a:pPr>
            <a:r>
              <a:rPr lang="en-GB" sz="1400" dirty="0">
                <a:solidFill>
                  <a:srgbClr val="2F5496"/>
                </a:solidFill>
                <a:latin typeface="+mn-lt"/>
                <a:cs typeface="Times New Roman" panose="02020603050405020304" pitchFamily="18" charset="0"/>
              </a:rPr>
              <a:t>--down pull from RER overvaluation disappears</a:t>
            </a:r>
            <a:endParaRPr lang="en-RW" sz="1400" dirty="0">
              <a:solidFill>
                <a:srgbClr val="2F5496"/>
              </a:solidFill>
              <a:latin typeface="+mn-lt"/>
              <a:cs typeface="Times New Roman" panose="02020603050405020304" pitchFamily="18" charset="0"/>
            </a:endParaRPr>
          </a:p>
        </p:txBody>
      </p:sp>
      <p:sp>
        <p:nvSpPr>
          <p:cNvPr id="30" name="TextBox 29">
            <a:extLst>
              <a:ext uri="{FF2B5EF4-FFF2-40B4-BE49-F238E27FC236}">
                <a16:creationId xmlns:a16="http://schemas.microsoft.com/office/drawing/2014/main" id="{BFE41C08-EE54-A31E-786F-9D35C38BF9DE}"/>
              </a:ext>
            </a:extLst>
          </p:cNvPr>
          <p:cNvSpPr txBox="1"/>
          <p:nvPr/>
        </p:nvSpPr>
        <p:spPr>
          <a:xfrm>
            <a:off x="8409213" y="4493143"/>
            <a:ext cx="3505199" cy="1963551"/>
          </a:xfrm>
          <a:prstGeom prst="rect">
            <a:avLst/>
          </a:prstGeom>
          <a:noFill/>
          <a:ln>
            <a:solidFill>
              <a:schemeClr val="accent5"/>
            </a:solidFill>
          </a:ln>
        </p:spPr>
        <p:txBody>
          <a:bodyPr wrap="square">
            <a:spAutoFit/>
          </a:bodyPr>
          <a:lstStyle/>
          <a:p>
            <a:pPr>
              <a:lnSpc>
                <a:spcPct val="107000"/>
              </a:lnSpc>
              <a:spcBef>
                <a:spcPts val="0"/>
              </a:spcBef>
              <a:spcAft>
                <a:spcPts val="0"/>
              </a:spcAft>
            </a:pPr>
            <a:r>
              <a:rPr lang="en-GB" sz="1600" b="1" dirty="0">
                <a:solidFill>
                  <a:srgbClr val="2F5496"/>
                </a:solidFill>
                <a:latin typeface="Times New Roman" panose="02020603050405020304" pitchFamily="18" charset="0"/>
                <a:cs typeface="Times New Roman" panose="02020603050405020304" pitchFamily="18" charset="0"/>
              </a:rPr>
              <a:t>Import demand (for goods and services) returns to trend level and growth path:</a:t>
            </a:r>
            <a:endParaRPr lang="en-RW" sz="1600" b="1" dirty="0">
              <a:solidFill>
                <a:srgbClr val="2F5496"/>
              </a:solidFill>
              <a:latin typeface="Times New Roman" panose="02020603050405020304" pitchFamily="18" charset="0"/>
              <a:cs typeface="Times New Roman" panose="02020603050405020304" pitchFamily="18" charset="0"/>
            </a:endParaRPr>
          </a:p>
          <a:p>
            <a:pPr>
              <a:lnSpc>
                <a:spcPct val="115000"/>
              </a:lnSpc>
              <a:spcBef>
                <a:spcPts val="0"/>
              </a:spcBef>
              <a:spcAft>
                <a:spcPts val="0"/>
              </a:spcAft>
            </a:pPr>
            <a:r>
              <a:rPr lang="en-US" sz="1400" u="sng" dirty="0">
                <a:solidFill>
                  <a:srgbClr val="2F5496"/>
                </a:solidFill>
                <a:latin typeface="+mn-lt"/>
                <a:cs typeface="Times New Roman" panose="02020603050405020304" pitchFamily="18" charset="0"/>
              </a:rPr>
              <a:t>Main drivers:</a:t>
            </a:r>
            <a:endParaRPr lang="en-RW" sz="1400" u="sng" dirty="0">
              <a:solidFill>
                <a:srgbClr val="2F5496"/>
              </a:solidFill>
              <a:latin typeface="+mn-lt"/>
              <a:cs typeface="Times New Roman" panose="02020603050405020304" pitchFamily="18" charset="0"/>
            </a:endParaRPr>
          </a:p>
          <a:p>
            <a:pPr>
              <a:lnSpc>
                <a:spcPct val="115000"/>
              </a:lnSpc>
              <a:spcBef>
                <a:spcPts val="0"/>
              </a:spcBef>
              <a:spcAft>
                <a:spcPts val="0"/>
              </a:spcAft>
            </a:pPr>
            <a:r>
              <a:rPr lang="en-GB" sz="1200" dirty="0">
                <a:solidFill>
                  <a:srgbClr val="2F5496"/>
                </a:solidFill>
                <a:latin typeface="+mn-lt"/>
                <a:cs typeface="Times New Roman" panose="02020603050405020304" pitchFamily="18" charset="0"/>
              </a:rPr>
              <a:t>--final demand components, esp. consumption, govt demand, investment</a:t>
            </a:r>
            <a:endParaRPr lang="en-RW" sz="1200" dirty="0">
              <a:solidFill>
                <a:srgbClr val="2F5496"/>
              </a:solidFill>
              <a:latin typeface="+mn-lt"/>
              <a:cs typeface="Times New Roman" panose="02020603050405020304" pitchFamily="18" charset="0"/>
            </a:endParaRPr>
          </a:p>
          <a:p>
            <a:pPr>
              <a:lnSpc>
                <a:spcPct val="115000"/>
              </a:lnSpc>
              <a:spcBef>
                <a:spcPts val="0"/>
              </a:spcBef>
              <a:spcAft>
                <a:spcPts val="0"/>
              </a:spcAft>
            </a:pPr>
            <a:r>
              <a:rPr lang="en-GB" sz="1200" dirty="0">
                <a:solidFill>
                  <a:srgbClr val="2F5496"/>
                </a:solidFill>
                <a:latin typeface="+mn-lt"/>
                <a:cs typeface="Times New Roman" panose="02020603050405020304" pitchFamily="18" charset="0"/>
              </a:rPr>
              <a:t>--RER effect reverses to negative as real depreciation (lower overvaluation) reduces imports</a:t>
            </a:r>
            <a:endParaRPr lang="en-RW" sz="1200" dirty="0">
              <a:solidFill>
                <a:srgbClr val="2F5496"/>
              </a:solidFill>
              <a:latin typeface="+mn-lt"/>
              <a:cs typeface="Times New Roman" panose="02020603050405020304" pitchFamily="18" charset="0"/>
            </a:endParaRPr>
          </a:p>
        </p:txBody>
      </p:sp>
    </p:spTree>
    <p:extLst>
      <p:ext uri="{BB962C8B-B14F-4D97-AF65-F5344CB8AC3E}">
        <p14:creationId xmlns:p14="http://schemas.microsoft.com/office/powerpoint/2010/main" val="1606340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2B948-3F28-94A0-AFF9-22D3A186313C}"/>
              </a:ext>
            </a:extLst>
          </p:cNvPr>
          <p:cNvSpPr>
            <a:spLocks noGrp="1"/>
          </p:cNvSpPr>
          <p:nvPr>
            <p:ph type="title"/>
          </p:nvPr>
        </p:nvSpPr>
        <p:spPr>
          <a:xfrm>
            <a:off x="1600200" y="228600"/>
            <a:ext cx="10439400" cy="750514"/>
          </a:xfrm>
        </p:spPr>
        <p:txBody>
          <a:bodyPr/>
          <a:lstStyle/>
          <a:p>
            <a:r>
              <a:rPr lang="en-GB" b="1" dirty="0"/>
              <a:t>Fiscal stance (i): govt demand for G&amp;S affects output directly</a:t>
            </a:r>
            <a:endParaRPr lang="en-AE" sz="2000" dirty="0">
              <a:solidFill>
                <a:srgbClr val="FF0000"/>
              </a:solidFill>
            </a:endParaRPr>
          </a:p>
        </p:txBody>
      </p:sp>
      <p:sp>
        <p:nvSpPr>
          <p:cNvPr id="3" name="Slide Number Placeholder 2">
            <a:extLst>
              <a:ext uri="{FF2B5EF4-FFF2-40B4-BE49-F238E27FC236}">
                <a16:creationId xmlns:a16="http://schemas.microsoft.com/office/drawing/2014/main" id="{CAECA724-04CE-0978-4E96-A52B52FFCBB7}"/>
              </a:ext>
            </a:extLst>
          </p:cNvPr>
          <p:cNvSpPr>
            <a:spLocks noGrp="1"/>
          </p:cNvSpPr>
          <p:nvPr>
            <p:ph type="sldNum" sz="quarter" idx="10"/>
          </p:nvPr>
        </p:nvSpPr>
        <p:spPr/>
        <p:txBody>
          <a:bodyPr/>
          <a:lstStyle/>
          <a:p>
            <a:fld id="{D97AE203-F84D-4A7F-B161-8561326BE072}" type="slidenum">
              <a:rPr lang="en-US" smtClean="0"/>
              <a:pPr/>
              <a:t>16</a:t>
            </a:fld>
            <a:endParaRPr lang="en-US" dirty="0"/>
          </a:p>
        </p:txBody>
      </p:sp>
      <p:sp>
        <p:nvSpPr>
          <p:cNvPr id="10" name="Content Placeholder 2">
            <a:extLst>
              <a:ext uri="{FF2B5EF4-FFF2-40B4-BE49-F238E27FC236}">
                <a16:creationId xmlns:a16="http://schemas.microsoft.com/office/drawing/2014/main" id="{01FBA286-B9C2-0395-5CDE-596191958C6F}"/>
              </a:ext>
            </a:extLst>
          </p:cNvPr>
          <p:cNvSpPr txBox="1">
            <a:spLocks/>
          </p:cNvSpPr>
          <p:nvPr/>
        </p:nvSpPr>
        <p:spPr>
          <a:xfrm>
            <a:off x="156274" y="3990969"/>
            <a:ext cx="6244526" cy="2502261"/>
          </a:xfrm>
          <a:prstGeom prst="rect">
            <a:avLst/>
          </a:prstGeom>
          <a:ln>
            <a:solidFill>
              <a:schemeClr val="accent5"/>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GB" sz="1600" b="1" dirty="0">
                <a:solidFill>
                  <a:srgbClr val="0070C0"/>
                </a:solidFill>
                <a:latin typeface="Times New Roman" panose="02020603050405020304" pitchFamily="18" charset="0"/>
              </a:rPr>
              <a:t>Government demand for G&amp;S </a:t>
            </a:r>
            <a:r>
              <a:rPr lang="en-GB" sz="1600" i="1" dirty="0"/>
              <a:t>(direct) </a:t>
            </a:r>
            <a:r>
              <a:rPr lang="en-GB" sz="1600" dirty="0"/>
              <a:t>(</a:t>
            </a:r>
            <a:r>
              <a:rPr lang="en-GB" sz="1600" u="sng" dirty="0"/>
              <a:t>+</a:t>
            </a:r>
            <a:r>
              <a:rPr lang="en-GB" sz="1600" dirty="0"/>
              <a:t> 23% of GDP):</a:t>
            </a:r>
          </a:p>
          <a:p>
            <a:pPr marL="0" indent="0" algn="just">
              <a:buNone/>
            </a:pPr>
            <a:r>
              <a:rPr lang="en-GB" sz="1400" dirty="0">
                <a:effectLst/>
                <a:ea typeface="Calibri" panose="020F0502020204030204" pitchFamily="34" charset="0"/>
              </a:rPr>
              <a:t>---current fiscal program envisages a reduction in the deficit (consolidation) to 10.8% of GDP in 2023/24 and to 9.7% in 2024/25, </a:t>
            </a:r>
          </a:p>
          <a:p>
            <a:pPr marL="274638" lvl="1" indent="0" algn="just">
              <a:buNone/>
            </a:pPr>
            <a:r>
              <a:rPr lang="en-GB" sz="1400" dirty="0">
                <a:ea typeface="Calibri" panose="020F0502020204030204" pitchFamily="34" charset="0"/>
              </a:rPr>
              <a:t> </a:t>
            </a:r>
            <a:r>
              <a:rPr lang="en-GB" sz="1200" dirty="0">
                <a:ea typeface="Calibri" panose="020F0502020204030204" pitchFamily="34" charset="0"/>
              </a:rPr>
              <a:t>---</a:t>
            </a:r>
            <a:r>
              <a:rPr lang="en-GB" sz="1200" dirty="0">
                <a:effectLst/>
                <a:ea typeface="Calibri" panose="020F0502020204030204" pitchFamily="34" charset="0"/>
              </a:rPr>
              <a:t>well below that in Covid and immediate post-Covid years (averaging 14% of GDP in 2019/20-2021/22).</a:t>
            </a:r>
          </a:p>
          <a:p>
            <a:pPr marL="0" indent="0" algn="just">
              <a:buNone/>
            </a:pPr>
            <a:r>
              <a:rPr lang="en-GB" sz="1400" dirty="0">
                <a:ea typeface="Calibri" panose="020F0502020204030204" pitchFamily="34" charset="0"/>
              </a:rPr>
              <a:t>--c</a:t>
            </a:r>
            <a:r>
              <a:rPr lang="en-GB" sz="1400" dirty="0">
                <a:effectLst/>
                <a:ea typeface="Calibri" panose="020F0502020204030204" pitchFamily="34" charset="0"/>
              </a:rPr>
              <a:t>onsolidation achieved mainly via the ending of discretionary, crisis-related spending and cuts in investment,</a:t>
            </a:r>
          </a:p>
          <a:p>
            <a:pPr marL="274638" lvl="1" indent="0" algn="just">
              <a:buNone/>
            </a:pPr>
            <a:r>
              <a:rPr lang="en-GB" sz="1200" dirty="0">
                <a:effectLst/>
                <a:ea typeface="Calibri" panose="020F0502020204030204" pitchFamily="34" charset="0"/>
              </a:rPr>
              <a:t> ---translate in a significant reduction in real government demand for G&amp;S, lowering aggregate demand and helping contain inflation.</a:t>
            </a:r>
          </a:p>
          <a:p>
            <a:pPr marL="0" indent="0" algn="just">
              <a:buNone/>
            </a:pPr>
            <a:r>
              <a:rPr lang="en-GB" sz="1200" dirty="0"/>
              <a:t>---large negative effect on demand—consumption &amp; imports is estimated to last till early 2026</a:t>
            </a:r>
          </a:p>
        </p:txBody>
      </p:sp>
      <p:sp>
        <p:nvSpPr>
          <p:cNvPr id="5" name="TextBox 4">
            <a:extLst>
              <a:ext uri="{FF2B5EF4-FFF2-40B4-BE49-F238E27FC236}">
                <a16:creationId xmlns:a16="http://schemas.microsoft.com/office/drawing/2014/main" id="{71DCCAC2-6233-0EF9-ABEA-F7674370836D}"/>
              </a:ext>
            </a:extLst>
          </p:cNvPr>
          <p:cNvSpPr txBox="1"/>
          <p:nvPr/>
        </p:nvSpPr>
        <p:spPr>
          <a:xfrm>
            <a:off x="161529" y="1143000"/>
            <a:ext cx="11654725" cy="307777"/>
          </a:xfrm>
          <a:prstGeom prst="rect">
            <a:avLst/>
          </a:prstGeom>
          <a:noFill/>
        </p:spPr>
        <p:txBody>
          <a:bodyPr wrap="square">
            <a:spAutoFit/>
          </a:bodyPr>
          <a:lstStyle/>
          <a:p>
            <a:pPr indent="0" algn="just">
              <a:buNone/>
            </a:pPr>
            <a:r>
              <a:rPr lang="en-GB" sz="1400" b="1" i="1" dirty="0">
                <a:solidFill>
                  <a:srgbClr val="0070C0"/>
                </a:solidFill>
                <a:latin typeface="Times New Roman" panose="02020603050405020304" pitchFamily="18" charset="0"/>
              </a:rPr>
              <a:t>Fiscal policies (“fiscal stance”) affect output in the short-run via several channels captured in the model:</a:t>
            </a:r>
          </a:p>
        </p:txBody>
      </p:sp>
      <p:sp>
        <p:nvSpPr>
          <p:cNvPr id="4" name="Content Placeholder 2">
            <a:extLst>
              <a:ext uri="{FF2B5EF4-FFF2-40B4-BE49-F238E27FC236}">
                <a16:creationId xmlns:a16="http://schemas.microsoft.com/office/drawing/2014/main" id="{728DCE5C-B184-5784-80FB-8F6265A85C30}"/>
              </a:ext>
            </a:extLst>
          </p:cNvPr>
          <p:cNvSpPr txBox="1">
            <a:spLocks/>
          </p:cNvSpPr>
          <p:nvPr/>
        </p:nvSpPr>
        <p:spPr>
          <a:xfrm>
            <a:off x="308674" y="1260708"/>
            <a:ext cx="6092126" cy="750514"/>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buFont typeface="Wingdings" panose="05000000000000000000" pitchFamily="2" charset="2"/>
              <a:buChar char="§"/>
            </a:pPr>
            <a:endParaRPr lang="en-GB" sz="1600" dirty="0"/>
          </a:p>
        </p:txBody>
      </p:sp>
      <p:pic>
        <p:nvPicPr>
          <p:cNvPr id="12" name="Picture 11">
            <a:extLst>
              <a:ext uri="{FF2B5EF4-FFF2-40B4-BE49-F238E27FC236}">
                <a16:creationId xmlns:a16="http://schemas.microsoft.com/office/drawing/2014/main" id="{0DD93EFC-47FC-E595-3B4D-5FF3CB56A215}"/>
              </a:ext>
            </a:extLst>
          </p:cNvPr>
          <p:cNvPicPr>
            <a:picLocks noChangeAspect="1"/>
          </p:cNvPicPr>
          <p:nvPr/>
        </p:nvPicPr>
        <p:blipFill>
          <a:blip r:embed="rId3"/>
          <a:stretch>
            <a:fillRect/>
          </a:stretch>
        </p:blipFill>
        <p:spPr>
          <a:xfrm>
            <a:off x="2895600" y="1676400"/>
            <a:ext cx="3505200" cy="2253615"/>
          </a:xfrm>
          <a:prstGeom prst="rect">
            <a:avLst/>
          </a:prstGeom>
        </p:spPr>
      </p:pic>
      <p:sp>
        <p:nvSpPr>
          <p:cNvPr id="13" name="TextBox 12">
            <a:extLst>
              <a:ext uri="{FF2B5EF4-FFF2-40B4-BE49-F238E27FC236}">
                <a16:creationId xmlns:a16="http://schemas.microsoft.com/office/drawing/2014/main" id="{2C2C7DB9-E208-7CB6-789B-0E2128FD09A6}"/>
              </a:ext>
            </a:extLst>
          </p:cNvPr>
          <p:cNvSpPr txBox="1"/>
          <p:nvPr/>
        </p:nvSpPr>
        <p:spPr>
          <a:xfrm>
            <a:off x="308674" y="1701694"/>
            <a:ext cx="2434526" cy="1537087"/>
          </a:xfrm>
          <a:prstGeom prst="rect">
            <a:avLst/>
          </a:prstGeom>
          <a:noFill/>
          <a:ln>
            <a:noFill/>
          </a:ln>
        </p:spPr>
        <p:txBody>
          <a:bodyPr wrap="square" rtlCol="0">
            <a:spAutoFit/>
          </a:bodyPr>
          <a:lstStyle/>
          <a:p>
            <a:pPr>
              <a:lnSpc>
                <a:spcPct val="150000"/>
              </a:lnSpc>
            </a:pPr>
            <a:r>
              <a:rPr lang="en-US" sz="1600" dirty="0">
                <a:latin typeface="+mn-lt"/>
              </a:rPr>
              <a:t>--</a:t>
            </a:r>
            <a:r>
              <a:rPr lang="en-US" sz="1200" dirty="0">
                <a:latin typeface="+mn-lt"/>
              </a:rPr>
              <a:t>Govt. demand, % GDP level is below its structural trend 2023Q2-2027—</a:t>
            </a:r>
          </a:p>
          <a:p>
            <a:pPr>
              <a:lnSpc>
                <a:spcPct val="150000"/>
              </a:lnSpc>
            </a:pPr>
            <a:r>
              <a:rPr lang="en-US" sz="1200" dirty="0">
                <a:latin typeface="+mn-lt"/>
              </a:rPr>
              <a:t>--Implies a negative gap and a fiscal consolidation post 2023</a:t>
            </a:r>
          </a:p>
        </p:txBody>
      </p:sp>
      <p:pic>
        <p:nvPicPr>
          <p:cNvPr id="15" name="Picture 14">
            <a:extLst>
              <a:ext uri="{FF2B5EF4-FFF2-40B4-BE49-F238E27FC236}">
                <a16:creationId xmlns:a16="http://schemas.microsoft.com/office/drawing/2014/main" id="{D44B9E96-2ED8-FAA1-29D5-CA2CE60735EC}"/>
              </a:ext>
            </a:extLst>
          </p:cNvPr>
          <p:cNvPicPr>
            <a:picLocks noChangeAspect="1"/>
          </p:cNvPicPr>
          <p:nvPr/>
        </p:nvPicPr>
        <p:blipFill>
          <a:blip r:embed="rId4"/>
          <a:stretch>
            <a:fillRect/>
          </a:stretch>
        </p:blipFill>
        <p:spPr>
          <a:xfrm>
            <a:off x="6553200" y="1701694"/>
            <a:ext cx="5257799" cy="4474122"/>
          </a:xfrm>
          <a:prstGeom prst="rect">
            <a:avLst/>
          </a:prstGeom>
        </p:spPr>
      </p:pic>
    </p:spTree>
    <p:extLst>
      <p:ext uri="{BB962C8B-B14F-4D97-AF65-F5344CB8AC3E}">
        <p14:creationId xmlns:p14="http://schemas.microsoft.com/office/powerpoint/2010/main" val="4142611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2B948-3F28-94A0-AFF9-22D3A186313C}"/>
              </a:ext>
            </a:extLst>
          </p:cNvPr>
          <p:cNvSpPr>
            <a:spLocks noGrp="1"/>
          </p:cNvSpPr>
          <p:nvPr>
            <p:ph type="title"/>
          </p:nvPr>
        </p:nvSpPr>
        <p:spPr>
          <a:xfrm>
            <a:off x="1371600" y="228600"/>
            <a:ext cx="10668000" cy="750514"/>
          </a:xfrm>
        </p:spPr>
        <p:txBody>
          <a:bodyPr/>
          <a:lstStyle/>
          <a:p>
            <a:r>
              <a:rPr lang="en-GB" b="1" dirty="0"/>
              <a:t>  Fiscal stance (ii): fiscal impulse affects output </a:t>
            </a:r>
            <a:r>
              <a:rPr lang="en-GB" sz="2400" b="1" dirty="0"/>
              <a:t>via private demand</a:t>
            </a:r>
            <a:endParaRPr lang="en-AE" sz="2400" dirty="0">
              <a:solidFill>
                <a:srgbClr val="FF0000"/>
              </a:solidFill>
            </a:endParaRPr>
          </a:p>
        </p:txBody>
      </p:sp>
      <p:sp>
        <p:nvSpPr>
          <p:cNvPr id="3" name="Slide Number Placeholder 2">
            <a:extLst>
              <a:ext uri="{FF2B5EF4-FFF2-40B4-BE49-F238E27FC236}">
                <a16:creationId xmlns:a16="http://schemas.microsoft.com/office/drawing/2014/main" id="{CAECA724-04CE-0978-4E96-A52B52FFCBB7}"/>
              </a:ext>
            </a:extLst>
          </p:cNvPr>
          <p:cNvSpPr>
            <a:spLocks noGrp="1"/>
          </p:cNvSpPr>
          <p:nvPr>
            <p:ph type="sldNum" sz="quarter" idx="10"/>
          </p:nvPr>
        </p:nvSpPr>
        <p:spPr/>
        <p:txBody>
          <a:bodyPr/>
          <a:lstStyle/>
          <a:p>
            <a:fld id="{D97AE203-F84D-4A7F-B161-8561326BE072}" type="slidenum">
              <a:rPr lang="en-US" smtClean="0"/>
              <a:pPr/>
              <a:t>17</a:t>
            </a:fld>
            <a:endParaRPr lang="en-US" dirty="0"/>
          </a:p>
        </p:txBody>
      </p:sp>
      <p:sp>
        <p:nvSpPr>
          <p:cNvPr id="7" name="Content Placeholder 2">
            <a:extLst>
              <a:ext uri="{FF2B5EF4-FFF2-40B4-BE49-F238E27FC236}">
                <a16:creationId xmlns:a16="http://schemas.microsoft.com/office/drawing/2014/main" id="{12AAF6A8-A1FC-08FD-607D-366D8C204D63}"/>
              </a:ext>
            </a:extLst>
          </p:cNvPr>
          <p:cNvSpPr txBox="1">
            <a:spLocks/>
          </p:cNvSpPr>
          <p:nvPr/>
        </p:nvSpPr>
        <p:spPr>
          <a:xfrm>
            <a:off x="381001" y="3872774"/>
            <a:ext cx="5867400" cy="2604226"/>
          </a:xfrm>
          <a:prstGeom prst="rect">
            <a:avLst/>
          </a:prstGeom>
          <a:ln>
            <a:solidFill>
              <a:schemeClr val="accent5"/>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US" sz="1800" b="1" dirty="0">
                <a:solidFill>
                  <a:srgbClr val="0070C0"/>
                </a:solidFill>
                <a:latin typeface="Times New Roman" panose="02020603050405020304" pitchFamily="18" charset="0"/>
                <a:ea typeface="Calibri" panose="020F0502020204030204" pitchFamily="34" charset="0"/>
              </a:rPr>
              <a:t>f</a:t>
            </a:r>
            <a:r>
              <a:rPr lang="en-US" sz="1800" b="1" dirty="0">
                <a:solidFill>
                  <a:srgbClr val="0070C0"/>
                </a:solidFill>
                <a:effectLst/>
                <a:latin typeface="Times New Roman" panose="02020603050405020304" pitchFamily="18" charset="0"/>
                <a:ea typeface="Calibri" panose="020F0502020204030204" pitchFamily="34" charset="0"/>
              </a:rPr>
              <a:t>iscal stance total effect on output</a:t>
            </a:r>
            <a:r>
              <a:rPr lang="en-GB" sz="1600" b="1" dirty="0">
                <a:solidFill>
                  <a:schemeClr val="accent1"/>
                </a:solidFill>
              </a:rPr>
              <a:t> </a:t>
            </a:r>
            <a:r>
              <a:rPr lang="en-GB" sz="1600" i="1" dirty="0"/>
              <a:t>(direct &amp; indirect): </a:t>
            </a:r>
          </a:p>
          <a:p>
            <a:pPr algn="just">
              <a:buFont typeface="Wingdings" panose="05000000000000000000" pitchFamily="2" charset="2"/>
              <a:buChar char="§"/>
            </a:pPr>
            <a:r>
              <a:rPr lang="en-GB" sz="1800" dirty="0">
                <a:effectLst/>
                <a:ea typeface="Calibri" panose="020F0502020204030204" pitchFamily="34" charset="0"/>
              </a:rPr>
              <a:t>combination of lower government demand and a negative fiscal impulse </a:t>
            </a:r>
            <a:endParaRPr lang="en-GB" sz="1800" dirty="0">
              <a:ea typeface="Calibri" panose="020F0502020204030204" pitchFamily="34" charset="0"/>
            </a:endParaRPr>
          </a:p>
          <a:p>
            <a:pPr lvl="1" algn="just">
              <a:buFont typeface="Wingdings" panose="05000000000000000000" pitchFamily="2" charset="2"/>
              <a:buChar char="§"/>
            </a:pPr>
            <a:r>
              <a:rPr lang="en-GB" sz="1400" dirty="0">
                <a:effectLst/>
                <a:ea typeface="Calibri" panose="020F0502020204030204" pitchFamily="34" charset="0"/>
              </a:rPr>
              <a:t>Estimated to have </a:t>
            </a:r>
            <a:r>
              <a:rPr lang="en-GB" sz="1400" dirty="0">
                <a:solidFill>
                  <a:srgbClr val="FF0000"/>
                </a:solidFill>
                <a:effectLst/>
                <a:ea typeface="Calibri" panose="020F0502020204030204" pitchFamily="34" charset="0"/>
              </a:rPr>
              <a:t>an important (desirable?) </a:t>
            </a:r>
            <a:r>
              <a:rPr lang="en-GB" sz="1400" dirty="0">
                <a:effectLst/>
                <a:ea typeface="Calibri" panose="020F0502020204030204" pitchFamily="34" charset="0"/>
              </a:rPr>
              <a:t>negative effect on output during 2023/24-2025/26 </a:t>
            </a:r>
            <a:endParaRPr lang="en-GB" sz="1200" dirty="0"/>
          </a:p>
          <a:p>
            <a:pPr algn="just">
              <a:buFont typeface="Wingdings" panose="05000000000000000000" pitchFamily="2" charset="2"/>
              <a:buChar char="§"/>
            </a:pPr>
            <a:r>
              <a:rPr lang="en-GB" sz="1800" dirty="0">
                <a:effectLst/>
                <a:ea typeface="Calibri" panose="020F0502020204030204" pitchFamily="34" charset="0"/>
                <a:cs typeface="Times New Roman" panose="02020603050405020304" pitchFamily="18" charset="0"/>
              </a:rPr>
              <a:t>average negative discretionary deficit of 1½% of GDP </a:t>
            </a:r>
          </a:p>
          <a:p>
            <a:pPr lvl="1" algn="just">
              <a:buFont typeface="Wingdings" panose="05000000000000000000" pitchFamily="2" charset="2"/>
              <a:buChar char="§"/>
            </a:pPr>
            <a:r>
              <a:rPr lang="en-GB" sz="1400" dirty="0">
                <a:effectLst/>
                <a:ea typeface="Calibri" panose="020F0502020204030204" pitchFamily="34" charset="0"/>
                <a:cs typeface="Times New Roman" panose="02020603050405020304" pitchFamily="18" charset="0"/>
              </a:rPr>
              <a:t> estimated </a:t>
            </a:r>
            <a:r>
              <a:rPr lang="en-GB" sz="1400" i="1" dirty="0">
                <a:effectLst/>
                <a:ea typeface="Calibri" panose="020F0502020204030204" pitchFamily="34" charset="0"/>
                <a:cs typeface="Times New Roman" panose="02020603050405020304" pitchFamily="18" charset="0"/>
              </a:rPr>
              <a:t>per se </a:t>
            </a:r>
            <a:r>
              <a:rPr lang="en-GB" sz="1400" dirty="0">
                <a:effectLst/>
                <a:ea typeface="Calibri" panose="020F0502020204030204" pitchFamily="34" charset="0"/>
                <a:cs typeface="Times New Roman" panose="02020603050405020304" pitchFamily="18" charset="0"/>
              </a:rPr>
              <a:t>to lower real GDP by some 1.2%, mainly from lower government for G&amp;S </a:t>
            </a:r>
            <a:r>
              <a:rPr lang="en-GB" sz="1400" dirty="0">
                <a:solidFill>
                  <a:srgbClr val="FF0000"/>
                </a:solidFill>
                <a:effectLst/>
                <a:ea typeface="Calibri" panose="020F0502020204030204" pitchFamily="34" charset="0"/>
                <a:cs typeface="Times New Roman" panose="02020603050405020304" pitchFamily="18" charset="0"/>
              </a:rPr>
              <a:t>(0.66?) </a:t>
            </a:r>
            <a:r>
              <a:rPr lang="en-GB" sz="1400" dirty="0">
                <a:effectLst/>
                <a:ea typeface="Calibri" panose="020F0502020204030204" pitchFamily="34" charset="0"/>
                <a:cs typeface="Times New Roman" panose="02020603050405020304" pitchFamily="18" charset="0"/>
              </a:rPr>
              <a:t>and the remainder </a:t>
            </a:r>
            <a:r>
              <a:rPr lang="en-GB" sz="1400" dirty="0">
                <a:solidFill>
                  <a:srgbClr val="FF0000"/>
                </a:solidFill>
                <a:effectLst/>
                <a:ea typeface="Calibri" panose="020F0502020204030204" pitchFamily="34" charset="0"/>
                <a:cs typeface="Times New Roman" panose="02020603050405020304" pitchFamily="18" charset="0"/>
              </a:rPr>
              <a:t>(0.5?) </a:t>
            </a:r>
            <a:r>
              <a:rPr lang="en-GB" sz="1400" dirty="0">
                <a:effectLst/>
                <a:ea typeface="Calibri" panose="020F0502020204030204" pitchFamily="34" charset="0"/>
                <a:cs typeface="Times New Roman" panose="02020603050405020304" pitchFamily="18" charset="0"/>
              </a:rPr>
              <a:t>from lower private demand.</a:t>
            </a:r>
            <a:endParaRPr lang="en-RW" sz="1400" dirty="0">
              <a:effectLst/>
              <a:ea typeface="Calibri" panose="020F0502020204030204" pitchFamily="34" charset="0"/>
              <a:cs typeface="Times New Roman" panose="02020603050405020304" pitchFamily="18" charset="0"/>
            </a:endParaRPr>
          </a:p>
          <a:p>
            <a:pPr algn="just">
              <a:buFont typeface="Wingdings" panose="05000000000000000000" pitchFamily="2" charset="2"/>
              <a:buChar char="§"/>
            </a:pPr>
            <a:endParaRPr lang="en-GB" sz="1400" dirty="0"/>
          </a:p>
        </p:txBody>
      </p:sp>
      <p:sp>
        <p:nvSpPr>
          <p:cNvPr id="10" name="TextBox 9">
            <a:extLst>
              <a:ext uri="{FF2B5EF4-FFF2-40B4-BE49-F238E27FC236}">
                <a16:creationId xmlns:a16="http://schemas.microsoft.com/office/drawing/2014/main" id="{A10A8341-0CDE-1B55-F22E-BA82C40D4258}"/>
              </a:ext>
            </a:extLst>
          </p:cNvPr>
          <p:cNvSpPr txBox="1"/>
          <p:nvPr/>
        </p:nvSpPr>
        <p:spPr>
          <a:xfrm>
            <a:off x="6781800" y="4581971"/>
            <a:ext cx="4724400" cy="1354217"/>
          </a:xfrm>
          <a:prstGeom prst="rect">
            <a:avLst/>
          </a:prstGeom>
          <a:noFill/>
          <a:ln>
            <a:solidFill>
              <a:schemeClr val="accent5"/>
            </a:solidFill>
          </a:ln>
        </p:spPr>
        <p:txBody>
          <a:bodyPr wrap="square" rtlCol="0">
            <a:spAutoFit/>
          </a:bodyPr>
          <a:lstStyle/>
          <a:p>
            <a:r>
              <a:rPr lang="en-US" sz="1600" b="1" dirty="0">
                <a:solidFill>
                  <a:srgbClr val="0070C0"/>
                </a:solidFill>
                <a:effectLst/>
                <a:latin typeface="Times New Roman" panose="02020603050405020304" pitchFamily="18" charset="0"/>
                <a:ea typeface="Calibri" panose="020F0502020204030204" pitchFamily="34" charset="0"/>
              </a:rPr>
              <a:t>Fiscal stance total effect on output </a:t>
            </a:r>
            <a:r>
              <a:rPr lang="en-US" sz="1600" i="1" dirty="0">
                <a:latin typeface="+mn-lt"/>
              </a:rPr>
              <a:t>(indirect)</a:t>
            </a:r>
          </a:p>
          <a:p>
            <a:r>
              <a:rPr lang="en-GB" sz="1600" b="1" dirty="0">
                <a:solidFill>
                  <a:srgbClr val="0070C0"/>
                </a:solidFill>
                <a:latin typeface="Times New Roman" panose="02020603050405020304" pitchFamily="18" charset="0"/>
              </a:rPr>
              <a:t>“fiscal impulse”—</a:t>
            </a:r>
            <a:r>
              <a:rPr lang="en-GB" sz="1400" dirty="0">
                <a:effectLst/>
                <a:latin typeface="Times New Roman" panose="02020603050405020304" pitchFamily="18" charset="0"/>
                <a:ea typeface="Calibri" panose="020F0502020204030204" pitchFamily="34" charset="0"/>
              </a:rPr>
              <a:t>deficit </a:t>
            </a:r>
            <a:r>
              <a:rPr lang="en-GB" sz="1400" dirty="0">
                <a:solidFill>
                  <a:srgbClr val="000000"/>
                </a:solidFill>
                <a:effectLst/>
                <a:latin typeface="Times New Roman" panose="02020603050405020304" pitchFamily="18" charset="0"/>
                <a:ea typeface="Calibri" panose="020F0502020204030204" pitchFamily="34" charset="0"/>
              </a:rPr>
              <a:t>affecting private demand and hence output </a:t>
            </a:r>
            <a:r>
              <a:rPr lang="en-GB" sz="1400" i="1" dirty="0">
                <a:solidFill>
                  <a:srgbClr val="000000"/>
                </a:solidFill>
                <a:effectLst/>
                <a:latin typeface="Times New Roman" panose="02020603050405020304" pitchFamily="18" charset="0"/>
                <a:ea typeface="Calibri" panose="020F0502020204030204" pitchFamily="34" charset="0"/>
              </a:rPr>
              <a:t>indirectly</a:t>
            </a:r>
            <a:r>
              <a:rPr lang="en-GB" sz="1400" dirty="0">
                <a:solidFill>
                  <a:srgbClr val="000000"/>
                </a:solidFill>
                <a:effectLst/>
                <a:latin typeface="Times New Roman" panose="02020603050405020304" pitchFamily="18" charset="0"/>
                <a:ea typeface="Calibri" panose="020F0502020204030204" pitchFamily="34" charset="0"/>
              </a:rPr>
              <a:t>)</a:t>
            </a:r>
          </a:p>
          <a:p>
            <a:r>
              <a:rPr lang="en-GB" sz="1200" dirty="0">
                <a:solidFill>
                  <a:srgbClr val="000000"/>
                </a:solidFill>
                <a:latin typeface="+mn-lt"/>
                <a:ea typeface="Calibri" panose="020F0502020204030204" pitchFamily="34" charset="0"/>
              </a:rPr>
              <a:t>---</a:t>
            </a:r>
            <a:r>
              <a:rPr lang="en-GB" sz="1200" dirty="0">
                <a:effectLst/>
                <a:latin typeface="+mn-lt"/>
                <a:ea typeface="Calibri" panose="020F0502020204030204" pitchFamily="34" charset="0"/>
              </a:rPr>
              <a:t>positive on average in 2020-22, </a:t>
            </a:r>
          </a:p>
          <a:p>
            <a:r>
              <a:rPr lang="en-GB" sz="1200" dirty="0">
                <a:effectLst/>
                <a:latin typeface="+mn-lt"/>
                <a:ea typeface="Calibri" panose="020F0502020204030204" pitchFamily="34" charset="0"/>
              </a:rPr>
              <a:t>---turns negative from late 2022 onward </a:t>
            </a:r>
            <a:endParaRPr lang="en-GB" sz="1200" dirty="0">
              <a:latin typeface="+mn-lt"/>
              <a:ea typeface="Calibri" panose="020F0502020204030204" pitchFamily="34" charset="0"/>
            </a:endParaRPr>
          </a:p>
          <a:p>
            <a:r>
              <a:rPr lang="en-GB" sz="1200" dirty="0">
                <a:effectLst/>
                <a:latin typeface="+mn-lt"/>
                <a:ea typeface="Calibri" panose="020F0502020204030204" pitchFamily="34" charset="0"/>
              </a:rPr>
              <a:t>---remains so for several years before fading out by 2027</a:t>
            </a:r>
            <a:endParaRPr lang="en-RW" sz="1600" dirty="0">
              <a:latin typeface="+mn-lt"/>
            </a:endParaRPr>
          </a:p>
        </p:txBody>
      </p:sp>
      <p:pic>
        <p:nvPicPr>
          <p:cNvPr id="12" name="Picture 11">
            <a:extLst>
              <a:ext uri="{FF2B5EF4-FFF2-40B4-BE49-F238E27FC236}">
                <a16:creationId xmlns:a16="http://schemas.microsoft.com/office/drawing/2014/main" id="{D50E7634-C4F1-798E-919D-FA326A8587AA}"/>
              </a:ext>
            </a:extLst>
          </p:cNvPr>
          <p:cNvPicPr>
            <a:picLocks noChangeAspect="1"/>
          </p:cNvPicPr>
          <p:nvPr/>
        </p:nvPicPr>
        <p:blipFill>
          <a:blip r:embed="rId3"/>
          <a:stretch>
            <a:fillRect/>
          </a:stretch>
        </p:blipFill>
        <p:spPr>
          <a:xfrm>
            <a:off x="6934202" y="1295400"/>
            <a:ext cx="4312920" cy="3200400"/>
          </a:xfrm>
          <a:prstGeom prst="rect">
            <a:avLst/>
          </a:prstGeom>
        </p:spPr>
      </p:pic>
      <p:pic>
        <p:nvPicPr>
          <p:cNvPr id="14" name="Picture 13">
            <a:extLst>
              <a:ext uri="{FF2B5EF4-FFF2-40B4-BE49-F238E27FC236}">
                <a16:creationId xmlns:a16="http://schemas.microsoft.com/office/drawing/2014/main" id="{9082FE92-6EF8-8455-B340-37D8B1FFEE7A}"/>
              </a:ext>
            </a:extLst>
          </p:cNvPr>
          <p:cNvPicPr>
            <a:picLocks noChangeAspect="1"/>
          </p:cNvPicPr>
          <p:nvPr/>
        </p:nvPicPr>
        <p:blipFill>
          <a:blip r:embed="rId4"/>
          <a:stretch>
            <a:fillRect/>
          </a:stretch>
        </p:blipFill>
        <p:spPr>
          <a:xfrm>
            <a:off x="1371600" y="1295400"/>
            <a:ext cx="4495800" cy="2438400"/>
          </a:xfrm>
          <a:prstGeom prst="rect">
            <a:avLst/>
          </a:prstGeom>
        </p:spPr>
      </p:pic>
    </p:spTree>
    <p:extLst>
      <p:ext uri="{BB962C8B-B14F-4D97-AF65-F5344CB8AC3E}">
        <p14:creationId xmlns:p14="http://schemas.microsoft.com/office/powerpoint/2010/main" val="378383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CAD2-6D14-9D72-E8A6-67BC40D34BA0}"/>
              </a:ext>
            </a:extLst>
          </p:cNvPr>
          <p:cNvSpPr>
            <a:spLocks noGrp="1"/>
          </p:cNvSpPr>
          <p:nvPr>
            <p:ph type="title"/>
          </p:nvPr>
        </p:nvSpPr>
        <p:spPr>
          <a:xfrm>
            <a:off x="1524000" y="381000"/>
            <a:ext cx="10591800" cy="609600"/>
          </a:xfrm>
        </p:spPr>
        <p:txBody>
          <a:bodyPr/>
          <a:lstStyle/>
          <a:p>
            <a:r>
              <a:rPr lang="en-GB" sz="2400" b="1" dirty="0"/>
              <a:t>Fiscal stance: deficit and its components </a:t>
            </a:r>
            <a:r>
              <a:rPr lang="en-GB" sz="2000" dirty="0"/>
              <a:t>(revenue,  spending) &amp; model decompositions (structural, discretional &amp; cyclical) </a:t>
            </a:r>
            <a:endParaRPr lang="en-AE" sz="2400" dirty="0">
              <a:solidFill>
                <a:srgbClr val="FF0000"/>
              </a:solidFill>
            </a:endParaRPr>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18</a:t>
            </a:fld>
            <a:endParaRPr lang="en-US" dirty="0"/>
          </a:p>
        </p:txBody>
      </p:sp>
      <p:pic>
        <p:nvPicPr>
          <p:cNvPr id="4" name="Picture 3">
            <a:extLst>
              <a:ext uri="{FF2B5EF4-FFF2-40B4-BE49-F238E27FC236}">
                <a16:creationId xmlns:a16="http://schemas.microsoft.com/office/drawing/2014/main" id="{440FF08F-8A35-9763-9C22-CE8AAC6E416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617" y="1230629"/>
            <a:ext cx="3124200" cy="2350771"/>
          </a:xfrm>
          <a:prstGeom prst="rect">
            <a:avLst/>
          </a:prstGeom>
          <a:noFill/>
          <a:ln>
            <a:noFill/>
          </a:ln>
        </p:spPr>
      </p:pic>
      <p:pic>
        <p:nvPicPr>
          <p:cNvPr id="11" name="Picture 10">
            <a:extLst>
              <a:ext uri="{FF2B5EF4-FFF2-40B4-BE49-F238E27FC236}">
                <a16:creationId xmlns:a16="http://schemas.microsoft.com/office/drawing/2014/main" id="{6B9B0D37-7B64-4005-540D-EA41278FCF56}"/>
              </a:ext>
            </a:extLst>
          </p:cNvPr>
          <p:cNvPicPr>
            <a:picLocks noChangeAspect="1"/>
          </p:cNvPicPr>
          <p:nvPr/>
        </p:nvPicPr>
        <p:blipFill>
          <a:blip r:embed="rId4"/>
          <a:stretch>
            <a:fillRect/>
          </a:stretch>
        </p:blipFill>
        <p:spPr>
          <a:xfrm>
            <a:off x="5913385" y="1295400"/>
            <a:ext cx="2971800" cy="2602229"/>
          </a:xfrm>
          <a:prstGeom prst="rect">
            <a:avLst/>
          </a:prstGeom>
        </p:spPr>
      </p:pic>
      <p:pic>
        <p:nvPicPr>
          <p:cNvPr id="13" name="Picture 12">
            <a:extLst>
              <a:ext uri="{FF2B5EF4-FFF2-40B4-BE49-F238E27FC236}">
                <a16:creationId xmlns:a16="http://schemas.microsoft.com/office/drawing/2014/main" id="{E8B94BFA-AEA7-E15F-7BE9-C3779C0443B2}"/>
              </a:ext>
            </a:extLst>
          </p:cNvPr>
          <p:cNvPicPr>
            <a:picLocks noChangeAspect="1"/>
          </p:cNvPicPr>
          <p:nvPr/>
        </p:nvPicPr>
        <p:blipFill>
          <a:blip r:embed="rId5"/>
          <a:stretch>
            <a:fillRect/>
          </a:stretch>
        </p:blipFill>
        <p:spPr>
          <a:xfrm>
            <a:off x="8963134" y="1371600"/>
            <a:ext cx="3048000" cy="2526029"/>
          </a:xfrm>
          <a:prstGeom prst="rect">
            <a:avLst/>
          </a:prstGeom>
        </p:spPr>
      </p:pic>
      <p:pic>
        <p:nvPicPr>
          <p:cNvPr id="15" name="Picture 14">
            <a:extLst>
              <a:ext uri="{FF2B5EF4-FFF2-40B4-BE49-F238E27FC236}">
                <a16:creationId xmlns:a16="http://schemas.microsoft.com/office/drawing/2014/main" id="{57584A55-7457-1385-0B36-42E61E3E83DC}"/>
              </a:ext>
            </a:extLst>
          </p:cNvPr>
          <p:cNvPicPr>
            <a:picLocks noChangeAspect="1"/>
          </p:cNvPicPr>
          <p:nvPr/>
        </p:nvPicPr>
        <p:blipFill>
          <a:blip r:embed="rId6"/>
          <a:stretch>
            <a:fillRect/>
          </a:stretch>
        </p:blipFill>
        <p:spPr>
          <a:xfrm>
            <a:off x="3387616" y="1371600"/>
            <a:ext cx="2362200" cy="2209800"/>
          </a:xfrm>
          <a:prstGeom prst="rect">
            <a:avLst/>
          </a:prstGeom>
        </p:spPr>
      </p:pic>
      <p:sp>
        <p:nvSpPr>
          <p:cNvPr id="16" name="TextBox 15">
            <a:extLst>
              <a:ext uri="{FF2B5EF4-FFF2-40B4-BE49-F238E27FC236}">
                <a16:creationId xmlns:a16="http://schemas.microsoft.com/office/drawing/2014/main" id="{2B6C5D83-496E-B2D7-0292-2EEC3D98C304}"/>
              </a:ext>
            </a:extLst>
          </p:cNvPr>
          <p:cNvSpPr txBox="1"/>
          <p:nvPr/>
        </p:nvSpPr>
        <p:spPr>
          <a:xfrm>
            <a:off x="228600" y="3821429"/>
            <a:ext cx="5567198" cy="2400657"/>
          </a:xfrm>
          <a:prstGeom prst="rect">
            <a:avLst/>
          </a:prstGeom>
          <a:noFill/>
          <a:ln>
            <a:solidFill>
              <a:schemeClr val="accent5"/>
            </a:solidFill>
          </a:ln>
        </p:spPr>
        <p:txBody>
          <a:bodyPr wrap="square" rtlCol="0">
            <a:spAutoFit/>
          </a:bodyPr>
          <a:lstStyle/>
          <a:p>
            <a:pPr>
              <a:spcAft>
                <a:spcPts val="0"/>
              </a:spcAft>
            </a:pPr>
            <a:r>
              <a:rPr lang="en-US" sz="1400" b="1" dirty="0">
                <a:solidFill>
                  <a:srgbClr val="0070C0"/>
                </a:solidFill>
                <a:latin typeface="Times New Roman" panose="02020603050405020304" pitchFamily="18" charset="0"/>
              </a:rPr>
              <a:t>Budget deficit, % GDP (revenue &amp; demand/spending)</a:t>
            </a:r>
            <a:endParaRPr lang="en-GB" sz="1400" dirty="0">
              <a:latin typeface="Times New Roman" panose="02020603050405020304" pitchFamily="18" charset="0"/>
              <a:ea typeface="Calibri" panose="020F0502020204030204" pitchFamily="34" charset="0"/>
              <a:cs typeface="Times New Roman" panose="02020603050405020304" pitchFamily="18" charset="0"/>
            </a:endParaRPr>
          </a:p>
          <a:p>
            <a:pPr>
              <a:spcAft>
                <a:spcPts val="0"/>
              </a:spcAft>
            </a:pPr>
            <a:r>
              <a:rPr lang="en-GB" sz="1400" dirty="0">
                <a:latin typeface="Times New Roman" panose="02020603050405020304" pitchFamily="18" charset="0"/>
                <a:ea typeface="Calibri" panose="020F0502020204030204" pitchFamily="34" charset="0"/>
                <a:cs typeface="Times New Roman" panose="02020603050405020304" pitchFamily="18" charset="0"/>
              </a:rPr>
              <a:t>--</a:t>
            </a:r>
            <a:r>
              <a:rPr lang="en-GB" sz="1200" b="1" dirty="0">
                <a:latin typeface="Times New Roman" panose="02020603050405020304" pitchFamily="18" charset="0"/>
                <a:ea typeface="Calibri" panose="020F0502020204030204" pitchFamily="34" charset="0"/>
                <a:cs typeface="Times New Roman" panose="02020603050405020304" pitchFamily="18" charset="0"/>
              </a:rPr>
              <a:t>lower deficit </a:t>
            </a:r>
            <a:r>
              <a:rPr lang="en-GB" sz="1200" b="1" dirty="0">
                <a:effectLst/>
                <a:latin typeface="Times New Roman" panose="02020603050405020304" pitchFamily="18" charset="0"/>
                <a:ea typeface="Calibri" panose="020F0502020204030204" pitchFamily="34" charset="0"/>
                <a:cs typeface="Times New Roman" panose="02020603050405020304" pitchFamily="18" charset="0"/>
              </a:rPr>
              <a:t>for 2023/24-2024/25</a:t>
            </a: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1200" dirty="0">
                <a:latin typeface="Times New Roman" panose="02020603050405020304" pitchFamily="18" charset="0"/>
                <a:ea typeface="Calibri" panose="020F0502020204030204" pitchFamily="34" charset="0"/>
                <a:cs typeface="Times New Roman" panose="02020603050405020304" pitchFamily="18" charset="0"/>
              </a:rPr>
              <a:t>tuned</a:t>
            </a: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10.8% &amp; 9.7% of GDP in 2025/26, down from 12% for 2022/23 </a:t>
            </a:r>
            <a:r>
              <a:rPr lang="en-GB" sz="1200" dirty="0">
                <a:latin typeface="Times New Roman" panose="02020603050405020304" pitchFamily="18" charset="0"/>
                <a:ea typeface="Calibri" panose="020F0502020204030204" pitchFamily="34" charset="0"/>
                <a:cs typeface="Times New Roman" panose="02020603050405020304" pitchFamily="18" charset="0"/>
              </a:rPr>
              <a:t>to inline </a:t>
            </a: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fiscal consolidation in the IMF PCI program</a:t>
            </a:r>
          </a:p>
          <a:p>
            <a:pPr lvl="1">
              <a:spcAft>
                <a:spcPts val="0"/>
              </a:spcAft>
            </a:pPr>
            <a:r>
              <a:rPr lang="en-GB" sz="1200" dirty="0">
                <a:latin typeface="Times New Roman" panose="02020603050405020304" pitchFamily="18" charset="0"/>
                <a:ea typeface="Calibri" panose="020F0502020204030204" pitchFamily="34" charset="0"/>
                <a:cs typeface="Times New Roman" panose="02020603050405020304" pitchFamily="18" charset="0"/>
              </a:rPr>
              <a:t>---</a:t>
            </a: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show a sharp reduction in deficit (before grants) and spending on G&amp;S, as discretionary spending is reversed from Covid-years.</a:t>
            </a:r>
          </a:p>
          <a:p>
            <a:pPr>
              <a:spcAft>
                <a:spcPts val="0"/>
              </a:spcAft>
            </a:pPr>
            <a:r>
              <a:rPr lang="en-GB" sz="1400" dirty="0">
                <a:latin typeface="Times New Roman" panose="02020603050405020304" pitchFamily="18" charset="0"/>
                <a:ea typeface="Calibri" panose="020F0502020204030204" pitchFamily="34" charset="0"/>
              </a:rPr>
              <a:t>---</a:t>
            </a:r>
            <a:r>
              <a:rPr lang="en-GB" sz="1400" b="1" dirty="0">
                <a:latin typeface="Times New Roman" panose="02020603050405020304" pitchFamily="18" charset="0"/>
                <a:ea typeface="Calibri" panose="020F0502020204030204" pitchFamily="34" charset="0"/>
              </a:rPr>
              <a:t>post </a:t>
            </a:r>
            <a:r>
              <a:rPr lang="en-GB" sz="1400" b="1" dirty="0">
                <a:effectLst/>
                <a:latin typeface="Times New Roman" panose="02020603050405020304" pitchFamily="18" charset="0"/>
                <a:ea typeface="Calibri" panose="020F0502020204030204" pitchFamily="34" charset="0"/>
              </a:rPr>
              <a:t>tuned PCI-program (2025/26 onward);</a:t>
            </a:r>
          </a:p>
          <a:p>
            <a:pPr lvl="1">
              <a:spcAft>
                <a:spcPts val="0"/>
              </a:spcAft>
            </a:pPr>
            <a:r>
              <a:rPr lang="en-US" sz="1200" dirty="0">
                <a:effectLst/>
                <a:latin typeface="Times New Roman" panose="02020603050405020304" pitchFamily="18" charset="0"/>
                <a:ea typeface="Calibri" panose="020F0502020204030204" pitchFamily="34" charset="0"/>
              </a:rPr>
              <a:t>---fiscal deficit to converge to a sustainable deficit (before grants) of 8%  and </a:t>
            </a:r>
          </a:p>
          <a:p>
            <a:pPr lvl="1">
              <a:spcAft>
                <a:spcPts val="0"/>
              </a:spcAft>
            </a:pPr>
            <a:r>
              <a:rPr lang="en-US" sz="1200" dirty="0">
                <a:latin typeface="Times New Roman" panose="02020603050405020304" pitchFamily="18" charset="0"/>
                <a:ea typeface="Calibri" panose="020F0502020204030204" pitchFamily="34" charset="0"/>
              </a:rPr>
              <a:t>--</a:t>
            </a:r>
            <a:r>
              <a:rPr lang="en-US" sz="1200" dirty="0">
                <a:effectLst/>
                <a:latin typeface="Times New Roman" panose="02020603050405020304" pitchFamily="18" charset="0"/>
                <a:ea typeface="Calibri" panose="020F0502020204030204" pitchFamily="34" charset="0"/>
              </a:rPr>
              <a:t>constituent parts (revenue, spending,…) are forecast to gradually move to their structural levels</a:t>
            </a:r>
            <a:endParaRPr lang="en-US" sz="1200" dirty="0">
              <a:latin typeface="Times New Roman" panose="02020603050405020304" pitchFamily="18" charset="0"/>
              <a:ea typeface="Calibri" panose="020F0502020204030204" pitchFamily="34" charset="0"/>
            </a:endParaRPr>
          </a:p>
          <a:p>
            <a:pPr>
              <a:spcAft>
                <a:spcPts val="0"/>
              </a:spcAft>
            </a:pPr>
            <a:r>
              <a:rPr lang="en-GB" sz="1200" dirty="0">
                <a:solidFill>
                  <a:schemeClr val="accent4"/>
                </a:solidFill>
                <a:effectLst/>
                <a:latin typeface="Times New Roman" panose="02020603050405020304" pitchFamily="18" charset="0"/>
                <a:ea typeface="Calibri" panose="020F0502020204030204" pitchFamily="34" charset="0"/>
              </a:rPr>
              <a:t>Thus QMFM does not follow the post-PCI fiscal projection, which much overshoots Rwanda’s debt/GDP anchor, as stated in the PCI. </a:t>
            </a:r>
          </a:p>
          <a:p>
            <a:pPr lvl="1">
              <a:spcAft>
                <a:spcPts val="0"/>
              </a:spcAft>
            </a:pPr>
            <a:r>
              <a:rPr lang="en-GB" sz="1200" dirty="0">
                <a:solidFill>
                  <a:schemeClr val="accent4"/>
                </a:solidFill>
                <a:latin typeface="Times New Roman" panose="02020603050405020304" pitchFamily="18" charset="0"/>
                <a:ea typeface="Calibri" panose="020F0502020204030204" pitchFamily="34" charset="0"/>
              </a:rPr>
              <a:t>---</a:t>
            </a:r>
            <a:r>
              <a:rPr lang="en-GB" sz="1200" dirty="0">
                <a:solidFill>
                  <a:schemeClr val="accent4"/>
                </a:solidFill>
                <a:effectLst/>
                <a:latin typeface="Times New Roman" panose="02020603050405020304" pitchFamily="18" charset="0"/>
                <a:ea typeface="Calibri" panose="020F0502020204030204" pitchFamily="34" charset="0"/>
              </a:rPr>
              <a:t>Instead, the QMFM fiscal path is consistent with the PCI debt/GDP anchor</a:t>
            </a:r>
            <a:endParaRPr lang="en-US" sz="1200" dirty="0">
              <a:solidFill>
                <a:schemeClr val="accent4"/>
              </a:solidFill>
              <a:effectLst/>
              <a:latin typeface="Times New Roman" panose="02020603050405020304" pitchFamily="18" charset="0"/>
              <a:ea typeface="Calibri" panose="020F0502020204030204" pitchFamily="34" charset="0"/>
            </a:endParaRPr>
          </a:p>
        </p:txBody>
      </p:sp>
      <p:sp>
        <p:nvSpPr>
          <p:cNvPr id="17" name="TextBox 16">
            <a:extLst>
              <a:ext uri="{FF2B5EF4-FFF2-40B4-BE49-F238E27FC236}">
                <a16:creationId xmlns:a16="http://schemas.microsoft.com/office/drawing/2014/main" id="{1E5D980F-D41E-E30B-723D-7481BB8DE8AF}"/>
              </a:ext>
            </a:extLst>
          </p:cNvPr>
          <p:cNvSpPr txBox="1"/>
          <p:nvPr/>
        </p:nvSpPr>
        <p:spPr>
          <a:xfrm>
            <a:off x="6096000" y="4267200"/>
            <a:ext cx="5867400" cy="1846659"/>
          </a:xfrm>
          <a:prstGeom prst="rect">
            <a:avLst/>
          </a:prstGeom>
          <a:noFill/>
          <a:ln>
            <a:solidFill>
              <a:schemeClr val="accent5"/>
            </a:solidFill>
          </a:ln>
        </p:spPr>
        <p:txBody>
          <a:bodyPr wrap="square" rtlCol="0">
            <a:spAutoFit/>
          </a:bodyPr>
          <a:lstStyle/>
          <a:p>
            <a:r>
              <a:rPr lang="en-US" sz="1800" b="1" dirty="0">
                <a:solidFill>
                  <a:srgbClr val="0070C0"/>
                </a:solidFill>
                <a:latin typeface="Times New Roman" panose="02020603050405020304" pitchFamily="18" charset="0"/>
              </a:rPr>
              <a:t>Budget deficit, % GDP </a:t>
            </a:r>
            <a:r>
              <a:rPr lang="en-US" sz="1600" dirty="0">
                <a:latin typeface="+mn-lt"/>
              </a:rPr>
              <a:t>(structural, discretional and cyclical)</a:t>
            </a:r>
          </a:p>
          <a:p>
            <a:r>
              <a:rPr lang="en-US" sz="2000" dirty="0">
                <a:latin typeface="+mn-lt"/>
              </a:rPr>
              <a:t>---structural deficit evolving at </a:t>
            </a:r>
            <a:r>
              <a:rPr lang="en-US" sz="2000" dirty="0">
                <a:latin typeface="Times New Roman" panose="02020603050405020304" pitchFamily="18" charset="0"/>
                <a:cs typeface="Times New Roman" panose="02020603050405020304" pitchFamily="18" charset="0"/>
              </a:rPr>
              <a:t>11 </a:t>
            </a:r>
            <a:r>
              <a:rPr lang="en-US" sz="2000" dirty="0">
                <a:latin typeface="+mn-lt"/>
              </a:rPr>
              <a:t>% average </a:t>
            </a:r>
          </a:p>
          <a:p>
            <a:pPr lvl="1"/>
            <a:r>
              <a:rPr lang="en-US" sz="1600" dirty="0">
                <a:latin typeface="+mn-lt"/>
              </a:rPr>
              <a:t>--volatility in deficit mostly dominated by discretional spending (Govt. demand for G&amp;S and other expenditure (transfers, subsidies and net lending)</a:t>
            </a:r>
          </a:p>
          <a:p>
            <a:pPr lvl="1"/>
            <a:r>
              <a:rPr lang="en-US" sz="1400" dirty="0">
                <a:latin typeface="+mn-lt"/>
              </a:rPr>
              <a:t>--reduction in deficit driven by a fall in discretional spending for post 2023</a:t>
            </a:r>
            <a:endParaRPr lang="en-RW" dirty="0"/>
          </a:p>
        </p:txBody>
      </p:sp>
    </p:spTree>
    <p:extLst>
      <p:ext uri="{BB962C8B-B14F-4D97-AF65-F5344CB8AC3E}">
        <p14:creationId xmlns:p14="http://schemas.microsoft.com/office/powerpoint/2010/main" val="880655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C94FF-3715-83D7-A3A5-F73D7D616784}"/>
              </a:ext>
            </a:extLst>
          </p:cNvPr>
          <p:cNvSpPr>
            <a:spLocks noGrp="1"/>
          </p:cNvSpPr>
          <p:nvPr>
            <p:ph type="title"/>
          </p:nvPr>
        </p:nvSpPr>
        <p:spPr>
          <a:xfrm>
            <a:off x="1600200" y="239630"/>
            <a:ext cx="10261600" cy="709056"/>
          </a:xfrm>
        </p:spPr>
        <p:txBody>
          <a:bodyPr/>
          <a:lstStyle/>
          <a:p>
            <a:r>
              <a:rPr kumimoji="0" lang="en-GB" sz="2800" b="1" i="0" u="none" strike="noStrike" kern="1200" cap="none" spc="0" normalizeH="0" baseline="0" noProof="0" dirty="0">
                <a:ln>
                  <a:noFill/>
                </a:ln>
                <a:solidFill>
                  <a:prstClr val="black"/>
                </a:solidFill>
                <a:effectLst/>
                <a:uLnTx/>
                <a:uFillTx/>
                <a:latin typeface="Gill Sans MT"/>
                <a:ea typeface="ＭＳ Ｐゴシック" charset="-128"/>
                <a:cs typeface="+mj-cs"/>
              </a:rPr>
              <a:t>Forecast—</a:t>
            </a:r>
            <a:r>
              <a:rPr kumimoji="0" lang="en-US" sz="2800" b="1" i="0" u="none" strike="noStrike" kern="1200" cap="none" spc="0" normalizeH="0" baseline="0" noProof="0" dirty="0">
                <a:ln>
                  <a:noFill/>
                </a:ln>
                <a:solidFill>
                  <a:prstClr val="black"/>
                </a:solidFill>
                <a:effectLst/>
                <a:uLnTx/>
                <a:uFillTx/>
                <a:latin typeface="Gill Sans MT"/>
                <a:ea typeface="ＭＳ Ｐゴシック" charset="-128"/>
                <a:cs typeface="+mj-cs"/>
              </a:rPr>
              <a:t>Inflation outlook</a:t>
            </a:r>
            <a:endParaRPr lang="en-RW" dirty="0">
              <a:solidFill>
                <a:schemeClr val="accent4">
                  <a:lumMod val="50000"/>
                </a:schemeClr>
              </a:solidFill>
            </a:endParaRPr>
          </a:p>
        </p:txBody>
      </p:sp>
      <p:sp>
        <p:nvSpPr>
          <p:cNvPr id="3" name="Slide Number Placeholder 2">
            <a:extLst>
              <a:ext uri="{FF2B5EF4-FFF2-40B4-BE49-F238E27FC236}">
                <a16:creationId xmlns:a16="http://schemas.microsoft.com/office/drawing/2014/main" id="{FAFBB090-AFD0-7F99-80A5-8B5522B2B0EA}"/>
              </a:ext>
            </a:extLst>
          </p:cNvPr>
          <p:cNvSpPr>
            <a:spLocks noGrp="1"/>
          </p:cNvSpPr>
          <p:nvPr>
            <p:ph type="sldNum" sz="quarter" idx="10"/>
          </p:nvPr>
        </p:nvSpPr>
        <p:spPr/>
        <p:txBody>
          <a:bodyPr/>
          <a:lstStyle/>
          <a:p>
            <a:fld id="{D97AE203-F84D-4A7F-B161-8561326BE072}" type="slidenum">
              <a:rPr lang="en-US" smtClean="0"/>
              <a:pPr/>
              <a:t>19</a:t>
            </a:fld>
            <a:endParaRPr lang="en-US" dirty="0"/>
          </a:p>
        </p:txBody>
      </p:sp>
      <p:sp>
        <p:nvSpPr>
          <p:cNvPr id="15" name="Content Placeholder 2">
            <a:extLst>
              <a:ext uri="{FF2B5EF4-FFF2-40B4-BE49-F238E27FC236}">
                <a16:creationId xmlns:a16="http://schemas.microsoft.com/office/drawing/2014/main" id="{71DDEE4A-9C67-3AC4-5A2E-AC24191F73B5}"/>
              </a:ext>
            </a:extLst>
          </p:cNvPr>
          <p:cNvSpPr txBox="1">
            <a:spLocks/>
          </p:cNvSpPr>
          <p:nvPr/>
        </p:nvSpPr>
        <p:spPr>
          <a:xfrm>
            <a:off x="9369971" y="3695696"/>
            <a:ext cx="2608427" cy="2857503"/>
          </a:xfrm>
          <a:prstGeom prst="rect">
            <a:avLst/>
          </a:prstGeom>
          <a:ln>
            <a:solidFill>
              <a:schemeClr val="accent5"/>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Bef>
                <a:spcPts val="0"/>
              </a:spcBef>
              <a:spcAft>
                <a:spcPts val="0"/>
              </a:spcAft>
              <a:buNone/>
            </a:pPr>
            <a:r>
              <a:rPr lang="en-GB" sz="1400" b="1" dirty="0">
                <a:solidFill>
                  <a:srgbClr val="0070C0"/>
                </a:solidFill>
                <a:latin typeface="Times New Roman" panose="02020603050405020304" pitchFamily="18" charset="0"/>
              </a:rPr>
              <a:t>energy-CPI,  (</a:t>
            </a:r>
            <a:r>
              <a:rPr lang="en-GB" sz="1400" b="1" dirty="0" err="1">
                <a:solidFill>
                  <a:srgbClr val="0070C0"/>
                </a:solidFill>
                <a:latin typeface="Times New Roman" panose="02020603050405020304" pitchFamily="18" charset="0"/>
              </a:rPr>
              <a:t>QoQ</a:t>
            </a:r>
            <a:r>
              <a:rPr lang="en-GB" sz="1400" b="1" dirty="0">
                <a:solidFill>
                  <a:srgbClr val="0070C0"/>
                </a:solidFill>
                <a:latin typeface="Times New Roman" panose="02020603050405020304" pitchFamily="18" charset="0"/>
              </a:rPr>
              <a:t>%)</a:t>
            </a:r>
          </a:p>
          <a:p>
            <a:pPr marL="0" indent="0" algn="just">
              <a:spcAft>
                <a:spcPts val="0"/>
              </a:spcAft>
              <a:buNone/>
            </a:pPr>
            <a:r>
              <a:rPr lang="en-GB" sz="1200" dirty="0">
                <a:latin typeface="Times New Roman" panose="02020603050405020304" pitchFamily="18" charset="0"/>
              </a:rPr>
              <a:t>---</a:t>
            </a:r>
            <a:r>
              <a:rPr lang="en-GB" sz="1050" dirty="0">
                <a:effectLst/>
                <a:latin typeface="Times New Roman" panose="02020603050405020304" pitchFamily="18" charset="0"/>
                <a:ea typeface="Calibri" panose="020F0502020204030204" pitchFamily="34" charset="0"/>
              </a:rPr>
              <a:t>rapid drop (from a peak in 2022Q4) is mainly driven by direct effect of imported energy prices which are projected to fall throughout 2023-27</a:t>
            </a:r>
          </a:p>
          <a:p>
            <a:pPr marL="0" indent="0" algn="just">
              <a:spcAft>
                <a:spcPts val="0"/>
              </a:spcAft>
              <a:buNone/>
            </a:pPr>
            <a:r>
              <a:rPr lang="en-US" sz="1200" dirty="0">
                <a:latin typeface="Times New Roman" panose="02020603050405020304" pitchFamily="18" charset="0"/>
              </a:rPr>
              <a:t>---</a:t>
            </a:r>
            <a:r>
              <a:rPr lang="en-GB" sz="1200" dirty="0">
                <a:effectLst/>
                <a:latin typeface="Times New Roman" panose="02020603050405020304" pitchFamily="18" charset="0"/>
                <a:ea typeface="Calibri" panose="020F0502020204030204" pitchFamily="34" charset="0"/>
              </a:rPr>
              <a:t>exchange rate depreciation exerts some upward pressure, but offset by </a:t>
            </a:r>
            <a:r>
              <a:rPr lang="en-GB" sz="1200" dirty="0">
                <a:latin typeface="Times New Roman" panose="02020603050405020304" pitchFamily="18" charset="0"/>
                <a:ea typeface="Calibri" panose="020F0502020204030204" pitchFamily="34" charset="0"/>
              </a:rPr>
              <a:t>drop in </a:t>
            </a:r>
            <a:r>
              <a:rPr lang="en-GB" sz="1200" dirty="0">
                <a:effectLst/>
                <a:latin typeface="Times New Roman" panose="02020603050405020304" pitchFamily="18" charset="0"/>
                <a:ea typeface="Calibri" panose="020F0502020204030204" pitchFamily="34" charset="0"/>
              </a:rPr>
              <a:t>foreign energy prices</a:t>
            </a:r>
          </a:p>
          <a:p>
            <a:pPr marL="0" indent="0" algn="just">
              <a:spcAft>
                <a:spcPts val="0"/>
              </a:spcAft>
              <a:buNone/>
            </a:pPr>
            <a:r>
              <a:rPr lang="en-GB" sz="1200" dirty="0">
                <a:latin typeface="Times New Roman" panose="02020603050405020304" pitchFamily="18" charset="0"/>
              </a:rPr>
              <a:t>---s</a:t>
            </a:r>
            <a:r>
              <a:rPr lang="en-GB" sz="1200" dirty="0">
                <a:effectLst/>
                <a:latin typeface="Times New Roman" panose="02020603050405020304" pitchFamily="18" charset="0"/>
                <a:ea typeface="Calibri" panose="020F0502020204030204" pitchFamily="34" charset="0"/>
              </a:rPr>
              <a:t>hocks projected to disappear since 2024Q1(typically large especially in 2022-23, reflecting the Oct 2023 pump price increase)</a:t>
            </a:r>
            <a:endParaRPr lang="en-US" sz="1200" dirty="0">
              <a:latin typeface="Times New Roman" panose="02020603050405020304" pitchFamily="18" charset="0"/>
            </a:endParaRPr>
          </a:p>
        </p:txBody>
      </p:sp>
      <p:sp>
        <p:nvSpPr>
          <p:cNvPr id="18" name="TextBox 17">
            <a:extLst>
              <a:ext uri="{FF2B5EF4-FFF2-40B4-BE49-F238E27FC236}">
                <a16:creationId xmlns:a16="http://schemas.microsoft.com/office/drawing/2014/main" id="{EB32DF4F-AA63-16AB-331E-F94546F0B860}"/>
              </a:ext>
            </a:extLst>
          </p:cNvPr>
          <p:cNvSpPr txBox="1"/>
          <p:nvPr/>
        </p:nvSpPr>
        <p:spPr>
          <a:xfrm>
            <a:off x="187742" y="3771952"/>
            <a:ext cx="3177539" cy="2870016"/>
          </a:xfrm>
          <a:prstGeom prst="rect">
            <a:avLst/>
          </a:prstGeom>
          <a:noFill/>
          <a:ln>
            <a:solidFill>
              <a:schemeClr val="accent5"/>
            </a:solidFill>
          </a:ln>
        </p:spPr>
        <p:txBody>
          <a:bodyPr wrap="square" rtlCol="0">
            <a:spAutoFit/>
          </a:bodyPr>
          <a:lstStyle/>
          <a:p>
            <a:pPr algn="just">
              <a:spcBef>
                <a:spcPts val="0"/>
              </a:spcBef>
              <a:spcAft>
                <a:spcPts val="0"/>
              </a:spcAft>
            </a:pPr>
            <a:r>
              <a:rPr lang="en-US" sz="1400" b="1" dirty="0">
                <a:solidFill>
                  <a:srgbClr val="0070C0"/>
                </a:solidFill>
                <a:latin typeface="Times New Roman" panose="02020603050405020304" pitchFamily="18" charset="0"/>
              </a:rPr>
              <a:t>headline—CPI, (</a:t>
            </a:r>
            <a:r>
              <a:rPr lang="en-US" sz="1400" b="1" dirty="0" err="1">
                <a:solidFill>
                  <a:srgbClr val="0070C0"/>
                </a:solidFill>
                <a:latin typeface="Times New Roman" panose="02020603050405020304" pitchFamily="18" charset="0"/>
              </a:rPr>
              <a:t>QoQ</a:t>
            </a:r>
            <a:r>
              <a:rPr lang="en-US" sz="1400" b="1" dirty="0">
                <a:solidFill>
                  <a:srgbClr val="0070C0"/>
                </a:solidFill>
                <a:latin typeface="Times New Roman" panose="02020603050405020304" pitchFamily="18" charset="0"/>
              </a:rPr>
              <a:t>%)</a:t>
            </a:r>
          </a:p>
          <a:p>
            <a:pPr algn="just">
              <a:spcBef>
                <a:spcPts val="0"/>
              </a:spcBef>
              <a:spcAft>
                <a:spcPts val="0"/>
              </a:spcAft>
            </a:pPr>
            <a:endParaRPr lang="en-US" sz="1050" b="1" dirty="0">
              <a:latin typeface="+mn-lt"/>
              <a:ea typeface="Calibri" panose="020F0502020204030204" pitchFamily="34" charset="0"/>
              <a:cs typeface="Times New Roman" panose="02020603050405020304" pitchFamily="18" charset="0"/>
            </a:endParaRPr>
          </a:p>
          <a:p>
            <a:pPr algn="just" eaLnBrk="0" hangingPunct="0">
              <a:spcBef>
                <a:spcPts val="600"/>
              </a:spcBef>
              <a:spcAft>
                <a:spcPts val="0"/>
              </a:spcAft>
              <a:buSzPct val="76000"/>
            </a:pPr>
            <a:r>
              <a:rPr lang="en-US" sz="1050" dirty="0">
                <a:latin typeface="Times New Roman" panose="02020603050405020304" pitchFamily="18" charset="0"/>
              </a:rPr>
              <a:t>---for late 2023 – early 2024 (</a:t>
            </a:r>
            <a:r>
              <a:rPr lang="en-GB" sz="1050" dirty="0">
                <a:latin typeface="Times New Roman" panose="02020603050405020304" pitchFamily="18" charset="0"/>
              </a:rPr>
              <a:t>having peaked in 2022Q2)</a:t>
            </a:r>
            <a:r>
              <a:rPr lang="en-US" sz="1050" dirty="0">
                <a:latin typeface="Times New Roman" panose="02020603050405020304" pitchFamily="18" charset="0"/>
              </a:rPr>
              <a:t> forecasted to continue declining but with a modest flare-up</a:t>
            </a:r>
          </a:p>
          <a:p>
            <a:pPr algn="just" eaLnBrk="0" hangingPunct="0">
              <a:spcBef>
                <a:spcPts val="600"/>
              </a:spcBef>
              <a:spcAft>
                <a:spcPts val="0"/>
              </a:spcAft>
              <a:buSzPct val="76000"/>
            </a:pPr>
            <a:r>
              <a:rPr lang="en-US" sz="1050" dirty="0">
                <a:latin typeface="Times New Roman" panose="02020603050405020304" pitchFamily="18" charset="0"/>
              </a:rPr>
              <a:t>---</a:t>
            </a:r>
            <a:r>
              <a:rPr lang="en-GB" sz="1050" dirty="0">
                <a:latin typeface="Times New Roman" panose="02020603050405020304" pitchFamily="18" charset="0"/>
              </a:rPr>
              <a:t>from 2024Q2, should decline below 5% </a:t>
            </a:r>
          </a:p>
          <a:p>
            <a:pPr marL="274638" lvl="1" algn="just" eaLnBrk="0" hangingPunct="0">
              <a:spcBef>
                <a:spcPts val="600"/>
              </a:spcBef>
              <a:spcAft>
                <a:spcPts val="0"/>
              </a:spcAft>
              <a:buClr>
                <a:schemeClr val="accent2"/>
              </a:buClr>
              <a:buSzPct val="76000"/>
            </a:pPr>
            <a:r>
              <a:rPr lang="en-GB" sz="1050" dirty="0">
                <a:latin typeface="Times New Roman" panose="02020603050405020304" pitchFamily="18" charset="0"/>
              </a:rPr>
              <a:t>   --modest drop in world food and oil prices, </a:t>
            </a:r>
          </a:p>
          <a:p>
            <a:pPr marL="274638" lvl="1" algn="just" eaLnBrk="0" hangingPunct="0">
              <a:spcBef>
                <a:spcPts val="600"/>
              </a:spcBef>
              <a:spcAft>
                <a:spcPts val="0"/>
              </a:spcAft>
              <a:buClr>
                <a:schemeClr val="accent2"/>
              </a:buClr>
              <a:buSzPct val="76000"/>
            </a:pPr>
            <a:r>
              <a:rPr lang="en-GB" sz="1050" dirty="0">
                <a:latin typeface="Times New Roman" panose="02020603050405020304" pitchFamily="18" charset="0"/>
              </a:rPr>
              <a:t>   --improved domestic food supply &amp; earlier shocks fading</a:t>
            </a:r>
            <a:endParaRPr lang="en-US" sz="1050" dirty="0">
              <a:latin typeface="Times New Roman" panose="02020603050405020304" pitchFamily="18" charset="0"/>
            </a:endParaRPr>
          </a:p>
          <a:p>
            <a:pPr lvl="0" algn="just" eaLnBrk="0" hangingPunct="0">
              <a:spcBef>
                <a:spcPts val="600"/>
              </a:spcBef>
              <a:spcAft>
                <a:spcPts val="0"/>
              </a:spcAft>
              <a:buSzPct val="76000"/>
            </a:pPr>
            <a:r>
              <a:rPr lang="en-GB" sz="1050" dirty="0">
                <a:latin typeface="Times New Roman" panose="02020603050405020304" pitchFamily="18" charset="0"/>
              </a:rPr>
              <a:t>---sharp drop in q-on-q inflation translates into a more gradual drop in y-on-y inflation</a:t>
            </a:r>
          </a:p>
          <a:p>
            <a:pPr lvl="0" algn="just" eaLnBrk="0" hangingPunct="0">
              <a:spcBef>
                <a:spcPts val="600"/>
              </a:spcBef>
              <a:spcAft>
                <a:spcPts val="0"/>
              </a:spcAft>
              <a:buSzPct val="76000"/>
            </a:pPr>
            <a:r>
              <a:rPr lang="en-US" sz="1050" dirty="0">
                <a:latin typeface="Times New Roman" panose="02020603050405020304" pitchFamily="18" charset="0"/>
              </a:rPr>
              <a:t>---</a:t>
            </a:r>
            <a:r>
              <a:rPr lang="en-GB" sz="1050" dirty="0">
                <a:latin typeface="Times New Roman" panose="02020603050405020304" pitchFamily="18" charset="0"/>
              </a:rPr>
              <a:t>largest contribution comes from the moderate food price increases, even with a short period of falling prices.</a:t>
            </a:r>
            <a:endParaRPr lang="en-RW" sz="1200" dirty="0">
              <a:latin typeface="+mn-lt"/>
            </a:endParaRPr>
          </a:p>
        </p:txBody>
      </p:sp>
      <p:pic>
        <p:nvPicPr>
          <p:cNvPr id="5" name="Picture 4">
            <a:extLst>
              <a:ext uri="{FF2B5EF4-FFF2-40B4-BE49-F238E27FC236}">
                <a16:creationId xmlns:a16="http://schemas.microsoft.com/office/drawing/2014/main" id="{623F1C98-FA90-800E-0C31-C327BA4A6C2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743" y="1246710"/>
            <a:ext cx="3177539" cy="2408919"/>
          </a:xfrm>
          <a:prstGeom prst="rect">
            <a:avLst/>
          </a:prstGeom>
          <a:noFill/>
          <a:ln>
            <a:noFill/>
          </a:ln>
        </p:spPr>
      </p:pic>
      <p:pic>
        <p:nvPicPr>
          <p:cNvPr id="11" name="Picture 10">
            <a:extLst>
              <a:ext uri="{FF2B5EF4-FFF2-40B4-BE49-F238E27FC236}">
                <a16:creationId xmlns:a16="http://schemas.microsoft.com/office/drawing/2014/main" id="{CA558905-8201-547F-43B6-EB47176A394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25015" y="1227366"/>
            <a:ext cx="2816860" cy="2408919"/>
          </a:xfrm>
          <a:prstGeom prst="rect">
            <a:avLst/>
          </a:prstGeom>
          <a:noFill/>
          <a:ln>
            <a:noFill/>
          </a:ln>
        </p:spPr>
      </p:pic>
      <p:pic>
        <p:nvPicPr>
          <p:cNvPr id="14" name="Picture 13">
            <a:extLst>
              <a:ext uri="{FF2B5EF4-FFF2-40B4-BE49-F238E27FC236}">
                <a16:creationId xmlns:a16="http://schemas.microsoft.com/office/drawing/2014/main" id="{5FEDEA8D-B745-AC39-B2F0-B650BE6B523F}"/>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80373" y="1227366"/>
            <a:ext cx="2641600" cy="2394028"/>
          </a:xfrm>
          <a:prstGeom prst="rect">
            <a:avLst/>
          </a:prstGeom>
          <a:noFill/>
          <a:ln>
            <a:noFill/>
          </a:ln>
        </p:spPr>
      </p:pic>
      <p:sp>
        <p:nvSpPr>
          <p:cNvPr id="17" name="Content Placeholder 2">
            <a:extLst>
              <a:ext uri="{FF2B5EF4-FFF2-40B4-BE49-F238E27FC236}">
                <a16:creationId xmlns:a16="http://schemas.microsoft.com/office/drawing/2014/main" id="{6032E123-4540-5366-9A0D-47DB3257AEAB}"/>
              </a:ext>
            </a:extLst>
          </p:cNvPr>
          <p:cNvSpPr txBox="1">
            <a:spLocks/>
          </p:cNvSpPr>
          <p:nvPr/>
        </p:nvSpPr>
        <p:spPr>
          <a:xfrm>
            <a:off x="6373517" y="3741735"/>
            <a:ext cx="2894570" cy="2857503"/>
          </a:xfrm>
          <a:prstGeom prst="rect">
            <a:avLst/>
          </a:prstGeom>
          <a:ln>
            <a:solidFill>
              <a:schemeClr val="accent5"/>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Bef>
                <a:spcPts val="0"/>
              </a:spcBef>
              <a:spcAft>
                <a:spcPts val="0"/>
              </a:spcAft>
              <a:buNone/>
            </a:pPr>
            <a:r>
              <a:rPr lang="en-GB" sz="1400" b="1" dirty="0">
                <a:solidFill>
                  <a:srgbClr val="0070C0"/>
                </a:solidFill>
                <a:latin typeface="Times New Roman" panose="02020603050405020304" pitchFamily="18" charset="0"/>
              </a:rPr>
              <a:t>food-CPI,  (</a:t>
            </a:r>
            <a:r>
              <a:rPr lang="en-GB" sz="1400" b="1" dirty="0" err="1">
                <a:solidFill>
                  <a:srgbClr val="0070C0"/>
                </a:solidFill>
                <a:latin typeface="Times New Roman" panose="02020603050405020304" pitchFamily="18" charset="0"/>
              </a:rPr>
              <a:t>QoQ</a:t>
            </a:r>
            <a:r>
              <a:rPr lang="en-GB" sz="1400" b="1" dirty="0">
                <a:solidFill>
                  <a:srgbClr val="0070C0"/>
                </a:solidFill>
                <a:latin typeface="Times New Roman" panose="02020603050405020304" pitchFamily="18" charset="0"/>
              </a:rPr>
              <a:t>%)</a:t>
            </a:r>
          </a:p>
          <a:p>
            <a:pPr marL="0" indent="0" algn="just">
              <a:spcAft>
                <a:spcPts val="0"/>
              </a:spcAft>
              <a:buNone/>
            </a:pPr>
            <a:r>
              <a:rPr lang="en-GB" sz="1100" dirty="0">
                <a:latin typeface="Times New Roman" panose="02020603050405020304" pitchFamily="18" charset="0"/>
              </a:rPr>
              <a:t>---</a:t>
            </a:r>
            <a:r>
              <a:rPr lang="en-GB" sz="1000" dirty="0">
                <a:effectLst/>
                <a:latin typeface="Times New Roman" panose="02020603050405020304" pitchFamily="18" charset="0"/>
                <a:ea typeface="Calibri" panose="020F0502020204030204" pitchFamily="34" charset="0"/>
              </a:rPr>
              <a:t>rapid drop (from a peak in 2022Q4) is mainly driven by declining negative agricultural output gaps (which in part drove prices up from late 2021 to late 2023), </a:t>
            </a:r>
          </a:p>
          <a:p>
            <a:pPr marL="0" indent="0" algn="just">
              <a:spcAft>
                <a:spcPts val="0"/>
              </a:spcAft>
              <a:buNone/>
            </a:pPr>
            <a:r>
              <a:rPr lang="en-US" sz="1100" dirty="0">
                <a:latin typeface="Times New Roman" panose="02020603050405020304" pitchFamily="18" charset="0"/>
              </a:rPr>
              <a:t>---</a:t>
            </a:r>
            <a:r>
              <a:rPr lang="en-GB" sz="1100" dirty="0">
                <a:effectLst/>
                <a:latin typeface="Times New Roman" panose="02020603050405020304" pitchFamily="18" charset="0"/>
                <a:ea typeface="Calibri" panose="020F0502020204030204" pitchFamily="34" charset="0"/>
              </a:rPr>
              <a:t>direct effect of imported food prices is upward (due to ER depreciation),</a:t>
            </a:r>
          </a:p>
          <a:p>
            <a:pPr marL="0" indent="0" algn="just">
              <a:spcAft>
                <a:spcPts val="0"/>
              </a:spcAft>
              <a:buNone/>
            </a:pPr>
            <a:r>
              <a:rPr lang="en-GB" sz="1100" dirty="0">
                <a:latin typeface="Times New Roman" panose="02020603050405020304" pitchFamily="18" charset="0"/>
                <a:ea typeface="Calibri" panose="020F0502020204030204" pitchFamily="34" charset="0"/>
              </a:rPr>
              <a:t>---</a:t>
            </a:r>
            <a:r>
              <a:rPr lang="en-GB" sz="1100" dirty="0">
                <a:effectLst/>
                <a:latin typeface="Times New Roman" panose="02020603050405020304" pitchFamily="18" charset="0"/>
                <a:ea typeface="Calibri" panose="020F0502020204030204" pitchFamily="34" charset="0"/>
              </a:rPr>
              <a:t>indirect effect of the food RER gap is downward </a:t>
            </a:r>
            <a:r>
              <a:rPr lang="en-US" sz="1100" dirty="0">
                <a:latin typeface="Times New Roman" panose="02020603050405020304" pitchFamily="18" charset="0"/>
              </a:rPr>
              <a:t>falls in mid-2025 slightly below its target of 4.5% </a:t>
            </a:r>
          </a:p>
          <a:p>
            <a:pPr marL="0" indent="0" algn="just">
              <a:spcAft>
                <a:spcPts val="0"/>
              </a:spcAft>
              <a:buNone/>
            </a:pPr>
            <a:r>
              <a:rPr lang="en-US" sz="1100" dirty="0">
                <a:latin typeface="Times New Roman" panose="02020603050405020304" pitchFamily="18" charset="0"/>
              </a:rPr>
              <a:t>---</a:t>
            </a:r>
            <a:r>
              <a:rPr lang="en-GB" sz="1100" dirty="0">
                <a:latin typeface="Times New Roman" panose="02020603050405020304" pitchFamily="18" charset="0"/>
              </a:rPr>
              <a:t>s</a:t>
            </a:r>
            <a:r>
              <a:rPr lang="en-GB" sz="1100" dirty="0">
                <a:effectLst/>
                <a:latin typeface="Times New Roman" panose="02020603050405020304" pitchFamily="18" charset="0"/>
                <a:ea typeface="Calibri" panose="020F0502020204030204" pitchFamily="34" charset="0"/>
              </a:rPr>
              <a:t>hocks, already small in 2024, are forecast to subside in the near term </a:t>
            </a:r>
            <a:endParaRPr lang="en-US" sz="1100" dirty="0">
              <a:latin typeface="Times New Roman" panose="02020603050405020304" pitchFamily="18" charset="0"/>
            </a:endParaRPr>
          </a:p>
        </p:txBody>
      </p:sp>
      <p:sp>
        <p:nvSpPr>
          <p:cNvPr id="19" name="Content Placeholder 2">
            <a:extLst>
              <a:ext uri="{FF2B5EF4-FFF2-40B4-BE49-F238E27FC236}">
                <a16:creationId xmlns:a16="http://schemas.microsoft.com/office/drawing/2014/main" id="{50282A89-5A54-B4AC-E129-FCCC9913F783}"/>
              </a:ext>
            </a:extLst>
          </p:cNvPr>
          <p:cNvSpPr txBox="1">
            <a:spLocks/>
          </p:cNvSpPr>
          <p:nvPr/>
        </p:nvSpPr>
        <p:spPr>
          <a:xfrm>
            <a:off x="3485099" y="3741735"/>
            <a:ext cx="2768600" cy="2857503"/>
          </a:xfrm>
          <a:prstGeom prst="rect">
            <a:avLst/>
          </a:prstGeom>
          <a:ln>
            <a:solidFill>
              <a:schemeClr val="accent5"/>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Bef>
                <a:spcPts val="0"/>
              </a:spcBef>
              <a:spcAft>
                <a:spcPts val="0"/>
              </a:spcAft>
              <a:buNone/>
            </a:pPr>
            <a:r>
              <a:rPr lang="en-GB" sz="1400" b="1" dirty="0">
                <a:solidFill>
                  <a:srgbClr val="0070C0"/>
                </a:solidFill>
                <a:latin typeface="Times New Roman" panose="02020603050405020304" pitchFamily="18" charset="0"/>
              </a:rPr>
              <a:t>core-CPI,  (</a:t>
            </a:r>
            <a:r>
              <a:rPr lang="en-GB" sz="1400" b="1" dirty="0" err="1">
                <a:solidFill>
                  <a:srgbClr val="0070C0"/>
                </a:solidFill>
                <a:latin typeface="Times New Roman" panose="02020603050405020304" pitchFamily="18" charset="0"/>
              </a:rPr>
              <a:t>QoQ</a:t>
            </a:r>
            <a:r>
              <a:rPr lang="en-GB" sz="1400" b="1" dirty="0">
                <a:solidFill>
                  <a:srgbClr val="0070C0"/>
                </a:solidFill>
                <a:latin typeface="Times New Roman" panose="02020603050405020304" pitchFamily="18" charset="0"/>
              </a:rPr>
              <a:t>%)</a:t>
            </a:r>
          </a:p>
          <a:p>
            <a:pPr marL="0" indent="0" algn="just">
              <a:spcAft>
                <a:spcPts val="0"/>
              </a:spcAft>
              <a:buNone/>
            </a:pPr>
            <a:r>
              <a:rPr lang="en-GB" sz="1050" dirty="0">
                <a:latin typeface="Times New Roman" panose="02020603050405020304" pitchFamily="18" charset="0"/>
              </a:rPr>
              <a:t>---gradual drop driven by inflationary expectations, small upward direct effects of import prices and REER</a:t>
            </a:r>
            <a:r>
              <a:rPr lang="en-US" sz="1050" dirty="0">
                <a:latin typeface="Times New Roman" panose="02020603050405020304" pitchFamily="18" charset="0"/>
              </a:rPr>
              <a:t> (</a:t>
            </a:r>
            <a:r>
              <a:rPr lang="en-GB" sz="1050" dirty="0">
                <a:solidFill>
                  <a:srgbClr val="C00000"/>
                </a:solidFill>
                <a:effectLst/>
                <a:latin typeface="Times New Roman" panose="02020603050405020304" pitchFamily="18" charset="0"/>
                <a:ea typeface="Calibri" panose="020F0502020204030204" pitchFamily="34" charset="0"/>
              </a:rPr>
              <a:t>exchange rate depreciation?)</a:t>
            </a:r>
          </a:p>
          <a:p>
            <a:pPr marL="274638" lvl="1" indent="0" algn="just">
              <a:spcAft>
                <a:spcPts val="0"/>
              </a:spcAft>
              <a:buNone/>
            </a:pPr>
            <a:r>
              <a:rPr lang="en-GB" sz="900" dirty="0">
                <a:solidFill>
                  <a:srgbClr val="C00000"/>
                </a:solidFill>
                <a:latin typeface="Times New Roman" panose="02020603050405020304" pitchFamily="18" charset="0"/>
              </a:rPr>
              <a:t>--</a:t>
            </a:r>
            <a:r>
              <a:rPr lang="en-GB" sz="900" dirty="0">
                <a:effectLst/>
                <a:latin typeface="Times New Roman" panose="02020603050405020304" pitchFamily="18" charset="0"/>
                <a:ea typeface="Calibri" panose="020F0502020204030204" pitchFamily="34" charset="0"/>
              </a:rPr>
              <a:t>small downward effect of persisting post-Covid negative output gap and gradual subsiding of shocks</a:t>
            </a:r>
            <a:endParaRPr lang="en-US" sz="900" dirty="0">
              <a:solidFill>
                <a:srgbClr val="C00000"/>
              </a:solidFill>
              <a:latin typeface="Times New Roman" panose="02020603050405020304" pitchFamily="18" charset="0"/>
            </a:endParaRPr>
          </a:p>
          <a:p>
            <a:pPr marL="0" indent="0" algn="just">
              <a:spcAft>
                <a:spcPts val="0"/>
              </a:spcAft>
              <a:buNone/>
            </a:pPr>
            <a:r>
              <a:rPr lang="en-US" sz="1050" dirty="0">
                <a:latin typeface="Times New Roman" panose="02020603050405020304" pitchFamily="18" charset="0"/>
              </a:rPr>
              <a:t>---falls in mid-2025 slightly below its target of 4.5% </a:t>
            </a:r>
          </a:p>
          <a:p>
            <a:pPr marL="274638" lvl="1" indent="0" algn="just">
              <a:spcAft>
                <a:spcPts val="0"/>
              </a:spcAft>
              <a:buNone/>
            </a:pPr>
            <a:r>
              <a:rPr lang="en-US" sz="650" dirty="0">
                <a:latin typeface="Times New Roman" panose="02020603050405020304" pitchFamily="18" charset="0"/>
              </a:rPr>
              <a:t>--</a:t>
            </a:r>
            <a:r>
              <a:rPr lang="en-US" sz="900" dirty="0">
                <a:latin typeface="Times New Roman" panose="02020603050405020304" pitchFamily="18" charset="0"/>
              </a:rPr>
              <a:t>down-pull from remaining negative output gap, </a:t>
            </a:r>
          </a:p>
          <a:p>
            <a:pPr marL="0" indent="0" algn="just">
              <a:spcAft>
                <a:spcPts val="0"/>
              </a:spcAft>
              <a:buNone/>
            </a:pPr>
            <a:r>
              <a:rPr kumimoji="0" lang="en-US" sz="105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charset="-128"/>
                <a:cs typeface="+mn-cs"/>
              </a:rPr>
              <a:t>---somewhat overshoots in 2026-27 (to.5.5%) as a small positive output gap emerges.</a:t>
            </a:r>
            <a:endParaRPr lang="en-US" sz="1050" dirty="0">
              <a:latin typeface="Times New Roman" panose="02020603050405020304" pitchFamily="18" charset="0"/>
            </a:endParaRPr>
          </a:p>
        </p:txBody>
      </p:sp>
      <p:pic>
        <p:nvPicPr>
          <p:cNvPr id="21" name="Picture 20">
            <a:extLst>
              <a:ext uri="{FF2B5EF4-FFF2-40B4-BE49-F238E27FC236}">
                <a16:creationId xmlns:a16="http://schemas.microsoft.com/office/drawing/2014/main" id="{017BCF4E-18DC-848F-B4AB-2D497C09ACC6}"/>
              </a:ext>
            </a:extLst>
          </p:cNvPr>
          <p:cNvPicPr>
            <a:picLocks noChangeAspect="1"/>
          </p:cNvPicPr>
          <p:nvPr/>
        </p:nvPicPr>
        <p:blipFill>
          <a:blip r:embed="rId5"/>
          <a:stretch>
            <a:fillRect/>
          </a:stretch>
        </p:blipFill>
        <p:spPr>
          <a:xfrm>
            <a:off x="6354161" y="1220797"/>
            <a:ext cx="2913926" cy="2400597"/>
          </a:xfrm>
          <a:prstGeom prst="rect">
            <a:avLst/>
          </a:prstGeom>
        </p:spPr>
      </p:pic>
    </p:spTree>
    <p:extLst>
      <p:ext uri="{BB962C8B-B14F-4D97-AF65-F5344CB8AC3E}">
        <p14:creationId xmlns:p14="http://schemas.microsoft.com/office/powerpoint/2010/main" val="2131786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C94FF-3715-83D7-A3A5-F73D7D616784}"/>
              </a:ext>
            </a:extLst>
          </p:cNvPr>
          <p:cNvSpPr>
            <a:spLocks noGrp="1"/>
          </p:cNvSpPr>
          <p:nvPr>
            <p:ph type="title"/>
          </p:nvPr>
        </p:nvSpPr>
        <p:spPr>
          <a:xfrm>
            <a:off x="1600200" y="239630"/>
            <a:ext cx="10261600" cy="709056"/>
          </a:xfrm>
        </p:spPr>
        <p:txBody>
          <a:bodyPr/>
          <a:lstStyle/>
          <a:p>
            <a:r>
              <a:rPr kumimoji="0" lang="en-GB" sz="2800" b="1" i="0" u="none" strike="noStrike" kern="1200" cap="none" spc="0" normalizeH="0" baseline="0" noProof="0" dirty="0">
                <a:ln>
                  <a:noFill/>
                </a:ln>
                <a:solidFill>
                  <a:prstClr val="black"/>
                </a:solidFill>
                <a:effectLst/>
                <a:uLnTx/>
                <a:uFillTx/>
                <a:latin typeface="Gill Sans MT"/>
                <a:ea typeface="ＭＳ Ｐゴシック" charset="-128"/>
                <a:cs typeface="+mj-cs"/>
              </a:rPr>
              <a:t>Forecast—</a:t>
            </a:r>
            <a:r>
              <a:rPr kumimoji="0" lang="en-US" sz="2800" b="1" i="0" u="none" strike="noStrike" kern="1200" cap="none" spc="0" normalizeH="0" baseline="0" noProof="0" dirty="0">
                <a:ln>
                  <a:noFill/>
                </a:ln>
                <a:solidFill>
                  <a:prstClr val="black"/>
                </a:solidFill>
                <a:effectLst/>
                <a:uLnTx/>
                <a:uFillTx/>
                <a:latin typeface="Gill Sans MT"/>
                <a:ea typeface="ＭＳ Ｐゴシック" charset="-128"/>
                <a:cs typeface="+mj-cs"/>
              </a:rPr>
              <a:t>Policy interest rate </a:t>
            </a:r>
            <a:r>
              <a:rPr kumimoji="0" lang="en-US" sz="2800" b="0" i="0" u="none" strike="noStrike" kern="1200" cap="none" spc="0" normalizeH="0" baseline="0" noProof="0" dirty="0">
                <a:ln>
                  <a:noFill/>
                </a:ln>
                <a:solidFill>
                  <a:prstClr val="black"/>
                </a:solidFill>
                <a:effectLst/>
                <a:uLnTx/>
                <a:uFillTx/>
                <a:latin typeface="Gill Sans MT"/>
                <a:ea typeface="ＭＳ Ｐゴシック" charset="-128"/>
                <a:cs typeface="+mj-cs"/>
              </a:rPr>
              <a:t>(interbank rate, IB)</a:t>
            </a:r>
            <a:r>
              <a:rPr kumimoji="0" lang="en-US" sz="2000" b="1" i="0" u="none" strike="noStrike" kern="1200" cap="none" spc="0" normalizeH="0" baseline="0" noProof="0" dirty="0">
                <a:ln>
                  <a:noFill/>
                </a:ln>
                <a:solidFill>
                  <a:srgbClr val="192EF7">
                    <a:lumMod val="50000"/>
                  </a:srgbClr>
                </a:solidFill>
                <a:effectLst/>
                <a:uLnTx/>
                <a:uFillTx/>
                <a:latin typeface="Gill Sans MT"/>
                <a:ea typeface="ＭＳ Ｐゴシック" charset="-128"/>
                <a:cs typeface="+mj-cs"/>
              </a:rPr>
              <a:t> </a:t>
            </a:r>
            <a:endParaRPr lang="en-RW" dirty="0">
              <a:solidFill>
                <a:schemeClr val="accent4">
                  <a:lumMod val="50000"/>
                </a:schemeClr>
              </a:solidFill>
            </a:endParaRPr>
          </a:p>
        </p:txBody>
      </p:sp>
      <p:sp>
        <p:nvSpPr>
          <p:cNvPr id="15" name="Content Placeholder 2">
            <a:extLst>
              <a:ext uri="{FF2B5EF4-FFF2-40B4-BE49-F238E27FC236}">
                <a16:creationId xmlns:a16="http://schemas.microsoft.com/office/drawing/2014/main" id="{71DDEE4A-9C67-3AC4-5A2E-AC24191F73B5}"/>
              </a:ext>
            </a:extLst>
          </p:cNvPr>
          <p:cNvSpPr txBox="1">
            <a:spLocks/>
          </p:cNvSpPr>
          <p:nvPr/>
        </p:nvSpPr>
        <p:spPr>
          <a:xfrm>
            <a:off x="9216273" y="3544556"/>
            <a:ext cx="2762125" cy="2856244"/>
          </a:xfrm>
          <a:prstGeom prst="rect">
            <a:avLst/>
          </a:prstGeom>
          <a:ln>
            <a:solidFill>
              <a:schemeClr val="accent5"/>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Bef>
                <a:spcPts val="0"/>
              </a:spcBef>
              <a:spcAft>
                <a:spcPts val="0"/>
              </a:spcAft>
              <a:buNone/>
            </a:pPr>
            <a:r>
              <a:rPr lang="en-GB" sz="1400" b="1" dirty="0">
                <a:solidFill>
                  <a:srgbClr val="0070C0"/>
                </a:solidFill>
                <a:latin typeface="Times New Roman" panose="02020603050405020304" pitchFamily="18" charset="0"/>
              </a:rPr>
              <a:t>real lending rate, %</a:t>
            </a:r>
          </a:p>
          <a:p>
            <a:pPr marL="0" indent="0">
              <a:lnSpc>
                <a:spcPct val="107000"/>
              </a:lnSpc>
              <a:spcAft>
                <a:spcPts val="0"/>
              </a:spcAft>
              <a:buNone/>
            </a:pPr>
            <a:r>
              <a:rPr lang="en-GB" sz="1200" b="1" dirty="0">
                <a:latin typeface="Times New Roman" panose="02020603050405020304" pitchFamily="18" charset="0"/>
                <a:cs typeface="Times New Roman" panose="02020603050405020304" pitchFamily="18" charset="0"/>
              </a:rPr>
              <a:t>---</a:t>
            </a:r>
            <a:r>
              <a:rPr lang="en-GB" sz="1200" dirty="0">
                <a:latin typeface="Times New Roman" panose="02020603050405020304" pitchFamily="18" charset="0"/>
                <a:cs typeface="Times New Roman" panose="02020603050405020304" pitchFamily="18" charset="0"/>
              </a:rPr>
              <a:t>4Qos forward average RIR(IB) + lending premium (+ 9% points above the IB rate)</a:t>
            </a:r>
          </a:p>
          <a:p>
            <a:pPr marL="0" indent="0" algn="just">
              <a:spcAft>
                <a:spcPts val="0"/>
              </a:spcAft>
              <a:buNone/>
            </a:pPr>
            <a:r>
              <a:rPr lang="en-GB" sz="1200" dirty="0">
                <a:latin typeface="Times New Roman" panose="02020603050405020304" pitchFamily="18" charset="0"/>
              </a:rPr>
              <a:t>---</a:t>
            </a:r>
            <a:r>
              <a:rPr lang="en-GB" sz="1050" dirty="0">
                <a:effectLst/>
                <a:latin typeface="Times New Roman" panose="02020603050405020304" pitchFamily="18" charset="0"/>
                <a:ea typeface="Calibri" panose="020F0502020204030204" pitchFamily="34" charset="0"/>
              </a:rPr>
              <a:t>movement in the RIR (as affected by NBR policies) is transmitted to the</a:t>
            </a:r>
            <a:r>
              <a:rPr lang="en-GB" sz="1050" b="1" dirty="0">
                <a:effectLst/>
                <a:latin typeface="Times New Roman" panose="02020603050405020304" pitchFamily="18" charset="0"/>
                <a:ea typeface="Calibri" panose="020F0502020204030204" pitchFamily="34" charset="0"/>
              </a:rPr>
              <a:t> real lending rate</a:t>
            </a:r>
            <a:r>
              <a:rPr lang="en-GB" sz="1050" dirty="0">
                <a:effectLst/>
                <a:latin typeface="Times New Roman" panose="02020603050405020304" pitchFamily="18" charset="0"/>
                <a:ea typeface="Calibri" panose="020F0502020204030204" pitchFamily="34" charset="0"/>
              </a:rPr>
              <a:t> </a:t>
            </a:r>
            <a:r>
              <a:rPr lang="en-GB" sz="1050" b="1" i="1" dirty="0">
                <a:effectLst/>
                <a:latin typeface="Times New Roman" panose="02020603050405020304" pitchFamily="18" charset="0"/>
                <a:ea typeface="Calibri" panose="020F0502020204030204" pitchFamily="34" charset="0"/>
              </a:rPr>
              <a:t>for private demand</a:t>
            </a:r>
          </a:p>
          <a:p>
            <a:pPr marL="0" indent="0" algn="just">
              <a:spcAft>
                <a:spcPts val="0"/>
              </a:spcAft>
              <a:buNone/>
            </a:pPr>
            <a:r>
              <a:rPr lang="en-GB" sz="1050" b="1" i="1" dirty="0">
                <a:latin typeface="Times New Roman" panose="02020603050405020304" pitchFamily="18" charset="0"/>
                <a:ea typeface="Calibri" panose="020F0502020204030204" pitchFamily="34" charset="0"/>
              </a:rPr>
              <a:t>---</a:t>
            </a:r>
            <a:r>
              <a:rPr lang="en-GB" sz="1050" dirty="0">
                <a:effectLst/>
                <a:latin typeface="Times New Roman" panose="02020603050405020304" pitchFamily="18" charset="0"/>
                <a:ea typeface="Calibri" panose="020F0502020204030204" pitchFamily="34" charset="0"/>
              </a:rPr>
              <a:t>above trend during Covid and much below trend, even negative, when inflation surged in 2022-23</a:t>
            </a:r>
          </a:p>
          <a:p>
            <a:pPr marL="0" indent="0" algn="just">
              <a:spcAft>
                <a:spcPts val="0"/>
              </a:spcAft>
              <a:buNone/>
            </a:pPr>
            <a:r>
              <a:rPr lang="en-GB" sz="1050" b="1" i="1" dirty="0">
                <a:latin typeface="Times New Roman" panose="02020603050405020304" pitchFamily="18" charset="0"/>
                <a:ea typeface="Calibri" panose="020F0502020204030204" pitchFamily="34" charset="0"/>
              </a:rPr>
              <a:t>---</a:t>
            </a:r>
            <a:r>
              <a:rPr lang="en-GB" sz="1050" dirty="0">
                <a:effectLst/>
                <a:latin typeface="Times New Roman" panose="02020603050405020304" pitchFamily="18" charset="0"/>
                <a:ea typeface="Calibri" panose="020F0502020204030204" pitchFamily="34" charset="0"/>
              </a:rPr>
              <a:t>forecast to rise to close to its trend level in 2023, with a depressing (increasingly less positive) effect on private demand</a:t>
            </a:r>
            <a:endParaRPr lang="en-GB" sz="1050" b="1" i="1" dirty="0">
              <a:latin typeface="Times New Roman" panose="02020603050405020304" pitchFamily="18" charset="0"/>
              <a:ea typeface="Calibri" panose="020F0502020204030204" pitchFamily="34" charset="0"/>
            </a:endParaRPr>
          </a:p>
        </p:txBody>
      </p:sp>
      <p:sp>
        <p:nvSpPr>
          <p:cNvPr id="18" name="TextBox 17">
            <a:extLst>
              <a:ext uri="{FF2B5EF4-FFF2-40B4-BE49-F238E27FC236}">
                <a16:creationId xmlns:a16="http://schemas.microsoft.com/office/drawing/2014/main" id="{EB32DF4F-AA63-16AB-331E-F94546F0B860}"/>
              </a:ext>
            </a:extLst>
          </p:cNvPr>
          <p:cNvSpPr txBox="1"/>
          <p:nvPr/>
        </p:nvSpPr>
        <p:spPr>
          <a:xfrm>
            <a:off x="170026" y="3544556"/>
            <a:ext cx="2936458" cy="2044919"/>
          </a:xfrm>
          <a:prstGeom prst="rect">
            <a:avLst/>
          </a:prstGeom>
          <a:noFill/>
          <a:ln>
            <a:solidFill>
              <a:schemeClr val="accent5"/>
            </a:solidFill>
          </a:ln>
        </p:spPr>
        <p:txBody>
          <a:bodyPr wrap="square" rtlCol="0">
            <a:spAutoFit/>
          </a:bodyPr>
          <a:lstStyle/>
          <a:p>
            <a:pPr algn="just">
              <a:spcBef>
                <a:spcPts val="0"/>
              </a:spcBef>
              <a:spcAft>
                <a:spcPts val="0"/>
              </a:spcAft>
            </a:pPr>
            <a:r>
              <a:rPr lang="en-GB" sz="1800" b="1" dirty="0">
                <a:solidFill>
                  <a:srgbClr val="0070C0"/>
                </a:solidFill>
                <a:effectLst/>
                <a:latin typeface="Times New Roman" panose="02020603050405020304" pitchFamily="18" charset="0"/>
                <a:ea typeface="Calibri" panose="020F0502020204030204" pitchFamily="34" charset="0"/>
              </a:rPr>
              <a:t>IB rate, %</a:t>
            </a:r>
            <a:endParaRPr lang="en-US" sz="1050" b="1" dirty="0">
              <a:latin typeface="+mn-lt"/>
              <a:ea typeface="Calibri" panose="020F0502020204030204" pitchFamily="34" charset="0"/>
              <a:cs typeface="Times New Roman" panose="02020603050405020304" pitchFamily="18" charset="0"/>
            </a:endParaRPr>
          </a:p>
          <a:p>
            <a:pPr>
              <a:lnSpc>
                <a:spcPct val="107000"/>
              </a:lnSpc>
              <a:spcAft>
                <a:spcPts val="60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tuned for Q4 2023, assuming NBR would keep its CBR unchanged from August 2023</a:t>
            </a:r>
            <a:endParaRPr lang="en-RW"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--about 0.5% points above the CBR (equal to repo rate; CBR not shown separately)</a:t>
            </a:r>
          </a:p>
          <a:p>
            <a:r>
              <a:rPr lang="en-US" sz="1200" dirty="0">
                <a:effectLst/>
                <a:latin typeface="Times New Roman" panose="02020603050405020304" pitchFamily="18" charset="0"/>
                <a:ea typeface="Calibri" panose="020F0502020204030204" pitchFamily="34" charset="0"/>
              </a:rPr>
              <a:t>--IB trend/neutral level (7.5% or </a:t>
            </a:r>
            <a:r>
              <a:rPr lang="en-US" sz="1400" dirty="0">
                <a:effectLst/>
                <a:latin typeface="Times New Roman" panose="02020603050405020304" pitchFamily="18" charset="0"/>
                <a:ea typeface="Calibri" panose="020F0502020204030204" pitchFamily="34" charset="0"/>
              </a:rPr>
              <a:t>7%?), </a:t>
            </a:r>
          </a:p>
          <a:p>
            <a:pPr marL="182562" lvl="1">
              <a:lnSpc>
                <a:spcPct val="107000"/>
              </a:lnSpc>
              <a:spcAft>
                <a:spcPts val="600"/>
              </a:spcAft>
              <a:defRPr/>
            </a:pPr>
            <a:r>
              <a:rPr lang="en-US" sz="1000" dirty="0">
                <a:latin typeface="Times New Roman" panose="02020603050405020304" pitchFamily="18" charset="0"/>
                <a:cs typeface="Times New Roman" panose="02020603050405020304" pitchFamily="18" charset="0"/>
              </a:rPr>
              <a:t>--determined by trend foreign RIR (0-0.5%), country risk premium (2%), and core inflation target (4.5%)</a:t>
            </a:r>
            <a:endParaRPr lang="en-RW" sz="1000" dirty="0">
              <a:latin typeface="Times New Roman" panose="02020603050405020304" pitchFamily="18" charset="0"/>
              <a:cs typeface="Times New Roman" panose="02020603050405020304" pitchFamily="18" charset="0"/>
            </a:endParaRPr>
          </a:p>
        </p:txBody>
      </p:sp>
      <p:sp>
        <p:nvSpPr>
          <p:cNvPr id="17" name="Content Placeholder 2">
            <a:extLst>
              <a:ext uri="{FF2B5EF4-FFF2-40B4-BE49-F238E27FC236}">
                <a16:creationId xmlns:a16="http://schemas.microsoft.com/office/drawing/2014/main" id="{6032E123-4540-5366-9A0D-47DB3257AEAB}"/>
              </a:ext>
            </a:extLst>
          </p:cNvPr>
          <p:cNvSpPr txBox="1">
            <a:spLocks/>
          </p:cNvSpPr>
          <p:nvPr/>
        </p:nvSpPr>
        <p:spPr>
          <a:xfrm>
            <a:off x="6364550" y="3544555"/>
            <a:ext cx="2740872" cy="2857503"/>
          </a:xfrm>
          <a:prstGeom prst="rect">
            <a:avLst/>
          </a:prstGeom>
          <a:ln>
            <a:solidFill>
              <a:schemeClr val="accent5"/>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Bef>
                <a:spcPts val="0"/>
              </a:spcBef>
              <a:spcAft>
                <a:spcPts val="0"/>
              </a:spcAft>
              <a:buNone/>
            </a:pPr>
            <a:r>
              <a:rPr lang="en-GB" sz="1400" b="1" dirty="0">
                <a:solidFill>
                  <a:srgbClr val="0070C0"/>
                </a:solidFill>
                <a:latin typeface="Times New Roman" panose="02020603050405020304" pitchFamily="18" charset="0"/>
              </a:rPr>
              <a:t>RIR—IB rate, %</a:t>
            </a:r>
          </a:p>
          <a:p>
            <a:pPr marL="0" indent="0">
              <a:lnSpc>
                <a:spcPct val="107000"/>
              </a:lnSpc>
              <a:spcAft>
                <a:spcPts val="0"/>
              </a:spcAft>
              <a:buNone/>
            </a:pPr>
            <a:r>
              <a:rPr lang="en-GB" sz="1200" dirty="0">
                <a:latin typeface="Times New Roman" panose="02020603050405020304" pitchFamily="18" charset="0"/>
                <a:cs typeface="Times New Roman" panose="02020603050405020304" pitchFamily="18" charset="0"/>
              </a:rPr>
              <a:t>---significant drop into negative territory since early 2021 </a:t>
            </a:r>
          </a:p>
          <a:p>
            <a:pPr marL="274638" lvl="1" indent="0" algn="just">
              <a:spcAft>
                <a:spcPts val="0"/>
              </a:spcAft>
              <a:buNone/>
            </a:pPr>
            <a:r>
              <a:rPr lang="en-GB" sz="900" dirty="0">
                <a:solidFill>
                  <a:schemeClr val="tx1"/>
                </a:solidFill>
                <a:latin typeface="Times New Roman" panose="02020603050405020304" pitchFamily="18" charset="0"/>
                <a:cs typeface="Times New Roman" panose="02020603050405020304" pitchFamily="18" charset="0"/>
              </a:rPr>
              <a:t>--high inflation and lagged interest policy response</a:t>
            </a:r>
            <a:r>
              <a:rPr lang="en-GB" sz="800" dirty="0">
                <a:solidFill>
                  <a:schemeClr val="tx1"/>
                </a:solidFill>
                <a:effectLst/>
                <a:latin typeface="Times New Roman" panose="02020603050405020304" pitchFamily="18" charset="0"/>
                <a:ea typeface="Calibri" panose="020F0502020204030204" pitchFamily="34" charset="0"/>
              </a:rPr>
              <a:t>, </a:t>
            </a:r>
          </a:p>
          <a:p>
            <a:pPr marL="0" indent="0">
              <a:lnSpc>
                <a:spcPct val="107000"/>
              </a:lnSpc>
              <a:spcAft>
                <a:spcPts val="0"/>
              </a:spcAft>
              <a:buNone/>
            </a:pPr>
            <a:r>
              <a:rPr lang="en-GB" sz="1200" dirty="0">
                <a:latin typeface="Times New Roman" panose="02020603050405020304" pitchFamily="18" charset="0"/>
                <a:cs typeface="Times New Roman" panose="02020603050405020304" pitchFamily="18" charset="0"/>
              </a:rPr>
              <a:t>---forecast to pick up on late 2022 level, as nominal interest rates rise and inflation eases, </a:t>
            </a:r>
          </a:p>
          <a:p>
            <a:pPr marL="0" indent="0">
              <a:lnSpc>
                <a:spcPct val="107000"/>
              </a:lnSpc>
              <a:spcAft>
                <a:spcPts val="0"/>
              </a:spcAft>
              <a:buNone/>
            </a:pPr>
            <a:r>
              <a:rPr lang="en-GB" sz="1200" dirty="0">
                <a:latin typeface="Times New Roman" panose="02020603050405020304" pitchFamily="18" charset="0"/>
                <a:cs typeface="Times New Roman" panose="02020603050405020304" pitchFamily="18" charset="0"/>
              </a:rPr>
              <a:t>---forecast to remain below its trend level of 2-2.5% and even slightly drop in mid-2025 </a:t>
            </a:r>
          </a:p>
          <a:p>
            <a:pPr marL="274638" lvl="1" indent="0" algn="just">
              <a:spcAft>
                <a:spcPts val="0"/>
              </a:spcAft>
              <a:buNone/>
            </a:pPr>
            <a:r>
              <a:rPr lang="en-GB" sz="900" dirty="0">
                <a:solidFill>
                  <a:schemeClr val="tx1"/>
                </a:solidFill>
                <a:latin typeface="Times New Roman" panose="02020603050405020304" pitchFamily="18" charset="0"/>
                <a:ea typeface="Calibri" panose="020F0502020204030204" pitchFamily="34" charset="0"/>
              </a:rPr>
              <a:t>--</a:t>
            </a:r>
            <a:r>
              <a:rPr lang="en-GB" sz="900" dirty="0">
                <a:solidFill>
                  <a:schemeClr val="tx1"/>
                </a:solidFill>
                <a:effectLst/>
                <a:latin typeface="Times New Roman" panose="02020603050405020304" pitchFamily="18" charset="0"/>
                <a:ea typeface="Calibri" panose="020F0502020204030204" pitchFamily="34" charset="0"/>
              </a:rPr>
              <a:t>as inflation flares up temporarily due to demand pressure </a:t>
            </a:r>
          </a:p>
        </p:txBody>
      </p:sp>
      <p:sp>
        <p:nvSpPr>
          <p:cNvPr id="19" name="Content Placeholder 2">
            <a:extLst>
              <a:ext uri="{FF2B5EF4-FFF2-40B4-BE49-F238E27FC236}">
                <a16:creationId xmlns:a16="http://schemas.microsoft.com/office/drawing/2014/main" id="{50282A89-5A54-B4AC-E129-FCCC9913F783}"/>
              </a:ext>
            </a:extLst>
          </p:cNvPr>
          <p:cNvSpPr txBox="1">
            <a:spLocks/>
          </p:cNvSpPr>
          <p:nvPr/>
        </p:nvSpPr>
        <p:spPr>
          <a:xfrm>
            <a:off x="3196238" y="3544556"/>
            <a:ext cx="3057461" cy="2857503"/>
          </a:xfrm>
          <a:prstGeom prst="rect">
            <a:avLst/>
          </a:prstGeom>
          <a:ln>
            <a:solidFill>
              <a:schemeClr val="accent5"/>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Bef>
                <a:spcPts val="0"/>
              </a:spcBef>
              <a:spcAft>
                <a:spcPts val="0"/>
              </a:spcAft>
              <a:buNone/>
            </a:pPr>
            <a:r>
              <a:rPr lang="en-GB" sz="1400" b="1" dirty="0">
                <a:solidFill>
                  <a:srgbClr val="0070C0"/>
                </a:solidFill>
                <a:latin typeface="Times New Roman" panose="02020603050405020304" pitchFamily="18" charset="0"/>
              </a:rPr>
              <a:t>d</a:t>
            </a:r>
            <a:r>
              <a:rPr lang="en-US" sz="1400" b="1" dirty="0">
                <a:solidFill>
                  <a:srgbClr val="0070C0"/>
                </a:solidFill>
                <a:latin typeface="Times New Roman" panose="02020603050405020304" pitchFamily="18" charset="0"/>
              </a:rPr>
              <a:t>rivers of policy rule in 2024:</a:t>
            </a:r>
            <a:endParaRPr lang="en-RW" sz="1400" b="1" dirty="0">
              <a:solidFill>
                <a:srgbClr val="0070C0"/>
              </a:solidFill>
              <a:latin typeface="Times New Roman" panose="02020603050405020304" pitchFamily="18" charset="0"/>
            </a:endParaRPr>
          </a:p>
          <a:p>
            <a:pPr marL="0" indent="0">
              <a:lnSpc>
                <a:spcPct val="107000"/>
              </a:lnSpc>
              <a:spcBef>
                <a:spcPts val="0"/>
              </a:spcBef>
              <a:spcAft>
                <a:spcPts val="0"/>
              </a:spcAft>
              <a:buNone/>
            </a:pPr>
            <a:r>
              <a:rPr lang="en-US" sz="1200" dirty="0">
                <a:latin typeface="Times New Roman" panose="02020603050405020304" pitchFamily="18" charset="0"/>
                <a:cs typeface="Times New Roman" panose="02020603050405020304" pitchFamily="18" charset="0"/>
              </a:rPr>
              <a:t>--expected inflation deviation from target (-)</a:t>
            </a:r>
            <a:endParaRPr lang="en-RW" sz="1200" dirty="0">
              <a:latin typeface="Times New Roman" panose="02020603050405020304" pitchFamily="18" charset="0"/>
              <a:cs typeface="Times New Roman" panose="02020603050405020304" pitchFamily="18" charset="0"/>
            </a:endParaRPr>
          </a:p>
          <a:p>
            <a:pPr marL="0" indent="0">
              <a:lnSpc>
                <a:spcPct val="107000"/>
              </a:lnSpc>
              <a:spcBef>
                <a:spcPct val="0"/>
              </a:spcBef>
              <a:spcAft>
                <a:spcPts val="0"/>
              </a:spcAft>
              <a:buNone/>
            </a:pPr>
            <a:r>
              <a:rPr lang="en-US" sz="1200" dirty="0">
                <a:latin typeface="Times New Roman" panose="02020603050405020304" pitchFamily="18" charset="0"/>
                <a:cs typeface="Times New Roman" panose="02020603050405020304" pitchFamily="18" charset="0"/>
              </a:rPr>
              <a:t>--negative output gap (-)</a:t>
            </a:r>
            <a:endParaRPr lang="en-RW" sz="1200" dirty="0">
              <a:latin typeface="Times New Roman" panose="02020603050405020304" pitchFamily="18" charset="0"/>
              <a:cs typeface="Times New Roman" panose="02020603050405020304" pitchFamily="18" charset="0"/>
            </a:endParaRPr>
          </a:p>
          <a:p>
            <a:pPr marL="0" indent="0">
              <a:lnSpc>
                <a:spcPct val="107000"/>
              </a:lnSpc>
              <a:spcBef>
                <a:spcPct val="0"/>
              </a:spcBef>
              <a:spcAft>
                <a:spcPts val="0"/>
              </a:spcAft>
              <a:buNone/>
            </a:pPr>
            <a:r>
              <a:rPr lang="en-US" sz="1200" dirty="0">
                <a:latin typeface="Times New Roman" panose="02020603050405020304" pitchFamily="18" charset="0"/>
                <a:cs typeface="Times New Roman" panose="02020603050405020304" pitchFamily="18" charset="0"/>
              </a:rPr>
              <a:t>--pull from neutral interest rate (7%) (+)</a:t>
            </a:r>
            <a:endParaRPr lang="en-RW" sz="1200" dirty="0">
              <a:latin typeface="Times New Roman" panose="02020603050405020304" pitchFamily="18" charset="0"/>
              <a:cs typeface="Times New Roman" panose="02020603050405020304" pitchFamily="18" charset="0"/>
            </a:endParaRPr>
          </a:p>
          <a:p>
            <a:pPr marL="0" indent="0">
              <a:lnSpc>
                <a:spcPct val="107000"/>
              </a:lnSpc>
              <a:spcBef>
                <a:spcPct val="0"/>
              </a:spcBef>
              <a:spcAft>
                <a:spcPts val="0"/>
              </a:spcAft>
              <a:buNone/>
            </a:pPr>
            <a:r>
              <a:rPr lang="en-US" sz="1200" dirty="0">
                <a:latin typeface="Times New Roman" panose="02020603050405020304" pitchFamily="18" charset="0"/>
                <a:cs typeface="Times New Roman" panose="02020603050405020304" pitchFamily="18" charset="0"/>
              </a:rPr>
              <a:t>--gradual interest rate changes, (lagged effect)</a:t>
            </a:r>
          </a:p>
          <a:p>
            <a:pPr marL="0" indent="0">
              <a:lnSpc>
                <a:spcPct val="107000"/>
              </a:lnSpc>
              <a:spcBef>
                <a:spcPct val="0"/>
              </a:spcBef>
              <a:spcAft>
                <a:spcPts val="0"/>
              </a:spcAft>
              <a:buNone/>
            </a:pPr>
            <a:r>
              <a:rPr lang="en-GB" sz="1200" b="1" dirty="0">
                <a:effectLst/>
                <a:latin typeface="Times New Roman" panose="02020603050405020304" pitchFamily="18" charset="0"/>
                <a:ea typeface="Calibri" panose="020F0502020204030204" pitchFamily="34" charset="0"/>
              </a:rPr>
              <a:t>IB rate, %</a:t>
            </a:r>
            <a:endParaRPr lang="en-US" sz="1200" dirty="0">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07000"/>
              </a:lnSpc>
              <a:spcBef>
                <a:spcPct val="0"/>
              </a:spcBef>
              <a:spcAft>
                <a:spcPts val="600"/>
              </a:spcAft>
              <a:buClrTx/>
              <a:buSzTx/>
              <a:buFontTx/>
              <a:buNone/>
              <a:tabLst/>
              <a:defRPr/>
            </a:pPr>
            <a:r>
              <a:rPr kumimoji="0" lang="en-US" sz="1100" b="0" i="0" u="none" strike="noStrike" kern="1200" cap="none" spc="0" normalizeH="0" baseline="0" noProof="0" dirty="0">
                <a:ln>
                  <a:noFill/>
                </a:ln>
                <a:effectLst/>
                <a:uLnTx/>
                <a:uFillTx/>
                <a:latin typeface="Times New Roman" panose="02020603050405020304" pitchFamily="18" charset="0"/>
                <a:ea typeface="ＭＳ Ｐゴシック" charset="-128"/>
                <a:cs typeface="Times New Roman" panose="02020603050405020304" pitchFamily="18" charset="0"/>
              </a:rPr>
              <a:t>--</a:t>
            </a:r>
            <a:r>
              <a:rPr kumimoji="0" lang="en-GB" sz="1100" b="0" i="0" u="none" strike="noStrike" kern="1200" cap="none" spc="0" normalizeH="0" baseline="0" noProof="0" dirty="0">
                <a:ln>
                  <a:noFill/>
                </a:ln>
                <a:effectLst/>
                <a:uLnTx/>
                <a:uFillTx/>
                <a:latin typeface="Times New Roman" panose="02020603050405020304" pitchFamily="18" charset="0"/>
                <a:ea typeface="ＭＳ Ｐゴシック" charset="-128"/>
                <a:cs typeface="Times New Roman" panose="02020603050405020304" pitchFamily="18" charset="0"/>
              </a:rPr>
              <a:t>gradually lowered from its peak of close to 8% in August 2023 to around 6½% in late 2024 </a:t>
            </a:r>
            <a:endParaRPr kumimoji="0" lang="en-RW" sz="1100" b="0" i="0" u="none" strike="noStrike" kern="1200" cap="none" spc="0" normalizeH="0" baseline="0" noProof="0" dirty="0">
              <a:ln>
                <a:noFill/>
              </a:ln>
              <a:effectLst/>
              <a:uLnTx/>
              <a:uFillTx/>
              <a:latin typeface="Times New Roman" panose="02020603050405020304" pitchFamily="18" charset="0"/>
              <a:ea typeface="ＭＳ Ｐゴシック" charset="-128"/>
              <a:cs typeface="Times New Roman" panose="02020603050405020304" pitchFamily="18" charset="0"/>
            </a:endParaRPr>
          </a:p>
          <a:p>
            <a:pPr marL="182562" indent="0" eaLnBrk="1" hangingPunct="1">
              <a:lnSpc>
                <a:spcPct val="107000"/>
              </a:lnSpc>
              <a:spcBef>
                <a:spcPct val="0"/>
              </a:spcBef>
              <a:spcAft>
                <a:spcPts val="600"/>
              </a:spcAft>
              <a:buClrTx/>
              <a:buSzTx/>
              <a:buNone/>
              <a:defRPr/>
            </a:pPr>
            <a:r>
              <a:rPr kumimoji="0" lang="en-US" sz="1100" b="0" i="0" u="none" strike="noStrike" kern="1200" cap="none" spc="0" normalizeH="0" baseline="0" noProof="0" dirty="0">
                <a:ln>
                  <a:noFill/>
                </a:ln>
                <a:effectLst/>
                <a:uLnTx/>
                <a:uFillTx/>
                <a:latin typeface="Times New Roman" panose="02020603050405020304" pitchFamily="18" charset="0"/>
                <a:ea typeface="Calibri" panose="020F0502020204030204" pitchFamily="34" charset="0"/>
                <a:cs typeface="Times New Roman" panose="02020603050405020304" pitchFamily="18" charset="0"/>
              </a:rPr>
              <a:t>--as inflation drops below the 5% target and a negative output gap remains.</a:t>
            </a:r>
          </a:p>
          <a:p>
            <a:pPr marL="0" indent="0" eaLnBrk="1" hangingPunct="1">
              <a:lnSpc>
                <a:spcPct val="107000"/>
              </a:lnSpc>
              <a:spcBef>
                <a:spcPct val="0"/>
              </a:spcBef>
              <a:spcAft>
                <a:spcPts val="600"/>
              </a:spcAft>
              <a:buClrTx/>
              <a:buSzTx/>
              <a:buNone/>
              <a:defRPr/>
            </a:pPr>
            <a:r>
              <a:rPr lang="en-US" sz="1100" dirty="0">
                <a:latin typeface="Times New Roman" panose="02020603050405020304" pitchFamily="18" charset="0"/>
                <a:cs typeface="Times New Roman" panose="02020603050405020304" pitchFamily="18" charset="0"/>
              </a:rPr>
              <a:t>from mid-2025, converges to its trend/neutral level (7.5%</a:t>
            </a:r>
            <a:endParaRPr lang="en-RW" sz="1100" dirty="0">
              <a:latin typeface="Times New Roman" panose="02020603050405020304" pitchFamily="18" charset="0"/>
              <a:cs typeface="Times New Roman" panose="02020603050405020304" pitchFamily="18" charset="0"/>
            </a:endParaRPr>
          </a:p>
          <a:p>
            <a:pPr marL="0" indent="0">
              <a:spcBef>
                <a:spcPct val="0"/>
              </a:spcBef>
              <a:buNone/>
            </a:pPr>
            <a:endParaRPr lang="en-GB" sz="1200" dirty="0">
              <a:solidFill>
                <a:srgbClr val="2F5496"/>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7C6A6C3-593C-B257-E7E0-E51CE12DDE8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0026" y="1217450"/>
            <a:ext cx="2913925" cy="2255520"/>
          </a:xfrm>
          <a:prstGeom prst="rect">
            <a:avLst/>
          </a:prstGeom>
          <a:noFill/>
          <a:ln>
            <a:noFill/>
          </a:ln>
        </p:spPr>
      </p:pic>
      <p:pic>
        <p:nvPicPr>
          <p:cNvPr id="6" name="Picture 5">
            <a:extLst>
              <a:ext uri="{FF2B5EF4-FFF2-40B4-BE49-F238E27FC236}">
                <a16:creationId xmlns:a16="http://schemas.microsoft.com/office/drawing/2014/main" id="{06DFAB52-42A7-4FCB-9010-D4BE664149C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96238" y="1220078"/>
            <a:ext cx="3045638" cy="2252892"/>
          </a:xfrm>
          <a:prstGeom prst="rect">
            <a:avLst/>
          </a:prstGeom>
          <a:noFill/>
          <a:ln>
            <a:noFill/>
          </a:ln>
        </p:spPr>
      </p:pic>
      <p:pic>
        <p:nvPicPr>
          <p:cNvPr id="13" name="Picture 12">
            <a:extLst>
              <a:ext uri="{FF2B5EF4-FFF2-40B4-BE49-F238E27FC236}">
                <a16:creationId xmlns:a16="http://schemas.microsoft.com/office/drawing/2014/main" id="{12D3AFFD-DE9E-B7B4-618D-5886C5E60DBB}"/>
              </a:ext>
            </a:extLst>
          </p:cNvPr>
          <p:cNvPicPr>
            <a:picLocks noChangeAspect="1"/>
          </p:cNvPicPr>
          <p:nvPr/>
        </p:nvPicPr>
        <p:blipFill>
          <a:blip r:embed="rId4"/>
          <a:stretch>
            <a:fillRect/>
          </a:stretch>
        </p:blipFill>
        <p:spPr>
          <a:xfrm>
            <a:off x="6370711" y="1217450"/>
            <a:ext cx="2641600" cy="2211550"/>
          </a:xfrm>
          <a:prstGeom prst="rect">
            <a:avLst/>
          </a:prstGeom>
        </p:spPr>
      </p:pic>
      <p:pic>
        <p:nvPicPr>
          <p:cNvPr id="5" name="Picture 4">
            <a:extLst>
              <a:ext uri="{FF2B5EF4-FFF2-40B4-BE49-F238E27FC236}">
                <a16:creationId xmlns:a16="http://schemas.microsoft.com/office/drawing/2014/main" id="{B8054E6F-7917-A35D-4308-76839E09F2B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05422" y="1232690"/>
            <a:ext cx="2872976" cy="2196310"/>
          </a:xfrm>
          <a:prstGeom prst="rect">
            <a:avLst/>
          </a:prstGeom>
          <a:noFill/>
          <a:ln>
            <a:noFill/>
          </a:ln>
        </p:spPr>
      </p:pic>
    </p:spTree>
    <p:extLst>
      <p:ext uri="{BB962C8B-B14F-4D97-AF65-F5344CB8AC3E}">
        <p14:creationId xmlns:p14="http://schemas.microsoft.com/office/powerpoint/2010/main" val="37054511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C94FF-3715-83D7-A3A5-F73D7D616784}"/>
              </a:ext>
            </a:extLst>
          </p:cNvPr>
          <p:cNvSpPr>
            <a:spLocks noGrp="1"/>
          </p:cNvSpPr>
          <p:nvPr>
            <p:ph type="title"/>
          </p:nvPr>
        </p:nvSpPr>
        <p:spPr>
          <a:xfrm>
            <a:off x="1600200" y="239630"/>
            <a:ext cx="10261600" cy="709056"/>
          </a:xfrm>
        </p:spPr>
        <p:txBody>
          <a:bodyPr/>
          <a:lstStyle/>
          <a:p>
            <a:r>
              <a:rPr kumimoji="0" lang="en-GB" sz="2800" b="1" i="0" u="none" strike="noStrike" kern="1200" cap="none" spc="0" normalizeH="0" baseline="0" noProof="0" dirty="0">
                <a:ln>
                  <a:noFill/>
                </a:ln>
                <a:solidFill>
                  <a:prstClr val="black"/>
                </a:solidFill>
                <a:effectLst/>
                <a:uLnTx/>
                <a:uFillTx/>
                <a:latin typeface="Gill Sans MT"/>
                <a:ea typeface="ＭＳ Ｐゴシック" charset="-128"/>
                <a:cs typeface="+mj-cs"/>
              </a:rPr>
              <a:t>Forecast—</a:t>
            </a:r>
            <a:r>
              <a:rPr kumimoji="0" lang="en-US" sz="2800" b="1" i="0" u="none" strike="noStrike" kern="1200" cap="none" spc="0" normalizeH="0" baseline="0" noProof="0" dirty="0">
                <a:ln>
                  <a:noFill/>
                </a:ln>
                <a:solidFill>
                  <a:prstClr val="black"/>
                </a:solidFill>
                <a:effectLst/>
                <a:uLnTx/>
                <a:uFillTx/>
                <a:latin typeface="Gill Sans MT"/>
                <a:ea typeface="ＭＳ Ｐゴシック" charset="-128"/>
                <a:cs typeface="+mj-cs"/>
              </a:rPr>
              <a:t>Nominal and Real Exchange </a:t>
            </a:r>
            <a:r>
              <a:rPr lang="en-US" b="1" dirty="0">
                <a:solidFill>
                  <a:prstClr val="black"/>
                </a:solidFill>
                <a:latin typeface="Gill Sans MT"/>
              </a:rPr>
              <a:t>R</a:t>
            </a:r>
            <a:r>
              <a:rPr kumimoji="0" lang="en-US" sz="2800" b="1" i="0" u="none" strike="noStrike" kern="1200" cap="none" spc="0" normalizeH="0" baseline="0" noProof="0" dirty="0">
                <a:ln>
                  <a:noFill/>
                </a:ln>
                <a:solidFill>
                  <a:prstClr val="black"/>
                </a:solidFill>
                <a:effectLst/>
                <a:uLnTx/>
                <a:uFillTx/>
                <a:latin typeface="Gill Sans MT"/>
                <a:ea typeface="ＭＳ Ｐゴシック" charset="-128"/>
                <a:cs typeface="+mj-cs"/>
              </a:rPr>
              <a:t>ate </a:t>
            </a:r>
            <a:r>
              <a:rPr kumimoji="0" lang="en-US" sz="2800" b="0" i="0" u="none" strike="noStrike" kern="1200" cap="none" spc="0" normalizeH="0" baseline="0" noProof="0" dirty="0">
                <a:ln>
                  <a:noFill/>
                </a:ln>
                <a:solidFill>
                  <a:prstClr val="black"/>
                </a:solidFill>
                <a:effectLst/>
                <a:uLnTx/>
                <a:uFillTx/>
                <a:latin typeface="Gill Sans MT"/>
                <a:ea typeface="ＭＳ Ｐゴシック" charset="-128"/>
                <a:cs typeface="+mj-cs"/>
              </a:rPr>
              <a:t>(ER &amp; RER)</a:t>
            </a:r>
            <a:endParaRPr lang="en-RW" dirty="0">
              <a:solidFill>
                <a:schemeClr val="accent4">
                  <a:lumMod val="50000"/>
                </a:schemeClr>
              </a:solidFill>
            </a:endParaRPr>
          </a:p>
        </p:txBody>
      </p:sp>
      <p:sp>
        <p:nvSpPr>
          <p:cNvPr id="3" name="Slide Number Placeholder 2">
            <a:extLst>
              <a:ext uri="{FF2B5EF4-FFF2-40B4-BE49-F238E27FC236}">
                <a16:creationId xmlns:a16="http://schemas.microsoft.com/office/drawing/2014/main" id="{FAFBB090-AFD0-7F99-80A5-8B5522B2B0EA}"/>
              </a:ext>
            </a:extLst>
          </p:cNvPr>
          <p:cNvSpPr>
            <a:spLocks noGrp="1"/>
          </p:cNvSpPr>
          <p:nvPr>
            <p:ph type="sldNum" sz="quarter" idx="10"/>
          </p:nvPr>
        </p:nvSpPr>
        <p:spPr/>
        <p:txBody>
          <a:bodyPr/>
          <a:lstStyle/>
          <a:p>
            <a:fld id="{D97AE203-F84D-4A7F-B161-8561326BE072}" type="slidenum">
              <a:rPr lang="en-US" smtClean="0"/>
              <a:pPr/>
              <a:t>21</a:t>
            </a:fld>
            <a:endParaRPr lang="en-US" dirty="0"/>
          </a:p>
        </p:txBody>
      </p:sp>
      <p:sp>
        <p:nvSpPr>
          <p:cNvPr id="15" name="Content Placeholder 2">
            <a:extLst>
              <a:ext uri="{FF2B5EF4-FFF2-40B4-BE49-F238E27FC236}">
                <a16:creationId xmlns:a16="http://schemas.microsoft.com/office/drawing/2014/main" id="{71DDEE4A-9C67-3AC4-5A2E-AC24191F73B5}"/>
              </a:ext>
            </a:extLst>
          </p:cNvPr>
          <p:cNvSpPr txBox="1">
            <a:spLocks/>
          </p:cNvSpPr>
          <p:nvPr/>
        </p:nvSpPr>
        <p:spPr>
          <a:xfrm>
            <a:off x="5943600" y="3544556"/>
            <a:ext cx="6034799" cy="2872120"/>
          </a:xfrm>
          <a:prstGeom prst="rect">
            <a:avLst/>
          </a:prstGeom>
          <a:ln>
            <a:solidFill>
              <a:schemeClr val="accent5"/>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Bef>
                <a:spcPts val="0"/>
              </a:spcBef>
              <a:spcAft>
                <a:spcPts val="0"/>
              </a:spcAft>
              <a:buNone/>
            </a:pPr>
            <a:r>
              <a:rPr lang="en-GB" sz="1400" b="1" dirty="0">
                <a:solidFill>
                  <a:srgbClr val="0070C0"/>
                </a:solidFill>
                <a:latin typeface="Times New Roman" panose="02020603050405020304" pitchFamily="18" charset="0"/>
              </a:rPr>
              <a:t>RER, </a:t>
            </a:r>
            <a:r>
              <a:rPr lang="en-GB" sz="1400" b="1" dirty="0" err="1">
                <a:solidFill>
                  <a:srgbClr val="0070C0"/>
                </a:solidFill>
                <a:latin typeface="Times New Roman" panose="02020603050405020304" pitchFamily="18" charset="0"/>
              </a:rPr>
              <a:t>QoQ</a:t>
            </a:r>
            <a:r>
              <a:rPr lang="en-GB" sz="1400" b="1" dirty="0">
                <a:solidFill>
                  <a:srgbClr val="0070C0"/>
                </a:solidFill>
                <a:latin typeface="Times New Roman" panose="02020603050405020304" pitchFamily="18" charset="0"/>
              </a:rPr>
              <a:t>%</a:t>
            </a:r>
          </a:p>
          <a:p>
            <a:pPr marL="0" indent="0">
              <a:lnSpc>
                <a:spcPct val="107000"/>
              </a:lnSpc>
              <a:spcAft>
                <a:spcPts val="0"/>
              </a:spcAft>
              <a:buNone/>
            </a:pPr>
            <a:r>
              <a:rPr lang="en-GB" sz="1400" dirty="0">
                <a:latin typeface="Times New Roman" panose="02020603050405020304" pitchFamily="18" charset="0"/>
              </a:rPr>
              <a:t>---slowdown in the pace of depreciation (from its high in 2023) to return gradually to its (zero) trend level</a:t>
            </a:r>
          </a:p>
          <a:p>
            <a:pPr marL="0" indent="0">
              <a:lnSpc>
                <a:spcPct val="107000"/>
              </a:lnSpc>
              <a:spcAft>
                <a:spcPts val="0"/>
              </a:spcAft>
              <a:buNone/>
            </a:pPr>
            <a:r>
              <a:rPr lang="en-GB" sz="1400" dirty="0">
                <a:latin typeface="Times New Roman" panose="02020603050405020304" pitchFamily="18" charset="0"/>
              </a:rPr>
              <a:t>---overvaluation induced by the 2022-23 inflation episode continues to be reduced and is forecast to be close to zero from 2024</a:t>
            </a:r>
          </a:p>
          <a:p>
            <a:pPr marL="0" indent="0">
              <a:lnSpc>
                <a:spcPct val="107000"/>
              </a:lnSpc>
              <a:spcAft>
                <a:spcPts val="0"/>
              </a:spcAft>
              <a:buNone/>
            </a:pPr>
            <a:r>
              <a:rPr lang="en-GB" sz="1400" dirty="0">
                <a:latin typeface="Times New Roman" panose="02020603050405020304" pitchFamily="18" charset="0"/>
              </a:rPr>
              <a:t>---upward correction estimated to favourably affect net exports and demand (reversing a sharp RER decline during 2021-22) </a:t>
            </a:r>
          </a:p>
          <a:p>
            <a:pPr marL="0" indent="0">
              <a:lnSpc>
                <a:spcPct val="107000"/>
              </a:lnSpc>
              <a:spcAft>
                <a:spcPts val="0"/>
              </a:spcAft>
              <a:buNone/>
            </a:pPr>
            <a:r>
              <a:rPr lang="en-GB" sz="1400" dirty="0">
                <a:latin typeface="Times New Roman" panose="02020603050405020304" pitchFamily="18" charset="0"/>
              </a:rPr>
              <a:t>---rise to its trend level (with some overshooting in 2024) and to affect demand favourably in 2023-24.</a:t>
            </a:r>
          </a:p>
          <a:p>
            <a:pPr marL="274638" lvl="1" indent="0">
              <a:lnSpc>
                <a:spcPct val="107000"/>
              </a:lnSpc>
              <a:spcBef>
                <a:spcPts val="0"/>
              </a:spcBef>
              <a:spcAft>
                <a:spcPts val="0"/>
              </a:spcAft>
              <a:buNone/>
            </a:pPr>
            <a:r>
              <a:rPr lang="en-GB" dirty="0">
                <a:latin typeface="Times New Roman" panose="02020603050405020304" pitchFamily="18" charset="0"/>
              </a:rPr>
              <a:t> </a:t>
            </a:r>
            <a:r>
              <a:rPr lang="en-GB" sz="700" dirty="0">
                <a:latin typeface="Times New Roman" panose="02020603050405020304" pitchFamily="18" charset="0"/>
              </a:rPr>
              <a:t>---after o</a:t>
            </a:r>
            <a:r>
              <a:rPr lang="en-GB" sz="700" dirty="0">
                <a:effectLst/>
                <a:latin typeface="Times New Roman" panose="02020603050405020304" pitchFamily="18" charset="0"/>
                <a:ea typeface="Calibri" panose="020F0502020204030204" pitchFamily="34" charset="0"/>
              </a:rPr>
              <a:t>vervalued RER had a downward effect on net exports demand in 2021 when the economy emerged from Covid</a:t>
            </a:r>
            <a:endParaRPr lang="en-RW" sz="1000" dirty="0">
              <a:latin typeface="Times New Roman" panose="02020603050405020304" pitchFamily="18" charset="0"/>
            </a:endParaRPr>
          </a:p>
        </p:txBody>
      </p:sp>
      <p:sp>
        <p:nvSpPr>
          <p:cNvPr id="19" name="Content Placeholder 2">
            <a:extLst>
              <a:ext uri="{FF2B5EF4-FFF2-40B4-BE49-F238E27FC236}">
                <a16:creationId xmlns:a16="http://schemas.microsoft.com/office/drawing/2014/main" id="{50282A89-5A54-B4AC-E129-FCCC9913F783}"/>
              </a:ext>
            </a:extLst>
          </p:cNvPr>
          <p:cNvSpPr txBox="1">
            <a:spLocks/>
          </p:cNvSpPr>
          <p:nvPr/>
        </p:nvSpPr>
        <p:spPr>
          <a:xfrm>
            <a:off x="213603" y="3544556"/>
            <a:ext cx="5577598" cy="2857503"/>
          </a:xfrm>
          <a:prstGeom prst="rect">
            <a:avLst/>
          </a:prstGeom>
          <a:ln>
            <a:solidFill>
              <a:schemeClr val="accent5"/>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lnSpc>
                <a:spcPct val="107000"/>
              </a:lnSpc>
              <a:spcBef>
                <a:spcPts val="0"/>
              </a:spcBef>
              <a:spcAft>
                <a:spcPts val="0"/>
              </a:spcAft>
              <a:buNone/>
            </a:pPr>
            <a:r>
              <a:rPr lang="en-GB" sz="1400" b="1" dirty="0">
                <a:solidFill>
                  <a:srgbClr val="0070C0"/>
                </a:solidFill>
                <a:latin typeface="Times New Roman" panose="02020603050405020304" pitchFamily="18" charset="0"/>
              </a:rPr>
              <a:t>nominal ER, </a:t>
            </a:r>
            <a:r>
              <a:rPr lang="en-GB" sz="1400" b="1" dirty="0" err="1">
                <a:solidFill>
                  <a:srgbClr val="0070C0"/>
                </a:solidFill>
                <a:latin typeface="Times New Roman" panose="02020603050405020304" pitchFamily="18" charset="0"/>
              </a:rPr>
              <a:t>QoQ</a:t>
            </a:r>
            <a:r>
              <a:rPr lang="en-GB" sz="1400" b="1" dirty="0">
                <a:solidFill>
                  <a:srgbClr val="0070C0"/>
                </a:solidFill>
                <a:latin typeface="Times New Roman" panose="02020603050405020304" pitchFamily="18" charset="0"/>
              </a:rPr>
              <a:t>%</a:t>
            </a:r>
          </a:p>
          <a:p>
            <a:pPr marL="0" indent="0">
              <a:lnSpc>
                <a:spcPct val="107000"/>
              </a:lnSpc>
              <a:spcBef>
                <a:spcPts val="0"/>
              </a:spcBef>
              <a:spcAft>
                <a:spcPts val="0"/>
              </a:spcAft>
              <a:buNone/>
            </a:pPr>
            <a:r>
              <a:rPr lang="en-GB" sz="1800" dirty="0">
                <a:latin typeface="Times New Roman" panose="02020603050405020304" pitchFamily="18" charset="0"/>
              </a:rPr>
              <a:t>---forecast reflects NBR’s flexible exchange rate policy and its hybrid rule in practice </a:t>
            </a:r>
          </a:p>
          <a:p>
            <a:pPr marL="274638" lvl="1" indent="0">
              <a:lnSpc>
                <a:spcPct val="107000"/>
              </a:lnSpc>
              <a:spcBef>
                <a:spcPts val="0"/>
              </a:spcBef>
              <a:spcAft>
                <a:spcPts val="0"/>
              </a:spcAft>
              <a:buNone/>
            </a:pPr>
            <a:r>
              <a:rPr lang="en-GB" sz="1050" dirty="0">
                <a:latin typeface="Times New Roman" panose="02020603050405020304" pitchFamily="18" charset="0"/>
                <a:ea typeface="Calibri" panose="020F0502020204030204" pitchFamily="34" charset="0"/>
              </a:rPr>
              <a:t>--</a:t>
            </a:r>
            <a:r>
              <a:rPr lang="en-GB" sz="1050" dirty="0">
                <a:effectLst/>
                <a:latin typeface="Times New Roman" panose="02020603050405020304" pitchFamily="18" charset="0"/>
                <a:ea typeface="Calibri" panose="020F0502020204030204" pitchFamily="34" charset="0"/>
              </a:rPr>
              <a:t>steering the ER to the </a:t>
            </a:r>
            <a:r>
              <a:rPr lang="en-GB" sz="1050" b="1" dirty="0">
                <a:solidFill>
                  <a:srgbClr val="4472C4"/>
                </a:solidFill>
                <a:effectLst/>
                <a:latin typeface="Times New Roman" panose="02020603050405020304" pitchFamily="18" charset="0"/>
                <a:ea typeface="Calibri" panose="020F0502020204030204" pitchFamily="34" charset="0"/>
              </a:rPr>
              <a:t>target ER</a:t>
            </a:r>
            <a:r>
              <a:rPr lang="en-GB" sz="1050" dirty="0">
                <a:effectLst/>
                <a:latin typeface="Times New Roman" panose="02020603050405020304" pitchFamily="18" charset="0"/>
                <a:ea typeface="Calibri" panose="020F0502020204030204" pitchFamily="34" charset="0"/>
              </a:rPr>
              <a:t> such that the RER gradually matches the target depreciation rate</a:t>
            </a:r>
            <a:endParaRPr lang="en-US" sz="1050" dirty="0">
              <a:latin typeface="Times New Roman" panose="02020603050405020304" pitchFamily="18" charset="0"/>
              <a:cs typeface="Times New Roman" panose="02020603050405020304" pitchFamily="18" charset="0"/>
            </a:endParaRPr>
          </a:p>
          <a:p>
            <a:pPr marL="0" indent="0">
              <a:spcBef>
                <a:spcPct val="0"/>
              </a:spcBef>
              <a:buNone/>
            </a:pPr>
            <a:r>
              <a:rPr lang="en-GB" sz="1800" dirty="0">
                <a:effectLst/>
                <a:latin typeface="Times New Roman" panose="02020603050405020304" pitchFamily="18" charset="0"/>
                <a:ea typeface="Calibri" panose="020F0502020204030204" pitchFamily="34" charset="0"/>
              </a:rPr>
              <a:t>---continue its recent fast depreciation than target (</a:t>
            </a:r>
            <a:r>
              <a:rPr lang="en-GB" sz="1400" dirty="0">
                <a:effectLst/>
                <a:latin typeface="Times New Roman" panose="02020603050405020304" pitchFamily="18" charset="0"/>
                <a:ea typeface="Calibri" panose="020F0502020204030204" pitchFamily="34" charset="0"/>
              </a:rPr>
              <a:t>annualized 15% for most of 2023</a:t>
            </a:r>
            <a:r>
              <a:rPr lang="en-GB" sz="1800" dirty="0">
                <a:effectLst/>
                <a:latin typeface="Times New Roman" panose="02020603050405020304" pitchFamily="18" charset="0"/>
                <a:ea typeface="Calibri" panose="020F0502020204030204" pitchFamily="34" charset="0"/>
              </a:rPr>
              <a:t>)</a:t>
            </a:r>
          </a:p>
          <a:p>
            <a:pPr marL="0" indent="0">
              <a:spcBef>
                <a:spcPct val="0"/>
              </a:spcBef>
              <a:buNone/>
            </a:pPr>
            <a:r>
              <a:rPr lang="en-GB" sz="1800" dirty="0">
                <a:latin typeface="Times New Roman" panose="02020603050405020304" pitchFamily="18" charset="0"/>
                <a:ea typeface="Calibri" panose="020F0502020204030204" pitchFamily="34" charset="0"/>
              </a:rPr>
              <a:t>---</a:t>
            </a:r>
            <a:r>
              <a:rPr lang="en-GB" sz="1800" dirty="0">
                <a:effectLst/>
                <a:latin typeface="Times New Roman" panose="02020603050405020304" pitchFamily="18" charset="0"/>
                <a:ea typeface="Calibri" panose="020F0502020204030204" pitchFamily="34" charset="0"/>
              </a:rPr>
              <a:t>correcting for the recent overvaluation due to high domestic inflation. </a:t>
            </a:r>
            <a:endParaRPr lang="en-GB" sz="1800" dirty="0">
              <a:latin typeface="Times New Roman" panose="02020603050405020304" pitchFamily="18" charset="0"/>
              <a:ea typeface="Calibri" panose="020F0502020204030204" pitchFamily="34" charset="0"/>
            </a:endParaRPr>
          </a:p>
          <a:p>
            <a:pPr marL="0" indent="0">
              <a:spcBef>
                <a:spcPct val="0"/>
              </a:spcBef>
              <a:buNone/>
            </a:pPr>
            <a:r>
              <a:rPr lang="en-GB" sz="1800" dirty="0">
                <a:effectLst/>
                <a:latin typeface="Times New Roman" panose="02020603050405020304" pitchFamily="18" charset="0"/>
                <a:ea typeface="Calibri" panose="020F0502020204030204" pitchFamily="34" charset="0"/>
              </a:rPr>
              <a:t>---th</a:t>
            </a:r>
            <a:r>
              <a:rPr lang="en-GB" sz="1800" dirty="0">
                <a:latin typeface="Times New Roman" panose="02020603050405020304" pitchFamily="18" charset="0"/>
                <a:ea typeface="Calibri" panose="020F0502020204030204" pitchFamily="34" charset="0"/>
              </a:rPr>
              <a:t>en</a:t>
            </a:r>
            <a:r>
              <a:rPr lang="en-GB" sz="1800" dirty="0">
                <a:effectLst/>
                <a:latin typeface="Times New Roman" panose="02020603050405020304" pitchFamily="18" charset="0"/>
                <a:ea typeface="Calibri" panose="020F0502020204030204" pitchFamily="34" charset="0"/>
              </a:rPr>
              <a:t> returns gradually to the target ER depreciation rate</a:t>
            </a:r>
          </a:p>
          <a:p>
            <a:pPr marL="0" indent="0">
              <a:spcBef>
                <a:spcPct val="0"/>
              </a:spcBef>
              <a:buNone/>
            </a:pPr>
            <a:endParaRPr lang="en-GB" sz="1200" dirty="0">
              <a:solidFill>
                <a:srgbClr val="2F5496"/>
              </a:solidFill>
              <a:latin typeface="Times New Roman" panose="02020603050405020304" pitchFamily="18" charset="0"/>
              <a:cs typeface="Times New Roman" panose="02020603050405020304" pitchFamily="18" charset="0"/>
            </a:endParaRPr>
          </a:p>
        </p:txBody>
      </p:sp>
      <p:pic>
        <p:nvPicPr>
          <p:cNvPr id="22" name="Picture 21">
            <a:extLst>
              <a:ext uri="{FF2B5EF4-FFF2-40B4-BE49-F238E27FC236}">
                <a16:creationId xmlns:a16="http://schemas.microsoft.com/office/drawing/2014/main" id="{CC87422B-804D-407E-9BF6-3203420BA1D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7400" y="1239511"/>
            <a:ext cx="3062605" cy="2014220"/>
          </a:xfrm>
          <a:prstGeom prst="rect">
            <a:avLst/>
          </a:prstGeom>
          <a:noFill/>
          <a:ln>
            <a:noFill/>
          </a:ln>
        </p:spPr>
      </p:pic>
      <p:pic>
        <p:nvPicPr>
          <p:cNvPr id="23" name="Picture 22">
            <a:extLst>
              <a:ext uri="{FF2B5EF4-FFF2-40B4-BE49-F238E27FC236}">
                <a16:creationId xmlns:a16="http://schemas.microsoft.com/office/drawing/2014/main" id="{F6A6DDAC-6990-8F42-48B4-8E1E739F5C2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06205" y="1239510"/>
            <a:ext cx="2957195" cy="2037090"/>
          </a:xfrm>
          <a:prstGeom prst="rect">
            <a:avLst/>
          </a:prstGeom>
          <a:noFill/>
          <a:ln>
            <a:noFill/>
          </a:ln>
        </p:spPr>
      </p:pic>
      <p:pic>
        <p:nvPicPr>
          <p:cNvPr id="25" name="Picture 24">
            <a:extLst>
              <a:ext uri="{FF2B5EF4-FFF2-40B4-BE49-F238E27FC236}">
                <a16:creationId xmlns:a16="http://schemas.microsoft.com/office/drawing/2014/main" id="{C2E6DBBB-4947-2F2C-BC34-AFF0D065A392}"/>
              </a:ext>
            </a:extLst>
          </p:cNvPr>
          <p:cNvPicPr>
            <a:picLocks noChangeAspect="1"/>
          </p:cNvPicPr>
          <p:nvPr/>
        </p:nvPicPr>
        <p:blipFill>
          <a:blip r:embed="rId4"/>
          <a:stretch>
            <a:fillRect/>
          </a:stretch>
        </p:blipFill>
        <p:spPr>
          <a:xfrm>
            <a:off x="2641795" y="1250020"/>
            <a:ext cx="3149405" cy="2037090"/>
          </a:xfrm>
          <a:prstGeom prst="rect">
            <a:avLst/>
          </a:prstGeom>
        </p:spPr>
      </p:pic>
      <p:pic>
        <p:nvPicPr>
          <p:cNvPr id="28" name="Picture 27">
            <a:extLst>
              <a:ext uri="{FF2B5EF4-FFF2-40B4-BE49-F238E27FC236}">
                <a16:creationId xmlns:a16="http://schemas.microsoft.com/office/drawing/2014/main" id="{201EC83C-D273-9B2B-59D4-F2EDC010BBC1}"/>
              </a:ext>
            </a:extLst>
          </p:cNvPr>
          <p:cNvPicPr>
            <a:picLocks noChangeAspect="1"/>
          </p:cNvPicPr>
          <p:nvPr/>
        </p:nvPicPr>
        <p:blipFill>
          <a:blip r:embed="rId5"/>
          <a:stretch>
            <a:fillRect/>
          </a:stretch>
        </p:blipFill>
        <p:spPr>
          <a:xfrm>
            <a:off x="201172" y="1250021"/>
            <a:ext cx="2371725" cy="2037090"/>
          </a:xfrm>
          <a:prstGeom prst="rect">
            <a:avLst/>
          </a:prstGeom>
        </p:spPr>
      </p:pic>
    </p:spTree>
    <p:extLst>
      <p:ext uri="{BB962C8B-B14F-4D97-AF65-F5344CB8AC3E}">
        <p14:creationId xmlns:p14="http://schemas.microsoft.com/office/powerpoint/2010/main" val="26344251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AC75-6C92-AB65-6348-00D2D6D83AFA}"/>
              </a:ext>
            </a:extLst>
          </p:cNvPr>
          <p:cNvSpPr>
            <a:spLocks noGrp="1"/>
          </p:cNvSpPr>
          <p:nvPr>
            <p:ph type="title"/>
          </p:nvPr>
        </p:nvSpPr>
        <p:spPr>
          <a:xfrm>
            <a:off x="1625600" y="304800"/>
            <a:ext cx="9728200" cy="533400"/>
          </a:xfrm>
        </p:spPr>
        <p:txBody>
          <a:bodyPr/>
          <a:lstStyle/>
          <a:p>
            <a:r>
              <a:rPr lang="en-GB" b="1" dirty="0">
                <a:latin typeface="Gill Sans MT" panose="020B0502020104020203" pitchFamily="34" charset="0"/>
              </a:rPr>
              <a:t>Comparison with Macro Framework</a:t>
            </a:r>
            <a:endParaRPr lang="en-AE" dirty="0"/>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22</a:t>
            </a:fld>
            <a:endParaRPr lang="en-US" dirty="0"/>
          </a:p>
        </p:txBody>
      </p:sp>
      <p:pic>
        <p:nvPicPr>
          <p:cNvPr id="5" name="Picture 4">
            <a:extLst>
              <a:ext uri="{FF2B5EF4-FFF2-40B4-BE49-F238E27FC236}">
                <a16:creationId xmlns:a16="http://schemas.microsoft.com/office/drawing/2014/main" id="{79BF6E41-DE78-E4C2-5B42-F06E9B94200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592478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AC75-6C92-AB65-6348-00D2D6D83AFA}"/>
              </a:ext>
            </a:extLst>
          </p:cNvPr>
          <p:cNvSpPr>
            <a:spLocks noGrp="1"/>
          </p:cNvSpPr>
          <p:nvPr>
            <p:ph type="title"/>
          </p:nvPr>
        </p:nvSpPr>
        <p:spPr>
          <a:xfrm>
            <a:off x="1625600" y="304800"/>
            <a:ext cx="9728200" cy="533400"/>
          </a:xfrm>
        </p:spPr>
        <p:txBody>
          <a:bodyPr/>
          <a:lstStyle/>
          <a:p>
            <a:r>
              <a:rPr lang="en-GB" b="1" dirty="0">
                <a:latin typeface="Gill Sans MT" panose="020B0502020104020203" pitchFamily="34" charset="0"/>
              </a:rPr>
              <a:t>Comparison with Macroeconomic Framework (MF)</a:t>
            </a:r>
            <a:endParaRPr lang="en-AE" dirty="0"/>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23</a:t>
            </a:fld>
            <a:endParaRPr lang="en-US" dirty="0"/>
          </a:p>
        </p:txBody>
      </p:sp>
      <p:sp>
        <p:nvSpPr>
          <p:cNvPr id="6" name="TextBox 5">
            <a:extLst>
              <a:ext uri="{FF2B5EF4-FFF2-40B4-BE49-F238E27FC236}">
                <a16:creationId xmlns:a16="http://schemas.microsoft.com/office/drawing/2014/main" id="{56EC216E-2E2A-24C6-3CD9-FC63942760AD}"/>
              </a:ext>
            </a:extLst>
          </p:cNvPr>
          <p:cNvSpPr txBox="1"/>
          <p:nvPr/>
        </p:nvSpPr>
        <p:spPr>
          <a:xfrm>
            <a:off x="381000" y="1371600"/>
            <a:ext cx="11607800" cy="5135701"/>
          </a:xfrm>
          <a:prstGeom prst="rect">
            <a:avLst/>
          </a:prstGeom>
          <a:noFill/>
        </p:spPr>
        <p:txBody>
          <a:bodyPr wrap="square">
            <a:spAutoFit/>
          </a:bodyPr>
          <a:lstStyle/>
          <a:p>
            <a:pPr algn="just"/>
            <a:r>
              <a:rPr lang="en-US" b="1" dirty="0">
                <a:solidFill>
                  <a:srgbClr val="002060"/>
                </a:solidFill>
                <a:latin typeface="+mn-lt"/>
                <a:ea typeface="Calibri" panose="020F0502020204030204" pitchFamily="34" charset="0"/>
                <a:cs typeface="Times New Roman" panose="02020603050405020304" pitchFamily="18" charset="0"/>
              </a:rPr>
              <a:t>Illustrative comparison with April 2023 projection (PCI-RSF)</a:t>
            </a:r>
          </a:p>
          <a:p>
            <a:pPr algn="just">
              <a:lnSpc>
                <a:spcPct val="200000"/>
              </a:lnSpc>
            </a:pPr>
            <a:r>
              <a:rPr lang="en-US" dirty="0">
                <a:latin typeface="+mn-lt"/>
                <a:ea typeface="Calibri" panose="020F0502020204030204" pitchFamily="34" charset="0"/>
              </a:rPr>
              <a:t>compared to MF,  the annualized QMFM result has:</a:t>
            </a:r>
          </a:p>
          <a:p>
            <a:pPr marL="285750" indent="-285750">
              <a:spcAft>
                <a:spcPts val="600"/>
              </a:spcAft>
              <a:buFont typeface="Arial" panose="020B0604020202020204" pitchFamily="34" charset="0"/>
              <a:buChar char="•"/>
            </a:pPr>
            <a:r>
              <a:rPr lang="en-US" sz="2400" dirty="0">
                <a:effectLst/>
                <a:latin typeface="+mn-lt"/>
                <a:ea typeface="Calibri" panose="020F0502020204030204" pitchFamily="34" charset="0"/>
              </a:rPr>
              <a:t>lower volatility in final demand components, especially for consumption, investment and imports (MF needs consumption-savings checks)</a:t>
            </a:r>
          </a:p>
          <a:p>
            <a:pPr marL="285750" indent="-285750">
              <a:lnSpc>
                <a:spcPct val="150000"/>
              </a:lnSpc>
              <a:spcAft>
                <a:spcPts val="600"/>
              </a:spcAft>
              <a:buFont typeface="Arial" panose="020B0604020202020204" pitchFamily="34" charset="0"/>
              <a:buChar char="•"/>
            </a:pPr>
            <a:r>
              <a:rPr lang="en-US" dirty="0">
                <a:latin typeface="+mn-lt"/>
                <a:ea typeface="Calibri" panose="020F0502020204030204" pitchFamily="34" charset="0"/>
              </a:rPr>
              <a:t>lower average CPI inflation in 2023-24, as QMFM captures the impact of the large negative fiscal stance</a:t>
            </a:r>
          </a:p>
          <a:p>
            <a:pPr marL="285750" indent="-285750">
              <a:spcAft>
                <a:spcPts val="600"/>
              </a:spcAft>
              <a:buFont typeface="Arial" panose="020B0604020202020204" pitchFamily="34" charset="0"/>
              <a:buChar char="•"/>
            </a:pPr>
            <a:r>
              <a:rPr lang="en-US" dirty="0">
                <a:latin typeface="+mn-lt"/>
                <a:ea typeface="Calibri" panose="020F0502020204030204" pitchFamily="34" charset="0"/>
              </a:rPr>
              <a:t>lower ER depreciation from 2024, as it forecast zero RER depreciation in medium term</a:t>
            </a:r>
          </a:p>
          <a:p>
            <a:pPr>
              <a:spcAft>
                <a:spcPts val="600"/>
              </a:spcAft>
            </a:pPr>
            <a:r>
              <a:rPr lang="en-US" dirty="0">
                <a:latin typeface="+mn-lt"/>
                <a:ea typeface="Calibri" panose="020F0502020204030204" pitchFamily="34" charset="0"/>
              </a:rPr>
              <a:t> (MF has real depreciations each year in 2024-26, over 20% cumulatively; cp. to QMFM 6%)</a:t>
            </a:r>
          </a:p>
          <a:p>
            <a:pPr marL="285750" indent="-285750">
              <a:lnSpc>
                <a:spcPct val="150000"/>
              </a:lnSpc>
              <a:spcAft>
                <a:spcPts val="600"/>
              </a:spcAft>
              <a:buFont typeface="Arial" panose="020B0604020202020204" pitchFamily="34" charset="0"/>
              <a:buChar char="•"/>
            </a:pPr>
            <a:r>
              <a:rPr lang="en-US" dirty="0">
                <a:latin typeface="+mn-lt"/>
                <a:ea typeface="Calibri" panose="020F0502020204030204" pitchFamily="34" charset="0"/>
              </a:rPr>
              <a:t>higher fiscal deficits from CY 2024—returning to sustainable level--while MF-PCI has deficit much below that for 5 years</a:t>
            </a:r>
            <a:endParaRPr lang="en-US" dirty="0"/>
          </a:p>
        </p:txBody>
      </p:sp>
    </p:spTree>
    <p:extLst>
      <p:ext uri="{BB962C8B-B14F-4D97-AF65-F5344CB8AC3E}">
        <p14:creationId xmlns:p14="http://schemas.microsoft.com/office/powerpoint/2010/main" val="2743638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530927" y="228600"/>
            <a:ext cx="10457873" cy="762000"/>
          </a:xfrm>
        </p:spPr>
        <p:txBody>
          <a:bodyPr/>
          <a:lstStyle/>
          <a:p>
            <a:r>
              <a:rPr lang="en-GB" b="1" dirty="0">
                <a:latin typeface="Gill Sans MT" panose="020B0502020104020203" pitchFamily="34" charset="0"/>
              </a:rPr>
              <a:t>Alternative scenario: higher foreign food/oil prices </a:t>
            </a:r>
            <a:r>
              <a:rPr lang="en-GB" sz="2000" dirty="0">
                <a:latin typeface="Gill Sans MT" panose="020B0502020104020203" pitchFamily="34" charset="0"/>
              </a:rPr>
              <a:t>(2023-24)</a:t>
            </a:r>
            <a:endParaRPr lang="en-US" dirty="0"/>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24</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76200" y="3995182"/>
            <a:ext cx="6095999" cy="2631490"/>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Higher-than-WEO foreign food and oil prices in 2023-24</a:t>
            </a:r>
          </a:p>
          <a:p>
            <a:pPr marL="285750" indent="-285750">
              <a:buFont typeface="Wingdings" panose="05000000000000000000" pitchFamily="2" charset="2"/>
              <a:buChar char="§"/>
            </a:pPr>
            <a:r>
              <a:rPr lang="en-US" sz="1600" dirty="0">
                <a:latin typeface="Gill Sans MT" panose="020B0502020104020203" pitchFamily="34" charset="0"/>
              </a:rPr>
              <a:t>foreign food and oil prices on average 25% higher than BL</a:t>
            </a:r>
          </a:p>
          <a:p>
            <a:pPr marL="285750" indent="-285750">
              <a:buFont typeface="Wingdings" panose="05000000000000000000" pitchFamily="2" charset="2"/>
              <a:buChar char="§"/>
            </a:pPr>
            <a:r>
              <a:rPr lang="en-US" sz="1600" dirty="0">
                <a:latin typeface="Gill Sans MT" panose="020B0502020104020203" pitchFamily="34" charset="0"/>
              </a:rPr>
              <a:t>with peak around end-2023, return to WEO levels from 2025</a:t>
            </a:r>
          </a:p>
          <a:p>
            <a:pPr marL="285750" indent="-285750">
              <a:spcAft>
                <a:spcPts val="600"/>
              </a:spcAft>
              <a:buFont typeface="Wingdings" panose="05000000000000000000" pitchFamily="2" charset="2"/>
              <a:buChar char="§"/>
            </a:pPr>
            <a:r>
              <a:rPr lang="en-US" sz="1600" dirty="0">
                <a:latin typeface="Gill Sans MT" panose="020B0502020104020203" pitchFamily="34" charset="0"/>
              </a:rPr>
              <a:t>no change in fiscal policy</a:t>
            </a:r>
          </a:p>
          <a:p>
            <a:r>
              <a:rPr lang="en-GB" sz="1600" b="1" dirty="0">
                <a:solidFill>
                  <a:srgbClr val="00B0F0"/>
                </a:solidFill>
                <a:latin typeface="Gill Sans MT" panose="020B0502020104020203" pitchFamily="34" charset="0"/>
                <a:ea typeface="Calibri" panose="020F0502020204030204" pitchFamily="34" charset="0"/>
              </a:rPr>
              <a:t>Results in higher headline CPI, little or no effect on output</a:t>
            </a:r>
          </a:p>
          <a:p>
            <a:pPr marL="285750" indent="-285750">
              <a:buFont typeface="Wingdings" panose="05000000000000000000" pitchFamily="2" charset="2"/>
              <a:buChar char="§"/>
            </a:pPr>
            <a:r>
              <a:rPr lang="en-US" sz="1600" dirty="0">
                <a:latin typeface="Gill Sans MT" panose="020B0502020104020203" pitchFamily="34" charset="0"/>
              </a:rPr>
              <a:t>headline CPI temporarily higher, reflecting food/oil import shares</a:t>
            </a:r>
          </a:p>
          <a:p>
            <a:pPr marL="285750" indent="-285750">
              <a:buFont typeface="Wingdings" panose="05000000000000000000" pitchFamily="2" charset="2"/>
              <a:buChar char="§"/>
            </a:pPr>
            <a:r>
              <a:rPr lang="en-US" sz="1600" dirty="0">
                <a:latin typeface="Gill Sans MT" panose="020B0502020104020203" pitchFamily="34" charset="0"/>
              </a:rPr>
              <a:t>small response policy rate, reversed fast as expected inflation drops</a:t>
            </a:r>
          </a:p>
          <a:p>
            <a:pPr marL="285750" indent="-285750">
              <a:buFont typeface="Wingdings" panose="05000000000000000000" pitchFamily="2" charset="2"/>
              <a:buChar char="§"/>
            </a:pPr>
            <a:r>
              <a:rPr lang="en-US" sz="1600" dirty="0">
                <a:latin typeface="Gill Sans MT" panose="020B0502020104020203" pitchFamily="34" charset="0"/>
              </a:rPr>
              <a:t>small positive effect on demand of lower RIR</a:t>
            </a:r>
          </a:p>
          <a:p>
            <a:pPr marL="285750" indent="-285750">
              <a:buFont typeface="Wingdings" panose="05000000000000000000" pitchFamily="2" charset="2"/>
              <a:buChar char="§"/>
            </a:pPr>
            <a:r>
              <a:rPr lang="en-US" sz="1600" dirty="0">
                <a:latin typeface="Gill Sans MT" panose="020B0502020104020203" pitchFamily="34" charset="0"/>
              </a:rPr>
              <a:t>mostly offset by negative effect of slightly more appreciated RER</a:t>
            </a:r>
          </a:p>
          <a:p>
            <a:pPr marL="285750" indent="-285750">
              <a:buFont typeface="Wingdings" panose="05000000000000000000" pitchFamily="2" charset="2"/>
              <a:buChar char="§"/>
            </a:pPr>
            <a:r>
              <a:rPr lang="en-US" sz="1600" dirty="0">
                <a:latin typeface="Gill Sans MT" panose="020B0502020104020203" pitchFamily="34" charset="0"/>
              </a:rPr>
              <a:t>overall effect on GDP is very small, less than 0.2% </a:t>
            </a:r>
          </a:p>
        </p:txBody>
      </p:sp>
      <p:pic>
        <p:nvPicPr>
          <p:cNvPr id="6" name="Picture 5" descr="Chart, line chart&#10;&#10;Description automatically generated">
            <a:extLst>
              <a:ext uri="{FF2B5EF4-FFF2-40B4-BE49-F238E27FC236}">
                <a16:creationId xmlns:a16="http://schemas.microsoft.com/office/drawing/2014/main" id="{B580BD2F-649E-60FA-633D-03324DE6B0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461146"/>
            <a:ext cx="2636649" cy="2501255"/>
          </a:xfrm>
          <a:prstGeom prst="rect">
            <a:avLst/>
          </a:prstGeom>
        </p:spPr>
      </p:pic>
      <p:pic>
        <p:nvPicPr>
          <p:cNvPr id="8" name="Picture 7" descr="Chart, line chart&#10;&#10;Description automatically generated">
            <a:extLst>
              <a:ext uri="{FF2B5EF4-FFF2-40B4-BE49-F238E27FC236}">
                <a16:creationId xmlns:a16="http://schemas.microsoft.com/office/drawing/2014/main" id="{889A9DE6-9BFC-6A53-38AD-C47A1425745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151353" y="1461146"/>
            <a:ext cx="2643324" cy="2501256"/>
          </a:xfrm>
          <a:prstGeom prst="rect">
            <a:avLst/>
          </a:prstGeom>
        </p:spPr>
      </p:pic>
      <p:pic>
        <p:nvPicPr>
          <p:cNvPr id="10" name="Picture 9" descr="Chart, line chart&#10;&#10;Description automatically generated">
            <a:extLst>
              <a:ext uri="{FF2B5EF4-FFF2-40B4-BE49-F238E27FC236}">
                <a16:creationId xmlns:a16="http://schemas.microsoft.com/office/drawing/2014/main" id="{F6EB5B70-CE75-4FDF-6C04-C834BE64FB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199" y="1371601"/>
            <a:ext cx="2741474" cy="2856419"/>
          </a:xfrm>
          <a:prstGeom prst="rect">
            <a:avLst/>
          </a:prstGeom>
        </p:spPr>
      </p:pic>
      <p:pic>
        <p:nvPicPr>
          <p:cNvPr id="15" name="Picture 14" descr="Chart, line chart&#10;&#10;Description automatically generated">
            <a:extLst>
              <a:ext uri="{FF2B5EF4-FFF2-40B4-BE49-F238E27FC236}">
                <a16:creationId xmlns:a16="http://schemas.microsoft.com/office/drawing/2014/main" id="{02925C9B-2BDC-4C9B-9C7D-72DD591BE9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77828" y="1600200"/>
            <a:ext cx="2655454" cy="2627820"/>
          </a:xfrm>
          <a:prstGeom prst="rect">
            <a:avLst/>
          </a:prstGeom>
        </p:spPr>
      </p:pic>
      <p:pic>
        <p:nvPicPr>
          <p:cNvPr id="18" name="Picture 17" descr="Chart, line chart&#10;&#10;Description automatically generated">
            <a:extLst>
              <a:ext uri="{FF2B5EF4-FFF2-40B4-BE49-F238E27FC236}">
                <a16:creationId xmlns:a16="http://schemas.microsoft.com/office/drawing/2014/main" id="{52BB3907-ABDC-4994-C0FA-C0740D7B47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4397275"/>
            <a:ext cx="2895600" cy="2308325"/>
          </a:xfrm>
          <a:prstGeom prst="rect">
            <a:avLst/>
          </a:prstGeom>
        </p:spPr>
      </p:pic>
      <p:pic>
        <p:nvPicPr>
          <p:cNvPr id="19" name="Picture 18" descr="Chart, line chart&#10;&#10;Description automatically generated">
            <a:extLst>
              <a:ext uri="{FF2B5EF4-FFF2-40B4-BE49-F238E27FC236}">
                <a16:creationId xmlns:a16="http://schemas.microsoft.com/office/drawing/2014/main" id="{DA0C3106-E3A5-B8F3-5DA5-36C26B5C43A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80716" y="4413645"/>
            <a:ext cx="2708084" cy="2308325"/>
          </a:xfrm>
          <a:prstGeom prst="rect">
            <a:avLst/>
          </a:prstGeom>
        </p:spPr>
      </p:pic>
    </p:spTree>
    <p:extLst>
      <p:ext uri="{BB962C8B-B14F-4D97-AF65-F5344CB8AC3E}">
        <p14:creationId xmlns:p14="http://schemas.microsoft.com/office/powerpoint/2010/main" val="33275430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AC75-6C92-AB65-6348-00D2D6D83AFA}"/>
              </a:ext>
            </a:extLst>
          </p:cNvPr>
          <p:cNvSpPr>
            <a:spLocks noGrp="1"/>
          </p:cNvSpPr>
          <p:nvPr>
            <p:ph type="title"/>
          </p:nvPr>
        </p:nvSpPr>
        <p:spPr>
          <a:xfrm>
            <a:off x="1625600" y="0"/>
            <a:ext cx="9880600" cy="609600"/>
          </a:xfrm>
        </p:spPr>
        <p:txBody>
          <a:bodyPr/>
          <a:lstStyle/>
          <a:p>
            <a:r>
              <a:rPr lang="en-US" b="1" dirty="0"/>
              <a:t>QMFM: main relationships and transmission mechanisms </a:t>
            </a:r>
            <a:endParaRPr lang="en-AE" b="1" dirty="0"/>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25</a:t>
            </a:fld>
            <a:endParaRPr lang="en-US" dirty="0"/>
          </a:p>
        </p:txBody>
      </p:sp>
      <p:pic>
        <p:nvPicPr>
          <p:cNvPr id="4" name="Picture 3">
            <a:extLst>
              <a:ext uri="{FF2B5EF4-FFF2-40B4-BE49-F238E27FC236}">
                <a16:creationId xmlns:a16="http://schemas.microsoft.com/office/drawing/2014/main" id="{435B370B-B524-55B7-8DFA-989DF55857A6}"/>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609599"/>
            <a:ext cx="12192000" cy="6539345"/>
          </a:xfrm>
          <a:prstGeom prst="rect">
            <a:avLst/>
          </a:prstGeom>
          <a:noFill/>
          <a:ln>
            <a:noFill/>
          </a:ln>
        </p:spPr>
      </p:pic>
    </p:spTree>
    <p:extLst>
      <p:ext uri="{BB962C8B-B14F-4D97-AF65-F5344CB8AC3E}">
        <p14:creationId xmlns:p14="http://schemas.microsoft.com/office/powerpoint/2010/main" val="36745581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65"/>
          <p:cNvSpPr>
            <a:spLocks noChangeArrowheads="1"/>
          </p:cNvSpPr>
          <p:nvPr/>
        </p:nvSpPr>
        <p:spPr bwMode="auto">
          <a:xfrm>
            <a:off x="1524001" y="4868025"/>
            <a:ext cx="184731" cy="600164"/>
          </a:xfrm>
          <a:prstGeom prst="rect">
            <a:avLst/>
          </a:prstGeom>
          <a:noFill/>
          <a:ln w="9525">
            <a:noFill/>
            <a:miter lim="800000"/>
            <a:headEnd/>
            <a:tailEnd/>
          </a:ln>
        </p:spPr>
        <p:txBody>
          <a:bodyPr wrap="none" anchor="ctr">
            <a:spAutoFit/>
          </a:bodyPr>
          <a:lstStyle/>
          <a:p>
            <a:br>
              <a:rPr lang="en-GB" sz="900" dirty="0"/>
            </a:br>
            <a:endParaRPr lang="en-GB" dirty="0"/>
          </a:p>
        </p:txBody>
      </p:sp>
      <p:sp>
        <p:nvSpPr>
          <p:cNvPr id="6" name="TextBox 5"/>
          <p:cNvSpPr txBox="1"/>
          <p:nvPr/>
        </p:nvSpPr>
        <p:spPr>
          <a:xfrm>
            <a:off x="1752600" y="1143001"/>
            <a:ext cx="8458200" cy="4078039"/>
          </a:xfrm>
          <a:prstGeom prst="rect">
            <a:avLst/>
          </a:prstGeom>
          <a:noFill/>
          <a:ln w="28575">
            <a:noFill/>
          </a:ln>
        </p:spPr>
        <p:txBody>
          <a:bodyPr>
            <a:spAutoFit/>
          </a:bodyPr>
          <a:lstStyle/>
          <a:p>
            <a:pPr algn="ctr">
              <a:defRPr/>
            </a:pPr>
            <a:endParaRPr lang="en-US" sz="3300" b="1" dirty="0">
              <a:solidFill>
                <a:schemeClr val="accent6">
                  <a:lumMod val="50000"/>
                </a:schemeClr>
              </a:solidFill>
              <a:latin typeface="Bookman Old Style" pitchFamily="18" charset="0"/>
              <a:cs typeface="Arial" pitchFamily="34" charset="0"/>
            </a:endParaRPr>
          </a:p>
          <a:p>
            <a:pPr algn="ctr">
              <a:defRPr/>
            </a:pPr>
            <a:endParaRPr lang="en-GB" sz="4000" b="1" dirty="0">
              <a:solidFill>
                <a:schemeClr val="accent4">
                  <a:lumMod val="75000"/>
                </a:schemeClr>
              </a:solidFill>
            </a:endParaRPr>
          </a:p>
          <a:p>
            <a:pPr algn="ctr">
              <a:defRPr/>
            </a:pPr>
            <a:r>
              <a:rPr lang="en-GB" sz="3200" b="1" dirty="0">
                <a:solidFill>
                  <a:schemeClr val="accent4">
                    <a:lumMod val="75000"/>
                  </a:schemeClr>
                </a:solidFill>
                <a:latin typeface="+mn-lt"/>
              </a:rPr>
              <a:t>THANK YOU</a:t>
            </a:r>
          </a:p>
          <a:p>
            <a:pPr algn="ctr">
              <a:defRPr/>
            </a:pPr>
            <a:endParaRPr lang="en-GB" sz="3200" b="1" dirty="0">
              <a:solidFill>
                <a:schemeClr val="accent4">
                  <a:lumMod val="75000"/>
                </a:schemeClr>
              </a:solidFill>
            </a:endParaRPr>
          </a:p>
          <a:p>
            <a:pPr algn="ctr">
              <a:defRPr/>
            </a:pPr>
            <a:endParaRPr lang="en-US" sz="3600" b="1" dirty="0">
              <a:latin typeface="Calibri" pitchFamily="34" charset="0"/>
              <a:cs typeface="Arial" pitchFamily="34" charset="0"/>
            </a:endParaRPr>
          </a:p>
          <a:p>
            <a:pPr algn="ctr">
              <a:defRPr/>
            </a:pPr>
            <a:endParaRPr lang="en-US" sz="4000" b="1" dirty="0">
              <a:solidFill>
                <a:schemeClr val="accent2">
                  <a:lumMod val="50000"/>
                </a:schemeClr>
              </a:solidFill>
              <a:latin typeface="Calibri" pitchFamily="34" charset="0"/>
              <a:cs typeface="Arial" pitchFamily="34" charset="0"/>
            </a:endParaRPr>
          </a:p>
          <a:p>
            <a:pPr algn="r">
              <a:defRPr/>
            </a:pPr>
            <a:endParaRPr lang="en-GB" i="1" dirty="0">
              <a:solidFill>
                <a:schemeClr val="accent6">
                  <a:lumMod val="75000"/>
                </a:schemeClr>
              </a:solidFill>
            </a:endParaRPr>
          </a:p>
          <a:p>
            <a:pPr>
              <a:defRPr/>
            </a:pPr>
            <a:endParaRPr lang="en-US" sz="2200" b="1" dirty="0">
              <a:latin typeface="Calibri" pitchFamily="34" charset="0"/>
              <a:cs typeface="Arial" pitchFamily="34" charset="0"/>
            </a:endParaRPr>
          </a:p>
        </p:txBody>
      </p:sp>
      <p:cxnSp>
        <p:nvCxnSpPr>
          <p:cNvPr id="7" name="Straight Connector 6"/>
          <p:cNvCxnSpPr/>
          <p:nvPr/>
        </p:nvCxnSpPr>
        <p:spPr>
          <a:xfrm rot="10800000">
            <a:off x="2362200" y="3048000"/>
            <a:ext cx="7543800" cy="1588"/>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10168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2_Origin">
  <a:themeElements>
    <a:clrScheme name="SPU colour scheme">
      <a:dk1>
        <a:sysClr val="windowText" lastClr="000000"/>
      </a:dk1>
      <a:lt1>
        <a:srgbClr val="FFFFFF"/>
      </a:lt1>
      <a:dk2>
        <a:srgbClr val="464653"/>
      </a:dk2>
      <a:lt2>
        <a:srgbClr val="DDE9EC"/>
      </a:lt2>
      <a:accent1>
        <a:srgbClr val="00B0F0"/>
      </a:accent1>
      <a:accent2>
        <a:srgbClr val="29C000"/>
      </a:accent2>
      <a:accent3>
        <a:srgbClr val="FFFF00"/>
      </a:accent3>
      <a:accent4>
        <a:srgbClr val="192EF7"/>
      </a:accent4>
      <a:accent5>
        <a:srgbClr val="F6C120"/>
      </a:accent5>
      <a:accent6>
        <a:srgbClr val="638BAD"/>
      </a:accent6>
      <a:hlink>
        <a:srgbClr val="518592"/>
      </a:hlink>
      <a:folHlink>
        <a:srgbClr val="7F7F7F"/>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38311</TotalTime>
  <Words>4485</Words>
  <Application>Microsoft Office PowerPoint</Application>
  <PresentationFormat>Widescreen</PresentationFormat>
  <Paragraphs>344</Paragraphs>
  <Slides>27</Slides>
  <Notes>17</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8" baseType="lpstr">
      <vt:lpstr>ＭＳ Ｐゴシック</vt:lpstr>
      <vt:lpstr>Arial</vt:lpstr>
      <vt:lpstr>Bookman Old Style</vt:lpstr>
      <vt:lpstr>Calibri</vt:lpstr>
      <vt:lpstr>Gill Sans MT</vt:lpstr>
      <vt:lpstr>Symbol</vt:lpstr>
      <vt:lpstr>Times New Roman</vt:lpstr>
      <vt:lpstr>Wingdings</vt:lpstr>
      <vt:lpstr>Wingdings 3</vt:lpstr>
      <vt:lpstr>2_Origin</vt:lpstr>
      <vt:lpstr>Document</vt:lpstr>
      <vt:lpstr>PowerPoint Presentation</vt:lpstr>
      <vt:lpstr>I. Rationale of outlook &amp; underlying model</vt:lpstr>
      <vt:lpstr>Model/Qo outlook rationale &amp; requests + recommendations </vt:lpstr>
      <vt:lpstr>1I. Recent macroeconomic developments (2017-23) new Fiscal policies</vt:lpstr>
      <vt:lpstr>Recent macroeconomic developments cnt’ Real GDP/Output</vt:lpstr>
      <vt:lpstr>Recent macroeconomic developments cnt’ Inflation—CPI </vt:lpstr>
      <vt:lpstr>2. Summary recent/current policy stance</vt:lpstr>
      <vt:lpstr>PowerPoint Presentation</vt:lpstr>
      <vt:lpstr>3. Forecast assumptions (tunes) 2023Q3-2024Q1</vt:lpstr>
      <vt:lpstr>3.1 External environment/outlook </vt:lpstr>
      <vt:lpstr>3.2 Domestic environment assumptions</vt:lpstr>
      <vt:lpstr>III. Summary of macroeconomic forecast/outlook (2023Q3-2027Q4  new</vt:lpstr>
      <vt:lpstr>Forecast—Output and cyclical position (GDP growth)</vt:lpstr>
      <vt:lpstr>Forecast—cyclical total demand driving GDP</vt:lpstr>
      <vt:lpstr>Private consumption and cyclical position</vt:lpstr>
      <vt:lpstr>Private investment, exports &amp; imports and cyclical position new</vt:lpstr>
      <vt:lpstr>Fiscal stance (i): govt demand for G&amp;S affects output directly</vt:lpstr>
      <vt:lpstr>  Fiscal stance (ii): fiscal impulse affects output via private demand</vt:lpstr>
      <vt:lpstr>Fiscal stance: deficit and its components (revenue,  spending) &amp; model decompositions (structural, discretional &amp; cyclical) </vt:lpstr>
      <vt:lpstr>Forecast—Inflation outlook</vt:lpstr>
      <vt:lpstr>Forecast—Policy interest rate (interbank rate, IB) </vt:lpstr>
      <vt:lpstr>Forecast—Nominal and Real Exchange Rate (ER &amp; RER)</vt:lpstr>
      <vt:lpstr>Comparison with Macro Framework</vt:lpstr>
      <vt:lpstr>Comparison with Macroeconomic Framework (MF)</vt:lpstr>
      <vt:lpstr>Alternative scenario: higher foreign food/oil prices (2023-24)</vt:lpstr>
      <vt:lpstr>QMFM: main relationships and transmission mechanisms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Presentation</dc:title>
  <dc:creator>leorugwa</dc:creator>
  <cp:lastModifiedBy>didier.tabaro</cp:lastModifiedBy>
  <cp:revision>1369</cp:revision>
  <cp:lastPrinted>2023-06-23T12:26:08Z</cp:lastPrinted>
  <dcterms:created xsi:type="dcterms:W3CDTF">2011-04-18T20:01:25Z</dcterms:created>
  <dcterms:modified xsi:type="dcterms:W3CDTF">2024-01-29T08:52:44Z</dcterms:modified>
</cp:coreProperties>
</file>