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9"/>
  </p:notesMasterIdLst>
  <p:handoutMasterIdLst>
    <p:handoutMasterId r:id="rId30"/>
  </p:handoutMasterIdLst>
  <p:sldIdLst>
    <p:sldId id="540" r:id="rId2"/>
    <p:sldId id="547" r:id="rId3"/>
    <p:sldId id="554" r:id="rId4"/>
    <p:sldId id="511" r:id="rId5"/>
    <p:sldId id="555" r:id="rId6"/>
    <p:sldId id="561" r:id="rId7"/>
    <p:sldId id="556" r:id="rId8"/>
    <p:sldId id="548" r:id="rId9"/>
    <p:sldId id="560" r:id="rId10"/>
    <p:sldId id="516" r:id="rId11"/>
    <p:sldId id="549" r:id="rId12"/>
    <p:sldId id="552" r:id="rId13"/>
    <p:sldId id="513" r:id="rId14"/>
    <p:sldId id="515" r:id="rId15"/>
    <p:sldId id="514" r:id="rId16"/>
    <p:sldId id="551" r:id="rId17"/>
    <p:sldId id="517" r:id="rId18"/>
    <p:sldId id="541" r:id="rId19"/>
    <p:sldId id="544" r:id="rId20"/>
    <p:sldId id="557" r:id="rId21"/>
    <p:sldId id="559" r:id="rId22"/>
    <p:sldId id="558" r:id="rId23"/>
    <p:sldId id="523" r:id="rId24"/>
    <p:sldId id="553" r:id="rId25"/>
    <p:sldId id="535" r:id="rId26"/>
    <p:sldId id="531" r:id="rId27"/>
    <p:sldId id="545" r:id="rId28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54"/>
            <p14:sldId id="511"/>
            <p14:sldId id="555"/>
            <p14:sldId id="561"/>
            <p14:sldId id="556"/>
            <p14:sldId id="548"/>
            <p14:sldId id="560"/>
            <p14:sldId id="516"/>
            <p14:sldId id="549"/>
            <p14:sldId id="552"/>
            <p14:sldId id="513"/>
            <p14:sldId id="515"/>
            <p14:sldId id="514"/>
            <p14:sldId id="551"/>
            <p14:sldId id="517"/>
            <p14:sldId id="541"/>
            <p14:sldId id="544"/>
            <p14:sldId id="557"/>
            <p14:sldId id="559"/>
            <p14:sldId id="558"/>
            <p14:sldId id="523"/>
            <p14:sldId id="553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1" autoAdjust="0"/>
    <p:restoredTop sz="95788" autoAdjust="0"/>
  </p:normalViewPr>
  <p:slideViewPr>
    <p:cSldViewPr>
      <p:cViewPr varScale="1">
        <p:scale>
          <a:sx n="98" d="100"/>
          <a:sy n="98" d="100"/>
        </p:scale>
        <p:origin x="46" y="7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1/30/2024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30/01/2024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1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Document2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7" Type="http://schemas.openxmlformats.org/officeDocument/2006/relationships/image" Target="../media/image61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tmp"/><Relationship Id="rId5" Type="http://schemas.openxmlformats.org/officeDocument/2006/relationships/image" Target="../media/image59.tmp"/><Relationship Id="rId4" Type="http://schemas.openxmlformats.org/officeDocument/2006/relationships/image" Target="../media/image58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222150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(SOP)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67000" y="6019800"/>
            <a:ext cx="681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Jan, 2024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63121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  <a:p>
            <a:pPr algn="ctr">
              <a:defRPr/>
            </a:pPr>
            <a:r>
              <a:rPr lang="en-GB" sz="36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Nov. 2023, forecast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forecast for 16 quarters ahead for key macro variables (</a:t>
            </a:r>
            <a:r>
              <a:rPr lang="en-GB" sz="1800" dirty="0" err="1"/>
              <a:t>i.e</a:t>
            </a:r>
            <a:r>
              <a:rPr lang="en-GB" sz="1800" dirty="0"/>
              <a:t>,. output, inflation, final demand…...) as influenced by fiscal, monetary, and exchange rate policies,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simulate alternative policy scenarios suggest policy implications &amp; recommendations.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provide input to (Qo or Ann. assumptions),  and complement, other tools projections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validate macro-fiscal projections in terms of framing assumptions for (medium-term) for </a:t>
            </a:r>
            <a:r>
              <a:rPr lang="en-US" sz="1400" dirty="0" err="1"/>
              <a:t>InMF</a:t>
            </a:r>
            <a:r>
              <a:rPr lang="en-US" sz="1400" dirty="0"/>
              <a:t> and other tools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facilitate coordination of policies between MINECOFIN and NBR ahead of IMF mission.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should further enhance the macroeconomic analysis and policy debate</a:t>
            </a:r>
            <a:endParaRPr lang="en-GB" sz="1400" dirty="0"/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/>
              <a:t>tool/model: Quarterly Macro Fiscal Model (QMFM),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special emphasis on fiscal deficit indicators &amp; components (revenue, Govt spending &amp; structural, discretional, cyclical)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tracing key macro variables in deviation from trends, potential levels, or targets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after shocks and policy responses, variables return to their LT trends subject to persistence/lags &amp; </a:t>
            </a:r>
            <a:r>
              <a:rPr lang="en-GB" sz="1400" dirty="0" err="1"/>
              <a:t>s.states</a:t>
            </a:r>
            <a:r>
              <a:rPr lang="en-GB" sz="1400" dirty="0"/>
              <a:t>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trends converge to steady states (outside model), e.g., potential output growth,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interest and exchange rates neutral rate &amp; target,  sustainable deficit level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Recent macroeconomic developments </a:t>
            </a:r>
            <a:r>
              <a:rPr lang="en-US" sz="2000" b="1" dirty="0" err="1"/>
              <a:t>cnt</a:t>
            </a:r>
            <a:r>
              <a:rPr lang="en-US" sz="2000" b="1" dirty="0"/>
              <a:t>’</a:t>
            </a:r>
            <a:br>
              <a:rPr lang="en-US" sz="20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40030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averaged to 7.5% during 2000-19 and estimated a bit below potential in 2019;  </a:t>
            </a:r>
          </a:p>
          <a:p>
            <a:pPr marL="274638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contracted/dropped by 3.4% and was 12% below potential level had normal growth (potential) of 7.5% continued </a:t>
            </a:r>
            <a:r>
              <a:rPr lang="en-GB" sz="1200" dirty="0"/>
              <a:t>during COVID-2020 due to  supply constraints and drops in external and domestic demand.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helped in subsequent recovery of economy, despite strong bounce back in 2021 economy is estimated below potential.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 such Ukraine-war affected domestic economy </a:t>
            </a:r>
            <a:r>
              <a:rPr lang="en-RW" sz="1200" dirty="0"/>
              <a:t>slowed down the recovery from 2022Q1 onward</a:t>
            </a:r>
            <a:r>
              <a:rPr lang="en-US" sz="1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</a:t>
            </a:r>
            <a:r>
              <a:rPr lang="en-US" sz="1000" dirty="0" err="1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downpull</a:t>
            </a: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33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(2017-23Q2)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</a:t>
            </a:r>
            <a:endParaRPr lang="en-AE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deficit (%GDP)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</a:t>
            </a:r>
            <a:r>
              <a:rPr lang="en-US" sz="1200" dirty="0"/>
              <a:t>—with increased deficit for FY 2019/20—2021/22 of 14.1% average triggered  by Covid-spending &amp; </a:t>
            </a:r>
            <a:r>
              <a:rPr lang="en-US" sz="1200" dirty="0" err="1"/>
              <a:t>discr</a:t>
            </a:r>
            <a:r>
              <a:rPr lang="en-US" sz="1200" dirty="0"/>
              <a:t>. Govt spending incl. NINFA, (i.e.,. mass School constructions) and use goods and services.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fiscal consolidation</a:t>
            </a:r>
            <a:r>
              <a:rPr lang="en-US" sz="1200" dirty="0"/>
              <a:t>—with a decreasing deficit of 10% average for 2015/16—2018/19, mainly driven by Govt demand discretion spending (i.e., use of goods and services..)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revived fiscal consolidation</a:t>
            </a:r>
            <a:r>
              <a:rPr lang="en-US" sz="1200" dirty="0"/>
              <a:t>—with deficit declining of 12%—10.8% for FY 2022/23—2023/24, driven by a reduction in capital spending, and net lending.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Govt demand deflated in real terms by a surging inflation from 2022, but inflated again by  floods response for last quarter of FY 2022/23.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838200"/>
          </a:xfrm>
        </p:spPr>
        <p:txBody>
          <a:bodyPr/>
          <a:lstStyle/>
          <a:p>
            <a:r>
              <a:rPr lang="en-US" sz="2400" b="1" dirty="0"/>
              <a:t>Recent macroeconomic developments </a:t>
            </a:r>
            <a:r>
              <a:rPr lang="en-US" sz="2400" b="1" dirty="0" err="1"/>
              <a:t>cnt</a:t>
            </a:r>
            <a:r>
              <a:rPr lang="en-US" sz="2400" b="1" dirty="0"/>
              <a:t>’</a:t>
            </a:r>
            <a:br>
              <a:rPr lang="en-US" sz="24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CPI,  (YoY %)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(i.e., </a:t>
            </a:r>
            <a:r>
              <a:rPr lang="en-US" sz="1200" dirty="0" err="1"/>
              <a:t>agric</a:t>
            </a:r>
            <a:r>
              <a:rPr lang="en-US" sz="1200" dirty="0"/>
              <a:t> &amp; weather shocks) unrelated to business cycle (</a:t>
            </a:r>
            <a:r>
              <a:rPr lang="en-US" sz="1100" dirty="0"/>
              <a:t>i.e., not consistent with a still -</a:t>
            </a:r>
            <a:r>
              <a:rPr lang="en-US" sz="1100" dirty="0" err="1"/>
              <a:t>ve</a:t>
            </a:r>
            <a:r>
              <a:rPr lang="en-US" sz="1100" dirty="0"/>
              <a:t> output gap)</a:t>
            </a:r>
            <a:endParaRPr lang="en-US" sz="1200" dirty="0"/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800" dirty="0"/>
              <a:t>main factors incl. weather-induced fluctuations in harvests and agricultural prices, openness and dependence on imports, especially for food and petroleum products with volatile international prices, and lack of competition in many markets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and energy are main drivers of this volatility inflation directly and indirectly.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 was more driven by weak harvests coincided with soaring of world food and energy prices.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i="1" dirty="0"/>
              <a:t>deceleration observed through a drop in components since 2023Q1.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64687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Headline—CPI drivers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 &amp; before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driven by food prices in 2017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a fall in food prices for 2018-19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in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driven by recovery in terms of good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harvest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food prices: negatively driven by agricultural production gap and </a:t>
            </a:r>
            <a:r>
              <a:rPr lang="en-US" sz="105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agric</a:t>
            </a: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-related shocks</a:t>
            </a:r>
            <a:endParaRPr lang="en-RW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05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 (driven by </a:t>
            </a:r>
            <a:r>
              <a:rPr lang="en-US" sz="105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induced shocks than standard factors i.e., output gap)</a:t>
            </a: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international energy and commodity prices </a:t>
            </a:r>
            <a:endParaRPr lang="en-RW" sz="1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below its trend and even negative in 2019 and early 2020.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rose sharply during Covid 2020-21, when inflation was subdued and the IB was lowered only once, by 0.5% 2020, in response to the Covid downturn. </a:t>
            </a:r>
            <a:endParaRPr lang="en-GB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rose sharply since mid-2022, as the nominal interest rates were moved up and inflation declined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 lending rates followed, and after a low point of 7% in mid-2022 reached some 12% by the second half of 2023.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policy rate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moves interest rates gradually, the rule has a heavy weight for the lagged interest rate while trending back to the neutral rate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since 2017 and especially through 2020-21, the IB was on a downward path and below its trend level of some 6.5-7%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since early 2022 to 2023, CBR ranged </a:t>
            </a:r>
            <a:r>
              <a:rPr lang="en-US" sz="1400" dirty="0" err="1">
                <a:latin typeface="Times New Roman" panose="02020603050405020304" pitchFamily="18" charset="0"/>
              </a:rPr>
              <a:t>btn</a:t>
            </a:r>
            <a:r>
              <a:rPr lang="en-US" sz="1400" dirty="0">
                <a:latin typeface="Times New Roman" panose="02020603050405020304" pitchFamily="18" charset="0"/>
              </a:rPr>
              <a:t> 4.5% to 7.5% due to surging inflation—IB rate followed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</a:rPr>
              <a:t>IB rate below the trend </a:t>
            </a: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486400" y="4114800"/>
            <a:ext cx="6451600" cy="20920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ER depreciation rate has moved up sharply in line with the target ER depreciation rate.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000" dirty="0"/>
              <a:t>driven by the high domestic inflation relative to its trading partners from early 2023,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speed of depreciation accelerated further, reaching an annualized rate of 16% by mid-year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257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(</a:t>
            </a:r>
            <a:r>
              <a:rPr lang="en-US" sz="1400" b="1" dirty="0" err="1"/>
              <a:t>QoQ</a:t>
            </a:r>
            <a:r>
              <a:rPr lang="en-US" sz="1400" b="1" dirty="0"/>
              <a:t> %)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Since, mid-2020, the faster nominal depreciation and subdued inflation more than reversed the earlier RER appreciation.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 However, from late 2021 till mid 2022, modest depreciation and the surge in core inflation lowered the RER, to well below trend more than offsetting the earlier increase.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NER deprecation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21736"/>
            <a:ext cx="4019321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295400"/>
            <a:ext cx="4003456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sz="2400" b="1" dirty="0"/>
              <a:t>Summary recent past cyclical position &amp; policy stance</a:t>
            </a:r>
            <a:endParaRPr lang="en-AE" sz="2400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06200" cy="3380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GB" sz="18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Initial condition: recent past developments/trends (2017-2022)</a:t>
            </a:r>
          </a:p>
          <a:p>
            <a:pPr marL="1074420" lvl="1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GB" sz="1600" dirty="0">
                <a:latin typeface="+mn-lt"/>
                <a:cs typeface="Times New Roman" panose="02020603050405020304" pitchFamily="18" charset="0"/>
              </a:rPr>
              <a:t>GDP below 7.5% trend (2000-19), just above trend (2019) due to Govt demand substantially contracted to negative during COVID</a:t>
            </a:r>
          </a:p>
          <a:p>
            <a:pPr marL="1074420" lvl="1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accelerated domestic inflation, (from lower levels ex-ante 2021), ER depreciation amidst domestic shocks &amp; unfavourable global environment</a:t>
            </a:r>
          </a:p>
          <a:p>
            <a:pPr marL="1074420" lvl="1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tight domestic &amp; global monetary policies post COVID esp. in since 2022 following a surge in inflation and global shocks</a:t>
            </a:r>
          </a:p>
          <a:p>
            <a:pPr marL="1074420" lvl="1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expansionary fiscal policy to counter shocks</a:t>
            </a:r>
          </a:p>
          <a:p>
            <a:pPr marL="274320" algn="just">
              <a:lnSpc>
                <a:spcPct val="107000"/>
              </a:lnSpc>
              <a:spcAft>
                <a:spcPts val="800"/>
              </a:spcAft>
            </a:pPr>
            <a:endParaRPr lang="en-RW" sz="16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6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III. Summary of current cyclical position &amp; policy stance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06200" cy="519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</a:t>
            </a:r>
            <a:endParaRPr lang="en-GB" sz="16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improving and favourable global environment in terms of recovering foreign demand, easing world food and oil prices &amp; trading partner's CPI.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(YoY %)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growth 6% in 2023 (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Russian-Ukraine war shocks, inflation surge, weak agricultural performance, exacerbated by floods in early 2023)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output gap (diff. level from potential) estimated to have been below its potential by 7% in mid-2023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 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</a:t>
            </a:r>
            <a:r>
              <a:rPr lang="en-US" sz="110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%)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GB" sz="1200" dirty="0">
                <a:solidFill>
                  <a:prstClr val="black"/>
                </a:solidFill>
                <a:latin typeface="Gill Sans MT"/>
              </a:rPr>
              <a:t>ease in food and energy prices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combined effect of fading food and core-price shocks </a:t>
            </a:r>
            <a:r>
              <a:rPr lang="en-US" sz="1200" dirty="0">
                <a:latin typeface="Gill Sans MT"/>
              </a:rPr>
              <a:t>and tighter macroeconomic policies.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Fiscal—deficit excl. grants, govt demand,</a:t>
            </a:r>
            <a:r>
              <a:rPr lang="en-GB" sz="14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consolidation in 2022/23 reinforced with the FY2023/24 Budget,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with deficit reductions of about 1% of GDP in both FY2023/24 and FY2024/25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shifting from expansionary to contractionary fiscal stance </a:t>
            </a:r>
            <a:r>
              <a:rPr lang="en-US" sz="1400" dirty="0" err="1">
                <a:solidFill>
                  <a:prstClr val="black"/>
                </a:solidFill>
                <a:latin typeface="Gill Sans MT"/>
              </a:rPr>
              <a:t>btn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. 2020-22 and 2023-25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fiscal stance switches from +2% to -2% of GDP, with an average total effect on output of +/-1.7% of GDP.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rates, </a:t>
            </a:r>
            <a:r>
              <a:rPr lang="en-GB" sz="105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 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nominal exchange rate has depreciated, offsetting high inflation and reversing overvaluation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exchange rate returns to its trend by 2023Q3—positively affecting net exports.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400" b="1" dirty="0"/>
              <a:t>External environment assumptions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7" y="4295583"/>
            <a:ext cx="3259666" cy="2182067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World real interest rates are expected to rise from negative around -1% in the past </a:t>
            </a:r>
            <a:r>
              <a:rPr lang="en-US" sz="1600" dirty="0"/>
              <a:t>decade</a:t>
            </a:r>
            <a:r>
              <a:rPr lang="en-US" sz="1800" dirty="0"/>
              <a:t> to +1% by 2027,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increase likely transmitting one-for-one to Rwanda’s sovereign borrowing rates</a:t>
            </a: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5052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610600" y="4295583"/>
            <a:ext cx="2963334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trading partners’ CPI inflation (in US$)—subdued at 1.5% </a:t>
            </a:r>
            <a:r>
              <a:rPr lang="en-US" sz="1800" dirty="0" err="1">
                <a:latin typeface="+mn-lt"/>
              </a:rPr>
              <a:t>p.y</a:t>
            </a:r>
            <a:r>
              <a:rPr lang="en-US" sz="1800" dirty="0">
                <a:latin typeface="+mn-lt"/>
              </a:rPr>
              <a:t>. in the past 5-7 years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projected to return to its trend level of 2% in the coming years </a:t>
            </a:r>
            <a:endParaRPr lang="en-AE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5602"/>
            <a:ext cx="1065953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after the Covid-Ukraine crises, but with downside risks. </a:t>
            </a:r>
            <a:r>
              <a:rPr lang="en-GB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orld economy is slowing down due to world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increased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interest rate in response to inflation</a:t>
            </a:r>
            <a:endParaRPr lang="en-RW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400" b="1" dirty="0"/>
              <a:t>Domestic environment assumptions</a:t>
            </a:r>
            <a:endParaRPr lang="en-AE" sz="2400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858000" y="1371600"/>
            <a:ext cx="5130800" cy="467820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600" i="1" dirty="0">
                <a:latin typeface="+mn-lt"/>
              </a:rPr>
              <a:t>Current fiscal, monetary, and exchange rate policies (in part “tuned”):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n-lt"/>
              </a:rPr>
              <a:t>post-Covid consolidation and winding down of crisis-related spending since 2021/22 reinforced in 2023/24 Budget,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a further reduction in the deficit before grants to 10.8% of GDP in 2023/24, and to 9.7 % by 2025/26</a:t>
            </a:r>
          </a:p>
          <a:p>
            <a:pPr marL="800100" lvl="1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0000"/>
                </a:solidFill>
                <a:latin typeface="+mn-lt"/>
              </a:rPr>
              <a:t>fiscal deficit (excl. grants) assumed return to 8% level  for beyond PCI program (2025/26-2026/27)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maintenance of current level of policy interest rate (IB) for 2023Q4 (8%)</a:t>
            </a: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somewhat faster exchange rate depreciation in 2023 (than 2022), </a:t>
            </a:r>
            <a:r>
              <a:rPr lang="en-US" sz="1600" dirty="0">
                <a:latin typeface="+mn-lt"/>
              </a:rPr>
              <a:t>based on statements and the IMF PCI program targets 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(i.e., Q4 is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NBR = IMF program forecast --15%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eopER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depr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 in 2023, </a:t>
            </a:r>
            <a:r>
              <a:rPr lang="en-US" sz="1200" b="0" i="0" dirty="0" err="1">
                <a:solidFill>
                  <a:srgbClr val="008013"/>
                </a:solidFill>
                <a:effectLst/>
                <a:latin typeface="+mn-lt"/>
              </a:rPr>
              <a:t>quarterlized</a:t>
            </a:r>
            <a:r>
              <a:rPr lang="en-US" sz="1200" dirty="0">
                <a:solidFill>
                  <a:srgbClr val="008013"/>
                </a:solidFill>
                <a:latin typeface="+mn-lt"/>
              </a:rPr>
              <a:t> and </a:t>
            </a:r>
            <a:r>
              <a:rPr lang="en-US" sz="1200" b="0" i="0" dirty="0">
                <a:solidFill>
                  <a:srgbClr val="008013"/>
                </a:solidFill>
                <a:effectLst/>
                <a:latin typeface="+mn-lt"/>
              </a:rPr>
              <a:t>applied to Q3 p.a.)</a:t>
            </a:r>
            <a:endParaRPr lang="en-GB" sz="1200" dirty="0">
              <a:latin typeface="+mn-lt"/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expected return to normal of agricultural harvests and domestic food prices and rep. shocks during 2023Q4-24Q1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B190132-970F-21FA-781A-5CAC4F24F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944318"/>
              </p:ext>
            </p:extLst>
          </p:nvPr>
        </p:nvGraphicFramePr>
        <p:xfrm>
          <a:off x="457200" y="1371600"/>
          <a:ext cx="62801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80812" imgH="3784112" progId="Word.Document.12">
                  <p:embed/>
                </p:oleObj>
              </mc:Choice>
              <mc:Fallback>
                <p:oleObj name="Document" r:id="rId3" imgW="6280812" imgH="3784112" progId="Word.Document.12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B190132-970F-21FA-781A-5CAC4F24F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371600"/>
                        <a:ext cx="6280150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533400" y="5334000"/>
            <a:ext cx="6203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The 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27526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IV. Summary of macroeconomic forecast/outlook </a:t>
            </a:r>
            <a:r>
              <a:rPr lang="en-GB" sz="1800" b="1" dirty="0"/>
              <a:t>(2023Q3-2027Q4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68808" y="3605123"/>
            <a:ext cx="5269992" cy="27238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latin typeface="+mn-lt"/>
                <a:cs typeface="Times New Roman" panose="02020603050405020304" pitchFamily="18" charset="0"/>
              </a:rPr>
              <a:t>combination of modestly </a:t>
            </a:r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tight fiscal and monetary </a:t>
            </a:r>
            <a:r>
              <a:rPr lang="en-GB" sz="1400" b="1" dirty="0">
                <a:latin typeface="+mn-lt"/>
                <a:cs typeface="Times New Roman" panose="02020603050405020304" pitchFamily="18" charset="0"/>
              </a:rPr>
              <a:t>policies and still low RER in 2023-early 2024 should help contain domestic demand and lower inflation</a:t>
            </a:r>
            <a:r>
              <a:rPr lang="en-GB" sz="1600" b="1" i="1" dirty="0">
                <a:effectLst/>
                <a:latin typeface="+mn-lt"/>
                <a:ea typeface="Calibri" panose="020F0502020204030204" pitchFamily="34" charset="0"/>
              </a:rPr>
              <a:t>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 a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s inflation abates to close to the 5% target from earlier 2024Q2</a:t>
            </a:r>
            <a:r>
              <a:rPr lang="en-GB" sz="1200" dirty="0">
                <a:latin typeface="+mn-lt"/>
                <a:ea typeface="Calibri" panose="020F0502020204030204" pitchFamily="34" charset="0"/>
              </a:rPr>
              <a:t>. </a:t>
            </a:r>
            <a:endParaRPr lang="en-GB" sz="1200" dirty="0">
              <a:effectLst/>
              <a:latin typeface="+mn-lt"/>
              <a:ea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temporarily lower interest rates (IB) &amp; RIR and higher RER should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raise GDP growth temporarily above its trend in 2024-25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, and back to its trend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afterwards towards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2027. </a:t>
            </a:r>
            <a:endParaRPr lang="en-GB" sz="20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1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D918C-614D-81D5-4160-172E552A9F57}"/>
              </a:ext>
            </a:extLst>
          </p:cNvPr>
          <p:cNvSpPr txBox="1"/>
          <p:nvPr/>
        </p:nvSpPr>
        <p:spPr>
          <a:xfrm>
            <a:off x="5900820" y="3374290"/>
            <a:ext cx="6115049" cy="46166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effectLst/>
                <a:latin typeface="+mn-lt"/>
                <a:ea typeface="Calibri" panose="020F0502020204030204" pitchFamily="34" charset="0"/>
              </a:rPr>
              <a:t>temporary above-trend growth for two years from mid-2024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is mostly driven by private consumption and return to normal of government demand</a:t>
            </a:r>
            <a:endParaRPr lang="en-RW" sz="1600" dirty="0">
              <a:latin typeface="+mn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1ABF6EC-4EF2-AF30-F317-6BE202DEE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31417"/>
              </p:ext>
            </p:extLst>
          </p:nvPr>
        </p:nvGraphicFramePr>
        <p:xfrm>
          <a:off x="5892800" y="1277664"/>
          <a:ext cx="6115050" cy="205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01286" imgH="2690964" progId="Word.Document.12">
                  <p:embed/>
                </p:oleObj>
              </mc:Choice>
              <mc:Fallback>
                <p:oleObj name="Document" r:id="rId4" imgW="6501286" imgH="26909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2800" y="1277664"/>
                        <a:ext cx="6115050" cy="205660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92800" y="4182204"/>
            <a:ext cx="61150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fiscal policies (2023/24-2025/26 &amp; onward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</a:t>
            </a:r>
            <a:r>
              <a:rPr lang="en-GB" sz="1400" dirty="0">
                <a:latin typeface="+mn-lt"/>
              </a:rPr>
              <a:t>—combination of lower Govt. demand and a negative effect on private demand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implies negative discretional spending—induce a negative effect on output/GDP by some 1.2%</a:t>
            </a:r>
            <a:endParaRPr lang="en-GB" sz="1200" dirty="0">
              <a:latin typeface="+mn-lt"/>
            </a:endParaRPr>
          </a:p>
          <a:p>
            <a:r>
              <a:rPr lang="en-GB" sz="1600" b="1" dirty="0">
                <a:effectLst/>
                <a:latin typeface="+mn-lt"/>
                <a:ea typeface="Calibri" panose="020F0502020204030204" pitchFamily="34" charset="0"/>
              </a:rPr>
              <a:t>2025/26 onward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 estimated to die out—</a:t>
            </a:r>
            <a:r>
              <a:rPr lang="en-GB" sz="1400" dirty="0">
                <a:latin typeface="+mn-lt"/>
              </a:rPr>
              <a:t>gradual positive Govt. demand and fiscal impulse—positive discretional spending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</a:rPr>
              <a:t>will positively </a:t>
            </a:r>
            <a:r>
              <a:rPr lang="en-GB" sz="1400">
                <a:latin typeface="+mn-lt"/>
              </a:rPr>
              <a:t>affect output</a:t>
            </a:r>
            <a:endParaRPr lang="en-GB" sz="1400" dirty="0">
              <a:latin typeface="+mn-lt"/>
            </a:endParaRPr>
          </a:p>
          <a:p>
            <a:endParaRPr lang="en-RW" sz="1400" dirty="0">
              <a:solidFill>
                <a:srgbClr val="00B0F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654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and cyclical position </a:t>
            </a:r>
            <a:r>
              <a:rPr lang="en-GB" sz="2000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743200"/>
            <a:ext cx="5029200" cy="37071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95126"/>
              </p:ext>
            </p:extLst>
          </p:nvPr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FE48E0A-A899-A2C3-F6C6-4EB4B1EF7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858000" y="1295400"/>
            <a:ext cx="5029200" cy="116955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growth of the final demand components of GDP are shown in </a:t>
            </a:r>
            <a:r>
              <a:rPr lang="en-GB" sz="7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7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highlighting the relatively sharp fluctuations in the post-Covid period—especially in investment, </a:t>
            </a:r>
          </a:p>
          <a:p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by mid-2025 all final demands (except Govt demand) are converging to their steady state levels.</a:t>
            </a:r>
            <a:endParaRPr lang="en-RW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75825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2022-24 sluggish growth,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Ukraine-war and inflation surge and restrictive policy response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---post-Covid fiscal consolidation with negative fiscal impulse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---less restrictive fiscal policies as deficit gradually back to (higher) sustainable level and govt demand for G&amp;S back to normal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--exports helped by high RER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6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 2027, back to trend growth of 7.5%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---there is no indication that Covid has permanently reduced </a:t>
            </a:r>
            <a:r>
              <a:rPr lang="en-GB" sz="1400" dirty="0" err="1">
                <a:latin typeface="+mn-lt"/>
                <a:cs typeface="Times New Roman" panose="02020603050405020304" pitchFamily="18" charset="0"/>
              </a:rPr>
              <a:t>poterntial</a:t>
            </a:r>
            <a:r>
              <a:rPr lang="en-GB" sz="1400" dirty="0">
                <a:latin typeface="+mn-lt"/>
                <a:cs typeface="Times New Roman" panose="02020603050405020304" pitchFamily="18" charset="0"/>
              </a:rPr>
              <a:t> output and its growth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total demand driving GDP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and its components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Negative output gap declines gradually: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--large initial down pull from reduction in real government spending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gradually disappearing from mid-2024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increasing REER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consumption and cyclical position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 to recover from recent low levels but remains restrained in 2024   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---by low GDP growth and negative fiscal impulse in 2023-24.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---returns to trend growth late in 2026 when fiscal and monetary policy becomes less restrictive. </a:t>
            </a:r>
            <a:endParaRPr lang="en-AE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/>
              <a:t>Private investment, exports &amp; imports and cyclical position </a:t>
            </a:r>
            <a:r>
              <a:rPr lang="en-GB" sz="2400" dirty="0">
                <a:solidFill>
                  <a:srgbClr val="FF0000"/>
                </a:solidFill>
              </a:rPr>
              <a:t>new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206210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 level and growth path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 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--real interest rate (RIR) effect is very small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--RER has no effect (zero wight in monetary conditions index)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income,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--fiscal impulse has very small effect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 level and growth path: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84653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(for goods and services) returns to trend level and growth path:</a:t>
            </a:r>
            <a:endParaRPr lang="en-RW" sz="14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b="1" dirty="0"/>
              <a:t>Fiscal stance (i): govt demand for G&amp;S affects output directly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3990969"/>
            <a:ext cx="6244526" cy="250226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buNone/>
            </a:pPr>
            <a:r>
              <a:rPr lang="en-GB" sz="1400" dirty="0">
                <a:cs typeface="Times New Roman" panose="02020603050405020304" pitchFamily="18" charset="0"/>
              </a:rPr>
              <a:t>---current fiscal program envisages a reduction in the deficit (consolidation) to 10.8% of GDP in 2023/24 and to 9.7% in 2024/25</a:t>
            </a:r>
            <a:r>
              <a:rPr lang="en-GB" sz="1400" dirty="0">
                <a:effectLst/>
                <a:ea typeface="Calibri" panose="020F0502020204030204" pitchFamily="34" charset="0"/>
              </a:rPr>
              <a:t>, </a:t>
            </a:r>
          </a:p>
          <a:p>
            <a:pPr marL="274638" lvl="1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 </a:t>
            </a:r>
            <a:r>
              <a:rPr lang="en-GB" sz="1200" dirty="0"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ea typeface="Calibri" panose="020F0502020204030204" pitchFamily="34" charset="0"/>
              </a:rPr>
              <a:t>well below that in Covid and immediate post-Covid years (averaging 14% of GDP in 2019/20-2021/22).</a:t>
            </a:r>
          </a:p>
          <a:p>
            <a:pPr marL="0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--c</a:t>
            </a:r>
            <a:r>
              <a:rPr lang="en-GB" sz="1400" dirty="0">
                <a:effectLst/>
                <a:ea typeface="Calibri" panose="020F0502020204030204" pitchFamily="34" charset="0"/>
              </a:rPr>
              <a:t>onsolidation achieved mainly via the ending of discretionary, crisis-related spending and cuts in investment,</a:t>
            </a:r>
          </a:p>
          <a:p>
            <a:pPr marL="274638" lvl="1" indent="0" algn="just">
              <a:buNone/>
            </a:pPr>
            <a:r>
              <a:rPr lang="en-GB" sz="1200" dirty="0">
                <a:effectLst/>
                <a:ea typeface="Calibri" panose="020F0502020204030204" pitchFamily="34" charset="0"/>
              </a:rPr>
              <a:t> ---translate in a significant reduction in real government demand for G&amp;S, lowering aggregate demand and helping contain inflation.</a:t>
            </a:r>
          </a:p>
          <a:p>
            <a:pPr marL="0" indent="0" algn="just">
              <a:buNone/>
            </a:pPr>
            <a:r>
              <a:rPr lang="en-GB" sz="1200" dirty="0"/>
              <a:t>---large negative effect on demand—consumption &amp; imports is estimated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61529" y="1143000"/>
            <a:ext cx="11654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400" b="1" i="1" dirty="0">
                <a:solidFill>
                  <a:srgbClr val="0070C0"/>
                </a:solidFill>
                <a:latin typeface="Times New Roman" panose="02020603050405020304" pitchFamily="18" charset="0"/>
              </a:rPr>
              <a:t>Fiscal policies (Govt spending) (“fiscal stance”) affect output in the short-run via several channels captured in the model: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676400"/>
            <a:ext cx="3505200" cy="2253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434526" cy="15370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</a:t>
            </a:r>
            <a:r>
              <a:rPr lang="en-US" sz="1200" b="1" dirty="0">
                <a:latin typeface="+mn-lt"/>
              </a:rPr>
              <a:t>Govt. demand, % GDP </a:t>
            </a:r>
            <a:r>
              <a:rPr lang="en-US" sz="1200" dirty="0">
                <a:latin typeface="+mn-lt"/>
              </a:rPr>
              <a:t>level is below its structural trend 2023Q2-2027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a negative gap and a fiscal consolidation post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10668000" cy="750514"/>
          </a:xfrm>
        </p:spPr>
        <p:txBody>
          <a:bodyPr/>
          <a:lstStyle/>
          <a:p>
            <a:r>
              <a:rPr lang="en-GB" b="1" dirty="0"/>
              <a:t>  Fiscal stance ii): fiscal impulse affects output </a:t>
            </a:r>
            <a:r>
              <a:rPr lang="en-GB" sz="2400" b="1" dirty="0"/>
              <a:t>via private demand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3962400"/>
            <a:ext cx="5867400" cy="26042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total effect on output</a:t>
            </a:r>
            <a:r>
              <a:rPr lang="en-GB" sz="1600" b="1" dirty="0">
                <a:solidFill>
                  <a:schemeClr val="accent1"/>
                </a:solidFill>
              </a:rPr>
              <a:t> </a:t>
            </a:r>
            <a:r>
              <a:rPr lang="en-GB" sz="1600" i="1" dirty="0"/>
              <a:t>(direct &amp; 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</a:rPr>
              <a:t>combination of lower government demand and a negative fiscal impulse </a:t>
            </a:r>
            <a:endParaRPr lang="en-GB" sz="1800" dirty="0">
              <a:ea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a typeface="Calibri" panose="020F0502020204030204" pitchFamily="34" charset="0"/>
              </a:rPr>
              <a:t>e</a:t>
            </a:r>
            <a:r>
              <a:rPr lang="en-GB" sz="1400" dirty="0">
                <a:effectLst/>
                <a:ea typeface="Calibri" panose="020F0502020204030204" pitchFamily="34" charset="0"/>
              </a:rPr>
              <a:t>stimated to transmit a negative effect on output during 2023/24-2025/26 </a:t>
            </a:r>
            <a:endParaRPr lang="en-GB" sz="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negative discretionary deficit of 1</a:t>
            </a:r>
            <a:r>
              <a:rPr lang="en-GB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½% of GDP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ea typeface="Calibri" panose="020F0502020204030204" pitchFamily="34" charset="0"/>
                <a:cs typeface="Times New Roman" panose="02020603050405020304" pitchFamily="18" charset="0"/>
              </a:rPr>
              <a:t>implies a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lower real GDP by some 1.2%, mainly from lower government for G&amp;S </a:t>
            </a:r>
            <a:r>
              <a:rPr lang="en-GB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(0.66) and the remainder (0.5)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lower private demand.</a:t>
            </a:r>
            <a:endParaRPr lang="en-RW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81000" y="4515969"/>
            <a:ext cx="4724400" cy="170091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</a:t>
            </a:r>
            <a:r>
              <a:rPr lang="en-GB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deficit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affecting private demand and hence output indirectly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endParaRPr lang="en-GB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positive on average in 2020-22, 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---turns negative from late 2022 onward </a:t>
            </a:r>
            <a:endParaRPr lang="en-GB" sz="1400" dirty="0"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---remains so for several years before fading out by 2027</a:t>
            </a:r>
            <a:endParaRPr lang="en-RW" sz="18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8088"/>
            <a:ext cx="43129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294" y="1251557"/>
            <a:ext cx="4495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/>
              <a:t>Fiscal stance: deficit and its components </a:t>
            </a:r>
            <a:r>
              <a:rPr lang="en-GB" sz="2000" dirty="0"/>
              <a:t>(revenue,  spending) &amp; model decompositions (structural, discretional &amp; cyclical)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7" y="1230629"/>
            <a:ext cx="3124200" cy="2350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314450"/>
            <a:ext cx="2971800" cy="260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526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597" y="1306829"/>
            <a:ext cx="2479787" cy="23507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3821429"/>
            <a:ext cx="5567198" cy="258352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 GDP (revenue &amp; demand/spending)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deficit </a:t>
            </a:r>
            <a:r>
              <a:rPr lang="en-GB" sz="12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 2023/24-2024/25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(10.8% &amp; 9.7% of GDP in 2025/26, down from 12% for 2022/23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inline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the IMF PCI program)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show a sharp reduction in deficit (before grants) and spending on G&amp;S, as discretionary spending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reduces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b="1" dirty="0">
                <a:latin typeface="+mn-lt"/>
                <a:ea typeface="Calibri" panose="020F0502020204030204" pitchFamily="34" charset="0"/>
              </a:rPr>
              <a:t>post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tuned PCI-program (2025/26 onward)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---fiscal deficit to converge to a sustainable deficit (before grants) of 8%  and 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constituent parts (revenue, spending,…) are forecast to gradually move to their structural levels</a:t>
            </a:r>
            <a:endParaRPr lang="en-US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218521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deficit, % GDP </a:t>
            </a:r>
            <a:r>
              <a:rPr lang="en-US" sz="1200" dirty="0">
                <a:latin typeface="+mn-lt"/>
              </a:rPr>
              <a:t>(</a:t>
            </a:r>
            <a:r>
              <a:rPr lang="en-US" sz="900" dirty="0">
                <a:latin typeface="+mn-lt"/>
              </a:rPr>
              <a:t>structural</a:t>
            </a:r>
            <a:r>
              <a:rPr lang="en-US" sz="1050" dirty="0">
                <a:latin typeface="+mn-lt"/>
              </a:rPr>
              <a:t>, discretional and cyclical)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---structural deficit evolving 8% average sustainable level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+mn-lt"/>
              </a:rPr>
              <a:t>--volatility in deficit mostly dominated by discretional spending (Govt. demand for G&amp;S and other expenditure (transfers, subsidies and net lending)</a:t>
            </a:r>
          </a:p>
          <a:p>
            <a:pPr lvl="1"/>
            <a:r>
              <a:rPr lang="en-US" sz="1400" i="1" dirty="0">
                <a:latin typeface="+mn-lt"/>
              </a:rPr>
              <a:t>--reduction in deficit (consolidation) driven by a fall in discretional spending for post 2023</a:t>
            </a:r>
            <a:endParaRPr lang="en-RW" i="1" dirty="0"/>
          </a:p>
        </p:txBody>
      </p:sp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Inflation outlook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3695696"/>
            <a:ext cx="2608427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/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rapid drop (from a peak in 2022Q4) is mainly driven by direct effect of imported energy prices which are projected to fall throughout 2023-27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200" dirty="0"/>
              <a:t>---</a:t>
            </a:r>
            <a:r>
              <a:rPr lang="en-GB" sz="1050" dirty="0"/>
              <a:t>exchange rate depreciation exerts some upward pressure, but offset by drop in foreign energy prices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---shocks projected to disappear since 2024Q1(typically large especially in 2022-23, reflecting the Oct 2023 pump price increase)</a:t>
            </a: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2" y="3771952"/>
            <a:ext cx="3177539" cy="230832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headline—CPI, (YoY %)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US" sz="1050" b="1" dirty="0">
                <a:latin typeface="+mn-lt"/>
              </a:rPr>
              <a:t>for late 2023 – early 2024 </a:t>
            </a:r>
            <a:r>
              <a:rPr lang="en-US" sz="1050" dirty="0">
                <a:latin typeface="+mn-lt"/>
              </a:rPr>
              <a:t>(</a:t>
            </a:r>
            <a:r>
              <a:rPr lang="en-GB" sz="1050" dirty="0">
                <a:latin typeface="+mn-lt"/>
              </a:rPr>
              <a:t>having peaked in 2022Q2)</a:t>
            </a:r>
            <a:r>
              <a:rPr lang="en-US" sz="1050" dirty="0">
                <a:latin typeface="+mn-lt"/>
              </a:rPr>
              <a:t> </a:t>
            </a:r>
            <a:r>
              <a:rPr lang="en-US" sz="1050" b="1" dirty="0">
                <a:latin typeface="+mn-lt"/>
              </a:rPr>
              <a:t>forecasted to continue declining but with a modest flare-up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b="1" dirty="0">
                <a:latin typeface="+mn-lt"/>
              </a:rPr>
              <a:t>from 2024Q2, should decline below 5%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--modest drop in world food and oil prices,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--improved domestic food supply &amp; earlier shocks fading</a:t>
            </a:r>
            <a:endParaRPr lang="en-US" sz="1050" dirty="0">
              <a:latin typeface="+mn-lt"/>
            </a:endParaRP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dirty="0">
                <a:latin typeface="+mn-lt"/>
              </a:rPr>
              <a:t>largest contribution comes from the moderate food price increases, even with a short period of falling prices.</a:t>
            </a:r>
            <a:endParaRPr lang="en-RW" sz="1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46710"/>
            <a:ext cx="3177539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015" y="1227366"/>
            <a:ext cx="2816860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227366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3741735"/>
            <a:ext cx="289457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/>
              <a:t>---</a:t>
            </a:r>
            <a:r>
              <a:rPr lang="en-GB" sz="1000" dirty="0">
                <a:effectLst/>
                <a:ea typeface="Calibri" panose="020F0502020204030204" pitchFamily="34" charset="0"/>
              </a:rPr>
              <a:t>rapid drop (from a peak in 2022Q4) is mainly driven by declining negative agricultural output gaps (which in part drove prices up from late 2021 to late 2023),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direct effect of imported food prices is upward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>
                <a:ea typeface="Calibri" panose="020F0502020204030204" pitchFamily="34" charset="0"/>
              </a:rPr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indirect effect of the food RER gap is downward </a:t>
            </a:r>
            <a:r>
              <a:rPr lang="en-US" sz="1100" dirty="0"/>
              <a:t>falls in mid-2025 slightly below its target of 4.5%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/>
              <a:t>s</a:t>
            </a:r>
            <a:r>
              <a:rPr lang="en-GB" sz="1100" dirty="0">
                <a:effectLst/>
                <a:ea typeface="Calibri" panose="020F0502020204030204" pitchFamily="34" charset="0"/>
              </a:rPr>
              <a:t>hocks, already small in 2024, are forecast to subside in the near term </a:t>
            </a:r>
            <a:endParaRPr lang="en-US" sz="11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485099" y="3741735"/>
            <a:ext cx="276860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core-CPI,  (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---gradual drop driven by inflationary expectations, small upward direct effects of import prices and REER</a:t>
            </a:r>
            <a:r>
              <a:rPr lang="en-US" sz="1050" dirty="0"/>
              <a:t>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600" dirty="0">
                <a:solidFill>
                  <a:srgbClr val="C00000"/>
                </a:solidFill>
              </a:rPr>
              <a:t>--</a:t>
            </a:r>
            <a:r>
              <a:rPr lang="en-GB" sz="600" dirty="0">
                <a:effectLst/>
                <a:ea typeface="Calibri" panose="020F0502020204030204" pitchFamily="34" charset="0"/>
              </a:rPr>
              <a:t>small downward effect of persisting post-Covid negative output gap and gradual subsiding of shocks</a:t>
            </a:r>
            <a:endParaRPr lang="en-US" sz="600" dirty="0">
              <a:solidFill>
                <a:srgbClr val="C0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1050" dirty="0"/>
              <a:t>---falls in mid-2025 slightly below its target of 4.5%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US" sz="650" dirty="0"/>
              <a:t>--</a:t>
            </a:r>
            <a:r>
              <a:rPr lang="en-US" sz="900" dirty="0"/>
              <a:t>down-pull from remaining negative output gap,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charset="-128"/>
                <a:cs typeface="+mn-cs"/>
              </a:rPr>
              <a:t>---somewhat overshoots in 2026-27 (to.5.5%) as a small positive output gap emerges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220797"/>
            <a:ext cx="2913926" cy="240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Policy interest rate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216273" y="3544556"/>
            <a:ext cx="2762125" cy="285624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4Qos forward average RIR(IB) + lending premium (+ 9% points above the IB rate)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movement in the RIR (as affected by NBR policies) is transmitted to the</a:t>
            </a:r>
            <a:r>
              <a:rPr lang="en-GB" sz="105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real lending rate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05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 private demand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05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above trend during Covid and much below trend, even negative, when inflation surged in 2022-23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---</a:t>
            </a:r>
            <a:r>
              <a:rPr lang="en-GB" sz="105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forecast to rise to close to its trend level in 2023, with a depressing (increasingly less positive) effect on private demand</a:t>
            </a:r>
            <a:endParaRPr lang="en-GB" sz="1050" b="1" i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70026" y="3544556"/>
            <a:ext cx="2936458" cy="204491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tuned for Q4 2023, assuming NBR would keep its CBR unchanged from August 2023</a:t>
            </a:r>
            <a:endParaRPr lang="en-RW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 (equal to repo rate; CBR not shown separately)</a:t>
            </a:r>
          </a:p>
          <a:p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--IB trend/neutral level (7.5% or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7%?), </a:t>
            </a:r>
          </a:p>
          <a:p>
            <a:pPr marL="182562" lvl="1">
              <a:lnSpc>
                <a:spcPct val="107000"/>
              </a:lnSpc>
              <a:spcAft>
                <a:spcPts val="600"/>
              </a:spcAft>
              <a:defRPr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--determined by trend foreign RIR (0-0.5%), country risk premium (2%), and core inflation target (4.5%)</a:t>
            </a:r>
            <a:endParaRPr lang="en-RW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544555"/>
            <a:ext cx="2740872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RIR—IB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---significant drop into negative territory since early 2021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--high inflation and lagged interest policy response</a:t>
            </a:r>
            <a:r>
              <a:rPr lang="en-GB" sz="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---forecast to pick up on late 2022 level, as nominal interest rates rise and inflation eases,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---forecast to remain below its trend level of 2-2.5% and even slightly drop in mid-2025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--</a:t>
            </a:r>
            <a:r>
              <a:rPr lang="en-GB" sz="9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inflation flares up temporarily due to demand pressure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196238" y="3544556"/>
            <a:ext cx="3057461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2024: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--expected inflation deviation from target (-)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--negative output gap (-)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--pull from neutral interest rate (7%) (+)</a:t>
            </a:r>
            <a:endParaRPr lang="en-R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--gradual interest rate changes,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gradually lowered from its peak of close to 8% in August 2023 to around 6½% in late 2024 </a:t>
            </a:r>
            <a:endParaRPr kumimoji="0" lang="en-RW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  <a:p>
            <a:pPr marL="182562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--as inflation drops below the 5% target and a negative output gap remains.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mid-2025, converges to its trend/neutral level (7.5%</a:t>
            </a:r>
            <a:endParaRPr lang="en-RW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2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238" y="1220078"/>
            <a:ext cx="3045638" cy="225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21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90"/>
            <a:ext cx="2872976" cy="2196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51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Forecast—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Nominal and Real Exchange </a:t>
            </a:r>
            <a:r>
              <a:rPr lang="en-US" b="1" dirty="0">
                <a:solidFill>
                  <a:prstClr val="black"/>
                </a:solidFill>
                <a:latin typeface="Gill Sans MT"/>
              </a:rPr>
              <a:t>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(ER &amp; RER)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943600" y="3544556"/>
            <a:ext cx="6034799" cy="287212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---slowdown in the pace of depreciation (from its high in 2023) to return gradually to its (zero) trend level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---upward correction in 2022-23 estimated to favourably affect net exports and demand </a:t>
            </a:r>
            <a:r>
              <a:rPr lang="en-GB" sz="1200" dirty="0"/>
              <a:t>(reversing a sharp RER decline during 2021-22)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---</a:t>
            </a:r>
            <a:r>
              <a:rPr lang="en-GB" sz="1400" b="1" dirty="0"/>
              <a:t>rise to its trend level (with some overshooting in 2024) and to affect demand favourably in 2023-24.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/>
              <a:t> ---after overvalued RER had a downward effect on net exports demand in 2021 when the economy emerged from Covid</a:t>
            </a:r>
            <a:endParaRPr lang="en-RW" sz="105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3" y="3544556"/>
            <a:ext cx="5577598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nominal ER,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---forecast reflects NBR’s flexible exchange rate policy and its hybrid rule in practice </a:t>
            </a:r>
          </a:p>
          <a:p>
            <a:pPr marL="274638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ea typeface="Calibri" panose="020F0502020204030204" pitchFamily="34" charset="0"/>
              </a:rPr>
              <a:t>--</a:t>
            </a:r>
            <a:r>
              <a:rPr lang="en-GB" sz="1000" dirty="0">
                <a:effectLst/>
                <a:ea typeface="Calibri" panose="020F0502020204030204" pitchFamily="34" charset="0"/>
              </a:rPr>
              <a:t>steering the ER to the </a:t>
            </a:r>
            <a:r>
              <a:rPr lang="en-GB" sz="1000" b="1" dirty="0">
                <a:solidFill>
                  <a:srgbClr val="4472C4"/>
                </a:solidFill>
                <a:effectLst/>
                <a:ea typeface="Calibri" panose="020F0502020204030204" pitchFamily="34" charset="0"/>
              </a:rPr>
              <a:t>target ER</a:t>
            </a:r>
            <a:r>
              <a:rPr lang="en-GB" sz="1000" dirty="0">
                <a:effectLst/>
                <a:ea typeface="Calibri" panose="020F0502020204030204" pitchFamily="34" charset="0"/>
              </a:rPr>
              <a:t> such that the RER gradually matches the target depreciation rate</a:t>
            </a:r>
            <a:endParaRPr lang="en-US" sz="1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---continue its recent fast depreciation than target (</a:t>
            </a:r>
            <a:r>
              <a:rPr lang="en-GB" sz="1200" dirty="0">
                <a:effectLst/>
                <a:ea typeface="Calibri" panose="020F0502020204030204" pitchFamily="34" charset="0"/>
              </a:rPr>
              <a:t>annualized 15% for most of 2023</a:t>
            </a:r>
            <a:r>
              <a:rPr lang="en-GB" sz="1600" dirty="0">
                <a:effectLst/>
                <a:ea typeface="Calibri" panose="020F0502020204030204" pitchFamily="34" charset="0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---</a:t>
            </a:r>
            <a:r>
              <a:rPr lang="en-GB" sz="1600" dirty="0">
                <a:effectLst/>
                <a:ea typeface="Calibri" panose="020F0502020204030204" pitchFamily="34" charset="0"/>
              </a:rPr>
              <a:t>correcting for the recent overvaluation due to high domestic inflation. 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---th</a:t>
            </a:r>
            <a:r>
              <a:rPr lang="en-GB" sz="1600" dirty="0">
                <a:ea typeface="Calibri" panose="020F0502020204030204" pitchFamily="34" charset="0"/>
              </a:rPr>
              <a:t>en</a:t>
            </a:r>
            <a:r>
              <a:rPr lang="en-GB" sz="1600" dirty="0">
                <a:effectLst/>
                <a:ea typeface="Calibri" panose="020F0502020204030204" pitchFamily="34" charset="0"/>
              </a:rPr>
              <a:t> returns gradually to the target ER depreciation rate</a:t>
            </a: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0900"/>
            <a:ext cx="3062605" cy="20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03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795" y="1250020"/>
            <a:ext cx="3149405" cy="20370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72" y="1250021"/>
            <a:ext cx="2371725" cy="20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400" b="1" dirty="0" err="1">
                <a:latin typeface="Gill Sans MT" panose="020B0502020104020203" pitchFamily="34" charset="0"/>
              </a:rPr>
              <a:t>intMF</a:t>
            </a:r>
            <a:r>
              <a:rPr lang="en-GB" sz="2400" b="1" dirty="0">
                <a:latin typeface="Gill Sans MT" panose="020B0502020104020203" pitchFamily="34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Gill Sans MT" panose="020B0502020104020203" pitchFamily="34" charset="0"/>
              </a:rPr>
              <a:t>(to update)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3B89AE-67A7-E138-AAE2-A591E037C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62" y="1219200"/>
            <a:ext cx="6400800" cy="510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696673-2BED-C82A-0711-408BC7165E79}"/>
              </a:ext>
            </a:extLst>
          </p:cNvPr>
          <p:cNvSpPr txBox="1"/>
          <p:nvPr/>
        </p:nvSpPr>
        <p:spPr>
          <a:xfrm>
            <a:off x="6705600" y="1219200"/>
            <a:ext cx="5283200" cy="445763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Oct. 2023 </a:t>
            </a:r>
            <a:r>
              <a:rPr lang="en-US" sz="1600" b="1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proj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(PCI-RSF)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annualized QMFM result has—compared to MF: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volatility in final demand components, especially for consumption, investment, and imports (MF anomalies…)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average CPI inflation in 2023, more accurate as it traces inflation by quarter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ER depreciation from 2024, as it forecast zero RER depreciation in MT, the MF has real depreciations each year in 2024-26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fiscal deficits return to sustainable level, whereas PCI reduces deficit much below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correctly reproduced historic data.</a:t>
            </a:r>
            <a:endParaRPr lang="en-US" sz="1600" b="1" dirty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 Outlook data inputs</a:t>
            </a: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–debt  stock, fiscal (deficit, Govt demand (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g&amp;s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investiment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 –GDP and Govt consumption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BNR—Monetary  survey –interest exchange rates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GEE—foreign/trading patterners indicators (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output,interest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rates, prices) trends &amp; projections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Data issues and requests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Model results (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proj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.) on key macro indicators compared/cross-checked with 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 for consistency </a:t>
            </a:r>
          </a:p>
          <a:p>
            <a:pPr marL="628650" lvl="1" indent="-1714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so imperative to get full consistent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earlier ahead of model forecast round (i.e., fiscal (Qo treasury plan for 2023/24 is not available) and Debt stock actual or provisional data)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inconsistency—diff. definition between NA &amp; budget Govt consumption (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NA overestimation of Govt cons by considering part of Govt investment as consumption)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pending NISR corrections,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(real &amp; fiscal) should reflect/follow QMFM treatment (i.e., 80% govt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invBudget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and rest added on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consNA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NBR-FPAS inflation &amp; ER outlook </a:t>
            </a:r>
          </a:p>
        </p:txBody>
      </p:sp>
    </p:spTree>
    <p:extLst>
      <p:ext uri="{BB962C8B-B14F-4D97-AF65-F5344CB8AC3E}">
        <p14:creationId xmlns:p14="http://schemas.microsoft.com/office/powerpoint/2010/main" val="3565047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3995182"/>
            <a:ext cx="60959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37784</TotalTime>
  <Words>4544</Words>
  <Application>Microsoft Office PowerPoint</Application>
  <PresentationFormat>Widescreen</PresentationFormat>
  <Paragraphs>365</Paragraphs>
  <Slides>27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I. Rationale of outlook &amp; underlying model</vt:lpstr>
      <vt:lpstr>Recent macroeconomic developments cnt’ Real GDP/Output</vt:lpstr>
      <vt:lpstr>1I. Recent macroeconomic developments (2017-23Q2) Fiscal policies</vt:lpstr>
      <vt:lpstr>Recent macroeconomic developments cnt’ Inflation—CPI </vt:lpstr>
      <vt:lpstr>1I. Recent macroeconomic developments (2019-23)</vt:lpstr>
      <vt:lpstr>1I. Recent macroeconomic developments (2019-23) new</vt:lpstr>
      <vt:lpstr>Summary recent past cyclical position &amp; policy stance</vt:lpstr>
      <vt:lpstr>III. Summary of current cyclical position &amp; policy stance</vt:lpstr>
      <vt:lpstr>External environment assumptions</vt:lpstr>
      <vt:lpstr>Domestic environment assumptions</vt:lpstr>
      <vt:lpstr>IV. Summary of macroeconomic forecast/outlook (2023Q3-2027Q4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 new</vt:lpstr>
      <vt:lpstr>Fiscal stance (i): govt demand for G&amp;S affects output directly</vt:lpstr>
      <vt:lpstr>  Fiscal stance ii): fiscal impulse affects output via private demand</vt:lpstr>
      <vt:lpstr>Fiscal stance: deficit and its components (revenue,  spending) &amp; model decompositions (structural, discretional &amp; cyclical) </vt:lpstr>
      <vt:lpstr>Forecast—Inflation outlook</vt:lpstr>
      <vt:lpstr>Forecast—Policy interest rate (interbank rate, IB) </vt:lpstr>
      <vt:lpstr>Forecast—Nominal and Real Exchange Rate (ER &amp; RER)</vt:lpstr>
      <vt:lpstr>V. Comparison with Integrated Macro Framework intMF (to update)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1453</cp:revision>
  <cp:lastPrinted>2023-06-23T12:26:08Z</cp:lastPrinted>
  <dcterms:created xsi:type="dcterms:W3CDTF">2011-04-18T20:01:25Z</dcterms:created>
  <dcterms:modified xsi:type="dcterms:W3CDTF">2024-01-30T08:57:51Z</dcterms:modified>
</cp:coreProperties>
</file>